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6" r:id="rId2"/>
    <p:sldId id="460" r:id="rId3"/>
    <p:sldId id="260" r:id="rId4"/>
    <p:sldId id="261" r:id="rId5"/>
    <p:sldId id="262" r:id="rId6"/>
    <p:sldId id="377" r:id="rId7"/>
    <p:sldId id="263" r:id="rId8"/>
    <p:sldId id="458" r:id="rId9"/>
    <p:sldId id="459" r:id="rId10"/>
    <p:sldId id="474" r:id="rId11"/>
    <p:sldId id="461" r:id="rId12"/>
    <p:sldId id="380" r:id="rId13"/>
    <p:sldId id="271" r:id="rId14"/>
    <p:sldId id="272" r:id="rId15"/>
    <p:sldId id="273" r:id="rId16"/>
    <p:sldId id="379" r:id="rId17"/>
    <p:sldId id="456" r:id="rId18"/>
    <p:sldId id="475" r:id="rId19"/>
    <p:sldId id="462" r:id="rId20"/>
    <p:sldId id="288" r:id="rId21"/>
    <p:sldId id="290" r:id="rId22"/>
    <p:sldId id="296" r:id="rId23"/>
    <p:sldId id="298" r:id="rId24"/>
    <p:sldId id="476" r:id="rId25"/>
    <p:sldId id="463" r:id="rId26"/>
    <p:sldId id="457" r:id="rId27"/>
    <p:sldId id="464" r:id="rId28"/>
    <p:sldId id="477" r:id="rId29"/>
    <p:sldId id="465" r:id="rId30"/>
    <p:sldId id="384" r:id="rId31"/>
    <p:sldId id="385" r:id="rId32"/>
    <p:sldId id="478" r:id="rId33"/>
    <p:sldId id="466" r:id="rId34"/>
    <p:sldId id="300" r:id="rId35"/>
    <p:sldId id="386" r:id="rId36"/>
    <p:sldId id="387" r:id="rId37"/>
    <p:sldId id="479" r:id="rId38"/>
    <p:sldId id="467" r:id="rId39"/>
    <p:sldId id="442" r:id="rId40"/>
    <p:sldId id="305" r:id="rId41"/>
    <p:sldId id="307" r:id="rId42"/>
    <p:sldId id="480" r:id="rId43"/>
    <p:sldId id="468" r:id="rId44"/>
    <p:sldId id="315" r:id="rId45"/>
    <p:sldId id="316" r:id="rId46"/>
    <p:sldId id="388" r:id="rId47"/>
    <p:sldId id="481" r:id="rId48"/>
    <p:sldId id="469" r:id="rId49"/>
    <p:sldId id="330" r:id="rId50"/>
    <p:sldId id="331" r:id="rId51"/>
    <p:sldId id="381" r:id="rId52"/>
    <p:sldId id="332" r:id="rId53"/>
    <p:sldId id="482" r:id="rId54"/>
    <p:sldId id="470" r:id="rId55"/>
    <p:sldId id="397" r:id="rId56"/>
    <p:sldId id="400" r:id="rId57"/>
    <p:sldId id="401" r:id="rId58"/>
    <p:sldId id="483" r:id="rId59"/>
    <p:sldId id="471" r:id="rId60"/>
    <p:sldId id="405" r:id="rId61"/>
    <p:sldId id="408" r:id="rId62"/>
    <p:sldId id="383" r:id="rId63"/>
    <p:sldId id="345" r:id="rId64"/>
    <p:sldId id="349" r:id="rId65"/>
    <p:sldId id="352" r:id="rId66"/>
    <p:sldId id="484" r:id="rId67"/>
    <p:sldId id="473" r:id="rId68"/>
    <p:sldId id="409" r:id="rId69"/>
    <p:sldId id="412" r:id="rId70"/>
    <p:sldId id="410" r:id="rId71"/>
    <p:sldId id="472" r:id="rId72"/>
    <p:sldId id="411" r:id="rId73"/>
    <p:sldId id="485"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192" autoAdjust="0"/>
  </p:normalViewPr>
  <p:slideViewPr>
    <p:cSldViewPr snapToGrid="0">
      <p:cViewPr varScale="1">
        <p:scale>
          <a:sx n="80" d="100"/>
          <a:sy n="80" d="100"/>
        </p:scale>
        <p:origin x="9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C2DA08-A196-45ED-919A-D69E644F3ED2}" type="datetimeFigureOut">
              <a:rPr lang="en-US" smtClean="0"/>
              <a:t>Sun-14-Oct-18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14BF23-B82A-4DE3-998B-028551F487F3}" type="slidenum">
              <a:rPr lang="en-US" smtClean="0"/>
              <a:t>‹#›</a:t>
            </a:fld>
            <a:endParaRPr lang="en-US"/>
          </a:p>
        </p:txBody>
      </p:sp>
    </p:spTree>
    <p:extLst>
      <p:ext uri="{BB962C8B-B14F-4D97-AF65-F5344CB8AC3E}">
        <p14:creationId xmlns:p14="http://schemas.microsoft.com/office/powerpoint/2010/main" val="2692407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FEC28417-DA98-40AC-B3EB-34869C134B85}" type="slidenum">
              <a:rPr lang="en-US" altLang="en-US"/>
              <a:pPr/>
              <a:t>3</a:t>
            </a:fld>
            <a:endParaRPr lang="en-US" altLang="en-US"/>
          </a:p>
        </p:txBody>
      </p:sp>
      <p:sp>
        <p:nvSpPr>
          <p:cNvPr id="9218" name="Rectangle 2"/>
          <p:cNvSpPr>
            <a:spLocks noGrp="1" noRot="1" noChangeAspect="1" noChangeArrowheads="1" noTextEdit="1"/>
          </p:cNvSpPr>
          <p:nvPr>
            <p:ph type="sldImg"/>
          </p:nvPr>
        </p:nvSpPr>
        <p:spPr>
          <a:ln cap="flat"/>
        </p:spPr>
      </p:sp>
      <p:sp>
        <p:nvSpPr>
          <p:cNvPr id="9219" name="Rectangle 3"/>
          <p:cNvSpPr>
            <a:spLocks noGrp="1" noChangeArrowheads="1"/>
          </p:cNvSpPr>
          <p:nvPr>
            <p:ph type="body" idx="1"/>
          </p:nvPr>
        </p:nvSpPr>
        <p:spPr>
          <a:ln/>
        </p:spPr>
        <p:txBody>
          <a:bodyPr lIns="95250" tIns="49212" rIns="95250" bIns="49212"/>
          <a:lstStyle/>
          <a:p>
            <a:endParaRPr lang="en-US" altLang="en-US"/>
          </a:p>
        </p:txBody>
      </p:sp>
    </p:spTree>
    <p:extLst>
      <p:ext uri="{BB962C8B-B14F-4D97-AF65-F5344CB8AC3E}">
        <p14:creationId xmlns:p14="http://schemas.microsoft.com/office/powerpoint/2010/main" val="3369614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B4694D54-12E2-4FB6-A21D-0FC1CB6043A2}" type="slidenum">
              <a:rPr lang="en-US" altLang="en-US"/>
              <a:pPr/>
              <a:t>13</a:t>
            </a:fld>
            <a:endParaRPr lang="en-US" altLang="en-US"/>
          </a:p>
        </p:txBody>
      </p:sp>
      <p:sp>
        <p:nvSpPr>
          <p:cNvPr id="214018" name="Rectangle 2"/>
          <p:cNvSpPr>
            <a:spLocks noGrp="1" noRot="1" noChangeAspect="1" noChangeArrowheads="1" noTextEdit="1"/>
          </p:cNvSpPr>
          <p:nvPr>
            <p:ph type="sldImg"/>
          </p:nvPr>
        </p:nvSpPr>
        <p:spPr>
          <a:ln cap="flat"/>
        </p:spPr>
      </p:sp>
      <p:sp>
        <p:nvSpPr>
          <p:cNvPr id="214019" name="Rectangle 3"/>
          <p:cNvSpPr>
            <a:spLocks noGrp="1" noChangeArrowheads="1"/>
          </p:cNvSpPr>
          <p:nvPr>
            <p:ph type="body" idx="1"/>
          </p:nvPr>
        </p:nvSpPr>
        <p:spPr>
          <a:ln/>
        </p:spPr>
        <p:txBody>
          <a:bodyPr lIns="95250" tIns="49212" rIns="95250" bIns="49212"/>
          <a:lstStyle/>
          <a:p>
            <a:endParaRPr lang="en-US" altLang="en-US"/>
          </a:p>
        </p:txBody>
      </p:sp>
    </p:spTree>
    <p:extLst>
      <p:ext uri="{BB962C8B-B14F-4D97-AF65-F5344CB8AC3E}">
        <p14:creationId xmlns:p14="http://schemas.microsoft.com/office/powerpoint/2010/main" val="1743469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C40AEBAA-EF4C-4DFC-9281-0FA25060926D}" type="slidenum">
              <a:rPr lang="en-US" altLang="en-US"/>
              <a:pPr/>
              <a:t>14</a:t>
            </a:fld>
            <a:endParaRPr lang="en-US" altLang="en-US"/>
          </a:p>
        </p:txBody>
      </p:sp>
      <p:sp>
        <p:nvSpPr>
          <p:cNvPr id="219138" name="Rectangle 2"/>
          <p:cNvSpPr>
            <a:spLocks noGrp="1" noRot="1" noChangeAspect="1" noChangeArrowheads="1" noTextEdit="1"/>
          </p:cNvSpPr>
          <p:nvPr>
            <p:ph type="sldImg"/>
          </p:nvPr>
        </p:nvSpPr>
        <p:spPr>
          <a:ln/>
        </p:spPr>
      </p:sp>
      <p:sp>
        <p:nvSpPr>
          <p:cNvPr id="2191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210566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Grp="1" noChangeArrowheads="1"/>
          </p:cNvSpPr>
          <p:nvPr>
            <p:ph type="sldNum" sz="quarter" idx="5"/>
          </p:nvPr>
        </p:nvSpPr>
        <p:spPr>
          <a:ln/>
        </p:spPr>
        <p:txBody>
          <a:bodyPr/>
          <a:lstStyle/>
          <a:p>
            <a:fld id="{17433801-6A7A-4C4E-B3CA-7AB994C70F3B}" type="slidenum">
              <a:rPr lang="en-US" altLang="en-US"/>
              <a:pPr/>
              <a:t>15</a:t>
            </a:fld>
            <a:endParaRPr lang="en-US" altLang="en-US"/>
          </a:p>
        </p:txBody>
      </p:sp>
      <p:sp>
        <p:nvSpPr>
          <p:cNvPr id="218114" name="Rectangle 2"/>
          <p:cNvSpPr>
            <a:spLocks noGrp="1" noRot="1" noChangeAspect="1" noChangeArrowheads="1" noTextEdit="1"/>
          </p:cNvSpPr>
          <p:nvPr>
            <p:ph type="sldImg"/>
          </p:nvPr>
        </p:nvSpPr>
        <p:spPr>
          <a:xfrm>
            <a:off x="258763" y="539750"/>
            <a:ext cx="6240462" cy="3511550"/>
          </a:xfrm>
          <a:ln/>
        </p:spPr>
      </p:sp>
      <p:sp>
        <p:nvSpPr>
          <p:cNvPr id="218115" name="Rectangle 3"/>
          <p:cNvSpPr>
            <a:spLocks noGrp="1" noChangeArrowheads="1"/>
          </p:cNvSpPr>
          <p:nvPr>
            <p:ph type="body" idx="1"/>
          </p:nvPr>
        </p:nvSpPr>
        <p:spPr/>
        <p:txBody>
          <a:bodyPr/>
          <a:lstStyle/>
          <a:p>
            <a:pPr algn="ctr">
              <a:spcBef>
                <a:spcPct val="50000"/>
              </a:spcBef>
            </a:pPr>
            <a:endParaRPr lang="en-US" altLang="en-US" sz="800">
              <a:solidFill>
                <a:srgbClr val="000000"/>
              </a:solidFill>
              <a:latin typeface="Arial" panose="020B0604020202020204" pitchFamily="34" charset="0"/>
            </a:endParaRPr>
          </a:p>
          <a:p>
            <a:pPr algn="ctr"/>
            <a:r>
              <a:rPr lang="en-US" altLang="en-US" sz="700" u="sng">
                <a:latin typeface="Times" panose="02020603050405020304" pitchFamily="18" charset="0"/>
              </a:rPr>
              <a:t>Library of Congress summary:</a:t>
            </a:r>
            <a:endParaRPr lang="en-US" altLang="en-US" sz="700">
              <a:latin typeface="Times" panose="02020603050405020304" pitchFamily="18" charset="0"/>
            </a:endParaRPr>
          </a:p>
          <a:p>
            <a:pPr algn="ctr"/>
            <a:r>
              <a:rPr lang="en-US" altLang="en-US" sz="700">
                <a:latin typeface="Times" panose="02020603050405020304" pitchFamily="18" charset="0"/>
              </a:rPr>
              <a:t>Relating the cycle of requests a </a:t>
            </a:r>
          </a:p>
          <a:p>
            <a:pPr algn="ctr"/>
            <a:r>
              <a:rPr lang="en-US" altLang="en-US" sz="700">
                <a:latin typeface="Times" panose="02020603050405020304" pitchFamily="18" charset="0"/>
              </a:rPr>
              <a:t>mouse is likely to make after you</a:t>
            </a:r>
          </a:p>
          <a:p>
            <a:pPr algn="ctr"/>
            <a:r>
              <a:rPr lang="en-US" altLang="en-US" sz="700">
                <a:latin typeface="Times" panose="02020603050405020304" pitchFamily="18" charset="0"/>
              </a:rPr>
              <a:t>give him a cookie takes the</a:t>
            </a:r>
          </a:p>
          <a:p>
            <a:pPr algn="ctr"/>
            <a:r>
              <a:rPr lang="en-US" altLang="en-US" sz="700">
                <a:latin typeface="Times" panose="02020603050405020304" pitchFamily="18" charset="0"/>
              </a:rPr>
              <a:t>reader through a young boy’s day.</a:t>
            </a:r>
          </a:p>
          <a:p>
            <a:endParaRPr lang="en-US" altLang="en-US"/>
          </a:p>
        </p:txBody>
      </p:sp>
      <p:sp>
        <p:nvSpPr>
          <p:cNvPr id="218116" name="Rectangle 4"/>
          <p:cNvSpPr>
            <a:spLocks noChangeArrowheads="1"/>
          </p:cNvSpPr>
          <p:nvPr/>
        </p:nvSpPr>
        <p:spPr bwMode="auto">
          <a:xfrm>
            <a:off x="893763" y="4473575"/>
            <a:ext cx="5008562" cy="423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62" tIns="47625" rIns="93662" bIns="47625"/>
          <a:lstStyle>
            <a:lvl1pPr defTabSz="949325">
              <a:spcBef>
                <a:spcPct val="30000"/>
              </a:spcBef>
              <a:defRPr sz="1200">
                <a:solidFill>
                  <a:schemeClr val="tx1"/>
                </a:solidFill>
                <a:latin typeface="Times New Roman" panose="02020603050405020304" pitchFamily="18" charset="0"/>
              </a:defRPr>
            </a:lvl1pPr>
            <a:lvl2pPr marL="465138" defTabSz="949325">
              <a:spcBef>
                <a:spcPct val="30000"/>
              </a:spcBef>
              <a:defRPr sz="1200">
                <a:solidFill>
                  <a:schemeClr val="tx1"/>
                </a:solidFill>
                <a:latin typeface="Times New Roman" panose="02020603050405020304" pitchFamily="18" charset="0"/>
              </a:defRPr>
            </a:lvl2pPr>
            <a:lvl3pPr marL="931863" defTabSz="949325">
              <a:spcBef>
                <a:spcPct val="30000"/>
              </a:spcBef>
              <a:defRPr sz="1200">
                <a:solidFill>
                  <a:schemeClr val="tx1"/>
                </a:solidFill>
                <a:latin typeface="Times New Roman" panose="02020603050405020304" pitchFamily="18" charset="0"/>
              </a:defRPr>
            </a:lvl3pPr>
            <a:lvl4pPr marL="1397000" defTabSz="949325">
              <a:spcBef>
                <a:spcPct val="30000"/>
              </a:spcBef>
              <a:defRPr sz="1200">
                <a:solidFill>
                  <a:schemeClr val="tx1"/>
                </a:solidFill>
                <a:latin typeface="Times New Roman" panose="02020603050405020304" pitchFamily="18" charset="0"/>
              </a:defRPr>
            </a:lvl4pPr>
            <a:lvl5pPr marL="1862138" defTabSz="949325">
              <a:spcBef>
                <a:spcPct val="30000"/>
              </a:spcBef>
              <a:defRPr sz="1200">
                <a:solidFill>
                  <a:schemeClr val="tx1"/>
                </a:solidFill>
                <a:latin typeface="Times New Roman" panose="02020603050405020304" pitchFamily="18" charset="0"/>
              </a:defRPr>
            </a:lvl5pPr>
            <a:lvl6pPr marL="2319338" defTabSz="949325" eaLnBrk="0" fontAlgn="base" hangingPunct="0">
              <a:spcBef>
                <a:spcPct val="30000"/>
              </a:spcBef>
              <a:spcAft>
                <a:spcPct val="0"/>
              </a:spcAft>
              <a:defRPr sz="1200">
                <a:solidFill>
                  <a:schemeClr val="tx1"/>
                </a:solidFill>
                <a:latin typeface="Times New Roman" panose="02020603050405020304" pitchFamily="18" charset="0"/>
              </a:defRPr>
            </a:lvl6pPr>
            <a:lvl7pPr marL="2776538" defTabSz="949325" eaLnBrk="0" fontAlgn="base" hangingPunct="0">
              <a:spcBef>
                <a:spcPct val="30000"/>
              </a:spcBef>
              <a:spcAft>
                <a:spcPct val="0"/>
              </a:spcAft>
              <a:defRPr sz="1200">
                <a:solidFill>
                  <a:schemeClr val="tx1"/>
                </a:solidFill>
                <a:latin typeface="Times New Roman" panose="02020603050405020304" pitchFamily="18" charset="0"/>
              </a:defRPr>
            </a:lvl7pPr>
            <a:lvl8pPr marL="3233738" defTabSz="949325" eaLnBrk="0" fontAlgn="base" hangingPunct="0">
              <a:spcBef>
                <a:spcPct val="30000"/>
              </a:spcBef>
              <a:spcAft>
                <a:spcPct val="0"/>
              </a:spcAft>
              <a:defRPr sz="1200">
                <a:solidFill>
                  <a:schemeClr val="tx1"/>
                </a:solidFill>
                <a:latin typeface="Times New Roman" panose="02020603050405020304" pitchFamily="18" charset="0"/>
              </a:defRPr>
            </a:lvl8pPr>
            <a:lvl9pPr marL="3690938" defTabSz="949325" eaLnBrk="0" fontAlgn="base" hangingPunct="0">
              <a:spcBef>
                <a:spcPct val="30000"/>
              </a:spcBef>
              <a:spcAft>
                <a:spcPct val="0"/>
              </a:spcAft>
              <a:defRPr sz="12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3439760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DCCBBA9-5411-4CA0-A795-22BAFC27BFB8}" type="datetime1">
              <a:rPr lang="en-US" smtClean="0"/>
              <a:t>Sun-14-Oct-18</a:t>
            </a:fld>
            <a:endParaRPr lang="en-US"/>
          </a:p>
        </p:txBody>
      </p:sp>
      <p:sp>
        <p:nvSpPr>
          <p:cNvPr id="6" name="Slide Number Placeholder 5"/>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3759066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DDE514-24AE-4950-BAD2-6EC66AF14759}" type="datetime1">
              <a:rPr lang="en-US" smtClean="0"/>
              <a:t>Sun-14-Oct-18</a:t>
            </a:fld>
            <a:endParaRPr lang="en-US"/>
          </a:p>
        </p:txBody>
      </p:sp>
      <p:sp>
        <p:nvSpPr>
          <p:cNvPr id="6" name="Slide Number Placeholder 5"/>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1501649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A1CB419-AA03-44F9-BFBD-A8E639F97F0C}" type="datetime1">
              <a:rPr lang="en-US" smtClean="0"/>
              <a:t>Sun-14-Oct-18</a:t>
            </a:fld>
            <a:endParaRPr lang="en-US"/>
          </a:p>
        </p:txBody>
      </p:sp>
      <p:sp>
        <p:nvSpPr>
          <p:cNvPr id="6" name="Slide Number Placeholder 5"/>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1611183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E173E32-E9E3-4EC2-BB66-CCF8D982EB18}" type="datetime1">
              <a:rPr lang="en-US" smtClean="0"/>
              <a:t>Sun-14-Oct-18</a:t>
            </a:fld>
            <a:endParaRPr lang="en-US"/>
          </a:p>
        </p:txBody>
      </p:sp>
      <p:sp>
        <p:nvSpPr>
          <p:cNvPr id="7" name="Slide Number Placeholder 6"/>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4149113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7B7931-35CE-48C5-801E-F87B25A22B6D}" type="datetime1">
              <a:rPr lang="en-US" smtClean="0"/>
              <a:t>Sun-14-Oct-18</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r>
              <a:rPr lang="en-US"/>
              <a:t>4</a:t>
            </a:r>
          </a:p>
        </p:txBody>
      </p:sp>
      <p:sp>
        <p:nvSpPr>
          <p:cNvPr id="9" name="Slide Number Placeholder 8"/>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80183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41FC18-6D38-4EA4-BA43-277DBC04C546}" type="datetime1">
              <a:rPr lang="en-US" smtClean="0"/>
              <a:t>Sun-14-Oct-18</a:t>
            </a:fld>
            <a:endParaRPr lang="en-US"/>
          </a:p>
        </p:txBody>
      </p:sp>
      <p:sp>
        <p:nvSpPr>
          <p:cNvPr id="5" name="Slide Number Placeholder 4"/>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3040516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69F260-0AAF-40EC-83A0-8274BAE8B6EA}" type="datetime1">
              <a:rPr lang="en-US" smtClean="0"/>
              <a:t>Sun-14-Oct-18</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r>
              <a:rPr lang="en-US"/>
              <a:t>4</a:t>
            </a:r>
          </a:p>
        </p:txBody>
      </p:sp>
      <p:sp>
        <p:nvSpPr>
          <p:cNvPr id="4" name="Slide Number Placeholder 3"/>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3650026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D58086E-CC48-4149-9A4D-B67054CF345E}" type="datetime1">
              <a:rPr lang="en-US" smtClean="0"/>
              <a:t>Sun-14-Oct-18</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r>
              <a:rPr lang="en-US"/>
              <a:t>4</a:t>
            </a:r>
          </a:p>
        </p:txBody>
      </p:sp>
      <p:sp>
        <p:nvSpPr>
          <p:cNvPr id="7" name="Slide Number Placeholder 6"/>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1870930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D6964D-C62D-4C1B-ADDD-B81C580A8B28}" type="datetime1">
              <a:rPr lang="en-US" smtClean="0"/>
              <a:t>Sun-14-Oct-18</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r>
              <a:rPr lang="en-US"/>
              <a:t>4</a:t>
            </a:r>
          </a:p>
        </p:txBody>
      </p:sp>
      <p:sp>
        <p:nvSpPr>
          <p:cNvPr id="7" name="Slide Number Placeholder 6"/>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807631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C11DE0-76F6-415B-863B-BBF9C0EEDB69}" type="datetime1">
              <a:rPr lang="en-US" smtClean="0"/>
              <a:t>Sun-14-Oct-18</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r>
              <a:rPr lang="en-US"/>
              <a:t>4</a:t>
            </a:r>
          </a:p>
        </p:txBody>
      </p:sp>
      <p:sp>
        <p:nvSpPr>
          <p:cNvPr id="6" name="Slide Number Placeholder 5"/>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2413316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8B8BE2-021F-4C80-A1CD-99DBC81F4AEA}" type="datetime1">
              <a:rPr lang="en-US" smtClean="0"/>
              <a:t>Sun-14-Oct-18</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r>
              <a:rPr lang="en-US"/>
              <a:t>4</a:t>
            </a:r>
          </a:p>
        </p:txBody>
      </p:sp>
      <p:sp>
        <p:nvSpPr>
          <p:cNvPr id="6" name="Slide Number Placeholder 5"/>
          <p:cNvSpPr>
            <a:spLocks noGrp="1"/>
          </p:cNvSpPr>
          <p:nvPr>
            <p:ph type="sldNum" sz="quarter" idx="12"/>
          </p:nvPr>
        </p:nvSpPr>
        <p:spPr/>
        <p:txBody>
          <a:bodyPr/>
          <a:lstStyle/>
          <a:p>
            <a:fld id="{542F36BB-9BBE-4A63-A253-E39D29D0379B}" type="slidenum">
              <a:rPr lang="en-US" smtClean="0"/>
              <a:t>‹#›</a:t>
            </a:fld>
            <a:endParaRPr lang="en-US"/>
          </a:p>
        </p:txBody>
      </p:sp>
    </p:spTree>
    <p:extLst>
      <p:ext uri="{BB962C8B-B14F-4D97-AF65-F5344CB8AC3E}">
        <p14:creationId xmlns:p14="http://schemas.microsoft.com/office/powerpoint/2010/main" val="301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11277600" cy="838200"/>
          </a:xfrm>
        </p:spPr>
        <p:txBody>
          <a:bodyPr/>
          <a:lstStyle/>
          <a:p>
            <a:r>
              <a:rPr lang="en-US"/>
              <a:t>Click to edit Master title style</a:t>
            </a:r>
          </a:p>
        </p:txBody>
      </p:sp>
      <p:sp>
        <p:nvSpPr>
          <p:cNvPr id="3" name="Online Image Placeholder 2"/>
          <p:cNvSpPr>
            <a:spLocks noGrp="1"/>
          </p:cNvSpPr>
          <p:nvPr>
            <p:ph type="clipArt" sz="half" idx="1"/>
          </p:nvPr>
        </p:nvSpPr>
        <p:spPr>
          <a:xfrm>
            <a:off x="406400" y="1295400"/>
            <a:ext cx="5384800" cy="4876800"/>
          </a:xfrm>
        </p:spPr>
        <p:txBody>
          <a:bodyPr/>
          <a:lstStyle/>
          <a:p>
            <a:endParaRPr lang="en-US"/>
          </a:p>
        </p:txBody>
      </p:sp>
      <p:sp>
        <p:nvSpPr>
          <p:cNvPr id="4" name="Text Placeholder 3"/>
          <p:cNvSpPr>
            <a:spLocks noGrp="1"/>
          </p:cNvSpPr>
          <p:nvPr>
            <p:ph type="body" sz="half" idx="2"/>
          </p:nvPr>
        </p:nvSpPr>
        <p:spPr>
          <a:xfrm>
            <a:off x="5994400" y="1295400"/>
            <a:ext cx="5384800" cy="4876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14400" y="6248400"/>
            <a:ext cx="2540000" cy="457200"/>
          </a:xfrm>
        </p:spPr>
        <p:txBody>
          <a:bodyPr/>
          <a:lstStyle>
            <a:lvl1pPr>
              <a:defRPr/>
            </a:lvl1pPr>
          </a:lstStyle>
          <a:p>
            <a:fld id="{2BA72900-326D-4B88-939E-20986EEC7415}" type="datetime1">
              <a:rPr lang="en-US" altLang="en-US" smtClean="0"/>
              <a:t>Sun-14-Oct-18</a:t>
            </a:fld>
            <a:endParaRPr lang="en-US" altLang="en-US"/>
          </a:p>
        </p:txBody>
      </p:sp>
      <p:sp>
        <p:nvSpPr>
          <p:cNvPr id="6" name="Footer Placeholder 5"/>
          <p:cNvSpPr>
            <a:spLocks noGrp="1"/>
          </p:cNvSpPr>
          <p:nvPr>
            <p:ph type="ftr" sz="quarter" idx="11"/>
          </p:nvPr>
        </p:nvSpPr>
        <p:spPr>
          <a:xfrm>
            <a:off x="4165600" y="6248400"/>
            <a:ext cx="3860800" cy="457200"/>
          </a:xfrm>
          <a:prstGeom prst="rect">
            <a:avLst/>
          </a:prstGeom>
        </p:spPr>
        <p:txBody>
          <a:bodyPr/>
          <a:lstStyle>
            <a:lvl1pPr>
              <a:defRPr/>
            </a:lvl1pPr>
          </a:lstStyle>
          <a:p>
            <a:r>
              <a:rPr lang="en-US" altLang="en-US"/>
              <a:t>4</a:t>
            </a:r>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fld id="{8795BEBD-5F7F-4B1E-A5DD-154E7B09C5BA}" type="slidenum">
              <a:rPr lang="en-US" altLang="en-US"/>
              <a:pPr/>
              <a:t>‹#›</a:t>
            </a:fld>
            <a:endParaRPr lang="en-US" altLang="en-US"/>
          </a:p>
        </p:txBody>
      </p:sp>
    </p:spTree>
    <p:extLst>
      <p:ext uri="{BB962C8B-B14F-4D97-AF65-F5344CB8AC3E}">
        <p14:creationId xmlns:p14="http://schemas.microsoft.com/office/powerpoint/2010/main" val="1648673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102785" y="476251"/>
            <a:ext cx="9671049" cy="911225"/>
          </a:xfrm>
        </p:spPr>
        <p:txBody>
          <a:bodyPr/>
          <a:lstStyle/>
          <a:p>
            <a:r>
              <a:rPr lang="en-US"/>
              <a:t>Click to edit Master title style</a:t>
            </a:r>
          </a:p>
        </p:txBody>
      </p:sp>
      <p:sp>
        <p:nvSpPr>
          <p:cNvPr id="3" name="Content Placeholder 2"/>
          <p:cNvSpPr>
            <a:spLocks noGrp="1"/>
          </p:cNvSpPr>
          <p:nvPr>
            <p:ph sz="half" idx="1"/>
          </p:nvPr>
        </p:nvSpPr>
        <p:spPr>
          <a:xfrm>
            <a:off x="1102784" y="1835150"/>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85984" y="1835150"/>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9389533" y="6243638"/>
            <a:ext cx="2540000" cy="457200"/>
          </a:xfrm>
        </p:spPr>
        <p:txBody>
          <a:bodyPr/>
          <a:lstStyle>
            <a:lvl1pPr>
              <a:defRPr/>
            </a:lvl1pPr>
          </a:lstStyle>
          <a:p>
            <a:fld id="{F5FB5E57-EC04-42AB-A1D4-911DCA4C669B}" type="slidenum">
              <a:rPr lang="en-GB" altLang="en-US"/>
              <a:pPr/>
              <a:t>‹#›</a:t>
            </a:fld>
            <a:endParaRPr lang="en-GB" altLang="en-US"/>
          </a:p>
        </p:txBody>
      </p:sp>
    </p:spTree>
    <p:extLst>
      <p:ext uri="{BB962C8B-B14F-4D97-AF65-F5344CB8AC3E}">
        <p14:creationId xmlns:p14="http://schemas.microsoft.com/office/powerpoint/2010/main" val="6090359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102785" y="476251"/>
            <a:ext cx="9671049" cy="911225"/>
          </a:xfrm>
        </p:spPr>
        <p:txBody>
          <a:bodyPr/>
          <a:lstStyle/>
          <a:p>
            <a:r>
              <a:rPr lang="en-US"/>
              <a:t>Click to edit Master title style</a:t>
            </a:r>
          </a:p>
        </p:txBody>
      </p:sp>
      <p:sp>
        <p:nvSpPr>
          <p:cNvPr id="3" name="Content Placeholder 2"/>
          <p:cNvSpPr>
            <a:spLocks noGrp="1"/>
          </p:cNvSpPr>
          <p:nvPr>
            <p:ph sz="quarter" idx="1"/>
          </p:nvPr>
        </p:nvSpPr>
        <p:spPr>
          <a:xfrm>
            <a:off x="1102784" y="1835150"/>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102784" y="3968750"/>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385984" y="1835150"/>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9389533" y="6243638"/>
            <a:ext cx="2540000" cy="457200"/>
          </a:xfrm>
        </p:spPr>
        <p:txBody>
          <a:bodyPr/>
          <a:lstStyle>
            <a:lvl1pPr>
              <a:defRPr/>
            </a:lvl1pPr>
          </a:lstStyle>
          <a:p>
            <a:fld id="{3ECB8BDD-8070-401A-B6BC-08BF8404A6B5}" type="slidenum">
              <a:rPr lang="en-GB" altLang="en-US"/>
              <a:pPr/>
              <a:t>‹#›</a:t>
            </a:fld>
            <a:endParaRPr lang="en-GB" altLang="en-US"/>
          </a:p>
        </p:txBody>
      </p:sp>
    </p:spTree>
    <p:extLst>
      <p:ext uri="{BB962C8B-B14F-4D97-AF65-F5344CB8AC3E}">
        <p14:creationId xmlns:p14="http://schemas.microsoft.com/office/powerpoint/2010/main" val="531165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35AC49-0E72-471B-902E-2703BBA98572}" type="datetime1">
              <a:rPr lang="en-US" smtClean="0"/>
              <a:t>Sun-14-Oct-18</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2F36BB-9BBE-4A63-A253-E39D29D0379B}" type="slidenum">
              <a:rPr lang="en-US" smtClean="0"/>
              <a:t>‹#›</a:t>
            </a:fld>
            <a:endParaRPr lang="en-US"/>
          </a:p>
        </p:txBody>
      </p:sp>
    </p:spTree>
    <p:extLst>
      <p:ext uri="{BB962C8B-B14F-4D97-AF65-F5344CB8AC3E}">
        <p14:creationId xmlns:p14="http://schemas.microsoft.com/office/powerpoint/2010/main" val="3044981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4"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xml"/><Relationship Id="rId7"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4.wmf"/><Relationship Id="rId5" Type="http://schemas.openxmlformats.org/officeDocument/2006/relationships/image" Target="../media/image1.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3.wmf"/></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61.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14.xml"/><Relationship Id="rId1" Type="http://schemas.openxmlformats.org/officeDocument/2006/relationships/vmlDrawing" Target="../drawings/vmlDrawing2.vml"/><Relationship Id="rId6" Type="http://schemas.openxmlformats.org/officeDocument/2006/relationships/image" Target="../media/image14.wmf"/><Relationship Id="rId5" Type="http://schemas.openxmlformats.org/officeDocument/2006/relationships/oleObject" Target="../embeddings/oleObject6.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8.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7.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8362" y="1122363"/>
            <a:ext cx="10275276" cy="1488952"/>
          </a:xfrm>
        </p:spPr>
        <p:txBody>
          <a:bodyPr/>
          <a:lstStyle/>
          <a:p>
            <a:r>
              <a:rPr lang="en-US" dirty="0"/>
              <a:t>Automatic Text Summarization</a:t>
            </a:r>
          </a:p>
        </p:txBody>
      </p:sp>
      <p:sp>
        <p:nvSpPr>
          <p:cNvPr id="3" name="Subtitle 2"/>
          <p:cNvSpPr>
            <a:spLocks noGrp="1"/>
          </p:cNvSpPr>
          <p:nvPr>
            <p:ph type="subTitle" idx="1"/>
          </p:nvPr>
        </p:nvSpPr>
        <p:spPr/>
        <p:txBody>
          <a:bodyPr/>
          <a:lstStyle/>
          <a:p>
            <a:r>
              <a:rPr lang="en-US" dirty="0"/>
              <a:t>Manish Gupta</a:t>
            </a:r>
          </a:p>
        </p:txBody>
      </p:sp>
      <p:sp>
        <p:nvSpPr>
          <p:cNvPr id="4" name="Rectangle 3"/>
          <p:cNvSpPr/>
          <p:nvPr/>
        </p:nvSpPr>
        <p:spPr>
          <a:xfrm>
            <a:off x="137746" y="5866620"/>
            <a:ext cx="11125200" cy="646331"/>
          </a:xfrm>
          <a:prstGeom prst="rect">
            <a:avLst/>
          </a:prstGeom>
        </p:spPr>
        <p:txBody>
          <a:bodyPr wrap="square">
            <a:spAutoFit/>
          </a:bodyPr>
          <a:lstStyle/>
          <a:p>
            <a:r>
              <a:rPr lang="en-US" dirty="0"/>
              <a:t>Credits: Automated Text summarization Tutorial —  COLING/ACL’98. Eduard </a:t>
            </a:r>
            <a:r>
              <a:rPr lang="en-US" dirty="0" err="1"/>
              <a:t>Hovy</a:t>
            </a:r>
            <a:r>
              <a:rPr lang="en-US" dirty="0"/>
              <a:t> and Daniel </a:t>
            </a:r>
            <a:r>
              <a:rPr lang="en-US" dirty="0" err="1"/>
              <a:t>Marcu</a:t>
            </a:r>
            <a:r>
              <a:rPr lang="en-US" dirty="0"/>
              <a:t>.</a:t>
            </a:r>
          </a:p>
          <a:p>
            <a:r>
              <a:rPr lang="en-US" dirty="0"/>
              <a:t>https://en.wikipedia.org/wiki/Automatic_summarization</a:t>
            </a:r>
          </a:p>
        </p:txBody>
      </p:sp>
    </p:spTree>
    <p:extLst>
      <p:ext uri="{BB962C8B-B14F-4D97-AF65-F5344CB8AC3E}">
        <p14:creationId xmlns:p14="http://schemas.microsoft.com/office/powerpoint/2010/main" val="2764184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lstStyle/>
          <a:p>
            <a:pPr algn="ctr"/>
            <a:r>
              <a:rPr lang="en-US" dirty="0"/>
              <a:t>What is Summarization? What are its applications?</a:t>
            </a:r>
          </a:p>
        </p:txBody>
      </p:sp>
    </p:spTree>
    <p:extLst>
      <p:ext uri="{BB962C8B-B14F-4D97-AF65-F5344CB8AC3E}">
        <p14:creationId xmlns:p14="http://schemas.microsoft.com/office/powerpoint/2010/main" val="495195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10515600" cy="1325563"/>
          </a:xfrm>
          <a:noFill/>
          <a:ln/>
        </p:spPr>
        <p:txBody>
          <a:bodyPr/>
          <a:lstStyle/>
          <a:p>
            <a:r>
              <a:rPr lang="en-US" altLang="en-US" dirty="0"/>
              <a:t>What is summarization?</a:t>
            </a:r>
          </a:p>
        </p:txBody>
      </p:sp>
      <p:sp>
        <p:nvSpPr>
          <p:cNvPr id="8195" name="Rectangle 3"/>
          <p:cNvSpPr>
            <a:spLocks noGrp="1" noChangeArrowheads="1"/>
          </p:cNvSpPr>
          <p:nvPr>
            <p:ph type="body" idx="1"/>
          </p:nvPr>
        </p:nvSpPr>
        <p:spPr>
          <a:xfrm>
            <a:off x="1321777" y="1371600"/>
            <a:ext cx="7480300" cy="4660900"/>
          </a:xfrm>
          <a:noFill/>
          <a:ln/>
        </p:spPr>
        <p:txBody>
          <a:bodyPr/>
          <a:lstStyle/>
          <a:p>
            <a:pPr>
              <a:buFontTx/>
              <a:buNone/>
            </a:pPr>
            <a:r>
              <a:rPr lang="en-US" altLang="en-US" dirty="0"/>
              <a:t>...put a book on the scanner, turn the dial 		to ‘2 pages’, and read the result...</a:t>
            </a:r>
          </a:p>
          <a:p>
            <a:pPr>
              <a:buFontTx/>
              <a:buNone/>
            </a:pPr>
            <a:endParaRPr lang="en-US" altLang="en-US" dirty="0"/>
          </a:p>
          <a:p>
            <a:pPr>
              <a:buFontTx/>
              <a:buNone/>
            </a:pPr>
            <a:r>
              <a:rPr lang="en-US" altLang="en-US" dirty="0"/>
              <a:t>...download 1000 documents from the web, send them to the summarizer, and select the best ones by reading the summaries of the clusters... </a:t>
            </a:r>
          </a:p>
          <a:p>
            <a:pPr>
              <a:buFontTx/>
              <a:buNone/>
            </a:pPr>
            <a:endParaRPr lang="en-US" altLang="en-US" dirty="0"/>
          </a:p>
        </p:txBody>
      </p:sp>
      <p:graphicFrame>
        <p:nvGraphicFramePr>
          <p:cNvPr id="8196" name="Object 4"/>
          <p:cNvGraphicFramePr>
            <a:graphicFrameLocks noChangeAspect="1"/>
          </p:cNvGraphicFramePr>
          <p:nvPr/>
        </p:nvGraphicFramePr>
        <p:xfrm>
          <a:off x="8229600" y="1066801"/>
          <a:ext cx="1036638" cy="474663"/>
        </p:xfrm>
        <a:graphic>
          <a:graphicData uri="http://schemas.openxmlformats.org/presentationml/2006/ole">
            <mc:AlternateContent xmlns:mc="http://schemas.openxmlformats.org/markup-compatibility/2006">
              <mc:Choice xmlns:v="urn:schemas-microsoft-com:vml" Requires="v">
                <p:oleObj spid="_x0000_s1962" name="Clip" r:id="rId4" imgW="1036320" imgH="475488" progId="MS_ClipArt_Gallery.2">
                  <p:embed/>
                </p:oleObj>
              </mc:Choice>
              <mc:Fallback>
                <p:oleObj name="Clip" r:id="rId4" imgW="1036320" imgH="475488" progId="MS_ClipArt_Gallery.2">
                  <p:embed/>
                  <p:pic>
                    <p:nvPicPr>
                      <p:cNvPr id="819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9600" y="1066801"/>
                        <a:ext cx="1036638"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8" name="Object 6"/>
          <p:cNvGraphicFramePr>
            <a:graphicFrameLocks noChangeAspect="1"/>
          </p:cNvGraphicFramePr>
          <p:nvPr/>
        </p:nvGraphicFramePr>
        <p:xfrm>
          <a:off x="8077200" y="457201"/>
          <a:ext cx="630238" cy="639763"/>
        </p:xfrm>
        <a:graphic>
          <a:graphicData uri="http://schemas.openxmlformats.org/presentationml/2006/ole">
            <mc:AlternateContent xmlns:mc="http://schemas.openxmlformats.org/markup-compatibility/2006">
              <mc:Choice xmlns:v="urn:schemas-microsoft-com:vml" Requires="v">
                <p:oleObj spid="_x0000_s1963" name="Clip" r:id="rId6" imgW="630936" imgH="640080" progId="MS_ClipArt_Gallery.2">
                  <p:embed/>
                </p:oleObj>
              </mc:Choice>
              <mc:Fallback>
                <p:oleObj name="Clip" r:id="rId6" imgW="630936" imgH="640080" progId="MS_ClipArt_Gallery.2">
                  <p:embed/>
                  <p:pic>
                    <p:nvPicPr>
                      <p:cNvPr id="819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7200" y="457201"/>
                        <a:ext cx="630238"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9" name="Object 7"/>
          <p:cNvGraphicFramePr>
            <a:graphicFrameLocks noChangeAspect="1"/>
          </p:cNvGraphicFramePr>
          <p:nvPr/>
        </p:nvGraphicFramePr>
        <p:xfrm>
          <a:off x="8839201" y="1524001"/>
          <a:ext cx="752475" cy="536575"/>
        </p:xfrm>
        <a:graphic>
          <a:graphicData uri="http://schemas.openxmlformats.org/presentationml/2006/ole">
            <mc:AlternateContent xmlns:mc="http://schemas.openxmlformats.org/markup-compatibility/2006">
              <mc:Choice xmlns:v="urn:schemas-microsoft-com:vml" Requires="v">
                <p:oleObj spid="_x0000_s1964" name="Clip" r:id="rId8" imgW="752856" imgH="536448" progId="MS_ClipArt_Gallery.2">
                  <p:embed/>
                </p:oleObj>
              </mc:Choice>
              <mc:Fallback>
                <p:oleObj name="Clip" r:id="rId8" imgW="752856" imgH="536448" progId="MS_ClipArt_Gallery.2">
                  <p:embed/>
                  <p:pic>
                    <p:nvPicPr>
                      <p:cNvPr id="819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39201" y="1524001"/>
                        <a:ext cx="7524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0" name="Object 8"/>
          <p:cNvGraphicFramePr>
            <a:graphicFrameLocks noChangeAspect="1"/>
          </p:cNvGraphicFramePr>
          <p:nvPr/>
        </p:nvGraphicFramePr>
        <p:xfrm>
          <a:off x="8991600" y="2362201"/>
          <a:ext cx="577850" cy="614363"/>
        </p:xfrm>
        <a:graphic>
          <a:graphicData uri="http://schemas.openxmlformats.org/presentationml/2006/ole">
            <mc:AlternateContent xmlns:mc="http://schemas.openxmlformats.org/markup-compatibility/2006">
              <mc:Choice xmlns:v="urn:schemas-microsoft-com:vml" Requires="v">
                <p:oleObj spid="_x0000_s1965" name="Clip" r:id="rId10" imgW="579120" imgH="615696" progId="MS_ClipArt_Gallery.2">
                  <p:embed/>
                </p:oleObj>
              </mc:Choice>
              <mc:Fallback>
                <p:oleObj name="Clip" r:id="rId10" imgW="579120" imgH="615696" progId="MS_ClipArt_Gallery.2">
                  <p:embed/>
                  <p:pic>
                    <p:nvPicPr>
                      <p:cNvPr id="820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91600" y="2362201"/>
                        <a:ext cx="57785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1" name="AutoShape 9"/>
          <p:cNvSpPr>
            <a:spLocks noChangeArrowheads="1"/>
          </p:cNvSpPr>
          <p:nvPr/>
        </p:nvSpPr>
        <p:spPr bwMode="auto">
          <a:xfrm>
            <a:off x="9677400" y="1987034"/>
            <a:ext cx="609600" cy="369332"/>
          </a:xfrm>
          <a:prstGeom prst="curvedLeftArrow">
            <a:avLst>
              <a:gd name="adj1" fmla="val 37500"/>
              <a:gd name="adj2" fmla="val 75000"/>
              <a:gd name="adj3" fmla="val 33333"/>
            </a:avLst>
          </a:prstGeom>
          <a:solidFill>
            <a:srgbClr val="00FFFF"/>
          </a:solidFill>
          <a:ln w="12700">
            <a:solidFill>
              <a:srgbClr val="3399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 name="Rectangle 1"/>
          <p:cNvSpPr/>
          <p:nvPr/>
        </p:nvSpPr>
        <p:spPr>
          <a:xfrm>
            <a:off x="2296319" y="4436517"/>
            <a:ext cx="6096000" cy="1477328"/>
          </a:xfrm>
          <a:prstGeom prst="rect">
            <a:avLst/>
          </a:prstGeom>
        </p:spPr>
        <p:txBody>
          <a:bodyPr>
            <a:spAutoFit/>
          </a:bodyPr>
          <a:lstStyle/>
          <a:p>
            <a:r>
              <a:rPr lang="en-GB" altLang="en-US" dirty="0"/>
              <a:t>Summarization System:</a:t>
            </a:r>
          </a:p>
          <a:p>
            <a:r>
              <a:rPr lang="en-GB" altLang="en-US" dirty="0"/>
              <a:t>An information access technology that given a document or sets of </a:t>
            </a:r>
            <a:r>
              <a:rPr lang="en-GB" altLang="en-US" i="1" dirty="0"/>
              <a:t>related </a:t>
            </a:r>
            <a:r>
              <a:rPr lang="en-GB" altLang="en-US" dirty="0"/>
              <a:t>documents, extracts the most important content from the source(s) taking into account the user or task at hand, and presents this content in a well formed and concise text</a:t>
            </a:r>
            <a:endParaRPr lang="en-US" altLang="en-US" dirty="0"/>
          </a:p>
        </p:txBody>
      </p:sp>
    </p:spTree>
    <p:extLst>
      <p:ext uri="{BB962C8B-B14F-4D97-AF65-F5344CB8AC3E}">
        <p14:creationId xmlns:p14="http://schemas.microsoft.com/office/powerpoint/2010/main" val="344180909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altLang="en-US"/>
              <a:t>Headline news — informing</a:t>
            </a:r>
          </a:p>
        </p:txBody>
      </p:sp>
      <p:pic>
        <p:nvPicPr>
          <p:cNvPr id="3" name="Picture 2"/>
          <p:cNvPicPr>
            <a:picLocks noChangeAspect="1"/>
          </p:cNvPicPr>
          <p:nvPr/>
        </p:nvPicPr>
        <p:blipFill>
          <a:blip r:embed="rId2"/>
          <a:stretch>
            <a:fillRect/>
          </a:stretch>
        </p:blipFill>
        <p:spPr>
          <a:xfrm>
            <a:off x="838200" y="1690688"/>
            <a:ext cx="10429875" cy="4505325"/>
          </a:xfrm>
          <a:prstGeom prst="rect">
            <a:avLst/>
          </a:prstGeom>
        </p:spPr>
      </p:pic>
    </p:spTree>
    <p:extLst>
      <p:ext uri="{BB962C8B-B14F-4D97-AF65-F5344CB8AC3E}">
        <p14:creationId xmlns:p14="http://schemas.microsoft.com/office/powerpoint/2010/main" val="191926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026"/>
          <p:cNvSpPr>
            <a:spLocks noGrp="1" noChangeArrowheads="1"/>
          </p:cNvSpPr>
          <p:nvPr>
            <p:ph type="title"/>
          </p:nvPr>
        </p:nvSpPr>
        <p:spPr/>
        <p:txBody>
          <a:bodyPr/>
          <a:lstStyle/>
          <a:p>
            <a:r>
              <a:rPr lang="en-US" altLang="en-US"/>
              <a:t>TV-GUIDES — decision making</a:t>
            </a:r>
          </a:p>
        </p:txBody>
      </p:sp>
      <p:pic>
        <p:nvPicPr>
          <p:cNvPr id="129027" name="Picture 1027" descr="C:\Users\Marcu\tv-guide.tif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1448688"/>
            <a:ext cx="5715000"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709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4" name="Rectangle 2"/>
          <p:cNvSpPr>
            <a:spLocks noGrp="1" noChangeArrowheads="1"/>
          </p:cNvSpPr>
          <p:nvPr>
            <p:ph type="title"/>
          </p:nvPr>
        </p:nvSpPr>
        <p:spPr>
          <a:xfrm>
            <a:off x="521677" y="0"/>
            <a:ext cx="10515600" cy="1325563"/>
          </a:xfrm>
        </p:spPr>
        <p:txBody>
          <a:bodyPr/>
          <a:lstStyle/>
          <a:p>
            <a:r>
              <a:rPr lang="en-GB" altLang="en-US" sz="3200" dirty="0"/>
              <a:t>Examples of summaries – sports results</a:t>
            </a:r>
          </a:p>
        </p:txBody>
      </p:sp>
      <p:pic>
        <p:nvPicPr>
          <p:cNvPr id="2" name="Picture 1"/>
          <p:cNvPicPr>
            <a:picLocks noChangeAspect="1"/>
          </p:cNvPicPr>
          <p:nvPr/>
        </p:nvPicPr>
        <p:blipFill>
          <a:blip r:embed="rId3"/>
          <a:stretch>
            <a:fillRect/>
          </a:stretch>
        </p:blipFill>
        <p:spPr>
          <a:xfrm>
            <a:off x="3520675" y="965479"/>
            <a:ext cx="6014893" cy="5573433"/>
          </a:xfrm>
          <a:prstGeom prst="rect">
            <a:avLst/>
          </a:prstGeom>
        </p:spPr>
      </p:pic>
    </p:spTree>
    <p:custDataLst>
      <p:tags r:id="rId1"/>
    </p:custDataLst>
    <p:extLst>
      <p:ext uri="{BB962C8B-B14F-4D97-AF65-F5344CB8AC3E}">
        <p14:creationId xmlns:p14="http://schemas.microsoft.com/office/powerpoint/2010/main" val="350048418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altLang="en-US"/>
              <a:t>Abstracts of papers — time saving</a:t>
            </a:r>
          </a:p>
        </p:txBody>
      </p:sp>
      <p:pic>
        <p:nvPicPr>
          <p:cNvPr id="130051" name="Picture 3" descr="C:\Users\Marcu\paper-abstract.tif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6075" y="1509348"/>
            <a:ext cx="6419850" cy="491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8439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Summly News summarization</a:t>
            </a:r>
          </a:p>
        </p:txBody>
      </p:sp>
      <p:pic>
        <p:nvPicPr>
          <p:cNvPr id="3" name="Picture 2"/>
          <p:cNvPicPr>
            <a:picLocks noChangeAspect="1"/>
          </p:cNvPicPr>
          <p:nvPr/>
        </p:nvPicPr>
        <p:blipFill>
          <a:blip r:embed="rId2"/>
          <a:stretch>
            <a:fillRect/>
          </a:stretch>
        </p:blipFill>
        <p:spPr>
          <a:xfrm>
            <a:off x="2957512" y="1916469"/>
            <a:ext cx="6276975" cy="4667250"/>
          </a:xfrm>
          <a:prstGeom prst="rect">
            <a:avLst/>
          </a:prstGeom>
        </p:spPr>
      </p:pic>
    </p:spTree>
    <p:extLst>
      <p:ext uri="{BB962C8B-B14F-4D97-AF65-F5344CB8AC3E}">
        <p14:creationId xmlns:p14="http://schemas.microsoft.com/office/powerpoint/2010/main" val="465714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253065" cy="1325563"/>
          </a:xfrm>
        </p:spPr>
        <p:txBody>
          <a:bodyPr>
            <a:normAutofit fontScale="90000"/>
          </a:bodyPr>
          <a:lstStyle/>
          <a:p>
            <a:r>
              <a:rPr lang="en-US" dirty="0"/>
              <a:t>Summarization Startups</a:t>
            </a:r>
            <a:br>
              <a:rPr lang="en-US" dirty="0"/>
            </a:br>
            <a:r>
              <a:rPr lang="en-US" dirty="0"/>
              <a:t>https://angel.co/content-summarization</a:t>
            </a:r>
          </a:p>
        </p:txBody>
      </p:sp>
      <p:pic>
        <p:nvPicPr>
          <p:cNvPr id="3" name="Picture 2"/>
          <p:cNvPicPr>
            <a:picLocks noChangeAspect="1"/>
          </p:cNvPicPr>
          <p:nvPr/>
        </p:nvPicPr>
        <p:blipFill>
          <a:blip r:embed="rId2"/>
          <a:stretch>
            <a:fillRect/>
          </a:stretch>
        </p:blipFill>
        <p:spPr>
          <a:xfrm>
            <a:off x="1779088" y="1811062"/>
            <a:ext cx="5062781" cy="4926563"/>
          </a:xfrm>
          <a:prstGeom prst="rect">
            <a:avLst/>
          </a:prstGeom>
        </p:spPr>
      </p:pic>
      <p:pic>
        <p:nvPicPr>
          <p:cNvPr id="4" name="Picture 3"/>
          <p:cNvPicPr>
            <a:picLocks noChangeAspect="1"/>
          </p:cNvPicPr>
          <p:nvPr/>
        </p:nvPicPr>
        <p:blipFill>
          <a:blip r:embed="rId3"/>
          <a:stretch>
            <a:fillRect/>
          </a:stretch>
        </p:blipFill>
        <p:spPr>
          <a:xfrm>
            <a:off x="7194732" y="0"/>
            <a:ext cx="4468483" cy="6858000"/>
          </a:xfrm>
          <a:prstGeom prst="rect">
            <a:avLst/>
          </a:prstGeom>
        </p:spPr>
      </p:pic>
    </p:spTree>
    <p:extLst>
      <p:ext uri="{BB962C8B-B14F-4D97-AF65-F5344CB8AC3E}">
        <p14:creationId xmlns:p14="http://schemas.microsoft.com/office/powerpoint/2010/main" val="2443081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C33C5-9CF0-4F47-B68D-9959E796E9E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449470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lstStyle/>
          <a:p>
            <a:pPr algn="ctr"/>
            <a:r>
              <a:rPr lang="en-US" dirty="0"/>
              <a:t>Genres and Types of Summaries</a:t>
            </a:r>
          </a:p>
        </p:txBody>
      </p:sp>
    </p:spTree>
    <p:extLst>
      <p:ext uri="{BB962C8B-B14F-4D97-AF65-F5344CB8AC3E}">
        <p14:creationId xmlns:p14="http://schemas.microsoft.com/office/powerpoint/2010/main" val="1457728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2351089" y="766763"/>
            <a:ext cx="6473825" cy="620712"/>
          </a:xfrm>
        </p:spPr>
        <p:txBody>
          <a:bodyPr>
            <a:normAutofit fontScale="90000"/>
          </a:bodyPr>
          <a:lstStyle/>
          <a:p>
            <a:r>
              <a:rPr lang="en-US" altLang="en-US" dirty="0"/>
              <a:t>‘Genres’ of Summary?</a:t>
            </a:r>
            <a:endParaRPr lang="en-GB" altLang="en-US" dirty="0"/>
          </a:p>
        </p:txBody>
      </p:sp>
      <p:sp>
        <p:nvSpPr>
          <p:cNvPr id="173059" name="Rectangle 3"/>
          <p:cNvSpPr>
            <a:spLocks noGrp="1" noChangeArrowheads="1"/>
          </p:cNvSpPr>
          <p:nvPr>
            <p:ph type="body" idx="1"/>
          </p:nvPr>
        </p:nvSpPr>
        <p:spPr>
          <a:xfrm>
            <a:off x="1248939" y="1808956"/>
            <a:ext cx="4532313" cy="4176713"/>
          </a:xfrm>
        </p:spPr>
        <p:txBody>
          <a:bodyPr/>
          <a:lstStyle/>
          <a:p>
            <a:pPr>
              <a:lnSpc>
                <a:spcPct val="90000"/>
              </a:lnSpc>
            </a:pPr>
            <a:r>
              <a:rPr lang="en-GB" altLang="en-US" sz="2000"/>
              <a:t>extract vs abstract</a:t>
            </a:r>
          </a:p>
          <a:p>
            <a:pPr lvl="1">
              <a:lnSpc>
                <a:spcPct val="90000"/>
              </a:lnSpc>
            </a:pPr>
            <a:r>
              <a:rPr lang="en-GB" altLang="en-US" sz="2000"/>
              <a:t>fragments from the document</a:t>
            </a:r>
          </a:p>
          <a:p>
            <a:pPr lvl="1">
              <a:lnSpc>
                <a:spcPct val="90000"/>
              </a:lnSpc>
            </a:pPr>
            <a:r>
              <a:rPr lang="en-GB" altLang="en-US" sz="2000"/>
              <a:t>newly re-written text</a:t>
            </a:r>
          </a:p>
          <a:p>
            <a:pPr>
              <a:lnSpc>
                <a:spcPct val="90000"/>
              </a:lnSpc>
            </a:pPr>
            <a:r>
              <a:rPr lang="en-GB" altLang="en-US" sz="2000"/>
              <a:t>generic vs query-based vs user-focused</a:t>
            </a:r>
          </a:p>
          <a:p>
            <a:pPr lvl="1">
              <a:lnSpc>
                <a:spcPct val="90000"/>
              </a:lnSpc>
            </a:pPr>
            <a:r>
              <a:rPr lang="en-GB" altLang="en-US" sz="2000"/>
              <a:t>all major topics equal coverage</a:t>
            </a:r>
          </a:p>
          <a:p>
            <a:pPr lvl="1">
              <a:lnSpc>
                <a:spcPct val="90000"/>
              </a:lnSpc>
            </a:pPr>
            <a:r>
              <a:rPr lang="en-GB" altLang="en-US" sz="2000"/>
              <a:t>based on a question “what are the causes of the war?”</a:t>
            </a:r>
          </a:p>
          <a:p>
            <a:pPr lvl="1">
              <a:lnSpc>
                <a:spcPct val="90000"/>
              </a:lnSpc>
            </a:pPr>
            <a:r>
              <a:rPr lang="en-GB" altLang="en-US" sz="2000"/>
              <a:t>users interested in chemistry </a:t>
            </a:r>
          </a:p>
          <a:p>
            <a:pPr>
              <a:lnSpc>
                <a:spcPct val="90000"/>
              </a:lnSpc>
            </a:pPr>
            <a:r>
              <a:rPr lang="en-GB" altLang="en-US" sz="2000"/>
              <a:t>for novice vs for expert</a:t>
            </a:r>
          </a:p>
          <a:p>
            <a:pPr lvl="1">
              <a:lnSpc>
                <a:spcPct val="90000"/>
              </a:lnSpc>
            </a:pPr>
            <a:r>
              <a:rPr lang="en-GB" altLang="en-US" sz="2000"/>
              <a:t>background</a:t>
            </a:r>
          </a:p>
          <a:p>
            <a:pPr lvl="1">
              <a:lnSpc>
                <a:spcPct val="90000"/>
              </a:lnSpc>
            </a:pPr>
            <a:r>
              <a:rPr lang="en-GB" altLang="en-US" sz="2000"/>
              <a:t>Just the new information</a:t>
            </a:r>
          </a:p>
          <a:p>
            <a:pPr>
              <a:lnSpc>
                <a:spcPct val="90000"/>
              </a:lnSpc>
              <a:buFont typeface="Wingdings" panose="05000000000000000000" pitchFamily="2" charset="2"/>
              <a:buNone/>
            </a:pPr>
            <a:endParaRPr lang="en-GB" altLang="en-US" sz="2400"/>
          </a:p>
          <a:p>
            <a:pPr>
              <a:lnSpc>
                <a:spcPct val="90000"/>
              </a:lnSpc>
              <a:buFont typeface="Wingdings" panose="05000000000000000000" pitchFamily="2" charset="2"/>
              <a:buNone/>
            </a:pPr>
            <a:endParaRPr lang="en-GB" altLang="en-US" sz="2400"/>
          </a:p>
          <a:p>
            <a:pPr>
              <a:lnSpc>
                <a:spcPct val="90000"/>
              </a:lnSpc>
            </a:pPr>
            <a:endParaRPr lang="en-GB" altLang="en-US" sz="2400"/>
          </a:p>
        </p:txBody>
      </p:sp>
      <p:sp>
        <p:nvSpPr>
          <p:cNvPr id="283652" name="Rectangle 4"/>
          <p:cNvSpPr>
            <a:spLocks noChangeArrowheads="1"/>
          </p:cNvSpPr>
          <p:nvPr/>
        </p:nvSpPr>
        <p:spPr bwMode="auto">
          <a:xfrm>
            <a:off x="6311901" y="1844676"/>
            <a:ext cx="4896289"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80000"/>
              </a:lnSpc>
            </a:pPr>
            <a:r>
              <a:rPr lang="en-GB" altLang="en-US" sz="2000" dirty="0"/>
              <a:t>single-document vs multi-document</a:t>
            </a:r>
          </a:p>
          <a:p>
            <a:pPr lvl="1">
              <a:lnSpc>
                <a:spcPct val="80000"/>
              </a:lnSpc>
            </a:pPr>
            <a:r>
              <a:rPr lang="en-GB" altLang="en-US" sz="2000" dirty="0"/>
              <a:t>research paper</a:t>
            </a:r>
          </a:p>
          <a:p>
            <a:pPr lvl="1">
              <a:lnSpc>
                <a:spcPct val="80000"/>
              </a:lnSpc>
            </a:pPr>
            <a:r>
              <a:rPr lang="en-GB" altLang="en-US" sz="2000" dirty="0"/>
              <a:t>proceedings of a conference</a:t>
            </a:r>
          </a:p>
          <a:p>
            <a:pPr>
              <a:lnSpc>
                <a:spcPct val="80000"/>
              </a:lnSpc>
            </a:pPr>
            <a:r>
              <a:rPr lang="en-GB" altLang="en-US" sz="2000" dirty="0"/>
              <a:t>in textual form vs items vs tabular vs structured</a:t>
            </a:r>
          </a:p>
          <a:p>
            <a:pPr lvl="1">
              <a:lnSpc>
                <a:spcPct val="80000"/>
              </a:lnSpc>
            </a:pPr>
            <a:r>
              <a:rPr lang="en-GB" altLang="en-US" sz="2000" dirty="0"/>
              <a:t>paragraph</a:t>
            </a:r>
          </a:p>
          <a:p>
            <a:pPr lvl="1">
              <a:lnSpc>
                <a:spcPct val="80000"/>
              </a:lnSpc>
            </a:pPr>
            <a:r>
              <a:rPr lang="en-GB" altLang="en-US" sz="2000" dirty="0"/>
              <a:t>list of main points</a:t>
            </a:r>
          </a:p>
          <a:p>
            <a:pPr lvl="1">
              <a:lnSpc>
                <a:spcPct val="80000"/>
              </a:lnSpc>
            </a:pPr>
            <a:r>
              <a:rPr lang="en-GB" altLang="en-US" sz="2000" dirty="0"/>
              <a:t>numeric information in a table</a:t>
            </a:r>
          </a:p>
          <a:p>
            <a:pPr>
              <a:lnSpc>
                <a:spcPct val="80000"/>
              </a:lnSpc>
            </a:pPr>
            <a:r>
              <a:rPr lang="en-GB" altLang="en-US" sz="2000" dirty="0"/>
              <a:t>in the language of the document vs in other language</a:t>
            </a:r>
          </a:p>
          <a:p>
            <a:pPr lvl="1">
              <a:lnSpc>
                <a:spcPct val="80000"/>
              </a:lnSpc>
            </a:pPr>
            <a:r>
              <a:rPr lang="en-GB" altLang="en-US" sz="1800" dirty="0"/>
              <a:t>monolingual</a:t>
            </a:r>
          </a:p>
          <a:p>
            <a:pPr lvl="1">
              <a:lnSpc>
                <a:spcPct val="80000"/>
              </a:lnSpc>
            </a:pPr>
            <a:r>
              <a:rPr lang="en-GB" altLang="en-US" sz="1800" dirty="0"/>
              <a:t>cross-lingual</a:t>
            </a:r>
          </a:p>
          <a:p>
            <a:pPr>
              <a:lnSpc>
                <a:spcPct val="80000"/>
              </a:lnSpc>
            </a:pPr>
            <a:endParaRPr lang="en-GB" altLang="en-US" sz="2400" dirty="0"/>
          </a:p>
        </p:txBody>
      </p:sp>
    </p:spTree>
    <p:custDataLst>
      <p:tags r:id="rId1"/>
    </p:custDataLst>
    <p:extLst>
      <p:ext uri="{BB962C8B-B14F-4D97-AF65-F5344CB8AC3E}">
        <p14:creationId xmlns:p14="http://schemas.microsoft.com/office/powerpoint/2010/main" val="388774831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noFill/>
          <a:ln/>
        </p:spPr>
        <p:txBody>
          <a:bodyPr/>
          <a:lstStyle/>
          <a:p>
            <a:r>
              <a:rPr lang="en-US" altLang="en-US"/>
              <a:t>Examples of Genres</a:t>
            </a:r>
          </a:p>
        </p:txBody>
      </p:sp>
      <p:sp>
        <p:nvSpPr>
          <p:cNvPr id="212995" name="Rectangle 3"/>
          <p:cNvSpPr>
            <a:spLocks noGrp="1" noChangeArrowheads="1"/>
          </p:cNvSpPr>
          <p:nvPr>
            <p:ph type="body" idx="1"/>
          </p:nvPr>
        </p:nvSpPr>
        <p:spPr>
          <a:xfrm>
            <a:off x="1828801" y="1295400"/>
            <a:ext cx="8296275" cy="1068388"/>
          </a:xfrm>
          <a:noFill/>
          <a:ln/>
        </p:spPr>
        <p:txBody>
          <a:bodyPr/>
          <a:lstStyle/>
          <a:p>
            <a:pPr>
              <a:buFontTx/>
              <a:buNone/>
            </a:pPr>
            <a:r>
              <a:rPr lang="en-US" altLang="en-US" b="1"/>
              <a:t>Exercise</a:t>
            </a:r>
            <a:r>
              <a:rPr lang="en-US" altLang="en-US"/>
              <a:t>: summarize the following texts for the following readers: </a:t>
            </a:r>
          </a:p>
        </p:txBody>
      </p:sp>
      <p:grpSp>
        <p:nvGrpSpPr>
          <p:cNvPr id="212996" name="Group 4"/>
          <p:cNvGrpSpPr>
            <a:grpSpLocks/>
          </p:cNvGrpSpPr>
          <p:nvPr/>
        </p:nvGrpSpPr>
        <p:grpSpPr bwMode="auto">
          <a:xfrm>
            <a:off x="1982788" y="2597150"/>
            <a:ext cx="8121650" cy="3079750"/>
            <a:chOff x="283" y="1503"/>
            <a:chExt cx="5160" cy="2296"/>
          </a:xfrm>
        </p:grpSpPr>
        <p:sp>
          <p:nvSpPr>
            <p:cNvPr id="212997" name="Rectangle 5"/>
            <p:cNvSpPr>
              <a:spLocks noChangeArrowheads="1"/>
            </p:cNvSpPr>
            <p:nvPr/>
          </p:nvSpPr>
          <p:spPr bwMode="auto">
            <a:xfrm>
              <a:off x="283" y="1510"/>
              <a:ext cx="1870" cy="2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spcBef>
                  <a:spcPct val="50000"/>
                </a:spcBef>
              </a:pPr>
              <a:r>
                <a:rPr lang="en-US" altLang="en-US" sz="2400" b="1"/>
                <a:t>text1: </a:t>
              </a:r>
              <a:r>
                <a:rPr lang="en-US" altLang="en-US" sz="2400"/>
                <a:t>Coup Attempt</a:t>
              </a:r>
              <a:r>
                <a:rPr lang="en-US" altLang="en-US" sz="2400" b="1"/>
                <a:t> </a:t>
              </a:r>
            </a:p>
            <a:p>
              <a:pPr>
                <a:spcBef>
                  <a:spcPct val="50000"/>
                </a:spcBef>
              </a:pPr>
              <a:endParaRPr lang="en-US" altLang="en-US" b="1"/>
            </a:p>
            <a:p>
              <a:pPr>
                <a:spcBef>
                  <a:spcPct val="50000"/>
                </a:spcBef>
              </a:pPr>
              <a:endParaRPr lang="en-US" altLang="en-US" b="1"/>
            </a:p>
            <a:p>
              <a:pPr>
                <a:spcBef>
                  <a:spcPct val="50000"/>
                </a:spcBef>
              </a:pPr>
              <a:endParaRPr lang="en-US" altLang="en-US" b="1"/>
            </a:p>
            <a:p>
              <a:pPr>
                <a:spcBef>
                  <a:spcPct val="50000"/>
                </a:spcBef>
              </a:pPr>
              <a:r>
                <a:rPr lang="en-US" altLang="en-US" sz="2400" b="1"/>
                <a:t>text2: </a:t>
              </a:r>
              <a:r>
                <a:rPr lang="en-US" altLang="en-US" sz="2400"/>
                <a:t>childrens’ story</a:t>
              </a:r>
            </a:p>
          </p:txBody>
        </p:sp>
        <p:sp>
          <p:nvSpPr>
            <p:cNvPr id="212998" name="Rectangle 6"/>
            <p:cNvSpPr>
              <a:spLocks noChangeArrowheads="1"/>
            </p:cNvSpPr>
            <p:nvPr/>
          </p:nvSpPr>
          <p:spPr bwMode="auto">
            <a:xfrm>
              <a:off x="2208" y="1503"/>
              <a:ext cx="3235" cy="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spcBef>
                  <a:spcPct val="50000"/>
                </a:spcBef>
              </a:pPr>
              <a:r>
                <a:rPr lang="en-US" altLang="en-US" sz="2400" b="1" dirty="0"/>
                <a:t>reader1: </a:t>
              </a:r>
              <a:r>
                <a:rPr lang="en-US" altLang="en-US" sz="2400" dirty="0"/>
                <a:t>your friend, who knows nothing about South Africa. </a:t>
              </a:r>
            </a:p>
            <a:p>
              <a:pPr>
                <a:lnSpc>
                  <a:spcPct val="90000"/>
                </a:lnSpc>
                <a:spcBef>
                  <a:spcPct val="50000"/>
                </a:spcBef>
              </a:pPr>
              <a:r>
                <a:rPr lang="en-US" altLang="en-US" sz="2400" b="1" dirty="0"/>
                <a:t>reader2: </a:t>
              </a:r>
              <a:r>
                <a:rPr lang="en-US" altLang="en-US" sz="2400" dirty="0"/>
                <a:t>someone who lives in South Africa and knows the political position.</a:t>
              </a:r>
              <a:endParaRPr lang="en-US" altLang="en-US" sz="2400" b="1" dirty="0"/>
            </a:p>
            <a:p>
              <a:pPr>
                <a:lnSpc>
                  <a:spcPct val="120000"/>
                </a:lnSpc>
                <a:spcBef>
                  <a:spcPct val="50000"/>
                </a:spcBef>
              </a:pPr>
              <a:r>
                <a:rPr lang="en-US" altLang="en-US" sz="2400" b="1" dirty="0"/>
                <a:t>reader3: </a:t>
              </a:r>
              <a:r>
                <a:rPr lang="en-US" altLang="en-US" sz="2400" dirty="0"/>
                <a:t>your 4-year-old niece.</a:t>
              </a:r>
              <a:endParaRPr lang="en-US" altLang="en-US" sz="2400" b="1" dirty="0"/>
            </a:p>
            <a:p>
              <a:pPr>
                <a:lnSpc>
                  <a:spcPct val="80000"/>
                </a:lnSpc>
                <a:spcBef>
                  <a:spcPct val="30000"/>
                </a:spcBef>
              </a:pPr>
              <a:r>
                <a:rPr lang="en-US" altLang="en-US" sz="2400" b="1" dirty="0"/>
                <a:t>reader4: </a:t>
              </a:r>
              <a:r>
                <a:rPr lang="en-US" altLang="en-US" sz="2400" dirty="0"/>
                <a:t>the Library of Congress.</a:t>
              </a:r>
              <a:endParaRPr lang="en-US" altLang="en-US" sz="2400" b="1" dirty="0"/>
            </a:p>
          </p:txBody>
        </p:sp>
      </p:grpSp>
    </p:spTree>
    <p:extLst>
      <p:ext uri="{BB962C8B-B14F-4D97-AF65-F5344CB8AC3E}">
        <p14:creationId xmlns:p14="http://schemas.microsoft.com/office/powerpoint/2010/main" val="371707031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3778" name="Rectangle 1026"/>
          <p:cNvSpPr>
            <a:spLocks noChangeArrowheads="1"/>
          </p:cNvSpPr>
          <p:nvPr/>
        </p:nvSpPr>
        <p:spPr bwMode="auto">
          <a:xfrm>
            <a:off x="1830388" y="550863"/>
            <a:ext cx="8424862" cy="548640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a:solidFill>
                  <a:srgbClr val="33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en-US" sz="1200" b="1" dirty="0"/>
              <a:t>90 Soldiers Arrested After Coup Attempt In Tribal Homeland</a:t>
            </a:r>
            <a:endParaRPr lang="en-US" altLang="en-US" sz="1200" dirty="0"/>
          </a:p>
          <a:p>
            <a:r>
              <a:rPr lang="en-US" altLang="en-US" sz="1200" dirty="0"/>
              <a:t>MMABATHO, South Africa (AP) </a:t>
            </a:r>
          </a:p>
          <a:p>
            <a:endParaRPr lang="en-US" altLang="en-US" sz="1000" dirty="0"/>
          </a:p>
          <a:p>
            <a:endParaRPr lang="en-US" altLang="en-US" sz="1000" dirty="0"/>
          </a:p>
          <a:p>
            <a:endParaRPr lang="en-US" altLang="en-US" sz="1000" dirty="0"/>
          </a:p>
          <a:p>
            <a:r>
              <a:rPr lang="en-US" altLang="en-US" sz="1000" dirty="0"/>
              <a:t>About 90 soldiers have been arrested and face possible death sentences stemming from a coup attempt in Bophuthatswana, leaders of the tribal homeland said Friday.</a:t>
            </a:r>
          </a:p>
          <a:p>
            <a:r>
              <a:rPr lang="en-US" altLang="en-US" sz="1000" dirty="0"/>
              <a:t>   Rebel soldiers staged the takeover bid Wednesday, detaining homeland President Lucas </a:t>
            </a:r>
            <a:r>
              <a:rPr lang="en-US" altLang="en-US" sz="1000" dirty="0" err="1"/>
              <a:t>Mangope</a:t>
            </a:r>
            <a:r>
              <a:rPr lang="en-US" altLang="en-US" sz="1000" dirty="0"/>
              <a:t> and several top Cabinet officials for 15 hours before South African soldiers and police rushed to the homeland, rescuing the leaders and restoring them to power.</a:t>
            </a:r>
          </a:p>
          <a:p>
            <a:r>
              <a:rPr lang="en-US" altLang="en-US" sz="1000" dirty="0"/>
              <a:t>   At least three soldiers and two civilians died in the uprising.</a:t>
            </a:r>
          </a:p>
          <a:p>
            <a:r>
              <a:rPr lang="en-US" altLang="en-US" sz="1000" dirty="0"/>
              <a:t>   Bophuthatswana's Minister of Justice G. Godfrey </a:t>
            </a:r>
            <a:r>
              <a:rPr lang="en-US" altLang="en-US" sz="1000" dirty="0" err="1"/>
              <a:t>Mothibe</a:t>
            </a:r>
            <a:r>
              <a:rPr lang="en-US" altLang="en-US" sz="1000" dirty="0"/>
              <a:t> told a news conference that those arrested have been charged with high treason and if convicted could be sentenced to death. He said the accused were to appear in court Monday.</a:t>
            </a:r>
          </a:p>
          <a:p>
            <a:r>
              <a:rPr lang="en-US" altLang="en-US" sz="1000" dirty="0"/>
              <a:t>   All those arrested in the coup attempt have been described as young troops, the most senior being a warrant officer.</a:t>
            </a:r>
          </a:p>
          <a:p>
            <a:r>
              <a:rPr lang="en-US" altLang="en-US" sz="1000" dirty="0"/>
              <a:t>   During the coup rebel soldiers installed as head of state Rocky </a:t>
            </a:r>
            <a:r>
              <a:rPr lang="en-US" altLang="en-US" sz="1000" dirty="0" err="1"/>
              <a:t>Malebane-Metsing</a:t>
            </a:r>
            <a:r>
              <a:rPr lang="en-US" altLang="en-US" sz="1000" dirty="0"/>
              <a:t>, leader of the opposition Progressive Peoples Party.</a:t>
            </a:r>
          </a:p>
          <a:p>
            <a:r>
              <a:rPr lang="en-US" altLang="en-US" sz="1000" dirty="0"/>
              <a:t>   </a:t>
            </a:r>
            <a:r>
              <a:rPr lang="en-US" altLang="en-US" sz="1000" dirty="0" err="1"/>
              <a:t>Malebane-Metsing</a:t>
            </a:r>
            <a:r>
              <a:rPr lang="en-US" altLang="en-US" sz="1000" dirty="0"/>
              <a:t> escaped capture and his whereabouts remained unknown, officials said. Several unsubstantiated reports said he fled to nearby Botswana.</a:t>
            </a:r>
          </a:p>
          <a:p>
            <a:r>
              <a:rPr lang="en-US" altLang="en-US" sz="1000" dirty="0"/>
              <a:t>   Warrant Officer M.T.F. Phiri, described by </a:t>
            </a:r>
            <a:r>
              <a:rPr lang="en-US" altLang="en-US" sz="1000" dirty="0" err="1"/>
              <a:t>Mangope</a:t>
            </a:r>
            <a:r>
              <a:rPr lang="en-US" altLang="en-US" sz="1000" dirty="0"/>
              <a:t> as one of the coup leaders, was arrested Friday in Mmabatho, capital of the nominally independent homeland, officials said.</a:t>
            </a:r>
          </a:p>
          <a:p>
            <a:r>
              <a:rPr lang="en-US" altLang="en-US" sz="1000" dirty="0"/>
              <a:t>   Bophuthatswana, which has a population of 1.7 million spread over seven separate land blocks, is one of 10 tribal homelands in South Africa. About half of South Africa's 26 million blacks live in the homelands, none of which are recognized internationally.</a:t>
            </a:r>
          </a:p>
          <a:p>
            <a:r>
              <a:rPr lang="en-US" altLang="en-US" sz="1000" dirty="0"/>
              <a:t>   Hennie </a:t>
            </a:r>
            <a:r>
              <a:rPr lang="en-US" altLang="en-US" sz="1000" dirty="0" err="1"/>
              <a:t>Riekert</a:t>
            </a:r>
            <a:r>
              <a:rPr lang="en-US" altLang="en-US" sz="1000" dirty="0"/>
              <a:t>, the homeland's defense minister, said South African troops were to remain in Bophuthatswana but will not become a ``permanent presence.''</a:t>
            </a:r>
          </a:p>
          <a:p>
            <a:r>
              <a:rPr lang="en-US" altLang="en-US" sz="1000" dirty="0"/>
              <a:t>   Bophuthatswana's Foreign Minister Solomon </a:t>
            </a:r>
            <a:r>
              <a:rPr lang="en-US" altLang="en-US" sz="1000" dirty="0" err="1"/>
              <a:t>Rathebe</a:t>
            </a:r>
            <a:r>
              <a:rPr lang="en-US" altLang="en-US" sz="1000" dirty="0"/>
              <a:t> defended South Africa's intervention.</a:t>
            </a:r>
          </a:p>
          <a:p>
            <a:r>
              <a:rPr lang="en-US" altLang="en-US" sz="1000" dirty="0"/>
              <a:t>   ``The fact that ... the South African government (was invited) to assist in this drama is not anything new nor peculiar to Bophuthatswana,'' </a:t>
            </a:r>
            <a:r>
              <a:rPr lang="en-US" altLang="en-US" sz="1000" dirty="0" err="1"/>
              <a:t>Rathebe</a:t>
            </a:r>
            <a:r>
              <a:rPr lang="en-US" altLang="en-US" sz="1000" dirty="0"/>
              <a:t> said. ``But why South Africa, one might ask? Because she is the only country with whom Bophuthatswana enjoys diplomatic relations and has formal agreements.''</a:t>
            </a:r>
          </a:p>
          <a:p>
            <a:r>
              <a:rPr lang="en-US" altLang="en-US" sz="1000" dirty="0"/>
              <a:t>   </a:t>
            </a:r>
            <a:r>
              <a:rPr lang="en-US" altLang="en-US" sz="1000" dirty="0" err="1"/>
              <a:t>Mangope</a:t>
            </a:r>
            <a:r>
              <a:rPr lang="en-US" altLang="en-US" sz="1000" dirty="0"/>
              <a:t> described the mutual defense treaty between the homeland and South Africa as ``similar to the NATO agreement,'' referring to the Atlantic military alliance. He did not elaborate.</a:t>
            </a:r>
          </a:p>
          <a:p>
            <a:r>
              <a:rPr lang="en-US" altLang="en-US" sz="1000" dirty="0"/>
              <a:t>   Asked about the causes of the coup, </a:t>
            </a:r>
            <a:r>
              <a:rPr lang="en-US" altLang="en-US" sz="1000" dirty="0" err="1"/>
              <a:t>Mangope</a:t>
            </a:r>
            <a:r>
              <a:rPr lang="en-US" altLang="en-US" sz="1000" dirty="0"/>
              <a:t> said, ``We granted people freedom perhaps ... to the extent of planning a thing like this.''</a:t>
            </a:r>
          </a:p>
          <a:p>
            <a:r>
              <a:rPr lang="en-US" altLang="en-US" sz="1000" dirty="0"/>
              <a:t>   The uprising began around 2 a.m. Wednesday when rebel soldiers took </a:t>
            </a:r>
            <a:r>
              <a:rPr lang="en-US" altLang="en-US" sz="1000" dirty="0" err="1"/>
              <a:t>Mangope</a:t>
            </a:r>
            <a:r>
              <a:rPr lang="en-US" altLang="en-US" sz="1000" dirty="0"/>
              <a:t> and his top ministers from their homes to the national sports stadium.</a:t>
            </a:r>
          </a:p>
          <a:p>
            <a:r>
              <a:rPr lang="en-US" altLang="en-US" sz="1000" dirty="0"/>
              <a:t>   On Wednesday evening, South African soldiers and police stormed the stadium, rescuing </a:t>
            </a:r>
            <a:r>
              <a:rPr lang="en-US" altLang="en-US" sz="1000" dirty="0" err="1"/>
              <a:t>Mangope</a:t>
            </a:r>
            <a:r>
              <a:rPr lang="en-US" altLang="en-US" sz="1000" dirty="0"/>
              <a:t> and his Cabinet.</a:t>
            </a:r>
          </a:p>
          <a:p>
            <a:r>
              <a:rPr lang="en-US" altLang="en-US" sz="1000" dirty="0"/>
              <a:t>   South African President P.W. Botha and three of his Cabinet ministers flew to Mmabatho late Wednesday and met with </a:t>
            </a:r>
            <a:r>
              <a:rPr lang="en-US" altLang="en-US" sz="1000" dirty="0" err="1"/>
              <a:t>Mangope</a:t>
            </a:r>
            <a:r>
              <a:rPr lang="en-US" altLang="en-US" sz="1000" dirty="0"/>
              <a:t>, the homeland's only president since it was declared independent in 1977.</a:t>
            </a:r>
          </a:p>
          <a:p>
            <a:r>
              <a:rPr lang="en-US" altLang="en-US" sz="1000" dirty="0"/>
              <a:t>   The South African government has said, without producing evidence, that the outlawed African National Congress may be linked to the coup.</a:t>
            </a:r>
          </a:p>
          <a:p>
            <a:r>
              <a:rPr lang="en-US" altLang="en-US" sz="1000" dirty="0"/>
              <a:t>   The ANC, based in Lusaka, Zambia, dismissed the claims and said South Africa's actions showed that it maintains tight control over the homeland governments. The group seeks to topple the Pretoria government.</a:t>
            </a:r>
          </a:p>
          <a:p>
            <a:r>
              <a:rPr lang="en-US" altLang="en-US" sz="1000" dirty="0"/>
              <a:t>   The African National Congress and other anti-government organizations consider the homelands part of an apartheid system designed to fragment the black majority and deny them political rights in South Africa.</a:t>
            </a:r>
          </a:p>
        </p:txBody>
      </p:sp>
    </p:spTree>
    <p:extLst>
      <p:ext uri="{BB962C8B-B14F-4D97-AF65-F5344CB8AC3E}">
        <p14:creationId xmlns:p14="http://schemas.microsoft.com/office/powerpoint/2010/main" val="3543617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42" name="Text Box 2"/>
          <p:cNvSpPr txBox="1">
            <a:spLocks noChangeArrowheads="1"/>
          </p:cNvSpPr>
          <p:nvPr/>
        </p:nvSpPr>
        <p:spPr bwMode="auto">
          <a:xfrm>
            <a:off x="1927226" y="529453"/>
            <a:ext cx="7781297" cy="547842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a:solidFill>
                  <a:srgbClr val="33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20000"/>
              </a:spcBef>
            </a:pPr>
            <a:r>
              <a:rPr lang="en-US" altLang="en-US" sz="1400">
                <a:latin typeface="Times" panose="02020603050405020304" pitchFamily="18" charset="0"/>
              </a:rPr>
              <a:t>If You Give a Mouse a Cookie</a:t>
            </a:r>
          </a:p>
          <a:p>
            <a:pPr>
              <a:spcBef>
                <a:spcPct val="20000"/>
              </a:spcBef>
            </a:pPr>
            <a:r>
              <a:rPr lang="en-US" altLang="en-US" sz="1400">
                <a:latin typeface="Times" panose="02020603050405020304" pitchFamily="18" charset="0"/>
              </a:rPr>
              <a:t>Laura Joffe Numeroff  © 1985</a:t>
            </a:r>
          </a:p>
          <a:p>
            <a:pPr>
              <a:spcBef>
                <a:spcPct val="20000"/>
              </a:spcBef>
            </a:pPr>
            <a:endParaRPr lang="en-US" altLang="en-US" sz="1400">
              <a:latin typeface="Times" panose="02020603050405020304" pitchFamily="18" charset="0"/>
            </a:endParaRPr>
          </a:p>
          <a:p>
            <a:pPr>
              <a:spcBef>
                <a:spcPct val="20000"/>
              </a:spcBef>
            </a:pPr>
            <a:r>
              <a:rPr lang="en-US" altLang="en-US" sz="1200">
                <a:latin typeface="Times" panose="02020603050405020304" pitchFamily="18" charset="0"/>
              </a:rPr>
              <a:t>If you give a mouse a cookie,he’s going to ask for a glass of milk. </a:t>
            </a:r>
          </a:p>
          <a:p>
            <a:pPr>
              <a:spcBef>
                <a:spcPct val="20000"/>
              </a:spcBef>
            </a:pPr>
            <a:r>
              <a:rPr lang="en-US" altLang="en-US" sz="1200">
                <a:latin typeface="Times" panose="02020603050405020304" pitchFamily="18" charset="0"/>
              </a:rPr>
              <a:t>When you give him the milk, he’ll probably ask you for a straw. </a:t>
            </a:r>
          </a:p>
          <a:p>
            <a:pPr>
              <a:spcBef>
                <a:spcPct val="20000"/>
              </a:spcBef>
            </a:pPr>
            <a:r>
              <a:rPr lang="en-US" altLang="en-US" sz="1200">
                <a:latin typeface="Times" panose="02020603050405020304" pitchFamily="18" charset="0"/>
              </a:rPr>
              <a:t>When he’s finished, he’ll ask for a napkin. </a:t>
            </a:r>
          </a:p>
          <a:p>
            <a:pPr>
              <a:spcBef>
                <a:spcPct val="20000"/>
              </a:spcBef>
            </a:pPr>
            <a:r>
              <a:rPr lang="en-US" altLang="en-US" sz="1200">
                <a:latin typeface="Times" panose="02020603050405020304" pitchFamily="18" charset="0"/>
              </a:rPr>
              <a:t>Then he’ll want to look in the mirror to make sure he doesn’t have a milk mustache.</a:t>
            </a:r>
          </a:p>
          <a:p>
            <a:pPr>
              <a:spcBef>
                <a:spcPct val="20000"/>
              </a:spcBef>
            </a:pPr>
            <a:r>
              <a:rPr lang="en-US" altLang="en-US" sz="1200">
                <a:latin typeface="Times" panose="02020603050405020304" pitchFamily="18" charset="0"/>
              </a:rPr>
              <a:t>When he looks into the mirror, he might notice his hair needs a trim. </a:t>
            </a:r>
          </a:p>
          <a:p>
            <a:pPr>
              <a:spcBef>
                <a:spcPct val="20000"/>
              </a:spcBef>
            </a:pPr>
            <a:r>
              <a:rPr lang="en-US" altLang="en-US" sz="1200">
                <a:latin typeface="Times" panose="02020603050405020304" pitchFamily="18" charset="0"/>
              </a:rPr>
              <a:t>So he’ll probably ask for a pair of nail scissors. </a:t>
            </a:r>
          </a:p>
          <a:p>
            <a:pPr>
              <a:spcBef>
                <a:spcPct val="20000"/>
              </a:spcBef>
            </a:pPr>
            <a:r>
              <a:rPr lang="en-US" altLang="en-US" sz="1200">
                <a:latin typeface="Times" panose="02020603050405020304" pitchFamily="18" charset="0"/>
              </a:rPr>
              <a:t>When he’s finished giving himself a trim, he’ll want a broom to sweep up. </a:t>
            </a:r>
          </a:p>
          <a:p>
            <a:pPr>
              <a:spcBef>
                <a:spcPct val="20000"/>
              </a:spcBef>
            </a:pPr>
            <a:r>
              <a:rPr lang="en-US" altLang="en-US" sz="1200">
                <a:latin typeface="Times" panose="02020603050405020304" pitchFamily="18" charset="0"/>
              </a:rPr>
              <a:t>He’ll start sweeping. </a:t>
            </a:r>
          </a:p>
          <a:p>
            <a:pPr>
              <a:spcBef>
                <a:spcPct val="20000"/>
              </a:spcBef>
            </a:pPr>
            <a:r>
              <a:rPr lang="en-US" altLang="en-US" sz="1200">
                <a:latin typeface="Times" panose="02020603050405020304" pitchFamily="18" charset="0"/>
              </a:rPr>
              <a:t>He might get carried away and sweep every room in the house. </a:t>
            </a:r>
          </a:p>
          <a:p>
            <a:pPr>
              <a:spcBef>
                <a:spcPct val="20000"/>
              </a:spcBef>
            </a:pPr>
            <a:r>
              <a:rPr lang="en-US" altLang="en-US" sz="1200">
                <a:latin typeface="Times" panose="02020603050405020304" pitchFamily="18" charset="0"/>
              </a:rPr>
              <a:t>He may even end up washing the floors as well. </a:t>
            </a:r>
          </a:p>
          <a:p>
            <a:pPr>
              <a:spcBef>
                <a:spcPct val="20000"/>
              </a:spcBef>
            </a:pPr>
            <a:r>
              <a:rPr lang="en-US" altLang="en-US" sz="1200">
                <a:latin typeface="Times" panose="02020603050405020304" pitchFamily="18" charset="0"/>
              </a:rPr>
              <a:t>When he’s done, he’ll probably want to take a nap. </a:t>
            </a:r>
          </a:p>
          <a:p>
            <a:pPr>
              <a:spcBef>
                <a:spcPct val="20000"/>
              </a:spcBef>
            </a:pPr>
            <a:r>
              <a:rPr lang="en-US" altLang="en-US" sz="1200">
                <a:latin typeface="Times" panose="02020603050405020304" pitchFamily="18" charset="0"/>
              </a:rPr>
              <a:t>You’ll have to fix up a little box for him with a blanket and a pillow. </a:t>
            </a:r>
          </a:p>
          <a:p>
            <a:pPr>
              <a:spcBef>
                <a:spcPct val="20000"/>
              </a:spcBef>
            </a:pPr>
            <a:r>
              <a:rPr lang="en-US" altLang="en-US" sz="1200">
                <a:latin typeface="Times" panose="02020603050405020304" pitchFamily="18" charset="0"/>
              </a:rPr>
              <a:t>He’ll crawl in, make himself comfortable, and fluff the pillow a few times. </a:t>
            </a:r>
          </a:p>
          <a:p>
            <a:pPr>
              <a:spcBef>
                <a:spcPct val="20000"/>
              </a:spcBef>
            </a:pPr>
            <a:r>
              <a:rPr lang="en-US" altLang="en-US" sz="1200">
                <a:latin typeface="Times" panose="02020603050405020304" pitchFamily="18" charset="0"/>
              </a:rPr>
              <a:t>He’ll probably ask you to read him a story. </a:t>
            </a:r>
          </a:p>
          <a:p>
            <a:pPr>
              <a:spcBef>
                <a:spcPct val="20000"/>
              </a:spcBef>
            </a:pPr>
            <a:r>
              <a:rPr lang="en-US" altLang="en-US" sz="1200">
                <a:latin typeface="Times" panose="02020603050405020304" pitchFamily="18" charset="0"/>
              </a:rPr>
              <a:t>When you read to him from one of your picture books, he'll ask to see the pictures. </a:t>
            </a:r>
          </a:p>
          <a:p>
            <a:pPr>
              <a:spcBef>
                <a:spcPct val="20000"/>
              </a:spcBef>
            </a:pPr>
            <a:r>
              <a:rPr lang="en-US" altLang="en-US" sz="1200">
                <a:latin typeface="Times" panose="02020603050405020304" pitchFamily="18" charset="0"/>
              </a:rPr>
              <a:t>When he looks at the pictures, he’ll get so excited that he’ll want to draw one of his own.  He’ll ask for paper and crayons. </a:t>
            </a:r>
          </a:p>
          <a:p>
            <a:pPr>
              <a:spcBef>
                <a:spcPct val="20000"/>
              </a:spcBef>
            </a:pPr>
            <a:r>
              <a:rPr lang="en-US" altLang="en-US" sz="1200">
                <a:latin typeface="Times" panose="02020603050405020304" pitchFamily="18" charset="0"/>
              </a:rPr>
              <a:t>He’ll draw a picture.  When the picture is finished, he’ll want to sign his name, with a pen.  </a:t>
            </a:r>
          </a:p>
          <a:p>
            <a:pPr>
              <a:spcBef>
                <a:spcPct val="20000"/>
              </a:spcBef>
            </a:pPr>
            <a:r>
              <a:rPr lang="en-US" altLang="en-US" sz="1200">
                <a:latin typeface="Times" panose="02020603050405020304" pitchFamily="18" charset="0"/>
              </a:rPr>
              <a:t>Then he’ll want to hang his picture on your refrigerator.  Which means he’ll need Scotch tape.  </a:t>
            </a:r>
          </a:p>
          <a:p>
            <a:pPr>
              <a:spcBef>
                <a:spcPct val="20000"/>
              </a:spcBef>
            </a:pPr>
            <a:r>
              <a:rPr lang="en-US" altLang="en-US" sz="1200">
                <a:latin typeface="Times" panose="02020603050405020304" pitchFamily="18" charset="0"/>
              </a:rPr>
              <a:t>He’ll hang up his drawing and stand back to look at it.  Looking at the refrigerator will remind him that he’s thirsty. </a:t>
            </a:r>
          </a:p>
          <a:p>
            <a:pPr>
              <a:spcBef>
                <a:spcPct val="20000"/>
              </a:spcBef>
            </a:pPr>
            <a:r>
              <a:rPr lang="en-US" altLang="en-US" sz="1200">
                <a:latin typeface="Times" panose="02020603050405020304" pitchFamily="18" charset="0"/>
              </a:rPr>
              <a:t>So…he’ll ask for a glass of milk.  </a:t>
            </a:r>
          </a:p>
          <a:p>
            <a:pPr>
              <a:spcBef>
                <a:spcPct val="20000"/>
              </a:spcBef>
            </a:pPr>
            <a:r>
              <a:rPr lang="en-US" altLang="en-US" sz="1200">
                <a:latin typeface="Times" panose="02020603050405020304" pitchFamily="18" charset="0"/>
              </a:rPr>
              <a:t>And chances are that if he asks for a glass of milk, he’s going to want a cookie to go with it. </a:t>
            </a:r>
          </a:p>
        </p:txBody>
      </p:sp>
    </p:spTree>
    <p:extLst>
      <p:ext uri="{BB962C8B-B14F-4D97-AF65-F5344CB8AC3E}">
        <p14:creationId xmlns:p14="http://schemas.microsoft.com/office/powerpoint/2010/main" val="791172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208214" y="549276"/>
            <a:ext cx="7900987" cy="911225"/>
          </a:xfrm>
        </p:spPr>
        <p:txBody>
          <a:bodyPr/>
          <a:lstStyle/>
          <a:p>
            <a:r>
              <a:rPr lang="en-GB" altLang="en-US" sz="3600"/>
              <a:t>Typology</a:t>
            </a:r>
          </a:p>
        </p:txBody>
      </p:sp>
      <p:sp>
        <p:nvSpPr>
          <p:cNvPr id="29699" name="Rectangle 3"/>
          <p:cNvSpPr>
            <a:spLocks noGrp="1" noChangeArrowheads="1"/>
          </p:cNvSpPr>
          <p:nvPr>
            <p:ph type="body" idx="1"/>
          </p:nvPr>
        </p:nvSpPr>
        <p:spPr>
          <a:xfrm>
            <a:off x="2135188" y="1844675"/>
            <a:ext cx="7772400" cy="4114800"/>
          </a:xfrm>
        </p:spPr>
        <p:txBody>
          <a:bodyPr/>
          <a:lstStyle/>
          <a:p>
            <a:r>
              <a:rPr lang="en-GB" altLang="en-US"/>
              <a:t>Indicative</a:t>
            </a:r>
          </a:p>
          <a:p>
            <a:pPr lvl="1"/>
            <a:r>
              <a:rPr lang="en-GB" altLang="en-US"/>
              <a:t>indicates types of information</a:t>
            </a:r>
          </a:p>
          <a:p>
            <a:pPr lvl="1"/>
            <a:r>
              <a:rPr lang="en-GB" altLang="en-US"/>
              <a:t>“alerts”</a:t>
            </a:r>
          </a:p>
          <a:p>
            <a:r>
              <a:rPr lang="en-GB" altLang="en-US"/>
              <a:t>Informative</a:t>
            </a:r>
          </a:p>
          <a:p>
            <a:pPr lvl="1"/>
            <a:r>
              <a:rPr lang="en-GB" altLang="en-US"/>
              <a:t>includes quantitative/qualitative information</a:t>
            </a:r>
          </a:p>
          <a:p>
            <a:pPr lvl="1"/>
            <a:r>
              <a:rPr lang="en-GB" altLang="en-US"/>
              <a:t>“informs”</a:t>
            </a:r>
          </a:p>
          <a:p>
            <a:r>
              <a:rPr lang="en-GB" altLang="en-US"/>
              <a:t>Critic/evaluative</a:t>
            </a:r>
          </a:p>
          <a:p>
            <a:pPr lvl="1"/>
            <a:r>
              <a:rPr lang="en-GB" altLang="en-US"/>
              <a:t>evaluates the content of the document</a:t>
            </a:r>
          </a:p>
          <a:p>
            <a:endParaRPr lang="en-GB" altLang="en-US"/>
          </a:p>
          <a:p>
            <a:pPr lvl="1">
              <a:buFont typeface="Wingdings" panose="05000000000000000000" pitchFamily="2" charset="2"/>
              <a:buNone/>
            </a:pPr>
            <a:endParaRPr lang="en-GB" altLang="en-US"/>
          </a:p>
          <a:p>
            <a:pPr lvl="1"/>
            <a:endParaRPr lang="en-GB" altLang="en-US"/>
          </a:p>
        </p:txBody>
      </p:sp>
      <p:sp>
        <p:nvSpPr>
          <p:cNvPr id="30724" name="Text Box 4" descr="Horizontal brick"/>
          <p:cNvSpPr txBox="1">
            <a:spLocks noChangeArrowheads="1"/>
          </p:cNvSpPr>
          <p:nvPr/>
        </p:nvSpPr>
        <p:spPr bwMode="auto">
          <a:xfrm>
            <a:off x="5664201" y="1700214"/>
            <a:ext cx="3095625" cy="710067"/>
          </a:xfrm>
          <a:prstGeom prst="rect">
            <a:avLst/>
          </a:prstGeom>
          <a:noFill/>
          <a:ln>
            <a:noFill/>
          </a:ln>
          <a:effectLst/>
          <a:extLst>
            <a:ext uri="{909E8E84-426E-40DD-AFC4-6F175D3DCCD1}">
              <a14:hiddenFill xmlns:a14="http://schemas.microsoft.com/office/drawing/2010/main">
                <a:pattFill prst="horzBrick">
                  <a:fgClr>
                    <a:schemeClr val="bg1">
                      <a:alpha val="99001"/>
                    </a:schemeClr>
                  </a:fgClr>
                  <a:bgClr>
                    <a:srgbClr val="FFFFFF">
                      <a:alpha val="99001"/>
                    </a:srgbClr>
                  </a:bgClr>
                </a:patt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en-GB" altLang="en-US" sz="2000">
                <a:latin typeface="Tahoma" panose="020B0604030504040204" pitchFamily="34" charset="0"/>
              </a:rPr>
              <a:t>ATTENTION: </a:t>
            </a:r>
            <a:r>
              <a:rPr lang="en-GB" altLang="en-US" sz="2000">
                <a:solidFill>
                  <a:schemeClr val="hlink"/>
                </a:solidFill>
                <a:latin typeface="Tahoma" panose="020B0604030504040204" pitchFamily="34" charset="0"/>
              </a:rPr>
              <a:t>Earthquake in Turkey!!!!</a:t>
            </a:r>
            <a:endParaRPr lang="en-US" altLang="en-US" sz="2000">
              <a:solidFill>
                <a:schemeClr val="hlink"/>
              </a:solidFill>
              <a:latin typeface="Tahoma" panose="020B0604030504040204" pitchFamily="34" charset="0"/>
            </a:endParaRPr>
          </a:p>
        </p:txBody>
      </p:sp>
      <p:sp>
        <p:nvSpPr>
          <p:cNvPr id="30725" name="Text Box 5" descr="Horizontal brick"/>
          <p:cNvSpPr txBox="1">
            <a:spLocks noChangeArrowheads="1"/>
          </p:cNvSpPr>
          <p:nvPr/>
        </p:nvSpPr>
        <p:spPr bwMode="auto">
          <a:xfrm>
            <a:off x="5740645" y="2649994"/>
            <a:ext cx="4716463" cy="1017844"/>
          </a:xfrm>
          <a:prstGeom prst="rect">
            <a:avLst/>
          </a:prstGeom>
          <a:noFill/>
          <a:ln>
            <a:noFill/>
          </a:ln>
          <a:effectLst/>
          <a:extLst>
            <a:ext uri="{909E8E84-426E-40DD-AFC4-6F175D3DCCD1}">
              <a14:hiddenFill xmlns:a14="http://schemas.microsoft.com/office/drawing/2010/main">
                <a:pattFill prst="horzBrick">
                  <a:fgClr>
                    <a:schemeClr val="bg1">
                      <a:alpha val="99001"/>
                    </a:schemeClr>
                  </a:fgClr>
                  <a:bgClr>
                    <a:srgbClr val="FFFFFF">
                      <a:alpha val="99001"/>
                    </a:srgbClr>
                  </a:bgClr>
                </a:patt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en-GB" altLang="en-US" sz="2000">
                <a:solidFill>
                  <a:schemeClr val="folHlink"/>
                </a:solidFill>
                <a:latin typeface="Tahoma" panose="020B0604030504040204" pitchFamily="34" charset="0"/>
              </a:rPr>
              <a:t>Earthquake in the town of Cat in Turkey. It measured 5.1 in the Richter scale. 4 people dead confirmed.</a:t>
            </a:r>
            <a:endParaRPr lang="en-US" altLang="en-US" sz="2000">
              <a:solidFill>
                <a:schemeClr val="folHlink"/>
              </a:solidFill>
              <a:latin typeface="Tahoma" panose="020B0604030504040204" pitchFamily="34" charset="0"/>
            </a:endParaRPr>
          </a:p>
        </p:txBody>
      </p:sp>
      <p:sp>
        <p:nvSpPr>
          <p:cNvPr id="30728" name="Text Box 8" descr="Horizontal brick"/>
          <p:cNvSpPr txBox="1">
            <a:spLocks noChangeArrowheads="1"/>
          </p:cNvSpPr>
          <p:nvPr/>
        </p:nvSpPr>
        <p:spPr bwMode="auto">
          <a:xfrm>
            <a:off x="5831255" y="4118123"/>
            <a:ext cx="4716463" cy="710067"/>
          </a:xfrm>
          <a:prstGeom prst="rect">
            <a:avLst/>
          </a:prstGeom>
          <a:noFill/>
          <a:ln>
            <a:noFill/>
          </a:ln>
          <a:effectLst/>
          <a:extLst>
            <a:ext uri="{909E8E84-426E-40DD-AFC4-6F175D3DCCD1}">
              <a14:hiddenFill xmlns:a14="http://schemas.microsoft.com/office/drawing/2010/main">
                <a:pattFill prst="horzBrick">
                  <a:fgClr>
                    <a:schemeClr val="bg1">
                      <a:alpha val="99001"/>
                    </a:schemeClr>
                  </a:fgClr>
                  <a:bgClr>
                    <a:srgbClr val="FFFFFF">
                      <a:alpha val="99001"/>
                    </a:srgbClr>
                  </a:bgClr>
                </a:patt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en-GB" altLang="en-US" sz="2000">
                <a:solidFill>
                  <a:srgbClr val="00CC00"/>
                </a:solidFill>
                <a:latin typeface="Tahoma" panose="020B0604030504040204" pitchFamily="34" charset="0"/>
              </a:rPr>
              <a:t>Earthquake in the town of Cat in Turkey was the most devastating in the region.</a:t>
            </a:r>
            <a:endParaRPr lang="en-US" altLang="en-US" sz="2000">
              <a:solidFill>
                <a:srgbClr val="00CC00"/>
              </a:solidFill>
              <a:latin typeface="Tahoma" panose="020B0604030504040204" pitchFamily="34" charset="0"/>
            </a:endParaRPr>
          </a:p>
        </p:txBody>
      </p:sp>
    </p:spTree>
    <p:custDataLst>
      <p:tags r:id="rId1"/>
    </p:custDataLst>
    <p:extLst>
      <p:ext uri="{BB962C8B-B14F-4D97-AF65-F5344CB8AC3E}">
        <p14:creationId xmlns:p14="http://schemas.microsoft.com/office/powerpoint/2010/main" val="40311163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0724"/>
                                        </p:tgtEl>
                                        <p:attrNameLst>
                                          <p:attrName>style.visibility</p:attrName>
                                        </p:attrNameLst>
                                      </p:cBhvr>
                                      <p:to>
                                        <p:strVal val="visible"/>
                                      </p:to>
                                    </p:set>
                                    <p:anim calcmode="lin" valueType="num">
                                      <p:cBhvr additive="base">
                                        <p:cTn id="15" dur="500" fill="hold"/>
                                        <p:tgtEl>
                                          <p:spTgt spid="30724"/>
                                        </p:tgtEl>
                                        <p:attrNameLst>
                                          <p:attrName>ppt_x</p:attrName>
                                        </p:attrNameLst>
                                      </p:cBhvr>
                                      <p:tavLst>
                                        <p:tav tm="0">
                                          <p:val>
                                            <p:strVal val="#ppt_x"/>
                                          </p:val>
                                        </p:tav>
                                        <p:tav tm="100000">
                                          <p:val>
                                            <p:strVal val="#ppt_x"/>
                                          </p:val>
                                        </p:tav>
                                      </p:tavLst>
                                    </p:anim>
                                    <p:anim calcmode="lin" valueType="num">
                                      <p:cBhvr additive="base">
                                        <p:cTn id="16"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9699">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0725"/>
                                        </p:tgtEl>
                                        <p:attrNameLst>
                                          <p:attrName>style.visibility</p:attrName>
                                        </p:attrNameLst>
                                      </p:cBhvr>
                                      <p:to>
                                        <p:strVal val="visible"/>
                                      </p:to>
                                    </p:set>
                                    <p:anim calcmode="lin" valueType="num">
                                      <p:cBhvr additive="base">
                                        <p:cTn id="29" dur="500" fill="hold"/>
                                        <p:tgtEl>
                                          <p:spTgt spid="30725"/>
                                        </p:tgtEl>
                                        <p:attrNameLst>
                                          <p:attrName>ppt_x</p:attrName>
                                        </p:attrNameLst>
                                      </p:cBhvr>
                                      <p:tavLst>
                                        <p:tav tm="0">
                                          <p:val>
                                            <p:strVal val="#ppt_x"/>
                                          </p:val>
                                        </p:tav>
                                        <p:tav tm="100000">
                                          <p:val>
                                            <p:strVal val="#ppt_x"/>
                                          </p:val>
                                        </p:tav>
                                      </p:tavLst>
                                    </p:anim>
                                    <p:anim calcmode="lin" valueType="num">
                                      <p:cBhvr additive="base">
                                        <p:cTn id="30"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9699">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0728"/>
                                        </p:tgtEl>
                                        <p:attrNameLst>
                                          <p:attrName>style.visibility</p:attrName>
                                        </p:attrNameLst>
                                      </p:cBhvr>
                                      <p:to>
                                        <p:strVal val="visible"/>
                                      </p:to>
                                    </p:set>
                                    <p:anim calcmode="lin" valueType="num">
                                      <p:cBhvr additive="base">
                                        <p:cTn id="41" dur="500" fill="hold"/>
                                        <p:tgtEl>
                                          <p:spTgt spid="30728"/>
                                        </p:tgtEl>
                                        <p:attrNameLst>
                                          <p:attrName>ppt_x</p:attrName>
                                        </p:attrNameLst>
                                      </p:cBhvr>
                                      <p:tavLst>
                                        <p:tav tm="0">
                                          <p:val>
                                            <p:strVal val="#ppt_x"/>
                                          </p:val>
                                        </p:tav>
                                        <p:tav tm="100000">
                                          <p:val>
                                            <p:strVal val="#ppt_x"/>
                                          </p:val>
                                        </p:tav>
                                      </p:tavLst>
                                    </p:anim>
                                    <p:anim calcmode="lin" valueType="num">
                                      <p:cBhvr additive="base">
                                        <p:cTn id="42" dur="500" fill="hold"/>
                                        <p:tgtEl>
                                          <p:spTgt spid="307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5" grpId="0"/>
      <p:bldP spid="3072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summarization</a:t>
            </a:r>
          </a:p>
        </p:txBody>
      </p:sp>
      <p:sp>
        <p:nvSpPr>
          <p:cNvPr id="3" name="Content Placeholder 2"/>
          <p:cNvSpPr>
            <a:spLocks noGrp="1"/>
          </p:cNvSpPr>
          <p:nvPr>
            <p:ph idx="1"/>
          </p:nvPr>
        </p:nvSpPr>
        <p:spPr/>
        <p:txBody>
          <a:bodyPr>
            <a:normAutofit fontScale="70000" lnSpcReduction="20000"/>
          </a:bodyPr>
          <a:lstStyle/>
          <a:p>
            <a:pPr>
              <a:lnSpc>
                <a:spcPct val="120000"/>
              </a:lnSpc>
            </a:pPr>
            <a:r>
              <a:rPr lang="en-US" dirty="0"/>
              <a:t>Extraction-based summarization: extracts objects from the entire collection, without modifying the objects themselves. </a:t>
            </a:r>
          </a:p>
          <a:p>
            <a:pPr lvl="1">
              <a:lnSpc>
                <a:spcPct val="120000"/>
              </a:lnSpc>
            </a:pPr>
            <a:r>
              <a:rPr lang="en-US" dirty="0" err="1"/>
              <a:t>keyphrase</a:t>
            </a:r>
            <a:r>
              <a:rPr lang="en-US" dirty="0"/>
              <a:t> extraction: select individual words or phrases to "tag" a document</a:t>
            </a:r>
          </a:p>
          <a:p>
            <a:pPr lvl="1">
              <a:lnSpc>
                <a:spcPct val="120000"/>
              </a:lnSpc>
            </a:pPr>
            <a:r>
              <a:rPr lang="en-US" dirty="0"/>
              <a:t>document summarization: select whole sentences to create a short paragraph summary. </a:t>
            </a:r>
          </a:p>
          <a:p>
            <a:pPr lvl="1">
              <a:lnSpc>
                <a:spcPct val="120000"/>
              </a:lnSpc>
            </a:pPr>
            <a:r>
              <a:rPr lang="en-US" dirty="0"/>
              <a:t>image collection summarization: extracts images from the collection without modifying the images themselves.</a:t>
            </a:r>
          </a:p>
          <a:p>
            <a:pPr>
              <a:lnSpc>
                <a:spcPct val="120000"/>
              </a:lnSpc>
            </a:pPr>
            <a:r>
              <a:rPr lang="en-US" dirty="0"/>
              <a:t>Abstraction-based summarization: involves paraphrasing sections of the source document. In general, abstraction can condense a text more strongly than extraction, but the programs that can do this are harder to develop.</a:t>
            </a:r>
          </a:p>
          <a:p>
            <a:pPr>
              <a:lnSpc>
                <a:spcPct val="120000"/>
              </a:lnSpc>
            </a:pPr>
            <a:r>
              <a:rPr lang="en-US" dirty="0"/>
              <a:t>Aided summarization: Apart from Fully Automated Summarizers (FAS), there are</a:t>
            </a:r>
          </a:p>
          <a:p>
            <a:pPr lvl="1">
              <a:lnSpc>
                <a:spcPct val="120000"/>
              </a:lnSpc>
            </a:pPr>
            <a:r>
              <a:rPr lang="en-US" dirty="0"/>
              <a:t>Systems that aid users with the task of summarization (MAHS = Machine Aided Human Summarization), for example by highlighting candidate passages to be included in the summary, </a:t>
            </a:r>
          </a:p>
          <a:p>
            <a:pPr lvl="1">
              <a:lnSpc>
                <a:spcPct val="120000"/>
              </a:lnSpc>
            </a:pPr>
            <a:r>
              <a:rPr lang="en-US" dirty="0"/>
              <a:t>Systems that depend on post-processing by a human (HAMS = Human Aided Machine Summarization).</a:t>
            </a:r>
          </a:p>
        </p:txBody>
      </p:sp>
    </p:spTree>
    <p:extLst>
      <p:ext uri="{BB962C8B-B14F-4D97-AF65-F5344CB8AC3E}">
        <p14:creationId xmlns:p14="http://schemas.microsoft.com/office/powerpoint/2010/main" val="4117014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E084E-1EC5-47E9-ACF0-DF01166337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E50AE8-FA61-4451-8741-72184576D0C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65838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fontScale="90000"/>
          </a:bodyPr>
          <a:lstStyle/>
          <a:p>
            <a:pPr algn="ctr"/>
            <a:r>
              <a:rPr lang="en-US" dirty="0"/>
              <a:t>Position-based, cue phrase-based and word frequency-based approaches for extractive summarization</a:t>
            </a:r>
          </a:p>
        </p:txBody>
      </p:sp>
    </p:spTree>
    <p:extLst>
      <p:ext uri="{BB962C8B-B14F-4D97-AF65-F5344CB8AC3E}">
        <p14:creationId xmlns:p14="http://schemas.microsoft.com/office/powerpoint/2010/main" val="17713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050"/>
          <p:cNvSpPr>
            <a:spLocks noGrp="1" noChangeArrowheads="1"/>
          </p:cNvSpPr>
          <p:nvPr>
            <p:ph type="title"/>
          </p:nvPr>
        </p:nvSpPr>
        <p:spPr/>
        <p:txBody>
          <a:bodyPr/>
          <a:lstStyle/>
          <a:p>
            <a:r>
              <a:rPr lang="en-US" altLang="en-US"/>
              <a:t>Overview of Extraction Methods</a:t>
            </a:r>
          </a:p>
        </p:txBody>
      </p:sp>
      <p:sp>
        <p:nvSpPr>
          <p:cNvPr id="223235" name="Rectangle 2051"/>
          <p:cNvSpPr>
            <a:spLocks noGrp="1" noChangeArrowheads="1"/>
          </p:cNvSpPr>
          <p:nvPr>
            <p:ph type="body" idx="1"/>
          </p:nvPr>
        </p:nvSpPr>
        <p:spPr>
          <a:xfrm>
            <a:off x="1989505" y="1450976"/>
            <a:ext cx="7826375" cy="4824413"/>
          </a:xfrm>
        </p:spPr>
        <p:txBody>
          <a:bodyPr/>
          <a:lstStyle/>
          <a:p>
            <a:r>
              <a:rPr lang="en-US" altLang="en-US" dirty="0"/>
              <a:t>Position in the text</a:t>
            </a:r>
          </a:p>
          <a:p>
            <a:pPr lvl="1">
              <a:lnSpc>
                <a:spcPct val="80000"/>
              </a:lnSpc>
            </a:pPr>
            <a:r>
              <a:rPr lang="en-US" altLang="en-US" dirty="0"/>
              <a:t>lead method; optimal position policy</a:t>
            </a:r>
          </a:p>
          <a:p>
            <a:pPr lvl="1">
              <a:lnSpc>
                <a:spcPct val="80000"/>
              </a:lnSpc>
            </a:pPr>
            <a:r>
              <a:rPr lang="en-US" altLang="en-US" dirty="0"/>
              <a:t>title/heading method</a:t>
            </a:r>
          </a:p>
          <a:p>
            <a:r>
              <a:rPr lang="en-US" altLang="en-US" dirty="0"/>
              <a:t>Cue phrases in sentences</a:t>
            </a:r>
          </a:p>
          <a:p>
            <a:r>
              <a:rPr lang="en-US" altLang="en-US" dirty="0"/>
              <a:t>Word frequencies throughout the text</a:t>
            </a:r>
          </a:p>
          <a:p>
            <a:r>
              <a:rPr lang="en-US" altLang="en-US" dirty="0"/>
              <a:t>Cohesion: links among words</a:t>
            </a:r>
          </a:p>
          <a:p>
            <a:pPr lvl="1">
              <a:lnSpc>
                <a:spcPct val="70000"/>
              </a:lnSpc>
            </a:pPr>
            <a:r>
              <a:rPr lang="en-US" altLang="en-US" dirty="0"/>
              <a:t>word co-occurrence</a:t>
            </a:r>
          </a:p>
          <a:p>
            <a:pPr lvl="1">
              <a:lnSpc>
                <a:spcPct val="70000"/>
              </a:lnSpc>
            </a:pPr>
            <a:r>
              <a:rPr lang="en-US" altLang="en-US" dirty="0"/>
              <a:t>coreference</a:t>
            </a:r>
          </a:p>
          <a:p>
            <a:pPr lvl="1">
              <a:lnSpc>
                <a:spcPct val="70000"/>
              </a:lnSpc>
            </a:pPr>
            <a:r>
              <a:rPr lang="en-US" altLang="en-US" dirty="0"/>
              <a:t>lexical chains</a:t>
            </a:r>
          </a:p>
          <a:p>
            <a:r>
              <a:rPr lang="en-US" altLang="en-US" dirty="0"/>
              <a:t>Discourse structure of the text</a:t>
            </a:r>
          </a:p>
          <a:p>
            <a:r>
              <a:rPr lang="en-US" altLang="en-US" dirty="0"/>
              <a:t>Information Extraction: parsing and analysis</a:t>
            </a:r>
          </a:p>
        </p:txBody>
      </p:sp>
    </p:spTree>
    <p:extLst>
      <p:ext uri="{BB962C8B-B14F-4D97-AF65-F5344CB8AC3E}">
        <p14:creationId xmlns:p14="http://schemas.microsoft.com/office/powerpoint/2010/main" val="207134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026"/>
          <p:cNvSpPr>
            <a:spLocks noGrp="1" noChangeArrowheads="1"/>
          </p:cNvSpPr>
          <p:nvPr>
            <p:ph type="title"/>
          </p:nvPr>
        </p:nvSpPr>
        <p:spPr/>
        <p:txBody>
          <a:bodyPr/>
          <a:lstStyle/>
          <a:p>
            <a:r>
              <a:rPr lang="en-US" altLang="en-US" dirty="0"/>
              <a:t>Position-based method</a:t>
            </a:r>
          </a:p>
        </p:txBody>
      </p:sp>
      <p:sp>
        <p:nvSpPr>
          <p:cNvPr id="62467" name="Rectangle 1027"/>
          <p:cNvSpPr>
            <a:spLocks noGrp="1" noChangeArrowheads="1"/>
          </p:cNvSpPr>
          <p:nvPr>
            <p:ph type="body" idx="1"/>
          </p:nvPr>
        </p:nvSpPr>
        <p:spPr>
          <a:xfrm>
            <a:off x="838200" y="1344614"/>
            <a:ext cx="10398369" cy="4725987"/>
          </a:xfrm>
        </p:spPr>
        <p:txBody>
          <a:bodyPr>
            <a:normAutofit fontScale="85000" lnSpcReduction="20000"/>
          </a:bodyPr>
          <a:lstStyle/>
          <a:p>
            <a:r>
              <a:rPr lang="en-US" altLang="en-US" dirty="0"/>
              <a:t>Claim: Important sentences occur at the beginning (and/or end) of texts.</a:t>
            </a:r>
          </a:p>
          <a:p>
            <a:pPr lvl="1"/>
            <a:r>
              <a:rPr lang="en-US" altLang="en-US" dirty="0"/>
              <a:t>paragraph#: 1,2, ..., 10, last, last-1, ..., last-4</a:t>
            </a:r>
          </a:p>
          <a:p>
            <a:pPr lvl="1"/>
            <a:r>
              <a:rPr lang="en-US" altLang="en-US" dirty="0"/>
              <a:t>in paragraph: initial, middle, final </a:t>
            </a:r>
          </a:p>
          <a:p>
            <a:pPr lvl="1"/>
            <a:r>
              <a:rPr lang="en-GB" altLang="en-US" dirty="0"/>
              <a:t>First sentence of document, first sentence of paragraph, last sentence of document, etc.</a:t>
            </a:r>
            <a:endParaRPr lang="en-US" altLang="en-US" dirty="0"/>
          </a:p>
          <a:p>
            <a:r>
              <a:rPr lang="en-US" altLang="en-US" dirty="0"/>
              <a:t>Lead method: just take first sentence(s)! </a:t>
            </a:r>
          </a:p>
          <a:p>
            <a:r>
              <a:rPr lang="en-US" altLang="en-US" dirty="0"/>
              <a:t>Optimum Position Policy (OPP)</a:t>
            </a:r>
          </a:p>
          <a:p>
            <a:pPr lvl="1">
              <a:spcBef>
                <a:spcPct val="0"/>
              </a:spcBef>
            </a:pPr>
            <a:r>
              <a:rPr lang="en-US" altLang="en-US" dirty="0"/>
              <a:t>Important sentences are located at positions that are genre-dependent; these positions can be determined automatically through training </a:t>
            </a:r>
            <a:r>
              <a:rPr lang="en-US" altLang="en-US" sz="2000" dirty="0"/>
              <a:t>(Lin and </a:t>
            </a:r>
            <a:r>
              <a:rPr lang="en-US" altLang="en-US" sz="2000" dirty="0" err="1"/>
              <a:t>Hovy</a:t>
            </a:r>
            <a:r>
              <a:rPr lang="en-US" altLang="en-US" sz="2000" dirty="0"/>
              <a:t>, 97).  </a:t>
            </a:r>
          </a:p>
          <a:p>
            <a:pPr lvl="2"/>
            <a:r>
              <a:rPr lang="en-US" altLang="en-US" dirty="0"/>
              <a:t>Corpus: 13000 newspaper articles (ZIFF corpus).</a:t>
            </a:r>
          </a:p>
          <a:p>
            <a:pPr lvl="2"/>
            <a:r>
              <a:rPr lang="en-US" altLang="en-US" dirty="0"/>
              <a:t>Step 1: For each article, determine overlap between sentences and the index terms for the article.</a:t>
            </a:r>
          </a:p>
          <a:p>
            <a:pPr lvl="2"/>
            <a:r>
              <a:rPr lang="en-US" altLang="en-US" dirty="0"/>
              <a:t>Step 2: Determine a partial ordering over the locations where sentences containing important words occur</a:t>
            </a:r>
          </a:p>
          <a:p>
            <a:pPr lvl="2"/>
            <a:r>
              <a:rPr lang="en-US" altLang="en-US" dirty="0"/>
              <a:t>OPP for ZIFF corpus: (T) &gt; (P2,S1) &gt; (P3,S1) &gt; (P2,S2) &gt; {(P4,S1),(P5,S1),(P3,S2)} &gt;… (where T=title; P=paragraph; S=sentence)</a:t>
            </a:r>
          </a:p>
          <a:p>
            <a:pPr lvl="2"/>
            <a:r>
              <a:rPr lang="en-US" altLang="en-US" dirty="0"/>
              <a:t>10%-extracts cover 91% of the salient words.</a:t>
            </a:r>
          </a:p>
          <a:p>
            <a:r>
              <a:rPr lang="en-US" altLang="en-US" dirty="0"/>
              <a:t>Title-based method</a:t>
            </a:r>
          </a:p>
          <a:p>
            <a:pPr lvl="1"/>
            <a:r>
              <a:rPr lang="en-US" altLang="en-US" dirty="0"/>
              <a:t>Words in titles and headings are positively relevant to summarization. </a:t>
            </a:r>
          </a:p>
          <a:p>
            <a:endParaRPr lang="en-US" altLang="en-US" dirty="0"/>
          </a:p>
          <a:p>
            <a:pPr lvl="1"/>
            <a:endParaRPr lang="en-US" altLang="en-US" dirty="0"/>
          </a:p>
        </p:txBody>
      </p:sp>
    </p:spTree>
    <p:extLst>
      <p:ext uri="{BB962C8B-B14F-4D97-AF65-F5344CB8AC3E}">
        <p14:creationId xmlns:p14="http://schemas.microsoft.com/office/powerpoint/2010/main" val="1827300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838200" y="365125"/>
            <a:ext cx="10515600" cy="769083"/>
          </a:xfrm>
        </p:spPr>
        <p:txBody>
          <a:bodyPr/>
          <a:lstStyle/>
          <a:p>
            <a:r>
              <a:rPr lang="en-US" altLang="en-US" dirty="0"/>
              <a:t>Cue-Phrase method</a:t>
            </a:r>
          </a:p>
        </p:txBody>
      </p:sp>
      <p:sp>
        <p:nvSpPr>
          <p:cNvPr id="66563" name="Rectangle 3"/>
          <p:cNvSpPr>
            <a:spLocks noGrp="1" noChangeArrowheads="1"/>
          </p:cNvSpPr>
          <p:nvPr>
            <p:ph type="body" idx="1"/>
          </p:nvPr>
        </p:nvSpPr>
        <p:spPr>
          <a:xfrm>
            <a:off x="838200" y="1292225"/>
            <a:ext cx="10442331" cy="4814888"/>
          </a:xfrm>
        </p:spPr>
        <p:txBody>
          <a:bodyPr/>
          <a:lstStyle/>
          <a:p>
            <a:r>
              <a:rPr lang="en-US" altLang="en-US" b="1" dirty="0"/>
              <a:t>Claim 1</a:t>
            </a:r>
            <a:r>
              <a:rPr lang="en-US" altLang="en-US" dirty="0"/>
              <a:t>: Important sentences contain ‘bonus phrases’, such as </a:t>
            </a:r>
            <a:r>
              <a:rPr lang="en-US" altLang="en-US" i="1" dirty="0"/>
              <a:t>significantly, In this paper we show, </a:t>
            </a:r>
            <a:r>
              <a:rPr lang="en-US" altLang="en-US" dirty="0"/>
              <a:t>and</a:t>
            </a:r>
            <a:r>
              <a:rPr lang="en-US" altLang="en-US" i="1" dirty="0"/>
              <a:t> In conclusion</a:t>
            </a:r>
            <a:r>
              <a:rPr lang="en-US" altLang="en-US" dirty="0"/>
              <a:t>, while non-important sentences contain ‘stigma phrases’ such as </a:t>
            </a:r>
            <a:r>
              <a:rPr lang="en-US" altLang="en-US" i="1" dirty="0"/>
              <a:t>hardly</a:t>
            </a:r>
            <a:r>
              <a:rPr lang="en-US" altLang="en-US" dirty="0"/>
              <a:t> and </a:t>
            </a:r>
            <a:r>
              <a:rPr lang="en-US" altLang="en-US" i="1" dirty="0"/>
              <a:t>impossible</a:t>
            </a:r>
            <a:r>
              <a:rPr lang="en-US" altLang="en-US" dirty="0"/>
              <a:t>.  </a:t>
            </a:r>
          </a:p>
          <a:p>
            <a:r>
              <a:rPr lang="en-US" altLang="en-US" dirty="0"/>
              <a:t>Cue = a predefined list of words with associated weights</a:t>
            </a:r>
          </a:p>
          <a:p>
            <a:pPr>
              <a:spcBef>
                <a:spcPct val="60000"/>
              </a:spcBef>
            </a:pPr>
            <a:r>
              <a:rPr lang="en-US" altLang="en-US" b="1" dirty="0"/>
              <a:t>Method</a:t>
            </a:r>
            <a:r>
              <a:rPr lang="en-US" altLang="en-US" dirty="0"/>
              <a:t>: Add to sentence score if it contains a bonus phrase, penalize if it contains a stigma phrase. </a:t>
            </a:r>
          </a:p>
        </p:txBody>
      </p:sp>
    </p:spTree>
    <p:extLst>
      <p:ext uri="{BB962C8B-B14F-4D97-AF65-F5344CB8AC3E}">
        <p14:creationId xmlns:p14="http://schemas.microsoft.com/office/powerpoint/2010/main" val="41152927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en-US" dirty="0"/>
              <a:t>Word-frequency-based method</a:t>
            </a:r>
          </a:p>
        </p:txBody>
      </p:sp>
      <p:sp>
        <p:nvSpPr>
          <p:cNvPr id="57348" name="Rectangle 4"/>
          <p:cNvSpPr>
            <a:spLocks noGrp="1" noChangeArrowheads="1"/>
          </p:cNvSpPr>
          <p:nvPr>
            <p:ph type="body" sz="half" idx="2"/>
          </p:nvPr>
        </p:nvSpPr>
        <p:spPr>
          <a:xfrm>
            <a:off x="5522914" y="1379538"/>
            <a:ext cx="4700587" cy="4602162"/>
          </a:xfrm>
        </p:spPr>
        <p:txBody>
          <a:bodyPr/>
          <a:lstStyle/>
          <a:p>
            <a:r>
              <a:rPr lang="en-US" altLang="en-US" b="1" dirty="0"/>
              <a:t>Claim</a:t>
            </a:r>
            <a:r>
              <a:rPr lang="en-US" altLang="en-US" dirty="0"/>
              <a:t>: Important sentences contain words that occur “somewhat” frequently.</a:t>
            </a:r>
          </a:p>
          <a:p>
            <a:r>
              <a:rPr lang="en-US" altLang="en-US" b="1" dirty="0"/>
              <a:t>Method</a:t>
            </a:r>
            <a:r>
              <a:rPr lang="en-US" altLang="en-US" dirty="0"/>
              <a:t>: Increase sentence score for each frequent word.</a:t>
            </a:r>
          </a:p>
          <a:p>
            <a:r>
              <a:rPr lang="en-US" dirty="0">
                <a:latin typeface="Times New Roman" pitchFamily="18" charset="0"/>
                <a:cs typeface="Times New Roman" pitchFamily="18" charset="0"/>
              </a:rPr>
              <a:t>Stemming should be used</a:t>
            </a:r>
          </a:p>
          <a:p>
            <a:r>
              <a:rPr lang="en-GB" dirty="0">
                <a:latin typeface="Times New Roman" pitchFamily="18" charset="0"/>
                <a:cs typeface="Times New Roman" pitchFamily="18" charset="0"/>
              </a:rPr>
              <a:t>“stop words” (</a:t>
            </a:r>
            <a:r>
              <a:rPr lang="en-GB" dirty="0" err="1">
                <a:latin typeface="Times New Roman" pitchFamily="18" charset="0"/>
                <a:cs typeface="Times New Roman" pitchFamily="18" charset="0"/>
              </a:rPr>
              <a:t>i.e.”the</a:t>
            </a:r>
            <a:r>
              <a:rPr lang="en-GB" dirty="0">
                <a:latin typeface="Times New Roman" pitchFamily="18" charset="0"/>
                <a:cs typeface="Times New Roman" pitchFamily="18" charset="0"/>
              </a:rPr>
              <a:t>”, “a”, “for”, “is”) are </a:t>
            </a:r>
            <a:r>
              <a:rPr lang="en-GB" dirty="0" err="1">
                <a:latin typeface="Times New Roman" pitchFamily="18" charset="0"/>
                <a:cs typeface="Times New Roman" pitchFamily="18" charset="0"/>
              </a:rPr>
              <a:t>ignord</a:t>
            </a:r>
            <a:endParaRPr lang="en-US" dirty="0">
              <a:latin typeface="Times New Roman" pitchFamily="18" charset="0"/>
              <a:cs typeface="Times New Roman" pitchFamily="18" charset="0"/>
            </a:endParaRPr>
          </a:p>
          <a:p>
            <a:endParaRPr lang="en-US" altLang="en-US" dirty="0"/>
          </a:p>
        </p:txBody>
      </p:sp>
      <p:sp>
        <p:nvSpPr>
          <p:cNvPr id="57349" name="Line 5"/>
          <p:cNvSpPr>
            <a:spLocks noChangeShapeType="1"/>
          </p:cNvSpPr>
          <p:nvPr/>
        </p:nvSpPr>
        <p:spPr bwMode="auto">
          <a:xfrm>
            <a:off x="2362200" y="4648200"/>
            <a:ext cx="3200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50" name="Line 6"/>
          <p:cNvSpPr>
            <a:spLocks noChangeShapeType="1"/>
          </p:cNvSpPr>
          <p:nvPr/>
        </p:nvSpPr>
        <p:spPr bwMode="auto">
          <a:xfrm flipV="1">
            <a:off x="2362200" y="1676400"/>
            <a:ext cx="0" cy="2971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53" name="Arc 9"/>
          <p:cNvSpPr>
            <a:spLocks/>
          </p:cNvSpPr>
          <p:nvPr/>
        </p:nvSpPr>
        <p:spPr bwMode="auto">
          <a:xfrm flipH="1" flipV="1">
            <a:off x="2514600" y="1981200"/>
            <a:ext cx="3048000" cy="2667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accent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55" name="Text Box 11"/>
          <p:cNvSpPr txBox="1">
            <a:spLocks noChangeArrowheads="1"/>
          </p:cNvSpPr>
          <p:nvPr/>
        </p:nvSpPr>
        <p:spPr bwMode="auto">
          <a:xfrm>
            <a:off x="5105400" y="4648200"/>
            <a:ext cx="609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200"/>
              <a:t>words</a:t>
            </a:r>
            <a:endParaRPr lang="en-US" altLang="en-US" sz="2400"/>
          </a:p>
        </p:txBody>
      </p:sp>
      <p:sp>
        <p:nvSpPr>
          <p:cNvPr id="57356" name="Text Box 12"/>
          <p:cNvSpPr txBox="1">
            <a:spLocks noChangeArrowheads="1"/>
          </p:cNvSpPr>
          <p:nvPr/>
        </p:nvSpPr>
        <p:spPr bwMode="auto">
          <a:xfrm>
            <a:off x="2422526" y="1489075"/>
            <a:ext cx="1006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200">
                <a:solidFill>
                  <a:schemeClr val="accent1"/>
                </a:solidFill>
              </a:rPr>
              <a:t>Word</a:t>
            </a:r>
          </a:p>
          <a:p>
            <a:r>
              <a:rPr lang="en-US" altLang="en-US" sz="1200">
                <a:solidFill>
                  <a:schemeClr val="accent1"/>
                </a:solidFill>
              </a:rPr>
              <a:t>frequency</a:t>
            </a:r>
            <a:endParaRPr lang="en-US" altLang="en-US" sz="2400">
              <a:solidFill>
                <a:schemeClr val="accent1"/>
              </a:solidFill>
            </a:endParaRPr>
          </a:p>
        </p:txBody>
      </p:sp>
      <p:sp>
        <p:nvSpPr>
          <p:cNvPr id="57365" name="Text Box 21"/>
          <p:cNvSpPr txBox="1">
            <a:spLocks noChangeArrowheads="1"/>
          </p:cNvSpPr>
          <p:nvPr/>
        </p:nvSpPr>
        <p:spPr bwMode="auto">
          <a:xfrm>
            <a:off x="2743200" y="2438400"/>
            <a:ext cx="1485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200">
                <a:solidFill>
                  <a:schemeClr val="hlink"/>
                </a:solidFill>
              </a:rPr>
              <a:t>The</a:t>
            </a:r>
            <a:r>
              <a:rPr lang="en-US" altLang="en-US" sz="1200"/>
              <a:t> </a:t>
            </a:r>
            <a:r>
              <a:rPr lang="en-US" altLang="en-US" sz="1200">
                <a:solidFill>
                  <a:schemeClr val="hlink"/>
                </a:solidFill>
              </a:rPr>
              <a:t>resolving power</a:t>
            </a:r>
            <a:r>
              <a:rPr lang="en-US" altLang="en-US" sz="1200"/>
              <a:t> </a:t>
            </a:r>
          </a:p>
          <a:p>
            <a:r>
              <a:rPr lang="en-US" altLang="en-US" sz="1200">
                <a:solidFill>
                  <a:schemeClr val="hlink"/>
                </a:solidFill>
              </a:rPr>
              <a:t>        of words</a:t>
            </a:r>
          </a:p>
        </p:txBody>
      </p:sp>
      <p:sp>
        <p:nvSpPr>
          <p:cNvPr id="57368" name="Line 24"/>
          <p:cNvSpPr>
            <a:spLocks noChangeShapeType="1"/>
          </p:cNvSpPr>
          <p:nvPr/>
        </p:nvSpPr>
        <p:spPr bwMode="auto">
          <a:xfrm flipV="1">
            <a:off x="2895600" y="2209800"/>
            <a:ext cx="0" cy="271303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69" name="Line 25"/>
          <p:cNvSpPr>
            <a:spLocks noChangeShapeType="1"/>
          </p:cNvSpPr>
          <p:nvPr/>
        </p:nvSpPr>
        <p:spPr bwMode="auto">
          <a:xfrm flipV="1">
            <a:off x="3810000" y="2209800"/>
            <a:ext cx="0" cy="271303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71" name="Freeform 27"/>
          <p:cNvSpPr>
            <a:spLocks/>
          </p:cNvSpPr>
          <p:nvPr/>
        </p:nvSpPr>
        <p:spPr bwMode="auto">
          <a:xfrm>
            <a:off x="2514600" y="3022600"/>
            <a:ext cx="1676400" cy="1549400"/>
          </a:xfrm>
          <a:custGeom>
            <a:avLst/>
            <a:gdLst>
              <a:gd name="T0" fmla="*/ 0 w 1056"/>
              <a:gd name="T1" fmla="*/ 976 h 976"/>
              <a:gd name="T2" fmla="*/ 240 w 1056"/>
              <a:gd name="T3" fmla="*/ 640 h 976"/>
              <a:gd name="T4" fmla="*/ 384 w 1056"/>
              <a:gd name="T5" fmla="*/ 208 h 976"/>
              <a:gd name="T6" fmla="*/ 528 w 1056"/>
              <a:gd name="T7" fmla="*/ 16 h 976"/>
              <a:gd name="T8" fmla="*/ 672 w 1056"/>
              <a:gd name="T9" fmla="*/ 304 h 976"/>
              <a:gd name="T10" fmla="*/ 816 w 1056"/>
              <a:gd name="T11" fmla="*/ 688 h 976"/>
              <a:gd name="T12" fmla="*/ 1056 w 1056"/>
              <a:gd name="T13" fmla="*/ 976 h 976"/>
            </a:gdLst>
            <a:ahLst/>
            <a:cxnLst>
              <a:cxn ang="0">
                <a:pos x="T0" y="T1"/>
              </a:cxn>
              <a:cxn ang="0">
                <a:pos x="T2" y="T3"/>
              </a:cxn>
              <a:cxn ang="0">
                <a:pos x="T4" y="T5"/>
              </a:cxn>
              <a:cxn ang="0">
                <a:pos x="T6" y="T7"/>
              </a:cxn>
              <a:cxn ang="0">
                <a:pos x="T8" y="T9"/>
              </a:cxn>
              <a:cxn ang="0">
                <a:pos x="T10" y="T11"/>
              </a:cxn>
              <a:cxn ang="0">
                <a:pos x="T12" y="T13"/>
              </a:cxn>
            </a:cxnLst>
            <a:rect l="0" t="0" r="r" b="b"/>
            <a:pathLst>
              <a:path w="1056" h="976">
                <a:moveTo>
                  <a:pt x="0" y="976"/>
                </a:moveTo>
                <a:cubicBezTo>
                  <a:pt x="88" y="872"/>
                  <a:pt x="176" y="768"/>
                  <a:pt x="240" y="640"/>
                </a:cubicBezTo>
                <a:cubicBezTo>
                  <a:pt x="304" y="512"/>
                  <a:pt x="336" y="312"/>
                  <a:pt x="384" y="208"/>
                </a:cubicBezTo>
                <a:cubicBezTo>
                  <a:pt x="432" y="104"/>
                  <a:pt x="480" y="0"/>
                  <a:pt x="528" y="16"/>
                </a:cubicBezTo>
                <a:cubicBezTo>
                  <a:pt x="576" y="32"/>
                  <a:pt x="624" y="192"/>
                  <a:pt x="672" y="304"/>
                </a:cubicBezTo>
                <a:cubicBezTo>
                  <a:pt x="720" y="416"/>
                  <a:pt x="752" y="576"/>
                  <a:pt x="816" y="688"/>
                </a:cubicBezTo>
                <a:cubicBezTo>
                  <a:pt x="880" y="800"/>
                  <a:pt x="968" y="888"/>
                  <a:pt x="1056" y="976"/>
                </a:cubicBezTo>
              </a:path>
            </a:pathLst>
          </a:custGeom>
          <a:noFill/>
          <a:ln w="15875" cap="flat" cmpd="sng">
            <a:solidFill>
              <a:schemeClr val="hlink"/>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72" name="Text Box 28"/>
          <p:cNvSpPr txBox="1">
            <a:spLocks noChangeArrowheads="1"/>
          </p:cNvSpPr>
          <p:nvPr/>
        </p:nvSpPr>
        <p:spPr bwMode="auto">
          <a:xfrm>
            <a:off x="2727325" y="5222875"/>
            <a:ext cx="1487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(Luhn, 59)</a:t>
            </a:r>
          </a:p>
        </p:txBody>
      </p:sp>
    </p:spTree>
    <p:extLst>
      <p:ext uri="{BB962C8B-B14F-4D97-AF65-F5344CB8AC3E}">
        <p14:creationId xmlns:p14="http://schemas.microsoft.com/office/powerpoint/2010/main" val="3511806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557AD-EF5E-4F90-A57E-4D99B0159376}"/>
              </a:ext>
            </a:extLst>
          </p:cNvPr>
          <p:cNvSpPr>
            <a:spLocks noGrp="1"/>
          </p:cNvSpPr>
          <p:nvPr>
            <p:ph type="title"/>
          </p:nvPr>
        </p:nvSpPr>
        <p:spPr/>
        <p:txBody>
          <a:bodyPr/>
          <a:lstStyle/>
          <a:p>
            <a:endParaRPr lang="en-US"/>
          </a:p>
        </p:txBody>
      </p:sp>
      <p:sp>
        <p:nvSpPr>
          <p:cNvPr id="3" name="Online Image Placeholder 2">
            <a:extLst>
              <a:ext uri="{FF2B5EF4-FFF2-40B4-BE49-F238E27FC236}">
                <a16:creationId xmlns:a16="http://schemas.microsoft.com/office/drawing/2014/main" id="{D7540584-8069-4D21-B411-8C7353756FF1}"/>
              </a:ext>
            </a:extLst>
          </p:cNvPr>
          <p:cNvSpPr>
            <a:spLocks noGrp="1"/>
          </p:cNvSpPr>
          <p:nvPr>
            <p:ph type="clipArt" sz="half" idx="1"/>
          </p:nvPr>
        </p:nvSpPr>
        <p:spPr/>
      </p:sp>
      <p:sp>
        <p:nvSpPr>
          <p:cNvPr id="4" name="Text Placeholder 3">
            <a:extLst>
              <a:ext uri="{FF2B5EF4-FFF2-40B4-BE49-F238E27FC236}">
                <a16:creationId xmlns:a16="http://schemas.microsoft.com/office/drawing/2014/main" id="{07F0C9E7-DAC5-4749-AEDE-C6357A59C280}"/>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408387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a:bodyPr>
          <a:lstStyle/>
          <a:p>
            <a:pPr algn="ctr"/>
            <a:r>
              <a:rPr lang="en-US" dirty="0"/>
              <a:t>Lex Rank</a:t>
            </a:r>
          </a:p>
        </p:txBody>
      </p:sp>
    </p:spTree>
    <p:extLst>
      <p:ext uri="{BB962C8B-B14F-4D97-AF65-F5344CB8AC3E}">
        <p14:creationId xmlns:p14="http://schemas.microsoft.com/office/powerpoint/2010/main" val="2268664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LexRank</a:t>
            </a:r>
            <a:endParaRPr lang="en-US" dirty="0"/>
          </a:p>
        </p:txBody>
      </p:sp>
      <p:sp>
        <p:nvSpPr>
          <p:cNvPr id="3" name="Content Placeholder 2"/>
          <p:cNvSpPr>
            <a:spLocks noGrp="1"/>
          </p:cNvSpPr>
          <p:nvPr>
            <p:ph idx="1"/>
          </p:nvPr>
        </p:nvSpPr>
        <p:spPr/>
        <p:txBody>
          <a:bodyPr>
            <a:normAutofit fontScale="85000" lnSpcReduction="20000"/>
          </a:bodyPr>
          <a:lstStyle/>
          <a:p>
            <a:pPr>
              <a:lnSpc>
                <a:spcPct val="120000"/>
              </a:lnSpc>
            </a:pPr>
            <a:r>
              <a:rPr lang="en-US" dirty="0" err="1"/>
              <a:t>LexRank</a:t>
            </a:r>
            <a:r>
              <a:rPr lang="en-US" dirty="0"/>
              <a:t> does document summarization by estimating sentence importance using random walks and eigenvector centrality. </a:t>
            </a:r>
          </a:p>
          <a:p>
            <a:pPr>
              <a:lnSpc>
                <a:spcPct val="120000"/>
              </a:lnSpc>
            </a:pPr>
            <a:r>
              <a:rPr lang="en-US" dirty="0"/>
              <a:t>A graph is constructed by creating a vertex for each sentence in the document.</a:t>
            </a:r>
          </a:p>
          <a:p>
            <a:pPr>
              <a:lnSpc>
                <a:spcPct val="120000"/>
              </a:lnSpc>
            </a:pPr>
            <a:r>
              <a:rPr lang="en-US" dirty="0"/>
              <a:t>The edges between sentences are based on some form of semantic similarity or content overlap. While </a:t>
            </a:r>
            <a:r>
              <a:rPr lang="en-US" dirty="0" err="1"/>
              <a:t>LexRank</a:t>
            </a:r>
            <a:r>
              <a:rPr lang="en-US" dirty="0"/>
              <a:t> uses cosine similarity of TF-IDF vectors, </a:t>
            </a:r>
            <a:r>
              <a:rPr lang="en-US" dirty="0" err="1"/>
              <a:t>TextRank</a:t>
            </a:r>
            <a:r>
              <a:rPr lang="en-US" dirty="0"/>
              <a:t> uses a very similar measure based on the number of words two sentences have in common (normalized by the sentences' lengths). </a:t>
            </a:r>
          </a:p>
          <a:p>
            <a:pPr>
              <a:lnSpc>
                <a:spcPct val="120000"/>
              </a:lnSpc>
            </a:pPr>
            <a:r>
              <a:rPr lang="en-US" dirty="0"/>
              <a:t>Sentences are ranked by applying PageRank to the resulting graph. A summary is formed by combining the top ranking sentences, using a threshold or length cutoff to limit the size of the summary.</a:t>
            </a:r>
          </a:p>
        </p:txBody>
      </p:sp>
    </p:spTree>
    <p:extLst>
      <p:ext uri="{BB962C8B-B14F-4D97-AF65-F5344CB8AC3E}">
        <p14:creationId xmlns:p14="http://schemas.microsoft.com/office/powerpoint/2010/main" val="1721597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7401C-C23B-4CB3-AD24-2E4F7DB751DB}"/>
              </a:ext>
            </a:extLst>
          </p:cNvPr>
          <p:cNvSpPr>
            <a:spLocks noGrp="1"/>
          </p:cNvSpPr>
          <p:nvPr>
            <p:ph type="title"/>
          </p:nvPr>
        </p:nvSpPr>
        <p:spPr/>
        <p:txBody>
          <a:bodyPr/>
          <a:lstStyle/>
          <a:p>
            <a:r>
              <a:rPr lang="en-US" dirty="0" err="1"/>
              <a:t>LexRank</a:t>
            </a:r>
            <a:endParaRPr lang="en-US" dirty="0"/>
          </a:p>
        </p:txBody>
      </p:sp>
      <p:sp>
        <p:nvSpPr>
          <p:cNvPr id="3" name="Content Placeholder 2">
            <a:extLst>
              <a:ext uri="{FF2B5EF4-FFF2-40B4-BE49-F238E27FC236}">
                <a16:creationId xmlns:a16="http://schemas.microsoft.com/office/drawing/2014/main" id="{68420E8A-9C7A-4D74-A046-19E554557D1A}"/>
              </a:ext>
            </a:extLst>
          </p:cNvPr>
          <p:cNvSpPr>
            <a:spLocks noGrp="1"/>
          </p:cNvSpPr>
          <p:nvPr>
            <p:ph idx="1"/>
          </p:nvPr>
        </p:nvSpPr>
        <p:spPr/>
        <p:txBody>
          <a:bodyPr>
            <a:normAutofit fontScale="92500" lnSpcReduction="10000"/>
          </a:bodyPr>
          <a:lstStyle/>
          <a:p>
            <a:pPr>
              <a:lnSpc>
                <a:spcPct val="120000"/>
              </a:lnSpc>
            </a:pPr>
            <a:r>
              <a:rPr lang="en-US" dirty="0" err="1"/>
              <a:t>LexRank</a:t>
            </a:r>
            <a:r>
              <a:rPr lang="en-US" dirty="0"/>
              <a:t> was used as part of a larger summarization system (MEAD) that combines the </a:t>
            </a:r>
            <a:r>
              <a:rPr lang="en-US" dirty="0" err="1"/>
              <a:t>LexRank</a:t>
            </a:r>
            <a:r>
              <a:rPr lang="en-US" dirty="0"/>
              <a:t> score (stationary probability) with other features like sentence position and length using a linear combination with either user-specified or automatically tuned weights.</a:t>
            </a:r>
          </a:p>
          <a:p>
            <a:pPr>
              <a:lnSpc>
                <a:spcPct val="120000"/>
              </a:lnSpc>
            </a:pPr>
            <a:r>
              <a:rPr lang="en-US" dirty="0"/>
              <a:t>For multi-document summarization, to avoid duplicate sentences, </a:t>
            </a:r>
            <a:r>
              <a:rPr lang="en-US" dirty="0" err="1"/>
              <a:t>LexRank</a:t>
            </a:r>
            <a:r>
              <a:rPr lang="en-US" dirty="0"/>
              <a:t> applies a heuristic post-processing step that builds up a summary by adding sentences in rank order, but discards any sentences that are too similar to ones already placed in the summary. The method used is called Cross-Sentence Information </a:t>
            </a:r>
            <a:r>
              <a:rPr lang="en-US" dirty="0" err="1"/>
              <a:t>Subsumption</a:t>
            </a:r>
            <a:r>
              <a:rPr lang="en-US" dirty="0"/>
              <a:t> (CSIS).</a:t>
            </a:r>
          </a:p>
          <a:p>
            <a:endParaRPr lang="en-US" dirty="0"/>
          </a:p>
        </p:txBody>
      </p:sp>
    </p:spTree>
    <p:extLst>
      <p:ext uri="{BB962C8B-B14F-4D97-AF65-F5344CB8AC3E}">
        <p14:creationId xmlns:p14="http://schemas.microsoft.com/office/powerpoint/2010/main" val="118996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93CD1-D797-4F77-AAC8-1603031F07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4DAAB9-F60B-4F61-BD10-64EF5ADAB42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85664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a:bodyPr>
          <a:lstStyle/>
          <a:p>
            <a:pPr algn="ctr"/>
            <a:r>
              <a:rPr lang="en-US" dirty="0"/>
              <a:t>Problems with Extractive Summarization Methods</a:t>
            </a:r>
          </a:p>
        </p:txBody>
      </p:sp>
    </p:spTree>
    <p:extLst>
      <p:ext uri="{BB962C8B-B14F-4D97-AF65-F5344CB8AC3E}">
        <p14:creationId xmlns:p14="http://schemas.microsoft.com/office/powerpoint/2010/main" val="2923052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279650" y="476250"/>
            <a:ext cx="7900988" cy="984250"/>
          </a:xfrm>
        </p:spPr>
        <p:txBody>
          <a:bodyPr/>
          <a:lstStyle/>
          <a:p>
            <a:r>
              <a:rPr lang="en-GB" altLang="en-US"/>
              <a:t>Problems with extracts</a:t>
            </a:r>
          </a:p>
        </p:txBody>
      </p:sp>
      <p:sp>
        <p:nvSpPr>
          <p:cNvPr id="45059" name="Rectangle 3"/>
          <p:cNvSpPr>
            <a:spLocks noGrp="1" noChangeArrowheads="1"/>
          </p:cNvSpPr>
          <p:nvPr>
            <p:ph type="body" idx="1"/>
          </p:nvPr>
        </p:nvSpPr>
        <p:spPr>
          <a:xfrm>
            <a:off x="2351088" y="1700214"/>
            <a:ext cx="7916862" cy="4465637"/>
          </a:xfrm>
        </p:spPr>
        <p:txBody>
          <a:bodyPr>
            <a:normAutofit fontScale="85000" lnSpcReduction="10000"/>
          </a:bodyPr>
          <a:lstStyle/>
          <a:p>
            <a:pPr>
              <a:lnSpc>
                <a:spcPct val="80000"/>
              </a:lnSpc>
            </a:pPr>
            <a:r>
              <a:rPr lang="en-GB" altLang="en-US"/>
              <a:t>Lack of cohesion</a:t>
            </a:r>
          </a:p>
          <a:p>
            <a:pPr>
              <a:lnSpc>
                <a:spcPct val="80000"/>
              </a:lnSpc>
              <a:buFont typeface="Wingdings" panose="05000000000000000000" pitchFamily="2" charset="2"/>
              <a:buNone/>
            </a:pPr>
            <a:r>
              <a:rPr lang="en-US" altLang="en-US" sz="800"/>
              <a:t>   </a:t>
            </a:r>
          </a:p>
          <a:p>
            <a:pPr>
              <a:lnSpc>
                <a:spcPct val="80000"/>
              </a:lnSpc>
              <a:buFont typeface="Wingdings" panose="05000000000000000000" pitchFamily="2" charset="2"/>
              <a:buNone/>
            </a:pPr>
            <a:r>
              <a:rPr lang="en-US" altLang="en-US" sz="800"/>
              <a:t>    </a:t>
            </a:r>
            <a:r>
              <a:rPr lang="en-US" altLang="en-US" sz="800" b="1"/>
              <a:t>	</a:t>
            </a:r>
            <a:r>
              <a:rPr lang="en-US" altLang="en-US" sz="2000">
                <a:latin typeface="Arial" panose="020B0604020202020204" pitchFamily="34" charset="0"/>
              </a:rPr>
              <a:t>A single-engine airplane crashed Tuesday into a ditch beside a dirt road on the outskirts of Albuquerque, killing all five people aboard, authorities said.</a:t>
            </a:r>
          </a:p>
          <a:p>
            <a:pPr>
              <a:lnSpc>
                <a:spcPct val="80000"/>
              </a:lnSpc>
              <a:buFont typeface="Wingdings" panose="05000000000000000000" pitchFamily="2" charset="2"/>
              <a:buNone/>
            </a:pPr>
            <a:r>
              <a:rPr lang="en-US" altLang="en-US" sz="2000">
                <a:latin typeface="Arial" panose="020B0604020202020204" pitchFamily="34" charset="0"/>
              </a:rPr>
              <a:t>	Four adults and one child died in the crash, which witnesses said occurred about 5 p.m., when it was raining, Albuquerque police Sgt. R.C. Porter said.</a:t>
            </a:r>
          </a:p>
          <a:p>
            <a:pPr>
              <a:lnSpc>
                <a:spcPct val="80000"/>
              </a:lnSpc>
              <a:buFont typeface="Wingdings" panose="05000000000000000000" pitchFamily="2" charset="2"/>
              <a:buNone/>
            </a:pPr>
            <a:r>
              <a:rPr lang="en-US" altLang="en-US" sz="2000">
                <a:latin typeface="Arial" panose="020B0604020202020204" pitchFamily="34" charset="0"/>
              </a:rPr>
              <a:t>     The airplane was attempting to land at nearby Coronado Airport, Porter said.</a:t>
            </a:r>
          </a:p>
          <a:p>
            <a:pPr>
              <a:lnSpc>
                <a:spcPct val="80000"/>
              </a:lnSpc>
              <a:buFont typeface="Wingdings" panose="05000000000000000000" pitchFamily="2" charset="2"/>
              <a:buNone/>
            </a:pPr>
            <a:r>
              <a:rPr lang="en-US" altLang="en-US" sz="2000">
                <a:latin typeface="Arial" panose="020B0604020202020204" pitchFamily="34" charset="0"/>
              </a:rPr>
              <a:t>     It aborted its first attempt and was coming in for a second try when it crashed, he said…</a:t>
            </a:r>
          </a:p>
          <a:p>
            <a:pPr>
              <a:lnSpc>
                <a:spcPct val="80000"/>
              </a:lnSpc>
              <a:buFont typeface="Wingdings" panose="05000000000000000000" pitchFamily="2" charset="2"/>
              <a:buNone/>
            </a:pPr>
            <a:endParaRPr lang="en-US" altLang="en-US" sz="2000" b="1">
              <a:latin typeface="Arial" panose="020B0604020202020204" pitchFamily="34" charset="0"/>
            </a:endParaRPr>
          </a:p>
          <a:p>
            <a:pPr>
              <a:lnSpc>
                <a:spcPct val="80000"/>
              </a:lnSpc>
              <a:buFont typeface="Wingdings" panose="05000000000000000000" pitchFamily="2" charset="2"/>
              <a:buNone/>
            </a:pPr>
            <a:r>
              <a:rPr lang="en-US" altLang="en-US" sz="1800" b="1"/>
              <a:t>	</a:t>
            </a:r>
            <a:r>
              <a:rPr lang="en-US" altLang="en-US" sz="2000">
                <a:latin typeface="Arial" panose="020B0604020202020204" pitchFamily="34" charset="0"/>
              </a:rPr>
              <a:t>Four adults and one child died in </a:t>
            </a:r>
            <a:r>
              <a:rPr lang="en-US" altLang="en-US" sz="2000" u="sng">
                <a:latin typeface="Arial" panose="020B0604020202020204" pitchFamily="34" charset="0"/>
              </a:rPr>
              <a:t>the crash</a:t>
            </a:r>
            <a:r>
              <a:rPr lang="en-US" altLang="en-US" sz="2000">
                <a:latin typeface="Arial" panose="020B0604020202020204" pitchFamily="34" charset="0"/>
              </a:rPr>
              <a:t>, which witnesses said occurred about 5 p.m., when it was raining, Albuquerque police Sgt. R.C. Porter said.</a:t>
            </a:r>
          </a:p>
          <a:p>
            <a:pPr>
              <a:lnSpc>
                <a:spcPct val="80000"/>
              </a:lnSpc>
              <a:buFont typeface="Wingdings" panose="05000000000000000000" pitchFamily="2" charset="2"/>
              <a:buNone/>
            </a:pPr>
            <a:r>
              <a:rPr lang="en-US" altLang="en-US" sz="2000">
                <a:latin typeface="Arial" panose="020B0604020202020204" pitchFamily="34" charset="0"/>
              </a:rPr>
              <a:t>	</a:t>
            </a:r>
            <a:r>
              <a:rPr lang="en-US" altLang="en-US" sz="2000" u="sng">
                <a:latin typeface="Arial" panose="020B0604020202020204" pitchFamily="34" charset="0"/>
              </a:rPr>
              <a:t>It</a:t>
            </a:r>
            <a:r>
              <a:rPr lang="en-US" altLang="en-US" sz="2000">
                <a:latin typeface="Arial" panose="020B0604020202020204" pitchFamily="34" charset="0"/>
              </a:rPr>
              <a:t> aborted </a:t>
            </a:r>
            <a:r>
              <a:rPr lang="en-US" altLang="en-US" sz="2000" u="sng">
                <a:latin typeface="Arial" panose="020B0604020202020204" pitchFamily="34" charset="0"/>
              </a:rPr>
              <a:t>its</a:t>
            </a:r>
            <a:r>
              <a:rPr lang="en-US" altLang="en-US" sz="2000">
                <a:latin typeface="Arial" panose="020B0604020202020204" pitchFamily="34" charset="0"/>
              </a:rPr>
              <a:t> first attempt and was coming in for a second try when</a:t>
            </a:r>
            <a:r>
              <a:rPr lang="en-US" altLang="en-US" sz="2000" u="sng">
                <a:latin typeface="Arial" panose="020B0604020202020204" pitchFamily="34" charset="0"/>
              </a:rPr>
              <a:t> it</a:t>
            </a:r>
            <a:r>
              <a:rPr lang="en-US" altLang="en-US" sz="2000">
                <a:latin typeface="Arial" panose="020B0604020202020204" pitchFamily="34" charset="0"/>
              </a:rPr>
              <a:t> crashed, he said.</a:t>
            </a:r>
            <a:endParaRPr lang="en-GB" altLang="en-US" sz="2000">
              <a:latin typeface="Arial" panose="020B0604020202020204" pitchFamily="34" charset="0"/>
            </a:endParaRPr>
          </a:p>
          <a:p>
            <a:pPr>
              <a:lnSpc>
                <a:spcPct val="80000"/>
              </a:lnSpc>
              <a:buFont typeface="Wingdings" panose="05000000000000000000" pitchFamily="2" charset="2"/>
              <a:buNone/>
            </a:pPr>
            <a:endParaRPr lang="en-GB" altLang="en-US" sz="2000">
              <a:latin typeface="Arial" panose="020B0604020202020204" pitchFamily="34" charset="0"/>
            </a:endParaRPr>
          </a:p>
          <a:p>
            <a:pPr>
              <a:lnSpc>
                <a:spcPct val="80000"/>
              </a:lnSpc>
              <a:buFont typeface="Wingdings" panose="05000000000000000000" pitchFamily="2" charset="2"/>
              <a:buNone/>
            </a:pPr>
            <a:r>
              <a:rPr lang="en-GB" altLang="en-US" sz="1000"/>
              <a:t>	</a:t>
            </a:r>
          </a:p>
        </p:txBody>
      </p:sp>
      <p:sp>
        <p:nvSpPr>
          <p:cNvPr id="183300" name="Text Box 4"/>
          <p:cNvSpPr txBox="1">
            <a:spLocks noChangeArrowheads="1"/>
          </p:cNvSpPr>
          <p:nvPr/>
        </p:nvSpPr>
        <p:spPr bwMode="auto">
          <a:xfrm rot="16200000">
            <a:off x="1800855" y="2893687"/>
            <a:ext cx="922666"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l"/>
            <a:r>
              <a:rPr lang="en-GB" altLang="en-US" sz="2000">
                <a:latin typeface="Tahoma" panose="020B0604030504040204" pitchFamily="34" charset="0"/>
              </a:rPr>
              <a:t>source</a:t>
            </a:r>
          </a:p>
        </p:txBody>
      </p:sp>
      <p:sp>
        <p:nvSpPr>
          <p:cNvPr id="183301" name="Text Box 5"/>
          <p:cNvSpPr txBox="1">
            <a:spLocks noChangeArrowheads="1"/>
          </p:cNvSpPr>
          <p:nvPr/>
        </p:nvSpPr>
        <p:spPr bwMode="auto">
          <a:xfrm rot="16200000">
            <a:off x="1781571" y="4596952"/>
            <a:ext cx="95806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l"/>
            <a:r>
              <a:rPr lang="en-GB" altLang="en-US" sz="2000" dirty="0">
                <a:latin typeface="Tahoma" panose="020B0604030504040204" pitchFamily="34" charset="0"/>
              </a:rPr>
              <a:t>extract</a:t>
            </a:r>
          </a:p>
        </p:txBody>
      </p:sp>
    </p:spTree>
    <p:custDataLst>
      <p:tags r:id="rId1"/>
    </p:custDataLst>
    <p:extLst>
      <p:ext uri="{BB962C8B-B14F-4D97-AF65-F5344CB8AC3E}">
        <p14:creationId xmlns:p14="http://schemas.microsoft.com/office/powerpoint/2010/main" val="5415635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3300"/>
                                        </p:tgtEl>
                                        <p:attrNameLst>
                                          <p:attrName>style.visibility</p:attrName>
                                        </p:attrNameLst>
                                      </p:cBhvr>
                                      <p:to>
                                        <p:strVal val="visible"/>
                                      </p:to>
                                    </p:set>
                                    <p:animEffect transition="in" filter="blinds(horizontal)">
                                      <p:cBhvr>
                                        <p:cTn id="7" dur="500"/>
                                        <p:tgtEl>
                                          <p:spTgt spid="1833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12" dur="500"/>
                                        <p:tgtEl>
                                          <p:spTgt spid="45059">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15" dur="500"/>
                                        <p:tgtEl>
                                          <p:spTgt spid="45059">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18" dur="500"/>
                                        <p:tgtEl>
                                          <p:spTgt spid="45059">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21" dur="500"/>
                                        <p:tgtEl>
                                          <p:spTgt spid="45059">
                                            <p:txEl>
                                              <p:pRg st="5" end="5"/>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mph" presetSubtype="1" nodeType="clickEffect">
                                  <p:stCondLst>
                                    <p:cond delay="0"/>
                                  </p:stCondLst>
                                  <p:childTnLst>
                                    <p:set>
                                      <p:cBhvr override="childStyle">
                                        <p:cTn id="25" dur="indefinite"/>
                                        <p:tgtEl>
                                          <p:spTgt spid="45059">
                                            <p:txEl>
                                              <p:pRg st="3" end="3"/>
                                            </p:txEl>
                                          </p:spTgt>
                                        </p:tgtEl>
                                        <p:attrNameLst>
                                          <p:attrName>style.fontStyle</p:attrName>
                                        </p:attrNameLst>
                                      </p:cBhvr>
                                      <p:to>
                                        <p:strVal val="normal"/>
                                      </p:to>
                                    </p:set>
                                    <p:set>
                                      <p:cBhvr override="childStyle">
                                        <p:cTn id="26" dur="indefinite"/>
                                        <p:tgtEl>
                                          <p:spTgt spid="45059">
                                            <p:txEl>
                                              <p:pRg st="3" end="3"/>
                                            </p:txEl>
                                          </p:spTgt>
                                        </p:tgtEl>
                                        <p:attrNameLst>
                                          <p:attrName>style.fontWeight</p:attrName>
                                        </p:attrNameLst>
                                      </p:cBhvr>
                                      <p:to>
                                        <p:strVal val="bold"/>
                                      </p:to>
                                    </p:set>
                                    <p:set>
                                      <p:cBhvr override="childStyle">
                                        <p:cTn id="27" dur="indefinite"/>
                                        <p:tgtEl>
                                          <p:spTgt spid="45059">
                                            <p:txEl>
                                              <p:pRg st="3" end="3"/>
                                            </p:txEl>
                                          </p:spTgt>
                                        </p:tgtEl>
                                        <p:attrNameLst>
                                          <p:attrName>style.textDecorationUnderline</p:attrName>
                                        </p:attrNameLst>
                                      </p:cBhvr>
                                      <p:to>
                                        <p:strVal val="fals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mph" presetSubtype="1" nodeType="clickEffect">
                                  <p:stCondLst>
                                    <p:cond delay="0"/>
                                  </p:stCondLst>
                                  <p:childTnLst>
                                    <p:set>
                                      <p:cBhvr override="childStyle">
                                        <p:cTn id="31" dur="indefinite"/>
                                        <p:tgtEl>
                                          <p:spTgt spid="45059">
                                            <p:txEl>
                                              <p:pRg st="5" end="5"/>
                                            </p:txEl>
                                          </p:spTgt>
                                        </p:tgtEl>
                                        <p:attrNameLst>
                                          <p:attrName>style.fontStyle</p:attrName>
                                        </p:attrNameLst>
                                      </p:cBhvr>
                                      <p:to>
                                        <p:strVal val="normal"/>
                                      </p:to>
                                    </p:set>
                                    <p:set>
                                      <p:cBhvr override="childStyle">
                                        <p:cTn id="32" dur="indefinite"/>
                                        <p:tgtEl>
                                          <p:spTgt spid="45059">
                                            <p:txEl>
                                              <p:pRg st="5" end="5"/>
                                            </p:txEl>
                                          </p:spTgt>
                                        </p:tgtEl>
                                        <p:attrNameLst>
                                          <p:attrName>style.fontWeight</p:attrName>
                                        </p:attrNameLst>
                                      </p:cBhvr>
                                      <p:to>
                                        <p:strVal val="bold"/>
                                      </p:to>
                                    </p:set>
                                    <p:set>
                                      <p:cBhvr override="childStyle">
                                        <p:cTn id="33" dur="indefinite"/>
                                        <p:tgtEl>
                                          <p:spTgt spid="45059">
                                            <p:txEl>
                                              <p:pRg st="5" end="5"/>
                                            </p:txEl>
                                          </p:spTgt>
                                        </p:tgtEl>
                                        <p:attrNameLst>
                                          <p:attrName>style.textDecorationUnderline</p:attrName>
                                        </p:attrNameLst>
                                      </p:cBhvr>
                                      <p:to>
                                        <p:strVal val="fals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83301"/>
                                        </p:tgtEl>
                                        <p:attrNameLst>
                                          <p:attrName>style.visibility</p:attrName>
                                        </p:attrNameLst>
                                      </p:cBhvr>
                                      <p:to>
                                        <p:strVal val="visible"/>
                                      </p:to>
                                    </p:set>
                                    <p:animEffect transition="in" filter="blinds(horizontal)">
                                      <p:cBhvr>
                                        <p:cTn id="38" dur="500"/>
                                        <p:tgtEl>
                                          <p:spTgt spid="183301"/>
                                        </p:tgtEl>
                                      </p:cBhvr>
                                    </p:animEffect>
                                  </p:childTnLst>
                                </p:cTn>
                              </p:par>
                              <p:par>
                                <p:cTn id="39" presetID="3" presetClass="entr" presetSubtype="10" fill="hold" nodeType="withEffect">
                                  <p:stCondLst>
                                    <p:cond delay="0"/>
                                  </p:stCondLst>
                                  <p:childTnLst>
                                    <p:set>
                                      <p:cBhvr>
                                        <p:cTn id="40" dur="1" fill="hold">
                                          <p:stCondLst>
                                            <p:cond delay="0"/>
                                          </p:stCondLst>
                                        </p:cTn>
                                        <p:tgtEl>
                                          <p:spTgt spid="45059">
                                            <p:txEl>
                                              <p:pRg st="7" end="7"/>
                                            </p:txEl>
                                          </p:spTgt>
                                        </p:tgtEl>
                                        <p:attrNameLst>
                                          <p:attrName>style.visibility</p:attrName>
                                        </p:attrNameLst>
                                      </p:cBhvr>
                                      <p:to>
                                        <p:strVal val="visible"/>
                                      </p:to>
                                    </p:set>
                                    <p:animEffect transition="in" filter="blinds(horizontal)">
                                      <p:cBhvr>
                                        <p:cTn id="41" dur="500"/>
                                        <p:tgtEl>
                                          <p:spTgt spid="45059">
                                            <p:txEl>
                                              <p:pRg st="7" end="7"/>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45059">
                                            <p:txEl>
                                              <p:pRg st="8" end="8"/>
                                            </p:txEl>
                                          </p:spTgt>
                                        </p:tgtEl>
                                        <p:attrNameLst>
                                          <p:attrName>style.visibility</p:attrName>
                                        </p:attrNameLst>
                                      </p:cBhvr>
                                      <p:to>
                                        <p:strVal val="visible"/>
                                      </p:to>
                                    </p:set>
                                    <p:animEffect transition="in" filter="blinds(horizontal)">
                                      <p:cBhvr>
                                        <p:cTn id="44" dur="500"/>
                                        <p:tgtEl>
                                          <p:spTgt spid="450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0" grpId="0"/>
      <p:bldP spid="18330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1026"/>
          <p:cNvSpPr>
            <a:spLocks noGrp="1" noChangeArrowheads="1"/>
          </p:cNvSpPr>
          <p:nvPr>
            <p:ph type="title"/>
          </p:nvPr>
        </p:nvSpPr>
        <p:spPr>
          <a:xfrm>
            <a:off x="2279651" y="188913"/>
            <a:ext cx="7324725" cy="1200150"/>
          </a:xfrm>
        </p:spPr>
        <p:txBody>
          <a:bodyPr/>
          <a:lstStyle/>
          <a:p>
            <a:r>
              <a:rPr lang="en-GB" altLang="en-US"/>
              <a:t>Problems with extracts</a:t>
            </a:r>
          </a:p>
        </p:txBody>
      </p:sp>
      <p:sp>
        <p:nvSpPr>
          <p:cNvPr id="183299" name="Rectangle 1027"/>
          <p:cNvSpPr>
            <a:spLocks noGrp="1" noChangeArrowheads="1"/>
          </p:cNvSpPr>
          <p:nvPr>
            <p:ph type="body" idx="1"/>
          </p:nvPr>
        </p:nvSpPr>
        <p:spPr>
          <a:xfrm>
            <a:off x="2495550" y="1916113"/>
            <a:ext cx="7772400" cy="4114800"/>
          </a:xfrm>
        </p:spPr>
        <p:txBody>
          <a:bodyPr/>
          <a:lstStyle/>
          <a:p>
            <a:pPr>
              <a:lnSpc>
                <a:spcPct val="90000"/>
              </a:lnSpc>
            </a:pPr>
            <a:r>
              <a:rPr lang="en-GB" altLang="en-US" dirty="0">
                <a:latin typeface="Arial" panose="020B0604020202020204" pitchFamily="34" charset="0"/>
              </a:rPr>
              <a:t>Lack of coherence</a:t>
            </a:r>
          </a:p>
          <a:p>
            <a:pPr lvl="1">
              <a:lnSpc>
                <a:spcPct val="90000"/>
              </a:lnSpc>
              <a:buFont typeface="Wingdings" panose="05000000000000000000" pitchFamily="2" charset="2"/>
              <a:buNone/>
            </a:pPr>
            <a:r>
              <a:rPr lang="en-US" altLang="en-US" sz="2000" dirty="0"/>
              <a:t>	</a:t>
            </a:r>
          </a:p>
          <a:p>
            <a:pPr lvl="1">
              <a:lnSpc>
                <a:spcPct val="90000"/>
              </a:lnSpc>
              <a:buFont typeface="Wingdings" panose="05000000000000000000" pitchFamily="2" charset="2"/>
              <a:buNone/>
            </a:pPr>
            <a:r>
              <a:rPr lang="en-US" altLang="en-US" sz="2000" dirty="0">
                <a:latin typeface="Arial" panose="020B0604020202020204" pitchFamily="34" charset="0"/>
              </a:rPr>
              <a:t>    Supermarket A announced a big profit for the third quarter of the year.  The directory studies the creation of new jobs. Meanwhile,  B’s supermarket sales drop by 10% last month.  The company is studying closing down some of its stores. </a:t>
            </a:r>
          </a:p>
          <a:p>
            <a:pPr lvl="1">
              <a:lnSpc>
                <a:spcPct val="90000"/>
              </a:lnSpc>
              <a:buFont typeface="Wingdings" panose="05000000000000000000" pitchFamily="2" charset="2"/>
              <a:buNone/>
            </a:pPr>
            <a:r>
              <a:rPr lang="en-US" altLang="en-US" sz="2000" dirty="0">
                <a:latin typeface="Arial" panose="020B0604020202020204" pitchFamily="34" charset="0"/>
              </a:rPr>
              <a:t>	</a:t>
            </a:r>
          </a:p>
          <a:p>
            <a:pPr lvl="1">
              <a:lnSpc>
                <a:spcPct val="90000"/>
              </a:lnSpc>
              <a:buFont typeface="Wingdings" panose="05000000000000000000" pitchFamily="2" charset="2"/>
              <a:buNone/>
            </a:pPr>
            <a:r>
              <a:rPr lang="en-US" altLang="en-US" sz="2000" dirty="0">
                <a:latin typeface="Arial" panose="020B0604020202020204" pitchFamily="34" charset="0"/>
              </a:rPr>
              <a:t> 	</a:t>
            </a:r>
          </a:p>
          <a:p>
            <a:pPr lvl="1">
              <a:lnSpc>
                <a:spcPct val="90000"/>
              </a:lnSpc>
              <a:buFont typeface="Wingdings" panose="05000000000000000000" pitchFamily="2" charset="2"/>
              <a:buNone/>
            </a:pPr>
            <a:r>
              <a:rPr lang="en-US" altLang="en-US" sz="2000" dirty="0">
                <a:latin typeface="Arial" panose="020B0604020202020204" pitchFamily="34" charset="0"/>
              </a:rPr>
              <a:t>    Supermarket  A announced a big profit for the third quarter of the year. The company is studying closing down some of its stores.  </a:t>
            </a:r>
          </a:p>
          <a:p>
            <a:pPr lvl="1">
              <a:lnSpc>
                <a:spcPct val="90000"/>
              </a:lnSpc>
              <a:buFont typeface="Wingdings" panose="05000000000000000000" pitchFamily="2" charset="2"/>
              <a:buNone/>
            </a:pPr>
            <a:endParaRPr lang="en-GB" altLang="en-US" sz="2000" dirty="0">
              <a:latin typeface="Arial" panose="020B0604020202020204" pitchFamily="34" charset="0"/>
            </a:endParaRPr>
          </a:p>
          <a:p>
            <a:pPr>
              <a:lnSpc>
                <a:spcPct val="90000"/>
              </a:lnSpc>
              <a:buFont typeface="Wingdings" panose="05000000000000000000" pitchFamily="2" charset="2"/>
              <a:buNone/>
            </a:pPr>
            <a:endParaRPr lang="en-GB" altLang="en-US" sz="2000" dirty="0"/>
          </a:p>
          <a:p>
            <a:pPr lvl="1">
              <a:lnSpc>
                <a:spcPct val="90000"/>
              </a:lnSpc>
              <a:buFont typeface="Wingdings" panose="05000000000000000000" pitchFamily="2" charset="2"/>
              <a:buNone/>
            </a:pPr>
            <a:endParaRPr lang="en-GB" altLang="en-US" sz="4000" dirty="0"/>
          </a:p>
        </p:txBody>
      </p:sp>
      <p:sp>
        <p:nvSpPr>
          <p:cNvPr id="46084" name="Text Box 4"/>
          <p:cNvSpPr txBox="1">
            <a:spLocks noChangeArrowheads="1"/>
          </p:cNvSpPr>
          <p:nvPr/>
        </p:nvSpPr>
        <p:spPr bwMode="auto">
          <a:xfrm rot="16200000">
            <a:off x="1800855" y="2893687"/>
            <a:ext cx="922666"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l"/>
            <a:r>
              <a:rPr lang="en-GB" altLang="en-US" sz="2000">
                <a:latin typeface="Tahoma" panose="020B0604030504040204" pitchFamily="34" charset="0"/>
              </a:rPr>
              <a:t>source</a:t>
            </a:r>
          </a:p>
        </p:txBody>
      </p:sp>
      <p:sp>
        <p:nvSpPr>
          <p:cNvPr id="46085" name="Text Box 5"/>
          <p:cNvSpPr txBox="1">
            <a:spLocks noChangeArrowheads="1"/>
          </p:cNvSpPr>
          <p:nvPr/>
        </p:nvSpPr>
        <p:spPr bwMode="auto">
          <a:xfrm rot="16200000">
            <a:off x="1781572" y="5000299"/>
            <a:ext cx="95806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l"/>
            <a:r>
              <a:rPr lang="en-GB" altLang="en-US" sz="2000">
                <a:latin typeface="Tahoma" panose="020B0604030504040204" pitchFamily="34" charset="0"/>
              </a:rPr>
              <a:t>extract</a:t>
            </a:r>
          </a:p>
        </p:txBody>
      </p:sp>
      <p:sp>
        <p:nvSpPr>
          <p:cNvPr id="46086" name="Line 6"/>
          <p:cNvSpPr>
            <a:spLocks noChangeShapeType="1"/>
          </p:cNvSpPr>
          <p:nvPr/>
        </p:nvSpPr>
        <p:spPr bwMode="auto">
          <a:xfrm>
            <a:off x="3359150" y="2997200"/>
            <a:ext cx="68405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46087" name="Line 7"/>
          <p:cNvSpPr>
            <a:spLocks noChangeShapeType="1"/>
          </p:cNvSpPr>
          <p:nvPr/>
        </p:nvSpPr>
        <p:spPr bwMode="auto">
          <a:xfrm>
            <a:off x="3359151" y="3284538"/>
            <a:ext cx="7921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46088" name="Line 8"/>
          <p:cNvSpPr>
            <a:spLocks noChangeShapeType="1"/>
          </p:cNvSpPr>
          <p:nvPr/>
        </p:nvSpPr>
        <p:spPr bwMode="auto">
          <a:xfrm>
            <a:off x="3359150" y="3860800"/>
            <a:ext cx="64087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Tree>
    <p:custDataLst>
      <p:tags r:id="rId1"/>
    </p:custDataLst>
    <p:extLst>
      <p:ext uri="{BB962C8B-B14F-4D97-AF65-F5344CB8AC3E}">
        <p14:creationId xmlns:p14="http://schemas.microsoft.com/office/powerpoint/2010/main" val="19016842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4"/>
                                        </p:tgtEl>
                                        <p:attrNameLst>
                                          <p:attrName>style.visibility</p:attrName>
                                        </p:attrNameLst>
                                      </p:cBhvr>
                                      <p:to>
                                        <p:strVal val="visible"/>
                                      </p:to>
                                    </p:set>
                                    <p:animEffect transition="in" filter="blinds(horizontal)">
                                      <p:cBhvr>
                                        <p:cTn id="7" dur="500"/>
                                        <p:tgtEl>
                                          <p:spTgt spid="460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83299">
                                            <p:txEl>
                                              <p:pRg st="2" end="2"/>
                                            </p:txEl>
                                          </p:spTgt>
                                        </p:tgtEl>
                                        <p:attrNameLst>
                                          <p:attrName>style.visibility</p:attrName>
                                        </p:attrNameLst>
                                      </p:cBhvr>
                                      <p:to>
                                        <p:strVal val="visible"/>
                                      </p:to>
                                    </p:set>
                                    <p:animEffect transition="in" filter="blinds(horizontal)">
                                      <p:cBhvr>
                                        <p:cTn id="12" dur="500"/>
                                        <p:tgtEl>
                                          <p:spTgt spid="1832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6086"/>
                                        </p:tgtEl>
                                        <p:attrNameLst>
                                          <p:attrName>style.visibility</p:attrName>
                                        </p:attrNameLst>
                                      </p:cBhvr>
                                      <p:to>
                                        <p:strVal val="visible"/>
                                      </p:to>
                                    </p:set>
                                    <p:animEffect transition="in" filter="blinds(horizontal)">
                                      <p:cBhvr>
                                        <p:cTn id="17" dur="500"/>
                                        <p:tgtEl>
                                          <p:spTgt spid="46086"/>
                                        </p:tgtEl>
                                      </p:cBhvr>
                                    </p:animEffect>
                                  </p:childTnLst>
                                </p:cTn>
                              </p:par>
                              <p:par>
                                <p:cTn id="18" presetID="3" presetClass="entr" presetSubtype="10" fill="hold" nodeType="withEffect">
                                  <p:stCondLst>
                                    <p:cond delay="0"/>
                                  </p:stCondLst>
                                  <p:childTnLst>
                                    <p:set>
                                      <p:cBhvr>
                                        <p:cTn id="19" dur="1" fill="hold">
                                          <p:stCondLst>
                                            <p:cond delay="0"/>
                                          </p:stCondLst>
                                        </p:cTn>
                                        <p:tgtEl>
                                          <p:spTgt spid="46087"/>
                                        </p:tgtEl>
                                        <p:attrNameLst>
                                          <p:attrName>style.visibility</p:attrName>
                                        </p:attrNameLst>
                                      </p:cBhvr>
                                      <p:to>
                                        <p:strVal val="visible"/>
                                      </p:to>
                                    </p:set>
                                    <p:animEffect transition="in" filter="blinds(horizontal)">
                                      <p:cBhvr>
                                        <p:cTn id="20" dur="500"/>
                                        <p:tgtEl>
                                          <p:spTgt spid="46087"/>
                                        </p:tgtEl>
                                      </p:cBhvr>
                                    </p:animEffect>
                                  </p:childTnLst>
                                </p:cTn>
                              </p:par>
                              <p:par>
                                <p:cTn id="21" presetID="3" presetClass="entr" presetSubtype="10" fill="hold" nodeType="withEffect">
                                  <p:stCondLst>
                                    <p:cond delay="0"/>
                                  </p:stCondLst>
                                  <p:childTnLst>
                                    <p:set>
                                      <p:cBhvr>
                                        <p:cTn id="22" dur="1" fill="hold">
                                          <p:stCondLst>
                                            <p:cond delay="0"/>
                                          </p:stCondLst>
                                        </p:cTn>
                                        <p:tgtEl>
                                          <p:spTgt spid="46088"/>
                                        </p:tgtEl>
                                        <p:attrNameLst>
                                          <p:attrName>style.visibility</p:attrName>
                                        </p:attrNameLst>
                                      </p:cBhvr>
                                      <p:to>
                                        <p:strVal val="visible"/>
                                      </p:to>
                                    </p:set>
                                    <p:animEffect transition="in" filter="blinds(horizontal)">
                                      <p:cBhvr>
                                        <p:cTn id="23" dur="500"/>
                                        <p:tgtEl>
                                          <p:spTgt spid="4608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46085"/>
                                        </p:tgtEl>
                                        <p:attrNameLst>
                                          <p:attrName>style.visibility</p:attrName>
                                        </p:attrNameLst>
                                      </p:cBhvr>
                                      <p:to>
                                        <p:strVal val="visible"/>
                                      </p:to>
                                    </p:set>
                                    <p:animEffect transition="in" filter="blinds(horizontal)">
                                      <p:cBhvr>
                                        <p:cTn id="28" dur="500"/>
                                        <p:tgtEl>
                                          <p:spTgt spid="46085"/>
                                        </p:tgtEl>
                                      </p:cBhvr>
                                    </p:animEffect>
                                  </p:childTnLst>
                                </p:cTn>
                              </p:par>
                              <p:par>
                                <p:cTn id="29" presetID="3" presetClass="entr" presetSubtype="10" fill="hold" nodeType="withEffect">
                                  <p:stCondLst>
                                    <p:cond delay="0"/>
                                  </p:stCondLst>
                                  <p:childTnLst>
                                    <p:set>
                                      <p:cBhvr>
                                        <p:cTn id="30" dur="1" fill="hold">
                                          <p:stCondLst>
                                            <p:cond delay="0"/>
                                          </p:stCondLst>
                                        </p:cTn>
                                        <p:tgtEl>
                                          <p:spTgt spid="183299">
                                            <p:txEl>
                                              <p:pRg st="5" end="5"/>
                                            </p:txEl>
                                          </p:spTgt>
                                        </p:tgtEl>
                                        <p:attrNameLst>
                                          <p:attrName>style.visibility</p:attrName>
                                        </p:attrNameLst>
                                      </p:cBhvr>
                                      <p:to>
                                        <p:strVal val="visible"/>
                                      </p:to>
                                    </p:set>
                                    <p:animEffect transition="in" filter="blinds(horizontal)">
                                      <p:cBhvr>
                                        <p:cTn id="31" dur="500"/>
                                        <p:tgtEl>
                                          <p:spTgt spid="1832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p:bldP spid="4608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0843-A50E-49F4-B3AA-0D243AF0A9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1CBC3F-91FD-4BF1-B394-CF176057823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50692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a:bodyPr>
          <a:lstStyle/>
          <a:p>
            <a:pPr algn="ctr"/>
            <a:r>
              <a:rPr lang="en-US" dirty="0"/>
              <a:t>Cohesion-based Methods</a:t>
            </a:r>
          </a:p>
        </p:txBody>
      </p:sp>
    </p:spTree>
    <p:extLst>
      <p:ext uri="{BB962C8B-B14F-4D97-AF65-F5344CB8AC3E}">
        <p14:creationId xmlns:p14="http://schemas.microsoft.com/office/powerpoint/2010/main" val="3441429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838200" y="365125"/>
            <a:ext cx="10515600" cy="642937"/>
          </a:xfrm>
        </p:spPr>
        <p:txBody>
          <a:bodyPr>
            <a:normAutofit fontScale="90000"/>
          </a:bodyPr>
          <a:lstStyle/>
          <a:p>
            <a:r>
              <a:rPr lang="en-US" altLang="en-US"/>
              <a:t>Cohesion-based methods</a:t>
            </a:r>
          </a:p>
        </p:txBody>
      </p:sp>
      <p:sp>
        <p:nvSpPr>
          <p:cNvPr id="68611" name="Rectangle 3"/>
          <p:cNvSpPr>
            <a:spLocks noGrp="1" noChangeArrowheads="1"/>
          </p:cNvSpPr>
          <p:nvPr>
            <p:ph type="body" idx="1"/>
          </p:nvPr>
        </p:nvSpPr>
        <p:spPr>
          <a:xfrm>
            <a:off x="838199" y="1219200"/>
            <a:ext cx="9835661" cy="4909038"/>
          </a:xfrm>
        </p:spPr>
        <p:txBody>
          <a:bodyPr/>
          <a:lstStyle/>
          <a:p>
            <a:r>
              <a:rPr lang="en-US" altLang="en-US" b="1" dirty="0"/>
              <a:t>Claim</a:t>
            </a:r>
            <a:r>
              <a:rPr lang="en-US" altLang="en-US" dirty="0"/>
              <a:t>:  Important sentences/paragraphs are the highest connected entities in more or less elaborate semantic structures.</a:t>
            </a:r>
          </a:p>
          <a:p>
            <a:r>
              <a:rPr lang="en-US" altLang="en-US" dirty="0"/>
              <a:t>Classes of approaches</a:t>
            </a:r>
          </a:p>
          <a:p>
            <a:pPr lvl="1"/>
            <a:r>
              <a:rPr lang="en-US" altLang="en-US" dirty="0"/>
              <a:t>word co-occurrences; </a:t>
            </a:r>
          </a:p>
          <a:p>
            <a:pPr lvl="1"/>
            <a:r>
              <a:rPr lang="en-US" altLang="en-US" dirty="0"/>
              <a:t>co-reference;</a:t>
            </a:r>
          </a:p>
          <a:p>
            <a:pPr lvl="1"/>
            <a:r>
              <a:rPr lang="en-US" altLang="en-US" dirty="0"/>
              <a:t>lexical similarity (WordNet, lexical chains);</a:t>
            </a:r>
          </a:p>
          <a:p>
            <a:pPr lvl="1"/>
            <a:r>
              <a:rPr lang="en-US" altLang="en-US" dirty="0"/>
              <a:t>combinations of the above.</a:t>
            </a:r>
          </a:p>
          <a:p>
            <a:pPr lvl="1"/>
            <a:endParaRPr lang="en-US" altLang="en-US" dirty="0"/>
          </a:p>
        </p:txBody>
      </p:sp>
      <p:grpSp>
        <p:nvGrpSpPr>
          <p:cNvPr id="6" name="Group 5"/>
          <p:cNvGrpSpPr/>
          <p:nvPr/>
        </p:nvGrpSpPr>
        <p:grpSpPr>
          <a:xfrm>
            <a:off x="8845061" y="2486025"/>
            <a:ext cx="2667000" cy="1687514"/>
            <a:chOff x="6858000" y="2486025"/>
            <a:chExt cx="2667000" cy="1687514"/>
          </a:xfrm>
        </p:grpSpPr>
        <p:cxnSp>
          <p:nvCxnSpPr>
            <p:cNvPr id="68612" name="AutoShape 4"/>
            <p:cNvCxnSpPr>
              <a:cxnSpLocks noChangeShapeType="1"/>
              <a:stCxn id="68611" idx="3"/>
              <a:endCxn id="68611" idx="3"/>
            </p:cNvCxnSpPr>
            <p:nvPr/>
          </p:nvCxnSpPr>
          <p:spPr bwMode="auto">
            <a:xfrm>
              <a:off x="8686799" y="3673719"/>
              <a:ext cx="0" cy="0"/>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13" name="AutoShape 5"/>
            <p:cNvCxnSpPr>
              <a:cxnSpLocks noChangeShapeType="1"/>
              <a:stCxn id="68611" idx="3"/>
              <a:endCxn id="68611" idx="3"/>
            </p:cNvCxnSpPr>
            <p:nvPr/>
          </p:nvCxnSpPr>
          <p:spPr bwMode="auto">
            <a:xfrm>
              <a:off x="8686799" y="3673719"/>
              <a:ext cx="0" cy="0"/>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35" name="AutoShape 27"/>
            <p:cNvSpPr>
              <a:spLocks noChangeArrowheads="1"/>
            </p:cNvSpPr>
            <p:nvPr/>
          </p:nvSpPr>
          <p:spPr bwMode="auto">
            <a:xfrm>
              <a:off x="8763000" y="3986213"/>
              <a:ext cx="76200" cy="93662"/>
            </a:xfrm>
            <a:prstGeom prst="diamond">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51" name="AutoShape 43"/>
            <p:cNvSpPr>
              <a:spLocks noChangeArrowheads="1"/>
            </p:cNvSpPr>
            <p:nvPr/>
          </p:nvSpPr>
          <p:spPr bwMode="auto">
            <a:xfrm>
              <a:off x="8229600" y="3124201"/>
              <a:ext cx="76200" cy="93663"/>
            </a:xfrm>
            <a:prstGeom prst="diamond">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52" name="AutoShape 44"/>
            <p:cNvSpPr>
              <a:spLocks noChangeArrowheads="1"/>
            </p:cNvSpPr>
            <p:nvPr/>
          </p:nvSpPr>
          <p:spPr bwMode="auto">
            <a:xfrm>
              <a:off x="6858000" y="3429001"/>
              <a:ext cx="76200" cy="93663"/>
            </a:xfrm>
            <a:prstGeom prst="diamond">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54" name="AutoShape 46"/>
            <p:cNvSpPr>
              <a:spLocks noChangeArrowheads="1"/>
            </p:cNvSpPr>
            <p:nvPr/>
          </p:nvSpPr>
          <p:spPr bwMode="auto">
            <a:xfrm>
              <a:off x="9372600" y="3217863"/>
              <a:ext cx="76200" cy="93662"/>
            </a:xfrm>
            <a:prstGeom prst="diamond">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55" name="AutoShape 47"/>
            <p:cNvSpPr>
              <a:spLocks noChangeArrowheads="1"/>
            </p:cNvSpPr>
            <p:nvPr/>
          </p:nvSpPr>
          <p:spPr bwMode="auto">
            <a:xfrm>
              <a:off x="9067800" y="2514601"/>
              <a:ext cx="76200" cy="93663"/>
            </a:xfrm>
            <a:prstGeom prst="diamond">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56" name="AutoShape 48"/>
            <p:cNvSpPr>
              <a:spLocks noChangeArrowheads="1"/>
            </p:cNvSpPr>
            <p:nvPr/>
          </p:nvSpPr>
          <p:spPr bwMode="auto">
            <a:xfrm>
              <a:off x="8153400" y="2608263"/>
              <a:ext cx="76200" cy="93662"/>
            </a:xfrm>
            <a:prstGeom prst="diamond">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57" name="AutoShape 49"/>
            <p:cNvSpPr>
              <a:spLocks noChangeArrowheads="1"/>
            </p:cNvSpPr>
            <p:nvPr/>
          </p:nvSpPr>
          <p:spPr bwMode="auto">
            <a:xfrm>
              <a:off x="9448800" y="4079876"/>
              <a:ext cx="76200" cy="93663"/>
            </a:xfrm>
            <a:prstGeom prst="diamond">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68658" name="AutoShape 50"/>
            <p:cNvCxnSpPr>
              <a:cxnSpLocks noChangeShapeType="1"/>
              <a:stCxn id="68656" idx="3"/>
              <a:endCxn id="68651" idx="0"/>
            </p:cNvCxnSpPr>
            <p:nvPr/>
          </p:nvCxnSpPr>
          <p:spPr bwMode="auto">
            <a:xfrm>
              <a:off x="8229600" y="2655888"/>
              <a:ext cx="38100" cy="468312"/>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59" name="AutoShape 51"/>
            <p:cNvCxnSpPr>
              <a:cxnSpLocks noChangeShapeType="1"/>
              <a:stCxn id="68652" idx="1"/>
              <a:endCxn id="68651" idx="0"/>
            </p:cNvCxnSpPr>
            <p:nvPr/>
          </p:nvCxnSpPr>
          <p:spPr bwMode="auto">
            <a:xfrm flipV="1">
              <a:off x="6858000" y="3124201"/>
              <a:ext cx="1409700" cy="352425"/>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60" name="AutoShape 52"/>
            <p:cNvCxnSpPr>
              <a:cxnSpLocks noChangeShapeType="1"/>
            </p:cNvCxnSpPr>
            <p:nvPr/>
          </p:nvCxnSpPr>
          <p:spPr bwMode="auto">
            <a:xfrm>
              <a:off x="8267700" y="3162301"/>
              <a:ext cx="533400" cy="862013"/>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61" name="AutoShape 53"/>
            <p:cNvCxnSpPr>
              <a:cxnSpLocks noChangeShapeType="1"/>
              <a:stCxn id="68655" idx="3"/>
              <a:endCxn id="68651" idx="0"/>
            </p:cNvCxnSpPr>
            <p:nvPr/>
          </p:nvCxnSpPr>
          <p:spPr bwMode="auto">
            <a:xfrm flipH="1">
              <a:off x="8267700" y="2562226"/>
              <a:ext cx="876300" cy="561975"/>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62" name="AutoShape 54"/>
            <p:cNvCxnSpPr>
              <a:cxnSpLocks noChangeShapeType="1"/>
              <a:stCxn id="68655" idx="3"/>
              <a:endCxn id="68654" idx="0"/>
            </p:cNvCxnSpPr>
            <p:nvPr/>
          </p:nvCxnSpPr>
          <p:spPr bwMode="auto">
            <a:xfrm>
              <a:off x="9144000" y="2562225"/>
              <a:ext cx="266700" cy="655638"/>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63" name="AutoShape 55"/>
            <p:cNvCxnSpPr>
              <a:cxnSpLocks noChangeShapeType="1"/>
              <a:stCxn id="68655" idx="3"/>
              <a:endCxn id="68657" idx="0"/>
            </p:cNvCxnSpPr>
            <p:nvPr/>
          </p:nvCxnSpPr>
          <p:spPr bwMode="auto">
            <a:xfrm>
              <a:off x="9144000" y="2562225"/>
              <a:ext cx="342900" cy="1517650"/>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64" name="AutoShape 56"/>
            <p:cNvCxnSpPr>
              <a:cxnSpLocks noChangeShapeType="1"/>
              <a:stCxn id="68654" idx="3"/>
              <a:endCxn id="68657" idx="0"/>
            </p:cNvCxnSpPr>
            <p:nvPr/>
          </p:nvCxnSpPr>
          <p:spPr bwMode="auto">
            <a:xfrm>
              <a:off x="9448800" y="3265489"/>
              <a:ext cx="38100" cy="814387"/>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66" name="AutoShape 58"/>
            <p:cNvSpPr>
              <a:spLocks noChangeArrowheads="1"/>
            </p:cNvSpPr>
            <p:nvPr/>
          </p:nvSpPr>
          <p:spPr bwMode="auto">
            <a:xfrm>
              <a:off x="9017000" y="2486025"/>
              <a:ext cx="266700" cy="2286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67" name="AutoShape 59"/>
            <p:cNvSpPr>
              <a:spLocks noChangeArrowheads="1"/>
            </p:cNvSpPr>
            <p:nvPr/>
          </p:nvSpPr>
          <p:spPr bwMode="auto">
            <a:xfrm>
              <a:off x="8153400" y="3036888"/>
              <a:ext cx="266700" cy="2286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25459943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Word co-occurrences</a:t>
            </a:r>
          </a:p>
        </p:txBody>
      </p:sp>
      <p:sp>
        <p:nvSpPr>
          <p:cNvPr id="3" name="Content Placeholder 2"/>
          <p:cNvSpPr>
            <a:spLocks noGrp="1"/>
          </p:cNvSpPr>
          <p:nvPr>
            <p:ph idx="1"/>
          </p:nvPr>
        </p:nvSpPr>
        <p:spPr>
          <a:xfrm>
            <a:off x="838200" y="1825624"/>
            <a:ext cx="10515600" cy="4531213"/>
          </a:xfrm>
        </p:spPr>
        <p:txBody>
          <a:bodyPr>
            <a:normAutofit fontScale="85000" lnSpcReduction="20000"/>
          </a:bodyPr>
          <a:lstStyle/>
          <a:p>
            <a:r>
              <a:rPr lang="en-GB" altLang="en-US" dirty="0"/>
              <a:t>Link two sentences if</a:t>
            </a:r>
          </a:p>
          <a:p>
            <a:pPr lvl="1"/>
            <a:r>
              <a:rPr lang="en-GB" altLang="en-US" dirty="0"/>
              <a:t>they contain words related by repetition, synonymy, class/superclass (</a:t>
            </a:r>
            <a:r>
              <a:rPr lang="en-GB" altLang="en-US" dirty="0" err="1"/>
              <a:t>hypernymy</a:t>
            </a:r>
            <a:r>
              <a:rPr lang="en-GB" altLang="en-US" dirty="0"/>
              <a:t>), paraphrase</a:t>
            </a:r>
          </a:p>
          <a:p>
            <a:pPr lvl="2"/>
            <a:r>
              <a:rPr lang="en-GB" altLang="en-US" i="1" dirty="0"/>
              <a:t>destruct</a:t>
            </a:r>
            <a:r>
              <a:rPr lang="en-GB" altLang="en-US" dirty="0"/>
              <a:t> ~ </a:t>
            </a:r>
            <a:r>
              <a:rPr lang="en-GB" altLang="en-US" i="1" dirty="0"/>
              <a:t>destruction</a:t>
            </a:r>
          </a:p>
          <a:p>
            <a:pPr lvl="1"/>
            <a:r>
              <a:rPr lang="en-GB" altLang="en-US" dirty="0"/>
              <a:t>use thesaurus (i.e., related words) </a:t>
            </a:r>
          </a:p>
          <a:p>
            <a:r>
              <a:rPr lang="en-GB" altLang="en-US" dirty="0"/>
              <a:t>Pruning: links(s</a:t>
            </a:r>
            <a:r>
              <a:rPr lang="en-GB" altLang="en-US" baseline="-25000" dirty="0"/>
              <a:t>i</a:t>
            </a:r>
            <a:r>
              <a:rPr lang="en-GB" altLang="en-US" dirty="0"/>
              <a:t>, </a:t>
            </a:r>
            <a:r>
              <a:rPr lang="en-GB" altLang="en-US" dirty="0" err="1"/>
              <a:t>s</a:t>
            </a:r>
            <a:r>
              <a:rPr lang="en-GB" altLang="en-US" baseline="-25000" dirty="0" err="1"/>
              <a:t>j</a:t>
            </a:r>
            <a:r>
              <a:rPr lang="en-GB" altLang="en-US" dirty="0"/>
              <a:t>) &gt; threshold =&gt; bond (s</a:t>
            </a:r>
            <a:r>
              <a:rPr lang="en-GB" altLang="en-US" baseline="-25000" dirty="0"/>
              <a:t>i</a:t>
            </a:r>
            <a:r>
              <a:rPr lang="en-GB" altLang="en-US" dirty="0"/>
              <a:t>, </a:t>
            </a:r>
            <a:r>
              <a:rPr lang="en-GB" altLang="en-US" dirty="0" err="1"/>
              <a:t>s</a:t>
            </a:r>
            <a:r>
              <a:rPr lang="en-GB" altLang="en-US" baseline="-25000" dirty="0" err="1"/>
              <a:t>j</a:t>
            </a:r>
            <a:r>
              <a:rPr lang="en-GB" altLang="en-US" dirty="0"/>
              <a:t>)</a:t>
            </a:r>
          </a:p>
          <a:p>
            <a:r>
              <a:rPr lang="en-GB" altLang="en-US" sz="2400" dirty="0"/>
              <a:t>Classify sentences as</a:t>
            </a:r>
          </a:p>
          <a:p>
            <a:pPr lvl="1"/>
            <a:r>
              <a:rPr lang="en-GB" altLang="en-US" dirty="0"/>
              <a:t>start topic, middle topic, end of topic, according to the number of links </a:t>
            </a:r>
          </a:p>
          <a:p>
            <a:pPr lvl="1"/>
            <a:r>
              <a:rPr lang="en-GB" altLang="en-US" dirty="0"/>
              <a:t>this is based on the number of links </a:t>
            </a:r>
            <a:r>
              <a:rPr lang="en-GB" altLang="en-US" u="sng" dirty="0"/>
              <a:t>to</a:t>
            </a:r>
            <a:r>
              <a:rPr lang="en-GB" altLang="en-US" dirty="0"/>
              <a:t> and </a:t>
            </a:r>
            <a:r>
              <a:rPr lang="en-GB" altLang="en-US" u="sng" dirty="0"/>
              <a:t>from</a:t>
            </a:r>
            <a:r>
              <a:rPr lang="en-GB" altLang="en-US" dirty="0"/>
              <a:t> a given sentence </a:t>
            </a:r>
          </a:p>
          <a:p>
            <a:pPr lvl="1"/>
            <a:endParaRPr lang="en-GB" altLang="en-US" dirty="0"/>
          </a:p>
          <a:p>
            <a:pPr lvl="1"/>
            <a:endParaRPr lang="en-GB" altLang="en-US" dirty="0"/>
          </a:p>
          <a:p>
            <a:pPr lvl="1"/>
            <a:endParaRPr lang="en-GB" altLang="en-US" dirty="0"/>
          </a:p>
          <a:p>
            <a:pPr lvl="1"/>
            <a:endParaRPr lang="en-GB" altLang="en-US" dirty="0"/>
          </a:p>
          <a:p>
            <a:endParaRPr lang="en-GB" altLang="en-US" sz="2400" dirty="0"/>
          </a:p>
          <a:p>
            <a:r>
              <a:rPr lang="en-GB" altLang="en-US" sz="2400" dirty="0"/>
              <a:t>Summaries are obtained by extracting sentences that open-continue-end a topic</a:t>
            </a:r>
          </a:p>
          <a:p>
            <a:pPr>
              <a:buNone/>
            </a:pPr>
            <a:endParaRPr lang="en-GB" altLang="en-US" sz="2400" dirty="0"/>
          </a:p>
        </p:txBody>
      </p:sp>
      <p:grpSp>
        <p:nvGrpSpPr>
          <p:cNvPr id="4" name="Group 3"/>
          <p:cNvGrpSpPr>
            <a:grpSpLocks/>
          </p:cNvGrpSpPr>
          <p:nvPr/>
        </p:nvGrpSpPr>
        <p:grpSpPr bwMode="auto">
          <a:xfrm>
            <a:off x="1623402" y="4515225"/>
            <a:ext cx="8083557" cy="1362077"/>
            <a:chOff x="262" y="3071"/>
            <a:chExt cx="5092" cy="858"/>
          </a:xfrm>
        </p:grpSpPr>
        <p:sp>
          <p:nvSpPr>
            <p:cNvPr id="5" name="Oval 4"/>
            <p:cNvSpPr>
              <a:spLocks noChangeArrowheads="1"/>
            </p:cNvSpPr>
            <p:nvPr/>
          </p:nvSpPr>
          <p:spPr bwMode="auto">
            <a:xfrm>
              <a:off x="4468" y="3294"/>
              <a:ext cx="363" cy="2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GB" altLang="en-US">
                  <a:latin typeface="Tahoma" panose="020B0604030504040204" pitchFamily="34" charset="0"/>
                </a:rPr>
                <a:t>E</a:t>
              </a:r>
            </a:p>
          </p:txBody>
        </p:sp>
        <p:grpSp>
          <p:nvGrpSpPr>
            <p:cNvPr id="6" name="Group 5"/>
            <p:cNvGrpSpPr>
              <a:grpSpLocks/>
            </p:cNvGrpSpPr>
            <p:nvPr/>
          </p:nvGrpSpPr>
          <p:grpSpPr bwMode="auto">
            <a:xfrm>
              <a:off x="262" y="3071"/>
              <a:ext cx="5092" cy="858"/>
              <a:chOff x="262" y="3040"/>
              <a:chExt cx="5092" cy="858"/>
            </a:xfrm>
          </p:grpSpPr>
          <p:sp>
            <p:nvSpPr>
              <p:cNvPr id="7" name="Freeform 20"/>
              <p:cNvSpPr>
                <a:spLocks/>
              </p:cNvSpPr>
              <p:nvPr/>
            </p:nvSpPr>
            <p:spPr bwMode="auto">
              <a:xfrm>
                <a:off x="968" y="3464"/>
                <a:ext cx="1944" cy="434"/>
              </a:xfrm>
              <a:custGeom>
                <a:avLst/>
                <a:gdLst>
                  <a:gd name="T0" fmla="*/ 0 w 1944"/>
                  <a:gd name="T1" fmla="*/ 112 h 434"/>
                  <a:gd name="T2" fmla="*/ 80 w 1944"/>
                  <a:gd name="T3" fmla="*/ 208 h 434"/>
                  <a:gd name="T4" fmla="*/ 128 w 1944"/>
                  <a:gd name="T5" fmla="*/ 232 h 434"/>
                  <a:gd name="T6" fmla="*/ 152 w 1944"/>
                  <a:gd name="T7" fmla="*/ 264 h 434"/>
                  <a:gd name="T8" fmla="*/ 256 w 1944"/>
                  <a:gd name="T9" fmla="*/ 304 h 434"/>
                  <a:gd name="T10" fmla="*/ 304 w 1944"/>
                  <a:gd name="T11" fmla="*/ 336 h 434"/>
                  <a:gd name="T12" fmla="*/ 424 w 1944"/>
                  <a:gd name="T13" fmla="*/ 368 h 434"/>
                  <a:gd name="T14" fmla="*/ 552 w 1944"/>
                  <a:gd name="T15" fmla="*/ 408 h 434"/>
                  <a:gd name="T16" fmla="*/ 1304 w 1944"/>
                  <a:gd name="T17" fmla="*/ 384 h 434"/>
                  <a:gd name="T18" fmla="*/ 1440 w 1944"/>
                  <a:gd name="T19" fmla="*/ 320 h 434"/>
                  <a:gd name="T20" fmla="*/ 1560 w 1944"/>
                  <a:gd name="T21" fmla="*/ 232 h 434"/>
                  <a:gd name="T22" fmla="*/ 1664 w 1944"/>
                  <a:gd name="T23" fmla="*/ 144 h 434"/>
                  <a:gd name="T24" fmla="*/ 1688 w 1944"/>
                  <a:gd name="T25" fmla="*/ 96 h 434"/>
                  <a:gd name="T26" fmla="*/ 1912 w 1944"/>
                  <a:gd name="T27" fmla="*/ 72 h 434"/>
                  <a:gd name="T28" fmla="*/ 1944 w 1944"/>
                  <a:gd name="T29" fmla="*/ 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44" h="434">
                    <a:moveTo>
                      <a:pt x="0" y="112"/>
                    </a:moveTo>
                    <a:cubicBezTo>
                      <a:pt x="12" y="148"/>
                      <a:pt x="47" y="189"/>
                      <a:pt x="80" y="208"/>
                    </a:cubicBezTo>
                    <a:cubicBezTo>
                      <a:pt x="110" y="225"/>
                      <a:pt x="100" y="204"/>
                      <a:pt x="128" y="232"/>
                    </a:cubicBezTo>
                    <a:cubicBezTo>
                      <a:pt x="137" y="241"/>
                      <a:pt x="141" y="256"/>
                      <a:pt x="152" y="264"/>
                    </a:cubicBezTo>
                    <a:cubicBezTo>
                      <a:pt x="164" y="273"/>
                      <a:pt x="235" y="292"/>
                      <a:pt x="256" y="304"/>
                    </a:cubicBezTo>
                    <a:cubicBezTo>
                      <a:pt x="273" y="313"/>
                      <a:pt x="288" y="325"/>
                      <a:pt x="304" y="336"/>
                    </a:cubicBezTo>
                    <a:cubicBezTo>
                      <a:pt x="327" y="351"/>
                      <a:pt x="395" y="362"/>
                      <a:pt x="424" y="368"/>
                    </a:cubicBezTo>
                    <a:cubicBezTo>
                      <a:pt x="467" y="397"/>
                      <a:pt x="499" y="401"/>
                      <a:pt x="552" y="408"/>
                    </a:cubicBezTo>
                    <a:cubicBezTo>
                      <a:pt x="826" y="405"/>
                      <a:pt x="1054" y="434"/>
                      <a:pt x="1304" y="384"/>
                    </a:cubicBezTo>
                    <a:cubicBezTo>
                      <a:pt x="1348" y="355"/>
                      <a:pt x="1397" y="349"/>
                      <a:pt x="1440" y="320"/>
                    </a:cubicBezTo>
                    <a:cubicBezTo>
                      <a:pt x="1485" y="253"/>
                      <a:pt x="1495" y="254"/>
                      <a:pt x="1560" y="232"/>
                    </a:cubicBezTo>
                    <a:cubicBezTo>
                      <a:pt x="1590" y="187"/>
                      <a:pt x="1611" y="162"/>
                      <a:pt x="1664" y="144"/>
                    </a:cubicBezTo>
                    <a:cubicBezTo>
                      <a:pt x="1674" y="129"/>
                      <a:pt x="1672" y="105"/>
                      <a:pt x="1688" y="96"/>
                    </a:cubicBezTo>
                    <a:cubicBezTo>
                      <a:pt x="1734" y="71"/>
                      <a:pt x="1900" y="73"/>
                      <a:pt x="1912" y="72"/>
                    </a:cubicBezTo>
                    <a:cubicBezTo>
                      <a:pt x="1918" y="42"/>
                      <a:pt x="1916" y="14"/>
                      <a:pt x="1944" y="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grpSp>
            <p:nvGrpSpPr>
              <p:cNvPr id="8" name="Group 7"/>
              <p:cNvGrpSpPr>
                <a:grpSpLocks/>
              </p:cNvGrpSpPr>
              <p:nvPr/>
            </p:nvGrpSpPr>
            <p:grpSpPr bwMode="auto">
              <a:xfrm>
                <a:off x="262" y="3040"/>
                <a:ext cx="5092" cy="526"/>
                <a:chOff x="262" y="3067"/>
                <a:chExt cx="5092" cy="526"/>
              </a:xfrm>
            </p:grpSpPr>
            <p:sp>
              <p:nvSpPr>
                <p:cNvPr id="9" name="Oval 8"/>
                <p:cNvSpPr>
                  <a:spLocks noChangeArrowheads="1"/>
                </p:cNvSpPr>
                <p:nvPr/>
              </p:nvSpPr>
              <p:spPr bwMode="auto">
                <a:xfrm>
                  <a:off x="703" y="3339"/>
                  <a:ext cx="363" cy="2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GB" altLang="en-US">
                      <a:latin typeface="Tahoma" panose="020B0604030504040204" pitchFamily="34" charset="0"/>
                    </a:rPr>
                    <a:t>A</a:t>
                  </a:r>
                </a:p>
              </p:txBody>
            </p:sp>
            <p:sp>
              <p:nvSpPr>
                <p:cNvPr id="10" name="Oval 9"/>
                <p:cNvSpPr>
                  <a:spLocks noChangeArrowheads="1"/>
                </p:cNvSpPr>
                <p:nvPr/>
              </p:nvSpPr>
              <p:spPr bwMode="auto">
                <a:xfrm>
                  <a:off x="1701" y="3339"/>
                  <a:ext cx="363" cy="2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GB" altLang="en-US">
                      <a:latin typeface="Tahoma" panose="020B0604030504040204" pitchFamily="34" charset="0"/>
                    </a:rPr>
                    <a:t>B</a:t>
                  </a:r>
                </a:p>
              </p:txBody>
            </p:sp>
            <p:sp>
              <p:nvSpPr>
                <p:cNvPr id="11" name="Oval 10"/>
                <p:cNvSpPr>
                  <a:spLocks noChangeArrowheads="1"/>
                </p:cNvSpPr>
                <p:nvPr/>
              </p:nvSpPr>
              <p:spPr bwMode="auto">
                <a:xfrm>
                  <a:off x="2925" y="3339"/>
                  <a:ext cx="363" cy="2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GB" altLang="en-US">
                      <a:latin typeface="Tahoma" panose="020B0604030504040204" pitchFamily="34" charset="0"/>
                    </a:rPr>
                    <a:t>D</a:t>
                  </a:r>
                </a:p>
              </p:txBody>
            </p:sp>
            <p:sp>
              <p:nvSpPr>
                <p:cNvPr id="12" name="Freeform 25"/>
                <p:cNvSpPr>
                  <a:spLocks/>
                </p:cNvSpPr>
                <p:nvPr/>
              </p:nvSpPr>
              <p:spPr bwMode="auto">
                <a:xfrm>
                  <a:off x="880" y="3176"/>
                  <a:ext cx="884" cy="197"/>
                </a:xfrm>
                <a:custGeom>
                  <a:avLst/>
                  <a:gdLst>
                    <a:gd name="T0" fmla="*/ 0 w 884"/>
                    <a:gd name="T1" fmla="*/ 176 h 197"/>
                    <a:gd name="T2" fmla="*/ 40 w 884"/>
                    <a:gd name="T3" fmla="*/ 72 h 197"/>
                    <a:gd name="T4" fmla="*/ 112 w 884"/>
                    <a:gd name="T5" fmla="*/ 40 h 197"/>
                    <a:gd name="T6" fmla="*/ 320 w 884"/>
                    <a:gd name="T7" fmla="*/ 0 h 197"/>
                    <a:gd name="T8" fmla="*/ 656 w 884"/>
                    <a:gd name="T9" fmla="*/ 8 h 197"/>
                    <a:gd name="T10" fmla="*/ 720 w 884"/>
                    <a:gd name="T11" fmla="*/ 16 h 197"/>
                    <a:gd name="T12" fmla="*/ 728 w 884"/>
                    <a:gd name="T13" fmla="*/ 40 h 197"/>
                    <a:gd name="T14" fmla="*/ 792 w 884"/>
                    <a:gd name="T15" fmla="*/ 136 h 197"/>
                    <a:gd name="T16" fmla="*/ 800 w 884"/>
                    <a:gd name="T17" fmla="*/ 160 h 197"/>
                    <a:gd name="T18" fmla="*/ 872 w 884"/>
                    <a:gd name="T19" fmla="*/ 18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4" h="197">
                      <a:moveTo>
                        <a:pt x="0" y="176"/>
                      </a:moveTo>
                      <a:cubicBezTo>
                        <a:pt x="9" y="148"/>
                        <a:pt x="18" y="94"/>
                        <a:pt x="40" y="72"/>
                      </a:cubicBezTo>
                      <a:cubicBezTo>
                        <a:pt x="59" y="53"/>
                        <a:pt x="88" y="48"/>
                        <a:pt x="112" y="40"/>
                      </a:cubicBezTo>
                      <a:cubicBezTo>
                        <a:pt x="181" y="17"/>
                        <a:pt x="248" y="12"/>
                        <a:pt x="320" y="0"/>
                      </a:cubicBezTo>
                      <a:cubicBezTo>
                        <a:pt x="432" y="3"/>
                        <a:pt x="544" y="4"/>
                        <a:pt x="656" y="8"/>
                      </a:cubicBezTo>
                      <a:cubicBezTo>
                        <a:pt x="677" y="9"/>
                        <a:pt x="700" y="7"/>
                        <a:pt x="720" y="16"/>
                      </a:cubicBezTo>
                      <a:cubicBezTo>
                        <a:pt x="728" y="19"/>
                        <a:pt x="724" y="32"/>
                        <a:pt x="728" y="40"/>
                      </a:cubicBezTo>
                      <a:cubicBezTo>
                        <a:pt x="746" y="76"/>
                        <a:pt x="763" y="107"/>
                        <a:pt x="792" y="136"/>
                      </a:cubicBezTo>
                      <a:cubicBezTo>
                        <a:pt x="795" y="144"/>
                        <a:pt x="792" y="157"/>
                        <a:pt x="800" y="160"/>
                      </a:cubicBezTo>
                      <a:cubicBezTo>
                        <a:pt x="884" y="197"/>
                        <a:pt x="850" y="141"/>
                        <a:pt x="872" y="184"/>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3" name="Freeform 26"/>
                <p:cNvSpPr>
                  <a:spLocks/>
                </p:cNvSpPr>
                <p:nvPr/>
              </p:nvSpPr>
              <p:spPr bwMode="auto">
                <a:xfrm>
                  <a:off x="2000" y="3224"/>
                  <a:ext cx="980" cy="152"/>
                </a:xfrm>
                <a:custGeom>
                  <a:avLst/>
                  <a:gdLst>
                    <a:gd name="T0" fmla="*/ 0 w 980"/>
                    <a:gd name="T1" fmla="*/ 152 h 152"/>
                    <a:gd name="T2" fmla="*/ 184 w 980"/>
                    <a:gd name="T3" fmla="*/ 72 h 152"/>
                    <a:gd name="T4" fmla="*/ 368 w 980"/>
                    <a:gd name="T5" fmla="*/ 0 h 152"/>
                    <a:gd name="T6" fmla="*/ 752 w 980"/>
                    <a:gd name="T7" fmla="*/ 8 h 152"/>
                    <a:gd name="T8" fmla="*/ 816 w 980"/>
                    <a:gd name="T9" fmla="*/ 24 h 152"/>
                    <a:gd name="T10" fmla="*/ 840 w 980"/>
                    <a:gd name="T11" fmla="*/ 40 h 152"/>
                    <a:gd name="T12" fmla="*/ 864 w 980"/>
                    <a:gd name="T13" fmla="*/ 48 h 152"/>
                    <a:gd name="T14" fmla="*/ 912 w 980"/>
                    <a:gd name="T15" fmla="*/ 80 h 152"/>
                    <a:gd name="T16" fmla="*/ 952 w 980"/>
                    <a:gd name="T17" fmla="*/ 120 h 152"/>
                    <a:gd name="T18" fmla="*/ 976 w 980"/>
                    <a:gd name="T19" fmla="*/ 128 h 152"/>
                    <a:gd name="T20" fmla="*/ 976 w 980"/>
                    <a:gd name="T21" fmla="*/ 14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80" h="152">
                      <a:moveTo>
                        <a:pt x="0" y="152"/>
                      </a:moveTo>
                      <a:cubicBezTo>
                        <a:pt x="23" y="82"/>
                        <a:pt x="123" y="79"/>
                        <a:pt x="184" y="72"/>
                      </a:cubicBezTo>
                      <a:cubicBezTo>
                        <a:pt x="246" y="51"/>
                        <a:pt x="307" y="24"/>
                        <a:pt x="368" y="0"/>
                      </a:cubicBezTo>
                      <a:cubicBezTo>
                        <a:pt x="496" y="3"/>
                        <a:pt x="624" y="1"/>
                        <a:pt x="752" y="8"/>
                      </a:cubicBezTo>
                      <a:cubicBezTo>
                        <a:pt x="774" y="9"/>
                        <a:pt x="816" y="24"/>
                        <a:pt x="816" y="24"/>
                      </a:cubicBezTo>
                      <a:cubicBezTo>
                        <a:pt x="824" y="29"/>
                        <a:pt x="831" y="36"/>
                        <a:pt x="840" y="40"/>
                      </a:cubicBezTo>
                      <a:cubicBezTo>
                        <a:pt x="848" y="44"/>
                        <a:pt x="857" y="44"/>
                        <a:pt x="864" y="48"/>
                      </a:cubicBezTo>
                      <a:cubicBezTo>
                        <a:pt x="881" y="57"/>
                        <a:pt x="912" y="80"/>
                        <a:pt x="912" y="80"/>
                      </a:cubicBezTo>
                      <a:cubicBezTo>
                        <a:pt x="928" y="104"/>
                        <a:pt x="925" y="107"/>
                        <a:pt x="952" y="120"/>
                      </a:cubicBezTo>
                      <a:cubicBezTo>
                        <a:pt x="960" y="124"/>
                        <a:pt x="970" y="122"/>
                        <a:pt x="976" y="128"/>
                      </a:cubicBezTo>
                      <a:cubicBezTo>
                        <a:pt x="980" y="132"/>
                        <a:pt x="976" y="139"/>
                        <a:pt x="976" y="144"/>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4" name="Freeform 27"/>
                <p:cNvSpPr>
                  <a:spLocks/>
                </p:cNvSpPr>
                <p:nvPr/>
              </p:nvSpPr>
              <p:spPr bwMode="auto">
                <a:xfrm>
                  <a:off x="4024" y="3089"/>
                  <a:ext cx="648" cy="199"/>
                </a:xfrm>
                <a:custGeom>
                  <a:avLst/>
                  <a:gdLst>
                    <a:gd name="T0" fmla="*/ 648 w 648"/>
                    <a:gd name="T1" fmla="*/ 199 h 199"/>
                    <a:gd name="T2" fmla="*/ 544 w 648"/>
                    <a:gd name="T3" fmla="*/ 103 h 199"/>
                    <a:gd name="T4" fmla="*/ 496 w 648"/>
                    <a:gd name="T5" fmla="*/ 71 h 199"/>
                    <a:gd name="T6" fmla="*/ 480 w 648"/>
                    <a:gd name="T7" fmla="*/ 47 h 199"/>
                    <a:gd name="T8" fmla="*/ 424 w 648"/>
                    <a:gd name="T9" fmla="*/ 31 h 199"/>
                    <a:gd name="T10" fmla="*/ 360 w 648"/>
                    <a:gd name="T11" fmla="*/ 7 h 199"/>
                    <a:gd name="T12" fmla="*/ 144 w 648"/>
                    <a:gd name="T13" fmla="*/ 31 h 199"/>
                    <a:gd name="T14" fmla="*/ 0 w 648"/>
                    <a:gd name="T15" fmla="*/ 135 h 1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8" h="199">
                      <a:moveTo>
                        <a:pt x="648" y="199"/>
                      </a:moveTo>
                      <a:cubicBezTo>
                        <a:pt x="606" y="137"/>
                        <a:pt x="608" y="139"/>
                        <a:pt x="544" y="103"/>
                      </a:cubicBezTo>
                      <a:cubicBezTo>
                        <a:pt x="527" y="94"/>
                        <a:pt x="496" y="71"/>
                        <a:pt x="496" y="71"/>
                      </a:cubicBezTo>
                      <a:cubicBezTo>
                        <a:pt x="491" y="63"/>
                        <a:pt x="488" y="53"/>
                        <a:pt x="480" y="47"/>
                      </a:cubicBezTo>
                      <a:cubicBezTo>
                        <a:pt x="474" y="42"/>
                        <a:pt x="427" y="32"/>
                        <a:pt x="424" y="31"/>
                      </a:cubicBezTo>
                      <a:cubicBezTo>
                        <a:pt x="340" y="0"/>
                        <a:pt x="442" y="28"/>
                        <a:pt x="360" y="7"/>
                      </a:cubicBezTo>
                      <a:cubicBezTo>
                        <a:pt x="259" y="13"/>
                        <a:pt x="227" y="17"/>
                        <a:pt x="144" y="31"/>
                      </a:cubicBezTo>
                      <a:cubicBezTo>
                        <a:pt x="97" y="62"/>
                        <a:pt x="64" y="135"/>
                        <a:pt x="0" y="135"/>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5" name="Freeform 28"/>
                <p:cNvSpPr>
                  <a:spLocks/>
                </p:cNvSpPr>
                <p:nvPr/>
              </p:nvSpPr>
              <p:spPr bwMode="auto">
                <a:xfrm>
                  <a:off x="4088" y="3456"/>
                  <a:ext cx="384" cy="137"/>
                </a:xfrm>
                <a:custGeom>
                  <a:avLst/>
                  <a:gdLst>
                    <a:gd name="T0" fmla="*/ 0 w 384"/>
                    <a:gd name="T1" fmla="*/ 136 h 137"/>
                    <a:gd name="T2" fmla="*/ 288 w 384"/>
                    <a:gd name="T3" fmla="*/ 112 h 137"/>
                    <a:gd name="T4" fmla="*/ 368 w 384"/>
                    <a:gd name="T5" fmla="*/ 48 h 137"/>
                    <a:gd name="T6" fmla="*/ 384 w 384"/>
                    <a:gd name="T7" fmla="*/ 0 h 137"/>
                  </a:gdLst>
                  <a:ahLst/>
                  <a:cxnLst>
                    <a:cxn ang="0">
                      <a:pos x="T0" y="T1"/>
                    </a:cxn>
                    <a:cxn ang="0">
                      <a:pos x="T2" y="T3"/>
                    </a:cxn>
                    <a:cxn ang="0">
                      <a:pos x="T4" y="T5"/>
                    </a:cxn>
                    <a:cxn ang="0">
                      <a:pos x="T6" y="T7"/>
                    </a:cxn>
                  </a:cxnLst>
                  <a:rect l="0" t="0" r="r" b="b"/>
                  <a:pathLst>
                    <a:path w="384" h="137">
                      <a:moveTo>
                        <a:pt x="0" y="136"/>
                      </a:moveTo>
                      <a:cubicBezTo>
                        <a:pt x="122" y="131"/>
                        <a:pt x="187" y="137"/>
                        <a:pt x="288" y="112"/>
                      </a:cubicBezTo>
                      <a:cubicBezTo>
                        <a:pt x="301" y="73"/>
                        <a:pt x="332" y="60"/>
                        <a:pt x="368" y="48"/>
                      </a:cubicBezTo>
                      <a:cubicBezTo>
                        <a:pt x="373" y="32"/>
                        <a:pt x="384" y="0"/>
                        <a:pt x="384" y="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6" name="Freeform 29"/>
                <p:cNvSpPr>
                  <a:spLocks/>
                </p:cNvSpPr>
                <p:nvPr/>
              </p:nvSpPr>
              <p:spPr bwMode="auto">
                <a:xfrm>
                  <a:off x="3928" y="3267"/>
                  <a:ext cx="576" cy="93"/>
                </a:xfrm>
                <a:custGeom>
                  <a:avLst/>
                  <a:gdLst>
                    <a:gd name="T0" fmla="*/ 0 w 576"/>
                    <a:gd name="T1" fmla="*/ 93 h 93"/>
                    <a:gd name="T2" fmla="*/ 544 w 576"/>
                    <a:gd name="T3" fmla="*/ 77 h 93"/>
                    <a:gd name="T4" fmla="*/ 576 w 576"/>
                    <a:gd name="T5" fmla="*/ 93 h 93"/>
                  </a:gdLst>
                  <a:ahLst/>
                  <a:cxnLst>
                    <a:cxn ang="0">
                      <a:pos x="T0" y="T1"/>
                    </a:cxn>
                    <a:cxn ang="0">
                      <a:pos x="T2" y="T3"/>
                    </a:cxn>
                    <a:cxn ang="0">
                      <a:pos x="T4" y="T5"/>
                    </a:cxn>
                  </a:cxnLst>
                  <a:rect l="0" t="0" r="r" b="b"/>
                  <a:pathLst>
                    <a:path w="576" h="93">
                      <a:moveTo>
                        <a:pt x="0" y="93"/>
                      </a:moveTo>
                      <a:cubicBezTo>
                        <a:pt x="140" y="0"/>
                        <a:pt x="535" y="77"/>
                        <a:pt x="544" y="77"/>
                      </a:cubicBezTo>
                      <a:cubicBezTo>
                        <a:pt x="572" y="86"/>
                        <a:pt x="562" y="79"/>
                        <a:pt x="576" y="9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7" name="Text Box 30"/>
                <p:cNvSpPr txBox="1">
                  <a:spLocks noChangeArrowheads="1"/>
                </p:cNvSpPr>
                <p:nvPr/>
              </p:nvSpPr>
              <p:spPr bwMode="auto">
                <a:xfrm>
                  <a:off x="262" y="3339"/>
                  <a:ext cx="4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GB" altLang="en-US">
                      <a:latin typeface="Tahoma" panose="020B0604030504040204" pitchFamily="34" charset="0"/>
                    </a:rPr>
                    <a:t>start</a:t>
                  </a:r>
                </a:p>
              </p:txBody>
            </p:sp>
            <p:sp>
              <p:nvSpPr>
                <p:cNvPr id="18" name="Text Box 31"/>
                <p:cNvSpPr txBox="1">
                  <a:spLocks noChangeArrowheads="1"/>
                </p:cNvSpPr>
                <p:nvPr/>
              </p:nvSpPr>
              <p:spPr bwMode="auto">
                <a:xfrm>
                  <a:off x="1648" y="3067"/>
                  <a:ext cx="53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GB" altLang="en-US">
                      <a:latin typeface="Tahoma" panose="020B0604030504040204" pitchFamily="34" charset="0"/>
                    </a:rPr>
                    <a:t>middle</a:t>
                  </a:r>
                </a:p>
              </p:txBody>
            </p:sp>
            <p:sp>
              <p:nvSpPr>
                <p:cNvPr id="19" name="Text Box 32"/>
                <p:cNvSpPr txBox="1">
                  <a:spLocks noChangeArrowheads="1"/>
                </p:cNvSpPr>
                <p:nvPr/>
              </p:nvSpPr>
              <p:spPr bwMode="auto">
                <a:xfrm>
                  <a:off x="4921" y="3113"/>
                  <a:ext cx="4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GB" altLang="en-US">
                      <a:latin typeface="Tahoma" panose="020B0604030504040204" pitchFamily="34" charset="0"/>
                    </a:rPr>
                    <a:t>close</a:t>
                  </a:r>
                </a:p>
              </p:txBody>
            </p:sp>
            <p:sp>
              <p:nvSpPr>
                <p:cNvPr id="20" name="Text Box 33"/>
                <p:cNvSpPr txBox="1">
                  <a:spLocks noChangeArrowheads="1"/>
                </p:cNvSpPr>
                <p:nvPr/>
              </p:nvSpPr>
              <p:spPr bwMode="auto">
                <a:xfrm>
                  <a:off x="3151" y="3067"/>
                  <a:ext cx="4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GB"/>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GB" altLang="en-US">
                      <a:latin typeface="Tahoma" panose="020B0604030504040204" pitchFamily="34" charset="0"/>
                    </a:rPr>
                    <a:t>close</a:t>
                  </a:r>
                </a:p>
              </p:txBody>
            </p:sp>
          </p:grpSp>
        </p:grpSp>
      </p:grpSp>
    </p:spTree>
    <p:extLst>
      <p:ext uri="{BB962C8B-B14F-4D97-AF65-F5344CB8AC3E}">
        <p14:creationId xmlns:p14="http://schemas.microsoft.com/office/powerpoint/2010/main" val="37987539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Connected paragraph selection</a:t>
            </a:r>
          </a:p>
        </p:txBody>
      </p:sp>
      <p:sp>
        <p:nvSpPr>
          <p:cNvPr id="3" name="Content Placeholder 2"/>
          <p:cNvSpPr>
            <a:spLocks noGrp="1"/>
          </p:cNvSpPr>
          <p:nvPr>
            <p:ph idx="1"/>
          </p:nvPr>
        </p:nvSpPr>
        <p:spPr/>
        <p:txBody>
          <a:bodyPr>
            <a:normAutofit fontScale="92500" lnSpcReduction="10000"/>
          </a:bodyPr>
          <a:lstStyle/>
          <a:p>
            <a:r>
              <a:rPr lang="en-GB" altLang="en-US" dirty="0"/>
              <a:t>Construct a graph of paragraphs. Strength of link is the cosine similarity</a:t>
            </a:r>
          </a:p>
          <a:p>
            <a:r>
              <a:rPr lang="en-GB" altLang="en-US" dirty="0"/>
              <a:t>Use threshold to decide upon similar paragraphs</a:t>
            </a:r>
          </a:p>
          <a:p>
            <a:r>
              <a:rPr lang="en-GB" altLang="en-US" sz="2400" dirty="0"/>
              <a:t>Identify regions where paragraphs are well connected</a:t>
            </a:r>
          </a:p>
          <a:p>
            <a:r>
              <a:rPr lang="en-GB" altLang="en-US" sz="2400" dirty="0"/>
              <a:t>Paragraph selection heuristics</a:t>
            </a:r>
          </a:p>
          <a:p>
            <a:pPr lvl="1"/>
            <a:r>
              <a:rPr lang="en-GB" altLang="en-US" dirty="0"/>
              <a:t>bushy path</a:t>
            </a:r>
          </a:p>
          <a:p>
            <a:pPr lvl="2"/>
            <a:r>
              <a:rPr lang="en-GB" altLang="en-US" sz="1800" dirty="0"/>
              <a:t>select paragraphs with many connections with other paragraphs and present them in text order</a:t>
            </a:r>
          </a:p>
          <a:p>
            <a:pPr lvl="2"/>
            <a:r>
              <a:rPr lang="en-GB" altLang="en-US" sz="1800" dirty="0"/>
              <a:t>may not lead to coherence since paras may not be connected</a:t>
            </a:r>
          </a:p>
          <a:p>
            <a:pPr lvl="1"/>
            <a:r>
              <a:rPr lang="en-GB" altLang="en-US" dirty="0"/>
              <a:t>depth-first path</a:t>
            </a:r>
          </a:p>
          <a:p>
            <a:pPr lvl="2"/>
            <a:r>
              <a:rPr lang="en-GB" altLang="en-US" sz="1800" dirty="0"/>
              <a:t>select one paragraph with many connections; select a connected paragraph (in text order) which is also well connected; continue</a:t>
            </a:r>
          </a:p>
          <a:p>
            <a:pPr lvl="1"/>
            <a:r>
              <a:rPr lang="en-GB" altLang="en-US" dirty="0"/>
              <a:t>segmented bushy path</a:t>
            </a:r>
          </a:p>
          <a:p>
            <a:pPr lvl="2"/>
            <a:r>
              <a:rPr lang="en-GB" altLang="en-US" sz="1800" dirty="0"/>
              <a:t>follow the bushy path strategy but locally including paragraphs from all “segments of text”: a bushy path is created for each segment</a:t>
            </a:r>
          </a:p>
          <a:p>
            <a:pPr lvl="2">
              <a:buNone/>
            </a:pPr>
            <a:endParaRPr lang="en-GB" altLang="en-US" dirty="0"/>
          </a:p>
          <a:p>
            <a:endParaRPr lang="en-GB" altLang="en-US" dirty="0"/>
          </a:p>
          <a:p>
            <a:endParaRPr lang="en-US" dirty="0"/>
          </a:p>
        </p:txBody>
      </p:sp>
    </p:spTree>
    <p:extLst>
      <p:ext uri="{BB962C8B-B14F-4D97-AF65-F5344CB8AC3E}">
        <p14:creationId xmlns:p14="http://schemas.microsoft.com/office/powerpoint/2010/main" val="3713921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7341-B738-4016-A4D3-367FDA9CBC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C336D0-88F6-4E3E-82FB-EB90FA79AE8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15921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a:bodyPr>
          <a:lstStyle/>
          <a:p>
            <a:pPr algn="ctr"/>
            <a:r>
              <a:rPr lang="en-US" dirty="0"/>
              <a:t>Lexical Chains Method for Extractive Summarization</a:t>
            </a:r>
          </a:p>
        </p:txBody>
      </p:sp>
    </p:spTree>
    <p:extLst>
      <p:ext uri="{BB962C8B-B14F-4D97-AF65-F5344CB8AC3E}">
        <p14:creationId xmlns:p14="http://schemas.microsoft.com/office/powerpoint/2010/main" val="2603199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762000" y="1128346"/>
            <a:ext cx="9220200" cy="5105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800100" lvl="1" indent="-342900" fontAlgn="base">
              <a:spcBef>
                <a:spcPct val="20000"/>
              </a:spcBef>
              <a:spcAft>
                <a:spcPct val="0"/>
              </a:spcAft>
              <a:buFont typeface="Arial" pitchFamily="34" charset="0"/>
              <a:buChar char="•"/>
            </a:pPr>
            <a:r>
              <a:rPr lang="en-US" kern="0" dirty="0">
                <a:solidFill>
                  <a:srgbClr val="FF0000"/>
                </a:solidFill>
                <a:latin typeface="Times New Roman" pitchFamily="18" charset="0"/>
                <a:cs typeface="Times New Roman" pitchFamily="18" charset="0"/>
              </a:rPr>
              <a:t>Method for creating chain:</a:t>
            </a:r>
          </a:p>
          <a:p>
            <a:pPr marL="1257300" lvl="2" indent="-342900" fontAlgn="base">
              <a:spcBef>
                <a:spcPct val="20000"/>
              </a:spcBef>
              <a:spcAft>
                <a:spcPct val="0"/>
              </a:spcAft>
              <a:buFont typeface="Arial" pitchFamily="34" charset="0"/>
              <a:buChar char="•"/>
            </a:pPr>
            <a:r>
              <a:rPr lang="en-US" dirty="0">
                <a:latin typeface="Times New Roman" pitchFamily="18" charset="0"/>
                <a:cs typeface="Times New Roman" pitchFamily="18" charset="0"/>
              </a:rPr>
              <a:t>Select a set of </a:t>
            </a:r>
            <a:r>
              <a:rPr lang="en-US" dirty="0">
                <a:solidFill>
                  <a:srgbClr val="002060"/>
                </a:solidFill>
                <a:latin typeface="Times New Roman" pitchFamily="18" charset="0"/>
                <a:cs typeface="Times New Roman" pitchFamily="18" charset="0"/>
              </a:rPr>
              <a:t>candidate words </a:t>
            </a:r>
            <a:r>
              <a:rPr lang="en-US" dirty="0">
                <a:latin typeface="Times New Roman" pitchFamily="18" charset="0"/>
                <a:cs typeface="Times New Roman" pitchFamily="18" charset="0"/>
              </a:rPr>
              <a:t>from the text.</a:t>
            </a:r>
          </a:p>
          <a:p>
            <a:pPr marL="1257300" lvl="2" indent="-342900" fontAlgn="base">
              <a:spcBef>
                <a:spcPct val="20000"/>
              </a:spcBef>
              <a:spcAft>
                <a:spcPct val="0"/>
              </a:spcAft>
              <a:buFont typeface="Arial" pitchFamily="34" charset="0"/>
              <a:buChar char="•"/>
            </a:pPr>
            <a:r>
              <a:rPr lang="en-US" dirty="0">
                <a:latin typeface="Times New Roman" pitchFamily="18" charset="0"/>
                <a:cs typeface="Times New Roman" pitchFamily="18" charset="0"/>
              </a:rPr>
              <a:t>For each of the candidate words</a:t>
            </a:r>
            <a:r>
              <a:rPr lang="en-US" dirty="0">
                <a:solidFill>
                  <a:srgbClr val="002060"/>
                </a:solidFill>
                <a:latin typeface="Times New Roman" pitchFamily="18" charset="0"/>
                <a:cs typeface="Times New Roman" pitchFamily="18" charset="0"/>
              </a:rPr>
              <a:t>, find an appropriate chain</a:t>
            </a:r>
            <a:r>
              <a:rPr lang="en-US" dirty="0">
                <a:latin typeface="Times New Roman" pitchFamily="18" charset="0"/>
                <a:cs typeface="Times New Roman" pitchFamily="18" charset="0"/>
              </a:rPr>
              <a:t>, relying on a </a:t>
            </a:r>
            <a:r>
              <a:rPr lang="en-US" dirty="0">
                <a:solidFill>
                  <a:srgbClr val="002060"/>
                </a:solidFill>
                <a:latin typeface="Times New Roman" pitchFamily="18" charset="0"/>
                <a:cs typeface="Times New Roman" pitchFamily="18" charset="0"/>
              </a:rPr>
              <a:t>relatedness criterion </a:t>
            </a:r>
            <a:r>
              <a:rPr lang="en-US" dirty="0">
                <a:latin typeface="Times New Roman" pitchFamily="18" charset="0"/>
                <a:cs typeface="Times New Roman" pitchFamily="18" charset="0"/>
              </a:rPr>
              <a:t>among members of the chains and the candidate words.</a:t>
            </a:r>
          </a:p>
          <a:p>
            <a:pPr marL="1257300" lvl="2" indent="-342900" fontAlgn="base">
              <a:spcBef>
                <a:spcPct val="20000"/>
              </a:spcBef>
              <a:spcAft>
                <a:spcPct val="0"/>
              </a:spcAft>
              <a:buFont typeface="Arial" pitchFamily="34" charset="0"/>
              <a:buChar char="•"/>
            </a:pPr>
            <a:r>
              <a:rPr lang="en-US" dirty="0">
                <a:latin typeface="Times New Roman" pitchFamily="18" charset="0"/>
                <a:cs typeface="Times New Roman" pitchFamily="18" charset="0"/>
              </a:rPr>
              <a:t>If such a chain is found, insert the word in this chain and </a:t>
            </a:r>
            <a:r>
              <a:rPr lang="en-US" dirty="0">
                <a:solidFill>
                  <a:srgbClr val="002060"/>
                </a:solidFill>
                <a:latin typeface="Times New Roman" pitchFamily="18" charset="0"/>
                <a:cs typeface="Times New Roman" pitchFamily="18" charset="0"/>
              </a:rPr>
              <a:t>update</a:t>
            </a:r>
            <a:r>
              <a:rPr lang="en-US" dirty="0">
                <a:latin typeface="Times New Roman" pitchFamily="18" charset="0"/>
                <a:cs typeface="Times New Roman" pitchFamily="18" charset="0"/>
              </a:rPr>
              <a:t> it accordingly; </a:t>
            </a:r>
            <a:r>
              <a:rPr lang="en-US" dirty="0">
                <a:solidFill>
                  <a:srgbClr val="002060"/>
                </a:solidFill>
                <a:latin typeface="Times New Roman" pitchFamily="18" charset="0"/>
                <a:cs typeface="Times New Roman" pitchFamily="18" charset="0"/>
              </a:rPr>
              <a:t>else create a new chain.</a:t>
            </a:r>
          </a:p>
          <a:p>
            <a:pPr marL="800100" lvl="1" indent="-342900" fontAlgn="base">
              <a:spcBef>
                <a:spcPct val="20000"/>
              </a:spcBef>
              <a:spcAft>
                <a:spcPct val="0"/>
              </a:spcAft>
              <a:buFont typeface="Arial" pitchFamily="34" charset="0"/>
              <a:buChar char="•"/>
            </a:pPr>
            <a:r>
              <a:rPr lang="en-US" kern="0" dirty="0">
                <a:solidFill>
                  <a:srgbClr val="FF0000"/>
                </a:solidFill>
                <a:latin typeface="Times New Roman" pitchFamily="18" charset="0"/>
                <a:cs typeface="Times New Roman" pitchFamily="18" charset="0"/>
              </a:rPr>
              <a:t>Scoring the chains :</a:t>
            </a:r>
          </a:p>
          <a:p>
            <a:pPr marL="1257300" lvl="2" indent="-342900" fontAlgn="base">
              <a:spcBef>
                <a:spcPct val="20000"/>
              </a:spcBef>
              <a:spcAft>
                <a:spcPct val="0"/>
              </a:spcAft>
              <a:buFont typeface="Arial" pitchFamily="34" charset="0"/>
              <a:buChar char="•"/>
            </a:pPr>
            <a:r>
              <a:rPr lang="en-US" dirty="0">
                <a:latin typeface="Times New Roman" pitchFamily="18" charset="0"/>
                <a:cs typeface="Times New Roman" pitchFamily="18" charset="0"/>
              </a:rPr>
              <a:t>synonym =10, antonym=7, hyponym=4</a:t>
            </a:r>
          </a:p>
          <a:p>
            <a:pPr marL="800100" lvl="1" indent="-342900" fontAlgn="base">
              <a:spcBef>
                <a:spcPct val="20000"/>
              </a:spcBef>
              <a:spcAft>
                <a:spcPct val="0"/>
              </a:spcAft>
              <a:buFont typeface="Arial" pitchFamily="34" charset="0"/>
              <a:buChar char="•"/>
            </a:pPr>
            <a:r>
              <a:rPr lang="en-GB" dirty="0">
                <a:solidFill>
                  <a:srgbClr val="FF0000"/>
                </a:solidFill>
                <a:latin typeface="Times New Roman" pitchFamily="18" charset="0"/>
                <a:cs typeface="Times New Roman" pitchFamily="18" charset="0"/>
              </a:rPr>
              <a:t>Strong chain must be selected</a:t>
            </a:r>
            <a:endParaRPr lang="en-US" kern="0" dirty="0">
              <a:solidFill>
                <a:srgbClr val="FF0000"/>
              </a:solidFill>
              <a:latin typeface="Times New Roman" pitchFamily="18" charset="0"/>
              <a:cs typeface="Times New Roman" pitchFamily="18" charset="0"/>
            </a:endParaRPr>
          </a:p>
          <a:p>
            <a:pPr marL="800100" lvl="1" indent="-342900" fontAlgn="base">
              <a:spcBef>
                <a:spcPct val="20000"/>
              </a:spcBef>
              <a:spcAft>
                <a:spcPct val="0"/>
              </a:spcAft>
              <a:buFont typeface="Arial" pitchFamily="34" charset="0"/>
              <a:buChar char="•"/>
            </a:pPr>
            <a:r>
              <a:rPr lang="en-US" kern="0" dirty="0">
                <a:solidFill>
                  <a:srgbClr val="FF0000"/>
                </a:solidFill>
                <a:latin typeface="Times New Roman" pitchFamily="18" charset="0"/>
                <a:cs typeface="Times New Roman" pitchFamily="18" charset="0"/>
              </a:rPr>
              <a:t>Sentence selection for summary</a:t>
            </a:r>
          </a:p>
          <a:p>
            <a:pPr marL="1257300" lvl="2" indent="-342900" fontAlgn="base">
              <a:spcBef>
                <a:spcPct val="20000"/>
              </a:spcBef>
              <a:spcAft>
                <a:spcPct val="0"/>
              </a:spcAft>
              <a:buFont typeface="Arial" pitchFamily="34" charset="0"/>
              <a:buChar char="•"/>
            </a:pPr>
            <a:r>
              <a:rPr lang="en-GB" dirty="0">
                <a:solidFill>
                  <a:srgbClr val="00B0F0"/>
                </a:solidFill>
                <a:latin typeface="Times New Roman" pitchFamily="18" charset="0"/>
                <a:cs typeface="Times New Roman" pitchFamily="18" charset="0"/>
              </a:rPr>
              <a:t>H1</a:t>
            </a:r>
            <a:r>
              <a:rPr lang="en-GB" dirty="0">
                <a:latin typeface="Times New Roman" pitchFamily="18" charset="0"/>
                <a:cs typeface="Times New Roman" pitchFamily="18" charset="0"/>
              </a:rPr>
              <a:t>: select the first sentence that contains a member of a strong chain </a:t>
            </a:r>
          </a:p>
          <a:p>
            <a:pPr marL="1257300" lvl="2" indent="-342900" fontAlgn="base">
              <a:spcBef>
                <a:spcPct val="20000"/>
              </a:spcBef>
              <a:spcAft>
                <a:spcPct val="0"/>
              </a:spcAft>
              <a:buFont typeface="Arial" pitchFamily="34" charset="0"/>
              <a:buChar char="•"/>
            </a:pPr>
            <a:r>
              <a:rPr lang="en-GB" dirty="0">
                <a:solidFill>
                  <a:srgbClr val="00B0F0"/>
                </a:solidFill>
                <a:latin typeface="Times New Roman" pitchFamily="18" charset="0"/>
                <a:cs typeface="Times New Roman" pitchFamily="18" charset="0"/>
              </a:rPr>
              <a:t>H2</a:t>
            </a:r>
            <a:r>
              <a:rPr lang="en-GB" dirty="0">
                <a:latin typeface="Times New Roman" pitchFamily="18" charset="0"/>
                <a:cs typeface="Times New Roman" pitchFamily="18" charset="0"/>
              </a:rPr>
              <a:t>: select the first sentence that contains a “</a:t>
            </a:r>
            <a:r>
              <a:rPr lang="en-GB" dirty="0">
                <a:solidFill>
                  <a:srgbClr val="002060"/>
                </a:solidFill>
                <a:latin typeface="Times New Roman" pitchFamily="18" charset="0"/>
                <a:cs typeface="Times New Roman" pitchFamily="18" charset="0"/>
              </a:rPr>
              <a:t>representative</a:t>
            </a:r>
            <a:r>
              <a:rPr lang="en-GB" dirty="0">
                <a:latin typeface="Times New Roman" pitchFamily="18" charset="0"/>
                <a:cs typeface="Times New Roman" pitchFamily="18" charset="0"/>
              </a:rPr>
              <a:t>” (frequency) member of the chain </a:t>
            </a:r>
          </a:p>
          <a:p>
            <a:pPr marL="1257300" lvl="2" indent="-342900" fontAlgn="base">
              <a:spcBef>
                <a:spcPct val="20000"/>
              </a:spcBef>
              <a:spcAft>
                <a:spcPct val="0"/>
              </a:spcAft>
              <a:buFont typeface="Arial" pitchFamily="34" charset="0"/>
              <a:buChar char="•"/>
            </a:pPr>
            <a:r>
              <a:rPr lang="en-GB" dirty="0">
                <a:solidFill>
                  <a:srgbClr val="00B0F0"/>
                </a:solidFill>
                <a:latin typeface="Times New Roman" pitchFamily="18" charset="0"/>
                <a:cs typeface="Times New Roman" pitchFamily="18" charset="0"/>
              </a:rPr>
              <a:t>H3</a:t>
            </a:r>
            <a:r>
              <a:rPr lang="en-GB" dirty="0">
                <a:latin typeface="Times New Roman" pitchFamily="18" charset="0"/>
                <a:cs typeface="Times New Roman" pitchFamily="18" charset="0"/>
              </a:rPr>
              <a:t>: identify </a:t>
            </a:r>
            <a:r>
              <a:rPr lang="en-GB" dirty="0">
                <a:solidFill>
                  <a:srgbClr val="002060"/>
                </a:solidFill>
                <a:latin typeface="Times New Roman" pitchFamily="18" charset="0"/>
                <a:cs typeface="Times New Roman" pitchFamily="18" charset="0"/>
              </a:rPr>
              <a:t>a text segment </a:t>
            </a:r>
            <a:r>
              <a:rPr lang="en-GB" dirty="0">
                <a:latin typeface="Times New Roman" pitchFamily="18" charset="0"/>
                <a:cs typeface="Times New Roman" pitchFamily="18" charset="0"/>
              </a:rPr>
              <a:t>where the chain is highly dense (density is the proportion of words in the segment that belong to the chain)</a:t>
            </a:r>
          </a:p>
          <a:p>
            <a:pPr marL="1257300" lvl="2" indent="-342900" fontAlgn="base">
              <a:spcBef>
                <a:spcPct val="20000"/>
              </a:spcBef>
              <a:spcAft>
                <a:spcPct val="0"/>
              </a:spcAft>
              <a:buFont typeface="Arial" pitchFamily="34" charset="0"/>
              <a:buChar char="•"/>
            </a:pPr>
            <a:endParaRPr lang="en-GB" dirty="0">
              <a:latin typeface="Times New Roman" pitchFamily="18" charset="0"/>
              <a:cs typeface="Times New Roman" pitchFamily="18" charset="0"/>
            </a:endParaRPr>
          </a:p>
          <a:p>
            <a:pPr marL="800100" lvl="1" indent="-342900" fontAlgn="base">
              <a:spcBef>
                <a:spcPct val="20000"/>
              </a:spcBef>
              <a:spcAft>
                <a:spcPct val="0"/>
              </a:spcAft>
              <a:buFont typeface="Arial" pitchFamily="34" charset="0"/>
              <a:buChar char="•"/>
            </a:pPr>
            <a:endParaRPr lang="en-US" kern="0" dirty="0">
              <a:solidFill>
                <a:srgbClr val="FF0000"/>
              </a:solidFill>
              <a:latin typeface="Times New Roman" pitchFamily="18" charset="0"/>
              <a:cs typeface="Times New Roman" pitchFamily="18" charset="0"/>
            </a:endParaRPr>
          </a:p>
        </p:txBody>
      </p:sp>
      <p:sp>
        <p:nvSpPr>
          <p:cNvPr id="3" name="Rectangle 4"/>
          <p:cNvSpPr>
            <a:spLocks noChangeArrowheads="1"/>
          </p:cNvSpPr>
          <p:nvPr/>
        </p:nvSpPr>
        <p:spPr bwMode="auto">
          <a:xfrm>
            <a:off x="-375138" y="269548"/>
            <a:ext cx="4191000" cy="553998"/>
          </a:xfrm>
          <a:prstGeom prst="rect">
            <a:avLst/>
          </a:prstGeom>
          <a:noFill/>
          <a:ln w="9525">
            <a:noFill/>
            <a:miter lim="800000"/>
            <a:headEnd/>
            <a:tailEnd/>
          </a:ln>
          <a:effectLst/>
        </p:spPr>
        <p:txBody>
          <a:bodyPr wrap="square">
            <a:spAutoFit/>
          </a:bodyPr>
          <a:lstStyle/>
          <a:p>
            <a:pPr algn="ctr">
              <a:spcBef>
                <a:spcPct val="20000"/>
              </a:spcBef>
            </a:pPr>
            <a:r>
              <a:rPr lang="en-US" altLang="en-US" sz="3000" b="1" dirty="0">
                <a:latin typeface="Times New Roman" pitchFamily="18" charset="0"/>
                <a:cs typeface="Times New Roman" pitchFamily="18" charset="0"/>
              </a:rPr>
              <a:t>Lexical chain</a:t>
            </a:r>
          </a:p>
        </p:txBody>
      </p:sp>
      <p:sp>
        <p:nvSpPr>
          <p:cNvPr id="5" name="Slide Number Placeholder 4"/>
          <p:cNvSpPr>
            <a:spLocks noGrp="1"/>
          </p:cNvSpPr>
          <p:nvPr>
            <p:ph type="sldNum"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4087586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linds(horizontal)">
                                      <p:cBhvr>
                                        <p:cTn id="10" dur="500"/>
                                        <p:tgtEl>
                                          <p:spTgt spid="4">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linds(horizontal)">
                                      <p:cBhvr>
                                        <p:cTn id="13" dur="500"/>
                                        <p:tgtEl>
                                          <p:spTgt spid="4">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linds(horizontal)">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linds(horizontal)">
                                      <p:cBhvr>
                                        <p:cTn id="21" dur="500"/>
                                        <p:tgtEl>
                                          <p:spTgt spid="4">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blinds(horizontal)">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blinds(horizontal)">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blinds(horizontal)">
                                      <p:cBhvr>
                                        <p:cTn id="34" dur="500"/>
                                        <p:tgtEl>
                                          <p:spTgt spid="4">
                                            <p:txEl>
                                              <p:pRg st="7" end="7"/>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blinds(horizontal)">
                                      <p:cBhvr>
                                        <p:cTn id="37" dur="500"/>
                                        <p:tgtEl>
                                          <p:spTgt spid="4">
                                            <p:txEl>
                                              <p:pRg st="8" end="8"/>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4">
                                            <p:txEl>
                                              <p:pRg st="9" end="9"/>
                                            </p:txEl>
                                          </p:spTgt>
                                        </p:tgtEl>
                                        <p:attrNameLst>
                                          <p:attrName>style.visibility</p:attrName>
                                        </p:attrNameLst>
                                      </p:cBhvr>
                                      <p:to>
                                        <p:strVal val="visible"/>
                                      </p:to>
                                    </p:set>
                                    <p:animEffect transition="in" filter="blinds(horizontal)">
                                      <p:cBhvr>
                                        <p:cTn id="40" dur="500"/>
                                        <p:tgtEl>
                                          <p:spTgt spid="4">
                                            <p:txEl>
                                              <p:pRg st="9" end="9"/>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animEffect transition="in" filter="blinds(horizontal)">
                                      <p:cBhvr>
                                        <p:cTn id="43"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ltLang="en-US" dirty="0"/>
              <a:t>Cohesion: Lexical chains method</a:t>
            </a:r>
          </a:p>
        </p:txBody>
      </p:sp>
      <p:sp>
        <p:nvSpPr>
          <p:cNvPr id="72707" name="Text Box 3"/>
          <p:cNvSpPr txBox="1">
            <a:spLocks noChangeArrowheads="1"/>
          </p:cNvSpPr>
          <p:nvPr/>
        </p:nvSpPr>
        <p:spPr bwMode="auto">
          <a:xfrm>
            <a:off x="395654" y="1354015"/>
            <a:ext cx="534572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200"/>
              <a:t>But Mr. Kenny’s move speeded up work on a </a:t>
            </a:r>
            <a:r>
              <a:rPr lang="en-US" altLang="en-US" sz="1200" b="1"/>
              <a:t>machine </a:t>
            </a:r>
            <a:r>
              <a:rPr lang="en-US" altLang="en-US" sz="1200"/>
              <a:t>which uses </a:t>
            </a:r>
          </a:p>
          <a:p>
            <a:r>
              <a:rPr lang="en-US" altLang="en-US" sz="1200" b="1"/>
              <a:t>micro-computers</a:t>
            </a:r>
            <a:r>
              <a:rPr lang="en-US" altLang="en-US" sz="1200"/>
              <a:t> to control the rate at which an </a:t>
            </a:r>
            <a:r>
              <a:rPr lang="en-US" altLang="en-US" sz="1200" i="1"/>
              <a:t>anaesthetic</a:t>
            </a:r>
            <a:r>
              <a:rPr lang="en-US" altLang="en-US" sz="1200"/>
              <a:t> is pumped</a:t>
            </a:r>
          </a:p>
          <a:p>
            <a:r>
              <a:rPr lang="en-US" altLang="en-US" sz="1200"/>
              <a:t>into the blood of </a:t>
            </a:r>
            <a:r>
              <a:rPr lang="en-US" altLang="en-US" sz="1200" i="1"/>
              <a:t>patients</a:t>
            </a:r>
            <a:r>
              <a:rPr lang="en-US" altLang="en-US" sz="1200"/>
              <a:t> undergoing </a:t>
            </a:r>
            <a:r>
              <a:rPr lang="en-US" altLang="en-US" sz="1200" i="1"/>
              <a:t>surgery</a:t>
            </a:r>
            <a:r>
              <a:rPr lang="en-US" altLang="en-US" sz="1200"/>
              <a:t>. Such </a:t>
            </a:r>
            <a:r>
              <a:rPr lang="en-US" altLang="en-US" sz="1200" b="1"/>
              <a:t>machines</a:t>
            </a:r>
            <a:r>
              <a:rPr lang="en-US" altLang="en-US" sz="1200"/>
              <a:t> are nothing </a:t>
            </a:r>
          </a:p>
          <a:p>
            <a:r>
              <a:rPr lang="en-US" altLang="en-US" sz="1200"/>
              <a:t>new. But Mr. Kenny’s </a:t>
            </a:r>
            <a:r>
              <a:rPr lang="en-US" altLang="en-US" sz="1200" b="1"/>
              <a:t>device</a:t>
            </a:r>
            <a:r>
              <a:rPr lang="en-US" altLang="en-US" sz="1200"/>
              <a:t> uses two </a:t>
            </a:r>
            <a:r>
              <a:rPr lang="en-US" altLang="en-US" sz="1200" b="1"/>
              <a:t>personal-computers</a:t>
            </a:r>
            <a:r>
              <a:rPr lang="en-US" altLang="en-US" sz="1200"/>
              <a:t> to achieve</a:t>
            </a:r>
          </a:p>
          <a:p>
            <a:r>
              <a:rPr lang="en-US" altLang="en-US" sz="1200"/>
              <a:t>much closer monitoring of the </a:t>
            </a:r>
            <a:r>
              <a:rPr lang="en-US" altLang="en-US" sz="1200" b="1"/>
              <a:t>pump</a:t>
            </a:r>
            <a:r>
              <a:rPr lang="en-US" altLang="en-US" sz="1200"/>
              <a:t> feeding the </a:t>
            </a:r>
            <a:r>
              <a:rPr lang="en-US" altLang="en-US" sz="1200" i="1"/>
              <a:t>anaesthetic </a:t>
            </a:r>
            <a:r>
              <a:rPr lang="en-US" altLang="en-US" sz="1200"/>
              <a:t>into the </a:t>
            </a:r>
          </a:p>
          <a:p>
            <a:r>
              <a:rPr lang="en-US" altLang="en-US" sz="1200" i="1"/>
              <a:t>patient</a:t>
            </a:r>
            <a:r>
              <a:rPr lang="en-US" altLang="en-US" sz="1200"/>
              <a:t>. Extensive testing of the </a:t>
            </a:r>
            <a:r>
              <a:rPr lang="en-US" altLang="en-US" sz="1200" b="1"/>
              <a:t>equipment</a:t>
            </a:r>
            <a:r>
              <a:rPr lang="en-US" altLang="en-US" sz="1200"/>
              <a:t> has sufficiently impressed</a:t>
            </a:r>
          </a:p>
          <a:p>
            <a:r>
              <a:rPr lang="en-US" altLang="en-US" sz="1200"/>
              <a:t>the authorities which regulate </a:t>
            </a:r>
            <a:r>
              <a:rPr lang="en-US" altLang="en-US" sz="1200" i="1"/>
              <a:t>medical</a:t>
            </a:r>
            <a:r>
              <a:rPr lang="en-US" altLang="en-US" sz="1200"/>
              <a:t> </a:t>
            </a:r>
            <a:r>
              <a:rPr lang="en-US" altLang="en-US" sz="1200" b="1"/>
              <a:t>equipment </a:t>
            </a:r>
            <a:r>
              <a:rPr lang="en-US" altLang="en-US" sz="1200"/>
              <a:t>in Britain, and, so far,</a:t>
            </a:r>
          </a:p>
          <a:p>
            <a:r>
              <a:rPr lang="en-US" altLang="en-US" sz="1200"/>
              <a:t>four other countries, to make this the first such </a:t>
            </a:r>
            <a:r>
              <a:rPr lang="en-US" altLang="en-US" sz="1200" b="1"/>
              <a:t>machine</a:t>
            </a:r>
            <a:r>
              <a:rPr lang="en-US" altLang="en-US" sz="1200"/>
              <a:t> to be licensed</a:t>
            </a:r>
          </a:p>
          <a:p>
            <a:r>
              <a:rPr lang="en-US" altLang="en-US" sz="1200"/>
              <a:t>for commercial sale to </a:t>
            </a:r>
            <a:r>
              <a:rPr lang="en-US" altLang="en-US" sz="1200" i="1"/>
              <a:t>hospitals</a:t>
            </a:r>
            <a:r>
              <a:rPr lang="en-US" altLang="en-US" sz="1200"/>
              <a:t>.</a:t>
            </a:r>
          </a:p>
        </p:txBody>
      </p:sp>
      <p:sp>
        <p:nvSpPr>
          <p:cNvPr id="5" name="Rectangle 3"/>
          <p:cNvSpPr txBox="1">
            <a:spLocks noChangeArrowheads="1"/>
          </p:cNvSpPr>
          <p:nvPr/>
        </p:nvSpPr>
        <p:spPr>
          <a:xfrm>
            <a:off x="662354" y="3534508"/>
            <a:ext cx="10515600" cy="28434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Assumes that important sentences are those that are ‘traversed’ by </a:t>
            </a:r>
            <a:r>
              <a:rPr lang="en-US" altLang="en-US" i="1" dirty="0"/>
              <a:t>strong</a:t>
            </a:r>
            <a:r>
              <a:rPr lang="en-US" altLang="en-US" dirty="0"/>
              <a:t> chains </a:t>
            </a:r>
            <a:r>
              <a:rPr lang="en-US" altLang="en-US" sz="2400" dirty="0"/>
              <a:t>(</a:t>
            </a:r>
            <a:r>
              <a:rPr lang="en-US" altLang="en-US" sz="2400" dirty="0" err="1"/>
              <a:t>Barzilay</a:t>
            </a:r>
            <a:r>
              <a:rPr lang="en-US" altLang="en-US" sz="2400" dirty="0"/>
              <a:t> and </a:t>
            </a:r>
            <a:r>
              <a:rPr lang="en-US" altLang="en-US" sz="2400" dirty="0" err="1"/>
              <a:t>Elhadad</a:t>
            </a:r>
            <a:r>
              <a:rPr lang="en-US" altLang="en-US" sz="2400" dirty="0"/>
              <a:t>, 97).</a:t>
            </a:r>
            <a:r>
              <a:rPr lang="en-US" altLang="en-US" dirty="0"/>
              <a:t>	</a:t>
            </a:r>
          </a:p>
          <a:p>
            <a:pPr lvl="1"/>
            <a:r>
              <a:rPr lang="en-US" altLang="en-US" dirty="0"/>
              <a:t>For each chain, choose the first sentence that is traversed by the chain and that uses a representative set of concepts from that chain.</a:t>
            </a:r>
          </a:p>
          <a:p>
            <a:pPr lvl="1"/>
            <a:r>
              <a:rPr lang="en-GB" altLang="en-US" dirty="0"/>
              <a:t>Compute lexical chains; score lexical chains as a function of their members; select sentences according to membership to lexical chains of words in sentence</a:t>
            </a:r>
            <a:endParaRPr lang="en-US" altLang="en-US" dirty="0"/>
          </a:p>
        </p:txBody>
      </p:sp>
      <p:sp>
        <p:nvSpPr>
          <p:cNvPr id="2" name="Rectangle 1"/>
          <p:cNvSpPr/>
          <p:nvPr/>
        </p:nvSpPr>
        <p:spPr>
          <a:xfrm>
            <a:off x="5257800" y="1374082"/>
            <a:ext cx="6096000" cy="2308324"/>
          </a:xfrm>
          <a:prstGeom prst="rect">
            <a:avLst/>
          </a:prstGeom>
        </p:spPr>
        <p:txBody>
          <a:bodyPr>
            <a:spAutoFit/>
          </a:bodyPr>
          <a:lstStyle/>
          <a:p>
            <a:pPr marL="285750" indent="-285750">
              <a:buFont typeface="Arial" panose="020B0604020202020204" pitchFamily="34" charset="0"/>
              <a:buChar char="•"/>
            </a:pPr>
            <a:r>
              <a:rPr lang="en-GB" altLang="en-US" dirty="0"/>
              <a:t>Lexical chain: word sequence in a text where the words are related by repetition, synonymy, class/superclass (</a:t>
            </a:r>
            <a:r>
              <a:rPr lang="en-GB" altLang="en-US" dirty="0" err="1"/>
              <a:t>hypernymy</a:t>
            </a:r>
            <a:r>
              <a:rPr lang="en-GB" altLang="en-US" dirty="0"/>
              <a:t>), paraphrase</a:t>
            </a:r>
          </a:p>
          <a:p>
            <a:pPr marL="285750" indent="-285750">
              <a:buFont typeface="Arial" panose="020B0604020202020204" pitchFamily="34" charset="0"/>
              <a:buChar char="•"/>
            </a:pPr>
            <a:r>
              <a:rPr lang="en-GB" altLang="en-US" dirty="0"/>
              <a:t>A chain C represents a  “concept” in WordNet</a:t>
            </a:r>
          </a:p>
          <a:p>
            <a:pPr marL="742950" lvl="1" indent="-285750">
              <a:buFont typeface="Arial" panose="020B0604020202020204" pitchFamily="34" charset="0"/>
              <a:buChar char="•"/>
            </a:pPr>
            <a:r>
              <a:rPr lang="en-GB" altLang="en-US" i="1" dirty="0"/>
              <a:t>Financial institution</a:t>
            </a:r>
            <a:r>
              <a:rPr lang="en-GB" altLang="en-US" dirty="0"/>
              <a:t>  “bank”</a:t>
            </a:r>
          </a:p>
          <a:p>
            <a:pPr marL="742950" lvl="1" indent="-285750">
              <a:buFont typeface="Arial" panose="020B0604020202020204" pitchFamily="34" charset="0"/>
              <a:buChar char="•"/>
            </a:pPr>
            <a:r>
              <a:rPr lang="en-GB" altLang="en-US" i="1" dirty="0"/>
              <a:t>Side of the river</a:t>
            </a:r>
            <a:r>
              <a:rPr lang="en-GB" altLang="en-US" dirty="0"/>
              <a:t> “bank”</a:t>
            </a:r>
          </a:p>
          <a:p>
            <a:pPr marL="285750" indent="-285750">
              <a:buFont typeface="Arial" panose="020B0604020202020204" pitchFamily="34" charset="0"/>
              <a:buChar char="•"/>
            </a:pPr>
            <a:endParaRPr lang="en-GB" altLang="en-US" dirty="0"/>
          </a:p>
          <a:p>
            <a:pPr marL="285750" indent="-285750">
              <a:buFont typeface="Arial" panose="020B0604020202020204" pitchFamily="34" charset="0"/>
              <a:buChar char="•"/>
            </a:pPr>
            <a:endParaRPr lang="en-GB" altLang="en-US" dirty="0"/>
          </a:p>
        </p:txBody>
      </p:sp>
    </p:spTree>
    <p:extLst>
      <p:ext uri="{BB962C8B-B14F-4D97-AF65-F5344CB8AC3E}">
        <p14:creationId xmlns:p14="http://schemas.microsoft.com/office/powerpoint/2010/main" val="34035682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ltLang="en-US"/>
              <a:t>Cohesion: Coreference method</a:t>
            </a:r>
          </a:p>
        </p:txBody>
      </p:sp>
      <p:sp>
        <p:nvSpPr>
          <p:cNvPr id="104451" name="Rectangle 3"/>
          <p:cNvSpPr>
            <a:spLocks noGrp="1" noChangeArrowheads="1"/>
          </p:cNvSpPr>
          <p:nvPr>
            <p:ph type="body" idx="1"/>
          </p:nvPr>
        </p:nvSpPr>
        <p:spPr/>
        <p:txBody>
          <a:bodyPr/>
          <a:lstStyle/>
          <a:p>
            <a:r>
              <a:rPr lang="en-US" altLang="en-US" dirty="0"/>
              <a:t>Build co-reference chains (noun/event identity, part-whole relations) between </a:t>
            </a:r>
          </a:p>
          <a:p>
            <a:pPr lvl="1"/>
            <a:r>
              <a:rPr lang="en-US" altLang="en-US" sz="2000" i="1" dirty="0"/>
              <a:t>query and document - </a:t>
            </a:r>
            <a:r>
              <a:rPr lang="en-US" altLang="en-US" sz="1800" dirty="0">
                <a:solidFill>
                  <a:schemeClr val="hlink"/>
                </a:solidFill>
                <a:latin typeface="Desdemona" pitchFamily="82" charset="0"/>
              </a:rPr>
              <a:t>In the context of query-based summarization</a:t>
            </a:r>
          </a:p>
          <a:p>
            <a:pPr lvl="1"/>
            <a:r>
              <a:rPr lang="en-US" altLang="en-US" sz="2000" dirty="0"/>
              <a:t>title and document</a:t>
            </a:r>
          </a:p>
          <a:p>
            <a:pPr lvl="1"/>
            <a:r>
              <a:rPr lang="en-US" altLang="en-US" sz="2000" dirty="0"/>
              <a:t>sentences within document </a:t>
            </a:r>
          </a:p>
          <a:p>
            <a:r>
              <a:rPr lang="en-US" altLang="en-US" dirty="0"/>
              <a:t>Important sentences are those traversed by a large number of chains:</a:t>
            </a:r>
          </a:p>
          <a:p>
            <a:pPr lvl="1"/>
            <a:r>
              <a:rPr lang="en-US" altLang="en-US" sz="2000" dirty="0"/>
              <a:t>a preference is imposed on chains (</a:t>
            </a:r>
            <a:r>
              <a:rPr lang="en-US" altLang="en-US" sz="2000" i="1" dirty="0"/>
              <a:t>query</a:t>
            </a:r>
            <a:r>
              <a:rPr lang="en-US" altLang="en-US" sz="2000" dirty="0"/>
              <a:t> &gt; title &gt; doc)</a:t>
            </a:r>
          </a:p>
        </p:txBody>
      </p:sp>
    </p:spTree>
    <p:extLst>
      <p:ext uri="{BB962C8B-B14F-4D97-AF65-F5344CB8AC3E}">
        <p14:creationId xmlns:p14="http://schemas.microsoft.com/office/powerpoint/2010/main" val="302050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19221-4770-4FA8-A13C-753055A52C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F4E09E-B9BB-42CD-9A80-5E05C2244FB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673308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a:bodyPr>
          <a:lstStyle/>
          <a:p>
            <a:pPr algn="ctr"/>
            <a:r>
              <a:rPr lang="en-US" dirty="0"/>
              <a:t>Information Extraction based Method for Extractive Summarization</a:t>
            </a:r>
          </a:p>
        </p:txBody>
      </p:sp>
    </p:spTree>
    <p:extLst>
      <p:ext uri="{BB962C8B-B14F-4D97-AF65-F5344CB8AC3E}">
        <p14:creationId xmlns:p14="http://schemas.microsoft.com/office/powerpoint/2010/main" val="30125862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en-US"/>
              <a:t>Information extraction Method (1)</a:t>
            </a:r>
          </a:p>
        </p:txBody>
      </p:sp>
      <p:sp>
        <p:nvSpPr>
          <p:cNvPr id="142339" name="Rectangle 3"/>
          <p:cNvSpPr>
            <a:spLocks noGrp="1" noChangeArrowheads="1"/>
          </p:cNvSpPr>
          <p:nvPr>
            <p:ph type="body" idx="1"/>
          </p:nvPr>
        </p:nvSpPr>
        <p:spPr>
          <a:xfrm>
            <a:off x="1746250" y="1252538"/>
            <a:ext cx="8358188" cy="4756150"/>
          </a:xfrm>
        </p:spPr>
        <p:txBody>
          <a:bodyPr>
            <a:normAutofit/>
          </a:bodyPr>
          <a:lstStyle/>
          <a:p>
            <a:r>
              <a:rPr lang="en-US" altLang="en-US" b="1" u="sng" dirty="0"/>
              <a:t>Idea</a:t>
            </a:r>
            <a:r>
              <a:rPr lang="en-US" altLang="en-US" u="sng" dirty="0"/>
              <a:t>: content selection using templates</a:t>
            </a:r>
            <a:r>
              <a:rPr lang="en-US" altLang="en-US" dirty="0"/>
              <a:t> </a:t>
            </a:r>
          </a:p>
          <a:p>
            <a:pPr lvl="1"/>
            <a:r>
              <a:rPr lang="en-US" altLang="en-US" dirty="0"/>
              <a:t>Predefine a template, whose slots specify what is of interest. </a:t>
            </a:r>
          </a:p>
          <a:p>
            <a:pPr lvl="1"/>
            <a:r>
              <a:rPr lang="en-US" altLang="en-US" dirty="0"/>
              <a:t>Use a canonical IE system to extract from a (set of) document(s) the relevant information; fill the template. </a:t>
            </a:r>
          </a:p>
          <a:p>
            <a:pPr lvl="1"/>
            <a:r>
              <a:rPr lang="en-US" altLang="en-US" dirty="0"/>
              <a:t>Generate the content of the template as the summary. </a:t>
            </a:r>
          </a:p>
          <a:p>
            <a:pPr lvl="2"/>
            <a:r>
              <a:rPr lang="en-US" altLang="en-US" dirty="0"/>
              <a:t>Templates for natural disasters, political visits</a:t>
            </a:r>
          </a:p>
          <a:p>
            <a:pPr lvl="2"/>
            <a:r>
              <a:rPr lang="en-US" altLang="en-US" dirty="0"/>
              <a:t>templates for business.</a:t>
            </a:r>
          </a:p>
          <a:p>
            <a:pPr lvl="2"/>
            <a:r>
              <a:rPr lang="en-US" altLang="en-US" dirty="0"/>
              <a:t>templates for news.</a:t>
            </a:r>
          </a:p>
        </p:txBody>
      </p:sp>
    </p:spTree>
    <p:extLst>
      <p:ext uri="{BB962C8B-B14F-4D97-AF65-F5344CB8AC3E}">
        <p14:creationId xmlns:p14="http://schemas.microsoft.com/office/powerpoint/2010/main" val="18961015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ltLang="en-US" sz="3600"/>
              <a:t>Information Extraction method (2)</a:t>
            </a:r>
            <a:endParaRPr lang="en-US" altLang="en-US"/>
          </a:p>
        </p:txBody>
      </p:sp>
      <p:sp>
        <p:nvSpPr>
          <p:cNvPr id="95235" name="Rectangle 3"/>
          <p:cNvSpPr>
            <a:spLocks noGrp="1" noChangeArrowheads="1"/>
          </p:cNvSpPr>
          <p:nvPr>
            <p:ph type="body" idx="1"/>
          </p:nvPr>
        </p:nvSpPr>
        <p:spPr>
          <a:xfrm>
            <a:off x="1839913" y="1558926"/>
            <a:ext cx="7924800" cy="4125913"/>
          </a:xfrm>
        </p:spPr>
        <p:txBody>
          <a:bodyPr/>
          <a:lstStyle/>
          <a:p>
            <a:r>
              <a:rPr lang="en-US" altLang="en-US"/>
              <a:t>Example template:</a:t>
            </a:r>
          </a:p>
        </p:txBody>
      </p:sp>
      <p:sp>
        <p:nvSpPr>
          <p:cNvPr id="95236" name="Text Box 4"/>
          <p:cNvSpPr txBox="1">
            <a:spLocks noChangeArrowheads="1"/>
          </p:cNvSpPr>
          <p:nvPr/>
        </p:nvSpPr>
        <p:spPr bwMode="auto">
          <a:xfrm>
            <a:off x="2897188" y="2592338"/>
            <a:ext cx="6019800" cy="2308324"/>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en-US"/>
              <a:t>MESSAGE:ID			TSL-COL-0001</a:t>
            </a:r>
          </a:p>
          <a:p>
            <a:r>
              <a:rPr lang="en-US" altLang="en-US"/>
              <a:t>SECSOURCE:SOURCE		Reuters</a:t>
            </a:r>
          </a:p>
          <a:p>
            <a:r>
              <a:rPr lang="en-US" altLang="en-US"/>
              <a:t>SECSOURCE:DATE		26 Feb 93</a:t>
            </a:r>
          </a:p>
          <a:p>
            <a:r>
              <a:rPr lang="en-US" altLang="en-US"/>
              <a:t>				Early afternoon</a:t>
            </a:r>
          </a:p>
          <a:p>
            <a:r>
              <a:rPr lang="en-US" altLang="en-US"/>
              <a:t>INCIDENT:DATE		26 Feb 93</a:t>
            </a:r>
          </a:p>
          <a:p>
            <a:r>
              <a:rPr lang="en-US" altLang="en-US"/>
              <a:t>INCIDENT:LOCATION		World Trade Center</a:t>
            </a:r>
          </a:p>
          <a:p>
            <a:r>
              <a:rPr lang="en-US" altLang="en-US"/>
              <a:t>INCIDENT:TYPE		Bombing</a:t>
            </a:r>
          </a:p>
          <a:p>
            <a:r>
              <a:rPr lang="en-US" altLang="en-US"/>
              <a:t>HUM TGT:NUMBER		AT LEAST 5</a:t>
            </a:r>
          </a:p>
        </p:txBody>
      </p:sp>
    </p:spTree>
    <p:extLst>
      <p:ext uri="{BB962C8B-B14F-4D97-AF65-F5344CB8AC3E}">
        <p14:creationId xmlns:p14="http://schemas.microsoft.com/office/powerpoint/2010/main" val="29313832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extraction for natural calamities</a:t>
            </a:r>
          </a:p>
        </p:txBody>
      </p:sp>
      <p:pic>
        <p:nvPicPr>
          <p:cNvPr id="4" name="Content Placeholder 3"/>
          <p:cNvPicPr>
            <a:picLocks noGrp="1" noChangeAspect="1"/>
          </p:cNvPicPr>
          <p:nvPr>
            <p:ph idx="1"/>
          </p:nvPr>
        </p:nvPicPr>
        <p:blipFill>
          <a:blip r:embed="rId2"/>
          <a:stretch>
            <a:fillRect/>
          </a:stretch>
        </p:blipFill>
        <p:spPr>
          <a:xfrm>
            <a:off x="532744" y="1667365"/>
            <a:ext cx="8383311" cy="4351338"/>
          </a:xfrm>
          <a:prstGeom prst="rect">
            <a:avLst/>
          </a:prstGeom>
        </p:spPr>
      </p:pic>
      <p:sp>
        <p:nvSpPr>
          <p:cNvPr id="5" name="Rectangle 3"/>
          <p:cNvSpPr txBox="1">
            <a:spLocks noChangeArrowheads="1"/>
          </p:cNvSpPr>
          <p:nvPr/>
        </p:nvSpPr>
        <p:spPr>
          <a:xfrm>
            <a:off x="6571151" y="3638064"/>
            <a:ext cx="5726357" cy="238063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GB" altLang="en-US" sz="1800"/>
              <a:t>	a small earthquake shook several Southern Illinois counties Monday night, the National Earthquake Information Service in Golden, Colo., reported. Spokesman Don Finley said the quake measured 3.2 on the Richter scale, “probably not enough to do any damage or cause any injuries.” The quake occurred about 7:48 p.m. CST and was centered about 30 miles east of Mount Vernon, Finlay said. It was felt in Richland, Clay, Jasper, Effington, and Marion Counties.</a:t>
            </a:r>
          </a:p>
          <a:p>
            <a:pPr>
              <a:buFont typeface="Wingdings" panose="05000000000000000000" pitchFamily="2" charset="2"/>
              <a:buNone/>
            </a:pPr>
            <a:endParaRPr lang="en-GB" altLang="en-US" sz="1800"/>
          </a:p>
          <a:p>
            <a:pPr>
              <a:buFont typeface="Wingdings" panose="05000000000000000000" pitchFamily="2" charset="2"/>
              <a:buNone/>
            </a:pPr>
            <a:r>
              <a:rPr lang="en-GB" altLang="en-US" sz="1800"/>
              <a:t>	</a:t>
            </a:r>
            <a:endParaRPr lang="en-GB" altLang="en-US" sz="1800" u="sng" dirty="0"/>
          </a:p>
        </p:txBody>
      </p:sp>
      <p:sp>
        <p:nvSpPr>
          <p:cNvPr id="6" name="Text Box 5" descr="Horizontal brick"/>
          <p:cNvSpPr txBox="1">
            <a:spLocks noChangeArrowheads="1"/>
          </p:cNvSpPr>
          <p:nvPr/>
        </p:nvSpPr>
        <p:spPr bwMode="auto">
          <a:xfrm>
            <a:off x="6842919" y="5686268"/>
            <a:ext cx="5182820" cy="1171732"/>
          </a:xfrm>
          <a:prstGeom prst="rect">
            <a:avLst/>
          </a:prstGeom>
          <a:noFill/>
          <a:ln>
            <a:noFill/>
          </a:ln>
          <a:effectLst/>
          <a:extLst>
            <a:ext uri="{909E8E84-426E-40DD-AFC4-6F175D3DCCD1}">
              <a14:hiddenFill xmlns:a14="http://schemas.microsoft.com/office/drawing/2010/main">
                <a:pattFill prst="horzBrick">
                  <a:fgClr>
                    <a:schemeClr val="bg1">
                      <a:alpha val="99001"/>
                    </a:schemeClr>
                  </a:fgClr>
                  <a:bgClr>
                    <a:srgbClr val="FFFFFF">
                      <a:alpha val="99001"/>
                    </a:srgbClr>
                  </a:bgClr>
                </a:patt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lgn="l">
              <a:spcBef>
                <a:spcPct val="20000"/>
              </a:spcBef>
              <a:buClr>
                <a:schemeClr val="folHlink"/>
              </a:buClr>
              <a:buSzPct val="60000"/>
              <a:buFont typeface="Wingdings" panose="05000000000000000000" pitchFamily="2" charset="2"/>
              <a:buNone/>
            </a:pPr>
            <a:r>
              <a:rPr lang="en-GB" altLang="en-US" sz="2000" u="sng">
                <a:latin typeface="Tahoma" panose="020B0604030504040204" pitchFamily="34" charset="0"/>
              </a:rPr>
              <a:t>There was an earthquake in Illinois with a 3.2 Richter scale.</a:t>
            </a:r>
          </a:p>
          <a:p>
            <a:pPr algn="l">
              <a:spcBef>
                <a:spcPct val="50000"/>
              </a:spcBef>
            </a:pPr>
            <a:endParaRPr lang="en-GB" altLang="en-US" sz="2000">
              <a:latin typeface="Tahoma" panose="020B0604030504040204" pitchFamily="34" charset="0"/>
            </a:endParaRPr>
          </a:p>
        </p:txBody>
      </p:sp>
      <p:sp>
        <p:nvSpPr>
          <p:cNvPr id="7" name="Arrow: Down 6"/>
          <p:cNvSpPr/>
          <p:nvPr/>
        </p:nvSpPr>
        <p:spPr>
          <a:xfrm>
            <a:off x="9249508" y="5284177"/>
            <a:ext cx="281354" cy="4020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2503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37BF-C7B3-4C82-8368-6FEFB6ABEC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F279DA-CF57-4C18-B077-0AA7761BC3D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892948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a:bodyPr>
          <a:lstStyle/>
          <a:p>
            <a:pPr algn="ctr"/>
            <a:r>
              <a:rPr lang="en-US" dirty="0"/>
              <a:t>Interpretation Methods for Summarization</a:t>
            </a:r>
          </a:p>
        </p:txBody>
      </p:sp>
    </p:spTree>
    <p:extLst>
      <p:ext uri="{BB962C8B-B14F-4D97-AF65-F5344CB8AC3E}">
        <p14:creationId xmlns:p14="http://schemas.microsoft.com/office/powerpoint/2010/main" val="4707165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53" name="Oval 9"/>
          <p:cNvSpPr>
            <a:spLocks noChangeArrowheads="1"/>
          </p:cNvSpPr>
          <p:nvPr/>
        </p:nvSpPr>
        <p:spPr bwMode="auto">
          <a:xfrm>
            <a:off x="6888163" y="1165901"/>
            <a:ext cx="259766" cy="519351"/>
          </a:xfrm>
          <a:prstGeom prst="ellipse">
            <a:avLst/>
          </a:prstGeom>
          <a:solidFill>
            <a:srgbClr val="FFFF66"/>
          </a:solidFill>
          <a:ln w="12700">
            <a:solidFill>
              <a:srgbClr val="3399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9754" name="Oval 10"/>
          <p:cNvSpPr>
            <a:spLocks noChangeArrowheads="1"/>
          </p:cNvSpPr>
          <p:nvPr/>
        </p:nvSpPr>
        <p:spPr bwMode="auto">
          <a:xfrm>
            <a:off x="6986588" y="1776295"/>
            <a:ext cx="259766" cy="519351"/>
          </a:xfrm>
          <a:prstGeom prst="ellipse">
            <a:avLst/>
          </a:prstGeom>
          <a:solidFill>
            <a:srgbClr val="FFFF66"/>
          </a:solidFill>
          <a:ln w="12700">
            <a:solidFill>
              <a:srgbClr val="3399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9755" name="Oval 11"/>
          <p:cNvSpPr>
            <a:spLocks noChangeArrowheads="1"/>
          </p:cNvSpPr>
          <p:nvPr/>
        </p:nvSpPr>
        <p:spPr bwMode="auto">
          <a:xfrm>
            <a:off x="6715125" y="2533532"/>
            <a:ext cx="259766" cy="519351"/>
          </a:xfrm>
          <a:prstGeom prst="ellipse">
            <a:avLst/>
          </a:prstGeom>
          <a:solidFill>
            <a:srgbClr val="FFFF66"/>
          </a:solidFill>
          <a:ln w="12700">
            <a:solidFill>
              <a:srgbClr val="3399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9756" name="Oval 12"/>
          <p:cNvSpPr>
            <a:spLocks noChangeArrowheads="1"/>
          </p:cNvSpPr>
          <p:nvPr/>
        </p:nvSpPr>
        <p:spPr bwMode="auto">
          <a:xfrm>
            <a:off x="7340600" y="2845476"/>
            <a:ext cx="259766" cy="519351"/>
          </a:xfrm>
          <a:prstGeom prst="ellipse">
            <a:avLst/>
          </a:prstGeom>
          <a:solidFill>
            <a:srgbClr val="FFFF66"/>
          </a:solidFill>
          <a:ln w="12700">
            <a:solidFill>
              <a:srgbClr val="3399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9747" name="Rectangle 3"/>
          <p:cNvSpPr>
            <a:spLocks noGrp="1" noChangeArrowheads="1"/>
          </p:cNvSpPr>
          <p:nvPr>
            <p:ph type="body" idx="1"/>
          </p:nvPr>
        </p:nvSpPr>
        <p:spPr>
          <a:xfrm>
            <a:off x="838200" y="1695349"/>
            <a:ext cx="10515600" cy="4351338"/>
          </a:xfrm>
        </p:spPr>
        <p:txBody>
          <a:bodyPr>
            <a:normAutofit/>
          </a:bodyPr>
          <a:lstStyle/>
          <a:p>
            <a:endParaRPr lang="en-US" altLang="en-US" u="sng" dirty="0"/>
          </a:p>
          <a:p>
            <a:r>
              <a:rPr lang="en-US" altLang="en-US" u="sng" dirty="0"/>
              <a:t>From extract to abstract:</a:t>
            </a:r>
            <a:r>
              <a:rPr lang="en-US" altLang="en-US" dirty="0"/>
              <a:t> 	</a:t>
            </a:r>
          </a:p>
          <a:p>
            <a:r>
              <a:rPr lang="en-US" altLang="en-US" i="1" dirty="0"/>
              <a:t>topic interpretation</a:t>
            </a:r>
            <a:r>
              <a:rPr lang="en-US" altLang="en-US" dirty="0"/>
              <a:t> or </a:t>
            </a:r>
            <a:r>
              <a:rPr lang="en-US" altLang="en-US" i="1" dirty="0"/>
              <a:t>concept fusion.</a:t>
            </a:r>
            <a:r>
              <a:rPr lang="en-US" altLang="en-US" dirty="0"/>
              <a:t> </a:t>
            </a:r>
          </a:p>
          <a:p>
            <a:pPr>
              <a:spcBef>
                <a:spcPct val="75000"/>
              </a:spcBef>
            </a:pPr>
            <a:r>
              <a:rPr lang="en-US" altLang="en-US" u="sng" dirty="0"/>
              <a:t>Experiment (</a:t>
            </a:r>
            <a:r>
              <a:rPr lang="en-US" altLang="en-US" u="sng" dirty="0" err="1"/>
              <a:t>Marcu</a:t>
            </a:r>
            <a:r>
              <a:rPr lang="en-US" altLang="en-US" u="sng" dirty="0"/>
              <a:t>, 98):</a:t>
            </a:r>
            <a:r>
              <a:rPr lang="en-US" altLang="en-US" dirty="0"/>
              <a:t> </a:t>
            </a:r>
          </a:p>
          <a:p>
            <a:pPr lvl="1"/>
            <a:r>
              <a:rPr lang="en-US" altLang="en-US" dirty="0"/>
              <a:t>Got 10 newspaper texts, with human abstracts.</a:t>
            </a:r>
          </a:p>
          <a:p>
            <a:pPr lvl="1"/>
            <a:r>
              <a:rPr lang="en-US" altLang="en-US" dirty="0"/>
              <a:t>Asked 14 judges to extract corresponding clauses from texts, to cover the same content.</a:t>
            </a:r>
          </a:p>
          <a:p>
            <a:pPr lvl="1"/>
            <a:r>
              <a:rPr lang="en-US" altLang="en-US" dirty="0"/>
              <a:t>Compared word lengths of extracts to abstracts: 	</a:t>
            </a:r>
            <a:r>
              <a:rPr lang="en-US" altLang="en-US" i="1" dirty="0" err="1"/>
              <a:t>extract_length</a:t>
            </a:r>
            <a:r>
              <a:rPr lang="en-US" altLang="en-US" i="1" dirty="0"/>
              <a:t> </a:t>
            </a:r>
            <a:r>
              <a:rPr lang="en-US" altLang="en-US" dirty="0">
                <a:sym typeface="Symbol" panose="05050102010706020507" pitchFamily="18" charset="2"/>
              </a:rPr>
              <a:t></a:t>
            </a:r>
            <a:r>
              <a:rPr lang="en-US" altLang="en-US" i="1" dirty="0"/>
              <a:t> 2.76 </a:t>
            </a:r>
            <a:r>
              <a:rPr lang="en-US" altLang="en-US" dirty="0">
                <a:sym typeface="Symbol" panose="05050102010706020507" pitchFamily="18" charset="2"/>
              </a:rPr>
              <a:t></a:t>
            </a:r>
            <a:r>
              <a:rPr lang="en-US" altLang="en-US" i="1" dirty="0"/>
              <a:t> </a:t>
            </a:r>
            <a:r>
              <a:rPr lang="en-US" altLang="en-US" i="1" dirty="0" err="1"/>
              <a:t>abstract_length</a:t>
            </a:r>
            <a:r>
              <a:rPr lang="en-US" altLang="en-US" i="1" dirty="0"/>
              <a:t>  !! </a:t>
            </a:r>
          </a:p>
        </p:txBody>
      </p:sp>
      <p:sp>
        <p:nvSpPr>
          <p:cNvPr id="159749" name="Text Box 5"/>
          <p:cNvSpPr txBox="1">
            <a:spLocks noChangeArrowheads="1"/>
          </p:cNvSpPr>
          <p:nvPr/>
        </p:nvSpPr>
        <p:spPr bwMode="auto">
          <a:xfrm>
            <a:off x="6629400" y="1295401"/>
            <a:ext cx="1473200" cy="20923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r>
              <a:rPr lang="en-US" altLang="en-US" sz="1000" dirty="0">
                <a:latin typeface="Times" panose="02020603050405020304" pitchFamily="18" charset="0"/>
              </a:rPr>
              <a:t>xx xxx </a:t>
            </a:r>
            <a:r>
              <a:rPr lang="en-US" altLang="en-US" sz="1000" dirty="0" err="1">
                <a:latin typeface="Times" panose="02020603050405020304" pitchFamily="18" charset="0"/>
              </a:rPr>
              <a:t>xxxx</a:t>
            </a:r>
            <a:r>
              <a:rPr lang="en-US" altLang="en-US" sz="1000" dirty="0">
                <a:latin typeface="Times" panose="02020603050405020304" pitchFamily="18" charset="0"/>
              </a:rPr>
              <a:t> x xx </a:t>
            </a:r>
            <a:r>
              <a:rPr lang="en-US" altLang="en-US" sz="1000" dirty="0" err="1">
                <a:latin typeface="Times" panose="02020603050405020304" pitchFamily="18" charset="0"/>
              </a:rPr>
              <a:t>xxxx</a:t>
            </a:r>
            <a:r>
              <a:rPr lang="en-US" altLang="en-US" sz="1000" dirty="0">
                <a:latin typeface="Times" panose="02020603050405020304" pitchFamily="18" charset="0"/>
              </a:rPr>
              <a:t> </a:t>
            </a:r>
          </a:p>
          <a:p>
            <a:r>
              <a:rPr lang="en-US" altLang="en-US" sz="1000" dirty="0">
                <a:latin typeface="Times" panose="02020603050405020304" pitchFamily="18" charset="0"/>
              </a:rPr>
              <a:t>xxx xx xxx xx </a:t>
            </a:r>
            <a:r>
              <a:rPr lang="en-US" altLang="en-US" sz="1000" dirty="0" err="1">
                <a:latin typeface="Times" panose="02020603050405020304" pitchFamily="18" charset="0"/>
              </a:rPr>
              <a:t>xxxxx</a:t>
            </a:r>
            <a:r>
              <a:rPr lang="en-US" altLang="en-US" sz="1000" dirty="0">
                <a:latin typeface="Times" panose="02020603050405020304" pitchFamily="18" charset="0"/>
              </a:rPr>
              <a:t> x</a:t>
            </a:r>
          </a:p>
          <a:p>
            <a:r>
              <a:rPr lang="en-US" altLang="en-US" sz="1000" dirty="0">
                <a:latin typeface="Times" panose="02020603050405020304" pitchFamily="18" charset="0"/>
              </a:rPr>
              <a:t>xxx xx xxx xx x xxx xx </a:t>
            </a:r>
          </a:p>
          <a:p>
            <a:r>
              <a:rPr lang="en-US" altLang="en-US" sz="1000" dirty="0">
                <a:latin typeface="Times" panose="02020603050405020304" pitchFamily="18" charset="0"/>
              </a:rPr>
              <a:t>xx xxx x xxx xx xxx x </a:t>
            </a:r>
          </a:p>
          <a:p>
            <a:r>
              <a:rPr lang="en-US" altLang="en-US" sz="1000" dirty="0">
                <a:latin typeface="Times" panose="02020603050405020304" pitchFamily="18" charset="0"/>
              </a:rPr>
              <a:t>xx x </a:t>
            </a:r>
            <a:r>
              <a:rPr lang="en-US" altLang="en-US" sz="1000" dirty="0" err="1">
                <a:latin typeface="Times" panose="02020603050405020304" pitchFamily="18" charset="0"/>
              </a:rPr>
              <a:t>xxxx</a:t>
            </a:r>
            <a:r>
              <a:rPr lang="en-US" altLang="en-US" sz="1000" dirty="0">
                <a:latin typeface="Times" panose="02020603050405020304" pitchFamily="18" charset="0"/>
              </a:rPr>
              <a:t> </a:t>
            </a:r>
            <a:r>
              <a:rPr lang="en-US" altLang="en-US" sz="1000" dirty="0" err="1">
                <a:latin typeface="Times" panose="02020603050405020304" pitchFamily="18" charset="0"/>
              </a:rPr>
              <a:t>xxxx</a:t>
            </a:r>
            <a:r>
              <a:rPr lang="en-US" altLang="en-US" sz="1000" dirty="0">
                <a:latin typeface="Times" panose="02020603050405020304" pitchFamily="18" charset="0"/>
              </a:rPr>
              <a:t> </a:t>
            </a:r>
            <a:r>
              <a:rPr lang="en-US" altLang="en-US" sz="1000" dirty="0" err="1">
                <a:latin typeface="Times" panose="02020603050405020304" pitchFamily="18" charset="0"/>
              </a:rPr>
              <a:t>xxxx</a:t>
            </a:r>
            <a:r>
              <a:rPr lang="en-US" altLang="en-US" sz="1000" dirty="0">
                <a:latin typeface="Times" panose="02020603050405020304" pitchFamily="18" charset="0"/>
              </a:rPr>
              <a:t> xx</a:t>
            </a:r>
          </a:p>
          <a:p>
            <a:r>
              <a:rPr lang="en-US" altLang="en-US" sz="1000" dirty="0">
                <a:latin typeface="Times" panose="02020603050405020304" pitchFamily="18" charset="0"/>
              </a:rPr>
              <a:t>xx </a:t>
            </a:r>
            <a:r>
              <a:rPr lang="en-US" altLang="en-US" sz="1000" dirty="0" err="1">
                <a:latin typeface="Times" panose="02020603050405020304" pitchFamily="18" charset="0"/>
              </a:rPr>
              <a:t>xxxx</a:t>
            </a:r>
            <a:r>
              <a:rPr lang="en-US" altLang="en-US" sz="1000" dirty="0">
                <a:latin typeface="Times" panose="02020603050405020304" pitchFamily="18" charset="0"/>
              </a:rPr>
              <a:t> xxx</a:t>
            </a:r>
          </a:p>
          <a:p>
            <a:r>
              <a:rPr lang="en-US" altLang="en-US" sz="1000" dirty="0">
                <a:latin typeface="Times" panose="02020603050405020304" pitchFamily="18" charset="0"/>
              </a:rPr>
              <a:t>xxx xx </a:t>
            </a:r>
            <a:r>
              <a:rPr lang="en-US" altLang="en-US" sz="1000" dirty="0" err="1">
                <a:latin typeface="Times" panose="02020603050405020304" pitchFamily="18" charset="0"/>
              </a:rPr>
              <a:t>xx</a:t>
            </a:r>
            <a:r>
              <a:rPr lang="en-US" altLang="en-US" sz="1000" dirty="0">
                <a:latin typeface="Times" panose="02020603050405020304" pitchFamily="18" charset="0"/>
              </a:rPr>
              <a:t> </a:t>
            </a:r>
            <a:r>
              <a:rPr lang="en-US" altLang="en-US" sz="1000" dirty="0" err="1">
                <a:latin typeface="Times" panose="02020603050405020304" pitchFamily="18" charset="0"/>
              </a:rPr>
              <a:t>xxxx</a:t>
            </a:r>
            <a:r>
              <a:rPr lang="en-US" altLang="en-US" sz="1000" dirty="0">
                <a:latin typeface="Times" panose="02020603050405020304" pitchFamily="18" charset="0"/>
              </a:rPr>
              <a:t> x xxx</a:t>
            </a:r>
          </a:p>
          <a:p>
            <a:r>
              <a:rPr lang="en-US" altLang="en-US" sz="1000" dirty="0">
                <a:latin typeface="Times" panose="02020603050405020304" pitchFamily="18" charset="0"/>
              </a:rPr>
              <a:t>xx x xx </a:t>
            </a:r>
            <a:r>
              <a:rPr lang="en-US" altLang="en-US" sz="1000" dirty="0" err="1">
                <a:latin typeface="Times" panose="02020603050405020304" pitchFamily="18" charset="0"/>
              </a:rPr>
              <a:t>xx</a:t>
            </a:r>
            <a:r>
              <a:rPr lang="en-US" altLang="en-US" sz="1000" dirty="0">
                <a:latin typeface="Times" panose="02020603050405020304" pitchFamily="18" charset="0"/>
              </a:rPr>
              <a:t>  </a:t>
            </a:r>
            <a:r>
              <a:rPr lang="en-US" altLang="en-US" sz="1000" dirty="0" err="1">
                <a:latin typeface="Times" panose="02020603050405020304" pitchFamily="18" charset="0"/>
              </a:rPr>
              <a:t>xxxxx</a:t>
            </a:r>
            <a:r>
              <a:rPr lang="en-US" altLang="en-US" sz="1000" dirty="0">
                <a:latin typeface="Times" panose="02020603050405020304" pitchFamily="18" charset="0"/>
              </a:rPr>
              <a:t> x </a:t>
            </a:r>
            <a:r>
              <a:rPr lang="en-US" altLang="en-US" sz="1000" dirty="0" err="1">
                <a:latin typeface="Times" panose="02020603050405020304" pitchFamily="18" charset="0"/>
              </a:rPr>
              <a:t>x</a:t>
            </a:r>
            <a:r>
              <a:rPr lang="en-US" altLang="en-US" sz="1000" dirty="0">
                <a:latin typeface="Times" panose="02020603050405020304" pitchFamily="18" charset="0"/>
              </a:rPr>
              <a:t> xx</a:t>
            </a:r>
          </a:p>
          <a:p>
            <a:r>
              <a:rPr lang="en-US" altLang="en-US" sz="1000" dirty="0">
                <a:latin typeface="Times" panose="02020603050405020304" pitchFamily="18" charset="0"/>
              </a:rPr>
              <a:t>xxx </a:t>
            </a:r>
            <a:r>
              <a:rPr lang="en-US" altLang="en-US" sz="1000" dirty="0" err="1">
                <a:latin typeface="Times" panose="02020603050405020304" pitchFamily="18" charset="0"/>
              </a:rPr>
              <a:t>xxxxxx</a:t>
            </a:r>
            <a:r>
              <a:rPr lang="en-US" altLang="en-US" sz="1000" dirty="0">
                <a:latin typeface="Times" panose="02020603050405020304" pitchFamily="18" charset="0"/>
              </a:rPr>
              <a:t> </a:t>
            </a:r>
            <a:r>
              <a:rPr lang="en-US" altLang="en-US" sz="1000" dirty="0" err="1">
                <a:latin typeface="Times" panose="02020603050405020304" pitchFamily="18" charset="0"/>
              </a:rPr>
              <a:t>xxxxxx</a:t>
            </a:r>
            <a:r>
              <a:rPr lang="en-US" altLang="en-US" sz="1000" dirty="0">
                <a:latin typeface="Times" panose="02020603050405020304" pitchFamily="18" charset="0"/>
              </a:rPr>
              <a:t> x </a:t>
            </a:r>
            <a:r>
              <a:rPr lang="en-US" altLang="en-US" sz="1000" dirty="0" err="1">
                <a:latin typeface="Times" panose="02020603050405020304" pitchFamily="18" charset="0"/>
              </a:rPr>
              <a:t>x</a:t>
            </a:r>
            <a:endParaRPr lang="en-US" altLang="en-US" sz="1000" dirty="0">
              <a:latin typeface="Times" panose="02020603050405020304" pitchFamily="18" charset="0"/>
            </a:endParaRPr>
          </a:p>
          <a:p>
            <a:r>
              <a:rPr lang="en-US" altLang="en-US" sz="1000" dirty="0" err="1">
                <a:latin typeface="Times" panose="02020603050405020304" pitchFamily="18" charset="0"/>
              </a:rPr>
              <a:t>xxxxxxx</a:t>
            </a:r>
            <a:r>
              <a:rPr lang="en-US" altLang="en-US" sz="1000" dirty="0">
                <a:latin typeface="Times" panose="02020603050405020304" pitchFamily="18" charset="0"/>
              </a:rPr>
              <a:t> xx x </a:t>
            </a:r>
            <a:r>
              <a:rPr lang="en-US" altLang="en-US" sz="1000" dirty="0" err="1">
                <a:latin typeface="Times" panose="02020603050405020304" pitchFamily="18" charset="0"/>
              </a:rPr>
              <a:t>xxxxxx</a:t>
            </a:r>
            <a:endParaRPr lang="en-US" altLang="en-US" sz="1000" dirty="0">
              <a:latin typeface="Times" panose="02020603050405020304" pitchFamily="18" charset="0"/>
            </a:endParaRPr>
          </a:p>
          <a:p>
            <a:r>
              <a:rPr lang="en-US" altLang="en-US" sz="1000" dirty="0" err="1">
                <a:latin typeface="Times" panose="02020603050405020304" pitchFamily="18" charset="0"/>
              </a:rPr>
              <a:t>xxxx</a:t>
            </a:r>
            <a:r>
              <a:rPr lang="en-US" altLang="en-US" sz="1000" dirty="0">
                <a:latin typeface="Times" panose="02020603050405020304" pitchFamily="18" charset="0"/>
              </a:rPr>
              <a:t> </a:t>
            </a:r>
          </a:p>
          <a:p>
            <a:r>
              <a:rPr lang="en-US" altLang="en-US" sz="1000" dirty="0">
                <a:latin typeface="Times" panose="02020603050405020304" pitchFamily="18" charset="0"/>
              </a:rPr>
              <a:t>xx </a:t>
            </a:r>
            <a:r>
              <a:rPr lang="en-US" altLang="en-US" sz="1000" dirty="0" err="1">
                <a:latin typeface="Times" panose="02020603050405020304" pitchFamily="18" charset="0"/>
              </a:rPr>
              <a:t>xx</a:t>
            </a:r>
            <a:r>
              <a:rPr lang="en-US" altLang="en-US" sz="1000" dirty="0">
                <a:latin typeface="Times" panose="02020603050405020304" pitchFamily="18" charset="0"/>
              </a:rPr>
              <a:t> </a:t>
            </a:r>
            <a:r>
              <a:rPr lang="en-US" altLang="en-US" sz="1000" dirty="0" err="1">
                <a:latin typeface="Times" panose="02020603050405020304" pitchFamily="18" charset="0"/>
              </a:rPr>
              <a:t>xxxxx</a:t>
            </a:r>
            <a:r>
              <a:rPr lang="en-US" altLang="en-US" sz="1000" dirty="0">
                <a:latin typeface="Times" panose="02020603050405020304" pitchFamily="18" charset="0"/>
              </a:rPr>
              <a:t> xxx xx x xx</a:t>
            </a:r>
          </a:p>
          <a:p>
            <a:r>
              <a:rPr lang="en-US" altLang="en-US" sz="1000" dirty="0">
                <a:latin typeface="Times" panose="02020603050405020304" pitchFamily="18" charset="0"/>
              </a:rPr>
              <a:t>xx </a:t>
            </a:r>
            <a:r>
              <a:rPr lang="en-US" altLang="en-US" sz="1000" dirty="0" err="1">
                <a:latin typeface="Times" panose="02020603050405020304" pitchFamily="18" charset="0"/>
              </a:rPr>
              <a:t>xxxx</a:t>
            </a:r>
            <a:r>
              <a:rPr lang="en-US" altLang="en-US" sz="1000" dirty="0">
                <a:latin typeface="Times" panose="02020603050405020304" pitchFamily="18" charset="0"/>
              </a:rPr>
              <a:t> xxx </a:t>
            </a:r>
            <a:r>
              <a:rPr lang="en-US" altLang="en-US" sz="1000" dirty="0" err="1">
                <a:latin typeface="Times" panose="02020603050405020304" pitchFamily="18" charset="0"/>
              </a:rPr>
              <a:t>xxxx</a:t>
            </a:r>
            <a:r>
              <a:rPr lang="en-US" altLang="en-US" sz="1000" dirty="0">
                <a:latin typeface="Times" panose="02020603050405020304" pitchFamily="18" charset="0"/>
              </a:rPr>
              <a:t> xx </a:t>
            </a:r>
          </a:p>
        </p:txBody>
      </p:sp>
      <p:sp>
        <p:nvSpPr>
          <p:cNvPr id="159746" name="Rectangle 2"/>
          <p:cNvSpPr>
            <a:spLocks noGrp="1" noChangeArrowheads="1"/>
          </p:cNvSpPr>
          <p:nvPr>
            <p:ph type="title"/>
          </p:nvPr>
        </p:nvSpPr>
        <p:spPr/>
        <p:txBody>
          <a:bodyPr/>
          <a:lstStyle/>
          <a:p>
            <a:r>
              <a:rPr lang="en-US" altLang="en-US"/>
              <a:t>Topic Interpretation</a:t>
            </a:r>
          </a:p>
        </p:txBody>
      </p:sp>
      <p:sp>
        <p:nvSpPr>
          <p:cNvPr id="159750" name="AutoShape 6"/>
          <p:cNvSpPr>
            <a:spLocks noChangeArrowheads="1"/>
          </p:cNvSpPr>
          <p:nvPr/>
        </p:nvSpPr>
        <p:spPr bwMode="auto">
          <a:xfrm>
            <a:off x="8229600" y="2109670"/>
            <a:ext cx="457200" cy="733663"/>
          </a:xfrm>
          <a:prstGeom prst="rightArrow">
            <a:avLst>
              <a:gd name="adj1" fmla="val 50000"/>
              <a:gd name="adj2" fmla="val 25000"/>
            </a:avLst>
          </a:prstGeom>
          <a:solidFill>
            <a:schemeClr val="hlink"/>
          </a:solidFill>
          <a:ln w="12700">
            <a:solidFill>
              <a:srgbClr val="3399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59752" name="Text Box 8"/>
          <p:cNvSpPr txBox="1">
            <a:spLocks noChangeArrowheads="1"/>
          </p:cNvSpPr>
          <p:nvPr/>
        </p:nvSpPr>
        <p:spPr bwMode="auto">
          <a:xfrm>
            <a:off x="8763000" y="1600201"/>
            <a:ext cx="1371600" cy="16351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r>
              <a:rPr lang="en-US" altLang="en-US" sz="1000" dirty="0">
                <a:latin typeface="Times" panose="02020603050405020304" pitchFamily="18" charset="0"/>
              </a:rPr>
              <a:t>xxx xx xxx </a:t>
            </a:r>
            <a:r>
              <a:rPr lang="en-US" altLang="en-US" sz="1000" dirty="0" err="1">
                <a:latin typeface="Times" panose="02020603050405020304" pitchFamily="18" charset="0"/>
              </a:rPr>
              <a:t>xxxx</a:t>
            </a:r>
            <a:r>
              <a:rPr lang="en-US" altLang="en-US" sz="1000" dirty="0">
                <a:latin typeface="Times" panose="02020603050405020304" pitchFamily="18" charset="0"/>
              </a:rPr>
              <a:t> xx</a:t>
            </a:r>
          </a:p>
          <a:p>
            <a:r>
              <a:rPr lang="en-US" altLang="en-US" sz="1000" dirty="0">
                <a:latin typeface="Times" panose="02020603050405020304" pitchFamily="18" charset="0"/>
              </a:rPr>
              <a:t>xxx x </a:t>
            </a:r>
            <a:r>
              <a:rPr lang="en-US" altLang="en-US" sz="1000" dirty="0" err="1">
                <a:latin typeface="Times" panose="02020603050405020304" pitchFamily="18" charset="0"/>
              </a:rPr>
              <a:t>xxxx</a:t>
            </a:r>
            <a:r>
              <a:rPr lang="en-US" altLang="en-US" sz="1000" dirty="0">
                <a:latin typeface="Times" panose="02020603050405020304" pitchFamily="18" charset="0"/>
              </a:rPr>
              <a:t> x xx </a:t>
            </a:r>
            <a:r>
              <a:rPr lang="en-US" altLang="en-US" sz="1000" dirty="0" err="1">
                <a:latin typeface="Times" panose="02020603050405020304" pitchFamily="18" charset="0"/>
              </a:rPr>
              <a:t>xxxx</a:t>
            </a:r>
            <a:endParaRPr lang="en-US" altLang="en-US" sz="1000" dirty="0">
              <a:latin typeface="Times" panose="02020603050405020304" pitchFamily="18" charset="0"/>
            </a:endParaRPr>
          </a:p>
          <a:p>
            <a:r>
              <a:rPr lang="en-US" altLang="en-US" sz="1000" dirty="0">
                <a:latin typeface="Times" panose="02020603050405020304" pitchFamily="18" charset="0"/>
              </a:rPr>
              <a:t>xx xxx </a:t>
            </a:r>
            <a:r>
              <a:rPr lang="en-US" altLang="en-US" sz="1000" dirty="0" err="1">
                <a:latin typeface="Times" panose="02020603050405020304" pitchFamily="18" charset="0"/>
              </a:rPr>
              <a:t>xxxx</a:t>
            </a:r>
            <a:r>
              <a:rPr lang="en-US" altLang="en-US" sz="1000" dirty="0">
                <a:latin typeface="Times" panose="02020603050405020304" pitchFamily="18" charset="0"/>
              </a:rPr>
              <a:t> xx x xxx</a:t>
            </a:r>
          </a:p>
          <a:p>
            <a:r>
              <a:rPr lang="en-US" altLang="en-US" sz="1000" dirty="0">
                <a:latin typeface="Times" panose="02020603050405020304" pitchFamily="18" charset="0"/>
              </a:rPr>
              <a:t>xxx </a:t>
            </a:r>
            <a:r>
              <a:rPr lang="en-US" altLang="en-US" sz="1000" dirty="0" err="1">
                <a:latin typeface="Times" panose="02020603050405020304" pitchFamily="18" charset="0"/>
              </a:rPr>
              <a:t>xxxx</a:t>
            </a:r>
            <a:r>
              <a:rPr lang="en-US" altLang="en-US" sz="1000" dirty="0">
                <a:latin typeface="Times" panose="02020603050405020304" pitchFamily="18" charset="0"/>
              </a:rPr>
              <a:t> x xxx x xxx</a:t>
            </a:r>
          </a:p>
          <a:p>
            <a:r>
              <a:rPr lang="en-US" altLang="en-US" sz="1000" dirty="0">
                <a:latin typeface="Times" panose="02020603050405020304" pitchFamily="18" charset="0"/>
              </a:rPr>
              <a:t>xx </a:t>
            </a:r>
            <a:r>
              <a:rPr lang="en-US" altLang="en-US" sz="1000" dirty="0" err="1">
                <a:latin typeface="Times" panose="02020603050405020304" pitchFamily="18" charset="0"/>
              </a:rPr>
              <a:t>xx</a:t>
            </a:r>
            <a:r>
              <a:rPr lang="en-US" altLang="en-US" sz="1000" dirty="0">
                <a:latin typeface="Times" panose="02020603050405020304" pitchFamily="18" charset="0"/>
              </a:rPr>
              <a:t>  </a:t>
            </a:r>
            <a:r>
              <a:rPr lang="en-US" altLang="en-US" sz="1000" dirty="0" err="1">
                <a:latin typeface="Times" panose="02020603050405020304" pitchFamily="18" charset="0"/>
              </a:rPr>
              <a:t>xxxxx</a:t>
            </a:r>
            <a:r>
              <a:rPr lang="en-US" altLang="en-US" sz="1000" dirty="0">
                <a:latin typeface="Times" panose="02020603050405020304" pitchFamily="18" charset="0"/>
              </a:rPr>
              <a:t> x </a:t>
            </a:r>
            <a:r>
              <a:rPr lang="en-US" altLang="en-US" sz="1000" dirty="0" err="1">
                <a:latin typeface="Times" panose="02020603050405020304" pitchFamily="18" charset="0"/>
              </a:rPr>
              <a:t>x</a:t>
            </a:r>
            <a:r>
              <a:rPr lang="en-US" altLang="en-US" sz="1000" dirty="0">
                <a:latin typeface="Times" panose="02020603050405020304" pitchFamily="18" charset="0"/>
              </a:rPr>
              <a:t> xx</a:t>
            </a:r>
          </a:p>
          <a:p>
            <a:r>
              <a:rPr lang="en-US" altLang="en-US" sz="1000" dirty="0" err="1">
                <a:latin typeface="Times" panose="02020603050405020304" pitchFamily="18" charset="0"/>
              </a:rPr>
              <a:t>xxxxxxx</a:t>
            </a:r>
            <a:r>
              <a:rPr lang="en-US" altLang="en-US" sz="1000" dirty="0">
                <a:latin typeface="Times" panose="02020603050405020304" pitchFamily="18" charset="0"/>
              </a:rPr>
              <a:t> xx x </a:t>
            </a:r>
            <a:r>
              <a:rPr lang="en-US" altLang="en-US" sz="1000" dirty="0" err="1">
                <a:latin typeface="Times" panose="02020603050405020304" pitchFamily="18" charset="0"/>
              </a:rPr>
              <a:t>xxxxxx</a:t>
            </a:r>
            <a:endParaRPr lang="en-US" altLang="en-US" sz="1000" dirty="0">
              <a:latin typeface="Times" panose="02020603050405020304" pitchFamily="18" charset="0"/>
            </a:endParaRPr>
          </a:p>
          <a:p>
            <a:r>
              <a:rPr lang="en-US" altLang="en-US" sz="1000" dirty="0" err="1">
                <a:latin typeface="Times" panose="02020603050405020304" pitchFamily="18" charset="0"/>
              </a:rPr>
              <a:t>xxxx</a:t>
            </a:r>
            <a:r>
              <a:rPr lang="en-US" altLang="en-US" sz="1000" dirty="0">
                <a:latin typeface="Times" panose="02020603050405020304" pitchFamily="18" charset="0"/>
              </a:rPr>
              <a:t> </a:t>
            </a:r>
          </a:p>
          <a:p>
            <a:r>
              <a:rPr lang="en-US" altLang="en-US" sz="1000" dirty="0">
                <a:latin typeface="Times" panose="02020603050405020304" pitchFamily="18" charset="0"/>
              </a:rPr>
              <a:t>xx </a:t>
            </a:r>
            <a:r>
              <a:rPr lang="en-US" altLang="en-US" sz="1000" dirty="0" err="1">
                <a:latin typeface="Times" panose="02020603050405020304" pitchFamily="18" charset="0"/>
              </a:rPr>
              <a:t>xx</a:t>
            </a:r>
            <a:r>
              <a:rPr lang="en-US" altLang="en-US" sz="1000" dirty="0">
                <a:latin typeface="Times" panose="02020603050405020304" pitchFamily="18" charset="0"/>
              </a:rPr>
              <a:t> </a:t>
            </a:r>
            <a:r>
              <a:rPr lang="en-US" altLang="en-US" sz="1000" dirty="0" err="1">
                <a:latin typeface="Times" panose="02020603050405020304" pitchFamily="18" charset="0"/>
              </a:rPr>
              <a:t>xxxxx</a:t>
            </a:r>
            <a:r>
              <a:rPr lang="en-US" altLang="en-US" sz="1000" dirty="0">
                <a:latin typeface="Times" panose="02020603050405020304" pitchFamily="18" charset="0"/>
              </a:rPr>
              <a:t> xxx xx</a:t>
            </a:r>
          </a:p>
          <a:p>
            <a:r>
              <a:rPr lang="en-US" altLang="en-US" sz="1000" dirty="0">
                <a:latin typeface="Times" panose="02020603050405020304" pitchFamily="18" charset="0"/>
              </a:rPr>
              <a:t>xxx xx </a:t>
            </a:r>
            <a:r>
              <a:rPr lang="en-US" altLang="en-US" sz="1000" dirty="0" err="1">
                <a:latin typeface="Times" panose="02020603050405020304" pitchFamily="18" charset="0"/>
              </a:rPr>
              <a:t>xxxx</a:t>
            </a:r>
            <a:r>
              <a:rPr lang="en-US" altLang="en-US" sz="1000" dirty="0">
                <a:latin typeface="Times" panose="02020603050405020304" pitchFamily="18" charset="0"/>
              </a:rPr>
              <a:t> x </a:t>
            </a:r>
            <a:r>
              <a:rPr lang="en-US" altLang="en-US" sz="1000" dirty="0" err="1">
                <a:latin typeface="Times" panose="02020603050405020304" pitchFamily="18" charset="0"/>
              </a:rPr>
              <a:t>xxxxx</a:t>
            </a:r>
            <a:endParaRPr lang="en-US" altLang="en-US" sz="1000" dirty="0">
              <a:latin typeface="Times" panose="02020603050405020304" pitchFamily="18" charset="0"/>
            </a:endParaRPr>
          </a:p>
          <a:p>
            <a:r>
              <a:rPr lang="en-US" altLang="en-US" sz="1000" dirty="0">
                <a:latin typeface="Times" panose="02020603050405020304" pitchFamily="18" charset="0"/>
              </a:rPr>
              <a:t>xx </a:t>
            </a:r>
            <a:r>
              <a:rPr lang="en-US" altLang="en-US" sz="1000" dirty="0" err="1">
                <a:latin typeface="Times" panose="02020603050405020304" pitchFamily="18" charset="0"/>
              </a:rPr>
              <a:t>xxxxx</a:t>
            </a:r>
            <a:r>
              <a:rPr lang="en-US" altLang="en-US" sz="1000" dirty="0">
                <a:latin typeface="Times" panose="02020603050405020304" pitchFamily="18" charset="0"/>
              </a:rPr>
              <a:t> x </a:t>
            </a:r>
          </a:p>
        </p:txBody>
      </p:sp>
      <p:sp>
        <p:nvSpPr>
          <p:cNvPr id="159757" name="Line 13"/>
          <p:cNvSpPr>
            <a:spLocks noChangeShapeType="1"/>
          </p:cNvSpPr>
          <p:nvPr/>
        </p:nvSpPr>
        <p:spPr bwMode="auto">
          <a:xfrm>
            <a:off x="7642225" y="1431925"/>
            <a:ext cx="1612900" cy="261938"/>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9758" name="Line 14"/>
          <p:cNvSpPr>
            <a:spLocks noChangeShapeType="1"/>
          </p:cNvSpPr>
          <p:nvPr/>
        </p:nvSpPr>
        <p:spPr bwMode="auto">
          <a:xfrm flipV="1">
            <a:off x="7853363" y="2973389"/>
            <a:ext cx="1390650" cy="111125"/>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9759" name="Line 15"/>
          <p:cNvSpPr>
            <a:spLocks noChangeShapeType="1"/>
          </p:cNvSpPr>
          <p:nvPr/>
        </p:nvSpPr>
        <p:spPr bwMode="auto">
          <a:xfrm>
            <a:off x="7540626" y="2016125"/>
            <a:ext cx="1552575" cy="141288"/>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9760" name="Line 16"/>
          <p:cNvSpPr>
            <a:spLocks noChangeShapeType="1"/>
          </p:cNvSpPr>
          <p:nvPr/>
        </p:nvSpPr>
        <p:spPr bwMode="auto">
          <a:xfrm flipV="1">
            <a:off x="7872413" y="2509838"/>
            <a:ext cx="1371600" cy="273050"/>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Tree>
    <p:extLst>
      <p:ext uri="{BB962C8B-B14F-4D97-AF65-F5344CB8AC3E}">
        <p14:creationId xmlns:p14="http://schemas.microsoft.com/office/powerpoint/2010/main" val="14106718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26"/>
          <p:cNvSpPr>
            <a:spLocks noGrp="1" noChangeArrowheads="1"/>
          </p:cNvSpPr>
          <p:nvPr>
            <p:ph type="title"/>
          </p:nvPr>
        </p:nvSpPr>
        <p:spPr/>
        <p:txBody>
          <a:bodyPr/>
          <a:lstStyle/>
          <a:p>
            <a:r>
              <a:rPr lang="en-US" altLang="en-US"/>
              <a:t>Some Types of Interpretation</a:t>
            </a:r>
          </a:p>
        </p:txBody>
      </p:sp>
      <p:sp>
        <p:nvSpPr>
          <p:cNvPr id="160771" name="Rectangle 1027"/>
          <p:cNvSpPr>
            <a:spLocks noGrp="1" noChangeArrowheads="1"/>
          </p:cNvSpPr>
          <p:nvPr>
            <p:ph type="body" idx="1"/>
          </p:nvPr>
        </p:nvSpPr>
        <p:spPr>
          <a:xfrm>
            <a:off x="1853956" y="1387719"/>
            <a:ext cx="8229600" cy="4978400"/>
          </a:xfrm>
        </p:spPr>
        <p:txBody>
          <a:bodyPr/>
          <a:lstStyle/>
          <a:p>
            <a:r>
              <a:rPr lang="en-US" altLang="en-US" u="sng" dirty="0"/>
              <a:t>Concept generalization:</a:t>
            </a:r>
            <a:endParaRPr lang="en-US" altLang="en-US" dirty="0"/>
          </a:p>
          <a:p>
            <a:pPr lvl="1">
              <a:spcBef>
                <a:spcPct val="10000"/>
              </a:spcBef>
              <a:buFontTx/>
              <a:buNone/>
            </a:pPr>
            <a:r>
              <a:rPr lang="en-US" altLang="en-US" i="1" dirty="0">
                <a:solidFill>
                  <a:schemeClr val="accent1"/>
                </a:solidFill>
              </a:rPr>
              <a:t>Sue ate apples, pears, and bananas  </a:t>
            </a:r>
            <a:r>
              <a:rPr lang="en-US" altLang="en-US" i="1" dirty="0">
                <a:solidFill>
                  <a:schemeClr val="accent1"/>
                </a:solidFill>
                <a:sym typeface="Symbol" panose="05050102010706020507" pitchFamily="18" charset="2"/>
              </a:rPr>
              <a:t></a:t>
            </a:r>
            <a:r>
              <a:rPr lang="en-US" altLang="en-US" i="1" dirty="0">
                <a:solidFill>
                  <a:schemeClr val="accent1"/>
                </a:solidFill>
              </a:rPr>
              <a:t>  Sue ate fruit</a:t>
            </a:r>
            <a:endParaRPr lang="en-US" altLang="en-US" dirty="0"/>
          </a:p>
          <a:p>
            <a:r>
              <a:rPr lang="en-US" altLang="en-US" u="sng" dirty="0" err="1"/>
              <a:t>Meronymy</a:t>
            </a:r>
            <a:r>
              <a:rPr lang="en-US" altLang="en-US" u="sng" dirty="0"/>
              <a:t> replacement:</a:t>
            </a:r>
            <a:endParaRPr lang="en-US" altLang="en-US" dirty="0"/>
          </a:p>
          <a:p>
            <a:pPr lvl="1">
              <a:spcBef>
                <a:spcPct val="10000"/>
              </a:spcBef>
              <a:buFontTx/>
              <a:buNone/>
            </a:pPr>
            <a:r>
              <a:rPr lang="en-US" altLang="en-US" i="1" dirty="0">
                <a:solidFill>
                  <a:schemeClr val="accent1"/>
                </a:solidFill>
              </a:rPr>
              <a:t>Both wheels, the pedals, saddle, chain… </a:t>
            </a:r>
            <a:r>
              <a:rPr lang="en-US" altLang="en-US" i="1" dirty="0">
                <a:solidFill>
                  <a:schemeClr val="accent1"/>
                </a:solidFill>
                <a:sym typeface="Symbol" panose="05050102010706020507" pitchFamily="18" charset="2"/>
              </a:rPr>
              <a:t></a:t>
            </a:r>
            <a:r>
              <a:rPr lang="en-US" altLang="en-US" i="1" dirty="0">
                <a:solidFill>
                  <a:schemeClr val="accent1"/>
                </a:solidFill>
              </a:rPr>
              <a:t>  the bike</a:t>
            </a:r>
            <a:endParaRPr lang="en-US" altLang="en-US" dirty="0"/>
          </a:p>
          <a:p>
            <a:r>
              <a:rPr lang="en-US" altLang="en-US" u="sng" dirty="0"/>
              <a:t>Script identification:	</a:t>
            </a:r>
            <a:r>
              <a:rPr lang="en-US" altLang="en-US" dirty="0"/>
              <a:t> </a:t>
            </a:r>
            <a:r>
              <a:rPr lang="en-US" altLang="en-US" sz="2400" dirty="0"/>
              <a:t>(</a:t>
            </a:r>
            <a:r>
              <a:rPr lang="en-US" altLang="en-US" sz="2400" dirty="0" err="1"/>
              <a:t>Schank</a:t>
            </a:r>
            <a:r>
              <a:rPr lang="en-US" altLang="en-US" sz="2400" dirty="0"/>
              <a:t> and Abelson, 77)</a:t>
            </a:r>
            <a:endParaRPr lang="en-US" altLang="en-US" dirty="0"/>
          </a:p>
          <a:p>
            <a:pPr lvl="1">
              <a:spcBef>
                <a:spcPct val="10000"/>
              </a:spcBef>
              <a:buFontTx/>
              <a:buNone/>
            </a:pPr>
            <a:r>
              <a:rPr lang="en-US" altLang="en-US" i="1" dirty="0">
                <a:solidFill>
                  <a:schemeClr val="accent1"/>
                </a:solidFill>
              </a:rPr>
              <a:t>He sat down, read the menu, ordered, ate, paid, and left  </a:t>
            </a:r>
            <a:r>
              <a:rPr lang="en-US" altLang="en-US" i="1" dirty="0">
                <a:solidFill>
                  <a:schemeClr val="accent1"/>
                </a:solidFill>
                <a:sym typeface="Symbol" panose="05050102010706020507" pitchFamily="18" charset="2"/>
              </a:rPr>
              <a:t></a:t>
            </a:r>
            <a:r>
              <a:rPr lang="en-US" altLang="en-US" i="1" dirty="0">
                <a:solidFill>
                  <a:schemeClr val="accent1"/>
                </a:solidFill>
              </a:rPr>
              <a:t>  He ate at the restaurant</a:t>
            </a:r>
            <a:endParaRPr lang="en-US" altLang="en-US" u="sng" dirty="0"/>
          </a:p>
          <a:p>
            <a:pPr>
              <a:spcBef>
                <a:spcPct val="10000"/>
              </a:spcBef>
            </a:pPr>
            <a:r>
              <a:rPr lang="en-US" altLang="en-US" u="sng" dirty="0"/>
              <a:t>Metonymy:</a:t>
            </a:r>
            <a:endParaRPr lang="en-US" altLang="en-US" dirty="0"/>
          </a:p>
          <a:p>
            <a:pPr lvl="1">
              <a:spcBef>
                <a:spcPct val="10000"/>
              </a:spcBef>
              <a:buFontTx/>
              <a:buNone/>
            </a:pPr>
            <a:r>
              <a:rPr lang="en-US" altLang="en-US" i="1" dirty="0">
                <a:solidFill>
                  <a:schemeClr val="accent1"/>
                </a:solidFill>
              </a:rPr>
              <a:t>A spokesperson for the US Government announced that… </a:t>
            </a:r>
            <a:r>
              <a:rPr lang="en-US" altLang="en-US" i="1" dirty="0">
                <a:solidFill>
                  <a:schemeClr val="accent1"/>
                </a:solidFill>
                <a:sym typeface="Symbol" panose="05050102010706020507" pitchFamily="18" charset="2"/>
              </a:rPr>
              <a:t></a:t>
            </a:r>
            <a:r>
              <a:rPr lang="en-US" altLang="en-US" i="1" dirty="0">
                <a:solidFill>
                  <a:schemeClr val="accent1"/>
                </a:solidFill>
              </a:rPr>
              <a:t>  Washington announced that...</a:t>
            </a:r>
            <a:endParaRPr lang="en-US" altLang="en-US" dirty="0"/>
          </a:p>
          <a:p>
            <a:endParaRPr lang="en-US" altLang="en-US" dirty="0"/>
          </a:p>
        </p:txBody>
      </p:sp>
      <p:sp>
        <p:nvSpPr>
          <p:cNvPr id="2" name="Rectangle 1"/>
          <p:cNvSpPr/>
          <p:nvPr/>
        </p:nvSpPr>
        <p:spPr>
          <a:xfrm>
            <a:off x="838200" y="5922013"/>
            <a:ext cx="11072202" cy="646331"/>
          </a:xfrm>
          <a:prstGeom prst="rect">
            <a:avLst/>
          </a:prstGeom>
        </p:spPr>
        <p:txBody>
          <a:bodyPr wrap="square">
            <a:spAutoFit/>
          </a:bodyPr>
          <a:lstStyle/>
          <a:p>
            <a:r>
              <a:rPr lang="en-US" dirty="0">
                <a:solidFill>
                  <a:srgbClr val="222222"/>
                </a:solidFill>
                <a:latin typeface="arial" panose="020B0604020202020204" pitchFamily="34" charset="0"/>
              </a:rPr>
              <a:t>Meronyms: a term which denotes part of something but which is used to refer to the whole of it</a:t>
            </a:r>
          </a:p>
          <a:p>
            <a:r>
              <a:rPr lang="en-US" dirty="0">
                <a:solidFill>
                  <a:srgbClr val="222222"/>
                </a:solidFill>
                <a:latin typeface="arial" panose="020B0604020202020204" pitchFamily="34" charset="0"/>
              </a:rPr>
              <a:t>Metonym: </a:t>
            </a:r>
            <a:r>
              <a:rPr lang="en-US" dirty="0"/>
              <a:t>a word, name, or expression used as a substitute for something else with which it is closely associated.</a:t>
            </a:r>
          </a:p>
        </p:txBody>
      </p:sp>
    </p:spTree>
    <p:extLst>
      <p:ext uri="{BB962C8B-B14F-4D97-AF65-F5344CB8AC3E}">
        <p14:creationId xmlns:p14="http://schemas.microsoft.com/office/powerpoint/2010/main" val="15973982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609850" y="650875"/>
            <a:ext cx="6669088" cy="679450"/>
          </a:xfrm>
        </p:spPr>
        <p:txBody>
          <a:bodyPr>
            <a:normAutofit fontScale="90000"/>
          </a:bodyPr>
          <a:lstStyle/>
          <a:p>
            <a:r>
              <a:rPr lang="en-GB" altLang="en-US"/>
              <a:t>NLP for summarization</a:t>
            </a:r>
          </a:p>
        </p:txBody>
      </p:sp>
      <p:sp>
        <p:nvSpPr>
          <p:cNvPr id="26627" name="Rectangle 3"/>
          <p:cNvSpPr>
            <a:spLocks noGrp="1" noChangeArrowheads="1"/>
          </p:cNvSpPr>
          <p:nvPr>
            <p:ph type="body" idx="1"/>
          </p:nvPr>
        </p:nvSpPr>
        <p:spPr>
          <a:xfrm>
            <a:off x="2351088" y="1773238"/>
            <a:ext cx="7783512" cy="4398962"/>
          </a:xfrm>
        </p:spPr>
        <p:txBody>
          <a:bodyPr/>
          <a:lstStyle/>
          <a:p>
            <a:pPr>
              <a:lnSpc>
                <a:spcPct val="80000"/>
              </a:lnSpc>
              <a:buFont typeface="Wingdings" panose="05000000000000000000" pitchFamily="2" charset="2"/>
              <a:buNone/>
            </a:pPr>
            <a:r>
              <a:rPr lang="en-GB" altLang="en-US" sz="2400"/>
              <a:t>detecting syntactic structure for condensation</a:t>
            </a:r>
          </a:p>
          <a:p>
            <a:pPr lvl="1">
              <a:lnSpc>
                <a:spcPct val="80000"/>
              </a:lnSpc>
              <a:buFont typeface="Wingdings" panose="05000000000000000000" pitchFamily="2" charset="2"/>
              <a:buNone/>
            </a:pPr>
            <a:r>
              <a:rPr lang="en-GB" altLang="en-US" sz="1800"/>
              <a:t>I: Solomon, </a:t>
            </a:r>
            <a:r>
              <a:rPr lang="en-GB" altLang="en-US" sz="1800" u="sng"/>
              <a:t>a sophomore at Heritage School in Convers</a:t>
            </a:r>
            <a:r>
              <a:rPr lang="en-GB" altLang="en-US" sz="1800"/>
              <a:t>, is accused of opening fire on schoolmates.</a:t>
            </a:r>
          </a:p>
          <a:p>
            <a:pPr lvl="1">
              <a:lnSpc>
                <a:spcPct val="80000"/>
              </a:lnSpc>
              <a:buFont typeface="Wingdings" panose="05000000000000000000" pitchFamily="2" charset="2"/>
              <a:buNone/>
            </a:pPr>
            <a:r>
              <a:rPr lang="en-GB" altLang="en-US" sz="1800"/>
              <a:t>O: Solomon is accused of opening fire on schoolmates.</a:t>
            </a:r>
          </a:p>
          <a:p>
            <a:pPr>
              <a:lnSpc>
                <a:spcPct val="80000"/>
              </a:lnSpc>
              <a:buFont typeface="Wingdings" panose="05000000000000000000" pitchFamily="2" charset="2"/>
              <a:buNone/>
            </a:pPr>
            <a:r>
              <a:rPr lang="en-GB" altLang="en-US" sz="2400"/>
              <a:t>meaning to support condensation</a:t>
            </a:r>
          </a:p>
          <a:p>
            <a:pPr lvl="1">
              <a:lnSpc>
                <a:spcPct val="80000"/>
              </a:lnSpc>
              <a:buFont typeface="Wingdings" panose="05000000000000000000" pitchFamily="2" charset="2"/>
              <a:buNone/>
            </a:pPr>
            <a:r>
              <a:rPr lang="en-GB" altLang="en-US" sz="1800"/>
              <a:t>I: </a:t>
            </a:r>
            <a:r>
              <a:rPr lang="en-GB" altLang="en-US" sz="1800" u="sng"/>
              <a:t>25 people</a:t>
            </a:r>
            <a:r>
              <a:rPr lang="en-GB" altLang="en-US" sz="1800"/>
              <a:t> have been killed in an explosion in </a:t>
            </a:r>
            <a:r>
              <a:rPr lang="en-GB" altLang="en-US" sz="1800" u="sng"/>
              <a:t>the Iraqi city of Basra</a:t>
            </a:r>
            <a:r>
              <a:rPr lang="en-GB" altLang="en-US" sz="1800"/>
              <a:t>.</a:t>
            </a:r>
          </a:p>
          <a:p>
            <a:pPr lvl="1">
              <a:lnSpc>
                <a:spcPct val="80000"/>
              </a:lnSpc>
              <a:buFont typeface="Wingdings" panose="05000000000000000000" pitchFamily="2" charset="2"/>
              <a:buNone/>
            </a:pPr>
            <a:r>
              <a:rPr lang="en-GB" altLang="en-US" sz="1800"/>
              <a:t>O: Scores died in Iraq explosion 	</a:t>
            </a:r>
          </a:p>
          <a:p>
            <a:pPr>
              <a:lnSpc>
                <a:spcPct val="80000"/>
              </a:lnSpc>
              <a:buFont typeface="Wingdings" panose="05000000000000000000" pitchFamily="2" charset="2"/>
              <a:buNone/>
            </a:pPr>
            <a:r>
              <a:rPr lang="en-GB" altLang="en-US" sz="2400"/>
              <a:t>discourse interpretation/coreference</a:t>
            </a:r>
          </a:p>
          <a:p>
            <a:pPr lvl="1">
              <a:lnSpc>
                <a:spcPct val="80000"/>
              </a:lnSpc>
              <a:buFont typeface="Wingdings" panose="05000000000000000000" pitchFamily="2" charset="2"/>
              <a:buNone/>
            </a:pPr>
            <a:r>
              <a:rPr lang="en-GB" altLang="en-US" sz="1800"/>
              <a:t>I: And as a conservative Wall Street veteran, </a:t>
            </a:r>
            <a:r>
              <a:rPr lang="en-GB" altLang="en-US" sz="1800" u="sng"/>
              <a:t>Rubin brought market credibility to the Clinton administration</a:t>
            </a:r>
            <a:r>
              <a:rPr lang="en-GB" altLang="en-US" sz="1800"/>
              <a:t>.</a:t>
            </a:r>
          </a:p>
          <a:p>
            <a:pPr lvl="1">
              <a:lnSpc>
                <a:spcPct val="80000"/>
              </a:lnSpc>
              <a:buFont typeface="Wingdings" panose="05000000000000000000" pitchFamily="2" charset="2"/>
              <a:buNone/>
            </a:pPr>
            <a:r>
              <a:rPr lang="en-GB" altLang="en-US" sz="1800"/>
              <a:t>O: Rubin brought market credibility to the Clinton administration.</a:t>
            </a:r>
          </a:p>
          <a:p>
            <a:pPr lvl="1">
              <a:lnSpc>
                <a:spcPct val="80000"/>
              </a:lnSpc>
              <a:buFont typeface="Wingdings" panose="05000000000000000000" pitchFamily="2" charset="2"/>
              <a:buNone/>
            </a:pPr>
            <a:r>
              <a:rPr lang="en-GB" altLang="en-US" sz="1800"/>
              <a:t>I: </a:t>
            </a:r>
            <a:r>
              <a:rPr lang="en-GB" altLang="en-US" sz="1800" u="sng"/>
              <a:t>Victoria de los Angeles</a:t>
            </a:r>
            <a:r>
              <a:rPr lang="en-GB" altLang="en-US" sz="1800"/>
              <a:t> died in a Madrid hospital today. </a:t>
            </a:r>
            <a:r>
              <a:rPr lang="en-GB" altLang="en-US" sz="1800" u="sng"/>
              <a:t>She</a:t>
            </a:r>
            <a:r>
              <a:rPr lang="en-GB" altLang="en-US" sz="1800"/>
              <a:t> was the most acclaimed Spanish soprano of the century. </a:t>
            </a:r>
            <a:r>
              <a:rPr lang="en-GB" altLang="en-US" sz="1800" u="sng"/>
              <a:t>She</a:t>
            </a:r>
            <a:r>
              <a:rPr lang="en-GB" altLang="en-US" sz="1800"/>
              <a:t> was 81.</a:t>
            </a:r>
          </a:p>
          <a:p>
            <a:pPr lvl="1">
              <a:lnSpc>
                <a:spcPct val="80000"/>
              </a:lnSpc>
              <a:buFont typeface="Wingdings" panose="05000000000000000000" pitchFamily="2" charset="2"/>
              <a:buNone/>
            </a:pPr>
            <a:r>
              <a:rPr lang="en-GB" altLang="en-US" sz="1800"/>
              <a:t>O: Spanish soprano De los Angeles died at 81.</a:t>
            </a:r>
          </a:p>
          <a:p>
            <a:pPr lvl="2">
              <a:lnSpc>
                <a:spcPct val="80000"/>
              </a:lnSpc>
              <a:buFont typeface="Wingdings" panose="05000000000000000000" pitchFamily="2" charset="2"/>
              <a:buNone/>
            </a:pPr>
            <a:endParaRPr lang="en-GB" altLang="en-US" sz="1600"/>
          </a:p>
          <a:p>
            <a:pPr lvl="2">
              <a:lnSpc>
                <a:spcPct val="80000"/>
              </a:lnSpc>
              <a:buFont typeface="Wingdings" panose="05000000000000000000" pitchFamily="2" charset="2"/>
              <a:buNone/>
            </a:pPr>
            <a:endParaRPr lang="en-GB" altLang="en-US" sz="1600"/>
          </a:p>
          <a:p>
            <a:pPr lvl="2">
              <a:lnSpc>
                <a:spcPct val="80000"/>
              </a:lnSpc>
            </a:pPr>
            <a:endParaRPr lang="en-GB" altLang="en-US" sz="1600"/>
          </a:p>
          <a:p>
            <a:pPr lvl="2">
              <a:lnSpc>
                <a:spcPct val="80000"/>
              </a:lnSpc>
            </a:pPr>
            <a:endParaRPr lang="en-GB" altLang="en-US" sz="1600"/>
          </a:p>
          <a:p>
            <a:pPr lvl="1">
              <a:lnSpc>
                <a:spcPct val="80000"/>
              </a:lnSpc>
            </a:pPr>
            <a:endParaRPr lang="en-GB" altLang="en-US" sz="1800"/>
          </a:p>
        </p:txBody>
      </p:sp>
    </p:spTree>
    <p:extLst>
      <p:ext uri="{BB962C8B-B14F-4D97-AF65-F5344CB8AC3E}">
        <p14:creationId xmlns:p14="http://schemas.microsoft.com/office/powerpoint/2010/main" val="2692000910"/>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1026"/>
          <p:cNvSpPr>
            <a:spLocks noGrp="1" noChangeArrowheads="1"/>
          </p:cNvSpPr>
          <p:nvPr>
            <p:ph type="title"/>
          </p:nvPr>
        </p:nvSpPr>
        <p:spPr/>
        <p:txBody>
          <a:bodyPr/>
          <a:lstStyle/>
          <a:p>
            <a:r>
              <a:rPr lang="en-US" altLang="en-US"/>
              <a:t>General Aspects of Interpretation</a:t>
            </a:r>
          </a:p>
        </p:txBody>
      </p:sp>
      <p:sp>
        <p:nvSpPr>
          <p:cNvPr id="161795" name="Rectangle 1027"/>
          <p:cNvSpPr>
            <a:spLocks noGrp="1" noChangeArrowheads="1"/>
          </p:cNvSpPr>
          <p:nvPr>
            <p:ph type="body" idx="1"/>
          </p:nvPr>
        </p:nvSpPr>
        <p:spPr>
          <a:xfrm>
            <a:off x="1849439" y="1285876"/>
            <a:ext cx="8440737" cy="4695825"/>
          </a:xfrm>
        </p:spPr>
        <p:txBody>
          <a:bodyPr/>
          <a:lstStyle/>
          <a:p>
            <a:r>
              <a:rPr lang="en-US" altLang="en-US" u="sng" dirty="0"/>
              <a:t>Interpretation occurs at the conceptual level...</a:t>
            </a:r>
            <a:endParaRPr lang="en-US" altLang="en-US" dirty="0"/>
          </a:p>
          <a:p>
            <a:pPr lvl="1">
              <a:buFontTx/>
              <a:buNone/>
            </a:pPr>
            <a:r>
              <a:rPr lang="en-US" altLang="en-US" dirty="0"/>
              <a:t>…words alone are </a:t>
            </a:r>
            <a:r>
              <a:rPr lang="en-US" altLang="en-US" dirty="0" err="1"/>
              <a:t>polysemous</a:t>
            </a:r>
            <a:r>
              <a:rPr lang="en-US" altLang="en-US" dirty="0"/>
              <a:t> (</a:t>
            </a:r>
            <a:r>
              <a:rPr lang="en-US" altLang="en-US" i="1" dirty="0"/>
              <a:t>bat</a:t>
            </a:r>
            <a:r>
              <a:rPr lang="en-US" altLang="en-US" dirty="0"/>
              <a:t> </a:t>
            </a:r>
            <a:r>
              <a:rPr lang="en-US" altLang="en-US" dirty="0">
                <a:sym typeface="Symbol" panose="05050102010706020507" pitchFamily="18" charset="2"/>
              </a:rPr>
              <a:t></a:t>
            </a:r>
            <a:r>
              <a:rPr lang="en-US" altLang="en-US" dirty="0"/>
              <a:t> </a:t>
            </a:r>
            <a:r>
              <a:rPr lang="en-US" altLang="en-US" i="1" dirty="0"/>
              <a:t>animal</a:t>
            </a:r>
            <a:r>
              <a:rPr lang="en-US" altLang="en-US" dirty="0"/>
              <a:t> and </a:t>
            </a:r>
            <a:r>
              <a:rPr lang="en-US" altLang="en-US" i="1" dirty="0"/>
              <a:t>sports instrument</a:t>
            </a:r>
            <a:r>
              <a:rPr lang="en-US" altLang="en-US" dirty="0"/>
              <a:t>) and combine for meaning (</a:t>
            </a:r>
            <a:r>
              <a:rPr lang="en-US" altLang="en-US" i="1" dirty="0"/>
              <a:t>alleged murderer</a:t>
            </a:r>
            <a:r>
              <a:rPr lang="en-US" altLang="en-US" dirty="0"/>
              <a:t> </a:t>
            </a:r>
            <a:r>
              <a:rPr lang="en-US" altLang="en-US" dirty="0">
                <a:sym typeface="Symbol" panose="05050102010706020507" pitchFamily="18" charset="2"/>
              </a:rPr>
              <a:t></a:t>
            </a:r>
            <a:r>
              <a:rPr lang="en-US" altLang="en-US" dirty="0"/>
              <a:t> </a:t>
            </a:r>
            <a:r>
              <a:rPr lang="en-US" altLang="en-US" i="1" dirty="0"/>
              <a:t>murderer</a:t>
            </a:r>
            <a:r>
              <a:rPr lang="en-US" altLang="en-US" dirty="0"/>
              <a:t>). </a:t>
            </a:r>
          </a:p>
          <a:p>
            <a:endParaRPr lang="en-US" altLang="en-US" sz="2000" dirty="0"/>
          </a:p>
          <a:p>
            <a:r>
              <a:rPr lang="en-US" altLang="en-US" u="sng" dirty="0"/>
              <a:t>For interpretation, you need world knowledge...</a:t>
            </a:r>
            <a:endParaRPr lang="en-US" altLang="en-US" dirty="0"/>
          </a:p>
          <a:p>
            <a:pPr lvl="1">
              <a:buFontTx/>
              <a:buNone/>
            </a:pPr>
            <a:r>
              <a:rPr lang="en-US" altLang="en-US" dirty="0"/>
              <a:t>…the fusion inferences are not in the text!</a:t>
            </a:r>
          </a:p>
          <a:p>
            <a:pPr lvl="1">
              <a:buFontTx/>
              <a:buNone/>
            </a:pPr>
            <a:endParaRPr lang="en-US" altLang="en-US" sz="2000" dirty="0"/>
          </a:p>
        </p:txBody>
      </p:sp>
    </p:spTree>
    <p:extLst>
      <p:ext uri="{BB962C8B-B14F-4D97-AF65-F5344CB8AC3E}">
        <p14:creationId xmlns:p14="http://schemas.microsoft.com/office/powerpoint/2010/main" val="2864732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5E134-B6AD-497A-B8FC-0198572D9F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80E3A4-59CE-48DC-9C79-C1573818948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949627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a:bodyPr>
          <a:lstStyle/>
          <a:p>
            <a:pPr algn="ctr"/>
            <a:r>
              <a:rPr lang="en-US" dirty="0"/>
              <a:t>Multi-document Summarization</a:t>
            </a:r>
          </a:p>
        </p:txBody>
      </p:sp>
    </p:spTree>
    <p:extLst>
      <p:ext uri="{BB962C8B-B14F-4D97-AF65-F5344CB8AC3E}">
        <p14:creationId xmlns:p14="http://schemas.microsoft.com/office/powerpoint/2010/main" val="34910856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a:xfrm>
            <a:off x="2279651" y="765175"/>
            <a:ext cx="7396163" cy="768350"/>
          </a:xfrm>
        </p:spPr>
        <p:txBody>
          <a:bodyPr/>
          <a:lstStyle/>
          <a:p>
            <a:r>
              <a:rPr lang="en-GB" altLang="en-US" sz="3200" dirty="0"/>
              <a:t>Multi-document summarization Challenges</a:t>
            </a:r>
          </a:p>
        </p:txBody>
      </p:sp>
      <p:sp>
        <p:nvSpPr>
          <p:cNvPr id="699395" name="Rectangle 3"/>
          <p:cNvSpPr>
            <a:spLocks noGrp="1" noChangeArrowheads="1"/>
          </p:cNvSpPr>
          <p:nvPr>
            <p:ph type="body" idx="1"/>
          </p:nvPr>
        </p:nvSpPr>
        <p:spPr>
          <a:xfrm>
            <a:off x="2208213" y="2060575"/>
            <a:ext cx="7772400" cy="4114800"/>
          </a:xfrm>
        </p:spPr>
        <p:txBody>
          <a:bodyPr/>
          <a:lstStyle/>
          <a:p>
            <a:pPr>
              <a:lnSpc>
                <a:spcPct val="80000"/>
              </a:lnSpc>
            </a:pPr>
            <a:r>
              <a:rPr lang="en-GB" altLang="en-US" sz="2000"/>
              <a:t>Redundancy of information</a:t>
            </a:r>
          </a:p>
          <a:p>
            <a:pPr lvl="1">
              <a:lnSpc>
                <a:spcPct val="80000"/>
              </a:lnSpc>
            </a:pPr>
            <a:r>
              <a:rPr lang="en-GB" altLang="en-US" sz="1800"/>
              <a:t>the destruction of Rome by the Barbarians in 410....</a:t>
            </a:r>
          </a:p>
          <a:p>
            <a:pPr lvl="1">
              <a:lnSpc>
                <a:spcPct val="80000"/>
              </a:lnSpc>
            </a:pPr>
            <a:r>
              <a:rPr lang="en-GB" altLang="en-US" sz="1800"/>
              <a:t>Rome was destroyed by Barbarians.</a:t>
            </a:r>
          </a:p>
          <a:p>
            <a:pPr lvl="1">
              <a:lnSpc>
                <a:spcPct val="80000"/>
              </a:lnSpc>
            </a:pPr>
            <a:r>
              <a:rPr lang="en-GB" altLang="en-US" sz="1800"/>
              <a:t>Barbarians destroyed Rome in the V Century</a:t>
            </a:r>
          </a:p>
          <a:p>
            <a:pPr lvl="1">
              <a:lnSpc>
                <a:spcPct val="80000"/>
              </a:lnSpc>
            </a:pPr>
            <a:r>
              <a:rPr lang="en-GB" altLang="en-US" sz="1800"/>
              <a:t>In 410, Rome was destroyed.  The Barbarians were responsible.</a:t>
            </a:r>
          </a:p>
          <a:p>
            <a:pPr>
              <a:lnSpc>
                <a:spcPct val="80000"/>
              </a:lnSpc>
            </a:pPr>
            <a:r>
              <a:rPr lang="en-GB" altLang="en-US" sz="2000"/>
              <a:t>fragmentary information</a:t>
            </a:r>
          </a:p>
          <a:p>
            <a:pPr lvl="1">
              <a:lnSpc>
                <a:spcPct val="80000"/>
              </a:lnSpc>
            </a:pPr>
            <a:r>
              <a:rPr lang="en-GB" altLang="en-US" sz="1800"/>
              <a:t>D1=“earthquake in Turkey”; D2=“measured 6.5”</a:t>
            </a:r>
          </a:p>
          <a:p>
            <a:pPr>
              <a:lnSpc>
                <a:spcPct val="80000"/>
              </a:lnSpc>
            </a:pPr>
            <a:r>
              <a:rPr lang="en-GB" altLang="en-US" sz="2000"/>
              <a:t>contradictory information</a:t>
            </a:r>
          </a:p>
          <a:p>
            <a:pPr lvl="1">
              <a:lnSpc>
                <a:spcPct val="80000"/>
              </a:lnSpc>
            </a:pPr>
            <a:r>
              <a:rPr lang="en-GB" altLang="en-US" sz="1800"/>
              <a:t>D1=“killed 3”; D2= “killed 4”</a:t>
            </a:r>
          </a:p>
          <a:p>
            <a:pPr>
              <a:lnSpc>
                <a:spcPct val="80000"/>
              </a:lnSpc>
            </a:pPr>
            <a:r>
              <a:rPr lang="en-GB" altLang="en-US" sz="2000"/>
              <a:t>relations between documents</a:t>
            </a:r>
          </a:p>
          <a:p>
            <a:pPr lvl="1">
              <a:lnSpc>
                <a:spcPct val="80000"/>
              </a:lnSpc>
            </a:pPr>
            <a:r>
              <a:rPr lang="en-GB" altLang="en-US" sz="1800"/>
              <a:t>inter-document-coreference</a:t>
            </a:r>
          </a:p>
          <a:p>
            <a:pPr lvl="1">
              <a:lnSpc>
                <a:spcPct val="80000"/>
              </a:lnSpc>
            </a:pPr>
            <a:r>
              <a:rPr lang="en-GB" altLang="en-US" sz="1800"/>
              <a:t>D1=“Tony Blair visited Bush”; D2=“UK Prime Minister visited Bush”</a:t>
            </a:r>
          </a:p>
        </p:txBody>
      </p:sp>
    </p:spTree>
    <p:custDataLst>
      <p:tags r:id="rId1"/>
    </p:custDataLst>
    <p:extLst>
      <p:ext uri="{BB962C8B-B14F-4D97-AF65-F5344CB8AC3E}">
        <p14:creationId xmlns:p14="http://schemas.microsoft.com/office/powerpoint/2010/main" val="350808703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42" name="Rectangle 2"/>
          <p:cNvSpPr>
            <a:spLocks noGrp="1" noChangeArrowheads="1"/>
          </p:cNvSpPr>
          <p:nvPr>
            <p:ph type="title"/>
          </p:nvPr>
        </p:nvSpPr>
        <p:spPr/>
        <p:txBody>
          <a:bodyPr/>
          <a:lstStyle/>
          <a:p>
            <a:r>
              <a:rPr lang="en-GB" altLang="en-US" sz="3200" dirty="0"/>
              <a:t>Centroid-based summarization (Radev&amp;al’00;Saggion&amp;Gaizauskas’04)</a:t>
            </a:r>
          </a:p>
        </p:txBody>
      </p:sp>
      <p:sp>
        <p:nvSpPr>
          <p:cNvPr id="1187843" name="Rectangle 3"/>
          <p:cNvSpPr>
            <a:spLocks noGrp="1" noChangeArrowheads="1"/>
          </p:cNvSpPr>
          <p:nvPr>
            <p:ph type="body" idx="1"/>
          </p:nvPr>
        </p:nvSpPr>
        <p:spPr/>
        <p:txBody>
          <a:bodyPr/>
          <a:lstStyle/>
          <a:p>
            <a:pPr>
              <a:lnSpc>
                <a:spcPct val="80000"/>
              </a:lnSpc>
            </a:pPr>
            <a:r>
              <a:rPr lang="en-GB" altLang="en-US" dirty="0"/>
              <a:t>given a set of documents create a centroid of the cluster</a:t>
            </a:r>
          </a:p>
          <a:p>
            <a:pPr lvl="1">
              <a:lnSpc>
                <a:spcPct val="80000"/>
              </a:lnSpc>
            </a:pPr>
            <a:r>
              <a:rPr lang="en-GB" altLang="en-US" dirty="0"/>
              <a:t>centroid = set of words in the cluster considered “statistically” significant </a:t>
            </a:r>
          </a:p>
          <a:p>
            <a:pPr lvl="1">
              <a:lnSpc>
                <a:spcPct val="80000"/>
              </a:lnSpc>
            </a:pPr>
            <a:r>
              <a:rPr lang="en-GB" altLang="en-US" dirty="0"/>
              <a:t>centroid is a set of terms and weights</a:t>
            </a:r>
          </a:p>
          <a:p>
            <a:pPr>
              <a:lnSpc>
                <a:spcPct val="80000"/>
              </a:lnSpc>
            </a:pPr>
            <a:r>
              <a:rPr lang="en-GB" altLang="en-US" dirty="0"/>
              <a:t>centroid score = similarity between a sentence and the centroid</a:t>
            </a:r>
          </a:p>
          <a:p>
            <a:pPr>
              <a:lnSpc>
                <a:spcPct val="80000"/>
              </a:lnSpc>
            </a:pPr>
            <a:r>
              <a:rPr lang="en-GB" altLang="en-US" dirty="0"/>
              <a:t>combine the centroid score with document features such as position</a:t>
            </a:r>
          </a:p>
          <a:p>
            <a:pPr>
              <a:lnSpc>
                <a:spcPct val="80000"/>
              </a:lnSpc>
            </a:pPr>
            <a:r>
              <a:rPr lang="en-GB" altLang="en-US" dirty="0"/>
              <a:t>detect and eliminate sentence redundancy using a similarity metric</a:t>
            </a:r>
          </a:p>
          <a:p>
            <a:pPr lvl="1">
              <a:lnSpc>
                <a:spcPct val="80000"/>
              </a:lnSpc>
            </a:pPr>
            <a:r>
              <a:rPr lang="en-GB" altLang="en-US" dirty="0"/>
              <a:t>Remove sentences if one is subsumed by the other</a:t>
            </a:r>
          </a:p>
          <a:p>
            <a:pPr>
              <a:lnSpc>
                <a:spcPct val="80000"/>
              </a:lnSpc>
            </a:pPr>
            <a:endParaRPr lang="en-GB" altLang="en-US" dirty="0"/>
          </a:p>
        </p:txBody>
      </p:sp>
    </p:spTree>
    <p:extLst>
      <p:ext uri="{BB962C8B-B14F-4D97-AF65-F5344CB8AC3E}">
        <p14:creationId xmlns:p14="http://schemas.microsoft.com/office/powerpoint/2010/main" val="1516066455"/>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4" name="Rectangle 2"/>
          <p:cNvSpPr>
            <a:spLocks noGrp="1" noChangeArrowheads="1"/>
          </p:cNvSpPr>
          <p:nvPr>
            <p:ph type="title"/>
          </p:nvPr>
        </p:nvSpPr>
        <p:spPr/>
        <p:txBody>
          <a:bodyPr/>
          <a:lstStyle/>
          <a:p>
            <a:r>
              <a:rPr lang="en-GB" altLang="en-US" sz="3200"/>
              <a:t>Sentence ordering</a:t>
            </a:r>
          </a:p>
        </p:txBody>
      </p:sp>
      <p:sp>
        <p:nvSpPr>
          <p:cNvPr id="704515" name="Rectangle 3"/>
          <p:cNvSpPr>
            <a:spLocks noGrp="1" noChangeArrowheads="1"/>
          </p:cNvSpPr>
          <p:nvPr>
            <p:ph type="body" idx="1"/>
          </p:nvPr>
        </p:nvSpPr>
        <p:spPr/>
        <p:txBody>
          <a:bodyPr>
            <a:normAutofit fontScale="92500" lnSpcReduction="10000"/>
          </a:bodyPr>
          <a:lstStyle/>
          <a:p>
            <a:pPr>
              <a:lnSpc>
                <a:spcPct val="90000"/>
              </a:lnSpc>
            </a:pPr>
            <a:r>
              <a:rPr lang="en-GB" altLang="en-US" sz="2400" dirty="0"/>
              <a:t>simplest strategy is to present sentences in temporal order when date of document is known</a:t>
            </a:r>
          </a:p>
          <a:p>
            <a:pPr>
              <a:lnSpc>
                <a:spcPct val="90000"/>
              </a:lnSpc>
            </a:pPr>
            <a:r>
              <a:rPr lang="en-GB" altLang="en-US" sz="2400" dirty="0"/>
              <a:t>important for both single and multi-document summarization (</a:t>
            </a:r>
            <a:r>
              <a:rPr lang="en-GB" altLang="en-US" sz="2400" dirty="0" err="1"/>
              <a:t>Barzilay</a:t>
            </a:r>
            <a:r>
              <a:rPr lang="en-GB" altLang="en-US" sz="2400" dirty="0"/>
              <a:t>, </a:t>
            </a:r>
            <a:r>
              <a:rPr lang="en-GB" altLang="en-US" sz="2400" dirty="0" err="1"/>
              <a:t>Elhadad</a:t>
            </a:r>
            <a:r>
              <a:rPr lang="en-GB" altLang="en-US" sz="2400" dirty="0"/>
              <a:t>, McKeown’02)</a:t>
            </a:r>
          </a:p>
          <a:p>
            <a:pPr>
              <a:lnSpc>
                <a:spcPct val="90000"/>
              </a:lnSpc>
            </a:pPr>
            <a:r>
              <a:rPr lang="en-GB" altLang="en-US" sz="2400" dirty="0"/>
              <a:t>some strategies</a:t>
            </a:r>
          </a:p>
          <a:p>
            <a:pPr lvl="1">
              <a:lnSpc>
                <a:spcPct val="90000"/>
              </a:lnSpc>
            </a:pPr>
            <a:r>
              <a:rPr lang="en-GB" altLang="en-US" sz="2000" dirty="0"/>
              <a:t>Majority order</a:t>
            </a:r>
          </a:p>
          <a:p>
            <a:pPr lvl="1">
              <a:lnSpc>
                <a:spcPct val="90000"/>
              </a:lnSpc>
            </a:pPr>
            <a:r>
              <a:rPr lang="en-GB" altLang="en-US" sz="2000" dirty="0"/>
              <a:t>Chronological order</a:t>
            </a:r>
          </a:p>
          <a:p>
            <a:pPr lvl="1">
              <a:lnSpc>
                <a:spcPct val="90000"/>
              </a:lnSpc>
            </a:pPr>
            <a:r>
              <a:rPr lang="en-GB" altLang="en-US" sz="2000" dirty="0"/>
              <a:t>Combination</a:t>
            </a:r>
          </a:p>
          <a:p>
            <a:pPr>
              <a:lnSpc>
                <a:spcPct val="90000"/>
              </a:lnSpc>
            </a:pPr>
            <a:r>
              <a:rPr lang="en-GB" altLang="en-US" sz="2400" dirty="0"/>
              <a:t>probabilistic model (Lapata’03)</a:t>
            </a:r>
          </a:p>
          <a:p>
            <a:pPr lvl="1">
              <a:lnSpc>
                <a:spcPct val="90000"/>
              </a:lnSpc>
            </a:pPr>
            <a:r>
              <a:rPr lang="en-GB" altLang="en-US" sz="2000" dirty="0"/>
              <a:t>the model learns order constraints in a particular domain</a:t>
            </a:r>
          </a:p>
          <a:p>
            <a:pPr lvl="1">
              <a:lnSpc>
                <a:spcPct val="90000"/>
              </a:lnSpc>
            </a:pPr>
            <a:r>
              <a:rPr lang="en-GB" altLang="en-US" sz="2000" dirty="0"/>
              <a:t>the main component is a probability table</a:t>
            </a:r>
          </a:p>
          <a:p>
            <a:pPr lvl="2">
              <a:lnSpc>
                <a:spcPct val="90000"/>
              </a:lnSpc>
            </a:pPr>
            <a:r>
              <a:rPr lang="en-GB" altLang="en-US" sz="1800" dirty="0"/>
              <a:t>P(S</a:t>
            </a:r>
            <a:r>
              <a:rPr lang="en-GB" altLang="en-US" sz="1800" baseline="-25000" dirty="0"/>
              <a:t>i</a:t>
            </a:r>
            <a:r>
              <a:rPr lang="en-GB" altLang="en-US" sz="1800" dirty="0"/>
              <a:t>|S</a:t>
            </a:r>
            <a:r>
              <a:rPr lang="en-GB" altLang="en-US" sz="1800" baseline="-25000" dirty="0"/>
              <a:t>i-1</a:t>
            </a:r>
            <a:r>
              <a:rPr lang="en-GB" altLang="en-US" sz="1800" dirty="0"/>
              <a:t>) for sentences S</a:t>
            </a:r>
          </a:p>
          <a:p>
            <a:pPr lvl="2">
              <a:lnSpc>
                <a:spcPct val="90000"/>
              </a:lnSpc>
            </a:pPr>
            <a:r>
              <a:rPr lang="en-GB" altLang="en-US" sz="1800" dirty="0"/>
              <a:t>the representation of each sentence is a set of features for</a:t>
            </a:r>
          </a:p>
          <a:p>
            <a:pPr lvl="3">
              <a:lnSpc>
                <a:spcPct val="90000"/>
              </a:lnSpc>
            </a:pPr>
            <a:r>
              <a:rPr lang="en-GB" altLang="en-US" sz="1600" dirty="0"/>
              <a:t>verbs, nouns, and dependencies</a:t>
            </a:r>
          </a:p>
          <a:p>
            <a:pPr lvl="3">
              <a:lnSpc>
                <a:spcPct val="90000"/>
              </a:lnSpc>
            </a:pPr>
            <a:endParaRPr lang="en-GB" altLang="en-US" sz="1600" dirty="0"/>
          </a:p>
          <a:p>
            <a:pPr lvl="1">
              <a:lnSpc>
                <a:spcPct val="90000"/>
              </a:lnSpc>
            </a:pPr>
            <a:endParaRPr lang="en-GB" altLang="en-US" sz="2000" dirty="0"/>
          </a:p>
        </p:txBody>
      </p:sp>
    </p:spTree>
    <p:custDataLst>
      <p:tags r:id="rId1"/>
    </p:custDataLst>
    <p:extLst>
      <p:ext uri="{BB962C8B-B14F-4D97-AF65-F5344CB8AC3E}">
        <p14:creationId xmlns:p14="http://schemas.microsoft.com/office/powerpoint/2010/main" val="1187203148"/>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17A2-6734-426A-9F9C-0AC92B80EF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5CE10D-3838-43A0-B3B4-A6F9E0868B3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098004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a:bodyPr>
          <a:lstStyle/>
          <a:p>
            <a:pPr algn="ctr"/>
            <a:r>
              <a:rPr lang="en-US" dirty="0"/>
              <a:t>Evaluating Summaries – Extrinsic vs Intrinsic</a:t>
            </a:r>
          </a:p>
        </p:txBody>
      </p:sp>
    </p:spTree>
    <p:extLst>
      <p:ext uri="{BB962C8B-B14F-4D97-AF65-F5344CB8AC3E}">
        <p14:creationId xmlns:p14="http://schemas.microsoft.com/office/powerpoint/2010/main" val="30702016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583834" y="836614"/>
            <a:ext cx="7396162" cy="695325"/>
          </a:xfrm>
        </p:spPr>
        <p:txBody>
          <a:bodyPr/>
          <a:lstStyle/>
          <a:p>
            <a:r>
              <a:rPr lang="en-GB" altLang="en-US" sz="3200" dirty="0"/>
              <a:t>Intrinsic vs extrinsic Evaluation</a:t>
            </a:r>
          </a:p>
        </p:txBody>
      </p:sp>
      <p:sp>
        <p:nvSpPr>
          <p:cNvPr id="48131" name="Rectangle 3"/>
          <p:cNvSpPr>
            <a:spLocks noGrp="1" noChangeArrowheads="1"/>
          </p:cNvSpPr>
          <p:nvPr>
            <p:ph type="body" idx="1"/>
          </p:nvPr>
        </p:nvSpPr>
        <p:spPr/>
        <p:txBody>
          <a:bodyPr>
            <a:normAutofit fontScale="85000" lnSpcReduction="20000"/>
          </a:bodyPr>
          <a:lstStyle/>
          <a:p>
            <a:pPr>
              <a:lnSpc>
                <a:spcPct val="110000"/>
              </a:lnSpc>
            </a:pPr>
            <a:r>
              <a:rPr lang="en-GB" altLang="en-US" sz="2400" dirty="0"/>
              <a:t>Intrinsic evaluation</a:t>
            </a:r>
          </a:p>
          <a:p>
            <a:pPr lvl="1">
              <a:lnSpc>
                <a:spcPct val="110000"/>
              </a:lnSpc>
            </a:pPr>
            <a:r>
              <a:rPr lang="en-GB" altLang="en-US" sz="2000" dirty="0"/>
              <a:t>Summary evaluated on its own or comparing it with the source</a:t>
            </a:r>
          </a:p>
          <a:p>
            <a:pPr lvl="2">
              <a:lnSpc>
                <a:spcPct val="110000"/>
              </a:lnSpc>
            </a:pPr>
            <a:r>
              <a:rPr lang="en-GB" altLang="en-US" dirty="0"/>
              <a:t>Is the text cohesive and coherent?</a:t>
            </a:r>
          </a:p>
          <a:p>
            <a:pPr lvl="2">
              <a:lnSpc>
                <a:spcPct val="110000"/>
              </a:lnSpc>
            </a:pPr>
            <a:r>
              <a:rPr lang="en-GB" altLang="en-US" dirty="0"/>
              <a:t>Does it contain the main topics of the document? </a:t>
            </a:r>
          </a:p>
          <a:p>
            <a:pPr lvl="2">
              <a:lnSpc>
                <a:spcPct val="110000"/>
              </a:lnSpc>
            </a:pPr>
            <a:r>
              <a:rPr lang="en-GB" altLang="en-US" dirty="0"/>
              <a:t>Are important topics omitted?</a:t>
            </a:r>
          </a:p>
          <a:p>
            <a:pPr lvl="2">
              <a:lnSpc>
                <a:spcPct val="110000"/>
              </a:lnSpc>
            </a:pPr>
            <a:r>
              <a:rPr lang="en-GB" altLang="en-US" dirty="0"/>
              <a:t>Compare summary with ideal summaries</a:t>
            </a:r>
          </a:p>
          <a:p>
            <a:pPr lvl="1">
              <a:lnSpc>
                <a:spcPct val="110000"/>
              </a:lnSpc>
            </a:pPr>
            <a:r>
              <a:rPr lang="en-GB" altLang="en-US" dirty="0"/>
              <a:t>Given a machine summary (P) compare to one or more human summaries (M) using a scoring function score(P,M), aggregate the scores per system, use the aggregated score to rank systems</a:t>
            </a:r>
          </a:p>
          <a:p>
            <a:pPr>
              <a:lnSpc>
                <a:spcPct val="110000"/>
              </a:lnSpc>
            </a:pPr>
            <a:r>
              <a:rPr lang="en-GB" altLang="en-US" sz="2400" dirty="0"/>
              <a:t>Evaluation in an specific task </a:t>
            </a:r>
          </a:p>
          <a:p>
            <a:pPr lvl="1">
              <a:lnSpc>
                <a:spcPct val="110000"/>
              </a:lnSpc>
            </a:pPr>
            <a:r>
              <a:rPr lang="en-GB" altLang="en-US" dirty="0"/>
              <a:t>Can the summary be used instead of the document?</a:t>
            </a:r>
          </a:p>
          <a:p>
            <a:pPr lvl="2">
              <a:lnSpc>
                <a:spcPct val="110000"/>
              </a:lnSpc>
            </a:pPr>
            <a:r>
              <a:rPr lang="en-GB" altLang="en-US" dirty="0"/>
              <a:t>Can the document be classified by reading the summary?</a:t>
            </a:r>
          </a:p>
          <a:p>
            <a:pPr lvl="2">
              <a:lnSpc>
                <a:spcPct val="110000"/>
              </a:lnSpc>
            </a:pPr>
            <a:r>
              <a:rPr lang="en-GB" altLang="en-US" dirty="0"/>
              <a:t>Can we answer questions by reading the summary?</a:t>
            </a:r>
          </a:p>
          <a:p>
            <a:pPr>
              <a:lnSpc>
                <a:spcPct val="110000"/>
              </a:lnSpc>
            </a:pPr>
            <a:endParaRPr lang="en-GB" altLang="en-US" dirty="0"/>
          </a:p>
          <a:p>
            <a:pPr lvl="1">
              <a:lnSpc>
                <a:spcPct val="110000"/>
              </a:lnSpc>
            </a:pPr>
            <a:endParaRPr lang="en-GB" altLang="en-US" dirty="0"/>
          </a:p>
        </p:txBody>
      </p:sp>
    </p:spTree>
    <p:custDataLst>
      <p:tags r:id="rId1"/>
    </p:custDataLst>
    <p:extLst>
      <p:ext uri="{BB962C8B-B14F-4D97-AF65-F5344CB8AC3E}">
        <p14:creationId xmlns:p14="http://schemas.microsoft.com/office/powerpoint/2010/main" val="364009062"/>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31"/>
          <p:cNvSpPr>
            <a:spLocks noGrp="1"/>
          </p:cNvSpPr>
          <p:nvPr>
            <p:ph type="sldNum" sz="quarter" idx="10"/>
          </p:nvPr>
        </p:nvSpPr>
        <p:spPr/>
        <p:txBody>
          <a:bodyPr/>
          <a:lstStyle/>
          <a:p>
            <a:fld id="{D08739C0-7B90-4B94-9F1A-7584FB12B77F}" type="slidenum">
              <a:rPr lang="en-GB" altLang="en-US"/>
              <a:pPr/>
              <a:t>61</a:t>
            </a:fld>
            <a:endParaRPr lang="en-GB" altLang="en-US"/>
          </a:p>
        </p:txBody>
      </p:sp>
      <p:sp>
        <p:nvSpPr>
          <p:cNvPr id="785410" name="Rectangle 2"/>
          <p:cNvSpPr>
            <a:spLocks noGrp="1" noChangeArrowheads="1"/>
          </p:cNvSpPr>
          <p:nvPr>
            <p:ph type="title"/>
          </p:nvPr>
        </p:nvSpPr>
        <p:spPr>
          <a:xfrm>
            <a:off x="2279651" y="908051"/>
            <a:ext cx="7396163" cy="695325"/>
          </a:xfrm>
        </p:spPr>
        <p:txBody>
          <a:bodyPr/>
          <a:lstStyle/>
          <a:p>
            <a:r>
              <a:rPr lang="en-GB" altLang="en-US" sz="3200"/>
              <a:t>Evaluation of extracts</a:t>
            </a:r>
          </a:p>
        </p:txBody>
      </p:sp>
      <p:graphicFrame>
        <p:nvGraphicFramePr>
          <p:cNvPr id="785411" name="Object 3"/>
          <p:cNvGraphicFramePr>
            <a:graphicFrameLocks noGrp="1" noChangeAspect="1"/>
          </p:cNvGraphicFramePr>
          <p:nvPr>
            <p:ph sz="quarter" idx="2"/>
          </p:nvPr>
        </p:nvGraphicFramePr>
        <p:xfrm>
          <a:off x="6245226" y="4325939"/>
          <a:ext cx="1533525" cy="947737"/>
        </p:xfrm>
        <a:graphic>
          <a:graphicData uri="http://schemas.openxmlformats.org/presentationml/2006/ole">
            <mc:AlternateContent xmlns:mc="http://schemas.openxmlformats.org/markup-compatibility/2006">
              <mc:Choice xmlns:v="urn:schemas-microsoft-com:vml" Requires="v">
                <p:oleObj spid="_x0000_s22990" name="Equation" r:id="rId3" imgW="698400" imgH="444240" progId="Equation.3">
                  <p:embed/>
                </p:oleObj>
              </mc:Choice>
              <mc:Fallback>
                <p:oleObj name="Equation" r:id="rId3" imgW="698400" imgH="444240" progId="Equation.3">
                  <p:embed/>
                  <p:pic>
                    <p:nvPicPr>
                      <p:cNvPr id="7854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5226" y="4325939"/>
                        <a:ext cx="1533525" cy="94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5412" name="Rectangle 4"/>
          <p:cNvSpPr>
            <a:spLocks noGrp="1" noChangeArrowheads="1"/>
          </p:cNvSpPr>
          <p:nvPr>
            <p:ph type="body" sz="half" idx="3"/>
          </p:nvPr>
        </p:nvSpPr>
        <p:spPr>
          <a:xfrm>
            <a:off x="6245226" y="2122489"/>
            <a:ext cx="3806825" cy="2060575"/>
          </a:xfrm>
        </p:spPr>
        <p:txBody>
          <a:bodyPr/>
          <a:lstStyle/>
          <a:p>
            <a:pPr>
              <a:lnSpc>
                <a:spcPct val="90000"/>
              </a:lnSpc>
            </a:pPr>
            <a:r>
              <a:rPr lang="en-GB" altLang="en-US" sz="2400"/>
              <a:t>precision (P)</a:t>
            </a:r>
          </a:p>
          <a:p>
            <a:pPr>
              <a:lnSpc>
                <a:spcPct val="90000"/>
              </a:lnSpc>
            </a:pPr>
            <a:endParaRPr lang="en-GB" altLang="en-US"/>
          </a:p>
          <a:p>
            <a:pPr>
              <a:lnSpc>
                <a:spcPct val="90000"/>
              </a:lnSpc>
            </a:pPr>
            <a:endParaRPr lang="en-GB" altLang="en-US"/>
          </a:p>
          <a:p>
            <a:pPr>
              <a:lnSpc>
                <a:spcPct val="90000"/>
              </a:lnSpc>
            </a:pPr>
            <a:r>
              <a:rPr lang="en-GB" altLang="en-US" sz="2400"/>
              <a:t>recall (R)</a:t>
            </a:r>
          </a:p>
          <a:p>
            <a:pPr>
              <a:lnSpc>
                <a:spcPct val="90000"/>
              </a:lnSpc>
              <a:buFont typeface="Wingdings" panose="05000000000000000000" pitchFamily="2" charset="2"/>
              <a:buNone/>
            </a:pPr>
            <a:endParaRPr lang="en-GB" altLang="en-US" sz="2400"/>
          </a:p>
          <a:p>
            <a:pPr>
              <a:lnSpc>
                <a:spcPct val="90000"/>
              </a:lnSpc>
            </a:pPr>
            <a:endParaRPr lang="en-GB" altLang="en-US" sz="2400"/>
          </a:p>
          <a:p>
            <a:pPr>
              <a:lnSpc>
                <a:spcPct val="90000"/>
              </a:lnSpc>
            </a:pPr>
            <a:endParaRPr lang="en-GB" altLang="en-US" sz="2400"/>
          </a:p>
        </p:txBody>
      </p:sp>
      <p:graphicFrame>
        <p:nvGraphicFramePr>
          <p:cNvPr id="785413" name="Group 5"/>
          <p:cNvGraphicFramePr>
            <a:graphicFrameLocks noGrp="1"/>
          </p:cNvGraphicFramePr>
          <p:nvPr/>
        </p:nvGraphicFramePr>
        <p:xfrm>
          <a:off x="2495550" y="1844675"/>
          <a:ext cx="3455988" cy="2621280"/>
        </p:xfrm>
        <a:graphic>
          <a:graphicData uri="http://schemas.openxmlformats.org/drawingml/2006/table">
            <a:tbl>
              <a:tblPr/>
              <a:tblGrid>
                <a:gridCol w="1439863">
                  <a:extLst>
                    <a:ext uri="{9D8B030D-6E8A-4147-A177-3AD203B41FA5}">
                      <a16:colId xmlns:a16="http://schemas.microsoft.com/office/drawing/2014/main" val="2440430033"/>
                    </a:ext>
                  </a:extLst>
                </a:gridCol>
                <a:gridCol w="865187">
                  <a:extLst>
                    <a:ext uri="{9D8B030D-6E8A-4147-A177-3AD203B41FA5}">
                      <a16:colId xmlns:a16="http://schemas.microsoft.com/office/drawing/2014/main" val="4112772519"/>
                    </a:ext>
                  </a:extLst>
                </a:gridCol>
                <a:gridCol w="1150938">
                  <a:extLst>
                    <a:ext uri="{9D8B030D-6E8A-4147-A177-3AD203B41FA5}">
                      <a16:colId xmlns:a16="http://schemas.microsoft.com/office/drawing/2014/main" val="3590987829"/>
                    </a:ext>
                  </a:extLst>
                </a:gridCol>
              </a:tblGrid>
              <a:tr h="360363">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cap="flat">
                      <a:noFill/>
                    </a:lnL>
                    <a:lnR w="28575"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System</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98659105"/>
                  </a:ext>
                </a:extLst>
              </a:tr>
              <a:tr h="56197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Human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0" b="0" i="0" u="none" strike="noStrike" cap="none" normalizeH="0" baseline="0">
                          <a:ln>
                            <a:noFill/>
                          </a:ln>
                          <a:solidFill>
                            <a:schemeClr val="tx1"/>
                          </a:solidFill>
                          <a:effectLst/>
                          <a:latin typeface="Tahoma" panose="020B060403050404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16343506"/>
                  </a:ext>
                </a:extLst>
              </a:tr>
              <a:tr h="563563">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0" b="0" i="0" u="none" strike="noStrike" cap="none" normalizeH="0" baseline="0">
                          <a:ln>
                            <a:noFill/>
                          </a:ln>
                          <a:solidFill>
                            <a:schemeClr val="tx1"/>
                          </a:solidFill>
                          <a:effectLst/>
                          <a:latin typeface="Tahoma" panose="020B0604030504040204" pitchFamily="34"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800" b="0" i="0" u="none" strike="noStrike" cap="none" normalizeH="0" baseline="0">
                          <a:ln>
                            <a:noFill/>
                          </a:ln>
                          <a:solidFill>
                            <a:schemeClr val="tx1"/>
                          </a:solidFill>
                          <a:effectLst/>
                          <a:latin typeface="Tahoma" panose="020B0604030504040204" pitchFamily="34" charset="0"/>
                        </a:rPr>
                        <a:t>TP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800" b="0" i="0" u="none" strike="noStrike" cap="none" normalizeH="0" baseline="0">
                          <a:ln>
                            <a:noFill/>
                          </a:ln>
                          <a:solidFill>
                            <a:schemeClr val="tx1"/>
                          </a:solidFill>
                          <a:effectLst/>
                          <a:latin typeface="Tahoma" panose="020B0604030504040204" pitchFamily="34" charset="0"/>
                        </a:rPr>
                        <a:t>FN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1663812"/>
                  </a:ext>
                </a:extLst>
              </a:tr>
              <a:tr h="53022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0" b="0" i="0" u="none" strike="noStrike" cap="none" normalizeH="0" baseline="0">
                          <a:ln>
                            <a:noFill/>
                          </a:ln>
                          <a:solidFill>
                            <a:schemeClr val="tx1"/>
                          </a:solidFill>
                          <a:effectLst/>
                          <a:latin typeface="Tahoma" panose="020B0604030504040204" pitchFamily="34"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800" b="0" i="0" u="none" strike="noStrike" cap="none" normalizeH="0" baseline="0">
                          <a:ln>
                            <a:noFill/>
                          </a:ln>
                          <a:solidFill>
                            <a:schemeClr val="tx1"/>
                          </a:solidFill>
                          <a:effectLst/>
                          <a:latin typeface="Tahoma" panose="020B0604030504040204" pitchFamily="34" charset="0"/>
                        </a:rPr>
                        <a:t>FP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800" b="0" i="0" u="none" strike="noStrike" cap="none" normalizeH="0" baseline="0">
                          <a:ln>
                            <a:noFill/>
                          </a:ln>
                          <a:solidFill>
                            <a:schemeClr val="tx1"/>
                          </a:solidFill>
                          <a:effectLst/>
                          <a:latin typeface="Tahoma" panose="020B0604030504040204" pitchFamily="34" charset="0"/>
                        </a:rPr>
                        <a:t>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76087487"/>
                  </a:ext>
                </a:extLst>
              </a:tr>
            </a:tbl>
          </a:graphicData>
        </a:graphic>
      </p:graphicFrame>
      <p:graphicFrame>
        <p:nvGraphicFramePr>
          <p:cNvPr id="785436" name="Object 28"/>
          <p:cNvGraphicFramePr>
            <a:graphicFrameLocks noChangeAspect="1"/>
          </p:cNvGraphicFramePr>
          <p:nvPr/>
        </p:nvGraphicFramePr>
        <p:xfrm>
          <a:off x="9191626" y="3357563"/>
          <a:ext cx="1196975" cy="806450"/>
        </p:xfrm>
        <a:graphic>
          <a:graphicData uri="http://schemas.openxmlformats.org/presentationml/2006/ole">
            <mc:AlternateContent xmlns:mc="http://schemas.openxmlformats.org/markup-compatibility/2006">
              <mc:Choice xmlns:v="urn:schemas-microsoft-com:vml" Requires="v">
                <p:oleObj spid="_x0000_s22991" name="Equation" r:id="rId5" imgW="583920" imgH="393480" progId="Equation.3">
                  <p:embed/>
                </p:oleObj>
              </mc:Choice>
              <mc:Fallback>
                <p:oleObj name="Equation" r:id="rId5" imgW="583920" imgH="393480" progId="Equation.3">
                  <p:embed/>
                  <p:pic>
                    <p:nvPicPr>
                      <p:cNvPr id="785436"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91626" y="3357563"/>
                        <a:ext cx="1196975"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5437" name="Object 29"/>
          <p:cNvGraphicFramePr>
            <a:graphicFrameLocks noGrp="1" noChangeAspect="1"/>
          </p:cNvGraphicFramePr>
          <p:nvPr>
            <p:ph sz="quarter" idx="1"/>
          </p:nvPr>
        </p:nvGraphicFramePr>
        <p:xfrm>
          <a:off x="9191626" y="1844676"/>
          <a:ext cx="1243013" cy="938213"/>
        </p:xfrm>
        <a:graphic>
          <a:graphicData uri="http://schemas.openxmlformats.org/presentationml/2006/ole">
            <mc:AlternateContent xmlns:mc="http://schemas.openxmlformats.org/markup-compatibility/2006">
              <mc:Choice xmlns:v="urn:schemas-microsoft-com:vml" Requires="v">
                <p:oleObj spid="_x0000_s22992" name="Equation" r:id="rId7" imgW="520560" imgH="393480" progId="Equation.3">
                  <p:embed/>
                </p:oleObj>
              </mc:Choice>
              <mc:Fallback>
                <p:oleObj name="Equation" r:id="rId7" imgW="520560" imgH="393480" progId="Equation.3">
                  <p:embed/>
                  <p:pic>
                    <p:nvPicPr>
                      <p:cNvPr id="785437"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91626" y="1844676"/>
                        <a:ext cx="1243013" cy="9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5438" name="Object 30"/>
          <p:cNvGraphicFramePr>
            <a:graphicFrameLocks noChangeAspect="1"/>
          </p:cNvGraphicFramePr>
          <p:nvPr/>
        </p:nvGraphicFramePr>
        <p:xfrm>
          <a:off x="6527801" y="5445125"/>
          <a:ext cx="2411413" cy="755650"/>
        </p:xfrm>
        <a:graphic>
          <a:graphicData uri="http://schemas.openxmlformats.org/presentationml/2006/ole">
            <mc:AlternateContent xmlns:mc="http://schemas.openxmlformats.org/markup-compatibility/2006">
              <mc:Choice xmlns:v="urn:schemas-microsoft-com:vml" Requires="v">
                <p:oleObj spid="_x0000_s22993" name="Equation" r:id="rId9" imgW="1257120" imgH="393480" progId="Equation.3">
                  <p:embed/>
                </p:oleObj>
              </mc:Choice>
              <mc:Fallback>
                <p:oleObj name="Equation" r:id="rId9" imgW="1257120" imgH="393480" progId="Equation.3">
                  <p:embed/>
                  <p:pic>
                    <p:nvPicPr>
                      <p:cNvPr id="785438"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27801" y="5445125"/>
                        <a:ext cx="2411413"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5439" name="Rectangle 31"/>
          <p:cNvSpPr>
            <a:spLocks noChangeArrowheads="1"/>
          </p:cNvSpPr>
          <p:nvPr/>
        </p:nvSpPr>
        <p:spPr bwMode="auto">
          <a:xfrm>
            <a:off x="2424114" y="4868863"/>
            <a:ext cx="4181475" cy="173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buChar char="n"/>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ahoma" panose="020B0604030504040204" pitchFamily="34" charset="0"/>
              </a:defRPr>
            </a:lvl9pPr>
          </a:lstStyle>
          <a:p>
            <a:pPr>
              <a:lnSpc>
                <a:spcPct val="90000"/>
              </a:lnSpc>
            </a:pPr>
            <a:r>
              <a:rPr lang="en-GB" altLang="en-US" sz="2400"/>
              <a:t>F-score (F)</a:t>
            </a:r>
          </a:p>
          <a:p>
            <a:pPr>
              <a:lnSpc>
                <a:spcPct val="90000"/>
              </a:lnSpc>
            </a:pPr>
            <a:endParaRPr lang="en-GB" altLang="en-US" sz="2400"/>
          </a:p>
          <a:p>
            <a:pPr>
              <a:lnSpc>
                <a:spcPct val="90000"/>
              </a:lnSpc>
            </a:pPr>
            <a:r>
              <a:rPr lang="en-GB" altLang="en-US" sz="2400"/>
              <a:t>Accuracy (A)</a:t>
            </a:r>
          </a:p>
        </p:txBody>
      </p:sp>
    </p:spTree>
    <p:extLst>
      <p:ext uri="{BB962C8B-B14F-4D97-AF65-F5344CB8AC3E}">
        <p14:creationId xmlns:p14="http://schemas.microsoft.com/office/powerpoint/2010/main" val="11340732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85439">
                                            <p:txEl>
                                              <p:pRg st="0" end="0"/>
                                            </p:txEl>
                                          </p:spTgt>
                                        </p:tgtEl>
                                        <p:attrNameLst>
                                          <p:attrName>style.visibility</p:attrName>
                                        </p:attrNameLst>
                                      </p:cBhvr>
                                      <p:to>
                                        <p:strVal val="visible"/>
                                      </p:to>
                                    </p:set>
                                    <p:animEffect transition="in" filter="blinds(horizontal)">
                                      <p:cBhvr>
                                        <p:cTn id="7" dur="500"/>
                                        <p:tgtEl>
                                          <p:spTgt spid="78543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85411"/>
                                        </p:tgtEl>
                                        <p:attrNameLst>
                                          <p:attrName>style.visibility</p:attrName>
                                        </p:attrNameLst>
                                      </p:cBhvr>
                                      <p:to>
                                        <p:strVal val="visible"/>
                                      </p:to>
                                    </p:set>
                                    <p:animEffect transition="in" filter="blinds(horizontal)">
                                      <p:cBhvr>
                                        <p:cTn id="10" dur="500"/>
                                        <p:tgtEl>
                                          <p:spTgt spid="78541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785439">
                                            <p:txEl>
                                              <p:pRg st="2" end="2"/>
                                            </p:txEl>
                                          </p:spTgt>
                                        </p:tgtEl>
                                        <p:attrNameLst>
                                          <p:attrName>style.visibility</p:attrName>
                                        </p:attrNameLst>
                                      </p:cBhvr>
                                      <p:to>
                                        <p:strVal val="visible"/>
                                      </p:to>
                                    </p:set>
                                    <p:animEffect transition="in" filter="blinds(horizontal)">
                                      <p:cBhvr>
                                        <p:cTn id="15" dur="500"/>
                                        <p:tgtEl>
                                          <p:spTgt spid="78543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85438"/>
                                        </p:tgtEl>
                                        <p:attrNameLst>
                                          <p:attrName>style.visibility</p:attrName>
                                        </p:attrNameLst>
                                      </p:cBhvr>
                                      <p:to>
                                        <p:strVal val="visible"/>
                                      </p:to>
                                    </p:set>
                                    <p:animEffect transition="in" filter="blinds(horizontal)">
                                      <p:cBhvr>
                                        <p:cTn id="18" dur="500"/>
                                        <p:tgtEl>
                                          <p:spTgt spid="785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63"/>
          <p:cNvSpPr>
            <a:spLocks noGrp="1"/>
          </p:cNvSpPr>
          <p:nvPr>
            <p:ph type="sldNum" sz="quarter" idx="10"/>
          </p:nvPr>
        </p:nvSpPr>
        <p:spPr/>
        <p:txBody>
          <a:bodyPr/>
          <a:lstStyle/>
          <a:p>
            <a:fld id="{CC1F589A-1C48-4809-938B-AA81B0403500}" type="slidenum">
              <a:rPr lang="en-GB" altLang="en-US"/>
              <a:pPr/>
              <a:t>62</a:t>
            </a:fld>
            <a:endParaRPr lang="en-GB" altLang="en-US"/>
          </a:p>
        </p:txBody>
      </p:sp>
      <p:sp>
        <p:nvSpPr>
          <p:cNvPr id="657410" name="Rectangle 2"/>
          <p:cNvSpPr>
            <a:spLocks noGrp="1" noChangeArrowheads="1"/>
          </p:cNvSpPr>
          <p:nvPr>
            <p:ph type="title"/>
          </p:nvPr>
        </p:nvSpPr>
        <p:spPr/>
        <p:txBody>
          <a:bodyPr/>
          <a:lstStyle/>
          <a:p>
            <a:r>
              <a:rPr lang="en-GB" altLang="en-US"/>
              <a:t>Evaluation of extracts (instance)</a:t>
            </a:r>
          </a:p>
        </p:txBody>
      </p:sp>
      <p:sp>
        <p:nvSpPr>
          <p:cNvPr id="657411" name="Rectangle 3"/>
          <p:cNvSpPr>
            <a:spLocks noGrp="1" noChangeArrowheads="1"/>
          </p:cNvSpPr>
          <p:nvPr>
            <p:ph type="body" sz="half" idx="2"/>
          </p:nvPr>
        </p:nvSpPr>
        <p:spPr>
          <a:xfrm>
            <a:off x="6527801" y="4365626"/>
            <a:ext cx="3878263" cy="1916113"/>
          </a:xfrm>
        </p:spPr>
        <p:txBody>
          <a:bodyPr/>
          <a:lstStyle/>
          <a:p>
            <a:pPr>
              <a:lnSpc>
                <a:spcPct val="90000"/>
              </a:lnSpc>
            </a:pPr>
            <a:r>
              <a:rPr lang="en-GB" altLang="en-US" sz="2400"/>
              <a:t>precision =  1/2</a:t>
            </a:r>
          </a:p>
          <a:p>
            <a:pPr>
              <a:lnSpc>
                <a:spcPct val="90000"/>
              </a:lnSpc>
            </a:pPr>
            <a:endParaRPr lang="en-GB" altLang="en-US"/>
          </a:p>
          <a:p>
            <a:pPr>
              <a:lnSpc>
                <a:spcPct val="90000"/>
              </a:lnSpc>
            </a:pPr>
            <a:endParaRPr lang="en-GB" altLang="en-US"/>
          </a:p>
          <a:p>
            <a:pPr>
              <a:lnSpc>
                <a:spcPct val="90000"/>
              </a:lnSpc>
            </a:pPr>
            <a:r>
              <a:rPr lang="en-GB" altLang="en-US" sz="2400"/>
              <a:t>recall = 1/3</a:t>
            </a:r>
          </a:p>
        </p:txBody>
      </p:sp>
      <p:graphicFrame>
        <p:nvGraphicFramePr>
          <p:cNvPr id="657479" name="Group 71"/>
          <p:cNvGraphicFramePr>
            <a:graphicFrameLocks noGrp="1"/>
          </p:cNvGraphicFramePr>
          <p:nvPr/>
        </p:nvGraphicFramePr>
        <p:xfrm>
          <a:off x="7248526" y="1844676"/>
          <a:ext cx="2232025" cy="2184401"/>
        </p:xfrm>
        <a:graphic>
          <a:graphicData uri="http://schemas.openxmlformats.org/drawingml/2006/table">
            <a:tbl>
              <a:tblPr/>
              <a:tblGrid>
                <a:gridCol w="739775">
                  <a:extLst>
                    <a:ext uri="{9D8B030D-6E8A-4147-A177-3AD203B41FA5}">
                      <a16:colId xmlns:a16="http://schemas.microsoft.com/office/drawing/2014/main" val="2933193437"/>
                    </a:ext>
                  </a:extLst>
                </a:gridCol>
                <a:gridCol w="684213">
                  <a:extLst>
                    <a:ext uri="{9D8B030D-6E8A-4147-A177-3AD203B41FA5}">
                      <a16:colId xmlns:a16="http://schemas.microsoft.com/office/drawing/2014/main" val="3180947554"/>
                    </a:ext>
                  </a:extLst>
                </a:gridCol>
                <a:gridCol w="808037">
                  <a:extLst>
                    <a:ext uri="{9D8B030D-6E8A-4147-A177-3AD203B41FA5}">
                      <a16:colId xmlns:a16="http://schemas.microsoft.com/office/drawing/2014/main" val="1963319819"/>
                    </a:ext>
                  </a:extLst>
                </a:gridCol>
              </a:tblGrid>
              <a:tr h="53498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3341057460"/>
                  </a:ext>
                </a:extLst>
              </a:tr>
              <a:tr h="6096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17384208"/>
                  </a:ext>
                </a:extLst>
              </a:tr>
              <a:tr h="582613">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15895844"/>
                  </a:ext>
                </a:extLst>
              </a:tr>
              <a:tr h="43338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7162922"/>
                  </a:ext>
                </a:extLst>
              </a:tr>
            </a:tbl>
          </a:graphicData>
        </a:graphic>
      </p:graphicFrame>
      <p:graphicFrame>
        <p:nvGraphicFramePr>
          <p:cNvPr id="657480" name="Group 72"/>
          <p:cNvGraphicFramePr>
            <a:graphicFrameLocks noGrp="1"/>
          </p:cNvGraphicFramePr>
          <p:nvPr>
            <p:ph sz="half" idx="1"/>
          </p:nvPr>
        </p:nvGraphicFramePr>
        <p:xfrm>
          <a:off x="2566988" y="1792289"/>
          <a:ext cx="5467350" cy="3806825"/>
        </p:xfrm>
        <a:graphic>
          <a:graphicData uri="http://schemas.openxmlformats.org/drawingml/2006/table">
            <a:tbl>
              <a:tblPr/>
              <a:tblGrid>
                <a:gridCol w="360362">
                  <a:extLst>
                    <a:ext uri="{9D8B030D-6E8A-4147-A177-3AD203B41FA5}">
                      <a16:colId xmlns:a16="http://schemas.microsoft.com/office/drawing/2014/main" val="1350311860"/>
                    </a:ext>
                  </a:extLst>
                </a:gridCol>
                <a:gridCol w="1368425">
                  <a:extLst>
                    <a:ext uri="{9D8B030D-6E8A-4147-A177-3AD203B41FA5}">
                      <a16:colId xmlns:a16="http://schemas.microsoft.com/office/drawing/2014/main" val="336846689"/>
                    </a:ext>
                  </a:extLst>
                </a:gridCol>
                <a:gridCol w="1512888">
                  <a:extLst>
                    <a:ext uri="{9D8B030D-6E8A-4147-A177-3AD203B41FA5}">
                      <a16:colId xmlns:a16="http://schemas.microsoft.com/office/drawing/2014/main" val="3253621506"/>
                    </a:ext>
                  </a:extLst>
                </a:gridCol>
                <a:gridCol w="2225675">
                  <a:extLst>
                    <a:ext uri="{9D8B030D-6E8A-4147-A177-3AD203B41FA5}">
                      <a16:colId xmlns:a16="http://schemas.microsoft.com/office/drawing/2014/main" val="3729569760"/>
                    </a:ext>
                  </a:extLst>
                </a:gridCol>
              </a:tblGrid>
              <a:tr h="28257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Human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System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7">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4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627716680"/>
                  </a:ext>
                </a:extLst>
              </a:tr>
              <a:tr h="18097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3138859018"/>
                  </a:ext>
                </a:extLst>
              </a:tr>
              <a:tr h="18097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2341626658"/>
                  </a:ext>
                </a:extLst>
              </a:tr>
              <a:tr h="28892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2364103173"/>
                  </a:ext>
                </a:extLst>
              </a:tr>
              <a:tr h="31908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200201506"/>
                  </a:ext>
                </a:extLst>
              </a:tr>
              <a:tr h="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2400" b="0" i="0" u="none" strike="noStrike" cap="none" normalizeH="0" baseline="0">
                          <a:ln>
                            <a:noFill/>
                          </a:ln>
                          <a:solidFill>
                            <a:schemeClr val="tx1"/>
                          </a:solidFill>
                          <a:effectLst/>
                          <a:latin typeface="Tahoma" panose="020B060403050404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8714835"/>
                  </a:ext>
                </a:extLst>
              </a:tr>
              <a:tr h="1063625">
                <a:tc gridSpan="3">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400" b="0" i="0" u="none" strike="noStrike" cap="none" normalizeH="0" baseline="0">
                        <a:ln>
                          <a:noFill/>
                        </a:ln>
                        <a:solidFill>
                          <a:schemeClr val="tx1"/>
                        </a:solidFill>
                        <a:effectLst/>
                        <a:latin typeface="Tahoma" panose="020B0604030504040204" pitchFamily="34" charset="0"/>
                      </a:endParaRPr>
                    </a:p>
                  </a:txBody>
                  <a:tcPr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401346162"/>
                  </a:ext>
                </a:extLst>
              </a:tr>
            </a:tbl>
          </a:graphicData>
        </a:graphic>
      </p:graphicFrame>
    </p:spTree>
    <p:extLst>
      <p:ext uri="{BB962C8B-B14F-4D97-AF65-F5344CB8AC3E}">
        <p14:creationId xmlns:p14="http://schemas.microsoft.com/office/powerpoint/2010/main" val="428346841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US" altLang="en-US"/>
              <a:t>How can You Evaluate a Summary?</a:t>
            </a:r>
          </a:p>
        </p:txBody>
      </p:sp>
      <p:sp>
        <p:nvSpPr>
          <p:cNvPr id="190467" name="Rectangle 3"/>
          <p:cNvSpPr>
            <a:spLocks noGrp="1" noChangeArrowheads="1"/>
          </p:cNvSpPr>
          <p:nvPr>
            <p:ph type="body" idx="1"/>
          </p:nvPr>
        </p:nvSpPr>
        <p:spPr>
          <a:xfrm>
            <a:off x="2100263" y="1233489"/>
            <a:ext cx="7169150" cy="4776787"/>
          </a:xfrm>
        </p:spPr>
        <p:txBody>
          <a:bodyPr/>
          <a:lstStyle/>
          <a:p>
            <a:r>
              <a:rPr lang="en-US" altLang="en-US" b="1"/>
              <a:t>When you already have a summary…</a:t>
            </a:r>
            <a:endParaRPr lang="en-US" altLang="en-US"/>
          </a:p>
          <a:p>
            <a:pPr>
              <a:lnSpc>
                <a:spcPct val="70000"/>
              </a:lnSpc>
              <a:buFontTx/>
              <a:buNone/>
            </a:pPr>
            <a:r>
              <a:rPr lang="en-US" altLang="en-US"/>
              <a:t>	 ...then you can compare a new one to it:</a:t>
            </a:r>
          </a:p>
          <a:p>
            <a:pPr lvl="1">
              <a:lnSpc>
                <a:spcPct val="90000"/>
              </a:lnSpc>
              <a:buFontTx/>
              <a:buNone/>
            </a:pPr>
            <a:r>
              <a:rPr lang="en-US" altLang="en-US"/>
              <a:t>1. choose a granularity (clause; sentence; paragraph),</a:t>
            </a:r>
          </a:p>
          <a:p>
            <a:pPr lvl="1">
              <a:lnSpc>
                <a:spcPct val="90000"/>
              </a:lnSpc>
              <a:buFontTx/>
              <a:buNone/>
            </a:pPr>
            <a:r>
              <a:rPr lang="en-US" altLang="en-US"/>
              <a:t>2. create a similarity measure for that granularity (word overlap; multi-word overlap, perfect match),</a:t>
            </a:r>
          </a:p>
          <a:p>
            <a:pPr lvl="1">
              <a:lnSpc>
                <a:spcPct val="90000"/>
              </a:lnSpc>
              <a:buFontTx/>
              <a:buNone/>
            </a:pPr>
            <a:r>
              <a:rPr lang="en-US" altLang="en-US"/>
              <a:t>3. measure the similarity of each unit in the new to the most similar unit(s) in the gold standard,</a:t>
            </a:r>
          </a:p>
          <a:p>
            <a:pPr lvl="1">
              <a:lnSpc>
                <a:spcPct val="90000"/>
              </a:lnSpc>
              <a:buFontTx/>
              <a:buNone/>
            </a:pPr>
            <a:r>
              <a:rPr lang="en-US" altLang="en-US"/>
              <a:t>4. measure Recall and Precision. </a:t>
            </a:r>
          </a:p>
          <a:p>
            <a:pPr lvl="1">
              <a:buFontTx/>
              <a:buNone/>
            </a:pPr>
            <a:r>
              <a:rPr lang="en-US" altLang="en-US"/>
              <a:t>e.g., (Kupiec et al., 95).</a:t>
            </a:r>
          </a:p>
          <a:p>
            <a:pPr lvl="1">
              <a:buFontTx/>
              <a:buNone/>
            </a:pPr>
            <a:endParaRPr lang="en-US" altLang="en-US" sz="1800"/>
          </a:p>
          <a:p>
            <a:pPr>
              <a:buFontTx/>
              <a:buNone/>
            </a:pPr>
            <a:r>
              <a:rPr lang="en-US" altLang="en-US" b="1">
                <a:solidFill>
                  <a:schemeClr val="accent1"/>
                </a:solidFill>
              </a:rPr>
              <a:t>……………..…. but when you don’t?</a:t>
            </a:r>
            <a:endParaRPr lang="en-US" altLang="en-US"/>
          </a:p>
        </p:txBody>
      </p:sp>
      <p:graphicFrame>
        <p:nvGraphicFramePr>
          <p:cNvPr id="190468" name="Object 4"/>
          <p:cNvGraphicFramePr>
            <a:graphicFrameLocks noChangeAspect="1"/>
          </p:cNvGraphicFramePr>
          <p:nvPr>
            <p:extLst>
              <p:ext uri="{D42A27DB-BD31-4B8C-83A1-F6EECF244321}">
                <p14:modId xmlns:p14="http://schemas.microsoft.com/office/powerpoint/2010/main" val="1333138310"/>
              </p:ext>
            </p:extLst>
          </p:nvPr>
        </p:nvGraphicFramePr>
        <p:xfrm>
          <a:off x="9497219" y="2212243"/>
          <a:ext cx="1628775" cy="3502025"/>
        </p:xfrm>
        <a:graphic>
          <a:graphicData uri="http://schemas.openxmlformats.org/presentationml/2006/ole">
            <mc:AlternateContent xmlns:mc="http://schemas.openxmlformats.org/markup-compatibility/2006">
              <mc:Choice xmlns:v="urn:schemas-microsoft-com:vml" Requires="v">
                <p:oleObj spid="_x0000_s13545" name="Clip" r:id="rId3" imgW="1866900" imgH="4013200" progId="MS_ClipArt_Gallery.2">
                  <p:embed/>
                </p:oleObj>
              </mc:Choice>
              <mc:Fallback>
                <p:oleObj name="Clip" r:id="rId3" imgW="1866900" imgH="4013200" progId="MS_ClipArt_Gallery.2">
                  <p:embed/>
                  <p:pic>
                    <p:nvPicPr>
                      <p:cNvPr id="19046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7219" y="2212243"/>
                        <a:ext cx="1628775" cy="350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643994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lIns="90487" tIns="44450" rIns="90487" bIns="44450" rtlCol="0" anchor="ctr">
            <a:normAutofit/>
          </a:bodyPr>
          <a:lstStyle/>
          <a:p>
            <a:r>
              <a:rPr lang="en-US" altLang="en-US"/>
              <a:t>Q&amp;A Evaluation</a:t>
            </a:r>
          </a:p>
        </p:txBody>
      </p:sp>
      <p:sp>
        <p:nvSpPr>
          <p:cNvPr id="187395"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lIns="90487" tIns="44450" rIns="90487" bIns="44450" rtlCol="0">
            <a:normAutofit/>
          </a:bodyPr>
          <a:lstStyle/>
          <a:p>
            <a:pPr>
              <a:lnSpc>
                <a:spcPct val="110000"/>
              </a:lnSpc>
            </a:pPr>
            <a:r>
              <a:rPr lang="en-US" altLang="en-US" b="1" u="sng"/>
              <a:t>Can you focus on the important stuff?</a:t>
            </a:r>
            <a:r>
              <a:rPr lang="en-US" altLang="en-US"/>
              <a:t> </a:t>
            </a:r>
          </a:p>
          <a:p>
            <a:pPr lvl="1">
              <a:lnSpc>
                <a:spcPct val="90000"/>
              </a:lnSpc>
              <a:buFontTx/>
              <a:buNone/>
            </a:pPr>
            <a:r>
              <a:rPr lang="en-US" altLang="en-US"/>
              <a:t>The Q&amp;A Game—can be tailored to your interests!</a:t>
            </a:r>
            <a:endParaRPr lang="en-US" altLang="en-US" b="1"/>
          </a:p>
          <a:p>
            <a:pPr>
              <a:lnSpc>
                <a:spcPct val="110000"/>
              </a:lnSpc>
            </a:pPr>
            <a:r>
              <a:rPr lang="en-US" altLang="en-US" b="1"/>
              <a:t>Measure core info. capture by Q&amp;A game: </a:t>
            </a:r>
            <a:endParaRPr lang="en-US" altLang="en-US"/>
          </a:p>
          <a:p>
            <a:pPr lvl="1">
              <a:lnSpc>
                <a:spcPct val="90000"/>
              </a:lnSpc>
              <a:spcBef>
                <a:spcPct val="10000"/>
              </a:spcBef>
            </a:pPr>
            <a:r>
              <a:rPr lang="en-US" altLang="en-US"/>
              <a:t>Some people (</a:t>
            </a:r>
            <a:r>
              <a:rPr lang="en-US" altLang="en-US" i="1"/>
              <a:t>questioners</a:t>
            </a:r>
            <a:r>
              <a:rPr lang="en-US" altLang="en-US"/>
              <a:t>) see text, must create questions about most important content.</a:t>
            </a:r>
          </a:p>
          <a:p>
            <a:pPr lvl="1">
              <a:lnSpc>
                <a:spcPct val="90000"/>
              </a:lnSpc>
            </a:pPr>
            <a:r>
              <a:rPr lang="en-US" altLang="en-US"/>
              <a:t>Other people (</a:t>
            </a:r>
            <a:r>
              <a:rPr lang="en-US" altLang="en-US" i="1"/>
              <a:t>answerers</a:t>
            </a:r>
            <a:r>
              <a:rPr lang="en-US" altLang="en-US"/>
              <a:t>) see: </a:t>
            </a:r>
          </a:p>
          <a:p>
            <a:pPr lvl="2">
              <a:lnSpc>
                <a:spcPct val="90000"/>
              </a:lnSpc>
              <a:buFontTx/>
              <a:buNone/>
            </a:pPr>
            <a:r>
              <a:rPr lang="en-US" altLang="en-US"/>
              <a:t>1. nothing—but must try to answer questions (baseline),</a:t>
            </a:r>
          </a:p>
          <a:p>
            <a:pPr lvl="2">
              <a:lnSpc>
                <a:spcPct val="90000"/>
              </a:lnSpc>
              <a:buFontTx/>
              <a:buNone/>
            </a:pPr>
            <a:r>
              <a:rPr lang="en-US" altLang="en-US"/>
              <a:t>2. then: summary, must answer same questions,</a:t>
            </a:r>
          </a:p>
          <a:p>
            <a:pPr lvl="2">
              <a:lnSpc>
                <a:spcPct val="90000"/>
              </a:lnSpc>
              <a:buFontTx/>
              <a:buNone/>
            </a:pPr>
            <a:r>
              <a:rPr lang="en-US" altLang="en-US"/>
              <a:t>3. then: full text, must answer same questions again. </a:t>
            </a:r>
          </a:p>
          <a:p>
            <a:pPr lvl="1"/>
            <a:r>
              <a:rPr lang="en-US" altLang="en-US"/>
              <a:t>Information retention:  % answers correct.</a:t>
            </a:r>
          </a:p>
        </p:txBody>
      </p:sp>
    </p:spTree>
    <p:extLst>
      <p:ext uri="{BB962C8B-B14F-4D97-AF65-F5344CB8AC3E}">
        <p14:creationId xmlns:p14="http://schemas.microsoft.com/office/powerpoint/2010/main" val="197513444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r>
              <a:rPr lang="en-US" altLang="en-US"/>
              <a:t>SUMMAC Categorization Test</a:t>
            </a:r>
          </a:p>
        </p:txBody>
      </p:sp>
      <p:sp>
        <p:nvSpPr>
          <p:cNvPr id="191491" name="Rectangle 3"/>
          <p:cNvSpPr>
            <a:spLocks noGrp="1" noChangeArrowheads="1"/>
          </p:cNvSpPr>
          <p:nvPr>
            <p:ph type="body" idx="1"/>
          </p:nvPr>
        </p:nvSpPr>
        <p:spPr>
          <a:xfrm>
            <a:off x="1789112" y="1335089"/>
            <a:ext cx="9482626" cy="4776787"/>
          </a:xfrm>
        </p:spPr>
        <p:txBody>
          <a:bodyPr/>
          <a:lstStyle/>
          <a:p>
            <a:pPr>
              <a:lnSpc>
                <a:spcPct val="110000"/>
              </a:lnSpc>
            </a:pPr>
            <a:r>
              <a:rPr lang="en-US" altLang="en-US" b="1"/>
              <a:t>Procedure </a:t>
            </a:r>
            <a:r>
              <a:rPr lang="en-US" altLang="en-US" sz="2400"/>
              <a:t>(SUMMAC, 98):</a:t>
            </a:r>
            <a:r>
              <a:rPr lang="en-US" altLang="en-US"/>
              <a:t> </a:t>
            </a:r>
          </a:p>
          <a:p>
            <a:pPr lvl="1">
              <a:lnSpc>
                <a:spcPct val="80000"/>
              </a:lnSpc>
              <a:buFontTx/>
              <a:buNone/>
            </a:pPr>
            <a:r>
              <a:rPr lang="en-US" altLang="en-US"/>
              <a:t>1. 1000 newspaper articles from each of 5 categories.</a:t>
            </a:r>
          </a:p>
          <a:p>
            <a:pPr lvl="1">
              <a:lnSpc>
                <a:spcPct val="90000"/>
              </a:lnSpc>
              <a:buFontTx/>
              <a:buNone/>
            </a:pPr>
            <a:r>
              <a:rPr lang="en-US" altLang="en-US"/>
              <a:t>2. Systems summarize each text (generic summary).</a:t>
            </a:r>
          </a:p>
          <a:p>
            <a:pPr lvl="1">
              <a:lnSpc>
                <a:spcPct val="90000"/>
              </a:lnSpc>
              <a:buFontTx/>
              <a:buNone/>
            </a:pPr>
            <a:r>
              <a:rPr lang="en-US" altLang="en-US"/>
              <a:t>3. Humans categorize summaries into 5 categories.</a:t>
            </a:r>
          </a:p>
          <a:p>
            <a:pPr lvl="1">
              <a:lnSpc>
                <a:spcPct val="90000"/>
              </a:lnSpc>
              <a:buFontTx/>
              <a:buNone/>
            </a:pPr>
            <a:r>
              <a:rPr lang="en-US" altLang="en-US"/>
              <a:t>4. </a:t>
            </a:r>
            <a:r>
              <a:rPr lang="en-US" altLang="en-US" u="sng"/>
              <a:t>Testers measure </a:t>
            </a:r>
            <a:r>
              <a:rPr lang="en-US" altLang="en-US" i="1" u="sng"/>
              <a:t>Recall</a:t>
            </a:r>
            <a:r>
              <a:rPr lang="en-US" altLang="en-US" u="sng"/>
              <a:t> and </a:t>
            </a:r>
            <a:r>
              <a:rPr lang="en-US" altLang="en-US" i="1" u="sng"/>
              <a:t>Precision, </a:t>
            </a:r>
            <a:r>
              <a:rPr lang="en-US" altLang="en-US" u="sng"/>
              <a:t>combined into</a:t>
            </a:r>
            <a:r>
              <a:rPr lang="en-US" altLang="en-US" i="1" u="sng"/>
              <a:t> F</a:t>
            </a:r>
            <a:r>
              <a:rPr lang="en-US" altLang="en-US" u="sng"/>
              <a:t>:</a:t>
            </a:r>
            <a:r>
              <a:rPr lang="en-US" altLang="en-US"/>
              <a:t> </a:t>
            </a:r>
            <a:r>
              <a:rPr lang="en-US" altLang="en-US" i="1"/>
              <a:t>How correctly are the summaries classified, compared to the full texts?</a:t>
            </a:r>
          </a:p>
          <a:p>
            <a:pPr lvl="1">
              <a:lnSpc>
                <a:spcPct val="90000"/>
              </a:lnSpc>
              <a:buFontTx/>
              <a:buNone/>
            </a:pPr>
            <a:r>
              <a:rPr lang="en-US" altLang="en-US" sz="2000"/>
              <a:t>	(many other measures as well)</a:t>
            </a:r>
            <a:r>
              <a:rPr lang="en-US" altLang="en-US"/>
              <a:t> </a:t>
            </a:r>
          </a:p>
        </p:txBody>
      </p:sp>
    </p:spTree>
    <p:extLst>
      <p:ext uri="{BB962C8B-B14F-4D97-AF65-F5344CB8AC3E}">
        <p14:creationId xmlns:p14="http://schemas.microsoft.com/office/powerpoint/2010/main" val="19376785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92368-1D55-4FE4-A75A-D6D59978D1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FAF8D2-451B-4DEE-B439-9D45A11A0A2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84790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F36C-D27F-4196-B3A1-75350516CC6B}"/>
              </a:ext>
            </a:extLst>
          </p:cNvPr>
          <p:cNvSpPr>
            <a:spLocks noGrp="1"/>
          </p:cNvSpPr>
          <p:nvPr>
            <p:ph type="title"/>
          </p:nvPr>
        </p:nvSpPr>
        <p:spPr>
          <a:xfrm>
            <a:off x="838200" y="2766218"/>
            <a:ext cx="10515600" cy="1325563"/>
          </a:xfrm>
        </p:spPr>
        <p:txBody>
          <a:bodyPr>
            <a:normAutofit/>
          </a:bodyPr>
          <a:lstStyle/>
          <a:p>
            <a:pPr algn="ctr"/>
            <a:r>
              <a:rPr lang="en-US" dirty="0"/>
              <a:t>Evaluating Summaries – ROUGE and BLEU</a:t>
            </a:r>
          </a:p>
        </p:txBody>
      </p:sp>
    </p:spTree>
    <p:extLst>
      <p:ext uri="{BB962C8B-B14F-4D97-AF65-F5344CB8AC3E}">
        <p14:creationId xmlns:p14="http://schemas.microsoft.com/office/powerpoint/2010/main" val="1818221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ROUGE</a:t>
            </a:r>
          </a:p>
        </p:txBody>
      </p:sp>
      <p:sp>
        <p:nvSpPr>
          <p:cNvPr id="3" name="Content Placeholder 2"/>
          <p:cNvSpPr>
            <a:spLocks noGrp="1"/>
          </p:cNvSpPr>
          <p:nvPr>
            <p:ph idx="1"/>
          </p:nvPr>
        </p:nvSpPr>
        <p:spPr/>
        <p:txBody>
          <a:bodyPr>
            <a:normAutofit fontScale="85000" lnSpcReduction="10000"/>
          </a:bodyPr>
          <a:lstStyle/>
          <a:p>
            <a:r>
              <a:rPr lang="en-US" dirty="0"/>
              <a:t>ROUGE, or Recall-Oriented Understudy for </a:t>
            </a:r>
            <a:r>
              <a:rPr lang="en-US" dirty="0" err="1"/>
              <a:t>Gisting</a:t>
            </a:r>
            <a:r>
              <a:rPr lang="en-US" dirty="0"/>
              <a:t> Evaluation, is a set of metrics and a software package used for evaluating automatic summarization. </a:t>
            </a:r>
          </a:p>
          <a:p>
            <a:r>
              <a:rPr lang="en-US" dirty="0"/>
              <a:t>The metrics compare an automatically produced summary or translation against a reference or a set of references (human-produced) summary or translation.</a:t>
            </a:r>
          </a:p>
          <a:p>
            <a:r>
              <a:rPr lang="en-US" dirty="0"/>
              <a:t>The following five evaluation metrics are available.</a:t>
            </a:r>
          </a:p>
          <a:p>
            <a:pPr lvl="1"/>
            <a:r>
              <a:rPr lang="en-US" dirty="0"/>
              <a:t>ROUGE-N: N-gram based co-occurrence statistics.</a:t>
            </a:r>
          </a:p>
          <a:p>
            <a:pPr lvl="1"/>
            <a:r>
              <a:rPr lang="en-US" dirty="0"/>
              <a:t>ROUGE-L: Longest Common Subsequence (LCS) based statistics. </a:t>
            </a:r>
          </a:p>
          <a:p>
            <a:pPr lvl="1"/>
            <a:r>
              <a:rPr lang="en-US" dirty="0"/>
              <a:t>ROUGE-W: Weighted LCS-based statistics that favors consecutive </a:t>
            </a:r>
            <a:r>
              <a:rPr lang="en-US" dirty="0" err="1"/>
              <a:t>LCSes</a:t>
            </a:r>
            <a:r>
              <a:rPr lang="en-US" dirty="0"/>
              <a:t> .</a:t>
            </a:r>
          </a:p>
          <a:p>
            <a:pPr lvl="1"/>
            <a:r>
              <a:rPr lang="en-US" dirty="0"/>
              <a:t>ROUGE-S: Skip-bigram based co-occurrence statistics. Skip-bigram is any pair of words in their sentence order.</a:t>
            </a:r>
          </a:p>
          <a:p>
            <a:pPr lvl="1"/>
            <a:r>
              <a:rPr lang="en-US" dirty="0"/>
              <a:t>ROUGE-SU: Skip-bigram plus unigram-based co-occurrence statistics.</a:t>
            </a:r>
          </a:p>
          <a:p>
            <a:r>
              <a:rPr lang="en-US" dirty="0"/>
              <a:t>ROUGE can be downloaded from http://www.berouge.com/Pages/DownloadROUGE.aspx</a:t>
            </a:r>
          </a:p>
        </p:txBody>
      </p:sp>
    </p:spTree>
    <p:extLst>
      <p:ext uri="{BB962C8B-B14F-4D97-AF65-F5344CB8AC3E}">
        <p14:creationId xmlns:p14="http://schemas.microsoft.com/office/powerpoint/2010/main" val="27452809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38" name="Rectangle 2"/>
          <p:cNvSpPr>
            <a:spLocks noGrp="1" noChangeArrowheads="1"/>
          </p:cNvSpPr>
          <p:nvPr>
            <p:ph type="title"/>
          </p:nvPr>
        </p:nvSpPr>
        <p:spPr/>
        <p:txBody>
          <a:bodyPr/>
          <a:lstStyle/>
          <a:p>
            <a:r>
              <a:rPr lang="en-GB" altLang="en-US"/>
              <a:t>Example (R-1 and R-L)</a:t>
            </a:r>
            <a:endParaRPr lang="en-US" altLang="en-US"/>
          </a:p>
        </p:txBody>
      </p:sp>
      <p:sp>
        <p:nvSpPr>
          <p:cNvPr id="782339" name="Rectangle 3"/>
          <p:cNvSpPr>
            <a:spLocks noGrp="1" noChangeArrowheads="1"/>
          </p:cNvSpPr>
          <p:nvPr>
            <p:ph type="body" idx="1"/>
          </p:nvPr>
        </p:nvSpPr>
        <p:spPr>
          <a:xfrm>
            <a:off x="2135188" y="1844676"/>
            <a:ext cx="8343900" cy="1871663"/>
          </a:xfrm>
        </p:spPr>
        <p:txBody>
          <a:bodyPr>
            <a:normAutofit lnSpcReduction="10000"/>
          </a:bodyPr>
          <a:lstStyle/>
          <a:p>
            <a:pPr>
              <a:lnSpc>
                <a:spcPct val="90000"/>
              </a:lnSpc>
            </a:pPr>
            <a:r>
              <a:rPr lang="en-US" altLang="en-US" sz="1600" dirty="0"/>
              <a:t>Generated summary: At least 13 sailors have been killed in a mine attack on a convoy in north-western Sri Lanka, officials say.</a:t>
            </a:r>
          </a:p>
          <a:p>
            <a:pPr>
              <a:lnSpc>
                <a:spcPct val="90000"/>
              </a:lnSpc>
            </a:pPr>
            <a:r>
              <a:rPr lang="en-US" altLang="en-US" sz="1600" dirty="0"/>
              <a:t>Human-1: Tamil Tiger guerrillas have blown up a navy bus in northeastern Sri Lanka, killing at least 10 sailors and wounding 17 others.</a:t>
            </a:r>
          </a:p>
          <a:p>
            <a:pPr>
              <a:lnSpc>
                <a:spcPct val="90000"/>
              </a:lnSpc>
            </a:pPr>
            <a:r>
              <a:rPr lang="en-US" altLang="en-US" sz="1600" dirty="0"/>
              <a:t>Human-2: Blasts blamed on Tamil Tiger rebels killed 13 people on Wednesday in Sri Lanka's northeast and dozens more were injured, officials said, raising fears planned peace talks may be cancelled and a civil war could restart.</a:t>
            </a:r>
          </a:p>
          <a:p>
            <a:pPr lvl="1">
              <a:lnSpc>
                <a:spcPct val="90000"/>
              </a:lnSpc>
            </a:pPr>
            <a:endParaRPr lang="en-US" altLang="en-US" sz="1600" dirty="0"/>
          </a:p>
          <a:p>
            <a:pPr>
              <a:lnSpc>
                <a:spcPct val="90000"/>
              </a:lnSpc>
            </a:pPr>
            <a:endParaRPr lang="en-US" altLang="en-US" sz="1600" dirty="0"/>
          </a:p>
          <a:p>
            <a:pPr>
              <a:lnSpc>
                <a:spcPct val="90000"/>
              </a:lnSpc>
            </a:pPr>
            <a:endParaRPr lang="en-GB" altLang="en-US" sz="2000" dirty="0"/>
          </a:p>
        </p:txBody>
      </p:sp>
      <p:sp>
        <p:nvSpPr>
          <p:cNvPr id="782344" name="Rectangle 8"/>
          <p:cNvSpPr>
            <a:spLocks noChangeArrowheads="1"/>
          </p:cNvSpPr>
          <p:nvPr/>
        </p:nvSpPr>
        <p:spPr bwMode="auto">
          <a:xfrm>
            <a:off x="2063751" y="3933825"/>
            <a:ext cx="4011734"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1">
              <a:lnSpc>
                <a:spcPct val="80000"/>
              </a:lnSpc>
              <a:buFont typeface="Wingdings" panose="05000000000000000000" pitchFamily="2" charset="2"/>
              <a:buNone/>
            </a:pPr>
            <a:r>
              <a:rPr lang="en-GB" altLang="en-US" sz="1400" dirty="0"/>
              <a:t>ROUGE-1</a:t>
            </a:r>
          </a:p>
          <a:p>
            <a:pPr lvl="1">
              <a:lnSpc>
                <a:spcPct val="80000"/>
              </a:lnSpc>
            </a:pPr>
            <a:r>
              <a:rPr lang="en-GB" altLang="en-US" sz="1400" dirty="0"/>
              <a:t>Generated has 21 1-grams (x2 = 42)</a:t>
            </a:r>
          </a:p>
          <a:p>
            <a:pPr lvl="1">
              <a:lnSpc>
                <a:spcPct val="80000"/>
              </a:lnSpc>
            </a:pPr>
            <a:r>
              <a:rPr lang="en-GB" altLang="en-US" sz="1400" dirty="0"/>
              <a:t>Human-1 has 22</a:t>
            </a:r>
          </a:p>
          <a:p>
            <a:pPr lvl="1">
              <a:lnSpc>
                <a:spcPct val="80000"/>
              </a:lnSpc>
            </a:pPr>
            <a:r>
              <a:rPr lang="en-GB" altLang="en-US" sz="1400" dirty="0"/>
              <a:t>Human-2 has 37 (total = 59)</a:t>
            </a:r>
          </a:p>
          <a:p>
            <a:pPr lvl="1">
              <a:lnSpc>
                <a:spcPct val="80000"/>
              </a:lnSpc>
            </a:pPr>
            <a:r>
              <a:rPr lang="en-GB" altLang="en-US" sz="1400" dirty="0"/>
              <a:t>1-grams hits 16</a:t>
            </a:r>
          </a:p>
          <a:p>
            <a:pPr lvl="1">
              <a:lnSpc>
                <a:spcPct val="80000"/>
              </a:lnSpc>
            </a:pPr>
            <a:r>
              <a:rPr lang="en-GB" altLang="en-US" sz="1400" dirty="0"/>
              <a:t>1-gram recall 0.27(=16/59)</a:t>
            </a:r>
          </a:p>
          <a:p>
            <a:pPr lvl="1">
              <a:lnSpc>
                <a:spcPct val="80000"/>
              </a:lnSpc>
            </a:pPr>
            <a:r>
              <a:rPr lang="en-GB" altLang="en-US" sz="1400" dirty="0"/>
              <a:t>1-gram precision 0.38=(16/42)</a:t>
            </a:r>
          </a:p>
          <a:p>
            <a:pPr lvl="1">
              <a:lnSpc>
                <a:spcPct val="80000"/>
              </a:lnSpc>
            </a:pPr>
            <a:r>
              <a:rPr lang="en-GB" altLang="en-US" sz="1400" dirty="0"/>
              <a:t>1-gram f-score 0.31</a:t>
            </a:r>
          </a:p>
          <a:p>
            <a:pPr lvl="1">
              <a:lnSpc>
                <a:spcPct val="80000"/>
              </a:lnSpc>
            </a:pPr>
            <a:endParaRPr lang="en-US" altLang="en-US" sz="1400" dirty="0"/>
          </a:p>
          <a:p>
            <a:pPr>
              <a:lnSpc>
                <a:spcPct val="80000"/>
              </a:lnSpc>
            </a:pPr>
            <a:endParaRPr lang="en-US" altLang="en-US" sz="1400" dirty="0"/>
          </a:p>
          <a:p>
            <a:pPr>
              <a:lnSpc>
                <a:spcPct val="80000"/>
              </a:lnSpc>
            </a:pPr>
            <a:endParaRPr lang="en-GB" altLang="en-US" sz="1400" dirty="0"/>
          </a:p>
        </p:txBody>
      </p:sp>
      <p:sp>
        <p:nvSpPr>
          <p:cNvPr id="782346" name="Rectangle 10"/>
          <p:cNvSpPr>
            <a:spLocks noChangeArrowheads="1"/>
          </p:cNvSpPr>
          <p:nvPr/>
        </p:nvSpPr>
        <p:spPr bwMode="auto">
          <a:xfrm>
            <a:off x="6383338" y="3933826"/>
            <a:ext cx="4413616"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1">
              <a:lnSpc>
                <a:spcPct val="80000"/>
              </a:lnSpc>
              <a:buFont typeface="Wingdings" panose="05000000000000000000" pitchFamily="2" charset="2"/>
              <a:buNone/>
            </a:pPr>
            <a:r>
              <a:rPr lang="en-GB" altLang="en-US" sz="1400" dirty="0"/>
              <a:t>ROUGE-L</a:t>
            </a:r>
          </a:p>
          <a:p>
            <a:pPr lvl="1">
              <a:lnSpc>
                <a:spcPct val="80000"/>
              </a:lnSpc>
              <a:buFont typeface="Wingdings" panose="05000000000000000000" pitchFamily="2" charset="2"/>
              <a:buNone/>
            </a:pPr>
            <a:r>
              <a:rPr lang="en-GB" altLang="en-US" sz="1400" dirty="0"/>
              <a:t>	LCS: have a in </a:t>
            </a:r>
            <a:r>
              <a:rPr lang="en-GB" altLang="en-US" sz="1400" dirty="0" err="1"/>
              <a:t>sri</a:t>
            </a:r>
            <a:r>
              <a:rPr lang="en-GB" altLang="en-US" sz="1400" dirty="0"/>
              <a:t> </a:t>
            </a:r>
            <a:r>
              <a:rPr lang="en-GB" altLang="en-US" sz="1400" dirty="0" err="1"/>
              <a:t>lanka</a:t>
            </a:r>
            <a:endParaRPr lang="en-GB" altLang="en-US" sz="1400" dirty="0"/>
          </a:p>
          <a:p>
            <a:pPr lvl="1">
              <a:lnSpc>
                <a:spcPct val="80000"/>
              </a:lnSpc>
              <a:buFont typeface="Wingdings" panose="05000000000000000000" pitchFamily="2" charset="2"/>
              <a:buNone/>
            </a:pPr>
            <a:r>
              <a:rPr lang="en-GB" altLang="en-US" sz="1400" dirty="0"/>
              <a:t>	LCS: </a:t>
            </a:r>
            <a:r>
              <a:rPr lang="en-US" altLang="en-US" sz="1400" dirty="0"/>
              <a:t>killed on in </a:t>
            </a:r>
            <a:r>
              <a:rPr lang="en-US" altLang="en-US" sz="1400" dirty="0" err="1"/>
              <a:t>sri</a:t>
            </a:r>
            <a:r>
              <a:rPr lang="en-US" altLang="en-US" sz="1400" dirty="0"/>
              <a:t> </a:t>
            </a:r>
            <a:r>
              <a:rPr lang="en-US" altLang="en-US" sz="1400" dirty="0" err="1"/>
              <a:t>lanka</a:t>
            </a:r>
            <a:r>
              <a:rPr lang="en-US" altLang="en-US" sz="1400" dirty="0"/>
              <a:t> officials</a:t>
            </a:r>
            <a:endParaRPr lang="en-GB" altLang="en-US" sz="1400" dirty="0"/>
          </a:p>
          <a:p>
            <a:pPr lvl="1">
              <a:lnSpc>
                <a:spcPct val="80000"/>
              </a:lnSpc>
            </a:pPr>
            <a:r>
              <a:rPr lang="en-GB" altLang="en-US" sz="1400" dirty="0"/>
              <a:t>Generated has 21 words (x2 = 42)</a:t>
            </a:r>
          </a:p>
          <a:p>
            <a:pPr lvl="1">
              <a:lnSpc>
                <a:spcPct val="80000"/>
              </a:lnSpc>
            </a:pPr>
            <a:r>
              <a:rPr lang="en-GB" altLang="en-US" sz="1400" dirty="0"/>
              <a:t>Human-1 has 22</a:t>
            </a:r>
          </a:p>
          <a:p>
            <a:pPr lvl="1">
              <a:lnSpc>
                <a:spcPct val="80000"/>
              </a:lnSpc>
            </a:pPr>
            <a:r>
              <a:rPr lang="en-GB" altLang="en-US" sz="1400" dirty="0"/>
              <a:t>Human-2 has 37 (total = 59)</a:t>
            </a:r>
          </a:p>
          <a:p>
            <a:pPr lvl="1">
              <a:lnSpc>
                <a:spcPct val="80000"/>
              </a:lnSpc>
            </a:pPr>
            <a:r>
              <a:rPr lang="en-GB" altLang="en-US" sz="1400" dirty="0"/>
              <a:t>LCS-hits is 11 </a:t>
            </a:r>
          </a:p>
          <a:p>
            <a:pPr lvl="1">
              <a:lnSpc>
                <a:spcPct val="80000"/>
              </a:lnSpc>
            </a:pPr>
            <a:r>
              <a:rPr lang="en-GB" altLang="en-US" sz="1400" dirty="0"/>
              <a:t>LCS recall 0.18 (=11/59)</a:t>
            </a:r>
          </a:p>
          <a:p>
            <a:pPr lvl="1">
              <a:lnSpc>
                <a:spcPct val="80000"/>
              </a:lnSpc>
            </a:pPr>
            <a:r>
              <a:rPr lang="en-GB" altLang="en-US" sz="1400" dirty="0"/>
              <a:t>LCS precision 0.26 (=11/42)</a:t>
            </a:r>
          </a:p>
          <a:p>
            <a:pPr lvl="1">
              <a:lnSpc>
                <a:spcPct val="80000"/>
              </a:lnSpc>
            </a:pPr>
            <a:r>
              <a:rPr lang="en-GB" altLang="en-US" sz="1400" dirty="0"/>
              <a:t>LCS  f-score 0.21</a:t>
            </a:r>
          </a:p>
          <a:p>
            <a:pPr lvl="1">
              <a:lnSpc>
                <a:spcPct val="80000"/>
              </a:lnSpc>
            </a:pPr>
            <a:endParaRPr lang="en-US" altLang="en-US" sz="1400" dirty="0"/>
          </a:p>
          <a:p>
            <a:pPr>
              <a:lnSpc>
                <a:spcPct val="80000"/>
              </a:lnSpc>
            </a:pPr>
            <a:endParaRPr lang="en-US" altLang="en-US" sz="1400" dirty="0"/>
          </a:p>
          <a:p>
            <a:pPr>
              <a:lnSpc>
                <a:spcPct val="80000"/>
              </a:lnSpc>
            </a:pPr>
            <a:endParaRPr lang="en-GB" altLang="en-US" sz="1400" dirty="0"/>
          </a:p>
        </p:txBody>
      </p:sp>
    </p:spTree>
    <p:extLst>
      <p:ext uri="{BB962C8B-B14F-4D97-AF65-F5344CB8AC3E}">
        <p14:creationId xmlns:p14="http://schemas.microsoft.com/office/powerpoint/2010/main" val="1747710266"/>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BLEU</a:t>
            </a:r>
          </a:p>
        </p:txBody>
      </p:sp>
      <p:sp>
        <p:nvSpPr>
          <p:cNvPr id="3" name="Content Placeholder 2"/>
          <p:cNvSpPr>
            <a:spLocks noGrp="1"/>
          </p:cNvSpPr>
          <p:nvPr>
            <p:ph idx="1"/>
          </p:nvPr>
        </p:nvSpPr>
        <p:spPr>
          <a:xfrm>
            <a:off x="838200" y="1367074"/>
            <a:ext cx="10515600" cy="4800836"/>
          </a:xfrm>
        </p:spPr>
        <p:txBody>
          <a:bodyPr>
            <a:normAutofit fontScale="55000" lnSpcReduction="20000"/>
          </a:bodyPr>
          <a:lstStyle/>
          <a:p>
            <a:r>
              <a:rPr lang="en-US" dirty="0"/>
              <a:t>BLEU (bilingual evaluation understudy) is an algorithm for evaluating the quality of summarization and  machine-translation. </a:t>
            </a:r>
          </a:p>
          <a:p>
            <a:r>
              <a:rPr lang="en-US" dirty="0"/>
              <a:t>Quality is considered to be the correspondence between a machine's output and that of a human.</a:t>
            </a:r>
          </a:p>
          <a:p>
            <a:r>
              <a:rPr lang="en-US" dirty="0"/>
              <a:t>Scores are calculated for individual translated segments—generally sentences—by comparing them with a set of good quality reference translations. </a:t>
            </a:r>
          </a:p>
          <a:p>
            <a:r>
              <a:rPr lang="en-US" dirty="0"/>
              <a:t>Intelligibility or grammatical correctness are not taken into account.</a:t>
            </a:r>
          </a:p>
          <a:p>
            <a:r>
              <a:rPr lang="en-US" dirty="0"/>
              <a:t>BLEU’s output is always a number between 0 and 1. This value indicates how similar the candidate and reference texts are.</a:t>
            </a:r>
          </a:p>
          <a:p>
            <a:r>
              <a:rPr lang="en-US" dirty="0"/>
              <a:t>Example of poor machine translation output with high precision</a:t>
            </a:r>
          </a:p>
          <a:p>
            <a:pPr lvl="1"/>
            <a:r>
              <a:rPr lang="en-US" dirty="0"/>
              <a:t>Candidate	the	the	the	the	the	the	the</a:t>
            </a:r>
          </a:p>
          <a:p>
            <a:pPr lvl="1"/>
            <a:r>
              <a:rPr lang="en-US" dirty="0"/>
              <a:t>Reference 1	the	cat	is	on	the	mat</a:t>
            </a:r>
          </a:p>
          <a:p>
            <a:pPr lvl="1"/>
            <a:r>
              <a:rPr lang="en-US" dirty="0"/>
              <a:t>Reference 2	there	is	a	cat	on	the	mat</a:t>
            </a:r>
          </a:p>
          <a:p>
            <a:r>
              <a:rPr lang="en-US" dirty="0"/>
              <a:t>Of the seven words in the candidate translation, all of them appear in the reference translations. Thus the candidate text is given a unigram precision of p=7/7=1, which is unfair. BLEU: For each word in the candidate translation, the algorithm takes its maximum total count, max, in any of the reference translations. In the example above, the word "the" appears twice in reference 1, and once in reference 2. Thus max = 2.</a:t>
            </a:r>
          </a:p>
          <a:p>
            <a:r>
              <a:rPr lang="en-US" dirty="0"/>
              <a:t>For the candidate translation, the count of each word is clipped to a maximum of max for that word. In this case, "the" has count = 7 and max=2, thus count is clipped to 2. This count is then summed over all words in the candidate. This sum is then divided by the total number of words in the candidate translation. In the above example, the modified unigram precision score would be: 2/7</a:t>
            </a:r>
          </a:p>
        </p:txBody>
      </p:sp>
    </p:spTree>
    <p:extLst>
      <p:ext uri="{BB962C8B-B14F-4D97-AF65-F5344CB8AC3E}">
        <p14:creationId xmlns:p14="http://schemas.microsoft.com/office/powerpoint/2010/main" val="3631160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95838-49D2-451C-B9C4-750DADFBB57F}"/>
              </a:ext>
            </a:extLst>
          </p:cNvPr>
          <p:cNvSpPr>
            <a:spLocks noGrp="1"/>
          </p:cNvSpPr>
          <p:nvPr>
            <p:ph type="title"/>
          </p:nvPr>
        </p:nvSpPr>
        <p:spPr/>
        <p:txBody>
          <a:bodyPr/>
          <a:lstStyle/>
          <a:p>
            <a:r>
              <a:rPr lang="en-US" dirty="0"/>
              <a:t>BLEU</a:t>
            </a:r>
          </a:p>
        </p:txBody>
      </p:sp>
      <p:sp>
        <p:nvSpPr>
          <p:cNvPr id="3" name="Content Placeholder 2">
            <a:extLst>
              <a:ext uri="{FF2B5EF4-FFF2-40B4-BE49-F238E27FC236}">
                <a16:creationId xmlns:a16="http://schemas.microsoft.com/office/drawing/2014/main" id="{208B0D8B-C79B-477C-9C94-7E7A4F4CA616}"/>
              </a:ext>
            </a:extLst>
          </p:cNvPr>
          <p:cNvSpPr>
            <a:spLocks noGrp="1"/>
          </p:cNvSpPr>
          <p:nvPr>
            <p:ph idx="1"/>
          </p:nvPr>
        </p:nvSpPr>
        <p:spPr/>
        <p:txBody>
          <a:bodyPr>
            <a:normAutofit fontScale="85000" lnSpcReduction="20000"/>
          </a:bodyPr>
          <a:lstStyle/>
          <a:p>
            <a:r>
              <a:rPr lang="en-US" dirty="0"/>
              <a:t>In practice, however, using individual words as the unit of comparison is not optimal. Instead, BLEU computes the same modified precision metric using n-grams. The unigram scores are found to account for the adequacy of the translation, or how much information is retained. The longer n-gram scores account for the fluency of the translation, or to what extent it reads like "good English".</a:t>
            </a:r>
          </a:p>
          <a:p>
            <a:r>
              <a:rPr lang="en-US" dirty="0"/>
              <a:t>BLEU scores tend to favor short translations, which can produce very high precision scores, even using modified precision. An example of a candidate translation for the same references as above might be: "the cat". Modified unigram precision would be, 1/2+1/2=1.</a:t>
            </a:r>
          </a:p>
          <a:p>
            <a:r>
              <a:rPr lang="en-US" dirty="0"/>
              <a:t>To produce a score for the whole corpus the modified precision scores for the segments are combined using the geometric mean multiplied by a brevity penalty to prevent very short candidates from receiving too high a score. Let r be the total length of the reference corpus, and c the total length of the translation corpus. If c&lt;r, the brevity penalty applies, defined to be e^{(1-r/c)}. </a:t>
            </a:r>
          </a:p>
          <a:p>
            <a:endParaRPr lang="en-US" dirty="0"/>
          </a:p>
        </p:txBody>
      </p:sp>
    </p:spTree>
    <p:extLst>
      <p:ext uri="{BB962C8B-B14F-4D97-AF65-F5344CB8AC3E}">
        <p14:creationId xmlns:p14="http://schemas.microsoft.com/office/powerpoint/2010/main" val="2760859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ROUGE vs BLEU</a:t>
            </a:r>
          </a:p>
        </p:txBody>
      </p:sp>
      <p:sp>
        <p:nvSpPr>
          <p:cNvPr id="3" name="Content Placeholder 2"/>
          <p:cNvSpPr>
            <a:spLocks noGrp="1"/>
          </p:cNvSpPr>
          <p:nvPr>
            <p:ph idx="1"/>
          </p:nvPr>
        </p:nvSpPr>
        <p:spPr/>
        <p:txBody>
          <a:bodyPr/>
          <a:lstStyle/>
          <a:p>
            <a:r>
              <a:rPr lang="en-US" b="1" dirty="0"/>
              <a:t>Bleu measures precision</a:t>
            </a:r>
            <a:r>
              <a:rPr lang="en-US" dirty="0"/>
              <a:t>: how much the words (and/or n-grams) in the </a:t>
            </a:r>
            <a:r>
              <a:rPr lang="en-US" i="1" dirty="0"/>
              <a:t>machine generated summaries</a:t>
            </a:r>
            <a:r>
              <a:rPr lang="en-US" dirty="0"/>
              <a:t> appeared in the human reference summaries.</a:t>
            </a:r>
          </a:p>
          <a:p>
            <a:r>
              <a:rPr lang="en-US" b="1" dirty="0"/>
              <a:t>Rouge measures recall</a:t>
            </a:r>
            <a:r>
              <a:rPr lang="en-US" dirty="0"/>
              <a:t>: how much the words (and/or n-grams) in the </a:t>
            </a:r>
            <a:r>
              <a:rPr lang="en-US" i="1" dirty="0"/>
              <a:t>human reference </a:t>
            </a:r>
            <a:r>
              <a:rPr lang="en-US" i="1" dirty="0" err="1"/>
              <a:t>summaries</a:t>
            </a:r>
            <a:r>
              <a:rPr lang="en-US" dirty="0" err="1"/>
              <a:t>appeared</a:t>
            </a:r>
            <a:r>
              <a:rPr lang="en-US" dirty="0"/>
              <a:t> in the machine generated summaries.</a:t>
            </a:r>
          </a:p>
          <a:p>
            <a:r>
              <a:rPr lang="en-US" dirty="0"/>
              <a:t>You could use the </a:t>
            </a:r>
            <a:r>
              <a:rPr lang="en-US" b="1" dirty="0"/>
              <a:t>F1 measure</a:t>
            </a:r>
            <a:r>
              <a:rPr lang="en-US" dirty="0"/>
              <a:t> to make the metrics work together: F1 = 2 * (Bleu * Rouge) / (Bleu + Rouge)</a:t>
            </a:r>
          </a:p>
        </p:txBody>
      </p:sp>
    </p:spTree>
    <p:extLst>
      <p:ext uri="{BB962C8B-B14F-4D97-AF65-F5344CB8AC3E}">
        <p14:creationId xmlns:p14="http://schemas.microsoft.com/office/powerpoint/2010/main" val="12192371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D9A4-DD69-46A2-A4DF-D649EC832E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6CAD7F-D80B-4DED-9793-8AA4B639805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436787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2|0.2|0.2|0.2"/>
</p:tagLst>
</file>

<file path=ppt/tags/tag2.xml><?xml version="1.0" encoding="utf-8"?>
<p:tagLst xmlns:a="http://schemas.openxmlformats.org/drawingml/2006/main" xmlns:r="http://schemas.openxmlformats.org/officeDocument/2006/relationships" xmlns:p="http://schemas.openxmlformats.org/presentationml/2006/main">
  <p:tag name="TIMING" val="|0.1|0.1|0|0.1"/>
</p:tagLst>
</file>

<file path=ppt/tags/tag3.xml><?xml version="1.0" encoding="utf-8"?>
<p:tagLst xmlns:a="http://schemas.openxmlformats.org/drawingml/2006/main" xmlns:r="http://schemas.openxmlformats.org/officeDocument/2006/relationships" xmlns:p="http://schemas.openxmlformats.org/presentationml/2006/main">
  <p:tag name="TIMING" val="|0.5|0.3|0.2|0.3|0.3|0.4|0.3"/>
</p:tagLst>
</file>

<file path=ppt/tags/tag4.xml><?xml version="1.0" encoding="utf-8"?>
<p:tagLst xmlns:a="http://schemas.openxmlformats.org/drawingml/2006/main" xmlns:r="http://schemas.openxmlformats.org/officeDocument/2006/relationships" xmlns:p="http://schemas.openxmlformats.org/presentationml/2006/main">
  <p:tag name="TIMING" val="|6.2|1.2|5.3|1.2|0.9"/>
</p:tagLst>
</file>

<file path=ppt/tags/tag5.xml><?xml version="1.0" encoding="utf-8"?>
<p:tagLst xmlns:a="http://schemas.openxmlformats.org/drawingml/2006/main" xmlns:r="http://schemas.openxmlformats.org/officeDocument/2006/relationships" xmlns:p="http://schemas.openxmlformats.org/presentationml/2006/main">
  <p:tag name="TIMING" val="|0.6|1|26.4|1.8"/>
</p:tagLst>
</file>

<file path=ppt/tags/tag6.xml><?xml version="1.0" encoding="utf-8"?>
<p:tagLst xmlns:a="http://schemas.openxmlformats.org/drawingml/2006/main" xmlns:r="http://schemas.openxmlformats.org/officeDocument/2006/relationships" xmlns:p="http://schemas.openxmlformats.org/presentationml/2006/main">
  <p:tag name="TIMING" val="|0.9|1.8|8.3|0.6"/>
</p:tagLst>
</file>

<file path=ppt/tags/tag7.xml><?xml version="1.0" encoding="utf-8"?>
<p:tagLst xmlns:a="http://schemas.openxmlformats.org/drawingml/2006/main" xmlns:r="http://schemas.openxmlformats.org/officeDocument/2006/relationships" xmlns:p="http://schemas.openxmlformats.org/presentationml/2006/main">
  <p:tag name="TIMING" val="|0.4|2.2|1.1|2.5"/>
</p:tagLst>
</file>

<file path=ppt/tags/tag8.xml><?xml version="1.0" encoding="utf-8"?>
<p:tagLst xmlns:a="http://schemas.openxmlformats.org/drawingml/2006/main" xmlns:r="http://schemas.openxmlformats.org/officeDocument/2006/relationships" xmlns:p="http://schemas.openxmlformats.org/presentationml/2006/main">
  <p:tag name="TIMING" val="|0.5|22.7|9.7|12.2|4.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5109</TotalTime>
  <Words>4501</Words>
  <Application>Microsoft Office PowerPoint</Application>
  <PresentationFormat>Widescreen</PresentationFormat>
  <Paragraphs>564</Paragraphs>
  <Slides>73</Slides>
  <Notes>4</Notes>
  <HiddenSlides>2</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73</vt:i4>
      </vt:variant>
    </vt:vector>
  </HeadingPairs>
  <TitlesOfParts>
    <vt:vector size="86" baseType="lpstr">
      <vt:lpstr>Arial</vt:lpstr>
      <vt:lpstr>Arial</vt:lpstr>
      <vt:lpstr>Calibri</vt:lpstr>
      <vt:lpstr>Calibri Light</vt:lpstr>
      <vt:lpstr>Desdemona</vt:lpstr>
      <vt:lpstr>Symbol</vt:lpstr>
      <vt:lpstr>Tahoma</vt:lpstr>
      <vt:lpstr>Times</vt:lpstr>
      <vt:lpstr>Times New Roman</vt:lpstr>
      <vt:lpstr>Wingdings</vt:lpstr>
      <vt:lpstr>Office Theme</vt:lpstr>
      <vt:lpstr>Clip</vt:lpstr>
      <vt:lpstr>Equation</vt:lpstr>
      <vt:lpstr>Automatic Text Summarization</vt:lpstr>
      <vt:lpstr>What is Summarization? What are its applications?</vt:lpstr>
      <vt:lpstr>What is summarization?</vt:lpstr>
      <vt:lpstr>Headline news — informing</vt:lpstr>
      <vt:lpstr>TV-GUIDES — decision making</vt:lpstr>
      <vt:lpstr>Examples of summaries – sports results</vt:lpstr>
      <vt:lpstr>Abstracts of papers — time saving</vt:lpstr>
      <vt:lpstr>Summly News summarization</vt:lpstr>
      <vt:lpstr>Summarization Startups https://angel.co/content-summarization</vt:lpstr>
      <vt:lpstr>PowerPoint Presentation</vt:lpstr>
      <vt:lpstr>Genres and Types of Summaries</vt:lpstr>
      <vt:lpstr>‘Genres’ of Summary?</vt:lpstr>
      <vt:lpstr>Examples of Genres</vt:lpstr>
      <vt:lpstr>PowerPoint Presentation</vt:lpstr>
      <vt:lpstr>PowerPoint Presentation</vt:lpstr>
      <vt:lpstr>Typology</vt:lpstr>
      <vt:lpstr>Types of summarization</vt:lpstr>
      <vt:lpstr>PowerPoint Presentation</vt:lpstr>
      <vt:lpstr>Position-based, cue phrase-based and word frequency-based approaches for extractive summarization</vt:lpstr>
      <vt:lpstr>Overview of Extraction Methods</vt:lpstr>
      <vt:lpstr>Position-based method</vt:lpstr>
      <vt:lpstr>Cue-Phrase method</vt:lpstr>
      <vt:lpstr>Word-frequency-based method</vt:lpstr>
      <vt:lpstr>PowerPoint Presentation</vt:lpstr>
      <vt:lpstr>Lex Rank</vt:lpstr>
      <vt:lpstr>LexRank</vt:lpstr>
      <vt:lpstr>LexRank</vt:lpstr>
      <vt:lpstr>PowerPoint Presentation</vt:lpstr>
      <vt:lpstr>Problems with Extractive Summarization Methods</vt:lpstr>
      <vt:lpstr>Problems with extracts</vt:lpstr>
      <vt:lpstr>Problems with extracts</vt:lpstr>
      <vt:lpstr>PowerPoint Presentation</vt:lpstr>
      <vt:lpstr>Cohesion-based Methods</vt:lpstr>
      <vt:lpstr>Cohesion-based methods</vt:lpstr>
      <vt:lpstr>Word co-occurrences</vt:lpstr>
      <vt:lpstr>Connected paragraph selection</vt:lpstr>
      <vt:lpstr>PowerPoint Presentation</vt:lpstr>
      <vt:lpstr>Lexical Chains Method for Extractive Summarization</vt:lpstr>
      <vt:lpstr>PowerPoint Presentation</vt:lpstr>
      <vt:lpstr>Cohesion: Lexical chains method</vt:lpstr>
      <vt:lpstr>Cohesion: Coreference method</vt:lpstr>
      <vt:lpstr>PowerPoint Presentation</vt:lpstr>
      <vt:lpstr>Information Extraction based Method for Extractive Summarization</vt:lpstr>
      <vt:lpstr>Information extraction Method (1)</vt:lpstr>
      <vt:lpstr>Information Extraction method (2)</vt:lpstr>
      <vt:lpstr>Information extraction for natural calamities</vt:lpstr>
      <vt:lpstr>PowerPoint Presentation</vt:lpstr>
      <vt:lpstr>Interpretation Methods for Summarization</vt:lpstr>
      <vt:lpstr>Topic Interpretation</vt:lpstr>
      <vt:lpstr>Some Types of Interpretation</vt:lpstr>
      <vt:lpstr>NLP for summarization</vt:lpstr>
      <vt:lpstr>General Aspects of Interpretation</vt:lpstr>
      <vt:lpstr>PowerPoint Presentation</vt:lpstr>
      <vt:lpstr>Multi-document Summarization</vt:lpstr>
      <vt:lpstr>Multi-document summarization Challenges</vt:lpstr>
      <vt:lpstr>Centroid-based summarization (Radev&amp;al’00;Saggion&amp;Gaizauskas’04)</vt:lpstr>
      <vt:lpstr>Sentence ordering</vt:lpstr>
      <vt:lpstr>PowerPoint Presentation</vt:lpstr>
      <vt:lpstr>Evaluating Summaries – Extrinsic vs Intrinsic</vt:lpstr>
      <vt:lpstr>Intrinsic vs extrinsic Evaluation</vt:lpstr>
      <vt:lpstr>Evaluation of extracts</vt:lpstr>
      <vt:lpstr>Evaluation of extracts (instance)</vt:lpstr>
      <vt:lpstr>How can You Evaluate a Summary?</vt:lpstr>
      <vt:lpstr>Q&amp;A Evaluation</vt:lpstr>
      <vt:lpstr>SUMMAC Categorization Test</vt:lpstr>
      <vt:lpstr>PowerPoint Presentation</vt:lpstr>
      <vt:lpstr>Evaluating Summaries – ROUGE and BLEU</vt:lpstr>
      <vt:lpstr>ROUGE</vt:lpstr>
      <vt:lpstr>Example (R-1 and R-L)</vt:lpstr>
      <vt:lpstr>BLEU</vt:lpstr>
      <vt:lpstr>BLEU</vt:lpstr>
      <vt:lpstr>ROUGE vs BLEU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Summarization</dc:title>
  <dc:creator>Manish Gupta (BING-IDC)</dc:creator>
  <cp:lastModifiedBy>Manish Gupta (BING-IDC)</cp:lastModifiedBy>
  <cp:revision>195</cp:revision>
  <dcterms:created xsi:type="dcterms:W3CDTF">2016-09-22T09:38:00Z</dcterms:created>
  <dcterms:modified xsi:type="dcterms:W3CDTF">2018-10-14T10:22:37Z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gmanish@microsoft.com</vt:lpwstr>
  </property>
  <property fmtid="{D5CDD505-2E9C-101B-9397-08002B2CF9AE}" pid="5" name="MSIP_Label_f42aa342-8706-4288-bd11-ebb85995028c_SetDate">
    <vt:lpwstr>2018-09-27T11:46:58.2826708Z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