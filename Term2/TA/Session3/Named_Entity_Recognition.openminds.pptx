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sldIdLst>
    <p:sldId id="256" r:id="rId2"/>
    <p:sldId id="260" r:id="rId3"/>
    <p:sldId id="265" r:id="rId4"/>
    <p:sldId id="266" r:id="rId5"/>
    <p:sldId id="268" r:id="rId6"/>
    <p:sldId id="354" r:id="rId7"/>
    <p:sldId id="269" r:id="rId8"/>
    <p:sldId id="270" r:id="rId9"/>
    <p:sldId id="271" r:id="rId10"/>
    <p:sldId id="355" r:id="rId11"/>
    <p:sldId id="273" r:id="rId12"/>
    <p:sldId id="276" r:id="rId13"/>
    <p:sldId id="277" r:id="rId14"/>
    <p:sldId id="278" r:id="rId15"/>
    <p:sldId id="356" r:id="rId16"/>
    <p:sldId id="280" r:id="rId17"/>
    <p:sldId id="347" r:id="rId18"/>
    <p:sldId id="348" r:id="rId19"/>
    <p:sldId id="349" r:id="rId20"/>
    <p:sldId id="350" r:id="rId21"/>
    <p:sldId id="351" r:id="rId22"/>
    <p:sldId id="357" r:id="rId23"/>
    <p:sldId id="290" r:id="rId24"/>
    <p:sldId id="291" r:id="rId25"/>
    <p:sldId id="358" r:id="rId26"/>
    <p:sldId id="292" r:id="rId27"/>
    <p:sldId id="293" r:id="rId28"/>
    <p:sldId id="359" r:id="rId29"/>
    <p:sldId id="294" r:id="rId30"/>
    <p:sldId id="295" r:id="rId31"/>
    <p:sldId id="360" r:id="rId32"/>
    <p:sldId id="296" r:id="rId33"/>
    <p:sldId id="298" r:id="rId34"/>
    <p:sldId id="353" r:id="rId35"/>
    <p:sldId id="300" r:id="rId36"/>
    <p:sldId id="361" r:id="rId37"/>
    <p:sldId id="307" r:id="rId38"/>
    <p:sldId id="309" r:id="rId39"/>
    <p:sldId id="328" r:id="rId40"/>
    <p:sldId id="329" r:id="rId41"/>
    <p:sldId id="330" r:id="rId42"/>
    <p:sldId id="339" r:id="rId43"/>
    <p:sldId id="340" r:id="rId44"/>
    <p:sldId id="341" r:id="rId45"/>
    <p:sldId id="342" r:id="rId46"/>
    <p:sldId id="343" r:id="rId47"/>
  </p:sldIdLst>
  <p:sldSz cx="10287000" cy="6858000" type="35mm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E78CE95-162B-40C8-A951-718D90E62CB7}">
          <p14:sldIdLst>
            <p14:sldId id="256"/>
            <p14:sldId id="260"/>
            <p14:sldId id="265"/>
            <p14:sldId id="266"/>
            <p14:sldId id="268"/>
            <p14:sldId id="354"/>
            <p14:sldId id="269"/>
            <p14:sldId id="270"/>
            <p14:sldId id="271"/>
            <p14:sldId id="355"/>
            <p14:sldId id="273"/>
            <p14:sldId id="276"/>
            <p14:sldId id="277"/>
            <p14:sldId id="278"/>
            <p14:sldId id="356"/>
            <p14:sldId id="280"/>
            <p14:sldId id="347"/>
            <p14:sldId id="348"/>
            <p14:sldId id="349"/>
            <p14:sldId id="350"/>
            <p14:sldId id="351"/>
            <p14:sldId id="357"/>
            <p14:sldId id="290"/>
            <p14:sldId id="291"/>
            <p14:sldId id="358"/>
            <p14:sldId id="292"/>
            <p14:sldId id="293"/>
            <p14:sldId id="359"/>
            <p14:sldId id="294"/>
            <p14:sldId id="295"/>
            <p14:sldId id="360"/>
            <p14:sldId id="296"/>
            <p14:sldId id="298"/>
            <p14:sldId id="353"/>
            <p14:sldId id="300"/>
            <p14:sldId id="361"/>
            <p14:sldId id="307"/>
            <p14:sldId id="309"/>
            <p14:sldId id="328"/>
            <p14:sldId id="329"/>
            <p14:sldId id="330"/>
            <p14:sldId id="339"/>
            <p14:sldId id="340"/>
            <p14:sldId id="341"/>
            <p14:sldId id="342"/>
            <p14:sldId id="3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2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3300"/>
    <a:srgbClr val="33CC33"/>
    <a:srgbClr val="66CCFF"/>
    <a:srgbClr val="FF6600"/>
    <a:srgbClr val="346374"/>
    <a:srgbClr val="0077BD"/>
    <a:srgbClr val="003399"/>
    <a:srgbClr val="CC33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737" autoAdjust="0"/>
    <p:restoredTop sz="87745" autoAdjust="0"/>
  </p:normalViewPr>
  <p:slideViewPr>
    <p:cSldViewPr>
      <p:cViewPr varScale="1">
        <p:scale>
          <a:sx n="100" d="100"/>
          <a:sy n="100" d="100"/>
        </p:scale>
        <p:origin x="1020" y="84"/>
      </p:cViewPr>
      <p:guideLst>
        <p:guide orient="horz" pos="2160"/>
        <p:guide pos="3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7263" y="720725"/>
            <a:ext cx="5400675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7" tIns="48324" rIns="96647" bIns="48324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7" tIns="48324" rIns="96647" bIns="48324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35648293-2628-4091-BED1-7FD9F75357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899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C65E541-0C65-4668-97E0-BC8F9EF85E8B}" type="slidenum">
              <a:rPr lang="en-US" smtClean="0"/>
              <a:pPr eaLnBrk="1" hangingPunct="1"/>
              <a:t>1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72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005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solidFill>
                  <a:srgbClr val="002060"/>
                </a:solidFill>
                <a:latin typeface="Minion" pitchFamily="18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Minion" pitchFamily="18" charset="0"/>
                <a:ea typeface="Verdana" pitchFamily="34" charset="0"/>
                <a:cs typeface="Verdana" pitchFamily="34" charset="0"/>
              </a:defRPr>
            </a:lvl1pPr>
            <a:lvl2pPr>
              <a:defRPr sz="2000">
                <a:latin typeface="Minion" pitchFamily="18" charset="0"/>
                <a:ea typeface="Verdana" pitchFamily="34" charset="0"/>
                <a:cs typeface="Verdana" pitchFamily="34" charset="0"/>
              </a:defRPr>
            </a:lvl2pPr>
            <a:lvl3pPr>
              <a:defRPr sz="1600">
                <a:latin typeface="Minion" pitchFamily="18" charset="0"/>
                <a:ea typeface="Verdana" pitchFamily="34" charset="0"/>
                <a:cs typeface="Verdana" pitchFamily="34" charset="0"/>
              </a:defRPr>
            </a:lvl3pPr>
            <a:lvl4pPr>
              <a:defRPr sz="1200">
                <a:latin typeface="Minion" pitchFamily="18" charset="0"/>
                <a:ea typeface="Verdana" pitchFamily="34" charset="0"/>
                <a:cs typeface="Verdana" pitchFamily="34" charset="0"/>
              </a:defRPr>
            </a:lvl4pPr>
            <a:lvl5pPr>
              <a:defRPr sz="1000">
                <a:latin typeface="Minion" pitchFamily="18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9999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990600"/>
            <a:ext cx="92583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152401"/>
            <a:ext cx="821055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9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MASTERPLAN" pitchFamily="2" charset="0"/>
          <a:cs typeface="Times New Roman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ndalus" pitchFamily="18" charset="-78"/>
          <a:ea typeface="MASTERPLAN" pitchFamily="2" charset="0"/>
          <a:cs typeface="Andalus" pitchFamily="18" charset="-7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ndalus" pitchFamily="18" charset="-78"/>
          <a:ea typeface="MASTERPLAN" pitchFamily="2" charset="0"/>
          <a:cs typeface="Andalus" pitchFamily="18" charset="-7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ndalus" pitchFamily="18" charset="-78"/>
          <a:ea typeface="MASTERPLAN" pitchFamily="2" charset="0"/>
          <a:cs typeface="Andalus" pitchFamily="18" charset="-7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ndalus" pitchFamily="18" charset="-78"/>
          <a:ea typeface="MASTERPLAN" pitchFamily="2" charset="0"/>
          <a:cs typeface="Andalus" pitchFamily="18" charset="-78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te.ac.uk/sale/talks/ne-tutorial.pp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perseus.tufts.edu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cnts.uia.ac.be/conll2002/ner/" TargetMode="External"/><Relationship Id="rId2" Type="http://schemas.openxmlformats.org/officeDocument/2006/relationships/hyperlink" Target="http://cnts.uia.ac.be/conll2003/ne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atalog.ldc.upenn.edu/LDC2005T33" TargetMode="External"/><Relationship Id="rId4" Type="http://schemas.openxmlformats.org/officeDocument/2006/relationships/hyperlink" Target="http://www.ldc.upenn.edu/Projects/ACE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lod-cloud.net/" TargetMode="External"/><Relationship Id="rId2" Type="http://schemas.openxmlformats.org/officeDocument/2006/relationships/hyperlink" Target="http://unstats.un.org/unsd/citydata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../../../Temp/ftp.muc.saic.com/pub/MUC/MUC7-guidelines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90800" y="3128795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346374"/>
                </a:solidFill>
              </a:rPr>
              <a:t>Named Entity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0" y="5715000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Adapted from </a:t>
            </a:r>
            <a:r>
              <a:rPr lang="en-US" dirty="0">
                <a:hlinkClick r:id="rId3"/>
              </a:rPr>
              <a:t>https://gate.ac.uk/sale/talks/ne-tutorial.ppt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72" name="Rectangle 8"/>
          <p:cNvSpPr>
            <a:spLocks noGrp="1" noChangeArrowheads="1"/>
          </p:cNvSpPr>
          <p:nvPr>
            <p:ph idx="1"/>
          </p:nvPr>
        </p:nvSpPr>
        <p:spPr>
          <a:xfrm>
            <a:off x="514350" y="3048000"/>
            <a:ext cx="9258300" cy="8382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7030A0"/>
                </a:solidFill>
              </a:rPr>
              <a:t>What is NER?</a:t>
            </a:r>
          </a:p>
        </p:txBody>
      </p:sp>
    </p:spTree>
    <p:extLst>
      <p:ext uri="{BB962C8B-B14F-4D97-AF65-F5344CB8AC3E}">
        <p14:creationId xmlns:p14="http://schemas.microsoft.com/office/powerpoint/2010/main" val="2669996347"/>
      </p:ext>
    </p:ext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Named Entity Recognition</a:t>
            </a:r>
          </a:p>
        </p:txBody>
      </p:sp>
      <p:sp>
        <p:nvSpPr>
          <p:cNvPr id="1057795" name="Rectangle 3"/>
          <p:cNvSpPr>
            <a:spLocks noGrp="1" noChangeArrowheads="1"/>
          </p:cNvSpPr>
          <p:nvPr>
            <p:ph idx="1"/>
          </p:nvPr>
        </p:nvSpPr>
        <p:spPr>
          <a:xfrm>
            <a:off x="514350" y="990601"/>
            <a:ext cx="9258300" cy="2743200"/>
          </a:xfrm>
        </p:spPr>
        <p:txBody>
          <a:bodyPr/>
          <a:lstStyle/>
          <a:p>
            <a:r>
              <a:rPr lang="en-GB" sz="2000" dirty="0"/>
              <a:t>NER involves </a:t>
            </a:r>
          </a:p>
          <a:p>
            <a:pPr lvl="1"/>
            <a:r>
              <a:rPr lang="en-GB" dirty="0"/>
              <a:t>identification of proper names in texts, and </a:t>
            </a:r>
          </a:p>
          <a:p>
            <a:pPr lvl="1"/>
            <a:r>
              <a:rPr lang="en-GB" dirty="0"/>
              <a:t>classification into a set of predefined categories of interest</a:t>
            </a:r>
          </a:p>
          <a:p>
            <a:r>
              <a:rPr lang="en-GB" sz="2000" dirty="0"/>
              <a:t>Key part of Information Extraction system</a:t>
            </a:r>
          </a:p>
          <a:p>
            <a:r>
              <a:rPr lang="en-GB" sz="2000" dirty="0"/>
              <a:t>Robust handling of proper names essential for many applications</a:t>
            </a:r>
          </a:p>
          <a:p>
            <a:r>
              <a:rPr lang="en-GB" sz="2000" dirty="0"/>
              <a:t>Pre-processing for different classification tasks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1DA2FF-22C8-459F-A6BF-6F2E1E77B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112" y="3562349"/>
            <a:ext cx="772477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451904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Named Entities?</a:t>
            </a:r>
            <a:endParaRPr lang="en-US" dirty="0"/>
          </a:p>
        </p:txBody>
      </p:sp>
      <p:sp>
        <p:nvSpPr>
          <p:cNvPr id="96358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Person names</a:t>
            </a:r>
          </a:p>
          <a:p>
            <a:r>
              <a:rPr lang="en-GB" dirty="0"/>
              <a:t>Organizations (companies, government organisations, committees, </a:t>
            </a:r>
            <a:r>
              <a:rPr lang="en-GB" dirty="0" err="1"/>
              <a:t>etc</a:t>
            </a:r>
            <a:r>
              <a:rPr lang="en-GB" dirty="0"/>
              <a:t>)</a:t>
            </a:r>
          </a:p>
          <a:p>
            <a:r>
              <a:rPr lang="en-GB" dirty="0"/>
              <a:t>Locations (cities, countries, rivers, </a:t>
            </a:r>
            <a:r>
              <a:rPr lang="en-GB" dirty="0" err="1"/>
              <a:t>etc</a:t>
            </a:r>
            <a:r>
              <a:rPr lang="en-GB" dirty="0"/>
              <a:t>)</a:t>
            </a:r>
          </a:p>
          <a:p>
            <a:r>
              <a:rPr lang="en-GB" dirty="0"/>
              <a:t>Date and time expressions</a:t>
            </a:r>
          </a:p>
          <a:p>
            <a:endParaRPr lang="en-GB" dirty="0"/>
          </a:p>
          <a:p>
            <a:r>
              <a:rPr lang="en-GB" dirty="0"/>
              <a:t>Other common types: measures (percent, money, weight </a:t>
            </a:r>
            <a:r>
              <a:rPr lang="en-GB" dirty="0" err="1"/>
              <a:t>etc</a:t>
            </a:r>
            <a:r>
              <a:rPr lang="en-GB" dirty="0"/>
              <a:t>), email addresses, Web addresses, street addresses, etc. </a:t>
            </a:r>
          </a:p>
          <a:p>
            <a:r>
              <a:rPr lang="en-GB" dirty="0"/>
              <a:t>Some domain-specific entities: names of drugs, medical conditions, names of ships, bibliographic references etc.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828484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NOT NEs?</a:t>
            </a:r>
            <a:endParaRPr lang="en-US" dirty="0"/>
          </a:p>
        </p:txBody>
      </p:sp>
      <p:sp>
        <p:nvSpPr>
          <p:cNvPr id="96563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Common nouns, referring to named entities – the company, the committee </a:t>
            </a:r>
          </a:p>
          <a:p>
            <a:pPr>
              <a:lnSpc>
                <a:spcPct val="90000"/>
              </a:lnSpc>
            </a:pPr>
            <a:r>
              <a:rPr lang="en-GB" dirty="0"/>
              <a:t>Adjectives derived from names – Bulgarian, Chinese</a:t>
            </a:r>
          </a:p>
          <a:p>
            <a:pPr>
              <a:lnSpc>
                <a:spcPct val="90000"/>
              </a:lnSpc>
            </a:pPr>
            <a:r>
              <a:rPr lang="en-GB" dirty="0"/>
              <a:t>Numbers which are not times, dates, percentages, and money amounts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003219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72" name="Rectangle 8"/>
          <p:cNvSpPr>
            <a:spLocks noGrp="1" noChangeArrowheads="1"/>
          </p:cNvSpPr>
          <p:nvPr>
            <p:ph idx="1"/>
          </p:nvPr>
        </p:nvSpPr>
        <p:spPr>
          <a:xfrm>
            <a:off x="514350" y="3048000"/>
            <a:ext cx="9258300" cy="8382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7030A0"/>
                </a:solidFill>
              </a:rPr>
              <a:t>Why is NER challenging?</a:t>
            </a:r>
          </a:p>
        </p:txBody>
      </p:sp>
    </p:spTree>
    <p:extLst>
      <p:ext uri="{BB962C8B-B14F-4D97-AF65-F5344CB8AC3E}">
        <p14:creationId xmlns:p14="http://schemas.microsoft.com/office/powerpoint/2010/main" val="1550851208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6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Problems in NE Task Definition</a:t>
            </a:r>
          </a:p>
        </p:txBody>
      </p:sp>
      <p:sp>
        <p:nvSpPr>
          <p:cNvPr id="966661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NE category definitions are intuitively quite clear, but there are many </a:t>
            </a:r>
            <a:r>
              <a:rPr lang="en-GB" dirty="0" err="1"/>
              <a:t>gray</a:t>
            </a:r>
            <a:r>
              <a:rPr lang="en-GB" dirty="0"/>
              <a:t> areas.</a:t>
            </a:r>
          </a:p>
          <a:p>
            <a:pPr marL="342900" lvl="1" indent="-342900">
              <a:lnSpc>
                <a:spcPct val="90000"/>
              </a:lnSpc>
              <a:buFontTx/>
              <a:buChar char="•"/>
            </a:pPr>
            <a:r>
              <a:rPr lang="en-GB" sz="2400" dirty="0"/>
              <a:t>Metonymy: </a:t>
            </a:r>
            <a:r>
              <a:rPr lang="en-US" sz="2400" dirty="0"/>
              <a:t>substitution of the name of an attribute for that of the thing meant</a:t>
            </a:r>
            <a:endParaRPr lang="en-GB" sz="2400" dirty="0"/>
          </a:p>
          <a:p>
            <a:pPr>
              <a:lnSpc>
                <a:spcPct val="90000"/>
              </a:lnSpc>
            </a:pPr>
            <a:r>
              <a:rPr lang="en-GB" dirty="0"/>
              <a:t>Many of these </a:t>
            </a:r>
            <a:r>
              <a:rPr lang="en-GB" dirty="0" err="1"/>
              <a:t>gray</a:t>
            </a:r>
            <a:r>
              <a:rPr lang="en-GB" dirty="0"/>
              <a:t> areas are caused by metonymy.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Person vs. Artefact</a:t>
            </a:r>
            <a:r>
              <a:rPr lang="en-GB"/>
              <a:t>: “The </a:t>
            </a:r>
            <a:r>
              <a:rPr lang="en-GB" dirty="0"/>
              <a:t>Chicken sandwich wants his </a:t>
            </a:r>
            <a:r>
              <a:rPr lang="en-GB"/>
              <a:t>bill.” </a:t>
            </a:r>
            <a:r>
              <a:rPr lang="en-GB" dirty="0"/>
              <a:t>vs</a:t>
            </a:r>
            <a:r>
              <a:rPr lang="en-GB"/>
              <a:t>. “Bring </a:t>
            </a:r>
            <a:r>
              <a:rPr lang="en-GB" dirty="0"/>
              <a:t>me a Chicken </a:t>
            </a:r>
            <a:r>
              <a:rPr lang="en-GB"/>
              <a:t>sandwich.”</a:t>
            </a:r>
            <a:endParaRPr lang="en-GB" dirty="0"/>
          </a:p>
          <a:p>
            <a:pPr lvl="1">
              <a:lnSpc>
                <a:spcPct val="90000"/>
              </a:lnSpc>
            </a:pPr>
            <a:r>
              <a:rPr lang="en-GB" dirty="0"/>
              <a:t>Organisation vs. Location </a:t>
            </a:r>
            <a:r>
              <a:rPr lang="en-GB"/>
              <a:t>: “Australia </a:t>
            </a:r>
            <a:r>
              <a:rPr lang="en-GB" dirty="0"/>
              <a:t>won the </a:t>
            </a:r>
            <a:r>
              <a:rPr lang="en-GB"/>
              <a:t>World Cup” </a:t>
            </a:r>
            <a:r>
              <a:rPr lang="en-GB" dirty="0"/>
              <a:t>vs</a:t>
            </a:r>
            <a:r>
              <a:rPr lang="en-GB"/>
              <a:t>. “The </a:t>
            </a:r>
            <a:r>
              <a:rPr lang="en-GB" dirty="0"/>
              <a:t>World Cup took place </a:t>
            </a:r>
            <a:r>
              <a:rPr lang="en-GB"/>
              <a:t>in Australia”.</a:t>
            </a:r>
            <a:endParaRPr lang="en-GB" dirty="0"/>
          </a:p>
          <a:p>
            <a:pPr lvl="1">
              <a:lnSpc>
                <a:spcPct val="90000"/>
              </a:lnSpc>
            </a:pPr>
            <a:r>
              <a:rPr lang="en-GB" dirty="0"/>
              <a:t>Company vs. Artefact</a:t>
            </a:r>
            <a:r>
              <a:rPr lang="en-GB"/>
              <a:t>: “shares in MTV” </a:t>
            </a:r>
            <a:r>
              <a:rPr lang="en-GB" dirty="0"/>
              <a:t>vs</a:t>
            </a:r>
            <a:r>
              <a:rPr lang="en-GB"/>
              <a:t>. “watching MTV”</a:t>
            </a:r>
            <a:endParaRPr lang="en-GB" dirty="0"/>
          </a:p>
          <a:p>
            <a:pPr lvl="1">
              <a:lnSpc>
                <a:spcPct val="90000"/>
              </a:lnSpc>
            </a:pPr>
            <a:r>
              <a:rPr lang="en-GB" dirty="0"/>
              <a:t>Location vs. Organisation</a:t>
            </a:r>
            <a:r>
              <a:rPr lang="en-GB"/>
              <a:t>: “she </a:t>
            </a:r>
            <a:r>
              <a:rPr lang="en-GB" dirty="0"/>
              <a:t>met him </a:t>
            </a:r>
            <a:r>
              <a:rPr lang="en-GB"/>
              <a:t>at Heathrow” </a:t>
            </a:r>
            <a:r>
              <a:rPr lang="en-GB" dirty="0"/>
              <a:t>vs</a:t>
            </a:r>
            <a:r>
              <a:rPr lang="en-GB"/>
              <a:t>. “the Heathrow authorities”</a:t>
            </a:r>
            <a:endParaRPr lang="en-GB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69567"/>
      </p:ext>
    </p:ext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(first cut) Solutions</a:t>
            </a:r>
          </a:p>
        </p:txBody>
      </p:sp>
      <p:sp>
        <p:nvSpPr>
          <p:cNvPr id="1059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 dirty="0"/>
              <a:t>The task definition must be very clearly specified at the outset.</a:t>
            </a:r>
          </a:p>
          <a:p>
            <a:r>
              <a:rPr lang="en-GB" sz="2800" dirty="0"/>
              <a:t>Some consortia on NER essentially adopted simplistic approach of disregarding </a:t>
            </a:r>
            <a:r>
              <a:rPr lang="en-GB" sz="2800" dirty="0" err="1"/>
              <a:t>metonymous</a:t>
            </a:r>
            <a:r>
              <a:rPr lang="en-GB" sz="2800" dirty="0"/>
              <a:t> uses of words, </a:t>
            </a:r>
          </a:p>
          <a:p>
            <a:pPr lvl="1"/>
            <a:r>
              <a:rPr lang="en-GB" sz="2500" dirty="0"/>
              <a:t>e.g</a:t>
            </a:r>
            <a:r>
              <a:rPr lang="en-GB" sz="2500"/>
              <a:t>. “England” </a:t>
            </a:r>
            <a:r>
              <a:rPr lang="en-GB" sz="2500" dirty="0"/>
              <a:t>was always identified as a location.</a:t>
            </a:r>
          </a:p>
          <a:p>
            <a:pPr lvl="1"/>
            <a:r>
              <a:rPr lang="en-GB" sz="2500" dirty="0"/>
              <a:t>However, this is not always useful for practical applications of NER (e.g. football/Cricket domain).</a:t>
            </a:r>
          </a:p>
          <a:p>
            <a:r>
              <a:rPr lang="en-GB" sz="2800" dirty="0"/>
              <a:t>Idealistic solutions, on the other hand, are not always practical to implement, </a:t>
            </a:r>
          </a:p>
          <a:p>
            <a:pPr lvl="1"/>
            <a:r>
              <a:rPr lang="en-GB" sz="2500" dirty="0"/>
              <a:t>e.g. making distinctions based on world knowledge.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008462349"/>
      </p:ext>
    </p:ext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Problems in NE</a:t>
            </a:r>
          </a:p>
        </p:txBody>
      </p:sp>
      <p:sp>
        <p:nvSpPr>
          <p:cNvPr id="96768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Variation of NEs – e.g. John Smith, Mr Smith, John. </a:t>
            </a:r>
          </a:p>
          <a:p>
            <a:r>
              <a:rPr lang="en-GB" dirty="0"/>
              <a:t>Ambiguity of NE types</a:t>
            </a:r>
          </a:p>
          <a:p>
            <a:pPr lvl="1"/>
            <a:r>
              <a:rPr lang="en-GB" dirty="0"/>
              <a:t>John Smith (company vs. person) </a:t>
            </a:r>
          </a:p>
          <a:p>
            <a:pPr lvl="1"/>
            <a:r>
              <a:rPr lang="en-GB" dirty="0"/>
              <a:t>May (person vs. month) </a:t>
            </a:r>
          </a:p>
          <a:p>
            <a:pPr lvl="1"/>
            <a:r>
              <a:rPr lang="en-GB" dirty="0"/>
              <a:t>Washington (person vs. location) </a:t>
            </a:r>
          </a:p>
          <a:p>
            <a:pPr lvl="1"/>
            <a:r>
              <a:rPr lang="en-GB" dirty="0"/>
              <a:t>1945 (date vs. time) </a:t>
            </a:r>
          </a:p>
          <a:p>
            <a:r>
              <a:rPr lang="en-GB" dirty="0"/>
              <a:t>Ambiguity with common words, e.g</a:t>
            </a:r>
            <a:r>
              <a:rPr lang="en-GB"/>
              <a:t>. "may"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13357"/>
      </p:ext>
    </p:ext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72" name="Rectangle 8"/>
          <p:cNvSpPr>
            <a:spLocks noGrp="1" noChangeArrowheads="1"/>
          </p:cNvSpPr>
          <p:nvPr>
            <p:ph idx="1"/>
          </p:nvPr>
        </p:nvSpPr>
        <p:spPr>
          <a:xfrm>
            <a:off x="514350" y="3048000"/>
            <a:ext cx="9258300" cy="8382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7030A0"/>
                </a:solidFill>
              </a:rPr>
              <a:t>Applications of NER</a:t>
            </a:r>
          </a:p>
        </p:txBody>
      </p:sp>
    </p:spTree>
    <p:extLst>
      <p:ext uri="{BB962C8B-B14F-4D97-AF65-F5344CB8AC3E}">
        <p14:creationId xmlns:p14="http://schemas.microsoft.com/office/powerpoint/2010/main" val="2777530948"/>
      </p:ext>
    </p:extLst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Applications</a:t>
            </a:r>
            <a:endParaRPr lang="en-US"/>
          </a:p>
        </p:txBody>
      </p:sp>
      <p:sp>
        <p:nvSpPr>
          <p:cNvPr id="969733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Can help summarisation, Speech Recognition and Machine Translation</a:t>
            </a:r>
          </a:p>
          <a:p>
            <a:r>
              <a:rPr lang="en-US" dirty="0"/>
              <a:t>Question Answering</a:t>
            </a:r>
          </a:p>
          <a:p>
            <a:pPr lvl="1"/>
            <a:r>
              <a:rPr lang="en-US" dirty="0"/>
              <a:t>NER is extremely useful for systems that read text and answer queries.</a:t>
            </a:r>
          </a:p>
          <a:p>
            <a:pPr lvl="1"/>
            <a:r>
              <a:rPr lang="en-US" dirty="0"/>
              <a:t>E.g., tasks such as “Name all the colleges in Bombay listed in the document”</a:t>
            </a:r>
          </a:p>
          <a:p>
            <a:r>
              <a:rPr lang="en-US" dirty="0"/>
              <a:t>Information Extraction</a:t>
            </a:r>
          </a:p>
          <a:p>
            <a:pPr lvl="1"/>
            <a:r>
              <a:rPr lang="en-US" dirty="0"/>
              <a:t>E.g., to find out and tag the subject of  a web page</a:t>
            </a:r>
          </a:p>
          <a:p>
            <a:pPr lvl="1"/>
            <a:r>
              <a:rPr lang="en-US" dirty="0"/>
              <a:t>E.g., to extract the names of all the companies in a  particular document</a:t>
            </a:r>
          </a:p>
          <a:p>
            <a:r>
              <a:rPr lang="en-GB" dirty="0"/>
              <a:t>Intelligent document access </a:t>
            </a:r>
          </a:p>
          <a:p>
            <a:pPr lvl="1"/>
            <a:r>
              <a:rPr lang="en-GB" dirty="0"/>
              <a:t>Browse document collections by the entities that occur in them</a:t>
            </a:r>
          </a:p>
          <a:p>
            <a:pPr lvl="1"/>
            <a:r>
              <a:rPr lang="en-GB" dirty="0"/>
              <a:t>Formulate more complex queries than IR can answer</a:t>
            </a:r>
          </a:p>
          <a:p>
            <a:pPr lvl="1"/>
            <a:r>
              <a:rPr lang="en-GB" dirty="0"/>
              <a:t>Example application domains:</a:t>
            </a:r>
          </a:p>
          <a:p>
            <a:pPr lvl="2"/>
            <a:r>
              <a:rPr lang="en-GB" dirty="0"/>
              <a:t>News</a:t>
            </a:r>
          </a:p>
          <a:p>
            <a:pPr lvl="2"/>
            <a:r>
              <a:rPr lang="en-GB" dirty="0"/>
              <a:t>Scientific articles, </a:t>
            </a:r>
            <a:r>
              <a:rPr lang="en-GB" dirty="0" err="1"/>
              <a:t>e.g</a:t>
            </a:r>
            <a:r>
              <a:rPr lang="en-GB" dirty="0"/>
              <a:t>, MEDLINE abstracts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040266"/>
      </p:ext>
    </p:extLst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78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Application Example - KIM</a:t>
            </a:r>
            <a:endParaRPr lang="en-US"/>
          </a:p>
        </p:txBody>
      </p:sp>
      <p:pic>
        <p:nvPicPr>
          <p:cNvPr id="971782" name="Picture 6" descr="KIMExplorerToronto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09840" y="2200922"/>
            <a:ext cx="2467319" cy="2105319"/>
          </a:xfrm>
          <a:noFill/>
          <a:ln/>
        </p:spPr>
      </p:pic>
      <p:pic>
        <p:nvPicPr>
          <p:cNvPr id="971780" name="Picture 4" descr="Plugin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80950" y="1243013"/>
            <a:ext cx="7291388" cy="5291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1783" name="Text Box 7"/>
          <p:cNvSpPr txBox="1">
            <a:spLocks noChangeArrowheads="1"/>
          </p:cNvSpPr>
          <p:nvPr/>
        </p:nvSpPr>
        <p:spPr bwMode="auto">
          <a:xfrm>
            <a:off x="1550988" y="1243013"/>
            <a:ext cx="1841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sz="2400">
              <a:solidFill>
                <a:schemeClr val="tx2"/>
              </a:solidFill>
              <a:latin typeface="Arial Unicode MS" pitchFamily="34" charset="-128"/>
            </a:endParaRPr>
          </a:p>
        </p:txBody>
      </p:sp>
      <p:sp>
        <p:nvSpPr>
          <p:cNvPr id="971784" name="Text Box 8"/>
          <p:cNvSpPr txBox="1">
            <a:spLocks noChangeArrowheads="1"/>
          </p:cNvSpPr>
          <p:nvPr/>
        </p:nvSpPr>
        <p:spPr bwMode="auto">
          <a:xfrm>
            <a:off x="571500" y="849868"/>
            <a:ext cx="914400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GB" i="1" dirty="0">
                <a:solidFill>
                  <a:schemeClr val="tx2"/>
                </a:solidFill>
                <a:latin typeface="+mn-lt"/>
              </a:rPr>
              <a:t>Browsing by entity and ontology: http://www.ontotext.com/kim</a:t>
            </a:r>
            <a:endParaRPr lang="en-US" i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11480835"/>
      </p:ext>
    </p:extLst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0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Application Example - KIM</a:t>
            </a:r>
            <a:endParaRPr lang="en-US"/>
          </a:p>
        </p:txBody>
      </p:sp>
      <p:pic>
        <p:nvPicPr>
          <p:cNvPr id="972803" name="Picture 3" descr="kim-query+result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350" y="1127567"/>
            <a:ext cx="9258300" cy="4252029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2132277731"/>
      </p:ext>
    </p:ext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8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Application Example - Perseus</a:t>
            </a:r>
            <a:endParaRPr lang="en-US"/>
          </a:p>
        </p:txBody>
      </p:sp>
      <p:graphicFrame>
        <p:nvGraphicFramePr>
          <p:cNvPr id="973828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9248522"/>
              </p:ext>
            </p:extLst>
          </p:nvPr>
        </p:nvGraphicFramePr>
        <p:xfrm>
          <a:off x="1922383" y="1817131"/>
          <a:ext cx="6442234" cy="3857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772691" imgH="2857899" progId="">
                  <p:embed/>
                </p:oleObj>
              </mc:Choice>
              <mc:Fallback>
                <p:oleObj name="Photo Editor Photo" r:id="rId2" imgW="4772691" imgH="2857899" progId="">
                  <p:embed/>
                  <p:pic>
                    <p:nvPicPr>
                      <p:cNvPr id="973828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383" y="1817131"/>
                        <a:ext cx="6442234" cy="38576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827" name="Rectangle 3"/>
          <p:cNvSpPr>
            <a:spLocks noChangeArrowheads="1"/>
          </p:cNvSpPr>
          <p:nvPr/>
        </p:nvSpPr>
        <p:spPr bwMode="auto">
          <a:xfrm>
            <a:off x="571500" y="1066800"/>
            <a:ext cx="914400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i="1" dirty="0">
                <a:solidFill>
                  <a:schemeClr val="tx2"/>
                </a:solidFill>
                <a:latin typeface="+mn-lt"/>
              </a:rPr>
              <a:t>Time-line and geographic visualization: </a:t>
            </a:r>
            <a:r>
              <a:rPr lang="en-US" i="1" dirty="0">
                <a:solidFill>
                  <a:schemeClr val="tx2"/>
                </a:solidFill>
                <a:latin typeface="+mn-lt"/>
                <a:hlinkClick r:id="rId4"/>
              </a:rPr>
              <a:t>http://www.perseus.tufts.edu/</a:t>
            </a:r>
            <a:endParaRPr lang="en-US" i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8187840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72" name="Rectangle 8"/>
          <p:cNvSpPr>
            <a:spLocks noGrp="1" noChangeArrowheads="1"/>
          </p:cNvSpPr>
          <p:nvPr>
            <p:ph idx="1"/>
          </p:nvPr>
        </p:nvSpPr>
        <p:spPr>
          <a:xfrm>
            <a:off x="514350" y="3048000"/>
            <a:ext cx="9258300" cy="8382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7030A0"/>
                </a:solidFill>
              </a:rPr>
              <a:t>Annotation and Evaluation for NER</a:t>
            </a:r>
          </a:p>
        </p:txBody>
      </p:sp>
    </p:spTree>
    <p:extLst>
      <p:ext uri="{BB962C8B-B14F-4D97-AF65-F5344CB8AC3E}">
        <p14:creationId xmlns:p14="http://schemas.microsoft.com/office/powerpoint/2010/main" val="1926244607"/>
      </p:ext>
    </p:extLst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Evaluation Metric</a:t>
            </a:r>
            <a:endParaRPr lang="en-US"/>
          </a:p>
        </p:txBody>
      </p:sp>
      <p:sp>
        <p:nvSpPr>
          <p:cNvPr id="1064963" name="Rectangle 3"/>
          <p:cNvSpPr>
            <a:spLocks noGrp="1" noChangeArrowheads="1"/>
          </p:cNvSpPr>
          <p:nvPr>
            <p:ph idx="1"/>
          </p:nvPr>
        </p:nvSpPr>
        <p:spPr>
          <a:xfrm>
            <a:off x="514350" y="1143001"/>
            <a:ext cx="9258300" cy="5029200"/>
          </a:xfrm>
        </p:spPr>
        <p:txBody>
          <a:bodyPr>
            <a:normAutofit/>
          </a:bodyPr>
          <a:lstStyle/>
          <a:p>
            <a:r>
              <a:rPr lang="en-US" dirty="0"/>
              <a:t>Standard metrics such as Precision, Recall, F-Measure </a:t>
            </a:r>
          </a:p>
          <a:p>
            <a:r>
              <a:rPr lang="en-GB" dirty="0"/>
              <a:t>We may also want to take account of partially correct answers:</a:t>
            </a:r>
          </a:p>
          <a:p>
            <a:pPr lvl="2">
              <a:buFontTx/>
              <a:buNone/>
            </a:pPr>
            <a:r>
              <a:rPr lang="en-GB" dirty="0"/>
              <a:t>Precision = </a:t>
            </a:r>
            <a:br>
              <a:rPr lang="en-GB" dirty="0"/>
            </a:br>
            <a:r>
              <a:rPr lang="en-GB" dirty="0"/>
              <a:t>Correct + ½ Partially correct</a:t>
            </a:r>
          </a:p>
          <a:p>
            <a:pPr lvl="2">
              <a:buFontTx/>
              <a:buNone/>
            </a:pPr>
            <a:r>
              <a:rPr lang="en-GB" dirty="0"/>
              <a:t>	Correct + Incorrect + Partial</a:t>
            </a:r>
          </a:p>
          <a:p>
            <a:pPr lvl="2">
              <a:buFontTx/>
              <a:buNone/>
            </a:pPr>
            <a:endParaRPr lang="en-GB" dirty="0"/>
          </a:p>
          <a:p>
            <a:pPr lvl="2">
              <a:buFontTx/>
              <a:buNone/>
            </a:pPr>
            <a:r>
              <a:rPr lang="en-GB" dirty="0"/>
              <a:t>Recall = </a:t>
            </a:r>
            <a:br>
              <a:rPr lang="en-GB" dirty="0"/>
            </a:br>
            <a:r>
              <a:rPr lang="en-GB" dirty="0"/>
              <a:t>Correct + ½ Partially correct</a:t>
            </a:r>
            <a:br>
              <a:rPr lang="en-GB" dirty="0"/>
            </a:br>
            <a:r>
              <a:rPr lang="en-GB" dirty="0" err="1"/>
              <a:t>Correct</a:t>
            </a:r>
            <a:r>
              <a:rPr lang="en-GB" dirty="0"/>
              <a:t> + Missing + Partial</a:t>
            </a:r>
          </a:p>
          <a:p>
            <a:pPr lvl="1"/>
            <a:r>
              <a:rPr lang="en-GB" dirty="0"/>
              <a:t>Why: NE boundaries are often misplaced, so, some partially correct results!</a:t>
            </a:r>
          </a:p>
          <a:p>
            <a:r>
              <a:rPr lang="en-GB" sz="2800" dirty="0"/>
              <a:t>Scoring program – implements the metric and provides performance measures </a:t>
            </a:r>
          </a:p>
          <a:p>
            <a:pPr lvl="1"/>
            <a:r>
              <a:rPr lang="en-GB" sz="2400" dirty="0"/>
              <a:t>For each document and over the entire corpus</a:t>
            </a:r>
          </a:p>
          <a:p>
            <a:pPr lvl="1"/>
            <a:r>
              <a:rPr lang="en-GB" sz="2400" dirty="0"/>
              <a:t>For each type of NE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064964" name="Line 4"/>
          <p:cNvSpPr>
            <a:spLocks noChangeShapeType="1"/>
          </p:cNvSpPr>
          <p:nvPr/>
        </p:nvSpPr>
        <p:spPr bwMode="auto">
          <a:xfrm flipV="1">
            <a:off x="1714500" y="2590800"/>
            <a:ext cx="2362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 flipV="1">
            <a:off x="1714500" y="3657600"/>
            <a:ext cx="2362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25905"/>
      </p:ext>
    </p:ext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Corpora and System Development</a:t>
            </a:r>
            <a:endParaRPr lang="en-US"/>
          </a:p>
        </p:txBody>
      </p:sp>
      <p:sp>
        <p:nvSpPr>
          <p:cNvPr id="1069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sz="2800" dirty="0"/>
              <a:t>Corpora are divided typically into a training, validation and testing portion </a:t>
            </a:r>
          </a:p>
          <a:p>
            <a:pPr>
              <a:lnSpc>
                <a:spcPct val="80000"/>
              </a:lnSpc>
            </a:pPr>
            <a:r>
              <a:rPr lang="en-GB" sz="2800" dirty="0"/>
              <a:t>Rules/Learning algorithms are trained on the training part</a:t>
            </a:r>
          </a:p>
          <a:p>
            <a:pPr>
              <a:lnSpc>
                <a:spcPct val="80000"/>
              </a:lnSpc>
            </a:pPr>
            <a:r>
              <a:rPr lang="en-GB" sz="2800" dirty="0"/>
              <a:t>Tuned on the development/validation portion in order to optimise </a:t>
            </a:r>
          </a:p>
          <a:p>
            <a:pPr lvl="1">
              <a:lnSpc>
                <a:spcPct val="80000"/>
              </a:lnSpc>
            </a:pPr>
            <a:r>
              <a:rPr lang="en-GB" sz="2400" dirty="0"/>
              <a:t>Rule priorities, rules effectiveness, etc.</a:t>
            </a:r>
          </a:p>
          <a:p>
            <a:pPr lvl="1">
              <a:lnSpc>
                <a:spcPct val="80000"/>
              </a:lnSpc>
            </a:pPr>
            <a:r>
              <a:rPr lang="en-GB" sz="2400" dirty="0"/>
              <a:t>Parameters of the learning algorithm and the features used</a:t>
            </a:r>
          </a:p>
          <a:p>
            <a:pPr>
              <a:lnSpc>
                <a:spcPct val="80000"/>
              </a:lnSpc>
            </a:pPr>
            <a:r>
              <a:rPr lang="en-GB" sz="2800" dirty="0"/>
              <a:t>Test/Evaluation set – the best system configuration is run on this data and the system performance is obtained</a:t>
            </a:r>
          </a:p>
          <a:p>
            <a:pPr>
              <a:lnSpc>
                <a:spcPct val="80000"/>
              </a:lnSpc>
            </a:pPr>
            <a:r>
              <a:rPr lang="en-GB" sz="2800" dirty="0"/>
              <a:t>No further tuning once evaluation set is used!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23782533"/>
      </p:ext>
    </p:extLst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9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NE Annotation Tools - Alembic</a:t>
            </a:r>
            <a:endParaRPr lang="en-US"/>
          </a:p>
        </p:txBody>
      </p:sp>
      <p:graphicFrame>
        <p:nvGraphicFramePr>
          <p:cNvPr id="977923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235200" y="990600"/>
          <a:ext cx="5816600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6733333" imgH="5238095" progId="">
                  <p:embed/>
                </p:oleObj>
              </mc:Choice>
              <mc:Fallback>
                <p:oleObj name="Photo Editor Photo" r:id="rId2" imgW="6733333" imgH="5238095" progId="">
                  <p:embed/>
                  <p:pic>
                    <p:nvPicPr>
                      <p:cNvPr id="977923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990600"/>
                        <a:ext cx="5816600" cy="452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1995956"/>
      </p:ext>
    </p:extLst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9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NE Annotation Tools – Alembic (2)</a:t>
            </a:r>
            <a:endParaRPr lang="en-US"/>
          </a:p>
        </p:txBody>
      </p:sp>
      <p:graphicFrame>
        <p:nvGraphicFramePr>
          <p:cNvPr id="978947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487613" y="990600"/>
          <a:ext cx="5311775" cy="452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7447619" imgH="6342857" progId="">
                  <p:embed/>
                </p:oleObj>
              </mc:Choice>
              <mc:Fallback>
                <p:oleObj name="Photo Editor Photo" r:id="rId2" imgW="7447619" imgH="6342857" progId="">
                  <p:embed/>
                  <p:pic>
                    <p:nvPicPr>
                      <p:cNvPr id="978947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990600"/>
                        <a:ext cx="5311775" cy="452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0818766"/>
      </p:ext>
    </p:extLst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9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NE Annotation Tools - GATE</a:t>
            </a:r>
            <a:endParaRPr lang="en-US"/>
          </a:p>
        </p:txBody>
      </p:sp>
      <p:pic>
        <p:nvPicPr>
          <p:cNvPr id="979971" name="Picture 3" descr="simple-annotation"/>
          <p:cNvPicPr>
            <a:picLocks noGrp="1" noChangeAspect="1" noChangeArrowheads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7794" y="990600"/>
            <a:ext cx="6373256" cy="5028688"/>
          </a:xfrm>
        </p:spPr>
      </p:pic>
    </p:spTree>
    <p:extLst>
      <p:ext uri="{BB962C8B-B14F-4D97-AF65-F5344CB8AC3E}">
        <p14:creationId xmlns:p14="http://schemas.microsoft.com/office/powerpoint/2010/main" val="2182792991"/>
      </p:ext>
    </p:extLst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Some NE Annotated Corpora</a:t>
            </a:r>
            <a:endParaRPr lang="en-US"/>
          </a:p>
        </p:txBody>
      </p:sp>
      <p:sp>
        <p:nvSpPr>
          <p:cNvPr id="10700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GB" dirty="0"/>
              <a:t>MUC-6 and MUC-7 corpora – English </a:t>
            </a:r>
            <a:r>
              <a:rPr lang="en-US" altLang="en-US" dirty="0"/>
              <a:t>(American newswire)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7 entities: Person, Location, Organization, Time, Date, Percent, Money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US" dirty="0"/>
              <a:t>CONLL shared task corpora </a:t>
            </a:r>
            <a:r>
              <a:rPr lang="en-US" altLang="en-US" dirty="0"/>
              <a:t>(British newswire)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>
                <a:hlinkClick r:id="rId2"/>
              </a:rPr>
              <a:t>http://cnts.uia.ac.be/conll2003/ner/</a:t>
            </a:r>
            <a:r>
              <a:rPr lang="en-US" dirty="0"/>
              <a:t> - NEs in English and German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hlinkClick r:id="rId3"/>
              </a:rPr>
              <a:t>http://cnts.uia.ac.be/conll2002/ner/</a:t>
            </a:r>
            <a:r>
              <a:rPr lang="en-US" dirty="0"/>
              <a:t> - NEs in Spanish and Dutch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4 entities: Person, Location, Organization, </a:t>
            </a:r>
            <a:r>
              <a:rPr lang="en-US" altLang="en-US" dirty="0" err="1"/>
              <a:t>Misc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GB" dirty="0"/>
              <a:t>TIDES surprise language exercise (NEs in Cebuano and Hindi) </a:t>
            </a:r>
          </a:p>
          <a:p>
            <a:pPr>
              <a:lnSpc>
                <a:spcPct val="90000"/>
              </a:lnSpc>
            </a:pPr>
            <a:r>
              <a:rPr lang="en-GB" dirty="0"/>
              <a:t>ACE  – English - </a:t>
            </a:r>
            <a:r>
              <a:rPr lang="en-US" dirty="0">
                <a:hlinkClick r:id="rId4"/>
              </a:rPr>
              <a:t>http://www.ldc.upenn.edu/Projects/ACE/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7 entities: Location, Organization, Person, FAC (Facilities), GPE (Geographical/Social/Political), Vehicle, Weapon.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BBN (Penn Treebank)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12 named entity types (Person, Facility, Organization, GPE, Location, Nationality, Product, Event, Work of Art, Law, Language, and Contact-Info), nine nominal entity types (Person, Facility, Organization, GPE, Product, Plant, Animal, Substance, Disease and Game), and seven numeric types (Date, Time, Percent, Money, Quantity, Ordinal and Cardinal).</a:t>
            </a:r>
          </a:p>
          <a:p>
            <a:pPr lvl="1">
              <a:lnSpc>
                <a:spcPct val="90000"/>
              </a:lnSpc>
            </a:pPr>
            <a:r>
              <a:rPr lang="en-US" dirty="0">
                <a:hlinkClick r:id="rId5"/>
              </a:rPr>
              <a:t>https://catalog.ldc.upenn.edu/LDC2005T33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8450186"/>
      </p:ext>
    </p:extLst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72" name="Rectangle 8"/>
          <p:cNvSpPr>
            <a:spLocks noGrp="1" noChangeArrowheads="1"/>
          </p:cNvSpPr>
          <p:nvPr>
            <p:ph idx="1"/>
          </p:nvPr>
        </p:nvSpPr>
        <p:spPr>
          <a:xfrm>
            <a:off x="514350" y="3048000"/>
            <a:ext cx="9258300" cy="8382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7030A0"/>
                </a:solidFill>
              </a:rPr>
              <a:t>Broad Approaches for NER</a:t>
            </a:r>
          </a:p>
        </p:txBody>
      </p:sp>
    </p:spTree>
    <p:extLst>
      <p:ext uri="{BB962C8B-B14F-4D97-AF65-F5344CB8AC3E}">
        <p14:creationId xmlns:p14="http://schemas.microsoft.com/office/powerpoint/2010/main" val="614482570"/>
      </p:ext>
    </p:extLst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1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Pre-processing for NE Recognition</a:t>
            </a:r>
            <a:endParaRPr lang="en-US"/>
          </a:p>
        </p:txBody>
      </p:sp>
      <p:sp>
        <p:nvSpPr>
          <p:cNvPr id="98714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Format detection </a:t>
            </a:r>
          </a:p>
          <a:p>
            <a:r>
              <a:rPr lang="en-GB" dirty="0"/>
              <a:t>Word segmentation (for languages like Chinese)</a:t>
            </a:r>
          </a:p>
          <a:p>
            <a:r>
              <a:rPr lang="en-GB" dirty="0"/>
              <a:t>Tokenisation </a:t>
            </a:r>
          </a:p>
          <a:p>
            <a:r>
              <a:rPr lang="en-GB" dirty="0"/>
              <a:t>Sentence splitting </a:t>
            </a:r>
          </a:p>
          <a:p>
            <a:r>
              <a:rPr lang="en-GB" dirty="0"/>
              <a:t>POS tagging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15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kinds of NE Approaches</a:t>
            </a:r>
            <a:endParaRPr lang="en-US" dirty="0"/>
          </a:p>
        </p:txBody>
      </p:sp>
      <p:sp>
        <p:nvSpPr>
          <p:cNvPr id="988169" name="Rectangle 9"/>
          <p:cNvSpPr>
            <a:spLocks noGrp="1" noChangeArrowheads="1"/>
          </p:cNvSpPr>
          <p:nvPr>
            <p:ph idx="1"/>
          </p:nvPr>
        </p:nvSpPr>
        <p:spPr>
          <a:xfrm>
            <a:off x="514350" y="990600"/>
            <a:ext cx="440055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dirty="0">
                <a:solidFill>
                  <a:srgbClr val="FF0000"/>
                </a:solidFill>
              </a:rPr>
              <a:t>Rule based 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Knowledge Engineering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developed by experienced language engineers 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make use of human intuition 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requires only small amount of training data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development could be very time consuming 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some changes may be hard to accommodate </a:t>
            </a:r>
            <a:endParaRPr lang="en-US" sz="2400" dirty="0"/>
          </a:p>
        </p:txBody>
      </p:sp>
      <p:sp>
        <p:nvSpPr>
          <p:cNvPr id="988170" name="Rectangle 10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219700" y="990599"/>
            <a:ext cx="455295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>
                <a:solidFill>
                  <a:srgbClr val="FF0000"/>
                </a:solidFill>
                <a:latin typeface="Minion"/>
              </a:rPr>
              <a:t>Statistics or machine-learning based</a:t>
            </a:r>
          </a:p>
          <a:p>
            <a:pPr>
              <a:lnSpc>
                <a:spcPct val="90000"/>
              </a:lnSpc>
            </a:pPr>
            <a:r>
              <a:rPr lang="en-GB" sz="2400" dirty="0">
                <a:latin typeface="Minion"/>
              </a:rPr>
              <a:t>Learning Systems</a:t>
            </a:r>
          </a:p>
          <a:p>
            <a:pPr>
              <a:lnSpc>
                <a:spcPct val="90000"/>
              </a:lnSpc>
            </a:pPr>
            <a:r>
              <a:rPr lang="en-GB" sz="2400" dirty="0">
                <a:latin typeface="Minion"/>
              </a:rPr>
              <a:t>developers do not need language engineering expertise </a:t>
            </a:r>
          </a:p>
          <a:p>
            <a:pPr>
              <a:lnSpc>
                <a:spcPct val="90000"/>
              </a:lnSpc>
            </a:pPr>
            <a:r>
              <a:rPr lang="en-GB" sz="2400" dirty="0">
                <a:latin typeface="Minion"/>
              </a:rPr>
              <a:t>requires large amounts of annotated training data </a:t>
            </a:r>
          </a:p>
          <a:p>
            <a:pPr>
              <a:lnSpc>
                <a:spcPct val="90000"/>
              </a:lnSpc>
            </a:pPr>
            <a:r>
              <a:rPr lang="en-GB" sz="2400" dirty="0">
                <a:latin typeface="Minion"/>
              </a:rPr>
              <a:t>some changes may require re-annotation of the entire training corpus</a:t>
            </a:r>
          </a:p>
          <a:p>
            <a:pPr>
              <a:lnSpc>
                <a:spcPct val="90000"/>
              </a:lnSpc>
            </a:pPr>
            <a:r>
              <a:rPr lang="en-GB" sz="2400" dirty="0">
                <a:latin typeface="Minion"/>
              </a:rPr>
              <a:t>annotators are cheap</a:t>
            </a:r>
            <a:endParaRPr lang="en-US" sz="2400" dirty="0">
              <a:latin typeface="Minion"/>
            </a:endParaRPr>
          </a:p>
        </p:txBody>
      </p:sp>
    </p:spTree>
    <p:extLst>
      <p:ext uri="{BB962C8B-B14F-4D97-AF65-F5344CB8AC3E}">
        <p14:creationId xmlns:p14="http://schemas.microsoft.com/office/powerpoint/2010/main" val="3646763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72" name="Rectangle 8"/>
          <p:cNvSpPr>
            <a:spLocks noGrp="1" noChangeArrowheads="1"/>
          </p:cNvSpPr>
          <p:nvPr>
            <p:ph idx="1"/>
          </p:nvPr>
        </p:nvSpPr>
        <p:spPr>
          <a:xfrm>
            <a:off x="514350" y="3048000"/>
            <a:ext cx="9258300" cy="838200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7030A0"/>
                </a:solidFill>
              </a:rPr>
              <a:t>Rule based Approaches for NER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7030A0"/>
                </a:solidFill>
              </a:rPr>
              <a:t>List lookup approach</a:t>
            </a:r>
          </a:p>
        </p:txBody>
      </p:sp>
    </p:spTree>
    <p:extLst>
      <p:ext uri="{BB962C8B-B14F-4D97-AF65-F5344CB8AC3E}">
        <p14:creationId xmlns:p14="http://schemas.microsoft.com/office/powerpoint/2010/main" val="580197811"/>
      </p:ext>
    </p:extLst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1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Lookup Approach</a:t>
            </a:r>
            <a:endParaRPr lang="en-US" dirty="0"/>
          </a:p>
        </p:txBody>
      </p:sp>
      <p:sp>
        <p:nvSpPr>
          <p:cNvPr id="989189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System that recognises only entities stored in its lists (gazetteers). </a:t>
            </a:r>
          </a:p>
          <a:p>
            <a:r>
              <a:rPr lang="en-GB"/>
              <a:t>Advantages - Simple, fast, language independent, easy to retarget (just create lists)</a:t>
            </a:r>
          </a:p>
          <a:p>
            <a:r>
              <a:rPr lang="en-GB"/>
              <a:t>Disadvantages – impossible to enumerate all names, collection and maintenance of lists, cannot deal with name variants, cannot resolve ambiguity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03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Gazetteer Lists</a:t>
            </a:r>
            <a:endParaRPr lang="en-US"/>
          </a:p>
        </p:txBody>
      </p:sp>
      <p:sp>
        <p:nvSpPr>
          <p:cNvPr id="990215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800" dirty="0"/>
              <a:t>Online phone directories and yellow pages for person and organisation names 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Locations lists 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US </a:t>
            </a:r>
            <a:r>
              <a:rPr lang="en-GB" sz="2400" dirty="0" err="1"/>
              <a:t>GEOnet</a:t>
            </a:r>
            <a:r>
              <a:rPr lang="en-GB" sz="2400" dirty="0"/>
              <a:t> Names Server (GNS) data – 3.9 million locations with 5.37 million names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UN site: </a:t>
            </a:r>
            <a:r>
              <a:rPr lang="en-GB" sz="2400" dirty="0">
                <a:hlinkClick r:id="rId2"/>
              </a:rPr>
              <a:t>http://unstats.un.org/unsd/citydata</a:t>
            </a:r>
            <a:endParaRPr lang="en-GB" sz="2400" dirty="0"/>
          </a:p>
          <a:p>
            <a:pPr lvl="1">
              <a:lnSpc>
                <a:spcPct val="90000"/>
              </a:lnSpc>
            </a:pPr>
            <a:r>
              <a:rPr lang="en-GB" sz="2400" dirty="0"/>
              <a:t>Global Discovery database from Europa technologies Ltd, UK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Automatic collection from annotated training data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Many data sources like Wikipedia, data.gov.in, linked open cloud data </a:t>
            </a:r>
            <a:r>
              <a:rPr lang="en-GB" sz="2800" dirty="0">
                <a:hlinkClick r:id="rId3"/>
              </a:rPr>
              <a:t>http://lod-cloud.net/</a:t>
            </a:r>
            <a:r>
              <a:rPr lang="en-GB" sz="2800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76936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72" name="Rectangle 8"/>
          <p:cNvSpPr>
            <a:spLocks noGrp="1" noChangeArrowheads="1"/>
          </p:cNvSpPr>
          <p:nvPr>
            <p:ph idx="1"/>
          </p:nvPr>
        </p:nvSpPr>
        <p:spPr>
          <a:xfrm>
            <a:off x="514350" y="3048000"/>
            <a:ext cx="9258300" cy="838200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7030A0"/>
                </a:solidFill>
              </a:rPr>
              <a:t>Rule based Approaches for NER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7030A0"/>
                </a:solidFill>
              </a:rPr>
              <a:t>Shallow parsing approach</a:t>
            </a:r>
          </a:p>
        </p:txBody>
      </p:sp>
    </p:spTree>
    <p:extLst>
      <p:ext uri="{BB962C8B-B14F-4D97-AF65-F5344CB8AC3E}">
        <p14:creationId xmlns:p14="http://schemas.microsoft.com/office/powerpoint/2010/main" val="1746918619"/>
      </p:ext>
    </p:extLst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62" name="Rectangle 6"/>
          <p:cNvSpPr>
            <a:spLocks noGrp="1" noChangeArrowheads="1"/>
          </p:cNvSpPr>
          <p:nvPr>
            <p:ph type="title"/>
          </p:nvPr>
        </p:nvSpPr>
        <p:spPr>
          <a:xfrm>
            <a:off x="190500" y="152401"/>
            <a:ext cx="10096500" cy="533399"/>
          </a:xfrm>
        </p:spPr>
        <p:txBody>
          <a:bodyPr>
            <a:normAutofit fontScale="90000"/>
          </a:bodyPr>
          <a:lstStyle/>
          <a:p>
            <a:r>
              <a:rPr lang="en-GB" dirty="0"/>
              <a:t>Shallow Parsing Approach (Internal Structure)</a:t>
            </a:r>
            <a:endParaRPr lang="en-US" dirty="0"/>
          </a:p>
        </p:txBody>
      </p:sp>
      <p:sp>
        <p:nvSpPr>
          <p:cNvPr id="992263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800"/>
              <a:t>Internal evidence – names often have internal structure. These components can be either stored or guessed, e.g. location: </a:t>
            </a:r>
          </a:p>
          <a:p>
            <a:pPr>
              <a:lnSpc>
                <a:spcPct val="80000"/>
              </a:lnSpc>
            </a:pPr>
            <a:endParaRPr lang="en-US" sz="2800"/>
          </a:p>
          <a:p>
            <a:pPr>
              <a:lnSpc>
                <a:spcPct val="80000"/>
              </a:lnSpc>
            </a:pPr>
            <a:r>
              <a:rPr lang="en-US" sz="2800"/>
              <a:t>Cap. Word + {City, Forest, Center, River}</a:t>
            </a:r>
          </a:p>
          <a:p>
            <a:pPr>
              <a:lnSpc>
                <a:spcPct val="80000"/>
              </a:lnSpc>
            </a:pPr>
            <a:endParaRPr lang="en-US" sz="2800"/>
          </a:p>
          <a:p>
            <a:pPr>
              <a:lnSpc>
                <a:spcPct val="80000"/>
              </a:lnSpc>
            </a:pPr>
            <a:r>
              <a:rPr lang="en-US" sz="2800"/>
              <a:t>e.g. Sahara City, Tyda Forest</a:t>
            </a:r>
          </a:p>
          <a:p>
            <a:pPr>
              <a:lnSpc>
                <a:spcPct val="80000"/>
              </a:lnSpc>
            </a:pPr>
            <a:endParaRPr lang="en-US" sz="2800"/>
          </a:p>
          <a:p>
            <a:pPr>
              <a:lnSpc>
                <a:spcPct val="80000"/>
              </a:lnSpc>
            </a:pPr>
            <a:r>
              <a:rPr lang="en-US" sz="2800"/>
              <a:t>Cap. Word + {Street, Boulevard, Avenue, Crescent, Road}</a:t>
            </a:r>
          </a:p>
          <a:p>
            <a:pPr>
              <a:lnSpc>
                <a:spcPct val="80000"/>
              </a:lnSpc>
            </a:pPr>
            <a:endParaRPr lang="en-US" sz="2800"/>
          </a:p>
          <a:p>
            <a:pPr>
              <a:lnSpc>
                <a:spcPct val="80000"/>
              </a:lnSpc>
            </a:pPr>
            <a:r>
              <a:rPr lang="en-US" sz="2800"/>
              <a:t>e.g. Preder Ghast Road, Wall Street</a:t>
            </a:r>
          </a:p>
          <a:p>
            <a:pPr>
              <a:lnSpc>
                <a:spcPct val="80000"/>
              </a:lnSpc>
            </a:pPr>
            <a:endParaRPr lang="en-US" sz="2800"/>
          </a:p>
          <a:p>
            <a:pPr>
              <a:lnSpc>
                <a:spcPct val="80000"/>
              </a:lnSpc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108582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86" name="Rectangle 6"/>
          <p:cNvSpPr>
            <a:spLocks noGrp="1" noChangeArrowheads="1"/>
          </p:cNvSpPr>
          <p:nvPr>
            <p:ph type="title"/>
          </p:nvPr>
        </p:nvSpPr>
        <p:spPr>
          <a:xfrm>
            <a:off x="190500" y="152400"/>
            <a:ext cx="9296400" cy="609599"/>
          </a:xfrm>
        </p:spPr>
        <p:txBody>
          <a:bodyPr>
            <a:normAutofit fontScale="90000"/>
          </a:bodyPr>
          <a:lstStyle/>
          <a:p>
            <a:r>
              <a:rPr lang="en-GB" dirty="0"/>
              <a:t>Problems with the Shallow Parsing Approach</a:t>
            </a:r>
            <a:endParaRPr lang="en-US" dirty="0"/>
          </a:p>
        </p:txBody>
      </p:sp>
      <p:sp>
        <p:nvSpPr>
          <p:cNvPr id="993287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Ambiguously capitalized words (first word in sentence)</a:t>
            </a:r>
            <a:br>
              <a:rPr lang="en-US" sz="2800" dirty="0"/>
            </a:br>
            <a:r>
              <a:rPr lang="en-US" sz="2800" dirty="0"/>
              <a:t>[All Union Bank] vs. All [State Police] </a:t>
            </a:r>
          </a:p>
          <a:p>
            <a:r>
              <a:rPr lang="en-US" sz="2800" dirty="0"/>
              <a:t>Semantic ambiguity	</a:t>
            </a:r>
            <a:br>
              <a:rPr lang="en-US" sz="2800"/>
            </a:br>
            <a:r>
              <a:rPr lang="en-US" sz="2800"/>
              <a:t>“John </a:t>
            </a:r>
            <a:r>
              <a:rPr lang="en-US" sz="2800" dirty="0"/>
              <a:t>F</a:t>
            </a:r>
            <a:r>
              <a:rPr lang="en-US" sz="2800"/>
              <a:t>. Kennedy” </a:t>
            </a:r>
            <a:r>
              <a:rPr lang="en-US" sz="2800" dirty="0"/>
              <a:t>= airport (location) </a:t>
            </a:r>
            <a:br>
              <a:rPr lang="en-US" sz="2800"/>
            </a:br>
            <a:r>
              <a:rPr lang="en-US" sz="2800"/>
              <a:t>“Philip Morris” </a:t>
            </a:r>
            <a:r>
              <a:rPr lang="en-US" sz="2800" dirty="0"/>
              <a:t>= organization </a:t>
            </a:r>
          </a:p>
          <a:p>
            <a:r>
              <a:rPr lang="en-US" sz="2800" dirty="0"/>
              <a:t>Structural ambiguity </a:t>
            </a:r>
            <a:br>
              <a:rPr lang="en-US" sz="2800" dirty="0"/>
            </a:br>
            <a:r>
              <a:rPr lang="en-US" sz="2800" dirty="0"/>
              <a:t>[Cable and Wireless] vs. [Microsoft] and [Dell];</a:t>
            </a:r>
            <a:br>
              <a:rPr lang="en-US" sz="2800" dirty="0"/>
            </a:br>
            <a:r>
              <a:rPr lang="en-US" sz="2800" dirty="0"/>
              <a:t>[Center for Computational Linguistics] vs. message from [City Hospital] for [John Smith]</a:t>
            </a:r>
          </a:p>
        </p:txBody>
      </p:sp>
    </p:spTree>
    <p:extLst>
      <p:ext uri="{BB962C8B-B14F-4D97-AF65-F5344CB8AC3E}">
        <p14:creationId xmlns:p14="http://schemas.microsoft.com/office/powerpoint/2010/main" val="3848850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72" name="Rectangle 8"/>
          <p:cNvSpPr>
            <a:spLocks noGrp="1" noChangeArrowheads="1"/>
          </p:cNvSpPr>
          <p:nvPr>
            <p:ph idx="1"/>
          </p:nvPr>
        </p:nvSpPr>
        <p:spPr>
          <a:xfrm>
            <a:off x="514350" y="3048000"/>
            <a:ext cx="9258300" cy="838200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7030A0"/>
                </a:solidFill>
              </a:rPr>
              <a:t>Rule based Approaches for NER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7030A0"/>
                </a:solidFill>
              </a:rPr>
              <a:t>Shallow parsing approach with context</a:t>
            </a:r>
          </a:p>
        </p:txBody>
      </p:sp>
    </p:spTree>
    <p:extLst>
      <p:ext uri="{BB962C8B-B14F-4D97-AF65-F5344CB8AC3E}">
        <p14:creationId xmlns:p14="http://schemas.microsoft.com/office/powerpoint/2010/main" val="213199016"/>
      </p:ext>
    </p:extLst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310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Shallow Parsing Approach with Context</a:t>
            </a:r>
          </a:p>
        </p:txBody>
      </p:sp>
      <p:sp>
        <p:nvSpPr>
          <p:cNvPr id="994311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Use of context-based patterns is helpful in ambiguous cases </a:t>
            </a:r>
          </a:p>
          <a:p>
            <a:r>
              <a:rPr lang="en-GB" dirty="0"/>
              <a:t>“David Walton” and “Goldman Sachs” are indistinguishable </a:t>
            </a:r>
          </a:p>
          <a:p>
            <a:r>
              <a:rPr lang="en-GB" dirty="0"/>
              <a:t>But with the phrase “David Walton of Goldman Sachs” and the Person entity “David Walton” recognised, we can use the pattern “[Person] of [Organization]” to identify “Goldman Sachs” correctly.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0195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35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Context Patterns</a:t>
            </a:r>
            <a:endParaRPr lang="en-US" dirty="0"/>
          </a:p>
        </p:txBody>
      </p:sp>
      <p:sp>
        <p:nvSpPr>
          <p:cNvPr id="996359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GB" sz="2000"/>
              <a:t>[PERSON] earns [MONEY]</a:t>
            </a:r>
          </a:p>
          <a:p>
            <a:pPr>
              <a:lnSpc>
                <a:spcPct val="80000"/>
              </a:lnSpc>
            </a:pPr>
            <a:r>
              <a:rPr lang="en-GB" sz="2000"/>
              <a:t>[PERSON] joined [ORGANIZATION]</a:t>
            </a:r>
          </a:p>
          <a:p>
            <a:pPr>
              <a:lnSpc>
                <a:spcPct val="80000"/>
              </a:lnSpc>
            </a:pPr>
            <a:r>
              <a:rPr lang="en-GB" sz="2000"/>
              <a:t>[PERSON] left [ORGANIZATION]</a:t>
            </a:r>
          </a:p>
          <a:p>
            <a:pPr>
              <a:lnSpc>
                <a:spcPct val="80000"/>
              </a:lnSpc>
            </a:pPr>
            <a:r>
              <a:rPr lang="en-GB" sz="2000"/>
              <a:t>[PERSON] joined [ORGANIZATION] as [JOBTITLE]</a:t>
            </a:r>
          </a:p>
          <a:p>
            <a:pPr>
              <a:lnSpc>
                <a:spcPct val="80000"/>
              </a:lnSpc>
            </a:pPr>
            <a:r>
              <a:rPr lang="en-GB" sz="2000"/>
              <a:t>[ORGANIZATION]'s [JOBTITLE] [PERSON]</a:t>
            </a:r>
          </a:p>
          <a:p>
            <a:pPr>
              <a:lnSpc>
                <a:spcPct val="80000"/>
              </a:lnSpc>
            </a:pPr>
            <a:r>
              <a:rPr lang="en-GB" sz="2000"/>
              <a:t>[ORGANIZATION] [JOBTITLE] [PERSON]</a:t>
            </a:r>
          </a:p>
          <a:p>
            <a:pPr>
              <a:lnSpc>
                <a:spcPct val="80000"/>
              </a:lnSpc>
            </a:pPr>
            <a:r>
              <a:rPr lang="en-GB" sz="2000"/>
              <a:t>the [ORGANIZATION] [JOBTITLE]</a:t>
            </a:r>
          </a:p>
          <a:p>
            <a:pPr>
              <a:lnSpc>
                <a:spcPct val="80000"/>
              </a:lnSpc>
            </a:pPr>
            <a:r>
              <a:rPr lang="en-GB" sz="2000"/>
              <a:t>part of the [ORGANIZATION]</a:t>
            </a:r>
          </a:p>
          <a:p>
            <a:pPr>
              <a:lnSpc>
                <a:spcPct val="80000"/>
              </a:lnSpc>
            </a:pPr>
            <a:r>
              <a:rPr lang="en-GB" sz="2000"/>
              <a:t>[ORGANIZATION] headquarters in [LOCATION]</a:t>
            </a:r>
          </a:p>
          <a:p>
            <a:pPr>
              <a:lnSpc>
                <a:spcPct val="80000"/>
              </a:lnSpc>
            </a:pPr>
            <a:r>
              <a:rPr lang="en-GB" sz="2000"/>
              <a:t>price of [ORGANIZATION]</a:t>
            </a:r>
          </a:p>
          <a:p>
            <a:pPr>
              <a:lnSpc>
                <a:spcPct val="80000"/>
              </a:lnSpc>
            </a:pPr>
            <a:r>
              <a:rPr lang="en-GB" sz="2000"/>
              <a:t>sale of [ORGANIZATION]</a:t>
            </a:r>
          </a:p>
          <a:p>
            <a:pPr>
              <a:lnSpc>
                <a:spcPct val="80000"/>
              </a:lnSpc>
            </a:pPr>
            <a:r>
              <a:rPr lang="en-GB" sz="2000"/>
              <a:t>investors in [ORGANIZATION]</a:t>
            </a:r>
          </a:p>
          <a:p>
            <a:pPr>
              <a:lnSpc>
                <a:spcPct val="80000"/>
              </a:lnSpc>
            </a:pPr>
            <a:r>
              <a:rPr lang="en-GB" sz="2000"/>
              <a:t>[ORGANIZATION] is worth [MONEY]</a:t>
            </a:r>
          </a:p>
          <a:p>
            <a:pPr>
              <a:lnSpc>
                <a:spcPct val="80000"/>
              </a:lnSpc>
            </a:pPr>
            <a:r>
              <a:rPr lang="en-GB" sz="2000"/>
              <a:t>[JOBTITLE] [PERSON]</a:t>
            </a:r>
          </a:p>
          <a:p>
            <a:pPr>
              <a:lnSpc>
                <a:spcPct val="80000"/>
              </a:lnSpc>
            </a:pPr>
            <a:r>
              <a:rPr lang="en-GB" sz="2000"/>
              <a:t>[PERSON], [JOBTITLE]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24258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33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Identification of Contextual Information</a:t>
            </a:r>
            <a:endParaRPr lang="en-US"/>
          </a:p>
        </p:txBody>
      </p:sp>
      <p:sp>
        <p:nvSpPr>
          <p:cNvPr id="995335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Find windows of context around entities </a:t>
            </a:r>
          </a:p>
          <a:p>
            <a:r>
              <a:rPr lang="en-GB" dirty="0"/>
              <a:t>Search for repeated contextual patterns of either strings, other entities, or both </a:t>
            </a:r>
          </a:p>
          <a:p>
            <a:r>
              <a:rPr lang="en-GB" dirty="0"/>
              <a:t>Manually post-edit list of patterns, and incorporate useful patterns into new rules </a:t>
            </a:r>
          </a:p>
          <a:p>
            <a:r>
              <a:rPr lang="en-GB" dirty="0"/>
              <a:t>Repeat with new entities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24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57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Gazetteer Lists + Rule-based NE</a:t>
            </a:r>
            <a:endParaRPr lang="en-US" dirty="0"/>
          </a:p>
        </p:txBody>
      </p:sp>
      <p:sp>
        <p:nvSpPr>
          <p:cNvPr id="1005575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Need to store the indicator strings for the internal structure and context rules</a:t>
            </a:r>
          </a:p>
          <a:p>
            <a:pPr>
              <a:lnSpc>
                <a:spcPct val="90000"/>
              </a:lnSpc>
            </a:pPr>
            <a:r>
              <a:rPr lang="en-GB" dirty="0"/>
              <a:t>Internal location indicators – e.g., {river, mountain, forest} for natural locations; {street, road, crescent, place, square, …}for address locations</a:t>
            </a:r>
          </a:p>
          <a:p>
            <a:pPr>
              <a:lnSpc>
                <a:spcPct val="90000"/>
              </a:lnSpc>
            </a:pPr>
            <a:r>
              <a:rPr lang="en-GB" dirty="0"/>
              <a:t>Internal organisation indicators – e.g., company designators {GmbH, Ltd, </a:t>
            </a:r>
            <a:r>
              <a:rPr lang="en-GB" dirty="0" err="1"/>
              <a:t>Inc</a:t>
            </a:r>
            <a:r>
              <a:rPr lang="en-GB" dirty="0"/>
              <a:t>, …}</a:t>
            </a:r>
          </a:p>
          <a:p>
            <a:pPr>
              <a:lnSpc>
                <a:spcPct val="90000"/>
              </a:lnSpc>
            </a:pPr>
            <a:r>
              <a:rPr lang="en-GB" dirty="0"/>
              <a:t>Produces lookup results of the given kind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2231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72" name="Rectangle 8"/>
          <p:cNvSpPr>
            <a:spLocks noGrp="1" noChangeArrowheads="1"/>
          </p:cNvSpPr>
          <p:nvPr>
            <p:ph idx="1"/>
          </p:nvPr>
        </p:nvSpPr>
        <p:spPr>
          <a:xfrm>
            <a:off x="514350" y="3048000"/>
            <a:ext cx="9258300" cy="8382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7030A0"/>
                </a:solidFill>
              </a:rPr>
              <a:t>Learning based Approaches for NER</a:t>
            </a:r>
          </a:p>
        </p:txBody>
      </p:sp>
    </p:spTree>
    <p:extLst>
      <p:ext uri="{BB962C8B-B14F-4D97-AF65-F5344CB8AC3E}">
        <p14:creationId xmlns:p14="http://schemas.microsoft.com/office/powerpoint/2010/main" val="592621733"/>
      </p:ext>
    </p:extLst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Based Models</a:t>
            </a:r>
            <a:endParaRPr lang="en-US" dirty="0"/>
          </a:p>
        </p:txBody>
      </p:sp>
      <p:sp>
        <p:nvSpPr>
          <p:cNvPr id="958472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Machine learning approaches</a:t>
            </a:r>
          </a:p>
          <a:p>
            <a:pPr lvl="1"/>
            <a:r>
              <a:rPr lang="en-US" b="1" dirty="0"/>
              <a:t>Generative Models – Hidden Markov Models (HMM)</a:t>
            </a:r>
          </a:p>
          <a:p>
            <a:pPr lvl="1"/>
            <a:r>
              <a:rPr lang="en-US" b="1" dirty="0"/>
              <a:t>Conditional Models – Maximum Entropy Markov Models (</a:t>
            </a:r>
            <a:r>
              <a:rPr lang="en-US" b="1" dirty="0" err="1"/>
              <a:t>MeMM</a:t>
            </a:r>
            <a:r>
              <a:rPr lang="en-US" b="1" dirty="0"/>
              <a:t>), Conditional Random Fields (CRF)</a:t>
            </a:r>
          </a:p>
        </p:txBody>
      </p:sp>
    </p:spTree>
    <p:extLst>
      <p:ext uri="{BB962C8B-B14F-4D97-AF65-F5344CB8AC3E}">
        <p14:creationId xmlns:p14="http://schemas.microsoft.com/office/powerpoint/2010/main" val="16562151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Machine Learning Approaches</a:t>
            </a:r>
            <a:endParaRPr lang="en-US"/>
          </a:p>
        </p:txBody>
      </p:sp>
      <p:sp>
        <p:nvSpPr>
          <p:cNvPr id="10782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GB" sz="2800" dirty="0"/>
              <a:t>ML approaches break down the NE task in two parts:</a:t>
            </a:r>
          </a:p>
          <a:p>
            <a:pPr lvl="1">
              <a:lnSpc>
                <a:spcPct val="120000"/>
              </a:lnSpc>
            </a:pPr>
            <a:r>
              <a:rPr lang="en-GB" sz="2400" dirty="0"/>
              <a:t>Recognising the entity boundaries</a:t>
            </a:r>
          </a:p>
          <a:p>
            <a:pPr lvl="1">
              <a:lnSpc>
                <a:spcPct val="120000"/>
              </a:lnSpc>
            </a:pPr>
            <a:r>
              <a:rPr lang="en-GB" sz="2400" dirty="0"/>
              <a:t>Classifying the entities in the NE categories</a:t>
            </a:r>
            <a:endParaRPr lang="en-GB" sz="2800" dirty="0"/>
          </a:p>
          <a:p>
            <a:pPr>
              <a:lnSpc>
                <a:spcPct val="120000"/>
              </a:lnSpc>
            </a:pPr>
            <a:r>
              <a:rPr lang="en-GB" sz="2800" dirty="0"/>
              <a:t>Tokens in text are often coded with the IOB scheme </a:t>
            </a:r>
          </a:p>
          <a:p>
            <a:pPr lvl="1">
              <a:lnSpc>
                <a:spcPct val="120000"/>
              </a:lnSpc>
            </a:pPr>
            <a:r>
              <a:rPr lang="en-GB" sz="2400" dirty="0"/>
              <a:t>O – outside, B-XXX – first word in NE, I-XXX – all other words in NE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GB" sz="24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GB" sz="2400" i="1" dirty="0"/>
              <a:t>India		B-LOC</a:t>
            </a:r>
            <a:br>
              <a:rPr lang="en-GB" sz="2400" i="1" dirty="0"/>
            </a:br>
            <a:r>
              <a:rPr lang="en-GB" sz="2400" i="1" dirty="0"/>
              <a:t>played 		O</a:t>
            </a:r>
            <a:br>
              <a:rPr lang="en-GB" sz="2400" i="1" dirty="0"/>
            </a:br>
            <a:r>
              <a:rPr lang="en-GB" sz="2400" i="1" dirty="0"/>
              <a:t>with		O</a:t>
            </a:r>
            <a:br>
              <a:rPr lang="en-GB" sz="2400" i="1" dirty="0"/>
            </a:br>
            <a:r>
              <a:rPr lang="en-GB" sz="2400" i="1" dirty="0"/>
              <a:t>South		B-LOC</a:t>
            </a:r>
            <a:br>
              <a:rPr lang="en-GB" sz="2400" i="1" dirty="0"/>
            </a:br>
            <a:r>
              <a:rPr lang="en-GB" sz="2400" i="1" dirty="0"/>
              <a:t>Africa		I-LOC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067913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" y="152401"/>
            <a:ext cx="9677400" cy="533400"/>
          </a:xfrm>
          <a:solidFill>
            <a:schemeClr val="bg1"/>
          </a:solidFill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CN" dirty="0">
                <a:ea typeface="宋体" pitchFamily="2" charset="-122"/>
              </a:rPr>
              <a:t>Graphical comparison: HMMs, MEMMs, CRFs</a:t>
            </a:r>
          </a:p>
        </p:txBody>
      </p:sp>
      <p:pic>
        <p:nvPicPr>
          <p:cNvPr id="12093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934" y="1447800"/>
            <a:ext cx="9258300" cy="2204356"/>
          </a:xfrm>
          <a:noFill/>
          <a:ln/>
        </p:spPr>
      </p:pic>
      <p:sp>
        <p:nvSpPr>
          <p:cNvPr id="1209348" name="Text Box 4"/>
          <p:cNvSpPr txBox="1">
            <a:spLocks noChangeArrowheads="1"/>
          </p:cNvSpPr>
          <p:nvPr/>
        </p:nvSpPr>
        <p:spPr bwMode="auto">
          <a:xfrm>
            <a:off x="1702884" y="896597"/>
            <a:ext cx="7239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</a:rPr>
              <a:t>HMM			  MEMM		     CRF</a:t>
            </a:r>
          </a:p>
        </p:txBody>
      </p:sp>
      <p:graphicFrame>
        <p:nvGraphicFramePr>
          <p:cNvPr id="5" name="Group 42"/>
          <p:cNvGraphicFramePr>
            <a:graphicFrameLocks noGrp="1"/>
          </p:cNvGraphicFramePr>
          <p:nvPr/>
        </p:nvGraphicFramePr>
        <p:xfrm>
          <a:off x="1108075" y="3986784"/>
          <a:ext cx="7312024" cy="2109216"/>
        </p:xfrm>
        <a:graphic>
          <a:graphicData uri="http://schemas.openxmlformats.org/drawingml/2006/table">
            <a:tbl>
              <a:tblPr/>
              <a:tblGrid>
                <a:gridCol w="1131032">
                  <a:extLst>
                    <a:ext uri="{9D8B030D-6E8A-4147-A177-3AD203B41FA5}">
                      <a16:colId xmlns:a16="http://schemas.microsoft.com/office/drawing/2014/main" val="21410510"/>
                    </a:ext>
                  </a:extLst>
                </a:gridCol>
                <a:gridCol w="1767652">
                  <a:extLst>
                    <a:ext uri="{9D8B030D-6E8A-4147-A177-3AD203B41FA5}">
                      <a16:colId xmlns:a16="http://schemas.microsoft.com/office/drawing/2014/main" val="3369688467"/>
                    </a:ext>
                  </a:extLst>
                </a:gridCol>
                <a:gridCol w="2248836">
                  <a:extLst>
                    <a:ext uri="{9D8B030D-6E8A-4147-A177-3AD203B41FA5}">
                      <a16:colId xmlns:a16="http://schemas.microsoft.com/office/drawing/2014/main" val="1659163955"/>
                    </a:ext>
                  </a:extLst>
                </a:gridCol>
                <a:gridCol w="2164504">
                  <a:extLst>
                    <a:ext uri="{9D8B030D-6E8A-4147-A177-3AD203B41FA5}">
                      <a16:colId xmlns:a16="http://schemas.microsoft.com/office/drawing/2014/main" val="3130595495"/>
                    </a:ext>
                  </a:extLst>
                </a:gridCol>
              </a:tblGrid>
              <a:tr h="77853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C60000"/>
                          </a:solidFill>
                          <a:effectLst/>
                          <a:latin typeface="Arial" panose="020B0604020202020204" pitchFamily="34" charset="0"/>
                        </a:rPr>
                        <a:t>Speed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C60000"/>
                          </a:solidFill>
                          <a:effectLst/>
                          <a:latin typeface="Arial" panose="020B0604020202020204" pitchFamily="34" charset="0"/>
                        </a:rPr>
                        <a:t>Discrim vs.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C60000"/>
                          </a:solidFill>
                          <a:effectLst/>
                          <a:latin typeface="Arial" panose="020B0604020202020204" pitchFamily="34" charset="0"/>
                        </a:rPr>
                        <a:t>Generative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C60000"/>
                          </a:solidFill>
                          <a:effectLst/>
                          <a:latin typeface="Arial" panose="020B0604020202020204" pitchFamily="34" charset="0"/>
                        </a:rPr>
                        <a:t>Normalization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808670"/>
                  </a:ext>
                </a:extLst>
              </a:tr>
              <a:tr h="39559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C60000"/>
                          </a:solidFill>
                          <a:effectLst/>
                          <a:latin typeface="Arial" panose="020B0604020202020204" pitchFamily="34" charset="0"/>
                        </a:rPr>
                        <a:t>HMM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very fast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generative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local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903029"/>
                  </a:ext>
                </a:extLst>
              </a:tr>
              <a:tr h="39559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C60000"/>
                          </a:solidFill>
                          <a:effectLst/>
                          <a:latin typeface="Arial" panose="020B0604020202020204" pitchFamily="34" charset="0"/>
                        </a:rPr>
                        <a:t>MEMM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mid-range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discriminative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local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933054"/>
                  </a:ext>
                </a:extLst>
              </a:tr>
              <a:tr h="39559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C60000"/>
                          </a:solidFill>
                          <a:effectLst/>
                          <a:latin typeface="Arial" panose="020B0604020202020204" pitchFamily="34" charset="0"/>
                        </a:rPr>
                        <a:t>CRF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kinda slow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discriminative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global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138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377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5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CN">
                <a:ea typeface="宋体" pitchFamily="2" charset="-122"/>
              </a:rPr>
              <a:t>MEMM vs. HMM</a:t>
            </a:r>
          </a:p>
        </p:txBody>
      </p:sp>
      <p:pic>
        <p:nvPicPr>
          <p:cNvPr id="121651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9813" y="990600"/>
            <a:ext cx="6567374" cy="4525963"/>
          </a:xfrm>
          <a:noFill/>
          <a:ln/>
        </p:spPr>
      </p:pic>
      <p:sp>
        <p:nvSpPr>
          <p:cNvPr id="1216516" name="Text Box 4"/>
          <p:cNvSpPr txBox="1">
            <a:spLocks noChangeArrowheads="1"/>
          </p:cNvSpPr>
          <p:nvPr/>
        </p:nvSpPr>
        <p:spPr bwMode="auto">
          <a:xfrm>
            <a:off x="1879328" y="5479392"/>
            <a:ext cx="6019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2800" dirty="0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</a:rPr>
              <a:t>  The HMM outperforms the MEMM</a:t>
            </a:r>
          </a:p>
        </p:txBody>
      </p:sp>
    </p:spTree>
    <p:extLst>
      <p:ext uri="{BB962C8B-B14F-4D97-AF65-F5344CB8AC3E}">
        <p14:creationId xmlns:p14="http://schemas.microsoft.com/office/powerpoint/2010/main" val="14118419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53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CN">
                <a:ea typeface="宋体" pitchFamily="2" charset="-122"/>
              </a:rPr>
              <a:t>MEMM vs. CRF</a:t>
            </a:r>
          </a:p>
        </p:txBody>
      </p:sp>
      <p:pic>
        <p:nvPicPr>
          <p:cNvPr id="121753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5552" y="990600"/>
            <a:ext cx="6275896" cy="4525963"/>
          </a:xfrm>
          <a:noFill/>
          <a:ln/>
        </p:spPr>
      </p:pic>
      <p:sp>
        <p:nvSpPr>
          <p:cNvPr id="1217540" name="Text Box 4"/>
          <p:cNvSpPr txBox="1">
            <a:spLocks noChangeArrowheads="1"/>
          </p:cNvSpPr>
          <p:nvPr/>
        </p:nvSpPr>
        <p:spPr bwMode="auto">
          <a:xfrm>
            <a:off x="1790700" y="5638800"/>
            <a:ext cx="6019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2800" dirty="0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</a:rPr>
              <a:t>  CRF usually outperforms the MEMM</a:t>
            </a:r>
          </a:p>
        </p:txBody>
      </p:sp>
    </p:spTree>
    <p:extLst>
      <p:ext uri="{BB962C8B-B14F-4D97-AF65-F5344CB8AC3E}">
        <p14:creationId xmlns:p14="http://schemas.microsoft.com/office/powerpoint/2010/main" val="41594087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Take-</a:t>
            </a:r>
            <a:r>
              <a:rPr lang="en-IN" dirty="0" err="1"/>
              <a:t>aways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NER is related to identifying entities of certain types given a piece of text.</a:t>
            </a:r>
          </a:p>
          <a:p>
            <a:r>
              <a:rPr lang="en-IN" dirty="0"/>
              <a:t>NER is useful for many applications.</a:t>
            </a:r>
          </a:p>
          <a:p>
            <a:r>
              <a:rPr lang="en-IN" dirty="0"/>
              <a:t>NER systems are of two types:</a:t>
            </a:r>
          </a:p>
          <a:p>
            <a:pPr lvl="1"/>
            <a:r>
              <a:rPr lang="en-IN" dirty="0"/>
              <a:t>rule-based</a:t>
            </a:r>
            <a:r>
              <a:rPr lang="en-US" dirty="0"/>
              <a:t>.</a:t>
            </a:r>
          </a:p>
          <a:p>
            <a:pPr lvl="1"/>
            <a:r>
              <a:rPr lang="en-IN" dirty="0"/>
              <a:t>machine learning based</a:t>
            </a:r>
          </a:p>
          <a:p>
            <a:pPr lvl="2"/>
            <a:r>
              <a:rPr lang="en-IN" dirty="0"/>
              <a:t>Generative: HMMs</a:t>
            </a:r>
          </a:p>
          <a:p>
            <a:pPr lvl="2"/>
            <a:r>
              <a:rPr lang="en-IN" dirty="0"/>
              <a:t>Discriminative/Conditional: </a:t>
            </a:r>
            <a:r>
              <a:rPr lang="en-IN" dirty="0" err="1"/>
              <a:t>MeMMs</a:t>
            </a:r>
            <a:r>
              <a:rPr lang="en-IN" dirty="0"/>
              <a:t>, CRFs</a:t>
            </a:r>
          </a:p>
        </p:txBody>
      </p:sp>
    </p:spTree>
    <p:extLst>
      <p:ext uri="{BB962C8B-B14F-4D97-AF65-F5344CB8AC3E}">
        <p14:creationId xmlns:p14="http://schemas.microsoft.com/office/powerpoint/2010/main" val="24464080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28700" y="274639"/>
            <a:ext cx="8153400" cy="5794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en-US" sz="3200">
                <a:latin typeface="Arial Unicode MS" panose="020B0604020202020204" pitchFamily="34" charset="-128"/>
              </a:rPr>
              <a:t>Further Reading</a:t>
            </a:r>
            <a:endParaRPr lang="en-US" altLang="en-US" sz="3200">
              <a:latin typeface="Arial Unicode MS" panose="020B0604020202020204" pitchFamily="34" charset="-128"/>
            </a:endParaRP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0264" y="1036638"/>
            <a:ext cx="8885237" cy="5441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en-US" sz="1800">
                <a:latin typeface="Arial Unicode MS" panose="020B0604020202020204" pitchFamily="34" charset="-128"/>
              </a:rPr>
              <a:t>Aberdeen J., Day D., Hirschman L., Robinson P. and Vilain M. 1995. MITRE: Description of the Alembic System Used for MUC-6. MUC-6 proceedings. Pages141-155. Columbia, Maryland. 1995. </a:t>
            </a:r>
          </a:p>
          <a:p>
            <a:pPr>
              <a:lnSpc>
                <a:spcPct val="80000"/>
              </a:lnSpc>
            </a:pPr>
            <a:r>
              <a:rPr lang="en-US" altLang="en-US" sz="1800">
                <a:latin typeface="Arial Unicode MS" panose="020B0604020202020204" pitchFamily="34" charset="-128"/>
              </a:rPr>
              <a:t>Black W.J., Rinaldi F., Mowatt D. Facile: Description of the NE System Used For MUC-7. Proceedings of 7th Message Understanding Conference, Fairfax, VA, 19 April - 1 May, 1998.</a:t>
            </a:r>
          </a:p>
          <a:p>
            <a:pPr>
              <a:lnSpc>
                <a:spcPct val="80000"/>
              </a:lnSpc>
            </a:pPr>
            <a:r>
              <a:rPr lang="en-US" altLang="en-US" sz="1800">
                <a:latin typeface="Arial Unicode MS" panose="020B0604020202020204" pitchFamily="34" charset="-128"/>
              </a:rPr>
              <a:t>Borthwick. A. A Maximum Entropy Approach to Named Entity Recognition.</a:t>
            </a:r>
            <a:br>
              <a:rPr lang="en-US" altLang="en-US" sz="1800">
                <a:latin typeface="Arial Unicode MS" panose="020B0604020202020204" pitchFamily="34" charset="-128"/>
              </a:rPr>
            </a:br>
            <a:r>
              <a:rPr lang="en-US" altLang="en-US" sz="1800">
                <a:latin typeface="Arial Unicode MS" panose="020B0604020202020204" pitchFamily="34" charset="-128"/>
              </a:rPr>
              <a:t>PhD Dissertation. 1999</a:t>
            </a:r>
            <a:endParaRPr lang="de-DE" altLang="en-US" sz="1800">
              <a:latin typeface="Arial Unicode MS" panose="020B0604020202020204" pitchFamily="34" charset="-128"/>
            </a:endParaRPr>
          </a:p>
          <a:p>
            <a:pPr>
              <a:lnSpc>
                <a:spcPct val="80000"/>
              </a:lnSpc>
            </a:pPr>
            <a:r>
              <a:rPr lang="de-DE" altLang="en-US" sz="1800">
                <a:latin typeface="Arial Unicode MS" panose="020B0604020202020204" pitchFamily="34" charset="-128"/>
              </a:rPr>
              <a:t>Bikel D., Schwarta R., Weischedel. </a:t>
            </a:r>
            <a:r>
              <a:rPr lang="en-US" altLang="en-US" sz="1800">
                <a:latin typeface="Arial Unicode MS" panose="020B0604020202020204" pitchFamily="34" charset="-128"/>
              </a:rPr>
              <a:t>R. An algorithm that learns what’s in a name. Machine Learning 34, pp.211-231, 1999</a:t>
            </a:r>
          </a:p>
          <a:p>
            <a:pPr>
              <a:lnSpc>
                <a:spcPct val="80000"/>
              </a:lnSpc>
            </a:pPr>
            <a:r>
              <a:rPr lang="en-US" altLang="en-US" sz="1800">
                <a:latin typeface="Arial Unicode MS" panose="020B0604020202020204" pitchFamily="34" charset="-128"/>
              </a:rPr>
              <a:t>Carreras X., Màrquez L., Padró. 2002. Named Entity Extraction using AdaBoost.</a:t>
            </a:r>
            <a:br>
              <a:rPr lang="en-US" altLang="en-US" sz="1800">
                <a:latin typeface="Arial Unicode MS" panose="020B0604020202020204" pitchFamily="34" charset="-128"/>
              </a:rPr>
            </a:br>
            <a:r>
              <a:rPr lang="en-US" altLang="en-US" sz="1800">
                <a:latin typeface="Arial Unicode MS" panose="020B0604020202020204" pitchFamily="34" charset="-128"/>
              </a:rPr>
              <a:t>The 6th Conference on Natural Language Learning. 2002</a:t>
            </a:r>
          </a:p>
          <a:p>
            <a:pPr>
              <a:lnSpc>
                <a:spcPct val="80000"/>
              </a:lnSpc>
            </a:pPr>
            <a:r>
              <a:rPr lang="en-US" altLang="en-US" sz="1800">
                <a:latin typeface="Arial Unicode MS" panose="020B0604020202020204" pitchFamily="34" charset="-128"/>
              </a:rPr>
              <a:t>Chang J.S., Chen S. D., Zheng Y., Liu X. Z., and Ke S. J. Large-corpus-based methods for Chinese personal name recognition. Journal of Chinese Information Processing, 6(3):7-15, 1992</a:t>
            </a:r>
          </a:p>
          <a:p>
            <a:pPr>
              <a:lnSpc>
                <a:spcPct val="80000"/>
              </a:lnSpc>
            </a:pPr>
            <a:r>
              <a:rPr lang="en-US" altLang="en-US" sz="1800">
                <a:latin typeface="Arial Unicode MS" panose="020B0604020202020204" pitchFamily="34" charset="-128"/>
              </a:rPr>
              <a:t>Chen H.H., Ding Y.W., Tsai S.C. and Bian G.W. Description of the NTU System Used for MET2. Proceedings of 7th Message Understanding Conference, Fairfax, VA, 19 April - 1 May, 1998.</a:t>
            </a:r>
          </a:p>
          <a:p>
            <a:pPr>
              <a:lnSpc>
                <a:spcPct val="80000"/>
              </a:lnSpc>
            </a:pPr>
            <a:r>
              <a:rPr lang="en-US" altLang="en-US" sz="1800">
                <a:latin typeface="Arial Unicode MS" panose="020B0604020202020204" pitchFamily="34" charset="-128"/>
              </a:rPr>
              <a:t>Chinchor. N. MUC-7 Named Entity Task Definition Version 3.5.</a:t>
            </a:r>
            <a:br>
              <a:rPr lang="en-US" altLang="en-US" sz="1800">
                <a:latin typeface="Arial Unicode MS" panose="020B0604020202020204" pitchFamily="34" charset="-128"/>
              </a:rPr>
            </a:br>
            <a:r>
              <a:rPr lang="en-US" altLang="en-US" sz="1800">
                <a:latin typeface="Arial Unicode MS" panose="020B0604020202020204" pitchFamily="34" charset="-128"/>
              </a:rPr>
              <a:t>Available by from</a:t>
            </a:r>
            <a:r>
              <a:rPr lang="en-US" altLang="en-US" sz="1800">
                <a:latin typeface="Arial Unicode MS" panose="020B0604020202020204" pitchFamily="34" charset="-128"/>
                <a:hlinkClick r:id="rId2" action="ppaction://hlinkfile"/>
              </a:rPr>
              <a:t> ftp.muc.saic.com/pub/MUC/MUC7-guidelines</a:t>
            </a:r>
            <a:r>
              <a:rPr lang="en-US" altLang="en-US" sz="1800">
                <a:latin typeface="Arial Unicode MS" panose="020B0604020202020204" pitchFamily="34" charset="-128"/>
              </a:rPr>
              <a:t>, 1997</a:t>
            </a:r>
          </a:p>
        </p:txBody>
      </p:sp>
    </p:spTree>
    <p:extLst>
      <p:ext uri="{BB962C8B-B14F-4D97-AF65-F5344CB8AC3E}">
        <p14:creationId xmlns:p14="http://schemas.microsoft.com/office/powerpoint/2010/main" val="29939505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44576" y="274639"/>
            <a:ext cx="8151813" cy="5492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en-US" sz="2800">
                <a:latin typeface="Arial Unicode MS" panose="020B0604020202020204" pitchFamily="34" charset="-128"/>
              </a:rPr>
              <a:t>Further reading (2)</a:t>
            </a:r>
            <a:endParaRPr lang="en-US" altLang="en-US" sz="2800">
              <a:latin typeface="Arial Unicode MS" panose="020B0604020202020204" pitchFamily="34" charset="-128"/>
            </a:endParaRPr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28700" y="900113"/>
            <a:ext cx="8229600" cy="55610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r>
              <a:rPr lang="en-US" altLang="en-US" sz="1600">
                <a:latin typeface="Arial Unicode MS" panose="020B0604020202020204" pitchFamily="34" charset="-128"/>
              </a:rPr>
              <a:t>Collins M., Singer Y.  Unsupervised models for named entity classification</a:t>
            </a:r>
            <a:br>
              <a:rPr lang="en-US" altLang="en-US" sz="1600">
                <a:latin typeface="Arial Unicode MS" panose="020B0604020202020204" pitchFamily="34" charset="-128"/>
              </a:rPr>
            </a:br>
            <a:r>
              <a:rPr lang="en-US" altLang="en-US" sz="1600">
                <a:latin typeface="Arial Unicode MS" panose="020B0604020202020204" pitchFamily="34" charset="-128"/>
              </a:rPr>
              <a:t>In Proceedings of the Joint SIGDAT Conference on Empirical Methods in Natural Language Processing and Very Large Corpora, 1999</a:t>
            </a:r>
          </a:p>
          <a:p>
            <a:pPr>
              <a:lnSpc>
                <a:spcPct val="80000"/>
              </a:lnSpc>
            </a:pPr>
            <a:r>
              <a:rPr lang="en-US" altLang="en-US" sz="1600">
                <a:latin typeface="Arial Unicode MS" panose="020B0604020202020204" pitchFamily="34" charset="-128"/>
              </a:rPr>
              <a:t>Collins M. Ranking Algorithms for Named-Entity Extraction: Boosting and the Voted Perceptron. Proceedings of the 40th Annual Meeting of the ACL, Philadelphia, pp. 489-496, July 2002 Gotoh Y., Renals S. Information extraction from broadcast news, Philosophical Transactions of the Royal Society of London, series A: Mathematical, Physical and Engineering Sciences, 2000.</a:t>
            </a:r>
          </a:p>
          <a:p>
            <a:pPr>
              <a:lnSpc>
                <a:spcPct val="80000"/>
              </a:lnSpc>
            </a:pPr>
            <a:r>
              <a:rPr lang="en-US" altLang="en-US" sz="1600">
                <a:latin typeface="Arial Unicode MS" panose="020B0604020202020204" pitchFamily="34" charset="-128"/>
              </a:rPr>
              <a:t>Grishman R. The NYU System for MUC-6 or Where's the Syntax? Proceedings of the MUC-6 workshop, Washington. November 1995.</a:t>
            </a:r>
          </a:p>
          <a:p>
            <a:pPr>
              <a:lnSpc>
                <a:spcPct val="80000"/>
              </a:lnSpc>
            </a:pPr>
            <a:r>
              <a:rPr lang="en-US" altLang="en-US" sz="1600">
                <a:latin typeface="Arial Unicode MS" panose="020B0604020202020204" pitchFamily="34" charset="-128"/>
              </a:rPr>
              <a:t>[Ign03a] C. Ignat and B. Pouliquen and A. Ribeiro and R. Steinberger. Extending and Information Extraction Tool Set to Eastern-European Languages. Proceedings of Workshop on Information Extraction for Slavonic and other Central and Eastern European Languages (IESL'03). 2003.</a:t>
            </a:r>
          </a:p>
          <a:p>
            <a:pPr>
              <a:lnSpc>
                <a:spcPct val="80000"/>
              </a:lnSpc>
            </a:pPr>
            <a:r>
              <a:rPr lang="en-US" altLang="en-US" sz="1600">
                <a:latin typeface="Arial Unicode MS" panose="020B0604020202020204" pitchFamily="34" charset="-128"/>
              </a:rPr>
              <a:t>Krupka G. R., Hausman K. IsoQuest Inc.: Description of the NetOwlTM Extractor System as Used for MUC-7. Proceedings of 7th Message Understanding Conference, Fairfax, VA, 19 April - 1 May, 1998.</a:t>
            </a:r>
          </a:p>
          <a:p>
            <a:pPr>
              <a:lnSpc>
                <a:spcPct val="80000"/>
              </a:lnSpc>
            </a:pPr>
            <a:r>
              <a:rPr lang="en-US" altLang="en-US" sz="1600">
                <a:latin typeface="Arial Unicode MS" panose="020B0604020202020204" pitchFamily="34" charset="-128"/>
              </a:rPr>
              <a:t>McDonald D. Internal and External Evidence in the Identification and Semantic Categorization of Proper Names. In B.Boguraev and J. Pustejovsky editors: Corpus Processing for Lexical Acquisition. Pages21-39. MIT Press. Cambridge, MA. 1996</a:t>
            </a:r>
          </a:p>
          <a:p>
            <a:pPr>
              <a:lnSpc>
                <a:spcPct val="80000"/>
              </a:lnSpc>
            </a:pPr>
            <a:r>
              <a:rPr lang="en-US" altLang="en-US" sz="1600">
                <a:latin typeface="Arial Unicode MS" panose="020B0604020202020204" pitchFamily="34" charset="-128"/>
              </a:rPr>
              <a:t>Mikheev A., Grover C. and Moens M. Description of the LTG System Used for MUC-7. Proceedings of 7th Message Understanding Conference, Fairfax, VA, 19 April - 1 May, 1998</a:t>
            </a:r>
          </a:p>
          <a:p>
            <a:pPr>
              <a:lnSpc>
                <a:spcPct val="80000"/>
              </a:lnSpc>
            </a:pPr>
            <a:r>
              <a:rPr lang="en-US" altLang="en-US" sz="1600">
                <a:latin typeface="Arial Unicode MS" panose="020B0604020202020204" pitchFamily="34" charset="-128"/>
              </a:rPr>
              <a:t>Miller S., Crystal M., et al. BBN: Description of the SIFT System as Used for MUC-7. Proceedings of 7th Message Understanding Conference, Fairfax, VA, 19 April - 1 May, 1998</a:t>
            </a:r>
          </a:p>
        </p:txBody>
      </p:sp>
    </p:spTree>
    <p:extLst>
      <p:ext uri="{BB962C8B-B14F-4D97-AF65-F5344CB8AC3E}">
        <p14:creationId xmlns:p14="http://schemas.microsoft.com/office/powerpoint/2010/main" val="23971001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20776" y="274639"/>
            <a:ext cx="8137525" cy="7000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en-US" sz="2800">
                <a:latin typeface="Arial Unicode MS" panose="020B0604020202020204" pitchFamily="34" charset="-128"/>
              </a:rPr>
              <a:t>Further reading (3)</a:t>
            </a:r>
            <a:endParaRPr lang="en-US" altLang="en-US" sz="2800">
              <a:latin typeface="Arial Unicode MS" panose="020B0604020202020204" pitchFamily="34" charset="-128"/>
            </a:endParaRPr>
          </a:p>
        </p:txBody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90613" y="854076"/>
            <a:ext cx="8153400" cy="5622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r>
              <a:rPr lang="en-US" altLang="en-US" sz="1800">
                <a:latin typeface="Arial Unicode MS" panose="020B0604020202020204" pitchFamily="34" charset="-128"/>
              </a:rPr>
              <a:t>Palmer D., Day D.S. A Statistical Profile of the Named Entity Task. Proceedings of the Fifth Conference on Applied Natural Language Processing, Washington, D.C., March 31- April 3, 1997.</a:t>
            </a:r>
            <a:r>
              <a:rPr lang="en-US" altLang="en-US" sz="2000">
                <a:latin typeface="Arial Unicode MS" panose="020B0604020202020204" pitchFamily="34" charset="-128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1800">
                <a:latin typeface="Arial Unicode MS" panose="020B0604020202020204" pitchFamily="34" charset="-128"/>
              </a:rPr>
              <a:t>Sekine S., Grishman R. and Shinou H. A decision tree method for finding and classifying names in Japanese texts. Proceedings of the Sixth Workshop on Very Large Corpora, Montreal, Canada, 1998</a:t>
            </a:r>
          </a:p>
          <a:p>
            <a:pPr>
              <a:lnSpc>
                <a:spcPct val="80000"/>
              </a:lnSpc>
            </a:pPr>
            <a:r>
              <a:rPr lang="en-US" altLang="en-US" sz="1800">
                <a:latin typeface="Arial Unicode MS" panose="020B0604020202020204" pitchFamily="34" charset="-128"/>
              </a:rPr>
              <a:t>Sun J., Gao J.F., Zhang L., Zhou M., Huang C.N. Chinese Named Entity Identification Using Class-based Language Model. In proceeding of the 19th International Conference on Computational Linguistics (COLING2002), pp.967-973, 2002.</a:t>
            </a:r>
          </a:p>
          <a:p>
            <a:pPr>
              <a:lnSpc>
                <a:spcPct val="80000"/>
              </a:lnSpc>
            </a:pPr>
            <a:r>
              <a:rPr lang="en-US" altLang="en-US" sz="1800">
                <a:latin typeface="Arial Unicode MS" panose="020B0604020202020204" pitchFamily="34" charset="-128"/>
              </a:rPr>
              <a:t>Takeuchi K., Collier N. Use of Support Vector Machines in Extended Named Entity Recognition. The 6th Conference on Natural Language Learning. 2002</a:t>
            </a:r>
            <a:r>
              <a:rPr lang="en-US" altLang="en-US" sz="1800"/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1800">
                <a:latin typeface="Arial Unicode MS" panose="020B0604020202020204" pitchFamily="34" charset="-128"/>
              </a:rPr>
              <a:t>D.Maynard, K. Bontcheva and H. Cunningham. Towards a semantic extraction of named entities. </a:t>
            </a:r>
            <a:r>
              <a:rPr lang="en-US" altLang="en-US" sz="1800" i="1">
                <a:latin typeface="Arial Unicode MS" panose="020B0604020202020204" pitchFamily="34" charset="-128"/>
              </a:rPr>
              <a:t>Recent Advances in Natural Language Processing</a:t>
            </a:r>
            <a:r>
              <a:rPr lang="en-US" altLang="en-US" sz="1800">
                <a:latin typeface="Arial Unicode MS" panose="020B0604020202020204" pitchFamily="34" charset="-128"/>
              </a:rPr>
              <a:t>, Bulgaria, 2003. </a:t>
            </a:r>
          </a:p>
          <a:p>
            <a:pPr>
              <a:lnSpc>
                <a:spcPct val="80000"/>
              </a:lnSpc>
            </a:pPr>
            <a:r>
              <a:rPr lang="en-US" altLang="en-US" sz="1800">
                <a:latin typeface="Arial Unicode MS" panose="020B0604020202020204" pitchFamily="34" charset="-128"/>
              </a:rPr>
              <a:t>M. M. Wood and S. J. Lydon and V. Tablan and D. Maynard and H. Cunningham. Using parallel texts to improve recall in IE. </a:t>
            </a:r>
            <a:r>
              <a:rPr lang="en-US" altLang="en-US" sz="1800" i="1">
                <a:latin typeface="Arial Unicode MS" panose="020B0604020202020204" pitchFamily="34" charset="-128"/>
              </a:rPr>
              <a:t>Recent Advances in Natural Language Processing</a:t>
            </a:r>
            <a:r>
              <a:rPr lang="en-US" altLang="en-US" sz="1800">
                <a:latin typeface="Arial Unicode MS" panose="020B0604020202020204" pitchFamily="34" charset="-128"/>
              </a:rPr>
              <a:t>, Bulgaria, 2003. </a:t>
            </a:r>
            <a:endParaRPr lang="en-GB" altLang="en-US" sz="1800">
              <a:latin typeface="Arial Unicode MS" panose="020B0604020202020204" pitchFamily="34" charset="-128"/>
            </a:endParaRPr>
          </a:p>
          <a:p>
            <a:pPr>
              <a:lnSpc>
                <a:spcPct val="80000"/>
              </a:lnSpc>
            </a:pPr>
            <a:r>
              <a:rPr lang="en-GB" altLang="en-US" sz="1800">
                <a:latin typeface="Arial Unicode MS" panose="020B0604020202020204" pitchFamily="34" charset="-128"/>
              </a:rPr>
              <a:t>D.Maynard, V. Tablan and H. Cunningham. NE recognition without training data on a language you don't speak. </a:t>
            </a:r>
            <a:r>
              <a:rPr lang="en-GB" altLang="en-US" sz="1800" i="1">
                <a:latin typeface="Arial Unicode MS" panose="020B0604020202020204" pitchFamily="34" charset="-128"/>
              </a:rPr>
              <a:t>ACL Workshop on Multilingual and Mixed-language Named Entity Recognition: Combining Statistical and Symbolic Models</a:t>
            </a:r>
            <a:r>
              <a:rPr lang="en-GB" altLang="en-US" sz="1800">
                <a:latin typeface="Arial Unicode MS" panose="020B0604020202020204" pitchFamily="34" charset="-128"/>
              </a:rPr>
              <a:t>, Sapporo, Japan, 2003.</a:t>
            </a:r>
            <a:r>
              <a:rPr lang="en-US" altLang="en-US" sz="1800">
                <a:latin typeface="Arial Unicode MS" panose="020B0604020202020204" pitchFamily="34" charset="-128"/>
              </a:rPr>
              <a:t> </a:t>
            </a:r>
            <a:endParaRPr lang="en-US" altLang="en-US" sz="2000">
              <a:latin typeface="Arial Unicode MS" panose="020B0604020202020204" pitchFamily="34" charset="-128"/>
            </a:endParaRPr>
          </a:p>
          <a:p>
            <a:pPr>
              <a:lnSpc>
                <a:spcPct val="80000"/>
              </a:lnSpc>
            </a:pPr>
            <a:endParaRPr lang="en-US" altLang="en-US" sz="1800">
              <a:latin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03709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28700" y="274638"/>
            <a:ext cx="82296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en-US" sz="2800">
                <a:latin typeface="Arial Unicode MS" panose="020B0604020202020204" pitchFamily="34" charset="-128"/>
              </a:rPr>
              <a:t>Further reading (4)</a:t>
            </a:r>
            <a:endParaRPr lang="en-US" altLang="en-US" sz="2800">
              <a:latin typeface="Arial Unicode MS" panose="020B0604020202020204" pitchFamily="34" charset="-128"/>
            </a:endParaRP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4250" y="1019176"/>
            <a:ext cx="8534400" cy="5319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r>
              <a:rPr lang="en-GB" altLang="en-US" sz="1800">
                <a:latin typeface="Arial Unicode MS" panose="020B0604020202020204" pitchFamily="34" charset="-128"/>
              </a:rPr>
              <a:t>H. Saggion, H. Cunningham, K. Bontcheva, D. Maynard, O. Hamza, Y. Wilks. Multimedia Indexing through Multisource and Multilingual Information Extraction; the MUMIS project. </a:t>
            </a:r>
            <a:r>
              <a:rPr lang="en-GB" altLang="en-US" sz="1800" i="1">
                <a:latin typeface="Arial Unicode MS" panose="020B0604020202020204" pitchFamily="34" charset="-128"/>
              </a:rPr>
              <a:t>Data and Knowledge Engineering</a:t>
            </a:r>
            <a:r>
              <a:rPr lang="en-GB" altLang="en-US" sz="1800">
                <a:latin typeface="Arial Unicode MS" panose="020B0604020202020204" pitchFamily="34" charset="-128"/>
              </a:rPr>
              <a:t>, 2003. </a:t>
            </a:r>
          </a:p>
          <a:p>
            <a:pPr>
              <a:lnSpc>
                <a:spcPct val="80000"/>
              </a:lnSpc>
            </a:pPr>
            <a:r>
              <a:rPr lang="en-GB" altLang="en-US" sz="1800">
                <a:latin typeface="Arial Unicode MS" panose="020B0604020202020204" pitchFamily="34" charset="-128"/>
              </a:rPr>
              <a:t>D. Manov and A. Kiryakov and B. Popov and K. Bontcheva and D. Maynard, H. Cunningham. Experiments with geographic knowledge for information extraction. </a:t>
            </a:r>
            <a:r>
              <a:rPr lang="en-GB" altLang="en-US" sz="1800" i="1">
                <a:latin typeface="Arial Unicode MS" panose="020B0604020202020204" pitchFamily="34" charset="-128"/>
              </a:rPr>
              <a:t>Workshop on Analysis of Geographic References, HLT/NAACL'03</a:t>
            </a:r>
            <a:r>
              <a:rPr lang="en-GB" altLang="en-US" sz="1800">
                <a:latin typeface="Arial Unicode MS" panose="020B0604020202020204" pitchFamily="34" charset="-128"/>
              </a:rPr>
              <a:t>, Canada, 2003.</a:t>
            </a:r>
            <a:r>
              <a:rPr lang="en-US" altLang="en-US" sz="1800">
                <a:latin typeface="Arial Unicode MS" panose="020B0604020202020204" pitchFamily="34" charset="-128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GB" altLang="en-US" sz="1800">
                <a:latin typeface="Arial Unicode MS" panose="020B0604020202020204" pitchFamily="34" charset="-128"/>
              </a:rPr>
              <a:t>H. Cunningham, D. Maynard, K. Bontcheva, V. Tablan. GATE: A Framework and Graphical Development Environment for Robust NLP Tools and Applications. </a:t>
            </a:r>
            <a:r>
              <a:rPr lang="en-GB" altLang="en-US" sz="1800" i="1">
                <a:latin typeface="Arial Unicode MS" panose="020B0604020202020204" pitchFamily="34" charset="-128"/>
              </a:rPr>
              <a:t>Proceedings of the 40th Anniversary Meeting of the Association for Computational Linguistics (ACL'02)</a:t>
            </a:r>
            <a:r>
              <a:rPr lang="en-GB" altLang="en-US" sz="1800">
                <a:latin typeface="Arial Unicode MS" panose="020B0604020202020204" pitchFamily="34" charset="-128"/>
              </a:rPr>
              <a:t>. Philadelphia, July 2002.</a:t>
            </a:r>
            <a:r>
              <a:rPr lang="en-US" altLang="en-US" sz="1800">
                <a:latin typeface="Arial Unicode MS" panose="020B0604020202020204" pitchFamily="34" charset="-128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1800">
                <a:latin typeface="Arial Unicode MS" panose="020B0604020202020204" pitchFamily="34" charset="-128"/>
              </a:rPr>
              <a:t>H. Cunningham. GATE, a General Architecture for Text Engineering. </a:t>
            </a:r>
            <a:r>
              <a:rPr lang="en-US" altLang="en-US" sz="1800" i="1">
                <a:latin typeface="Arial Unicode MS" panose="020B0604020202020204" pitchFamily="34" charset="-128"/>
              </a:rPr>
              <a:t>Computers and the Humanities</a:t>
            </a:r>
            <a:r>
              <a:rPr lang="en-US" altLang="en-US" sz="1800">
                <a:latin typeface="Arial Unicode MS" panose="020B0604020202020204" pitchFamily="34" charset="-128"/>
              </a:rPr>
              <a:t>, volume 36, pp. 223-254, 2002. </a:t>
            </a:r>
          </a:p>
          <a:p>
            <a:pPr>
              <a:lnSpc>
                <a:spcPct val="80000"/>
              </a:lnSpc>
            </a:pPr>
            <a:r>
              <a:rPr lang="en-GB" altLang="en-US" sz="1800">
                <a:latin typeface="Arial Unicode MS" panose="020B0604020202020204" pitchFamily="34" charset="-128"/>
              </a:rPr>
              <a:t>D. Maynard, H. Cunningham, K. Bontcheva, M. Dimitrov. Adapting A Robust Multi-Genre NE System for Automatic Content Extraction. </a:t>
            </a:r>
            <a:r>
              <a:rPr lang="en-GB" altLang="en-US" sz="1800" i="1">
                <a:latin typeface="Arial Unicode MS" panose="020B0604020202020204" pitchFamily="34" charset="-128"/>
              </a:rPr>
              <a:t>Proc. of the 10th International Conference on Artificial Intelligence: Methodology, Systems, Applications (AIMSA 2002)</a:t>
            </a:r>
            <a:r>
              <a:rPr lang="en-GB" altLang="en-US" sz="1800">
                <a:latin typeface="Arial Unicode MS" panose="020B0604020202020204" pitchFamily="34" charset="-128"/>
              </a:rPr>
              <a:t>, 2002.</a:t>
            </a:r>
            <a:r>
              <a:rPr lang="en-US" altLang="en-US" sz="1800">
                <a:latin typeface="Arial Unicode MS" panose="020B0604020202020204" pitchFamily="34" charset="-128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GB" altLang="en-US" sz="1800">
                <a:latin typeface="Arial Unicode MS" panose="020B0604020202020204" pitchFamily="34" charset="-128"/>
              </a:rPr>
              <a:t>E. Paskaleva and G. Angelova and M.Yankova and K. Bontcheva and H. Cunningham and Y. Wilks. Slavonic Named Entities in GATE. 2003.  CS-02-01.</a:t>
            </a:r>
            <a:r>
              <a:rPr lang="en-US" altLang="en-US" sz="1800">
                <a:latin typeface="Arial Unicode MS" panose="020B0604020202020204" pitchFamily="34" charset="-128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GB" altLang="en-US" sz="1800">
                <a:latin typeface="Arial Unicode MS" panose="020B0604020202020204" pitchFamily="34" charset="-128"/>
              </a:rPr>
              <a:t>K. Pastra, D. Maynard, H. Cunningham, O. Hamza, Y. Wilks. How feasible is the reuse of grammars for Named Entity Recognition? </a:t>
            </a:r>
            <a:r>
              <a:rPr lang="en-GB" altLang="en-US" sz="1800" i="1">
                <a:latin typeface="Arial Unicode MS" panose="020B0604020202020204" pitchFamily="34" charset="-128"/>
              </a:rPr>
              <a:t>Language Resources and Evaluation Conference</a:t>
            </a:r>
            <a:r>
              <a:rPr lang="en-GB" altLang="en-US" sz="1800">
                <a:latin typeface="Arial Unicode MS" panose="020B0604020202020204" pitchFamily="34" charset="-128"/>
              </a:rPr>
              <a:t> (LREC'2002), 2002.</a:t>
            </a:r>
            <a:r>
              <a:rPr lang="en-GB" altLang="en-US" sz="1700">
                <a:latin typeface="Arial Unicode MS" panose="020B0604020202020204" pitchFamily="34" charset="-128"/>
              </a:rPr>
              <a:t> </a:t>
            </a:r>
            <a:endParaRPr lang="en-US" altLang="en-US" sz="1700">
              <a:latin typeface="Arial Unicode MS" panose="020B0604020202020204" pitchFamily="34" charset="-128"/>
            </a:endParaRPr>
          </a:p>
          <a:p>
            <a:pPr>
              <a:lnSpc>
                <a:spcPct val="80000"/>
              </a:lnSpc>
            </a:pPr>
            <a:endParaRPr lang="en-US" altLang="en-US" sz="1700">
              <a:latin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15423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34900</TotalTime>
  <Words>3184</Words>
  <Application>Microsoft Office PowerPoint</Application>
  <PresentationFormat>35mm Slides</PresentationFormat>
  <Paragraphs>263</Paragraphs>
  <Slides>46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Andalus</vt:lpstr>
      <vt:lpstr>Arial</vt:lpstr>
      <vt:lpstr>Arial Unicode MS</vt:lpstr>
      <vt:lpstr>Minion</vt:lpstr>
      <vt:lpstr>Times New Roman</vt:lpstr>
      <vt:lpstr>Verdana</vt:lpstr>
      <vt:lpstr>Wingdings</vt:lpstr>
      <vt:lpstr>Default Design</vt:lpstr>
      <vt:lpstr>Photo Editor Photo</vt:lpstr>
      <vt:lpstr>PowerPoint Presentation</vt:lpstr>
      <vt:lpstr>PowerPoint Presentation</vt:lpstr>
      <vt:lpstr>Named Entity Recognition</vt:lpstr>
      <vt:lpstr>What are Named Entities?</vt:lpstr>
      <vt:lpstr>What are NOT NEs?</vt:lpstr>
      <vt:lpstr>PowerPoint Presentation</vt:lpstr>
      <vt:lpstr>Problems in NE Task Definition</vt:lpstr>
      <vt:lpstr>(first cut) Solutions</vt:lpstr>
      <vt:lpstr>Basic Problems in NE</vt:lpstr>
      <vt:lpstr>PowerPoint Presentation</vt:lpstr>
      <vt:lpstr>Applications</vt:lpstr>
      <vt:lpstr>Application Example - KIM</vt:lpstr>
      <vt:lpstr>Application Example - KIM</vt:lpstr>
      <vt:lpstr>Application Example - Perseus</vt:lpstr>
      <vt:lpstr>PowerPoint Presentation</vt:lpstr>
      <vt:lpstr>The Evaluation Metric</vt:lpstr>
      <vt:lpstr>Corpora and System Development</vt:lpstr>
      <vt:lpstr>NE Annotation Tools - Alembic</vt:lpstr>
      <vt:lpstr>NE Annotation Tools – Alembic (2)</vt:lpstr>
      <vt:lpstr>NE Annotation Tools - GATE</vt:lpstr>
      <vt:lpstr>Some NE Annotated Corpora</vt:lpstr>
      <vt:lpstr>PowerPoint Presentation</vt:lpstr>
      <vt:lpstr>Pre-processing for NE Recognition</vt:lpstr>
      <vt:lpstr>Two kinds of NE Approaches</vt:lpstr>
      <vt:lpstr>PowerPoint Presentation</vt:lpstr>
      <vt:lpstr>List Lookup Approach</vt:lpstr>
      <vt:lpstr>Creating Gazetteer Lists</vt:lpstr>
      <vt:lpstr>PowerPoint Presentation</vt:lpstr>
      <vt:lpstr>Shallow Parsing Approach (Internal Structure)</vt:lpstr>
      <vt:lpstr>Problems with the Shallow Parsing Approach</vt:lpstr>
      <vt:lpstr>PowerPoint Presentation</vt:lpstr>
      <vt:lpstr>Shallow Parsing Approach with Context</vt:lpstr>
      <vt:lpstr>Examples of Context Patterns</vt:lpstr>
      <vt:lpstr>Identification of Contextual Information</vt:lpstr>
      <vt:lpstr>Gazetteer Lists + Rule-based NE</vt:lpstr>
      <vt:lpstr>PowerPoint Presentation</vt:lpstr>
      <vt:lpstr>Learning Based Models</vt:lpstr>
      <vt:lpstr>Machine Learning Approaches</vt:lpstr>
      <vt:lpstr>Graphical comparison: HMMs, MEMMs, CRFs</vt:lpstr>
      <vt:lpstr>MEMM vs. HMM</vt:lpstr>
      <vt:lpstr>MEMM vs. CRF</vt:lpstr>
      <vt:lpstr>Take-aways</vt:lpstr>
      <vt:lpstr>Further Reading</vt:lpstr>
      <vt:lpstr>Further reading (2)</vt:lpstr>
      <vt:lpstr>Further reading (3)</vt:lpstr>
      <vt:lpstr>Further reading (4)</vt:lpstr>
    </vt:vector>
  </TitlesOfParts>
  <Company>Prithvi Information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Sridhar Pappu</dc:creator>
  <cp:lastModifiedBy>Manish Gupta (BING-IDC)</cp:lastModifiedBy>
  <cp:revision>1720</cp:revision>
  <dcterms:created xsi:type="dcterms:W3CDTF">2008-10-30T05:46:58Z</dcterms:created>
  <dcterms:modified xsi:type="dcterms:W3CDTF">2021-03-14T19:47:36Z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gmanish@microsoft.com</vt:lpwstr>
  </property>
  <property fmtid="{D5CDD505-2E9C-101B-9397-08002B2CF9AE}" pid="5" name="MSIP_Label_f42aa342-8706-4288-bd11-ebb85995028c_SetDate">
    <vt:lpwstr>2018-09-26T08:50:19.8574811Z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