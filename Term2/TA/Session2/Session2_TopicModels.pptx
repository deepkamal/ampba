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62" r:id="rId3"/>
    <p:sldId id="465" r:id="rId4"/>
    <p:sldId id="466" r:id="rId5"/>
    <p:sldId id="467" r:id="rId6"/>
    <p:sldId id="513" r:id="rId7"/>
    <p:sldId id="726" r:id="rId8"/>
    <p:sldId id="727" r:id="rId9"/>
    <p:sldId id="472" r:id="rId10"/>
    <p:sldId id="728" r:id="rId11"/>
    <p:sldId id="308" r:id="rId12"/>
    <p:sldId id="681" r:id="rId13"/>
    <p:sldId id="683" r:id="rId14"/>
    <p:sldId id="685" r:id="rId15"/>
    <p:sldId id="616" r:id="rId16"/>
    <p:sldId id="630" r:id="rId17"/>
    <p:sldId id="732" r:id="rId18"/>
    <p:sldId id="739" r:id="rId19"/>
    <p:sldId id="385" r:id="rId20"/>
    <p:sldId id="405" r:id="rId21"/>
    <p:sldId id="734" r:id="rId22"/>
    <p:sldId id="409" r:id="rId23"/>
    <p:sldId id="656" r:id="rId24"/>
    <p:sldId id="735" r:id="rId25"/>
    <p:sldId id="410" r:id="rId26"/>
    <p:sldId id="412" r:id="rId27"/>
    <p:sldId id="736" r:id="rId28"/>
    <p:sldId id="414" r:id="rId29"/>
    <p:sldId id="486" r:id="rId30"/>
    <p:sldId id="560" r:id="rId31"/>
    <p:sldId id="740" r:id="rId32"/>
    <p:sldId id="737" r:id="rId33"/>
    <p:sldId id="561" r:id="rId34"/>
    <p:sldId id="738" r:id="rId35"/>
    <p:sldId id="599" r:id="rId36"/>
    <p:sldId id="655" r:id="rId3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0B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86796" autoAdjust="0"/>
  </p:normalViewPr>
  <p:slideViewPr>
    <p:cSldViewPr>
      <p:cViewPr varScale="1">
        <p:scale>
          <a:sx n="101" d="100"/>
          <a:sy n="101" d="100"/>
        </p:scale>
        <p:origin x="282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34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898" y="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52A285F-CD55-4613-8279-D7D20A32147B}" type="datetimeFigureOut">
              <a:rPr lang="en-US" smtClean="0"/>
              <a:t>Thu-18-Mar-21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3DD7B00-CC92-44F3-B5F1-FF30A1F3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415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BD67FA4-4B8E-4962-BC4F-01AF972A6F53}" type="datetimeFigureOut">
              <a:rPr lang="en-US" smtClean="0"/>
              <a:t>Thu-18-Mar-21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570A28F-C7BF-400B-AC21-D5A873D04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4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A28F-C7BF-400B-AC21-D5A873D048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1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42F01-8087-46A3-A267-91D50A9C0BE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00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42F01-8087-46A3-A267-91D50A9C0B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30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42F01-8087-46A3-A267-91D50A9C0B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36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648293-2628-4091-BED1-7FD9F753578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9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A28F-C7BF-400B-AC21-D5A873D048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73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04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296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D06D94D-A19A-4310-BA08-F317277EF53B}" type="slidenum">
              <a:rPr lang="en-US"/>
              <a:pPr/>
              <a:t>26</a:t>
            </a:fld>
            <a:endParaRPr lang="en-US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54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5A41D1A-1761-4F5D-B942-6A4EFE05CAAE}" type="slidenum">
              <a:rPr lang="en-US"/>
              <a:pPr/>
              <a:t>28</a:t>
            </a:fld>
            <a:endParaRPr lang="en-US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05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F0B4600-2D17-41E1-9ECA-160D68521C93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001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9746483-6CD8-4AC5-AE74-C47B599757CA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276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D5C474-4230-4742-8879-996C73AA5470}" type="slidenum">
              <a:rPr lang="en-US" sz="1200" smtClean="0"/>
              <a:pPr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12192000" cy="11430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D5C474-4230-4742-8879-996C73AA5470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128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878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59C1-8B0B-481B-9917-D821E9B9902F}" type="datetime8">
              <a:rPr lang="en-US" smtClean="0"/>
              <a:t>Thu-18-Mar-21 9:14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A95AB-7B14-4CE2-8EF6-8DDF97F0F3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knight.cis.temple.edu/~yates/cis8538/sp11/slides/intro-to-lsa-lda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cse.ust.hk/~lzhang/teach/6931a/slides/lda-zhou.pdf" TargetMode="External"/><Relationship Id="rId5" Type="http://schemas.openxmlformats.org/officeDocument/2006/relationships/hyperlink" Target="http://mallet.cs.umass.edu/mallet-tutorial.pdf" TargetMode="External"/><Relationship Id="rId4" Type="http://schemas.openxmlformats.org/officeDocument/2006/relationships/hyperlink" Target="http://home.etf.rs/~vm/tutorial/Coimbra/slides/3_Jelisavcic.pptx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38880"/>
            <a:ext cx="82296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Topic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6576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Manish Gupta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658895"/>
            <a:ext cx="8229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Slides borrowed (and modified) from</a:t>
            </a:r>
          </a:p>
          <a:p>
            <a:r>
              <a:rPr lang="en-US" sz="1400" dirty="0">
                <a:hlinkClick r:id="rId3"/>
              </a:rPr>
              <a:t>http://knight.cis.temple.edu/~yates/cis8538/sp11/slides/intro-to-lsa-lda.ppt</a:t>
            </a:r>
            <a:endParaRPr lang="en-US" sz="1400" dirty="0"/>
          </a:p>
          <a:p>
            <a:r>
              <a:rPr lang="en-US" sz="1400" dirty="0">
                <a:hlinkClick r:id="rId4"/>
              </a:rPr>
              <a:t>http://home.etf.rs/~vm/tutorial/Coimbra/</a:t>
            </a:r>
            <a:r>
              <a:rPr lang="en-US" sz="1400" b="1" dirty="0">
                <a:hlinkClick r:id="rId4"/>
              </a:rPr>
              <a:t>slides</a:t>
            </a:r>
            <a:r>
              <a:rPr lang="en-US" sz="1400" dirty="0">
                <a:hlinkClick r:id="rId4"/>
              </a:rPr>
              <a:t>/3_Jelisavcic.pptx</a:t>
            </a:r>
            <a:endParaRPr lang="en-US" sz="1400" dirty="0"/>
          </a:p>
          <a:p>
            <a:r>
              <a:rPr lang="en-US" sz="1400" dirty="0">
                <a:hlinkClick r:id="rId5"/>
              </a:rPr>
              <a:t>http://mallet.cs.umass.edu/mallet-tutorial.pdf</a:t>
            </a:r>
            <a:endParaRPr lang="en-US" sz="1400" dirty="0"/>
          </a:p>
          <a:p>
            <a:r>
              <a:rPr lang="en-US" sz="1400" dirty="0">
                <a:hlinkClick r:id="rId6"/>
              </a:rPr>
              <a:t>http://www.cse.ust.hk/~lzhang/teach/6931a/slides/lda-zhou.pdf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50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topic models? Why do you need them?</a:t>
            </a:r>
          </a:p>
        </p:txBody>
      </p:sp>
    </p:spTree>
    <p:extLst>
      <p:ext uri="{BB962C8B-B14F-4D97-AF65-F5344CB8AC3E}">
        <p14:creationId xmlns:p14="http://schemas.microsoft.com/office/powerpoint/2010/main" val="251125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Discover Topics from a Corpus 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657350" y="1600200"/>
            <a:ext cx="1409700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PRINTING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PAPER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TYPE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PROCESS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INK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PRESS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IMAGE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PRINTER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PRINTERS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COPY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COPIES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FORM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OFFSET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GRAPHIC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SURFACE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PRODUCED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CHARACTERS</a:t>
            </a:r>
          </a:p>
          <a:p>
            <a:pPr algn="ctr"/>
            <a:endParaRPr lang="en-US" sz="120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165475" y="1600200"/>
            <a:ext cx="1409700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PLAY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PLAYS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STAGE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AUDIENCE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THEATER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ACTORS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DRAMA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SHAKESPEARE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ACTOR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THEATRE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PLAYWRIGHT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PERFORMANCE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DRAMATIC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COSTUMES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COMEDY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TRAGEDY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CHARACTERS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SCENES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OPERA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PERFORMED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673600" y="1600200"/>
            <a:ext cx="1409700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TEAM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GAME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BASKETBALL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PLAYERS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PLAYER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PLAY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PLAYING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SOCCER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PLAYED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BALL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TEAMS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BASKET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FOOTBALL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SCORE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COURT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GAMES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TRY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COACH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GYM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Garamond" panose="02020404030301010803" pitchFamily="18" charset="0"/>
              </a:rPr>
              <a:t>SHOT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183313" y="1600200"/>
            <a:ext cx="1409700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JUDGE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TRIAL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COURT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CASE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JURY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ACCUSED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GUILTY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DEFENDANT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JUSTICE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EVIDENCE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WITNESSES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CRIME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LAWYER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WITNESS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ATTORNEY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HEARING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INNOCENT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DEFENSE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CHARGE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CRIMINAL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691438" y="1600200"/>
            <a:ext cx="1409700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HYPOTHESIS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EXPERIMENT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SCIENTIFIC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OBSERVATIONS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SCIENTISTS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EXPERIMENTS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SCIENTIST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EXPERIMENTAL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TEST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METHOD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HYPOTHESES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TESTED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EVIDENCE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BASED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OBSERVATION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SCIENCE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FACTS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DATA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RESULTS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EXPLANATION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9201151" y="1600200"/>
            <a:ext cx="1285875" cy="390525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tIns="137160" bIns="1371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STUDY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TEST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STUDYING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HOMEWORK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NEED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CLASS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MATH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TRY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TEACHER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WRITE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PLAN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ARITHMETIC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ASSIGNMENT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PLACE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STUDIED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CAREFULLY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DECIDE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IMPORTANT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NOTEBOOK</a:t>
            </a:r>
          </a:p>
          <a:p>
            <a:pPr algn="ctr"/>
            <a:r>
              <a:rPr lang="en-US" sz="1200">
                <a:solidFill>
                  <a:schemeClr val="bg2"/>
                </a:solidFill>
                <a:latin typeface="Garamond" panose="02020404030301010803" pitchFamily="18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5774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Connections between Topics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3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392927" y="1371601"/>
            <a:ext cx="7406146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2477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the Evolution of Topics over Time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3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333625" y="1443831"/>
            <a:ext cx="752475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36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Annotate Documents according to these Topics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7450" y="1691481"/>
            <a:ext cx="72771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847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Plate diagrams, unigram models, mixture of unigrams </a:t>
            </a:r>
          </a:p>
        </p:txBody>
      </p:sp>
    </p:spTree>
    <p:extLst>
      <p:ext uri="{BB962C8B-B14F-4D97-AF65-F5344CB8AC3E}">
        <p14:creationId xmlns:p14="http://schemas.microsoft.com/office/powerpoint/2010/main" val="322459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4C51-DB15-476A-87D3-8ED77397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Multinomial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5320-E169-482B-8622-C2DBAD2F31E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371601"/>
            <a:ext cx="10210800" cy="3124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Suppose one does an experiment of extracting n balls of k different colors from a bag, replacing the extracted ball after each draw.</a:t>
            </a:r>
          </a:p>
          <a:p>
            <a:r>
              <a:rPr lang="en-US" dirty="0"/>
              <a:t>Balls from the same color are equivalent. </a:t>
            </a:r>
          </a:p>
          <a:p>
            <a:r>
              <a:rPr lang="en-US" dirty="0"/>
              <a:t>Denote the variable which is the number of extracted balls of color i (i = 1, ..., k) as X</a:t>
            </a:r>
            <a:r>
              <a:rPr lang="en-US" baseline="-25000" dirty="0"/>
              <a:t>i</a:t>
            </a:r>
            <a:r>
              <a:rPr lang="en-US" dirty="0"/>
              <a:t>, and denote as p</a:t>
            </a:r>
            <a:r>
              <a:rPr lang="en-US" baseline="-25000" dirty="0"/>
              <a:t>i</a:t>
            </a:r>
            <a:r>
              <a:rPr lang="en-US" dirty="0"/>
              <a:t> the probability that a given extraction will be in color i. </a:t>
            </a:r>
          </a:p>
          <a:p>
            <a:r>
              <a:rPr lang="en-US" dirty="0"/>
              <a:t>The probability mass function of this multinomial distribution 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E933E-6CF8-43FD-99B5-F92F0A156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27083"/>
            <a:ext cx="8610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0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Unigram Model &amp; Mixture of Unigrams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3"/>
              </p:nvPr>
            </p:nvSpPr>
            <p:spPr>
              <a:xfrm>
                <a:off x="533400" y="1371600"/>
                <a:ext cx="6934200" cy="479370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Unigram model</a:t>
                </a:r>
              </a:p>
              <a:p>
                <a:pPr lvl="1"/>
                <a:r>
                  <a:rPr lang="en-US" altLang="zh-TW" dirty="0"/>
                  <a:t>Under the unigram model, the words of every document are drawn independently from a single multinomial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dirty="0"/>
              </a:p>
              <a:p>
                <a:r>
                  <a:rPr lang="en-US" altLang="zh-TW" dirty="0"/>
                  <a:t>Mixture of unigrams</a:t>
                </a:r>
              </a:p>
              <a:p>
                <a:pPr lvl="1"/>
                <a:r>
                  <a:rPr lang="en-US" altLang="zh-TW" dirty="0"/>
                  <a:t>Under this mixture model, each document is generated by first choosing a topic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TW" dirty="0"/>
                  <a:t> and then generating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dirty="0"/>
                  <a:t> words independently from the conditional multinomial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nary>
                      <m:naryPr>
                        <m:chr m:val="∏"/>
                        <m:limLoc m:val="subSup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dirty="0"/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533400" y="1371600"/>
                <a:ext cx="6934200" cy="4793704"/>
              </a:xfrm>
              <a:blipFill>
                <a:blip r:embed="rId2"/>
                <a:stretch>
                  <a:fillRect l="-1847" t="-2545" r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9954" y="2030512"/>
            <a:ext cx="1785950" cy="119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55088" y="5046105"/>
            <a:ext cx="2144574" cy="111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/>
          <p:cNvGrpSpPr/>
          <p:nvPr/>
        </p:nvGrpSpPr>
        <p:grpSpPr>
          <a:xfrm>
            <a:off x="8077200" y="3692620"/>
            <a:ext cx="2819400" cy="1257922"/>
            <a:chOff x="5168144" y="1009961"/>
            <a:chExt cx="3962400" cy="1600200"/>
          </a:xfrm>
        </p:grpSpPr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6920744" y="1009961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200" b="1" baseline="-25000"/>
                <a:t>Z</a:t>
              </a:r>
              <a:r>
                <a:rPr lang="en-US" sz="1200" b="1" baseline="-50000"/>
                <a:t>i</a:t>
              </a: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8749544" y="2229161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200"/>
                <a:t>w</a:t>
              </a:r>
              <a:r>
                <a:rPr lang="en-US" sz="1200" baseline="-25000"/>
                <a:t>4i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7555744" y="2229161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200" dirty="0"/>
                <a:t>w</a:t>
              </a:r>
              <a:r>
                <a:rPr lang="en-US" sz="1200" baseline="-25000" dirty="0"/>
                <a:t>3i</a:t>
              </a: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6361944" y="2229161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200"/>
                <a:t>w</a:t>
              </a:r>
              <a:r>
                <a:rPr lang="en-US" sz="1200" baseline="-25000"/>
                <a:t>2i</a:t>
              </a:r>
            </a:p>
          </p:txBody>
        </p:sp>
        <p:cxnSp>
          <p:nvCxnSpPr>
            <p:cNvPr id="15" name="AutoShape 14"/>
            <p:cNvCxnSpPr>
              <a:cxnSpLocks noChangeShapeType="1"/>
              <a:stCxn id="11" idx="4"/>
              <a:endCxn id="19" idx="0"/>
            </p:cNvCxnSpPr>
            <p:nvPr/>
          </p:nvCxnSpPr>
          <p:spPr bwMode="auto">
            <a:xfrm flipH="1">
              <a:off x="5358644" y="1390961"/>
              <a:ext cx="1752600" cy="838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15"/>
            <p:cNvCxnSpPr>
              <a:cxnSpLocks noChangeShapeType="1"/>
              <a:stCxn id="11" idx="4"/>
              <a:endCxn id="14" idx="0"/>
            </p:cNvCxnSpPr>
            <p:nvPr/>
          </p:nvCxnSpPr>
          <p:spPr bwMode="auto">
            <a:xfrm flipH="1">
              <a:off x="6552444" y="1390961"/>
              <a:ext cx="558800" cy="838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6"/>
            <p:cNvCxnSpPr>
              <a:cxnSpLocks noChangeShapeType="1"/>
              <a:stCxn id="11" idx="4"/>
              <a:endCxn id="13" idx="1"/>
            </p:cNvCxnSpPr>
            <p:nvPr/>
          </p:nvCxnSpPr>
          <p:spPr bwMode="auto">
            <a:xfrm>
              <a:off x="7111244" y="1390961"/>
              <a:ext cx="500063" cy="8937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7"/>
            <p:cNvCxnSpPr>
              <a:cxnSpLocks noChangeShapeType="1"/>
              <a:stCxn id="11" idx="4"/>
              <a:endCxn id="12" idx="1"/>
            </p:cNvCxnSpPr>
            <p:nvPr/>
          </p:nvCxnSpPr>
          <p:spPr bwMode="auto">
            <a:xfrm>
              <a:off x="7111244" y="1390961"/>
              <a:ext cx="1693863" cy="8937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5168144" y="2229161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200"/>
                <a:t>w</a:t>
              </a:r>
              <a:r>
                <a:rPr lang="en-US" sz="1200" baseline="-25000"/>
                <a:t>i1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1515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SVD and LSI/LSA</a:t>
            </a:r>
          </a:p>
        </p:txBody>
      </p:sp>
    </p:spTree>
    <p:extLst>
      <p:ext uri="{BB962C8B-B14F-4D97-AF65-F5344CB8AC3E}">
        <p14:creationId xmlns:p14="http://schemas.microsoft.com/office/powerpoint/2010/main" val="22470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Singular Value Decomposition (SVD)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Text Box 3"/>
              <p:cNvSpPr txBox="1">
                <a:spLocks noChangeArrowheads="1"/>
              </p:cNvSpPr>
              <p:nvPr/>
            </p:nvSpPr>
            <p:spPr bwMode="auto">
              <a:xfrm>
                <a:off x="1622779" y="3468588"/>
                <a:ext cx="9160932" cy="162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lnSpc>
                    <a:spcPct val="98000"/>
                  </a:lnSpc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1pPr>
                <a:lvl2pPr marL="742950" indent="-285750" eaLnBrk="0" hangingPunct="0">
                  <a:lnSpc>
                    <a:spcPct val="98000"/>
                  </a:lnSpc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2pPr>
                <a:lvl3pPr marL="1143000" indent="-228600" eaLnBrk="0" hangingPunct="0">
                  <a:lnSpc>
                    <a:spcPct val="98000"/>
                  </a:lnSpc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3pPr>
                <a:lvl4pPr marL="1600200" indent="-228600" eaLnBrk="0" hangingPunct="0">
                  <a:lnSpc>
                    <a:spcPct val="98000"/>
                  </a:lnSpc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4pPr>
                <a:lvl5pPr marL="2057400" indent="-228600" eaLnBrk="0" hangingPunct="0">
                  <a:lnSpc>
                    <a:spcPct val="98000"/>
                  </a:lnSpc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5pPr>
                <a:lvl6pPr marL="2514600" indent="-228600" defTabSz="457200" eaLnBrk="0" fontAlgn="base" hangingPunct="0">
                  <a:lnSpc>
                    <a:spcPct val="9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6pPr>
                <a:lvl7pPr marL="2971800" indent="-228600" defTabSz="457200" eaLnBrk="0" fontAlgn="base" hangingPunct="0">
                  <a:lnSpc>
                    <a:spcPct val="9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7pPr>
                <a:lvl8pPr marL="3429000" indent="-228600" defTabSz="457200" eaLnBrk="0" fontAlgn="base" hangingPunct="0">
                  <a:lnSpc>
                    <a:spcPct val="9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8pPr>
                <a:lvl9pPr marL="3886200" indent="-228600" defTabSz="457200" eaLnBrk="0" fontAlgn="base" hangingPunct="0">
                  <a:lnSpc>
                    <a:spcPct val="98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alibri" panose="020F0502020204030204" pitchFamily="34" charset="0"/>
                  <a:defRPr>
                    <a:solidFill>
                      <a:schemeClr val="bg1"/>
                    </a:solidFill>
                    <a:latin typeface="Calibri" panose="020F0502020204030204" pitchFamily="34" charset="0"/>
                    <a:ea typeface="DejaVu LGC Sans"/>
                    <a:cs typeface="DejaVu LGC Sans"/>
                  </a:defRPr>
                </a:lvl9pPr>
              </a:lstStyle>
              <a:p>
                <a:pPr eaLnBrk="1" hangingPunct="1"/>
                <a:r>
                  <a:rPr lang="en-US" sz="2133" b="1" dirty="0">
                    <a:solidFill>
                      <a:schemeClr val="accent2"/>
                    </a:solidFill>
                  </a:rPr>
                  <a:t>U (V)</a:t>
                </a:r>
                <a:r>
                  <a:rPr lang="en-US" sz="2133" dirty="0">
                    <a:solidFill>
                      <a:schemeClr val="tx1"/>
                    </a:solidFill>
                  </a:rPr>
                  <a:t>: orthogonal matrix containing the left (right) singular vectors of 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A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. </a:t>
                </a:r>
              </a:p>
              <a:p>
                <a:pPr eaLnBrk="1" hangingPunct="1"/>
                <a:r>
                  <a:rPr lang="en-US" sz="2133" b="1" dirty="0">
                    <a:solidFill>
                      <a:schemeClr val="tx1"/>
                    </a:solidFill>
                  </a:rPr>
                  <a:t>Left -&gt;</a:t>
                </a:r>
                <a:r>
                  <a:rPr lang="en-US" sz="2133" b="1" dirty="0" err="1">
                    <a:solidFill>
                      <a:schemeClr val="tx1"/>
                    </a:solidFill>
                  </a:rPr>
                  <a:t>eigs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sz="2133" b="1" dirty="0">
                    <a:solidFill>
                      <a:schemeClr val="tx1"/>
                    </a:solidFill>
                  </a:rPr>
                  <a:t>), Right -&gt; </a:t>
                </a:r>
                <a:r>
                  <a:rPr lang="en-US" sz="2133" b="1" dirty="0" err="1">
                    <a:solidFill>
                      <a:schemeClr val="tx1"/>
                    </a:solidFill>
                  </a:rPr>
                  <a:t>eigs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2133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133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133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eaLnBrk="1" hangingPunct="1"/>
                <a:r>
                  <a:rPr lang="en-US" sz="2133" b="1" dirty="0">
                    <a:solidFill>
                      <a:schemeClr val="accent2"/>
                    </a:solidFill>
                    <a:latin typeface="Symbol" panose="05050102010706020507" pitchFamily="18" charset="2"/>
                  </a:rPr>
                  <a:t>S</a:t>
                </a:r>
                <a:r>
                  <a:rPr lang="en-US" sz="2133" dirty="0">
                    <a:solidFill>
                      <a:schemeClr val="tx1"/>
                    </a:solidFill>
                  </a:rPr>
                  <a:t>: diagonal matrix containing the 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singular values </a:t>
                </a:r>
                <a:r>
                  <a:rPr lang="en-US" sz="2133" dirty="0">
                    <a:solidFill>
                      <a:schemeClr val="tx1"/>
                    </a:solidFill>
                  </a:rPr>
                  <a:t>of 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A: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eaLnBrk="1" hangingPunct="1"/>
                <a:r>
                  <a:rPr lang="en-US" sz="2133" b="1" dirty="0">
                    <a:solidFill>
                      <a:schemeClr val="tx1"/>
                    </a:solidFill>
                  </a:rPr>
                  <a:t>(</a:t>
                </a:r>
                <a:r>
                  <a:rPr lang="en-US" sz="2133" b="1" dirty="0">
                    <a:solidFill>
                      <a:schemeClr val="accent2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</a:t>
                </a:r>
                <a:r>
                  <a:rPr lang="en-US" sz="2133" b="1" baseline="-25000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133" b="1" dirty="0">
                    <a:solidFill>
                      <a:schemeClr val="accent2"/>
                    </a:solidFill>
                    <a:latin typeface="cmsy10"/>
                  </a:rPr>
                  <a:t>≥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133" b="1" dirty="0">
                    <a:solidFill>
                      <a:schemeClr val="accent2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</a:t>
                </a:r>
                <a:r>
                  <a:rPr lang="en-US" sz="2133" b="1" baseline="-25000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133" b="1" dirty="0">
                    <a:solidFill>
                      <a:schemeClr val="accent2"/>
                    </a:solidFill>
                    <a:latin typeface="cmsy10"/>
                  </a:rPr>
                  <a:t>≥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 … </a:t>
                </a:r>
                <a:r>
                  <a:rPr lang="en-US" sz="2133" b="1" dirty="0">
                    <a:solidFill>
                      <a:schemeClr val="accent2"/>
                    </a:solidFill>
                    <a:latin typeface="cmsy10"/>
                  </a:rPr>
                  <a:t>≥</a:t>
                </a:r>
                <a:r>
                  <a:rPr lang="en-US" sz="2133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133" b="1" dirty="0">
                    <a:solidFill>
                      <a:schemeClr val="accent2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</a:t>
                </a:r>
                <a:r>
                  <a:rPr lang="en-US" sz="2133" b="1" baseline="-25000" dirty="0">
                    <a:solidFill>
                      <a:schemeClr val="accent2"/>
                    </a:solidFill>
                  </a:rPr>
                  <a:t>r</a:t>
                </a:r>
                <a:r>
                  <a:rPr lang="en-US" sz="2133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eaLnBrk="1" hangingPunct="1">
                  <a:buFont typeface="Symbol" panose="05050102010706020507" pitchFamily="18" charset="2"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 	</a:t>
                </a:r>
                <a:endParaRPr lang="en-US" sz="2133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6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2779" y="3468588"/>
                <a:ext cx="9160932" cy="1626279"/>
              </a:xfrm>
              <a:prstGeom prst="rect">
                <a:avLst/>
              </a:prstGeom>
              <a:blipFill>
                <a:blip r:embed="rId4"/>
                <a:stretch>
                  <a:fillRect l="-798" t="-22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4" name="Picture 8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867" y="1532469"/>
            <a:ext cx="4673600" cy="118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71" name="Group 11"/>
          <p:cNvGrpSpPr>
            <a:grpSpLocks/>
          </p:cNvGrpSpPr>
          <p:nvPr/>
        </p:nvGrpSpPr>
        <p:grpSpPr bwMode="auto">
          <a:xfrm>
            <a:off x="6096001" y="1871136"/>
            <a:ext cx="609600" cy="643467"/>
            <a:chOff x="2880" y="1488"/>
            <a:chExt cx="432" cy="456"/>
          </a:xfrm>
        </p:grpSpPr>
        <p:sp>
          <p:nvSpPr>
            <p:cNvPr id="15372" name="Text Box 12"/>
            <p:cNvSpPr txBox="1">
              <a:spLocks noChangeArrowheads="1"/>
            </p:cNvSpPr>
            <p:nvPr/>
          </p:nvSpPr>
          <p:spPr bwMode="auto">
            <a:xfrm>
              <a:off x="2880" y="1765"/>
              <a:ext cx="15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1pPr>
              <a:lvl2pPr marL="742950" indent="-28575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2pPr>
              <a:lvl3pPr marL="11430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3pPr>
              <a:lvl4pPr marL="16002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4pPr>
              <a:lvl5pPr marL="20574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5pPr>
              <a:lvl6pPr marL="25146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6pPr>
              <a:lvl7pPr marL="29718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7pPr>
              <a:lvl8pPr marL="34290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8pPr>
              <a:lvl9pPr marL="38862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9pPr>
            </a:lstStyle>
            <a:p>
              <a:pPr eaLnBrk="1" hangingPunct="1"/>
              <a:r>
                <a:rPr lang="en-US" sz="1067" b="1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3" name="Text Box 13"/>
            <p:cNvSpPr txBox="1">
              <a:spLocks noChangeArrowheads="1"/>
            </p:cNvSpPr>
            <p:nvPr/>
          </p:nvSpPr>
          <p:spPr bwMode="auto">
            <a:xfrm>
              <a:off x="3062" y="1553"/>
              <a:ext cx="15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1pPr>
              <a:lvl2pPr marL="742950" indent="-28575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2pPr>
              <a:lvl3pPr marL="11430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3pPr>
              <a:lvl4pPr marL="16002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4pPr>
              <a:lvl5pPr marL="2057400" indent="-228600" eaLnBrk="0" hangingPunct="0">
                <a:lnSpc>
                  <a:spcPct val="98000"/>
                </a:lnSpc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5pPr>
              <a:lvl6pPr marL="25146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6pPr>
              <a:lvl7pPr marL="29718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7pPr>
              <a:lvl8pPr marL="34290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8pPr>
              <a:lvl9pPr marL="3886200" indent="-228600" defTabSz="457200" eaLnBrk="0" fontAlgn="base" hangingPunct="0">
                <a:lnSpc>
                  <a:spcPct val="9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alibri" panose="020F0502020204030204" pitchFamily="34" charset="0"/>
                <a:defRPr>
                  <a:solidFill>
                    <a:schemeClr val="bg1"/>
                  </a:solidFill>
                  <a:latin typeface="Calibri" panose="020F0502020204030204" pitchFamily="34" charset="0"/>
                  <a:ea typeface="DejaVu LGC Sans"/>
                  <a:cs typeface="DejaVu LGC Sans"/>
                </a:defRPr>
              </a:lvl9pPr>
            </a:lstStyle>
            <a:p>
              <a:pPr eaLnBrk="1" hangingPunct="1"/>
              <a:r>
                <a:rPr lang="en-US" sz="1067" b="1"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4" name="Line 14"/>
            <p:cNvSpPr>
              <a:spLocks noChangeShapeType="1"/>
            </p:cNvSpPr>
            <p:nvPr/>
          </p:nvSpPr>
          <p:spPr bwMode="auto">
            <a:xfrm>
              <a:off x="2948" y="1488"/>
              <a:ext cx="364" cy="370"/>
            </a:xfrm>
            <a:prstGeom prst="line">
              <a:avLst/>
            </a:prstGeom>
            <a:noFill/>
            <a:ln w="635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</p:grpSp>
      <p:sp>
        <p:nvSpPr>
          <p:cNvPr id="15366" name="TextBox 14"/>
          <p:cNvSpPr txBox="1">
            <a:spLocks noChangeArrowheads="1"/>
          </p:cNvSpPr>
          <p:nvPr/>
        </p:nvSpPr>
        <p:spPr bwMode="auto">
          <a:xfrm>
            <a:off x="3793067" y="2751668"/>
            <a:ext cx="812800" cy="33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1pPr>
            <a:lvl2pPr marL="742950" indent="-28575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2pPr>
            <a:lvl3pPr marL="11430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3pPr>
            <a:lvl4pPr marL="16002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4pPr>
            <a:lvl5pPr marL="20574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5pPr>
            <a:lvl6pPr marL="25146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6pPr>
            <a:lvl7pPr marL="29718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7pPr>
            <a:lvl8pPr marL="34290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8pPr>
            <a:lvl9pPr marL="38862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9pPr>
          </a:lstStyle>
          <a:p>
            <a:pPr algn="ctr" eaLnBrk="1" hangingPunct="1"/>
            <a:r>
              <a:rPr lang="en-US" sz="1600" b="1">
                <a:solidFill>
                  <a:schemeClr val="tx1"/>
                </a:solidFill>
              </a:rPr>
              <a:t>n x d</a:t>
            </a:r>
          </a:p>
        </p:txBody>
      </p:sp>
      <p:sp>
        <p:nvSpPr>
          <p:cNvPr id="15367" name="TextBox 15"/>
          <p:cNvSpPr txBox="1">
            <a:spLocks noChangeArrowheads="1"/>
          </p:cNvSpPr>
          <p:nvPr/>
        </p:nvSpPr>
        <p:spPr bwMode="auto">
          <a:xfrm>
            <a:off x="5080000" y="2751668"/>
            <a:ext cx="812800" cy="33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1pPr>
            <a:lvl2pPr marL="742950" indent="-28575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2pPr>
            <a:lvl3pPr marL="11430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3pPr>
            <a:lvl4pPr marL="16002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4pPr>
            <a:lvl5pPr marL="20574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5pPr>
            <a:lvl6pPr marL="25146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6pPr>
            <a:lvl7pPr marL="29718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7pPr>
            <a:lvl8pPr marL="34290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8pPr>
            <a:lvl9pPr marL="38862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9pPr>
          </a:lstStyle>
          <a:p>
            <a:pPr algn="ctr" eaLnBrk="1" hangingPunct="1"/>
            <a:r>
              <a:rPr lang="en-US" sz="1600" b="1" dirty="0">
                <a:solidFill>
                  <a:schemeClr val="tx1"/>
                </a:solidFill>
              </a:rPr>
              <a:t>n x r </a:t>
            </a:r>
          </a:p>
        </p:txBody>
      </p:sp>
      <p:sp>
        <p:nvSpPr>
          <p:cNvPr id="15368" name="TextBox 16"/>
          <p:cNvSpPr txBox="1">
            <a:spLocks noChangeArrowheads="1"/>
          </p:cNvSpPr>
          <p:nvPr/>
        </p:nvSpPr>
        <p:spPr bwMode="auto">
          <a:xfrm>
            <a:off x="6096000" y="2751668"/>
            <a:ext cx="812800" cy="33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1pPr>
            <a:lvl2pPr marL="742950" indent="-28575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2pPr>
            <a:lvl3pPr marL="11430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3pPr>
            <a:lvl4pPr marL="16002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4pPr>
            <a:lvl5pPr marL="20574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5pPr>
            <a:lvl6pPr marL="25146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6pPr>
            <a:lvl7pPr marL="29718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7pPr>
            <a:lvl8pPr marL="34290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8pPr>
            <a:lvl9pPr marL="38862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9pPr>
          </a:lstStyle>
          <a:p>
            <a:pPr algn="ctr" eaLnBrk="1" hangingPunct="1"/>
            <a:r>
              <a:rPr lang="en-US" sz="1600" b="1" dirty="0">
                <a:solidFill>
                  <a:schemeClr val="tx1"/>
                </a:solidFill>
              </a:rPr>
              <a:t>r x r </a:t>
            </a:r>
          </a:p>
        </p:txBody>
      </p:sp>
      <p:sp>
        <p:nvSpPr>
          <p:cNvPr id="15369" name="TextBox 17"/>
          <p:cNvSpPr txBox="1">
            <a:spLocks noChangeArrowheads="1"/>
          </p:cNvSpPr>
          <p:nvPr/>
        </p:nvSpPr>
        <p:spPr bwMode="auto">
          <a:xfrm>
            <a:off x="7179733" y="2751668"/>
            <a:ext cx="812800" cy="33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1pPr>
            <a:lvl2pPr marL="742950" indent="-28575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2pPr>
            <a:lvl3pPr marL="11430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3pPr>
            <a:lvl4pPr marL="16002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4pPr>
            <a:lvl5pPr marL="2057400" indent="-228600" eaLnBrk="0" hangingPunct="0">
              <a:lnSpc>
                <a:spcPct val="98000"/>
              </a:lnSpc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5pPr>
            <a:lvl6pPr marL="25146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6pPr>
            <a:lvl7pPr marL="29718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7pPr>
            <a:lvl8pPr marL="34290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8pPr>
            <a:lvl9pPr marL="3886200" indent="-228600" defTabSz="45720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defRPr>
                <a:solidFill>
                  <a:schemeClr val="bg1"/>
                </a:solidFill>
                <a:latin typeface="Calibri" panose="020F0502020204030204" pitchFamily="34" charset="0"/>
                <a:ea typeface="DejaVu LGC Sans"/>
                <a:cs typeface="DejaVu LGC Sans"/>
              </a:defRPr>
            </a:lvl9pPr>
          </a:lstStyle>
          <a:p>
            <a:pPr algn="ctr" eaLnBrk="1" hangingPunct="1"/>
            <a:r>
              <a:rPr lang="en-US" sz="1600" b="1" dirty="0">
                <a:solidFill>
                  <a:schemeClr val="tx1"/>
                </a:solidFill>
              </a:rPr>
              <a:t>r x d</a:t>
            </a:r>
          </a:p>
        </p:txBody>
      </p:sp>
    </p:spTree>
    <p:extLst>
      <p:ext uri="{BB962C8B-B14F-4D97-AF65-F5344CB8AC3E}">
        <p14:creationId xmlns:p14="http://schemas.microsoft.com/office/powerpoint/2010/main" val="301346439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Deficiencies with Word-based Indexing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382000" y="2232962"/>
            <a:ext cx="3632200" cy="2544473"/>
            <a:chOff x="1676400" y="2362200"/>
            <a:chExt cx="4030249" cy="3495995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676400" y="2362200"/>
              <a:ext cx="1524000" cy="2667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Times New Roman" pitchFamily="18" charset="0"/>
                </a:rPr>
                <a:t>auto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engine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bonnet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tires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lorry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boot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962400" y="2362200"/>
              <a:ext cx="1524000" cy="2667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Times New Roman" pitchFamily="18" charset="0"/>
                </a:rPr>
                <a:t>car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emissions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hood 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make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model</a:t>
              </a:r>
            </a:p>
            <a:p>
              <a:pPr algn="ctr"/>
              <a:r>
                <a:rPr lang="en-US" sz="1600" dirty="0">
                  <a:latin typeface="Times New Roman" pitchFamily="18" charset="0"/>
                </a:rPr>
                <a:t>trunk</a:t>
              </a:r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2895600" y="2885677"/>
              <a:ext cx="15239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>
              <a:off x="2971800" y="351385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2819400" y="4560805"/>
              <a:ext cx="144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1760951" y="5181600"/>
              <a:ext cx="3945698" cy="676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t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Times New Roman" pitchFamily="18" charset="0"/>
                </a:rPr>
                <a:t>Synonymy: Will have small cosine but are related</a:t>
              </a:r>
            </a:p>
          </p:txBody>
        </p:sp>
      </p:grpSp>
      <p:sp>
        <p:nvSpPr>
          <p:cNvPr id="29" name="Content Placeholder 3"/>
          <p:cNvSpPr txBox="1">
            <a:spLocks/>
          </p:cNvSpPr>
          <p:nvPr/>
        </p:nvSpPr>
        <p:spPr>
          <a:xfrm>
            <a:off x="609600" y="1371601"/>
            <a:ext cx="7467600" cy="5181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Bag of Words methods: A document is only "about" the words in it</a:t>
            </a:r>
          </a:p>
          <a:p>
            <a:r>
              <a:rPr lang="en-US" dirty="0"/>
              <a:t>But people interpret documents in a richer context</a:t>
            </a:r>
          </a:p>
          <a:p>
            <a:pPr lvl="1"/>
            <a:r>
              <a:rPr lang="en-US" dirty="0"/>
              <a:t>a document is about some domain and concepts in it</a:t>
            </a:r>
          </a:p>
          <a:p>
            <a:pPr lvl="1"/>
            <a:r>
              <a:rPr lang="en-US" dirty="0"/>
              <a:t>reflected in the vocabulary but not limited to it</a:t>
            </a:r>
          </a:p>
          <a:p>
            <a:pPr marL="457200" indent="-457200">
              <a:spcBef>
                <a:spcPct val="50000"/>
              </a:spcBef>
            </a:pPr>
            <a:r>
              <a:rPr lang="en-US" b="1" dirty="0">
                <a:solidFill>
                  <a:srgbClr val="0000CC"/>
                </a:solidFill>
                <a:latin typeface="Times New Roman" charset="0"/>
              </a:rPr>
              <a:t>Synonymy: </a:t>
            </a:r>
            <a:r>
              <a:rPr lang="en-US" dirty="0">
                <a:latin typeface="Times New Roman" charset="0"/>
              </a:rPr>
              <a:t> Various words and phrases refer to the same concept</a:t>
            </a:r>
          </a:p>
          <a:p>
            <a:pPr marL="457200" indent="-457200">
              <a:spcBef>
                <a:spcPct val="50000"/>
              </a:spcBef>
            </a:pPr>
            <a:r>
              <a:rPr lang="en-US" dirty="0">
                <a:latin typeface="Times New Roman" charset="0"/>
              </a:rPr>
              <a:t>Latent semantic indexing helps to find synonyms using SVD.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Latent</a:t>
            </a:r>
            <a:r>
              <a:rPr lang="en-US" dirty="0"/>
              <a:t>: Not visible on the surface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Semantic</a:t>
            </a:r>
            <a:r>
              <a:rPr lang="en-US" dirty="0"/>
              <a:t>: Word meanings</a:t>
            </a:r>
          </a:p>
          <a:p>
            <a:pPr marL="857250" lvl="1" indent="-457200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pPr marL="457200" indent="-457200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2174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Co-Occurrences</a:t>
            </a:r>
          </a:p>
        </p:txBody>
      </p:sp>
      <p:sp>
        <p:nvSpPr>
          <p:cNvPr id="1277955" name="Rectangle 3"/>
          <p:cNvSpPr>
            <a:spLocks noGrp="1" noChangeArrowheads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Bag of words approaches assume meaning is carried by vocabulary</a:t>
            </a:r>
          </a:p>
          <a:p>
            <a:r>
              <a:rPr lang="en-US" dirty="0"/>
              <a:t>Next step is to look at vocabulary </a:t>
            </a:r>
            <a:r>
              <a:rPr lang="en-US" i="1" dirty="0"/>
              <a:t>groups</a:t>
            </a:r>
            <a:r>
              <a:rPr lang="en-US" dirty="0"/>
              <a:t>; what words tend to occur together?</a:t>
            </a:r>
          </a:p>
          <a:p>
            <a:r>
              <a:rPr lang="en-US" dirty="0"/>
              <a:t>Still a statistical approach, but richer representation than single terms</a:t>
            </a:r>
          </a:p>
          <a:p>
            <a:r>
              <a:rPr lang="en-US" dirty="0"/>
              <a:t>E.g., Looking for articles about Tiger Woods in an API newswire database could bring up stories about the golfer, followed by articles about golf tournaments that don't mention his name. </a:t>
            </a:r>
          </a:p>
          <a:p>
            <a:pPr lvl="1"/>
            <a:r>
              <a:rPr lang="en-US" dirty="0"/>
              <a:t>So we are need to recognize that Tiger Woods is </a:t>
            </a:r>
            <a:r>
              <a:rPr lang="en-US" i="1" dirty="0"/>
              <a:t>about</a:t>
            </a:r>
            <a:r>
              <a:rPr lang="en-US" dirty="0"/>
              <a:t> golf.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9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LSI/LSA: SVD for 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0003" name="Rectangle 3"/>
              <p:cNvSpPr>
                <a:spLocks noGrp="1" noChangeArrowheads="1"/>
              </p:cNvSpPr>
              <p:nvPr>
                <p:ph idx="13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Problem: A vector of TF*IDF representing a document is high dimensional.</a:t>
                </a:r>
              </a:p>
              <a:p>
                <a:r>
                  <a:rPr lang="en-US" dirty="0"/>
                  <a:t>Need some way to trim words looked at</a:t>
                </a:r>
              </a:p>
              <a:p>
                <a:pPr lvl="1"/>
                <a:r>
                  <a:rPr lang="en-US" dirty="0"/>
                  <a:t>First, throw away anything “not useful” (stop words)</a:t>
                </a:r>
              </a:p>
              <a:p>
                <a:pPr lvl="1"/>
                <a:r>
                  <a:rPr lang="en-US" dirty="0"/>
                  <a:t>Second, identify clusters and pick representative terms</a:t>
                </a:r>
              </a:p>
              <a:p>
                <a:pPr lvl="2"/>
                <a:r>
                  <a:rPr lang="en-US" dirty="0"/>
                  <a:t>Use SVD</a:t>
                </a:r>
              </a:p>
              <a:p>
                <a:pPr lvl="2"/>
                <a:r>
                  <a:rPr lang="en-US" dirty="0"/>
                  <a:t>U: How strongly word i is related to the topic/concept represented by semantic dimension j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: </a:t>
                </a:r>
                <a:r>
                  <a:rPr lang="en-US" dirty="0"/>
                  <a:t>Magnitude of the singular value measures the importance of the corresponding semantic dimension</a:t>
                </a:r>
              </a:p>
              <a:p>
                <a:pPr lvl="2"/>
                <a:r>
                  <a:rPr lang="en-US" dirty="0"/>
                  <a:t>V: How strongly document i is related to the topic/concept represented by semantic dimension j </a:t>
                </a:r>
              </a:p>
              <a:p>
                <a:pPr lvl="2"/>
                <a:endParaRPr lang="en-US" b="0" i="0" dirty="0">
                  <a:latin typeface="Cambria Math" panose="02040503050406030204" pitchFamily="18" charset="0"/>
                </a:endParaRP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12800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2"/>
                <a:stretch>
                  <a:fillRect l="-1111" t="-2564" b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924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600" b="1" dirty="0">
                <a:solidFill>
                  <a:srgbClr val="FF0000"/>
                </a:solidFill>
                <a:latin typeface="Calibri (Headings)"/>
              </a:rPr>
              <a:t>LSA Example</a:t>
            </a:r>
          </a:p>
        </p:txBody>
      </p:sp>
      <p:pic>
        <p:nvPicPr>
          <p:cNvPr id="9" name="Picture 8" descr="1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7" y="1685674"/>
            <a:ext cx="3392737" cy="4279787"/>
          </a:xfrm>
          <a:prstGeom prst="rect">
            <a:avLst/>
          </a:prstGeom>
        </p:spPr>
      </p:pic>
      <p:pic>
        <p:nvPicPr>
          <p:cNvPr id="3" name="Picture 2" descr="1814.png">
            <a:extLst>
              <a:ext uri="{FF2B5EF4-FFF2-40B4-BE49-F238E27FC236}">
                <a16:creationId xmlns:a16="http://schemas.microsoft.com/office/drawing/2014/main" id="{D5564A22-2576-4DA0-95F9-1A7963CCC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006" y="2590800"/>
            <a:ext cx="3271858" cy="3124200"/>
          </a:xfrm>
          <a:prstGeom prst="rect">
            <a:avLst/>
          </a:prstGeom>
        </p:spPr>
      </p:pic>
      <p:pic>
        <p:nvPicPr>
          <p:cNvPr id="4" name="Picture 3" descr="1817.png">
            <a:extLst>
              <a:ext uri="{FF2B5EF4-FFF2-40B4-BE49-F238E27FC236}">
                <a16:creationId xmlns:a16="http://schemas.microsoft.com/office/drawing/2014/main" id="{0C285537-D6FF-4EB9-98AF-4DEE79426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1506028"/>
            <a:ext cx="3676718" cy="2335797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38CCB8A0-71DF-48C2-897A-28B5B1CC9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14800"/>
            <a:ext cx="4286318" cy="20431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j-lt"/>
              </a:rPr>
              <a:t>Similarity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d2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d3 in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original </a:t>
            </a:r>
            <a:r>
              <a:rPr lang="de-DE" dirty="0" err="1">
                <a:latin typeface="+mj-lt"/>
              </a:rPr>
              <a:t>space</a:t>
            </a:r>
            <a:r>
              <a:rPr lang="de-DE" dirty="0">
                <a:latin typeface="+mj-lt"/>
              </a:rPr>
              <a:t>: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j-lt"/>
              </a:rPr>
              <a:t>Similarity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en-US" dirty="0">
                <a:latin typeface="+mj-lt"/>
              </a:rPr>
              <a:t> d2 und d3 in the reduced space: 0.52 * 0.28 + 0.36 * 0.16 + 0.72 * 0.36 + 0.12 * 0.20 + - 0.39 * - 0.08 </a:t>
            </a:r>
            <a:r>
              <a:rPr lang="en-US" dirty="0">
                <a:latin typeface="Calibri"/>
                <a:cs typeface="Calibri"/>
              </a:rPr>
              <a:t>≈ 0.52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“boat” and “ship” are semantically similar. The “reduced” similarity measure reflects this.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BB07A-F4CC-4553-8825-D1EA1B0119A9}"/>
              </a:ext>
            </a:extLst>
          </p:cNvPr>
          <p:cNvSpPr txBox="1"/>
          <p:nvPr/>
        </p:nvSpPr>
        <p:spPr>
          <a:xfrm>
            <a:off x="4191000" y="1905000"/>
            <a:ext cx="289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Reducing dimensionality to 2</a:t>
            </a:r>
          </a:p>
        </p:txBody>
      </p:sp>
    </p:spTree>
    <p:extLst>
      <p:ext uri="{BB962C8B-B14F-4D97-AF65-F5344CB8AC3E}">
        <p14:creationId xmlns:p14="http://schemas.microsoft.com/office/powerpoint/2010/main" val="34462467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LSI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>
                <a:spLocks noGrp="1"/>
              </p:cNvSpPr>
              <p:nvPr>
                <p:ph idx="13"/>
              </p:nvPr>
            </p:nvSpPr>
            <p:spPr>
              <a:xfrm>
                <a:off x="609600" y="1371601"/>
                <a:ext cx="10972800" cy="47545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Handling Synonymy and Semantic Relatedness</a:t>
                </a:r>
              </a:p>
              <a:p>
                <a:pPr lvl="1"/>
                <a:r>
                  <a:rPr lang="en-US" dirty="0"/>
                  <a:t>The dimensionality reduction forces us to omit a lot of "detail".</a:t>
                </a:r>
              </a:p>
              <a:p>
                <a:pPr lvl="1"/>
                <a:r>
                  <a:rPr lang="en-US" dirty="0"/>
                  <a:t>We have to map different words (= different dimensions of the full space) to the same dimension in the reduced space.</a:t>
                </a:r>
              </a:p>
              <a:p>
                <a:pPr lvl="1"/>
                <a:r>
                  <a:rPr lang="en-US" dirty="0"/>
                  <a:t>The "cost" of mapping synonyms to the same dimension is much less than the cost of collapsing unrelated words. SVD selects the "least costly" mapping.</a:t>
                </a:r>
              </a:p>
              <a:p>
                <a:pPr lvl="1"/>
                <a:r>
                  <a:rPr lang="en-US" dirty="0"/>
                  <a:t>Thus, it will map synonyms to the same dimension. But it will avoid doing that for unrelated words.</a:t>
                </a:r>
              </a:p>
              <a:p>
                <a:r>
                  <a:rPr lang="en-US" dirty="0"/>
                  <a:t>Limitations</a:t>
                </a:r>
              </a:p>
              <a:p>
                <a:pPr lvl="1"/>
                <a:r>
                  <a:rPr lang="en-US" dirty="0"/>
                  <a:t>It cannot capture polysemy </a:t>
                </a:r>
                <a:r>
                  <a:rPr lang="en-US" dirty="0" err="1"/>
                  <a:t>i.e</a:t>
                </a:r>
                <a:r>
                  <a:rPr lang="en-US" dirty="0"/>
                  <a:t> words with multiple meanings.</a:t>
                </a:r>
              </a:p>
              <a:p>
                <a:pPr lvl="1"/>
                <a:r>
                  <a:rPr lang="en-US" dirty="0"/>
                  <a:t>The resulting matrix dimension may be difficult to interpret. </a:t>
                </a:r>
              </a:p>
              <a:p>
                <a:pPr lvl="1"/>
                <a:r>
                  <a:rPr lang="en-US" dirty="0"/>
                  <a:t>Finding optimal dimension for semantic space</a:t>
                </a:r>
              </a:p>
              <a:p>
                <a:pPr lvl="1"/>
                <a:r>
                  <a:rPr lang="en-US" dirty="0"/>
                  <a:t>The computational cost of SVD is significant.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085850" lvl="2"/>
                <a:r>
                  <a:rPr lang="en-US" dirty="0"/>
                  <a:t>n = number of terms</a:t>
                </a:r>
              </a:p>
              <a:p>
                <a:pPr marL="1085850" lvl="2"/>
                <a:r>
                  <a:rPr lang="en-US" dirty="0"/>
                  <a:t>k = number of dimensions in semantic space (typically small ~50 to 350)</a:t>
                </a:r>
              </a:p>
            </p:txBody>
          </p:sp>
        </mc:Choice>
        <mc:Fallback xmlns="">
          <p:sp>
            <p:nvSpPr>
              <p:cNvPr id="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609600" y="1371601"/>
                <a:ext cx="10972800" cy="4754563"/>
              </a:xfrm>
              <a:blipFill>
                <a:blip r:embed="rId3"/>
                <a:stretch>
                  <a:fillRect l="-611" t="-2179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03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Probabilistic Latent Semantic Analysis (PLSA)</a:t>
            </a:r>
          </a:p>
        </p:txBody>
      </p:sp>
    </p:spTree>
    <p:extLst>
      <p:ext uri="{BB962C8B-B14F-4D97-AF65-F5344CB8AC3E}">
        <p14:creationId xmlns:p14="http://schemas.microsoft.com/office/powerpoint/2010/main" val="914219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models: Intuitive Representation</a:t>
            </a:r>
          </a:p>
        </p:txBody>
      </p:sp>
      <p:pic>
        <p:nvPicPr>
          <p:cNvPr id="4" name="Picture 1" descr="C:\Documents and Settings\hp\Application Data\Tencent\Users\403522748\QQ\WinTemp\RichOle\5E7_H~Z4G4_59TA]RXC1N_1.jpg"/>
          <p:cNvPicPr>
            <a:picLocks noGrp="1" noChangeAspect="1" noChangeArrowheads="1"/>
          </p:cNvPicPr>
          <p:nvPr>
            <p:ph idx="13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597667"/>
            <a:ext cx="8229600" cy="43024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3176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Probabilistic Latent Semantic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3"/>
              <p:cNvSpPr>
                <a:spLocks noGrp="1" noChangeArrowheads="1"/>
              </p:cNvSpPr>
              <p:nvPr>
                <p:ph idx="13"/>
              </p:nvPr>
            </p:nvSpPr>
            <p:spPr>
              <a:xfrm>
                <a:off x="457201" y="1371601"/>
                <a:ext cx="8312850" cy="47545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800" dirty="0"/>
                  <a:t>Generative (Aspect) Model</a:t>
                </a:r>
              </a:p>
              <a:p>
                <a:pPr lvl="1"/>
                <a:r>
                  <a:rPr lang="en-US" sz="1800" dirty="0"/>
                  <a:t>Each document is a probability distribution over latent topics or aspects</a:t>
                </a:r>
              </a:p>
              <a:p>
                <a:pPr lvl="1"/>
                <a:r>
                  <a:rPr lang="en-US" sz="1800" dirty="0"/>
                  <a:t>Each topic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a probability distribution over words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Model fitting using tempered-EM algorithm</a:t>
                </a:r>
              </a:p>
              <a:p>
                <a:r>
                  <a:rPr lang="en-US" sz="1800" dirty="0"/>
                  <a:t>Shown to solve Polysemy and Synonymy</a:t>
                </a:r>
              </a:p>
              <a:p>
                <a:r>
                  <a:rPr lang="en-US" sz="1800" dirty="0"/>
                  <a:t>Generative Model</a:t>
                </a:r>
                <a:endParaRPr lang="ru-RU" sz="1800" dirty="0"/>
              </a:p>
              <a:p>
                <a:pPr lvl="1"/>
                <a:r>
                  <a:rPr lang="en-US" sz="1800" dirty="0"/>
                  <a:t>Select a doc with 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Pick a latent topic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with 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Generate a word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/>
                  <a:t> with probability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Latent Variable model for general co-occurrence data</a:t>
                </a:r>
              </a:p>
              <a:p>
                <a:pPr lvl="1"/>
                <a:r>
                  <a:rPr lang="en-US" sz="1800" dirty="0"/>
                  <a:t>Associate each observation (</a:t>
                </a:r>
                <a:r>
                  <a:rPr lang="en-US" sz="1800" dirty="0" err="1"/>
                  <a:t>w,d</a:t>
                </a:r>
                <a:r>
                  <a:rPr lang="en-US" sz="1800" dirty="0"/>
                  <a:t>) with a class variable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  <m:sup/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d>
                      </m:e>
                    </m:nary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  <m:sup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	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  <m:sup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US" sz="1800" dirty="0"/>
              </a:p>
              <a:p>
                <a:r>
                  <a:rPr lang="en-US" sz="1800" dirty="0"/>
                  <a:t>Advantages of this Model over Document Clustering</a:t>
                </a:r>
              </a:p>
              <a:p>
                <a:pPr lvl="1"/>
                <a:r>
                  <a:rPr lang="en-US" sz="1400" dirty="0"/>
                  <a:t>For each z, P(</a:t>
                </a:r>
                <a:r>
                  <a:rPr lang="en-US" sz="1400" dirty="0" err="1"/>
                  <a:t>z|d</a:t>
                </a:r>
                <a:r>
                  <a:rPr lang="en-US" sz="1400" dirty="0"/>
                  <a:t>) defines a specific mixture of factors</a:t>
                </a:r>
              </a:p>
              <a:p>
                <a:pPr lvl="1"/>
                <a:r>
                  <a:rPr lang="en-US" sz="1400" dirty="0"/>
                  <a:t>This offers more flexibility, and produces effective modeling</a:t>
                </a:r>
              </a:p>
            </p:txBody>
          </p:sp>
        </mc:Choice>
        <mc:Fallback xmlns="">
          <p:sp>
            <p:nvSpPr>
              <p:cNvPr id="51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457201" y="1371601"/>
                <a:ext cx="8312850" cy="4754563"/>
              </a:xfrm>
              <a:blipFill>
                <a:blip r:embed="rId2"/>
                <a:stretch>
                  <a:fillRect l="-367" t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201976" y="1987617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9897176" y="1378017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/>
              <a:t>Doc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0"/>
              <p:cNvSpPr txBox="1">
                <a:spLocks noChangeArrowheads="1"/>
              </p:cNvSpPr>
              <p:nvPr/>
            </p:nvSpPr>
            <p:spPr bwMode="auto">
              <a:xfrm>
                <a:off x="8982776" y="2292418"/>
                <a:ext cx="53867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82776" y="2292418"/>
                <a:ext cx="538674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1"/>
              <p:cNvSpPr txBox="1">
                <a:spLocks noChangeArrowheads="1"/>
              </p:cNvSpPr>
              <p:nvPr/>
            </p:nvSpPr>
            <p:spPr bwMode="auto">
              <a:xfrm>
                <a:off x="9760651" y="2251143"/>
                <a:ext cx="54579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60651" y="2251143"/>
                <a:ext cx="545790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2"/>
              <p:cNvSpPr txBox="1">
                <a:spLocks noChangeArrowheads="1"/>
              </p:cNvSpPr>
              <p:nvPr/>
            </p:nvSpPr>
            <p:spPr bwMode="auto">
              <a:xfrm>
                <a:off x="11056052" y="2327343"/>
                <a:ext cx="58464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56052" y="2327343"/>
                <a:ext cx="584647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9303451" y="1793942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>
            <a:off x="9913051" y="1793942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10217851" y="1793942"/>
            <a:ext cx="990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6"/>
              <p:cNvSpPr txBox="1">
                <a:spLocks noChangeArrowheads="1"/>
              </p:cNvSpPr>
              <p:nvPr/>
            </p:nvSpPr>
            <p:spPr bwMode="auto">
              <a:xfrm>
                <a:off x="8966902" y="3095693"/>
                <a:ext cx="61452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6902" y="3095693"/>
                <a:ext cx="614527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7"/>
              <p:cNvSpPr txBox="1">
                <a:spLocks noChangeArrowheads="1"/>
              </p:cNvSpPr>
              <p:nvPr/>
            </p:nvSpPr>
            <p:spPr bwMode="auto">
              <a:xfrm>
                <a:off x="9744776" y="3126153"/>
                <a:ext cx="62164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44776" y="3126153"/>
                <a:ext cx="621644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8"/>
              <p:cNvSpPr txBox="1">
                <a:spLocks noChangeArrowheads="1"/>
              </p:cNvSpPr>
              <p:nvPr/>
            </p:nvSpPr>
            <p:spPr bwMode="auto">
              <a:xfrm>
                <a:off x="11040177" y="3130618"/>
                <a:ext cx="66697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40177" y="3130618"/>
                <a:ext cx="666977" cy="461665"/>
              </a:xfrm>
              <a:prstGeom prst="rect">
                <a:avLst/>
              </a:prstGeom>
              <a:blipFill>
                <a:blip r:embed="rId8"/>
                <a:stretch>
                  <a:fillRect b="-2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19"/>
          <p:cNvSpPr>
            <a:spLocks noChangeShapeType="1"/>
          </p:cNvSpPr>
          <p:nvPr/>
        </p:nvSpPr>
        <p:spPr bwMode="auto">
          <a:xfrm flipH="1">
            <a:off x="9135176" y="2673417"/>
            <a:ext cx="0" cy="5029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9135176" y="2673417"/>
            <a:ext cx="2133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 flipH="1">
            <a:off x="9211376" y="2673417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 flipH="1">
            <a:off x="9897176" y="2673417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9973376" y="2673417"/>
            <a:ext cx="1295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 flipH="1">
            <a:off x="9973376" y="2749617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11268776" y="274961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CBABF3-0039-4ACA-9EC4-C7AA90511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44355" y="4387959"/>
            <a:ext cx="3096344" cy="1148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0456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PLSA and LSA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19" name="Rectangle 3"/>
              <p:cNvSpPr>
                <a:spLocks noGrp="1" noChangeArrowheads="1"/>
              </p:cNvSpPr>
              <p:nvPr>
                <p:ph idx="13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dirty="0"/>
                  <a:t>LSA and PLSA perform dimensionality reduction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In LSA, by keeping only K singular values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In PLSA, by having K aspects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Comparison to SVD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U Matrix related to P(</a:t>
                </a:r>
                <a:r>
                  <a:rPr lang="en-US" sz="2000" dirty="0" err="1"/>
                  <a:t>d|z</a:t>
                </a:r>
                <a:r>
                  <a:rPr lang="en-US" sz="2000" dirty="0"/>
                  <a:t>) (doc to aspect)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V Matrix related to P(</a:t>
                </a:r>
                <a:r>
                  <a:rPr lang="en-US" sz="2000" dirty="0" err="1"/>
                  <a:t>z|w</a:t>
                </a:r>
                <a:r>
                  <a:rPr lang="en-US" sz="2000" dirty="0"/>
                  <a:t>) (aspect to term)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 Matrix related to P(z) (aspect strength)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The main difference is the way the approximation is done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PLSA generates a model (aspect model) and maximizes its predictive power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Selecting the proper value of K is heuristic in LSA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000" dirty="0"/>
                  <a:t>Model selection in statistics can determine optimal K in PLSA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sz="2400" dirty="0"/>
                  <a:t>The computational cost of LSI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, while computational complexity of PLSA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𝑊𝐷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8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86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 rotWithShape="0">
                <a:blip r:embed="rId2"/>
                <a:stretch>
                  <a:fillRect l="-963" t="-2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26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Motivation for LDA</a:t>
            </a:r>
          </a:p>
        </p:txBody>
      </p:sp>
    </p:spTree>
    <p:extLst>
      <p:ext uri="{BB962C8B-B14F-4D97-AF65-F5344CB8AC3E}">
        <p14:creationId xmlns:p14="http://schemas.microsoft.com/office/powerpoint/2010/main" val="248241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Motivations for LDA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Problem of PLSA</a:t>
            </a:r>
          </a:p>
          <a:p>
            <a:pPr lvl="1">
              <a:defRPr/>
            </a:pPr>
            <a:r>
              <a:rPr lang="en-US" altLang="zh-TW" dirty="0"/>
              <a:t>There is no natural way to use it to assign probability to a previously unseen document</a:t>
            </a:r>
          </a:p>
          <a:p>
            <a:pPr lvl="1">
              <a:defRPr/>
            </a:pPr>
            <a:r>
              <a:rPr lang="en-US" altLang="zh-TW" dirty="0"/>
              <a:t>The linear growth in parameters suggests that the model is prone to overfitting</a:t>
            </a:r>
          </a:p>
          <a:p>
            <a:pPr>
              <a:defRPr/>
            </a:pPr>
            <a:r>
              <a:rPr lang="en-US" altLang="zh-TW" dirty="0"/>
              <a:t>We would like to be Bayesian about our topic mixture proportions, rather than fix a single one.</a:t>
            </a:r>
          </a:p>
          <a:p>
            <a:pPr>
              <a:defRPr/>
            </a:pPr>
            <a:endParaRPr lang="en-US" altLang="zh-TW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5282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 Intuitive Representation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63397B-3989-4293-9D1C-B031D5DDAEB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6526558" cy="47545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5284AF-D102-4144-BD6A-2B4AC2123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288960"/>
            <a:ext cx="2385512" cy="48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Dirichlet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30384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Dirichlet Distributions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r>
              <a:rPr lang="en-US" sz="2000" dirty="0"/>
              <a:t>In the LDA model, we would like to say that the </a:t>
            </a:r>
            <a:r>
              <a:rPr lang="en-US" sz="2000" i="1" dirty="0"/>
              <a:t>topic mixture proportions</a:t>
            </a:r>
            <a:r>
              <a:rPr lang="en-US" sz="2000" dirty="0"/>
              <a:t> for each document are drawn from some distribution.</a:t>
            </a:r>
          </a:p>
          <a:p>
            <a:r>
              <a:rPr lang="en-US" sz="2000" dirty="0"/>
              <a:t>So, we want to put a distribution on </a:t>
            </a:r>
            <a:r>
              <a:rPr lang="en-US" sz="2000" dirty="0" err="1"/>
              <a:t>multinomials</a:t>
            </a:r>
            <a:r>
              <a:rPr lang="en-US" sz="2000" dirty="0"/>
              <a:t>.  That is, k-tuples of non-negative numbers that sum to one.</a:t>
            </a:r>
          </a:p>
          <a:p>
            <a:r>
              <a:rPr lang="en-US" sz="2000" dirty="0"/>
              <a:t>The space of all of these </a:t>
            </a:r>
            <a:r>
              <a:rPr lang="en-US" sz="2000" dirty="0" err="1"/>
              <a:t>multinomials</a:t>
            </a:r>
            <a:r>
              <a:rPr lang="en-US" sz="2000" dirty="0"/>
              <a:t> has a nice geometric interpretation as a (k-1)-</a:t>
            </a:r>
            <a:r>
              <a:rPr lang="en-US" sz="2000" i="1" dirty="0"/>
              <a:t>simplex</a:t>
            </a:r>
            <a:r>
              <a:rPr lang="en-US" sz="2000" dirty="0"/>
              <a:t>, which is just a generalization of a triangle to (k-1) dimensions.</a:t>
            </a:r>
          </a:p>
          <a:p>
            <a:pPr>
              <a:buFont typeface="Wingdings" panose="05000000000000000000" pitchFamily="2" charset="2"/>
              <a:buNone/>
            </a:pPr>
            <a:endParaRPr lang="en-US" sz="2000" dirty="0"/>
          </a:p>
        </p:txBody>
      </p:sp>
      <p:pic>
        <p:nvPicPr>
          <p:cNvPr id="4" name="Picture 5" descr="dirichl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962401"/>
            <a:ext cx="4267200" cy="242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2160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Dirichlet Distributions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3"/>
          </p:nvPr>
        </p:nvSpPr>
        <p:spPr/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2400" dirty="0"/>
              <a:t>Useful Facts: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This distribution is defined over a (k-1)-simplex.  That is, it takes k non-negative arguments which sum to one.  Consequently it is a natural distribution to use over multinomial distributions.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In fact, the </a:t>
            </a:r>
            <a:r>
              <a:rPr lang="en-US" sz="2000" dirty="0" err="1"/>
              <a:t>Dirichlet</a:t>
            </a:r>
            <a:r>
              <a:rPr lang="en-US" sz="2000" dirty="0"/>
              <a:t> distribution is the conjugate prior to the multinomial distribution.  (This means that if our likelihood is multinomial with a </a:t>
            </a:r>
            <a:r>
              <a:rPr lang="en-US" sz="2000" dirty="0" err="1"/>
              <a:t>Dirichlet</a:t>
            </a:r>
            <a:r>
              <a:rPr lang="en-US" sz="2000" dirty="0"/>
              <a:t> prior, then the posterior is also </a:t>
            </a:r>
            <a:r>
              <a:rPr lang="en-US" sz="2000" dirty="0" err="1"/>
              <a:t>Dirichlet</a:t>
            </a:r>
            <a:r>
              <a:rPr lang="en-US" sz="2000" dirty="0"/>
              <a:t>!)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2000" dirty="0"/>
              <a:t>The </a:t>
            </a:r>
            <a:r>
              <a:rPr lang="en-US" sz="2000" dirty="0" err="1"/>
              <a:t>Dirichlet</a:t>
            </a:r>
            <a:r>
              <a:rPr lang="en-US" sz="2000" dirty="0"/>
              <a:t> parameter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</a:t>
            </a:r>
            <a:r>
              <a:rPr lang="en-US" sz="2000" baseline="-25000" dirty="0" err="1">
                <a:sym typeface="Symbol" panose="05050102010706020507" pitchFamily="18" charset="2"/>
              </a:rPr>
              <a:t>i</a:t>
            </a:r>
            <a:r>
              <a:rPr lang="en-US" sz="2000" dirty="0"/>
              <a:t> can be thought of as a prior count of the </a:t>
            </a:r>
            <a:r>
              <a:rPr lang="en-US" sz="2000" dirty="0" err="1"/>
              <a:t>i</a:t>
            </a:r>
            <a:r>
              <a:rPr lang="en-US" sz="2000" baseline="30000" dirty="0" err="1"/>
              <a:t>th</a:t>
            </a:r>
            <a:r>
              <a:rPr lang="en-US" sz="2000" dirty="0"/>
              <a:t> topic.</a:t>
            </a:r>
          </a:p>
        </p:txBody>
      </p:sp>
      <p:pic>
        <p:nvPicPr>
          <p:cNvPr id="94212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343400"/>
            <a:ext cx="6502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9603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LDA Model Details</a:t>
            </a:r>
          </a:p>
        </p:txBody>
      </p:sp>
    </p:spTree>
    <p:extLst>
      <p:ext uri="{BB962C8B-B14F-4D97-AF65-F5344CB8AC3E}">
        <p14:creationId xmlns:p14="http://schemas.microsoft.com/office/powerpoint/2010/main" val="412161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LDA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259" name="Rectangle 3"/>
              <p:cNvSpPr>
                <a:spLocks noGrp="1" noChangeArrowheads="1"/>
              </p:cNvSpPr>
              <p:nvPr>
                <p:ph idx="13"/>
              </p:nvPr>
            </p:nvSpPr>
            <p:spPr>
              <a:xfrm>
                <a:off x="1981200" y="1219201"/>
                <a:ext cx="8229600" cy="217306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None/>
                </a:pPr>
                <a:r>
                  <a:rPr lang="en-US" sz="2000" dirty="0"/>
                  <a:t>For each document,</a:t>
                </a:r>
              </a:p>
              <a:p>
                <a:r>
                  <a:rPr lang="en-US" altLang="zh-TW" sz="2000" dirty="0"/>
                  <a:t>Choose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 </a:t>
                </a:r>
                <a:endParaRPr lang="en-US" sz="2000" dirty="0"/>
              </a:p>
              <a:p>
                <a:r>
                  <a:rPr lang="en-US" sz="2000" dirty="0"/>
                  <a:t>Choose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∼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Dirichlet</a:t>
                </a:r>
                <a:r>
                  <a:rPr lang="en-US" sz="2000" dirty="0"/>
                  <a:t>(</a:t>
                </a:r>
                <a:r>
                  <a:rPr lang="en-US" sz="2000" dirty="0">
                    <a:latin typeface="Symbol" panose="05050102010706020507" pitchFamily="18" charset="2"/>
                    <a:sym typeface="Symbol" panose="05050102010706020507" pitchFamily="18" charset="2"/>
                  </a:rPr>
                  <a:t>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For each of the N words </a:t>
                </a:r>
                <a:r>
                  <a:rPr lang="en-US" sz="2000" dirty="0" err="1"/>
                  <a:t>w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:</a:t>
                </a:r>
              </a:p>
              <a:p>
                <a:pPr lvl="1"/>
                <a:r>
                  <a:rPr lang="en-US" sz="2000" dirty="0"/>
                  <a:t>Choose a topic </a:t>
                </a:r>
                <a:r>
                  <a:rPr lang="en-US" sz="2000" dirty="0" err="1"/>
                  <a:t>z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000" dirty="0"/>
                  <a:t>Multinomial(</a:t>
                </a:r>
                <a:r>
                  <a:rPr lang="en-US" sz="2000" dirty="0">
                    <a:latin typeface="Symbol" panose="05050102010706020507" pitchFamily="18" charset="2"/>
                    <a:sym typeface="Symbol" panose="05050102010706020507" pitchFamily="18" charset="2"/>
                  </a:rPr>
                  <a:t></a:t>
                </a:r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Choose a word </a:t>
                </a:r>
                <a:r>
                  <a:rPr lang="en-US" sz="2000" dirty="0" err="1"/>
                  <a:t>w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a multinomial probability conditioned on the topic </a:t>
                </a:r>
                <a:r>
                  <a:rPr lang="en-US" sz="2000" dirty="0" err="1"/>
                  <a:t>z</a:t>
                </a:r>
                <a:r>
                  <a:rPr lang="en-US" sz="2000" baseline="-25000" dirty="0" err="1"/>
                  <a:t>n</a:t>
                </a:r>
                <a:endParaRPr lang="en-US" sz="2000" dirty="0"/>
              </a:p>
            </p:txBody>
          </p:sp>
        </mc:Choice>
        <mc:Fallback xmlns="">
          <p:sp>
            <p:nvSpPr>
              <p:cNvPr id="962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981200" y="1219201"/>
                <a:ext cx="8229600" cy="2173069"/>
              </a:xfrm>
              <a:blipFill>
                <a:blip r:embed="rId3"/>
                <a:stretch>
                  <a:fillRect l="-667" t="-3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438400" y="3352800"/>
            <a:ext cx="7772400" cy="3200400"/>
            <a:chOff x="883920" y="3352800"/>
            <a:chExt cx="7772400" cy="3200400"/>
          </a:xfrm>
        </p:grpSpPr>
        <p:sp>
          <p:nvSpPr>
            <p:cNvPr id="6" name="Oval 3"/>
            <p:cNvSpPr>
              <a:spLocks noChangeArrowheads="1"/>
            </p:cNvSpPr>
            <p:nvPr/>
          </p:nvSpPr>
          <p:spPr bwMode="auto">
            <a:xfrm>
              <a:off x="1798320" y="41148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27127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4</a:t>
              </a: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21031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3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14935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2</a:t>
              </a:r>
            </a:p>
          </p:txBody>
        </p:sp>
        <p:cxnSp>
          <p:nvCxnSpPr>
            <p:cNvPr id="10" name="AutoShape 7"/>
            <p:cNvCxnSpPr>
              <a:cxnSpLocks noChangeShapeType="1"/>
              <a:stCxn id="6" idx="4"/>
              <a:endCxn id="14" idx="0"/>
            </p:cNvCxnSpPr>
            <p:nvPr/>
          </p:nvCxnSpPr>
          <p:spPr bwMode="auto">
            <a:xfrm flipH="1">
              <a:off x="10744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8"/>
            <p:cNvCxnSpPr>
              <a:cxnSpLocks noChangeShapeType="1"/>
              <a:stCxn id="6" idx="4"/>
              <a:endCxn id="9" idx="0"/>
            </p:cNvCxnSpPr>
            <p:nvPr/>
          </p:nvCxnSpPr>
          <p:spPr bwMode="auto">
            <a:xfrm flipH="1">
              <a:off x="16840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9"/>
            <p:cNvCxnSpPr>
              <a:cxnSpLocks noChangeShapeType="1"/>
              <a:stCxn id="6" idx="4"/>
              <a:endCxn id="8" idx="0"/>
            </p:cNvCxnSpPr>
            <p:nvPr/>
          </p:nvCxnSpPr>
          <p:spPr bwMode="auto">
            <a:xfrm>
              <a:off x="19888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10"/>
            <p:cNvCxnSpPr>
              <a:cxnSpLocks noChangeShapeType="1"/>
              <a:stCxn id="6" idx="4"/>
              <a:endCxn id="7" idx="0"/>
            </p:cNvCxnSpPr>
            <p:nvPr/>
          </p:nvCxnSpPr>
          <p:spPr bwMode="auto">
            <a:xfrm>
              <a:off x="19888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8839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1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27127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4</a:t>
              </a:r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21031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3</a:t>
              </a:r>
            </a:p>
          </p:txBody>
        </p:sp>
        <p:sp>
          <p:nvSpPr>
            <p:cNvPr id="17" name="Oval 14"/>
            <p:cNvSpPr>
              <a:spLocks noChangeArrowheads="1"/>
            </p:cNvSpPr>
            <p:nvPr/>
          </p:nvSpPr>
          <p:spPr bwMode="auto">
            <a:xfrm>
              <a:off x="14935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2</a:t>
              </a:r>
            </a:p>
          </p:txBody>
        </p:sp>
        <p:sp>
          <p:nvSpPr>
            <p:cNvPr id="18" name="Oval 15"/>
            <p:cNvSpPr>
              <a:spLocks noChangeArrowheads="1"/>
            </p:cNvSpPr>
            <p:nvPr/>
          </p:nvSpPr>
          <p:spPr bwMode="auto">
            <a:xfrm>
              <a:off x="8839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1</a:t>
              </a:r>
            </a:p>
          </p:txBody>
        </p:sp>
        <p:cxnSp>
          <p:nvCxnSpPr>
            <p:cNvPr id="19" name="AutoShape 16"/>
            <p:cNvCxnSpPr>
              <a:cxnSpLocks noChangeShapeType="1"/>
              <a:stCxn id="14" idx="4"/>
              <a:endCxn id="18" idx="0"/>
            </p:cNvCxnSpPr>
            <p:nvPr/>
          </p:nvCxnSpPr>
          <p:spPr bwMode="auto">
            <a:xfrm>
              <a:off x="10744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7"/>
            <p:cNvCxnSpPr>
              <a:cxnSpLocks noChangeShapeType="1"/>
              <a:stCxn id="7" idx="4"/>
              <a:endCxn id="15" idx="0"/>
            </p:cNvCxnSpPr>
            <p:nvPr/>
          </p:nvCxnSpPr>
          <p:spPr bwMode="auto">
            <a:xfrm>
              <a:off x="29032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8"/>
            <p:cNvCxnSpPr>
              <a:cxnSpLocks noChangeShapeType="1"/>
              <a:stCxn id="8" idx="4"/>
              <a:endCxn id="16" idx="0"/>
            </p:cNvCxnSpPr>
            <p:nvPr/>
          </p:nvCxnSpPr>
          <p:spPr bwMode="auto">
            <a:xfrm>
              <a:off x="22936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9"/>
            <p:cNvCxnSpPr>
              <a:cxnSpLocks noChangeShapeType="1"/>
              <a:stCxn id="9" idx="4"/>
              <a:endCxn id="17" idx="0"/>
            </p:cNvCxnSpPr>
            <p:nvPr/>
          </p:nvCxnSpPr>
          <p:spPr bwMode="auto">
            <a:xfrm>
              <a:off x="16840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4541520" y="33528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600" b="1" dirty="0">
                  <a:latin typeface="Symbol" panose="05050102010706020507" pitchFamily="18" charset="2"/>
                  <a:sym typeface="Symbol" panose="05050102010706020507" pitchFamily="18" charset="2"/>
                </a:rPr>
                <a:t></a:t>
              </a:r>
            </a:p>
          </p:txBody>
        </p:sp>
        <p:cxnSp>
          <p:nvCxnSpPr>
            <p:cNvPr id="24" name="AutoShape 21"/>
            <p:cNvCxnSpPr>
              <a:cxnSpLocks noChangeShapeType="1"/>
              <a:stCxn id="23" idx="4"/>
              <a:endCxn id="6" idx="0"/>
            </p:cNvCxnSpPr>
            <p:nvPr/>
          </p:nvCxnSpPr>
          <p:spPr bwMode="auto">
            <a:xfrm flipH="1">
              <a:off x="1988820" y="3733800"/>
              <a:ext cx="274320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4541520" y="61722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Symbol" panose="05050102010706020507" pitchFamily="18" charset="2"/>
                  <a:sym typeface="Symbol" panose="05050102010706020507" pitchFamily="18" charset="2"/>
                </a:rPr>
                <a:t> b</a:t>
              </a:r>
            </a:p>
          </p:txBody>
        </p:sp>
        <p:cxnSp>
          <p:nvCxnSpPr>
            <p:cNvPr id="26" name="AutoShape 23"/>
            <p:cNvCxnSpPr>
              <a:cxnSpLocks noChangeShapeType="1"/>
              <a:stCxn id="25" idx="0"/>
              <a:endCxn id="18" idx="4"/>
            </p:cNvCxnSpPr>
            <p:nvPr/>
          </p:nvCxnSpPr>
          <p:spPr bwMode="auto">
            <a:xfrm flipH="1" flipV="1">
              <a:off x="1074420" y="5715000"/>
              <a:ext cx="36576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4"/>
            <p:cNvCxnSpPr>
              <a:cxnSpLocks noChangeShapeType="1"/>
              <a:stCxn id="25" idx="0"/>
              <a:endCxn id="15" idx="4"/>
            </p:cNvCxnSpPr>
            <p:nvPr/>
          </p:nvCxnSpPr>
          <p:spPr bwMode="auto">
            <a:xfrm flipH="1" flipV="1">
              <a:off x="2903220" y="5715000"/>
              <a:ext cx="18288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5"/>
            <p:cNvCxnSpPr>
              <a:cxnSpLocks noChangeShapeType="1"/>
              <a:stCxn id="25" idx="0"/>
              <a:endCxn id="17" idx="4"/>
            </p:cNvCxnSpPr>
            <p:nvPr/>
          </p:nvCxnSpPr>
          <p:spPr bwMode="auto">
            <a:xfrm flipH="1" flipV="1">
              <a:off x="1684020" y="5715000"/>
              <a:ext cx="30480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6"/>
            <p:cNvCxnSpPr>
              <a:cxnSpLocks noChangeShapeType="1"/>
              <a:stCxn id="25" idx="0"/>
              <a:endCxn id="16" idx="4"/>
            </p:cNvCxnSpPr>
            <p:nvPr/>
          </p:nvCxnSpPr>
          <p:spPr bwMode="auto">
            <a:xfrm flipH="1" flipV="1">
              <a:off x="2293620" y="5715000"/>
              <a:ext cx="24384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4541520" y="41148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54559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4</a:t>
              </a:r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48463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3</a:t>
              </a: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2367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2</a:t>
              </a:r>
            </a:p>
          </p:txBody>
        </p:sp>
        <p:cxnSp>
          <p:nvCxnSpPr>
            <p:cNvPr id="34" name="AutoShape 31"/>
            <p:cNvCxnSpPr>
              <a:cxnSpLocks noChangeShapeType="1"/>
              <a:stCxn id="30" idx="4"/>
              <a:endCxn id="38" idx="0"/>
            </p:cNvCxnSpPr>
            <p:nvPr/>
          </p:nvCxnSpPr>
          <p:spPr bwMode="auto">
            <a:xfrm flipH="1">
              <a:off x="38176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32"/>
            <p:cNvCxnSpPr>
              <a:cxnSpLocks noChangeShapeType="1"/>
              <a:stCxn id="30" idx="4"/>
              <a:endCxn id="33" idx="0"/>
            </p:cNvCxnSpPr>
            <p:nvPr/>
          </p:nvCxnSpPr>
          <p:spPr bwMode="auto">
            <a:xfrm flipH="1">
              <a:off x="44272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33"/>
            <p:cNvCxnSpPr>
              <a:cxnSpLocks noChangeShapeType="1"/>
              <a:stCxn id="30" idx="4"/>
              <a:endCxn id="32" idx="0"/>
            </p:cNvCxnSpPr>
            <p:nvPr/>
          </p:nvCxnSpPr>
          <p:spPr bwMode="auto">
            <a:xfrm>
              <a:off x="47320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AutoShape 34"/>
            <p:cNvCxnSpPr>
              <a:cxnSpLocks noChangeShapeType="1"/>
              <a:stCxn id="30" idx="4"/>
              <a:endCxn id="31" idx="0"/>
            </p:cNvCxnSpPr>
            <p:nvPr/>
          </p:nvCxnSpPr>
          <p:spPr bwMode="auto">
            <a:xfrm>
              <a:off x="47320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36271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1</a:t>
              </a: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54559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4</a:t>
              </a: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48463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3</a:t>
              </a: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42367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2</a:t>
              </a: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36271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1</a:t>
              </a:r>
            </a:p>
          </p:txBody>
        </p:sp>
        <p:cxnSp>
          <p:nvCxnSpPr>
            <p:cNvPr id="43" name="AutoShape 40"/>
            <p:cNvCxnSpPr>
              <a:cxnSpLocks noChangeShapeType="1"/>
              <a:stCxn id="38" idx="4"/>
              <a:endCxn id="42" idx="0"/>
            </p:cNvCxnSpPr>
            <p:nvPr/>
          </p:nvCxnSpPr>
          <p:spPr bwMode="auto">
            <a:xfrm>
              <a:off x="38176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41"/>
            <p:cNvCxnSpPr>
              <a:cxnSpLocks noChangeShapeType="1"/>
              <a:stCxn id="31" idx="4"/>
              <a:endCxn id="39" idx="0"/>
            </p:cNvCxnSpPr>
            <p:nvPr/>
          </p:nvCxnSpPr>
          <p:spPr bwMode="auto">
            <a:xfrm>
              <a:off x="56464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42"/>
            <p:cNvCxnSpPr>
              <a:cxnSpLocks noChangeShapeType="1"/>
              <a:stCxn id="32" idx="4"/>
              <a:endCxn id="40" idx="0"/>
            </p:cNvCxnSpPr>
            <p:nvPr/>
          </p:nvCxnSpPr>
          <p:spPr bwMode="auto">
            <a:xfrm>
              <a:off x="50368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AutoShape 43"/>
            <p:cNvCxnSpPr>
              <a:cxnSpLocks noChangeShapeType="1"/>
              <a:stCxn id="33" idx="4"/>
              <a:endCxn id="41" idx="0"/>
            </p:cNvCxnSpPr>
            <p:nvPr/>
          </p:nvCxnSpPr>
          <p:spPr bwMode="auto">
            <a:xfrm>
              <a:off x="44272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AutoShape 44"/>
            <p:cNvCxnSpPr>
              <a:cxnSpLocks noChangeShapeType="1"/>
              <a:stCxn id="23" idx="4"/>
              <a:endCxn id="30" idx="0"/>
            </p:cNvCxnSpPr>
            <p:nvPr/>
          </p:nvCxnSpPr>
          <p:spPr bwMode="auto">
            <a:xfrm>
              <a:off x="4732020" y="3733800"/>
              <a:ext cx="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7360920" y="41148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sz="1600" b="1">
                  <a:latin typeface="Symbol" panose="05050102010706020507" pitchFamily="18" charset="2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82753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4</a:t>
              </a:r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76657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3</a:t>
              </a:r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70561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2</a:t>
              </a:r>
            </a:p>
          </p:txBody>
        </p:sp>
        <p:cxnSp>
          <p:nvCxnSpPr>
            <p:cNvPr id="52" name="AutoShape 49"/>
            <p:cNvCxnSpPr>
              <a:cxnSpLocks noChangeShapeType="1"/>
              <a:stCxn id="48" idx="4"/>
              <a:endCxn id="56" idx="0"/>
            </p:cNvCxnSpPr>
            <p:nvPr/>
          </p:nvCxnSpPr>
          <p:spPr bwMode="auto">
            <a:xfrm flipH="1">
              <a:off x="66370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AutoShape 50"/>
            <p:cNvCxnSpPr>
              <a:cxnSpLocks noChangeShapeType="1"/>
              <a:stCxn id="48" idx="4"/>
              <a:endCxn id="51" idx="0"/>
            </p:cNvCxnSpPr>
            <p:nvPr/>
          </p:nvCxnSpPr>
          <p:spPr bwMode="auto">
            <a:xfrm flipH="1">
              <a:off x="72466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AutoShape 51"/>
            <p:cNvCxnSpPr>
              <a:cxnSpLocks noChangeShapeType="1"/>
              <a:stCxn id="48" idx="4"/>
              <a:endCxn id="50" idx="0"/>
            </p:cNvCxnSpPr>
            <p:nvPr/>
          </p:nvCxnSpPr>
          <p:spPr bwMode="auto">
            <a:xfrm>
              <a:off x="7551420" y="4495800"/>
              <a:ext cx="3048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AutoShape 52"/>
            <p:cNvCxnSpPr>
              <a:cxnSpLocks noChangeShapeType="1"/>
              <a:stCxn id="48" idx="4"/>
              <a:endCxn id="49" idx="0"/>
            </p:cNvCxnSpPr>
            <p:nvPr/>
          </p:nvCxnSpPr>
          <p:spPr bwMode="auto">
            <a:xfrm>
              <a:off x="7551420" y="4495800"/>
              <a:ext cx="91440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Oval 53"/>
            <p:cNvSpPr>
              <a:spLocks noChangeArrowheads="1"/>
            </p:cNvSpPr>
            <p:nvPr/>
          </p:nvSpPr>
          <p:spPr bwMode="auto">
            <a:xfrm>
              <a:off x="6446520" y="4724400"/>
              <a:ext cx="3810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z</a:t>
              </a:r>
              <a:r>
                <a:rPr lang="en-US" baseline="-25000"/>
                <a:t>1</a:t>
              </a:r>
            </a:p>
          </p:txBody>
        </p:sp>
        <p:sp>
          <p:nvSpPr>
            <p:cNvPr id="57" name="Oval 54"/>
            <p:cNvSpPr>
              <a:spLocks noChangeArrowheads="1"/>
            </p:cNvSpPr>
            <p:nvPr/>
          </p:nvSpPr>
          <p:spPr bwMode="auto">
            <a:xfrm>
              <a:off x="82753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4</a:t>
              </a:r>
            </a:p>
          </p:txBody>
        </p:sp>
        <p:sp>
          <p:nvSpPr>
            <p:cNvPr id="58" name="Oval 55"/>
            <p:cNvSpPr>
              <a:spLocks noChangeArrowheads="1"/>
            </p:cNvSpPr>
            <p:nvPr/>
          </p:nvSpPr>
          <p:spPr bwMode="auto">
            <a:xfrm>
              <a:off x="76657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3</a:t>
              </a:r>
            </a:p>
          </p:txBody>
        </p:sp>
        <p:sp>
          <p:nvSpPr>
            <p:cNvPr id="59" name="Oval 56"/>
            <p:cNvSpPr>
              <a:spLocks noChangeArrowheads="1"/>
            </p:cNvSpPr>
            <p:nvPr/>
          </p:nvSpPr>
          <p:spPr bwMode="auto">
            <a:xfrm>
              <a:off x="70561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2</a:t>
              </a:r>
            </a:p>
          </p:txBody>
        </p:sp>
        <p:sp>
          <p:nvSpPr>
            <p:cNvPr id="60" name="Oval 57"/>
            <p:cNvSpPr>
              <a:spLocks noChangeArrowheads="1"/>
            </p:cNvSpPr>
            <p:nvPr/>
          </p:nvSpPr>
          <p:spPr bwMode="auto">
            <a:xfrm>
              <a:off x="6446520" y="5334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/>
                <a:t>w</a:t>
              </a:r>
              <a:r>
                <a:rPr lang="en-US" baseline="-25000"/>
                <a:t>1</a:t>
              </a:r>
            </a:p>
          </p:txBody>
        </p:sp>
        <p:cxnSp>
          <p:nvCxnSpPr>
            <p:cNvPr id="61" name="AutoShape 58"/>
            <p:cNvCxnSpPr>
              <a:cxnSpLocks noChangeShapeType="1"/>
              <a:stCxn id="56" idx="4"/>
              <a:endCxn id="60" idx="0"/>
            </p:cNvCxnSpPr>
            <p:nvPr/>
          </p:nvCxnSpPr>
          <p:spPr bwMode="auto">
            <a:xfrm>
              <a:off x="66370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59"/>
            <p:cNvCxnSpPr>
              <a:cxnSpLocks noChangeShapeType="1"/>
              <a:stCxn id="49" idx="4"/>
              <a:endCxn id="57" idx="0"/>
            </p:cNvCxnSpPr>
            <p:nvPr/>
          </p:nvCxnSpPr>
          <p:spPr bwMode="auto">
            <a:xfrm>
              <a:off x="84658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60"/>
            <p:cNvCxnSpPr>
              <a:cxnSpLocks noChangeShapeType="1"/>
              <a:stCxn id="50" idx="4"/>
              <a:endCxn id="58" idx="0"/>
            </p:cNvCxnSpPr>
            <p:nvPr/>
          </p:nvCxnSpPr>
          <p:spPr bwMode="auto">
            <a:xfrm>
              <a:off x="78562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61"/>
            <p:cNvCxnSpPr>
              <a:cxnSpLocks noChangeShapeType="1"/>
              <a:stCxn id="51" idx="4"/>
              <a:endCxn id="59" idx="0"/>
            </p:cNvCxnSpPr>
            <p:nvPr/>
          </p:nvCxnSpPr>
          <p:spPr bwMode="auto">
            <a:xfrm>
              <a:off x="7246620" y="5105400"/>
              <a:ext cx="0" cy="228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AutoShape 62"/>
            <p:cNvCxnSpPr>
              <a:cxnSpLocks noChangeShapeType="1"/>
              <a:stCxn id="23" idx="4"/>
              <a:endCxn id="48" idx="0"/>
            </p:cNvCxnSpPr>
            <p:nvPr/>
          </p:nvCxnSpPr>
          <p:spPr bwMode="auto">
            <a:xfrm>
              <a:off x="4732020" y="3733800"/>
              <a:ext cx="2819400" cy="381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AutoShape 63"/>
            <p:cNvCxnSpPr>
              <a:cxnSpLocks noChangeShapeType="1"/>
              <a:stCxn id="25" idx="0"/>
              <a:endCxn id="42" idx="4"/>
            </p:cNvCxnSpPr>
            <p:nvPr/>
          </p:nvCxnSpPr>
          <p:spPr bwMode="auto">
            <a:xfrm flipH="1" flipV="1">
              <a:off x="3817620" y="5715000"/>
              <a:ext cx="9144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64"/>
            <p:cNvCxnSpPr>
              <a:cxnSpLocks noChangeShapeType="1"/>
              <a:stCxn id="25" idx="0"/>
              <a:endCxn id="41" idx="4"/>
            </p:cNvCxnSpPr>
            <p:nvPr/>
          </p:nvCxnSpPr>
          <p:spPr bwMode="auto">
            <a:xfrm flipH="1" flipV="1">
              <a:off x="4427220" y="5715000"/>
              <a:ext cx="3048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65"/>
            <p:cNvCxnSpPr>
              <a:cxnSpLocks noChangeShapeType="1"/>
              <a:stCxn id="25" idx="0"/>
              <a:endCxn id="40" idx="4"/>
            </p:cNvCxnSpPr>
            <p:nvPr/>
          </p:nvCxnSpPr>
          <p:spPr bwMode="auto">
            <a:xfrm flipV="1">
              <a:off x="4732020" y="5715000"/>
              <a:ext cx="3048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AutoShape 66"/>
            <p:cNvCxnSpPr>
              <a:cxnSpLocks noChangeShapeType="1"/>
              <a:stCxn id="25" idx="0"/>
              <a:endCxn id="39" idx="4"/>
            </p:cNvCxnSpPr>
            <p:nvPr/>
          </p:nvCxnSpPr>
          <p:spPr bwMode="auto">
            <a:xfrm flipV="1">
              <a:off x="4732020" y="5715000"/>
              <a:ext cx="9144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67"/>
            <p:cNvCxnSpPr>
              <a:cxnSpLocks noChangeShapeType="1"/>
              <a:stCxn id="25" idx="0"/>
              <a:endCxn id="60" idx="4"/>
            </p:cNvCxnSpPr>
            <p:nvPr/>
          </p:nvCxnSpPr>
          <p:spPr bwMode="auto">
            <a:xfrm flipV="1">
              <a:off x="4732020" y="5715000"/>
              <a:ext cx="19050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68"/>
            <p:cNvCxnSpPr>
              <a:cxnSpLocks noChangeShapeType="1"/>
              <a:stCxn id="25" idx="0"/>
              <a:endCxn id="59" idx="4"/>
            </p:cNvCxnSpPr>
            <p:nvPr/>
          </p:nvCxnSpPr>
          <p:spPr bwMode="auto">
            <a:xfrm flipV="1">
              <a:off x="4732020" y="5715000"/>
              <a:ext cx="25146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69"/>
            <p:cNvCxnSpPr>
              <a:cxnSpLocks noChangeShapeType="1"/>
              <a:stCxn id="25" idx="0"/>
              <a:endCxn id="58" idx="4"/>
            </p:cNvCxnSpPr>
            <p:nvPr/>
          </p:nvCxnSpPr>
          <p:spPr bwMode="auto">
            <a:xfrm flipV="1">
              <a:off x="4732020" y="5715000"/>
              <a:ext cx="31242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70"/>
            <p:cNvCxnSpPr>
              <a:cxnSpLocks noChangeShapeType="1"/>
              <a:stCxn id="25" idx="0"/>
              <a:endCxn id="57" idx="4"/>
            </p:cNvCxnSpPr>
            <p:nvPr/>
          </p:nvCxnSpPr>
          <p:spPr bwMode="auto">
            <a:xfrm flipV="1">
              <a:off x="4732020" y="5715000"/>
              <a:ext cx="3733800" cy="457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TextBox 1"/>
          <p:cNvSpPr txBox="1"/>
          <p:nvPr/>
        </p:nvSpPr>
        <p:spPr>
          <a:xfrm>
            <a:off x="6781800" y="1447801"/>
            <a:ext cx="3376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Multinomial is also called as </a:t>
            </a:r>
          </a:p>
          <a:p>
            <a:r>
              <a:rPr lang="en-US" dirty="0"/>
              <a:t>Discrete</a:t>
            </a:r>
          </a:p>
        </p:txBody>
      </p:sp>
    </p:spTree>
    <p:extLst>
      <p:ext uri="{BB962C8B-B14F-4D97-AF65-F5344CB8AC3E}">
        <p14:creationId xmlns:p14="http://schemas.microsoft.com/office/powerpoint/2010/main" val="3719339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Latent </a:t>
            </a:r>
            <a:r>
              <a:rPr lang="en-US" dirty="0" err="1"/>
              <a:t>Dirichlet</a:t>
            </a:r>
            <a:r>
              <a:rPr lang="en-US" dirty="0"/>
              <a:t> Allocation</a:t>
            </a:r>
          </a:p>
        </p:txBody>
      </p:sp>
      <p:sp>
        <p:nvSpPr>
          <p:cNvPr id="23576" name="Text Box 27"/>
          <p:cNvSpPr txBox="1">
            <a:spLocks noChangeArrowheads="1"/>
          </p:cNvSpPr>
          <p:nvPr/>
        </p:nvSpPr>
        <p:spPr bwMode="auto">
          <a:xfrm>
            <a:off x="7602539" y="3122613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i="1">
                <a:sym typeface="Symbol" panose="05050102010706020507" pitchFamily="18" charset="2"/>
              </a:rPr>
              <a:t> </a:t>
            </a:r>
            <a:r>
              <a:rPr lang="en-US" baseline="30000">
                <a:sym typeface="Symbol" panose="05050102010706020507" pitchFamily="18" charset="2"/>
              </a:rPr>
              <a:t>(</a:t>
            </a:r>
            <a:r>
              <a:rPr lang="en-US" i="1" baseline="30000">
                <a:sym typeface="Symbol" panose="05050102010706020507" pitchFamily="18" charset="2"/>
              </a:rPr>
              <a:t>d</a:t>
            </a:r>
            <a:r>
              <a:rPr lang="en-US" baseline="30000">
                <a:sym typeface="Symbol" panose="05050102010706020507" pitchFamily="18" charset="2"/>
              </a:rPr>
              <a:t>)</a:t>
            </a:r>
            <a:r>
              <a:rPr lang="en-US">
                <a:sym typeface="Symbol" panose="05050102010706020507" pitchFamily="18" charset="2"/>
              </a:rPr>
              <a:t>  Dirichlet(</a:t>
            </a:r>
            <a:r>
              <a:rPr lang="en-US" i="1">
                <a:sym typeface="Symbol" panose="05050102010706020507" pitchFamily="18" charset="2"/>
              </a:rPr>
              <a:t></a:t>
            </a:r>
            <a:r>
              <a:rPr lang="en-US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3577" name="Text Box 28"/>
          <p:cNvSpPr txBox="1">
            <a:spLocks noChangeArrowheads="1"/>
          </p:cNvSpPr>
          <p:nvPr/>
        </p:nvSpPr>
        <p:spPr bwMode="auto">
          <a:xfrm>
            <a:off x="7854950" y="4370389"/>
            <a:ext cx="24432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i="1"/>
              <a:t>z</a:t>
            </a:r>
            <a:r>
              <a:rPr lang="en-US" i="1" baseline="-25000"/>
              <a:t>i</a:t>
            </a:r>
            <a:r>
              <a:rPr lang="en-US">
                <a:sym typeface="Symbol" panose="05050102010706020507" pitchFamily="18" charset="2"/>
              </a:rPr>
              <a:t>  Discrete(</a:t>
            </a:r>
            <a:r>
              <a:rPr lang="en-US" i="1">
                <a:sym typeface="Symbol" panose="05050102010706020507" pitchFamily="18" charset="2"/>
              </a:rPr>
              <a:t> </a:t>
            </a:r>
            <a:r>
              <a:rPr lang="en-US" baseline="30000">
                <a:sym typeface="Symbol" panose="05050102010706020507" pitchFamily="18" charset="2"/>
              </a:rPr>
              <a:t>(</a:t>
            </a:r>
            <a:r>
              <a:rPr lang="en-US" i="1" baseline="30000">
                <a:sym typeface="Symbol" panose="05050102010706020507" pitchFamily="18" charset="2"/>
              </a:rPr>
              <a:t>d</a:t>
            </a:r>
            <a:r>
              <a:rPr lang="en-US" baseline="30000">
                <a:sym typeface="Symbol" panose="05050102010706020507" pitchFamily="18" charset="2"/>
              </a:rPr>
              <a:t>) </a:t>
            </a:r>
            <a:r>
              <a:rPr lang="en-US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3578" name="Text Box 29"/>
          <p:cNvSpPr txBox="1">
            <a:spLocks noChangeArrowheads="1"/>
          </p:cNvSpPr>
          <p:nvPr/>
        </p:nvSpPr>
        <p:spPr bwMode="auto">
          <a:xfrm>
            <a:off x="1892301" y="4432300"/>
            <a:ext cx="233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i="1">
                <a:sym typeface="Symbol" panose="05050102010706020507" pitchFamily="18" charset="2"/>
              </a:rPr>
              <a:t></a:t>
            </a:r>
            <a:r>
              <a:rPr lang="en-US" sz="800" i="1">
                <a:sym typeface="Symbol" panose="05050102010706020507" pitchFamily="18" charset="2"/>
              </a:rPr>
              <a:t> </a:t>
            </a:r>
            <a:r>
              <a:rPr lang="en-US" baseline="30000">
                <a:sym typeface="Symbol" panose="05050102010706020507" pitchFamily="18" charset="2"/>
              </a:rPr>
              <a:t>(</a:t>
            </a:r>
            <a:r>
              <a:rPr lang="en-US" i="1" baseline="30000">
                <a:sym typeface="Symbol" panose="05050102010706020507" pitchFamily="18" charset="2"/>
              </a:rPr>
              <a:t>j</a:t>
            </a:r>
            <a:r>
              <a:rPr lang="en-US" baseline="30000">
                <a:sym typeface="Symbol" panose="05050102010706020507" pitchFamily="18" charset="2"/>
              </a:rPr>
              <a:t>)</a:t>
            </a:r>
            <a:r>
              <a:rPr lang="en-US">
                <a:sym typeface="Symbol" panose="05050102010706020507" pitchFamily="18" charset="2"/>
              </a:rPr>
              <a:t>  Dirichlet(</a:t>
            </a:r>
            <a:r>
              <a:rPr lang="en-US" i="1">
                <a:sym typeface="Symbol" panose="05050102010706020507" pitchFamily="18" charset="2"/>
              </a:rPr>
              <a:t></a:t>
            </a:r>
            <a:r>
              <a:rPr lang="en-US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3579" name="Text Box 30"/>
          <p:cNvSpPr txBox="1">
            <a:spLocks noChangeArrowheads="1"/>
          </p:cNvSpPr>
          <p:nvPr/>
        </p:nvSpPr>
        <p:spPr bwMode="auto">
          <a:xfrm>
            <a:off x="7823200" y="5529263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i="1"/>
              <a:t>w</a:t>
            </a:r>
            <a:r>
              <a:rPr lang="en-US" i="1" baseline="-25000"/>
              <a:t>i</a:t>
            </a:r>
            <a:r>
              <a:rPr lang="en-US">
                <a:sym typeface="Symbol" panose="05050102010706020507" pitchFamily="18" charset="2"/>
              </a:rPr>
              <a:t>  Discrete(</a:t>
            </a:r>
            <a:r>
              <a:rPr lang="en-US" i="1">
                <a:sym typeface="Symbol" panose="05050102010706020507" pitchFamily="18" charset="2"/>
              </a:rPr>
              <a:t></a:t>
            </a:r>
            <a:r>
              <a:rPr lang="en-US" sz="800" i="1">
                <a:sym typeface="Symbol" panose="05050102010706020507" pitchFamily="18" charset="2"/>
              </a:rPr>
              <a:t> </a:t>
            </a:r>
            <a:r>
              <a:rPr lang="en-US" baseline="30000">
                <a:sym typeface="Symbol" panose="05050102010706020507" pitchFamily="18" charset="2"/>
              </a:rPr>
              <a:t>(</a:t>
            </a:r>
            <a:r>
              <a:rPr lang="en-US" i="1" baseline="30000">
                <a:sym typeface="Symbol" panose="05050102010706020507" pitchFamily="18" charset="2"/>
              </a:rPr>
              <a:t>z</a:t>
            </a:r>
            <a:r>
              <a:rPr lang="en-US" sz="1600" i="1" baseline="30000">
                <a:sym typeface="Symbol" panose="05050102010706020507" pitchFamily="18" charset="2"/>
              </a:rPr>
              <a:t>i</a:t>
            </a:r>
            <a:r>
              <a:rPr lang="en-US" baseline="30000">
                <a:sym typeface="Symbol" panose="05050102010706020507" pitchFamily="18" charset="2"/>
              </a:rPr>
              <a:t>) </a:t>
            </a:r>
            <a:r>
              <a:rPr lang="en-US"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498976" y="2043113"/>
            <a:ext cx="2982913" cy="4445000"/>
            <a:chOff x="2974975" y="2043113"/>
            <a:chExt cx="2982913" cy="4445000"/>
          </a:xfrm>
        </p:grpSpPr>
        <p:sp>
          <p:nvSpPr>
            <p:cNvPr id="23554" name="Rectangle 11"/>
            <p:cNvSpPr>
              <a:spLocks noChangeArrowheads="1"/>
            </p:cNvSpPr>
            <p:nvPr/>
          </p:nvSpPr>
          <p:spPr bwMode="auto">
            <a:xfrm>
              <a:off x="4375150" y="4310063"/>
              <a:ext cx="1084263" cy="2117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cxnSp>
          <p:nvCxnSpPr>
            <p:cNvPr id="23555" name="AutoShape 16"/>
            <p:cNvCxnSpPr>
              <a:cxnSpLocks noChangeShapeType="1"/>
              <a:stCxn id="23560" idx="4"/>
              <a:endCxn id="23559" idx="0"/>
            </p:cNvCxnSpPr>
            <p:nvPr/>
          </p:nvCxnSpPr>
          <p:spPr bwMode="auto">
            <a:xfrm>
              <a:off x="4713288" y="3717925"/>
              <a:ext cx="6350" cy="6699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56" name="Rectangle 13"/>
            <p:cNvSpPr>
              <a:spLocks noChangeArrowheads="1"/>
            </p:cNvSpPr>
            <p:nvPr/>
          </p:nvSpPr>
          <p:spPr bwMode="auto">
            <a:xfrm>
              <a:off x="4324350" y="3052763"/>
              <a:ext cx="1633538" cy="3435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58" name="Oval 6"/>
            <p:cNvSpPr>
              <a:spLocks noChangeArrowheads="1"/>
            </p:cNvSpPr>
            <p:nvPr/>
          </p:nvSpPr>
          <p:spPr bwMode="auto">
            <a:xfrm>
              <a:off x="4432300" y="5514975"/>
              <a:ext cx="560388" cy="5746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59" name="Oval 7"/>
            <p:cNvSpPr>
              <a:spLocks noChangeArrowheads="1"/>
            </p:cNvSpPr>
            <p:nvPr/>
          </p:nvSpPr>
          <p:spPr bwMode="auto">
            <a:xfrm>
              <a:off x="4445000" y="4387850"/>
              <a:ext cx="549275" cy="5603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60" name="Oval 8"/>
            <p:cNvSpPr>
              <a:spLocks noChangeArrowheads="1"/>
            </p:cNvSpPr>
            <p:nvPr/>
          </p:nvSpPr>
          <p:spPr bwMode="auto">
            <a:xfrm>
              <a:off x="4432300" y="3143250"/>
              <a:ext cx="561975" cy="5746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61" name="Oval 9"/>
            <p:cNvSpPr>
              <a:spLocks noChangeArrowheads="1"/>
            </p:cNvSpPr>
            <p:nvPr/>
          </p:nvSpPr>
          <p:spPr bwMode="auto">
            <a:xfrm>
              <a:off x="4457700" y="2049463"/>
              <a:ext cx="530225" cy="54292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62" name="Oval 10"/>
            <p:cNvSpPr>
              <a:spLocks noChangeArrowheads="1"/>
            </p:cNvSpPr>
            <p:nvPr/>
          </p:nvSpPr>
          <p:spPr bwMode="auto">
            <a:xfrm>
              <a:off x="3371850" y="4437063"/>
              <a:ext cx="563563" cy="5603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63" name="Text Box 12"/>
            <p:cNvSpPr txBox="1">
              <a:spLocks noChangeArrowheads="1"/>
            </p:cNvSpPr>
            <p:nvPr/>
          </p:nvSpPr>
          <p:spPr bwMode="auto">
            <a:xfrm>
              <a:off x="4903788" y="59007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/>
                <a:t>N</a:t>
              </a:r>
              <a:r>
                <a:rPr lang="en-US" i="1" baseline="-25000"/>
                <a:t>d</a:t>
              </a:r>
            </a:p>
          </p:txBody>
        </p:sp>
        <p:sp>
          <p:nvSpPr>
            <p:cNvPr id="23564" name="Text Box 14"/>
            <p:cNvSpPr txBox="1">
              <a:spLocks noChangeArrowheads="1"/>
            </p:cNvSpPr>
            <p:nvPr/>
          </p:nvSpPr>
          <p:spPr bwMode="auto">
            <a:xfrm>
              <a:off x="5487988" y="5965825"/>
              <a:ext cx="4048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/>
                <a:t>D</a:t>
              </a:r>
              <a:endParaRPr lang="en-US" i="1" baseline="-25000"/>
            </a:p>
          </p:txBody>
        </p:sp>
        <p:cxnSp>
          <p:nvCxnSpPr>
            <p:cNvPr id="23565" name="AutoShape 15"/>
            <p:cNvCxnSpPr>
              <a:cxnSpLocks noChangeShapeType="1"/>
              <a:stCxn id="23561" idx="4"/>
              <a:endCxn id="23560" idx="0"/>
            </p:cNvCxnSpPr>
            <p:nvPr/>
          </p:nvCxnSpPr>
          <p:spPr bwMode="auto">
            <a:xfrm flipH="1">
              <a:off x="4713288" y="2592388"/>
              <a:ext cx="9525" cy="5508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6" name="AutoShape 17"/>
            <p:cNvCxnSpPr>
              <a:cxnSpLocks noChangeShapeType="1"/>
              <a:stCxn id="23559" idx="4"/>
              <a:endCxn id="23558" idx="0"/>
            </p:cNvCxnSpPr>
            <p:nvPr/>
          </p:nvCxnSpPr>
          <p:spPr bwMode="auto">
            <a:xfrm flipH="1">
              <a:off x="4713288" y="4948238"/>
              <a:ext cx="6350" cy="56673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7" name="AutoShape 18"/>
            <p:cNvCxnSpPr>
              <a:cxnSpLocks noChangeShapeType="1"/>
              <a:stCxn id="23562" idx="5"/>
              <a:endCxn id="23558" idx="1"/>
            </p:cNvCxnSpPr>
            <p:nvPr/>
          </p:nvCxnSpPr>
          <p:spPr bwMode="auto">
            <a:xfrm>
              <a:off x="3852863" y="4914900"/>
              <a:ext cx="661987" cy="684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68" name="Text Box 19"/>
            <p:cNvSpPr txBox="1">
              <a:spLocks noChangeArrowheads="1"/>
            </p:cNvSpPr>
            <p:nvPr/>
          </p:nvSpPr>
          <p:spPr bwMode="auto">
            <a:xfrm>
              <a:off x="4554538" y="4378325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/>
                <a:t>z</a:t>
              </a:r>
              <a:r>
                <a:rPr lang="en-US" i="1" baseline="-25000"/>
                <a:t>i</a:t>
              </a:r>
            </a:p>
          </p:txBody>
        </p:sp>
        <p:sp>
          <p:nvSpPr>
            <p:cNvPr id="23569" name="Text Box 20"/>
            <p:cNvSpPr txBox="1">
              <a:spLocks noChangeArrowheads="1"/>
            </p:cNvSpPr>
            <p:nvPr/>
          </p:nvSpPr>
          <p:spPr bwMode="auto">
            <a:xfrm>
              <a:off x="4498975" y="5538788"/>
              <a:ext cx="4587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 dirty="0" err="1"/>
                <a:t>w</a:t>
              </a:r>
              <a:r>
                <a:rPr lang="en-US" i="1" baseline="-25000" dirty="0" err="1"/>
                <a:t>i</a:t>
              </a:r>
              <a:endParaRPr lang="en-US" i="1" baseline="-25000" dirty="0"/>
            </a:p>
          </p:txBody>
        </p:sp>
        <p:sp>
          <p:nvSpPr>
            <p:cNvPr id="23570" name="Text Box 21"/>
            <p:cNvSpPr txBox="1">
              <a:spLocks noChangeArrowheads="1"/>
            </p:cNvSpPr>
            <p:nvPr/>
          </p:nvSpPr>
          <p:spPr bwMode="auto">
            <a:xfrm>
              <a:off x="4387850" y="3179763"/>
              <a:ext cx="66236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>
                  <a:sym typeface="Symbol" panose="05050102010706020507" pitchFamily="18" charset="2"/>
                </a:rPr>
                <a:t> </a:t>
              </a:r>
              <a:r>
                <a:rPr lang="en-US" baseline="30000">
                  <a:sym typeface="Symbol" panose="05050102010706020507" pitchFamily="18" charset="2"/>
                </a:rPr>
                <a:t>(</a:t>
              </a:r>
              <a:r>
                <a:rPr lang="en-US" i="1" baseline="30000">
                  <a:sym typeface="Symbol" panose="05050102010706020507" pitchFamily="18" charset="2"/>
                </a:rPr>
                <a:t>d</a:t>
              </a:r>
              <a:r>
                <a:rPr lang="en-US" baseline="30000"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23571" name="Text Box 22"/>
            <p:cNvSpPr txBox="1">
              <a:spLocks noChangeArrowheads="1"/>
            </p:cNvSpPr>
            <p:nvPr/>
          </p:nvSpPr>
          <p:spPr bwMode="auto">
            <a:xfrm>
              <a:off x="3338513" y="4457700"/>
              <a:ext cx="6174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>
                  <a:sym typeface="Symbol" panose="05050102010706020507" pitchFamily="18" charset="2"/>
                </a:rPr>
                <a:t> </a:t>
              </a:r>
              <a:r>
                <a:rPr lang="en-US" baseline="30000">
                  <a:sym typeface="Symbol" panose="05050102010706020507" pitchFamily="18" charset="2"/>
                </a:rPr>
                <a:t>(</a:t>
              </a:r>
              <a:r>
                <a:rPr lang="en-US" i="1" baseline="30000">
                  <a:sym typeface="Symbol" panose="05050102010706020507" pitchFamily="18" charset="2"/>
                </a:rPr>
                <a:t>j</a:t>
              </a:r>
              <a:r>
                <a:rPr lang="en-US" baseline="30000"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23572" name="Oval 23"/>
            <p:cNvSpPr>
              <a:spLocks noChangeArrowheads="1"/>
            </p:cNvSpPr>
            <p:nvPr/>
          </p:nvSpPr>
          <p:spPr bwMode="auto">
            <a:xfrm>
              <a:off x="3375025" y="3390900"/>
              <a:ext cx="546100" cy="5572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cxnSp>
          <p:nvCxnSpPr>
            <p:cNvPr id="23573" name="AutoShape 24"/>
            <p:cNvCxnSpPr>
              <a:cxnSpLocks noChangeShapeType="1"/>
              <a:stCxn id="23572" idx="4"/>
              <a:endCxn id="23571" idx="0"/>
            </p:cNvCxnSpPr>
            <p:nvPr/>
          </p:nvCxnSpPr>
          <p:spPr bwMode="auto">
            <a:xfrm flipH="1">
              <a:off x="3647252" y="3948113"/>
              <a:ext cx="823" cy="509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4" name="Text Box 25"/>
            <p:cNvSpPr txBox="1">
              <a:spLocks noChangeArrowheads="1"/>
            </p:cNvSpPr>
            <p:nvPr/>
          </p:nvSpPr>
          <p:spPr bwMode="auto">
            <a:xfrm>
              <a:off x="4521200" y="2043113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3575" name="Text Box 26"/>
            <p:cNvSpPr txBox="1">
              <a:spLocks noChangeArrowheads="1"/>
            </p:cNvSpPr>
            <p:nvPr/>
          </p:nvSpPr>
          <p:spPr bwMode="auto">
            <a:xfrm>
              <a:off x="3460750" y="3400425"/>
              <a:ext cx="350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3580" name="Rectangle 31"/>
            <p:cNvSpPr>
              <a:spLocks noChangeArrowheads="1"/>
            </p:cNvSpPr>
            <p:nvPr/>
          </p:nvSpPr>
          <p:spPr bwMode="auto">
            <a:xfrm>
              <a:off x="2974975" y="4279900"/>
              <a:ext cx="1033463" cy="1006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3581" name="Text Box 32"/>
            <p:cNvSpPr txBox="1">
              <a:spLocks noChangeArrowheads="1"/>
            </p:cNvSpPr>
            <p:nvPr/>
          </p:nvSpPr>
          <p:spPr bwMode="auto">
            <a:xfrm>
              <a:off x="3033713" y="4768850"/>
              <a:ext cx="3540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i="1"/>
                <a:t>T</a:t>
              </a:r>
              <a:endParaRPr lang="en-US" i="1" baseline="-25000"/>
            </a:p>
          </p:txBody>
        </p:sp>
      </p:grp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6535739" y="2360614"/>
            <a:ext cx="4084637" cy="1000125"/>
            <a:chOff x="3187" y="1357"/>
            <a:chExt cx="2401" cy="669"/>
          </a:xfrm>
        </p:grpSpPr>
        <p:sp>
          <p:nvSpPr>
            <p:cNvPr id="23597" name="Line 33"/>
            <p:cNvSpPr>
              <a:spLocks noChangeShapeType="1"/>
            </p:cNvSpPr>
            <p:nvPr/>
          </p:nvSpPr>
          <p:spPr bwMode="auto">
            <a:xfrm flipH="1">
              <a:off x="3187" y="1709"/>
              <a:ext cx="662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Text Box 34"/>
            <p:cNvSpPr txBox="1">
              <a:spLocks noChangeArrowheads="1"/>
            </p:cNvSpPr>
            <p:nvPr/>
          </p:nvSpPr>
          <p:spPr bwMode="auto">
            <a:xfrm>
              <a:off x="3693" y="1357"/>
              <a:ext cx="1895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>
                  <a:solidFill>
                    <a:srgbClr val="FF0000"/>
                  </a:solidFill>
                </a:rPr>
                <a:t>distribution over topics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for each document</a:t>
              </a: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6573837" y="3635375"/>
            <a:ext cx="3580104" cy="973138"/>
            <a:chOff x="3168" y="2290"/>
            <a:chExt cx="2188" cy="613"/>
          </a:xfrm>
        </p:grpSpPr>
        <p:sp>
          <p:nvSpPr>
            <p:cNvPr id="23595" name="Line 37"/>
            <p:cNvSpPr>
              <a:spLocks noChangeShapeType="1"/>
            </p:cNvSpPr>
            <p:nvPr/>
          </p:nvSpPr>
          <p:spPr bwMode="auto">
            <a:xfrm flipH="1">
              <a:off x="3168" y="2578"/>
              <a:ext cx="816" cy="3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Text Box 38"/>
            <p:cNvSpPr txBox="1">
              <a:spLocks noChangeArrowheads="1"/>
            </p:cNvSpPr>
            <p:nvPr/>
          </p:nvSpPr>
          <p:spPr bwMode="auto">
            <a:xfrm>
              <a:off x="3928" y="2290"/>
              <a:ext cx="14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>
                  <a:solidFill>
                    <a:srgbClr val="FF0000"/>
                  </a:solidFill>
                </a:rPr>
                <a:t>topic assignment 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for each word</a:t>
              </a:r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274762" y="3587750"/>
            <a:ext cx="3724276" cy="901700"/>
            <a:chOff x="-157" y="2260"/>
            <a:chExt cx="2346" cy="568"/>
          </a:xfrm>
        </p:grpSpPr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1612" y="2613"/>
              <a:ext cx="518" cy="2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Text Box 42"/>
            <p:cNvSpPr txBox="1">
              <a:spLocks noChangeArrowheads="1"/>
            </p:cNvSpPr>
            <p:nvPr/>
          </p:nvSpPr>
          <p:spPr bwMode="auto">
            <a:xfrm flipH="1">
              <a:off x="-157" y="2260"/>
              <a:ext cx="234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>
                  <a:solidFill>
                    <a:srgbClr val="FF0000"/>
                  </a:solidFill>
                </a:rPr>
                <a:t>distribution over words 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for each topic</a:t>
              </a:r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6573839" y="4827588"/>
            <a:ext cx="4306887" cy="950912"/>
            <a:chOff x="3181" y="3041"/>
            <a:chExt cx="2713" cy="599"/>
          </a:xfrm>
        </p:grpSpPr>
        <p:sp>
          <p:nvSpPr>
            <p:cNvPr id="23591" name="Line 43"/>
            <p:cNvSpPr>
              <a:spLocks noChangeShapeType="1"/>
            </p:cNvSpPr>
            <p:nvPr/>
          </p:nvSpPr>
          <p:spPr bwMode="auto">
            <a:xfrm flipH="1">
              <a:off x="3181" y="3350"/>
              <a:ext cx="848" cy="2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Text Box 44"/>
            <p:cNvSpPr txBox="1">
              <a:spLocks noChangeArrowheads="1"/>
            </p:cNvSpPr>
            <p:nvPr/>
          </p:nvSpPr>
          <p:spPr bwMode="auto">
            <a:xfrm flipH="1">
              <a:off x="3548" y="3041"/>
              <a:ext cx="234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>
                  <a:solidFill>
                    <a:srgbClr val="FF0000"/>
                  </a:solidFill>
                </a:rPr>
                <a:t>word generated from </a:t>
              </a:r>
            </a:p>
            <a:p>
              <a:pPr algn="ctr"/>
              <a:r>
                <a:rPr lang="en-US">
                  <a:solidFill>
                    <a:srgbClr val="FF0000"/>
                  </a:solidFill>
                </a:rPr>
                <a:t>assigned topic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92313" y="2295525"/>
            <a:ext cx="3879850" cy="1123950"/>
            <a:chOff x="295" y="1446"/>
            <a:chExt cx="2444" cy="708"/>
          </a:xfrm>
        </p:grpSpPr>
        <p:sp>
          <p:nvSpPr>
            <p:cNvPr id="23588" name="Line 48"/>
            <p:cNvSpPr>
              <a:spLocks noChangeShapeType="1"/>
            </p:cNvSpPr>
            <p:nvPr/>
          </p:nvSpPr>
          <p:spPr bwMode="auto">
            <a:xfrm>
              <a:off x="1921" y="1873"/>
              <a:ext cx="229" cy="2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Text Box 49"/>
            <p:cNvSpPr txBox="1">
              <a:spLocks noChangeArrowheads="1"/>
            </p:cNvSpPr>
            <p:nvPr/>
          </p:nvSpPr>
          <p:spPr bwMode="auto">
            <a:xfrm>
              <a:off x="295" y="1651"/>
              <a:ext cx="20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>
                  <a:solidFill>
                    <a:srgbClr val="FF0000"/>
                  </a:solidFill>
                </a:rPr>
                <a:t>Dirichlet priors</a:t>
              </a:r>
            </a:p>
          </p:txBody>
        </p:sp>
        <p:sp>
          <p:nvSpPr>
            <p:cNvPr id="23590" name="Line 50"/>
            <p:cNvSpPr>
              <a:spLocks noChangeShapeType="1"/>
            </p:cNvSpPr>
            <p:nvPr/>
          </p:nvSpPr>
          <p:spPr bwMode="auto">
            <a:xfrm flipV="1">
              <a:off x="1911" y="1446"/>
              <a:ext cx="828" cy="32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92301" y="1295401"/>
                <a:ext cx="6785063" cy="656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Let K=#topics, D=#documents,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=#words in doc d, V=vocabulary size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301" y="1295401"/>
                <a:ext cx="6785063" cy="656655"/>
              </a:xfrm>
              <a:prstGeom prst="rect">
                <a:avLst/>
              </a:prstGeom>
              <a:blipFill>
                <a:blip r:embed="rId3"/>
                <a:stretch>
                  <a:fillRect l="-719" t="-5607" b="-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032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Parameters and Variables in Latent </a:t>
            </a:r>
            <a:r>
              <a:rPr lang="en-US" altLang="zh-TW" dirty="0" err="1"/>
              <a:t>Dirichlet</a:t>
            </a:r>
            <a:r>
              <a:rPr lang="en-US" altLang="zh-TW" dirty="0"/>
              <a:t> Allocation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3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zh-TW" dirty="0"/>
              <a:t>There are three levels to LDA representation</a:t>
            </a:r>
          </a:p>
          <a:p>
            <a:pPr lvl="1">
              <a:defRPr/>
            </a:pPr>
            <a:r>
              <a:rPr lang="en-US" altLang="zh-TW" dirty="0"/>
              <a:t>α, β are corpus-level parameters</a:t>
            </a:r>
          </a:p>
          <a:p>
            <a:pPr lvl="1">
              <a:defRPr/>
            </a:pPr>
            <a:r>
              <a:rPr lang="en-US" altLang="zh-TW" dirty="0" err="1"/>
              <a:t>θ</a:t>
            </a:r>
            <a:r>
              <a:rPr lang="en-US" altLang="zh-TW" baseline="-25000" dirty="0" err="1"/>
              <a:t>d</a:t>
            </a:r>
            <a:r>
              <a:rPr lang="en-US" altLang="zh-TW" dirty="0"/>
              <a:t> are document-level variables</a:t>
            </a:r>
            <a:endParaRPr lang="en-US" altLang="zh-TW" baseline="-25000" dirty="0"/>
          </a:p>
          <a:p>
            <a:pPr lvl="1">
              <a:defRPr/>
            </a:pPr>
            <a:r>
              <a:rPr lang="en-US" altLang="zh-TW" dirty="0" err="1"/>
              <a:t>z</a:t>
            </a:r>
            <a:r>
              <a:rPr lang="en-US" altLang="zh-TW" baseline="-25000" dirty="0" err="1"/>
              <a:t>dn</a:t>
            </a:r>
            <a:r>
              <a:rPr lang="en-US" altLang="zh-TW" dirty="0"/>
              <a:t>, </a:t>
            </a:r>
            <a:r>
              <a:rPr lang="en-US" altLang="zh-TW" dirty="0" err="1"/>
              <a:t>w</a:t>
            </a:r>
            <a:r>
              <a:rPr lang="en-US" altLang="zh-TW" baseline="-25000" dirty="0" err="1"/>
              <a:t>dn</a:t>
            </a:r>
            <a:r>
              <a:rPr lang="en-US" altLang="zh-TW" dirty="0"/>
              <a:t> are word-level variables</a:t>
            </a:r>
          </a:p>
        </p:txBody>
      </p:sp>
      <p:pic>
        <p:nvPicPr>
          <p:cNvPr id="31746" name="Picture 2" descr="File:Latent Dirichlet allocation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3657601"/>
            <a:ext cx="3654425" cy="191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File:Smoothed LD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520" y="3657600"/>
            <a:ext cx="3733800" cy="18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1" y="5715000"/>
            <a:ext cx="554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3421" y="5715000"/>
            <a:ext cx="157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Smoothed LDA</a:t>
            </a:r>
          </a:p>
        </p:txBody>
      </p:sp>
    </p:spTree>
    <p:extLst>
      <p:ext uri="{BB962C8B-B14F-4D97-AF65-F5344CB8AC3E}">
        <p14:creationId xmlns:p14="http://schemas.microsoft.com/office/powerpoint/2010/main" val="1436856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7B51-8CD1-45DB-AC3A-3A42F9C9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LDA: Goal of Inference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AC91C4-3E8C-47EA-83E4-6BBBE638F78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770119" y="1371600"/>
            <a:ext cx="10651761" cy="4754563"/>
          </a:xfrm>
        </p:spPr>
      </p:pic>
    </p:spTree>
    <p:extLst>
      <p:ext uri="{BB962C8B-B14F-4D97-AF65-F5344CB8AC3E}">
        <p14:creationId xmlns:p14="http://schemas.microsoft.com/office/powerpoint/2010/main" val="4269412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 between various topic models: unigrams, mixture of unigrams, PLSI, LDA</a:t>
            </a:r>
          </a:p>
        </p:txBody>
      </p:sp>
    </p:spTree>
    <p:extLst>
      <p:ext uri="{BB962C8B-B14F-4D97-AF65-F5344CB8AC3E}">
        <p14:creationId xmlns:p14="http://schemas.microsoft.com/office/powerpoint/2010/main" val="2873351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Unigram model</a:t>
                </a:r>
              </a:p>
              <a:p>
                <a:pPr lvl="1"/>
                <a:r>
                  <a:rPr lang="en-US" dirty="0"/>
                  <a:t>V parameters</a:t>
                </a:r>
              </a:p>
              <a:p>
                <a:r>
                  <a:rPr lang="en-US" altLang="zh-TW" dirty="0"/>
                  <a:t>Mixture of unigrams</a:t>
                </a:r>
              </a:p>
              <a:p>
                <a:pPr lvl="1"/>
                <a:r>
                  <a:rPr lang="en-US" dirty="0"/>
                  <a:t>K+KV parameters;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PLSA/PLSI</a:t>
                </a:r>
              </a:p>
              <a:p>
                <a:pPr lvl="1"/>
                <a:r>
                  <a:rPr lang="en-US" altLang="zh-TW" dirty="0"/>
                  <a:t>KV+KM+K parameters;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LDA</a:t>
                </a:r>
              </a:p>
              <a:p>
                <a:pPr lvl="1"/>
                <a:r>
                  <a:rPr lang="en-US" dirty="0"/>
                  <a:t>K+KV (K+V for smoothed LDA);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2"/>
                <a:stretch>
                  <a:fillRect l="-1278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914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590800"/>
            <a:ext cx="9144000" cy="1143000"/>
          </a:xfrm>
        </p:spPr>
        <p:txBody>
          <a:bodyPr>
            <a:normAutofit/>
          </a:bodyPr>
          <a:lstStyle/>
          <a:p>
            <a:r>
              <a:rPr lang="en-US" dirty="0"/>
              <a:t>LDA Hyper-parameters</a:t>
            </a:r>
          </a:p>
        </p:txBody>
      </p:sp>
    </p:spTree>
    <p:extLst>
      <p:ext uri="{BB962C8B-B14F-4D97-AF65-F5344CB8AC3E}">
        <p14:creationId xmlns:p14="http://schemas.microsoft.com/office/powerpoint/2010/main" val="893507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</a:t>
            </a:r>
            <a:r>
              <a:rPr lang="en-US" dirty="0" err="1"/>
              <a:t>Hyperparameters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7" name="Rectangle 3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09601" y="1314450"/>
                <a:ext cx="11598276" cy="12763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i="1" dirty="0">
                    <a:sym typeface="Symbol" panose="05050102010706020507" pitchFamily="18" charset="2"/>
                  </a:rPr>
                  <a:t></a:t>
                </a:r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:r>
                  <a:rPr lang="en-US" i="1" dirty="0">
                    <a:sym typeface="Symbol" panose="05050102010706020507" pitchFamily="18" charset="2"/>
                  </a:rPr>
                  <a:t></a:t>
                </a:r>
                <a:r>
                  <a:rPr lang="en-US" dirty="0"/>
                  <a:t> control the relative </a:t>
                </a:r>
                <a:r>
                  <a:rPr lang="en-US" dirty="0" err="1"/>
                  <a:t>sparsity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dirty="0"/>
                  <a:t>smaller </a:t>
                </a:r>
                <a:r>
                  <a:rPr lang="en-US" i="1" dirty="0">
                    <a:sym typeface="Symbol" panose="05050102010706020507" pitchFamily="18" charset="2"/>
                  </a:rPr>
                  <a:t></a:t>
                </a:r>
                <a:r>
                  <a:rPr lang="en-US" dirty="0"/>
                  <a:t>, fewer topics per document</a:t>
                </a:r>
              </a:p>
              <a:p>
                <a:pPr lvl="1"/>
                <a:r>
                  <a:rPr lang="en-US" dirty="0"/>
                  <a:t>smaller </a:t>
                </a:r>
                <a:r>
                  <a:rPr lang="en-US" i="1" dirty="0">
                    <a:sym typeface="Symbol" panose="05050102010706020507" pitchFamily="18" charset="2"/>
                  </a:rPr>
                  <a:t></a:t>
                </a:r>
                <a:r>
                  <a:rPr lang="en-US" dirty="0"/>
                  <a:t>, fewer words per topic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451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09601" y="1314450"/>
                <a:ext cx="11598276" cy="1276350"/>
              </a:xfrm>
              <a:blipFill>
                <a:blip r:embed="rId3"/>
                <a:stretch>
                  <a:fillRect l="-1051" t="-13876" b="-1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alphafigure">
            <a:extLst>
              <a:ext uri="{FF2B5EF4-FFF2-40B4-BE49-F238E27FC236}">
                <a16:creationId xmlns:a16="http://schemas.microsoft.com/office/drawing/2014/main" id="{294A42E1-FD81-4733-98F2-F085381CCA25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74" y="2590800"/>
            <a:ext cx="5665765" cy="35353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3AB84-5E74-45D6-8F95-BB13E89B33EF}"/>
              </a:ext>
            </a:extLst>
          </p:cNvPr>
          <p:cNvSpPr txBox="1"/>
          <p:nvPr/>
        </p:nvSpPr>
        <p:spPr>
          <a:xfrm>
            <a:off x="3044792" y="6102101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Varying </a:t>
            </a:r>
            <a:r>
              <a:rPr lang="en-US" dirty="0">
                <a:sym typeface="Symbol" panose="05050102010706020507" pitchFamily="18" charset="2"/>
              </a:rPr>
              <a:t></a:t>
            </a:r>
            <a:endParaRPr lang="en-US" dirty="0"/>
          </a:p>
        </p:txBody>
      </p:sp>
      <p:pic>
        <p:nvPicPr>
          <p:cNvPr id="7" name="Picture 2" descr="betafigure">
            <a:extLst>
              <a:ext uri="{FF2B5EF4-FFF2-40B4-BE49-F238E27FC236}">
                <a16:creationId xmlns:a16="http://schemas.microsoft.com/office/drawing/2014/main" id="{AE2175A2-9A95-4401-A495-E1369ACF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646" y="2590800"/>
            <a:ext cx="5627202" cy="35113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DCDC41-560A-4676-97BE-1373727F2420}"/>
              </a:ext>
            </a:extLst>
          </p:cNvPr>
          <p:cNvSpPr txBox="1"/>
          <p:nvPr/>
        </p:nvSpPr>
        <p:spPr>
          <a:xfrm>
            <a:off x="8337755" y="6092476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Varying </a:t>
            </a:r>
            <a:r>
              <a:rPr lang="en-US" i="1" dirty="0">
                <a:sym typeface="Symbol" panose="05050102010706020507" pitchFamily="18" charset="2"/>
              </a:rPr>
              <a:t>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18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685800" y="1371600"/>
            <a:ext cx="108204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Thomas Hofmann, Probabilistic Latent Semantic Analysis. Proceedings of the Fifteenth Conference on Uncertainty in Artificial Intelligence (UAI'99) http://www.cs.brown.edu/~th/papers/Hofmann-UAI99.pdf</a:t>
            </a:r>
          </a:p>
          <a:p>
            <a:r>
              <a:rPr lang="fr-FR" altLang="zh-TW" dirty="0"/>
              <a:t>D. M. </a:t>
            </a:r>
            <a:r>
              <a:rPr lang="fr-FR" altLang="zh-TW" dirty="0" err="1"/>
              <a:t>Blei</a:t>
            </a:r>
            <a:r>
              <a:rPr lang="fr-FR" altLang="zh-TW" dirty="0"/>
              <a:t> et al., “Latent Dirichlet allocation,” </a:t>
            </a:r>
            <a:r>
              <a:rPr lang="fr-FR" altLang="zh-TW" i="1" dirty="0"/>
              <a:t>Journal of </a:t>
            </a:r>
            <a:r>
              <a:rPr lang="en-US" altLang="zh-TW" i="1" dirty="0"/>
              <a:t>Machine Learning Research</a:t>
            </a:r>
            <a:r>
              <a:rPr lang="en-US" altLang="zh-TW" dirty="0"/>
              <a:t>, 3, pp. 993–1022, January 2003.</a:t>
            </a:r>
          </a:p>
          <a:p>
            <a:r>
              <a:rPr lang="en-US" altLang="zh-TW" dirty="0"/>
              <a:t>D. </a:t>
            </a:r>
            <a:r>
              <a:rPr lang="en-US" altLang="zh-TW" dirty="0" err="1"/>
              <a:t>Blei</a:t>
            </a:r>
            <a:r>
              <a:rPr lang="en-US" altLang="zh-TW" dirty="0"/>
              <a:t> and J. Lafferty, “Topic models,” in A. Srivastava and M. </a:t>
            </a:r>
            <a:r>
              <a:rPr lang="en-US" altLang="zh-TW" dirty="0" err="1"/>
              <a:t>Sahami</a:t>
            </a:r>
            <a:r>
              <a:rPr lang="en-US" altLang="zh-TW" dirty="0"/>
              <a:t>, (eds.), </a:t>
            </a:r>
            <a:r>
              <a:rPr lang="en-US" altLang="zh-TW" i="1" dirty="0"/>
              <a:t>Text Mining: Theory and Applications</a:t>
            </a:r>
            <a:r>
              <a:rPr lang="en-US" altLang="zh-TW" dirty="0"/>
              <a:t>. Taylor and Francis, 2009.</a:t>
            </a:r>
          </a:p>
          <a:p>
            <a:r>
              <a:rPr lang="en-US" altLang="zh-TW" dirty="0"/>
              <a:t>D. </a:t>
            </a:r>
            <a:r>
              <a:rPr lang="en-US" altLang="zh-TW" dirty="0" err="1"/>
              <a:t>Blei</a:t>
            </a:r>
            <a:r>
              <a:rPr lang="en-US" altLang="zh-TW" dirty="0"/>
              <a:t>. "Introduction to Probabilistic Topic Models," http://www.cs.princeton.edu/~blei/papers/Blei2011.pdf</a:t>
            </a:r>
          </a:p>
        </p:txBody>
      </p:sp>
    </p:spTree>
    <p:extLst>
      <p:ext uri="{BB962C8B-B14F-4D97-AF65-F5344CB8AC3E}">
        <p14:creationId xmlns:p14="http://schemas.microsoft.com/office/powerpoint/2010/main" val="1152567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left( \begin{array}{ccccc}&#10;&amp;&amp;&amp;&amp; \\&#10;&amp;&amp;&amp;&amp; \\&#10;&amp;&amp;A&amp;&amp; \\&#10;&amp;&amp;&amp;&amp;\\&#10;&amp;&amp;&amp;&amp;&#10;\end{array}\right) = &#10;\left( \begin{array}{ccc}&#10;&amp;&amp; \\&#10;&amp;&amp; \\&#10;&amp;U&amp; \\&#10;&amp;&amp;\\&#10;&amp;&amp; \end{array}\right) \cdot&#10;\left( \begin{array}{ccc}&#10;&amp;&amp; \\&#10;&amp;\Sigma&amp; \\&#10;&amp;&amp;&#10;\end{array}\right)\cdot&#10;\left( \begin{array}{ccccc}&#10;&amp;&amp;&amp;&amp; \\&#10;&amp;&amp;V&amp;&amp; \\&#10;&amp;&amp;&amp;&amp;&#10;\end{array}\right) ^T&#10;$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54"/>
  <p:tag name="BOXHEIGHT" val="371"/>
  <p:tag name="BOXFONT" val="10"/>
  <p:tag name="BOXWRAP" val="False"/>
  <p:tag name="WORKAROUNDTRANSPARENCYBUG" val="False"/>
  <p:tag name="ALLOWFONTSUBSTITUTION" val="False"/>
  <p:tag name="BITMAPFORMAT" val="bmpmono"/>
  <p:tag name="ORIGWIDTH" val="493"/>
  <p:tag name="PICTUREFILESIZE" val="21413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p(\theta|\alpha)=\frac{\Gamma(\sum_{i=1}^{k}\alpha_i)}{\prod_{i=1}^{k} \Gamma(\alpha_i)}\prod_{i=1}^{k}\theta_i^{\alpha_i-1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94"/>
  <p:tag name="PICTUREFILESIZE" val="2166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56353</TotalTime>
  <Words>2058</Words>
  <Application>Microsoft Office PowerPoint</Application>
  <PresentationFormat>Widescreen</PresentationFormat>
  <Paragraphs>382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Calibri (Headings)</vt:lpstr>
      <vt:lpstr>Cambria Math</vt:lpstr>
      <vt:lpstr>cmsy10</vt:lpstr>
      <vt:lpstr>Garamond</vt:lpstr>
      <vt:lpstr>Symbol</vt:lpstr>
      <vt:lpstr>Times New Roman</vt:lpstr>
      <vt:lpstr>Wingdings</vt:lpstr>
      <vt:lpstr>Office Theme</vt:lpstr>
      <vt:lpstr>Topic Models</vt:lpstr>
      <vt:lpstr>What are topic models? Why do you need them?</vt:lpstr>
      <vt:lpstr>Discover Topics from a Corpus </vt:lpstr>
      <vt:lpstr>Model Connections between Topics </vt:lpstr>
      <vt:lpstr>Model the Evolution of Topics over Time </vt:lpstr>
      <vt:lpstr>Annotate Documents according to these Topics</vt:lpstr>
      <vt:lpstr>Plate diagrams, unigram models, mixture of unigrams </vt:lpstr>
      <vt:lpstr>Multinomial Distribution</vt:lpstr>
      <vt:lpstr>Unigram Model &amp; Mixture of Unigrams</vt:lpstr>
      <vt:lpstr>SVD and LSI/LSA</vt:lpstr>
      <vt:lpstr>The Singular Value Decomposition (SVD)</vt:lpstr>
      <vt:lpstr>Deficiencies with Word-based Indexing</vt:lpstr>
      <vt:lpstr>Word Co-Occurrences</vt:lpstr>
      <vt:lpstr>LSI/LSA: SVD for text</vt:lpstr>
      <vt:lpstr>LSA Example</vt:lpstr>
      <vt:lpstr>Properties of LSI</vt:lpstr>
      <vt:lpstr>Probabilistic Latent Semantic Analysis (PLSA)</vt:lpstr>
      <vt:lpstr>Topic models: Intuitive Representation</vt:lpstr>
      <vt:lpstr>Probabilistic Latent Semantic Analysis</vt:lpstr>
      <vt:lpstr>Comparing PLSA and LSA</vt:lpstr>
      <vt:lpstr>Motivation for LDA</vt:lpstr>
      <vt:lpstr>Motivations for LDA</vt:lpstr>
      <vt:lpstr>LDA Intuitive Representation</vt:lpstr>
      <vt:lpstr>Dirichlet Distributions</vt:lpstr>
      <vt:lpstr>Dirichlet Distributions</vt:lpstr>
      <vt:lpstr>Dirichlet Distributions</vt:lpstr>
      <vt:lpstr>LDA Model Details</vt:lpstr>
      <vt:lpstr>The LDA Model</vt:lpstr>
      <vt:lpstr>Latent Dirichlet Allocation</vt:lpstr>
      <vt:lpstr>Parameters and Variables in Latent Dirichlet Allocation</vt:lpstr>
      <vt:lpstr>LDA: Goal of Inference</vt:lpstr>
      <vt:lpstr>Comparison between various topic models: unigrams, mixture of unigrams, PLSI, LDA</vt:lpstr>
      <vt:lpstr>Number of Parameters</vt:lpstr>
      <vt:lpstr>LDA Hyper-parameters</vt:lpstr>
      <vt:lpstr>Effects of Hyperparameters 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Topk Shortest Path Distance Changes in an Evolutionary Network</dc:title>
  <dc:creator>gupta58</dc:creator>
  <cp:lastModifiedBy>Manish Gupta (BING-IDC)</cp:lastModifiedBy>
  <cp:revision>1013</cp:revision>
  <cp:lastPrinted>2013-08-17T09:10:43Z</cp:lastPrinted>
  <dcterms:created xsi:type="dcterms:W3CDTF">2010-09-27T20:42:21Z</dcterms:created>
  <dcterms:modified xsi:type="dcterms:W3CDTF">2021-03-18T16:50:46Z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gmanish@microsoft.com</vt:lpwstr>
  </property>
  <property fmtid="{D5CDD505-2E9C-101B-9397-08002B2CF9AE}" pid="5" name="MSIP_Label_f42aa342-8706-4288-bd11-ebb85995028c_SetDate">
    <vt:lpwstr>2018-09-27T18:27:27.1377295Z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