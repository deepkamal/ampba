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7"/>
  </p:notesMasterIdLst>
  <p:sldIdLst>
    <p:sldId id="256" r:id="rId2"/>
    <p:sldId id="638" r:id="rId3"/>
    <p:sldId id="386" r:id="rId4"/>
    <p:sldId id="436" r:id="rId5"/>
    <p:sldId id="435" r:id="rId6"/>
    <p:sldId id="434" r:id="rId7"/>
    <p:sldId id="639" r:id="rId8"/>
    <p:sldId id="387" r:id="rId9"/>
    <p:sldId id="388" r:id="rId10"/>
    <p:sldId id="390" r:id="rId11"/>
    <p:sldId id="439" r:id="rId12"/>
    <p:sldId id="391" r:id="rId13"/>
    <p:sldId id="515" r:id="rId14"/>
    <p:sldId id="392" r:id="rId15"/>
    <p:sldId id="640" r:id="rId16"/>
    <p:sldId id="445" r:id="rId17"/>
    <p:sldId id="446" r:id="rId18"/>
    <p:sldId id="447" r:id="rId19"/>
    <p:sldId id="448" r:id="rId20"/>
    <p:sldId id="641" r:id="rId21"/>
    <p:sldId id="400" r:id="rId22"/>
    <p:sldId id="450" r:id="rId23"/>
    <p:sldId id="451" r:id="rId24"/>
    <p:sldId id="453" r:id="rId25"/>
    <p:sldId id="454" r:id="rId26"/>
    <p:sldId id="455" r:id="rId27"/>
    <p:sldId id="456" r:id="rId28"/>
    <p:sldId id="642" r:id="rId29"/>
    <p:sldId id="458" r:id="rId30"/>
    <p:sldId id="477" r:id="rId31"/>
    <p:sldId id="459" r:id="rId32"/>
    <p:sldId id="409" r:id="rId33"/>
    <p:sldId id="410" r:id="rId34"/>
    <p:sldId id="474" r:id="rId35"/>
    <p:sldId id="485" r:id="rId36"/>
    <p:sldId id="344" r:id="rId37"/>
    <p:sldId id="345" r:id="rId38"/>
    <p:sldId id="261" r:id="rId39"/>
    <p:sldId id="346" r:id="rId40"/>
    <p:sldId id="442" r:id="rId41"/>
    <p:sldId id="472" r:id="rId42"/>
    <p:sldId id="273" r:id="rId43"/>
    <p:sldId id="350" r:id="rId44"/>
    <p:sldId id="351" r:id="rId45"/>
    <p:sldId id="279" r:id="rId46"/>
    <p:sldId id="280" r:id="rId47"/>
    <p:sldId id="352" r:id="rId48"/>
    <p:sldId id="353" r:id="rId49"/>
    <p:sldId id="354" r:id="rId50"/>
    <p:sldId id="355" r:id="rId51"/>
    <p:sldId id="356" r:id="rId52"/>
    <p:sldId id="357" r:id="rId53"/>
    <p:sldId id="291" r:id="rId54"/>
    <p:sldId id="644" r:id="rId55"/>
    <p:sldId id="467" r:id="rId56"/>
    <p:sldId id="468" r:id="rId57"/>
    <p:sldId id="469" r:id="rId58"/>
    <p:sldId id="470" r:id="rId59"/>
    <p:sldId id="358" r:id="rId60"/>
    <p:sldId id="359" r:id="rId61"/>
    <p:sldId id="301" r:id="rId62"/>
    <p:sldId id="302" r:id="rId63"/>
    <p:sldId id="303" r:id="rId64"/>
    <p:sldId id="360" r:id="rId65"/>
    <p:sldId id="307" r:id="rId66"/>
    <p:sldId id="308" r:id="rId67"/>
    <p:sldId id="310" r:id="rId68"/>
    <p:sldId id="311" r:id="rId69"/>
    <p:sldId id="516" r:id="rId70"/>
    <p:sldId id="517" r:id="rId71"/>
    <p:sldId id="518" r:id="rId72"/>
    <p:sldId id="519" r:id="rId73"/>
    <p:sldId id="325" r:id="rId74"/>
    <p:sldId id="443" r:id="rId75"/>
    <p:sldId id="365" r:id="rId76"/>
    <p:sldId id="315" r:id="rId77"/>
    <p:sldId id="524" r:id="rId78"/>
    <p:sldId id="317" r:id="rId79"/>
    <p:sldId id="526" r:id="rId80"/>
    <p:sldId id="322" r:id="rId81"/>
    <p:sldId id="324" r:id="rId82"/>
    <p:sldId id="326" r:id="rId83"/>
    <p:sldId id="361" r:id="rId84"/>
    <p:sldId id="342" r:id="rId85"/>
    <p:sldId id="362" r:id="rId86"/>
  </p:sldIdLst>
  <p:sldSz cx="10287000" cy="6858000" type="35mm"/>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6E78CE95-162B-40C8-A951-718D90E62CB7}">
          <p14:sldIdLst>
            <p14:sldId id="256"/>
            <p14:sldId id="638"/>
            <p14:sldId id="386"/>
            <p14:sldId id="436"/>
            <p14:sldId id="435"/>
            <p14:sldId id="434"/>
            <p14:sldId id="639"/>
            <p14:sldId id="387"/>
            <p14:sldId id="388"/>
            <p14:sldId id="390"/>
            <p14:sldId id="439"/>
            <p14:sldId id="391"/>
            <p14:sldId id="515"/>
            <p14:sldId id="392"/>
            <p14:sldId id="640"/>
            <p14:sldId id="445"/>
            <p14:sldId id="446"/>
            <p14:sldId id="447"/>
            <p14:sldId id="448"/>
            <p14:sldId id="641"/>
            <p14:sldId id="400"/>
            <p14:sldId id="450"/>
            <p14:sldId id="451"/>
            <p14:sldId id="453"/>
            <p14:sldId id="454"/>
            <p14:sldId id="455"/>
            <p14:sldId id="456"/>
            <p14:sldId id="642"/>
            <p14:sldId id="458"/>
            <p14:sldId id="477"/>
            <p14:sldId id="459"/>
            <p14:sldId id="409"/>
            <p14:sldId id="410"/>
            <p14:sldId id="474"/>
            <p14:sldId id="485"/>
            <p14:sldId id="344"/>
            <p14:sldId id="345"/>
            <p14:sldId id="261"/>
            <p14:sldId id="346"/>
            <p14:sldId id="442"/>
            <p14:sldId id="472"/>
            <p14:sldId id="273"/>
            <p14:sldId id="350"/>
            <p14:sldId id="351"/>
            <p14:sldId id="279"/>
            <p14:sldId id="280"/>
            <p14:sldId id="352"/>
            <p14:sldId id="353"/>
            <p14:sldId id="354"/>
            <p14:sldId id="355"/>
            <p14:sldId id="356"/>
            <p14:sldId id="357"/>
            <p14:sldId id="291"/>
            <p14:sldId id="644"/>
            <p14:sldId id="467"/>
            <p14:sldId id="468"/>
            <p14:sldId id="469"/>
            <p14:sldId id="470"/>
            <p14:sldId id="358"/>
            <p14:sldId id="359"/>
            <p14:sldId id="301"/>
            <p14:sldId id="302"/>
            <p14:sldId id="303"/>
            <p14:sldId id="360"/>
            <p14:sldId id="307"/>
            <p14:sldId id="308"/>
            <p14:sldId id="310"/>
            <p14:sldId id="311"/>
            <p14:sldId id="516"/>
            <p14:sldId id="517"/>
            <p14:sldId id="518"/>
            <p14:sldId id="519"/>
            <p14:sldId id="325"/>
            <p14:sldId id="443"/>
            <p14:sldId id="365"/>
            <p14:sldId id="315"/>
            <p14:sldId id="524"/>
            <p14:sldId id="317"/>
            <p14:sldId id="526"/>
            <p14:sldId id="322"/>
            <p14:sldId id="324"/>
            <p14:sldId id="326"/>
            <p14:sldId id="361"/>
            <p14:sldId id="342"/>
            <p14:sldId id="362"/>
          </p14:sldIdLst>
        </p14:section>
      </p14:sectionLst>
    </p:ext>
    <p:ext uri="{EFAFB233-063F-42B5-8137-9DF3F51BA10A}">
      <p15:sldGuideLst xmlns:p15="http://schemas.microsoft.com/office/powerpoint/2012/main">
        <p15:guide id="1" orient="horz" pos="2160">
          <p15:clr>
            <a:srgbClr val="A4A3A4"/>
          </p15:clr>
        </p15:guide>
        <p15:guide id="2" pos="3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3300"/>
    <a:srgbClr val="33CC33"/>
    <a:srgbClr val="66CCFF"/>
    <a:srgbClr val="FF6600"/>
    <a:srgbClr val="346374"/>
    <a:srgbClr val="0077BD"/>
    <a:srgbClr val="003399"/>
    <a:srgbClr val="CC33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21" autoAdjust="0"/>
    <p:restoredTop sz="86355" autoAdjust="0"/>
  </p:normalViewPr>
  <p:slideViewPr>
    <p:cSldViewPr>
      <p:cViewPr varScale="1">
        <p:scale>
          <a:sx n="100" d="100"/>
          <a:sy n="100" d="100"/>
        </p:scale>
        <p:origin x="579" y="60"/>
      </p:cViewPr>
      <p:guideLst>
        <p:guide orient="horz" pos="2160"/>
        <p:guide pos="32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0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lvl1pPr defTabSz="966788">
              <a:defRPr sz="1300"/>
            </a:lvl1pPr>
          </a:lstStyle>
          <a:p>
            <a:pPr>
              <a:defRPr/>
            </a:pPr>
            <a:endParaRPr lang="en-US"/>
          </a:p>
        </p:txBody>
      </p:sp>
      <p:sp>
        <p:nvSpPr>
          <p:cNvPr id="6147"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lvl1pPr algn="r" defTabSz="966788">
              <a:defRPr sz="1300"/>
            </a:lvl1pPr>
          </a:lstStyle>
          <a:p>
            <a:pPr>
              <a:defRPr/>
            </a:pPr>
            <a:endParaRPr lang="en-US"/>
          </a:p>
        </p:txBody>
      </p:sp>
      <p:sp>
        <p:nvSpPr>
          <p:cNvPr id="22532" name="Rectangle 4"/>
          <p:cNvSpPr>
            <a:spLocks noGrp="1" noRot="1" noChangeAspect="1" noChangeArrowheads="1" noTextEdit="1"/>
          </p:cNvSpPr>
          <p:nvPr>
            <p:ph type="sldImg" idx="2"/>
          </p:nvPr>
        </p:nvSpPr>
        <p:spPr bwMode="auto">
          <a:xfrm>
            <a:off x="957263" y="720725"/>
            <a:ext cx="5400675"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b" anchorCtr="0" compatLnSpc="1">
            <a:prstTxWarp prst="textNoShape">
              <a:avLst/>
            </a:prstTxWarp>
          </a:bodyPr>
          <a:lstStyle>
            <a:lvl1pPr defTabSz="966788">
              <a:defRPr sz="1300"/>
            </a:lvl1pPr>
          </a:lstStyle>
          <a:p>
            <a:pPr>
              <a:defRPr/>
            </a:pPr>
            <a:endParaRPr lang="en-US"/>
          </a:p>
        </p:txBody>
      </p:sp>
      <p:sp>
        <p:nvSpPr>
          <p:cNvPr id="6151"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b" anchorCtr="0" compatLnSpc="1">
            <a:prstTxWarp prst="textNoShape">
              <a:avLst/>
            </a:prstTxWarp>
          </a:bodyPr>
          <a:lstStyle>
            <a:lvl1pPr algn="r" defTabSz="966788">
              <a:defRPr sz="1300"/>
            </a:lvl1pPr>
          </a:lstStyle>
          <a:p>
            <a:pPr>
              <a:defRPr/>
            </a:pPr>
            <a:fld id="{35648293-2628-4091-BED1-7FD9F7535785}" type="slidenum">
              <a:rPr lang="en-US"/>
              <a:pPr>
                <a:defRPr/>
              </a:pPr>
              <a:t>‹#›</a:t>
            </a:fld>
            <a:endParaRPr lang="en-US"/>
          </a:p>
        </p:txBody>
      </p:sp>
    </p:spTree>
    <p:extLst>
      <p:ext uri="{BB962C8B-B14F-4D97-AF65-F5344CB8AC3E}">
        <p14:creationId xmlns:p14="http://schemas.microsoft.com/office/powerpoint/2010/main" val="1474189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EC65E541-0C65-4668-97E0-BC8F9EF85E8B}" type="slidenum">
              <a:rPr lang="en-US" smtClean="0"/>
              <a:pPr eaLnBrk="1" hangingPunct="1"/>
              <a:t>1</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176372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2</a:t>
            </a:fld>
            <a:endParaRPr lang="en-US"/>
          </a:p>
        </p:txBody>
      </p:sp>
    </p:spTree>
    <p:extLst>
      <p:ext uri="{BB962C8B-B14F-4D97-AF65-F5344CB8AC3E}">
        <p14:creationId xmlns:p14="http://schemas.microsoft.com/office/powerpoint/2010/main" val="241253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#1: Saigon. Grey, Anthony</a:t>
            </a:r>
          </a:p>
          <a:p>
            <a:r>
              <a:rPr lang="en-US" dirty="0"/>
              <a:t>#2: </a:t>
            </a:r>
            <a:r>
              <a:rPr lang="en-US" baseline="0" dirty="0"/>
              <a:t> </a:t>
            </a:r>
            <a:r>
              <a:rPr lang="en-US" dirty="0"/>
              <a:t>Jerusalem the Golden. Drabble, Margaret</a:t>
            </a:r>
          </a:p>
          <a:p>
            <a:r>
              <a:rPr lang="en-US" dirty="0"/>
              <a:t>From </a:t>
            </a:r>
            <a:r>
              <a:rPr lang="en-US" dirty="0" err="1"/>
              <a:t>shlomo</a:t>
            </a:r>
            <a:r>
              <a:rPr lang="en-US" baseline="0" dirty="0"/>
              <a:t> </a:t>
            </a:r>
            <a:r>
              <a:rPr lang="en-US" baseline="0" dirty="0" err="1"/>
              <a:t>argamon</a:t>
            </a:r>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5</a:t>
            </a:fld>
            <a:endParaRPr lang="en-US"/>
          </a:p>
        </p:txBody>
      </p:sp>
    </p:spTree>
    <p:extLst>
      <p:ext uri="{BB962C8B-B14F-4D97-AF65-F5344CB8AC3E}">
        <p14:creationId xmlns:p14="http://schemas.microsoft.com/office/powerpoint/2010/main" val="4000279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61E6D798-0D31-0647-AB71-9E94307BC9C4}" type="slidenum">
              <a:rPr lang="en-US"/>
              <a:pPr/>
              <a:t>10</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1041FE78-3ECD-CD47-AF85-D701825482C7}" type="slidenum">
              <a:rPr lang="en-US"/>
              <a:pPr/>
              <a:t>12</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13</a:t>
            </a:fld>
            <a:endParaRPr lang="en-US" sz="1200"/>
          </a:p>
        </p:txBody>
      </p:sp>
      <p:sp>
        <p:nvSpPr>
          <p:cNvPr id="17411" name="Rectangle 2"/>
          <p:cNvSpPr>
            <a:spLocks noGrp="1" noRot="1" noChangeAspect="1" noChangeArrowheads="1" noTextEdit="1"/>
          </p:cNvSpPr>
          <p:nvPr>
            <p:ph type="sldImg"/>
          </p:nvPr>
        </p:nvSpPr>
        <p:spPr>
          <a:xfrm>
            <a:off x="779463" y="704850"/>
            <a:ext cx="5286375" cy="3524250"/>
          </a:xfrm>
          <a:ln/>
        </p:spPr>
      </p:sp>
      <p:sp>
        <p:nvSpPr>
          <p:cNvPr id="174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C0485E7D-390C-4745-85F5-60C12369010B}" type="slidenum">
              <a:rPr lang="en-US"/>
              <a:pPr/>
              <a:t>19</a:t>
            </a:fld>
            <a:endParaRPr lang="en-US"/>
          </a:p>
        </p:txBody>
      </p:sp>
      <p:sp>
        <p:nvSpPr>
          <p:cNvPr id="26627" name="Rectangle 2"/>
          <p:cNvSpPr>
            <a:spLocks noGrp="1" noRot="1" noChangeAspect="1" noChangeArrowheads="1"/>
          </p:cNvSpPr>
          <p:nvPr>
            <p:ph type="sldImg"/>
          </p:nvPr>
        </p:nvSpPr>
        <p:spPr>
          <a:solidFill>
            <a:srgbClr val="FFFFFF"/>
          </a:solidFill>
          <a:ln/>
        </p:spPr>
      </p:sp>
      <p:sp>
        <p:nvSpPr>
          <p:cNvPr id="26628" name="Rectangle 3"/>
          <p:cNvSpPr>
            <a:spLocks noGrp="1" noChangeArrowheads="1"/>
          </p:cNvSpPr>
          <p:nvPr>
            <p:ph type="body" idx="1"/>
          </p:nvPr>
        </p:nvSpPr>
        <p:spPr>
          <a:xfrm>
            <a:off x="912813" y="4463296"/>
            <a:ext cx="5707062" cy="4228386"/>
          </a:xfrm>
          <a:solidFill>
            <a:srgbClr val="FFFFFF"/>
          </a:solidFill>
          <a:ln>
            <a:solidFill>
              <a:srgbClr val="000000"/>
            </a:solidFill>
          </a:ln>
        </p:spPr>
        <p:txBody>
          <a:bodyPr lIns="91337" tIns="45668" rIns="91337" bIns="45668"/>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20</a:t>
            </a:fld>
            <a:endParaRPr lang="en-US" sz="1200"/>
          </a:p>
        </p:txBody>
      </p:sp>
      <p:sp>
        <p:nvSpPr>
          <p:cNvPr id="17411" name="Rectangle 2"/>
          <p:cNvSpPr>
            <a:spLocks noGrp="1" noRot="1" noChangeAspect="1" noChangeArrowheads="1" noTextEdit="1"/>
          </p:cNvSpPr>
          <p:nvPr>
            <p:ph type="sldImg"/>
          </p:nvPr>
        </p:nvSpPr>
        <p:spPr>
          <a:xfrm>
            <a:off x="779463" y="704850"/>
            <a:ext cx="5286375" cy="3524250"/>
          </a:xfrm>
          <a:ln/>
        </p:spPr>
      </p:sp>
      <p:sp>
        <p:nvSpPr>
          <p:cNvPr id="174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28</a:t>
            </a:fld>
            <a:endParaRPr lang="en-US" sz="1200"/>
          </a:p>
        </p:txBody>
      </p:sp>
      <p:sp>
        <p:nvSpPr>
          <p:cNvPr id="17411" name="Rectangle 2"/>
          <p:cNvSpPr>
            <a:spLocks noGrp="1" noRot="1" noChangeAspect="1" noChangeArrowheads="1" noTextEdit="1"/>
          </p:cNvSpPr>
          <p:nvPr>
            <p:ph type="sldImg"/>
          </p:nvPr>
        </p:nvSpPr>
        <p:spPr>
          <a:xfrm>
            <a:off x="779463" y="704850"/>
            <a:ext cx="5286375" cy="3524250"/>
          </a:xfrm>
          <a:ln/>
        </p:spPr>
      </p:sp>
      <p:sp>
        <p:nvSpPr>
          <p:cNvPr id="174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36</a:t>
            </a:fld>
            <a:endParaRPr lang="en-US"/>
          </a:p>
        </p:txBody>
      </p:sp>
    </p:spTree>
    <p:extLst>
      <p:ext uri="{BB962C8B-B14F-4D97-AF65-F5344CB8AC3E}">
        <p14:creationId xmlns:p14="http://schemas.microsoft.com/office/powerpoint/2010/main" val="1005960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37</a:t>
            </a:fld>
            <a:endParaRPr lang="en-US"/>
          </a:p>
        </p:txBody>
      </p:sp>
    </p:spTree>
    <p:extLst>
      <p:ext uri="{BB962C8B-B14F-4D97-AF65-F5344CB8AC3E}">
        <p14:creationId xmlns:p14="http://schemas.microsoft.com/office/powerpoint/2010/main" val="1459552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38</a:t>
            </a:fld>
            <a:endParaRPr lang="en-US"/>
          </a:p>
        </p:txBody>
      </p:sp>
    </p:spTree>
    <p:extLst>
      <p:ext uri="{BB962C8B-B14F-4D97-AF65-F5344CB8AC3E}">
        <p14:creationId xmlns:p14="http://schemas.microsoft.com/office/powerpoint/2010/main" val="1011012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39</a:t>
            </a:fld>
            <a:endParaRPr lang="en-US"/>
          </a:p>
        </p:txBody>
      </p:sp>
    </p:spTree>
    <p:extLst>
      <p:ext uri="{BB962C8B-B14F-4D97-AF65-F5344CB8AC3E}">
        <p14:creationId xmlns:p14="http://schemas.microsoft.com/office/powerpoint/2010/main" val="2129081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7C5E84-F2AC-46B4-A91D-096FDAE8056A}" type="slidenum">
              <a:rPr lang="en-US" smtClean="0"/>
              <a:pPr/>
              <a:t>40</a:t>
            </a:fld>
            <a:endParaRPr lang="en-US"/>
          </a:p>
        </p:txBody>
      </p:sp>
    </p:spTree>
    <p:extLst>
      <p:ext uri="{BB962C8B-B14F-4D97-AF65-F5344CB8AC3E}">
        <p14:creationId xmlns:p14="http://schemas.microsoft.com/office/powerpoint/2010/main" val="3437842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02EE9AA-1E3E-45E5-82AC-E023619669A0}" type="slidenum">
              <a:rPr lang="en-US" altLang="zh-CN"/>
              <a:pPr/>
              <a:t>41</a:t>
            </a:fld>
            <a:endParaRPr lang="en-US" altLang="zh-CN"/>
          </a:p>
        </p:txBody>
      </p:sp>
      <p:sp>
        <p:nvSpPr>
          <p:cNvPr id="2285570" name="Rectangle 2"/>
          <p:cNvSpPr>
            <a:spLocks noGrp="1" noRot="1" noChangeAspect="1" noChangeArrowheads="1" noTextEdit="1"/>
          </p:cNvSpPr>
          <p:nvPr>
            <p:ph type="sldImg"/>
          </p:nvPr>
        </p:nvSpPr>
        <p:spPr>
          <a:ln/>
        </p:spPr>
      </p:sp>
      <p:sp>
        <p:nvSpPr>
          <p:cNvPr id="2285571" name="Rectangle 3"/>
          <p:cNvSpPr>
            <a:spLocks noGrp="1" noChangeArrowheads="1"/>
          </p:cNvSpPr>
          <p:nvPr>
            <p:ph type="body" idx="1"/>
          </p:nvPr>
        </p:nvSpPr>
        <p:spPr>
          <a:xfrm>
            <a:off x="916978" y="4416099"/>
            <a:ext cx="5047858" cy="4182457"/>
          </a:xfrm>
        </p:spPr>
        <p:txBody>
          <a:bodyPr/>
          <a:lstStyle/>
          <a:p>
            <a:pPr lvl="1">
              <a:buFontTx/>
              <a:buChar char="•"/>
            </a:pPr>
            <a:r>
              <a:rPr lang="en-US"/>
              <a:t>For opinion-questions </a:t>
            </a:r>
            <a:r>
              <a:rPr lang="en-US" b="1"/>
              <a:t>a range of opinions</a:t>
            </a:r>
            <a:r>
              <a:rPr lang="en-US"/>
              <a:t> needs to be offered. There is no single right answer. </a:t>
            </a:r>
          </a:p>
          <a:p>
            <a:pPr lvl="1">
              <a:buFontTx/>
              <a:buChar char="•"/>
            </a:pPr>
            <a:r>
              <a:rPr lang="en-US"/>
              <a:t>As in the answer to this example, it is </a:t>
            </a:r>
            <a:r>
              <a:rPr lang="en-US">
                <a:sym typeface="Wingdings" pitchFamily="2" charset="2"/>
              </a:rPr>
              <a:t> </a:t>
            </a:r>
            <a:r>
              <a:rPr lang="en-US" b="1"/>
              <a:t>not uncommon to find two or more sentiments</a:t>
            </a:r>
            <a:r>
              <a:rPr lang="en-US"/>
              <a:t> expressed within a sentence.</a:t>
            </a:r>
          </a:p>
          <a:p>
            <a:pPr lvl="1"/>
            <a:endParaRPr lang="en-US"/>
          </a:p>
        </p:txBody>
      </p:sp>
    </p:spTree>
    <p:extLst>
      <p:ext uri="{BB962C8B-B14F-4D97-AF65-F5344CB8AC3E}">
        <p14:creationId xmlns:p14="http://schemas.microsoft.com/office/powerpoint/2010/main" val="2394276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42</a:t>
            </a:fld>
            <a:endParaRPr lang="en-US"/>
          </a:p>
        </p:txBody>
      </p:sp>
    </p:spTree>
    <p:extLst>
      <p:ext uri="{BB962C8B-B14F-4D97-AF65-F5344CB8AC3E}">
        <p14:creationId xmlns:p14="http://schemas.microsoft.com/office/powerpoint/2010/main" val="1113152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43</a:t>
            </a:fld>
            <a:endParaRPr lang="en-US"/>
          </a:p>
        </p:txBody>
      </p:sp>
    </p:spTree>
    <p:extLst>
      <p:ext uri="{BB962C8B-B14F-4D97-AF65-F5344CB8AC3E}">
        <p14:creationId xmlns:p14="http://schemas.microsoft.com/office/powerpoint/2010/main" val="3881701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44</a:t>
            </a:fld>
            <a:endParaRPr lang="en-US"/>
          </a:p>
        </p:txBody>
      </p:sp>
    </p:spTree>
    <p:extLst>
      <p:ext uri="{BB962C8B-B14F-4D97-AF65-F5344CB8AC3E}">
        <p14:creationId xmlns:p14="http://schemas.microsoft.com/office/powerpoint/2010/main" val="2091618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45</a:t>
            </a:fld>
            <a:endParaRPr lang="en-US"/>
          </a:p>
        </p:txBody>
      </p:sp>
    </p:spTree>
    <p:extLst>
      <p:ext uri="{BB962C8B-B14F-4D97-AF65-F5344CB8AC3E}">
        <p14:creationId xmlns:p14="http://schemas.microsoft.com/office/powerpoint/2010/main" val="1356504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46</a:t>
            </a:fld>
            <a:endParaRPr lang="en-US"/>
          </a:p>
        </p:txBody>
      </p:sp>
    </p:spTree>
    <p:extLst>
      <p:ext uri="{BB962C8B-B14F-4D97-AF65-F5344CB8AC3E}">
        <p14:creationId xmlns:p14="http://schemas.microsoft.com/office/powerpoint/2010/main" val="7870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47</a:t>
            </a:fld>
            <a:endParaRPr lang="en-US"/>
          </a:p>
        </p:txBody>
      </p:sp>
    </p:spTree>
    <p:extLst>
      <p:ext uri="{BB962C8B-B14F-4D97-AF65-F5344CB8AC3E}">
        <p14:creationId xmlns:p14="http://schemas.microsoft.com/office/powerpoint/2010/main" val="35642010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48</a:t>
            </a:fld>
            <a:endParaRPr lang="en-US"/>
          </a:p>
        </p:txBody>
      </p:sp>
    </p:spTree>
    <p:extLst>
      <p:ext uri="{BB962C8B-B14F-4D97-AF65-F5344CB8AC3E}">
        <p14:creationId xmlns:p14="http://schemas.microsoft.com/office/powerpoint/2010/main" val="3216816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49</a:t>
            </a:fld>
            <a:endParaRPr lang="en-US"/>
          </a:p>
        </p:txBody>
      </p:sp>
    </p:spTree>
    <p:extLst>
      <p:ext uri="{BB962C8B-B14F-4D97-AF65-F5344CB8AC3E}">
        <p14:creationId xmlns:p14="http://schemas.microsoft.com/office/powerpoint/2010/main" val="4147854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50</a:t>
            </a:fld>
            <a:endParaRPr lang="en-US"/>
          </a:p>
        </p:txBody>
      </p:sp>
    </p:spTree>
    <p:extLst>
      <p:ext uri="{BB962C8B-B14F-4D97-AF65-F5344CB8AC3E}">
        <p14:creationId xmlns:p14="http://schemas.microsoft.com/office/powerpoint/2010/main" val="13263483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51</a:t>
            </a:fld>
            <a:endParaRPr lang="en-US"/>
          </a:p>
        </p:txBody>
      </p:sp>
    </p:spTree>
    <p:extLst>
      <p:ext uri="{BB962C8B-B14F-4D97-AF65-F5344CB8AC3E}">
        <p14:creationId xmlns:p14="http://schemas.microsoft.com/office/powerpoint/2010/main" val="31250458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52</a:t>
            </a:fld>
            <a:endParaRPr lang="en-US"/>
          </a:p>
        </p:txBody>
      </p:sp>
    </p:spTree>
    <p:extLst>
      <p:ext uri="{BB962C8B-B14F-4D97-AF65-F5344CB8AC3E}">
        <p14:creationId xmlns:p14="http://schemas.microsoft.com/office/powerpoint/2010/main" val="409835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53</a:t>
            </a:fld>
            <a:endParaRPr lang="en-US"/>
          </a:p>
        </p:txBody>
      </p:sp>
    </p:spTree>
    <p:extLst>
      <p:ext uri="{BB962C8B-B14F-4D97-AF65-F5344CB8AC3E}">
        <p14:creationId xmlns:p14="http://schemas.microsoft.com/office/powerpoint/2010/main" val="15597610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54</a:t>
            </a:fld>
            <a:endParaRPr lang="en-US"/>
          </a:p>
        </p:txBody>
      </p:sp>
    </p:spTree>
    <p:extLst>
      <p:ext uri="{BB962C8B-B14F-4D97-AF65-F5344CB8AC3E}">
        <p14:creationId xmlns:p14="http://schemas.microsoft.com/office/powerpoint/2010/main" val="41453992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9F5FDD-0637-47F5-9986-3E70B6C2FE40}" type="slidenum">
              <a:rPr lang="en-US" smtClean="0"/>
              <a:t>55</a:t>
            </a:fld>
            <a:endParaRPr lang="en-US"/>
          </a:p>
        </p:txBody>
      </p:sp>
    </p:spTree>
    <p:extLst>
      <p:ext uri="{BB962C8B-B14F-4D97-AF65-F5344CB8AC3E}">
        <p14:creationId xmlns:p14="http://schemas.microsoft.com/office/powerpoint/2010/main" val="21603958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9F5FDD-0637-47F5-9986-3E70B6C2FE40}" type="slidenum">
              <a:rPr lang="en-US" smtClean="0"/>
              <a:t>56</a:t>
            </a:fld>
            <a:endParaRPr lang="en-US"/>
          </a:p>
        </p:txBody>
      </p:sp>
    </p:spTree>
    <p:extLst>
      <p:ext uri="{BB962C8B-B14F-4D97-AF65-F5344CB8AC3E}">
        <p14:creationId xmlns:p14="http://schemas.microsoft.com/office/powerpoint/2010/main" val="34220017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9F5FDD-0637-47F5-9986-3E70B6C2FE40}" type="slidenum">
              <a:rPr lang="en-US" smtClean="0"/>
              <a:t>57</a:t>
            </a:fld>
            <a:endParaRPr lang="en-US"/>
          </a:p>
        </p:txBody>
      </p:sp>
    </p:spTree>
    <p:extLst>
      <p:ext uri="{BB962C8B-B14F-4D97-AF65-F5344CB8AC3E}">
        <p14:creationId xmlns:p14="http://schemas.microsoft.com/office/powerpoint/2010/main" val="8105891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9F5FDD-0637-47F5-9986-3E70B6C2FE40}" type="slidenum">
              <a:rPr lang="en-US" smtClean="0"/>
              <a:t>58</a:t>
            </a:fld>
            <a:endParaRPr lang="en-US"/>
          </a:p>
        </p:txBody>
      </p:sp>
    </p:spTree>
    <p:extLst>
      <p:ext uri="{BB962C8B-B14F-4D97-AF65-F5344CB8AC3E}">
        <p14:creationId xmlns:p14="http://schemas.microsoft.com/office/powerpoint/2010/main" val="10330103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59</a:t>
            </a:fld>
            <a:endParaRPr lang="en-US"/>
          </a:p>
        </p:txBody>
      </p:sp>
    </p:spTree>
    <p:extLst>
      <p:ext uri="{BB962C8B-B14F-4D97-AF65-F5344CB8AC3E}">
        <p14:creationId xmlns:p14="http://schemas.microsoft.com/office/powerpoint/2010/main" val="9801548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60</a:t>
            </a:fld>
            <a:endParaRPr lang="en-US"/>
          </a:p>
        </p:txBody>
      </p:sp>
    </p:spTree>
    <p:extLst>
      <p:ext uri="{BB962C8B-B14F-4D97-AF65-F5344CB8AC3E}">
        <p14:creationId xmlns:p14="http://schemas.microsoft.com/office/powerpoint/2010/main" val="37797319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a:t>
            </a:r>
            <a:r>
              <a:rPr lang="en-US" baseline="0" dirty="0"/>
              <a:t> to Chris Potts for permission to use figure</a:t>
            </a:r>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61</a:t>
            </a:fld>
            <a:endParaRPr lang="en-US"/>
          </a:p>
        </p:txBody>
      </p:sp>
    </p:spTree>
    <p:extLst>
      <p:ext uri="{BB962C8B-B14F-4D97-AF65-F5344CB8AC3E}">
        <p14:creationId xmlns:p14="http://schemas.microsoft.com/office/powerpoint/2010/main" val="6692334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Thanks</a:t>
            </a:r>
            <a:r>
              <a:rPr lang="en-US" baseline="0" dirty="0"/>
              <a:t> to Chris Potts for permission to use figures</a:t>
            </a:r>
            <a:endParaRPr lang="en-US" dirty="0"/>
          </a:p>
          <a:p>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62</a:t>
            </a:fld>
            <a:endParaRPr lang="en-US"/>
          </a:p>
        </p:txBody>
      </p:sp>
    </p:spTree>
    <p:extLst>
      <p:ext uri="{BB962C8B-B14F-4D97-AF65-F5344CB8AC3E}">
        <p14:creationId xmlns:p14="http://schemas.microsoft.com/office/powerpoint/2010/main" val="10756609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63</a:t>
            </a:fld>
            <a:endParaRPr lang="en-US"/>
          </a:p>
        </p:txBody>
      </p:sp>
    </p:spTree>
    <p:extLst>
      <p:ext uri="{BB962C8B-B14F-4D97-AF65-F5344CB8AC3E}">
        <p14:creationId xmlns:p14="http://schemas.microsoft.com/office/powerpoint/2010/main" val="38890134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64</a:t>
            </a:fld>
            <a:endParaRPr lang="en-US"/>
          </a:p>
        </p:txBody>
      </p:sp>
    </p:spTree>
    <p:extLst>
      <p:ext uri="{BB962C8B-B14F-4D97-AF65-F5344CB8AC3E}">
        <p14:creationId xmlns:p14="http://schemas.microsoft.com/office/powerpoint/2010/main" val="11104530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65</a:t>
            </a:fld>
            <a:endParaRPr lang="en-US"/>
          </a:p>
        </p:txBody>
      </p:sp>
    </p:spTree>
    <p:extLst>
      <p:ext uri="{BB962C8B-B14F-4D97-AF65-F5344CB8AC3E}">
        <p14:creationId xmlns:p14="http://schemas.microsoft.com/office/powerpoint/2010/main" val="3958767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66</a:t>
            </a:fld>
            <a:endParaRPr lang="en-US"/>
          </a:p>
        </p:txBody>
      </p:sp>
    </p:spTree>
    <p:extLst>
      <p:ext uri="{BB962C8B-B14F-4D97-AF65-F5344CB8AC3E}">
        <p14:creationId xmlns:p14="http://schemas.microsoft.com/office/powerpoint/2010/main" val="18293345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67</a:t>
            </a:fld>
            <a:endParaRPr lang="en-US"/>
          </a:p>
        </p:txBody>
      </p:sp>
    </p:spTree>
    <p:extLst>
      <p:ext uri="{BB962C8B-B14F-4D97-AF65-F5344CB8AC3E}">
        <p14:creationId xmlns:p14="http://schemas.microsoft.com/office/powerpoint/2010/main" val="32524967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68</a:t>
            </a:fld>
            <a:endParaRPr lang="en-US"/>
          </a:p>
        </p:txBody>
      </p:sp>
    </p:spTree>
    <p:extLst>
      <p:ext uri="{BB962C8B-B14F-4D97-AF65-F5344CB8AC3E}">
        <p14:creationId xmlns:p14="http://schemas.microsoft.com/office/powerpoint/2010/main" val="5214731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47B18BD-8D3E-4CBB-B341-619686613173}" type="slidenum">
              <a:rPr lang="en-US" altLang="zh-CN"/>
              <a:pPr/>
              <a:t>69</a:t>
            </a:fld>
            <a:endParaRPr lang="en-US" altLang="zh-CN"/>
          </a:p>
        </p:txBody>
      </p:sp>
      <p:sp>
        <p:nvSpPr>
          <p:cNvPr id="2198530" name="Rectangle 2"/>
          <p:cNvSpPr>
            <a:spLocks noGrp="1" noRot="1" noChangeAspect="1" noChangeArrowheads="1" noTextEdit="1"/>
          </p:cNvSpPr>
          <p:nvPr>
            <p:ph type="sldImg"/>
          </p:nvPr>
        </p:nvSpPr>
        <p:spPr>
          <a:ln/>
        </p:spPr>
      </p:sp>
      <p:sp>
        <p:nvSpPr>
          <p:cNvPr id="2198531" name="Rectangle 3"/>
          <p:cNvSpPr>
            <a:spLocks noGrp="1" noChangeArrowheads="1"/>
          </p:cNvSpPr>
          <p:nvPr>
            <p:ph type="body" idx="1"/>
          </p:nvPr>
        </p:nvSpPr>
        <p:spPr/>
        <p:txBody>
          <a:bodyPr/>
          <a:lstStyle/>
          <a:p>
            <a:r>
              <a:rPr lang="en-US"/>
              <a:t>We can consult a dictionary. WordNet is the standard lexical resource used in NLP. So what can we find here?</a:t>
            </a:r>
          </a:p>
        </p:txBody>
      </p:sp>
    </p:spTree>
    <p:extLst>
      <p:ext uri="{BB962C8B-B14F-4D97-AF65-F5344CB8AC3E}">
        <p14:creationId xmlns:p14="http://schemas.microsoft.com/office/powerpoint/2010/main" val="1615188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48147BD-7C71-4690-A953-B7177DF51CF0}" type="slidenum">
              <a:rPr lang="en-US" altLang="zh-CN"/>
              <a:pPr/>
              <a:t>70</a:t>
            </a:fld>
            <a:endParaRPr lang="en-US" altLang="zh-CN"/>
          </a:p>
        </p:txBody>
      </p:sp>
      <p:sp>
        <p:nvSpPr>
          <p:cNvPr id="2200578" name="Rectangle 2"/>
          <p:cNvSpPr>
            <a:spLocks noGrp="1" noRot="1" noChangeAspect="1" noChangeArrowheads="1" noTextEdit="1"/>
          </p:cNvSpPr>
          <p:nvPr>
            <p:ph type="sldImg"/>
          </p:nvPr>
        </p:nvSpPr>
        <p:spPr>
          <a:ln/>
        </p:spPr>
      </p:sp>
      <p:sp>
        <p:nvSpPr>
          <p:cNvPr id="2200579"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10853050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AFEC6B98-C689-445C-B40E-41D2E0459757}" type="slidenum">
              <a:rPr lang="en-US" altLang="zh-CN"/>
              <a:pPr/>
              <a:t>71</a:t>
            </a:fld>
            <a:endParaRPr lang="en-US" altLang="zh-CN"/>
          </a:p>
        </p:txBody>
      </p:sp>
      <p:sp>
        <p:nvSpPr>
          <p:cNvPr id="2202626" name="Rectangle 2"/>
          <p:cNvSpPr>
            <a:spLocks noGrp="1" noRot="1" noChangeAspect="1" noChangeArrowheads="1" noTextEdit="1"/>
          </p:cNvSpPr>
          <p:nvPr>
            <p:ph type="sldImg"/>
          </p:nvPr>
        </p:nvSpPr>
        <p:spPr>
          <a:ln/>
        </p:spPr>
      </p:sp>
      <p:sp>
        <p:nvSpPr>
          <p:cNvPr id="2202627" name="Rectangle 3"/>
          <p:cNvSpPr>
            <a:spLocks noGrp="1" noChangeArrowheads="1"/>
          </p:cNvSpPr>
          <p:nvPr>
            <p:ph type="body" idx="1"/>
          </p:nvPr>
        </p:nvSpPr>
        <p:spPr/>
        <p:txBody>
          <a:bodyPr/>
          <a:lstStyle/>
          <a:p>
            <a:r>
              <a:rPr lang="en-US"/>
              <a:t>Similar words.</a:t>
            </a:r>
          </a:p>
        </p:txBody>
      </p:sp>
    </p:spTree>
    <p:extLst>
      <p:ext uri="{BB962C8B-B14F-4D97-AF65-F5344CB8AC3E}">
        <p14:creationId xmlns:p14="http://schemas.microsoft.com/office/powerpoint/2010/main" val="13218121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B264100-ADC8-4A19-9542-EA78A828751D}" type="slidenum">
              <a:rPr lang="en-US" altLang="zh-CN"/>
              <a:pPr/>
              <a:t>72</a:t>
            </a:fld>
            <a:endParaRPr lang="en-US" altLang="zh-CN"/>
          </a:p>
        </p:txBody>
      </p:sp>
      <p:sp>
        <p:nvSpPr>
          <p:cNvPr id="2204674" name="Rectangle 2"/>
          <p:cNvSpPr>
            <a:spLocks noGrp="1" noRot="1" noChangeAspect="1" noChangeArrowheads="1" noTextEdit="1"/>
          </p:cNvSpPr>
          <p:nvPr>
            <p:ph type="sldImg"/>
          </p:nvPr>
        </p:nvSpPr>
        <p:spPr>
          <a:ln/>
        </p:spPr>
      </p:sp>
      <p:sp>
        <p:nvSpPr>
          <p:cNvPr id="2204675" name="Rectangle 3"/>
          <p:cNvSpPr>
            <a:spLocks noGrp="1" noChangeArrowheads="1"/>
          </p:cNvSpPr>
          <p:nvPr>
            <p:ph type="body" idx="1"/>
          </p:nvPr>
        </p:nvSpPr>
        <p:spPr/>
        <p:txBody>
          <a:bodyPr/>
          <a:lstStyle/>
          <a:p>
            <a:r>
              <a:rPr lang="en-US"/>
              <a:t>Antonyms (opposites)</a:t>
            </a:r>
          </a:p>
        </p:txBody>
      </p:sp>
    </p:spTree>
    <p:extLst>
      <p:ext uri="{BB962C8B-B14F-4D97-AF65-F5344CB8AC3E}">
        <p14:creationId xmlns:p14="http://schemas.microsoft.com/office/powerpoint/2010/main" val="26715506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73</a:t>
            </a:fld>
            <a:endParaRPr lang="en-US"/>
          </a:p>
        </p:txBody>
      </p:sp>
    </p:spTree>
    <p:extLst>
      <p:ext uri="{BB962C8B-B14F-4D97-AF65-F5344CB8AC3E}">
        <p14:creationId xmlns:p14="http://schemas.microsoft.com/office/powerpoint/2010/main" val="2917901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74</a:t>
            </a:fld>
            <a:endParaRPr lang="en-US"/>
          </a:p>
        </p:txBody>
      </p:sp>
    </p:spTree>
    <p:extLst>
      <p:ext uri="{BB962C8B-B14F-4D97-AF65-F5344CB8AC3E}">
        <p14:creationId xmlns:p14="http://schemas.microsoft.com/office/powerpoint/2010/main" val="1499586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F16BDE-69E8-4336-B2AD-445F284AA2BC}" type="slidenum">
              <a:rPr lang="en-US" smtClean="0"/>
              <a:pPr/>
              <a:t>75</a:t>
            </a:fld>
            <a:endParaRPr lang="en-US"/>
          </a:p>
        </p:txBody>
      </p:sp>
    </p:spTree>
    <p:extLst>
      <p:ext uri="{BB962C8B-B14F-4D97-AF65-F5344CB8AC3E}">
        <p14:creationId xmlns:p14="http://schemas.microsoft.com/office/powerpoint/2010/main" val="1258904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76</a:t>
            </a:fld>
            <a:endParaRPr lang="en-US"/>
          </a:p>
        </p:txBody>
      </p:sp>
    </p:spTree>
    <p:extLst>
      <p:ext uri="{BB962C8B-B14F-4D97-AF65-F5344CB8AC3E}">
        <p14:creationId xmlns:p14="http://schemas.microsoft.com/office/powerpoint/2010/main" val="9094019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9F5FDD-0637-47F5-9986-3E70B6C2FE40}" type="slidenum">
              <a:rPr lang="en-US" smtClean="0"/>
              <a:t>77</a:t>
            </a:fld>
            <a:endParaRPr lang="en-US"/>
          </a:p>
        </p:txBody>
      </p:sp>
    </p:spTree>
    <p:extLst>
      <p:ext uri="{BB962C8B-B14F-4D97-AF65-F5344CB8AC3E}">
        <p14:creationId xmlns:p14="http://schemas.microsoft.com/office/powerpoint/2010/main" val="18245576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78</a:t>
            </a:fld>
            <a:endParaRPr lang="en-US"/>
          </a:p>
        </p:txBody>
      </p:sp>
    </p:spTree>
    <p:extLst>
      <p:ext uri="{BB962C8B-B14F-4D97-AF65-F5344CB8AC3E}">
        <p14:creationId xmlns:p14="http://schemas.microsoft.com/office/powerpoint/2010/main" val="705316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9F5FDD-0637-47F5-9986-3E70B6C2FE40}" type="slidenum">
              <a:rPr lang="en-US" smtClean="0"/>
              <a:t>79</a:t>
            </a:fld>
            <a:endParaRPr lang="en-US"/>
          </a:p>
        </p:txBody>
      </p:sp>
    </p:spTree>
    <p:extLst>
      <p:ext uri="{BB962C8B-B14F-4D97-AF65-F5344CB8AC3E}">
        <p14:creationId xmlns:p14="http://schemas.microsoft.com/office/powerpoint/2010/main" val="33879053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80</a:t>
            </a:fld>
            <a:endParaRPr lang="en-US"/>
          </a:p>
        </p:txBody>
      </p:sp>
    </p:spTree>
    <p:extLst>
      <p:ext uri="{BB962C8B-B14F-4D97-AF65-F5344CB8AC3E}">
        <p14:creationId xmlns:p14="http://schemas.microsoft.com/office/powerpoint/2010/main" val="23535441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81</a:t>
            </a:fld>
            <a:endParaRPr lang="en-US"/>
          </a:p>
        </p:txBody>
      </p:sp>
    </p:spTree>
    <p:extLst>
      <p:ext uri="{BB962C8B-B14F-4D97-AF65-F5344CB8AC3E}">
        <p14:creationId xmlns:p14="http://schemas.microsoft.com/office/powerpoint/2010/main" val="19768698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82</a:t>
            </a:fld>
            <a:endParaRPr lang="en-US"/>
          </a:p>
        </p:txBody>
      </p:sp>
    </p:spTree>
    <p:extLst>
      <p:ext uri="{BB962C8B-B14F-4D97-AF65-F5344CB8AC3E}">
        <p14:creationId xmlns:p14="http://schemas.microsoft.com/office/powerpoint/2010/main" val="23601564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83</a:t>
            </a:fld>
            <a:endParaRPr lang="en-US"/>
          </a:p>
        </p:txBody>
      </p:sp>
    </p:spTree>
    <p:extLst>
      <p:ext uri="{BB962C8B-B14F-4D97-AF65-F5344CB8AC3E}">
        <p14:creationId xmlns:p14="http://schemas.microsoft.com/office/powerpoint/2010/main" val="40696036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84</a:t>
            </a:fld>
            <a:endParaRPr lang="en-US"/>
          </a:p>
        </p:txBody>
      </p:sp>
    </p:spTree>
    <p:extLst>
      <p:ext uri="{BB962C8B-B14F-4D97-AF65-F5344CB8AC3E}">
        <p14:creationId xmlns:p14="http://schemas.microsoft.com/office/powerpoint/2010/main" val="22328658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85</a:t>
            </a:fld>
            <a:endParaRPr lang="en-US"/>
          </a:p>
        </p:txBody>
      </p:sp>
    </p:spTree>
    <p:extLst>
      <p:ext uri="{BB962C8B-B14F-4D97-AF65-F5344CB8AC3E}">
        <p14:creationId xmlns:p14="http://schemas.microsoft.com/office/powerpoint/2010/main" val="2590839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005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solidFill>
                  <a:srgbClr val="002060"/>
                </a:solidFill>
                <a:latin typeface="Minion" pitchFamily="18"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atin typeface="Minion" pitchFamily="18" charset="0"/>
                <a:ea typeface="Verdana" pitchFamily="34" charset="0"/>
                <a:cs typeface="Verdana" pitchFamily="34" charset="0"/>
              </a:defRPr>
            </a:lvl1pPr>
            <a:lvl2pPr>
              <a:defRPr sz="2000">
                <a:latin typeface="Minion" pitchFamily="18" charset="0"/>
                <a:ea typeface="Verdana" pitchFamily="34" charset="0"/>
                <a:cs typeface="Verdana" pitchFamily="34" charset="0"/>
              </a:defRPr>
            </a:lvl2pPr>
            <a:lvl3pPr>
              <a:defRPr sz="1600">
                <a:latin typeface="Minion" pitchFamily="18" charset="0"/>
                <a:ea typeface="Verdana" pitchFamily="34" charset="0"/>
                <a:cs typeface="Verdana" pitchFamily="34" charset="0"/>
              </a:defRPr>
            </a:lvl3pPr>
            <a:lvl4pPr>
              <a:defRPr sz="1200">
                <a:latin typeface="Minion" pitchFamily="18" charset="0"/>
                <a:ea typeface="Verdana" pitchFamily="34" charset="0"/>
                <a:cs typeface="Verdana" pitchFamily="34" charset="0"/>
              </a:defRPr>
            </a:lvl4pPr>
            <a:lvl5pPr>
              <a:defRPr sz="1000">
                <a:latin typeface="Minion" pitchFamily="18" charset="0"/>
                <a:ea typeface="Verdana" pitchFamily="34" charset="0"/>
                <a:cs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19999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0" y="4406900"/>
            <a:ext cx="8743950" cy="1362075"/>
          </a:xfrm>
        </p:spPr>
        <p:txBody>
          <a:bodyPr anchor="t"/>
          <a:lstStyle>
            <a:lvl1pPr algn="l">
              <a:defRPr sz="4800" b="1" cap="all">
                <a:solidFill>
                  <a:srgbClr val="002060"/>
                </a:solidFill>
                <a:latin typeface="Minion" pitchFamily="18" charset="0"/>
              </a:defRPr>
            </a:lvl1pPr>
          </a:lstStyle>
          <a:p>
            <a:r>
              <a:rPr lang="en-US" dirty="0"/>
              <a:t>Click to edit Master title style</a:t>
            </a:r>
          </a:p>
        </p:txBody>
      </p:sp>
      <p:sp>
        <p:nvSpPr>
          <p:cNvPr id="3" name="Text Placeholder 2"/>
          <p:cNvSpPr>
            <a:spLocks noGrp="1"/>
          </p:cNvSpPr>
          <p:nvPr>
            <p:ph type="body" idx="1"/>
          </p:nvPr>
        </p:nvSpPr>
        <p:spPr>
          <a:xfrm>
            <a:off x="812800" y="2906713"/>
            <a:ext cx="8743950" cy="1500187"/>
          </a:xfrm>
        </p:spPr>
        <p:txBody>
          <a:bodyPr anchor="b"/>
          <a:lstStyle>
            <a:lvl1pPr marL="0" indent="0">
              <a:buNone/>
              <a:defRPr sz="3600">
                <a:solidFill>
                  <a:srgbClr val="FF0000"/>
                </a:solidFill>
                <a:latin typeface="Quando"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extLst>
      <p:ext uri="{BB962C8B-B14F-4D97-AF65-F5344CB8AC3E}">
        <p14:creationId xmlns:p14="http://schemas.microsoft.com/office/powerpoint/2010/main" val="757638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514350" y="1600200"/>
            <a:ext cx="45529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219700" y="1600200"/>
            <a:ext cx="45529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1527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4350" y="274638"/>
            <a:ext cx="92583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514350" y="1535113"/>
            <a:ext cx="454501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14350" y="2174875"/>
            <a:ext cx="454501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26050" y="1535113"/>
            <a:ext cx="45466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226050" y="2174875"/>
            <a:ext cx="4546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7829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3580842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9367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273050"/>
            <a:ext cx="3384550"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022725" y="273050"/>
            <a:ext cx="574992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4350" y="1435100"/>
            <a:ext cx="33845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51582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6125" y="4800600"/>
            <a:ext cx="61722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2016125" y="612775"/>
            <a:ext cx="6172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016125" y="5367338"/>
            <a:ext cx="6172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28746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701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77113" y="152400"/>
            <a:ext cx="2395537" cy="5973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90500" y="152400"/>
            <a:ext cx="7034213" cy="5973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7002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10287000" cy="1143000"/>
          </a:xfrm>
        </p:spPr>
        <p:txBody>
          <a:bodyPr>
            <a:normAutofit/>
          </a:bodyPr>
          <a:lstStyle>
            <a:lvl1pPr>
              <a:defRPr sz="3600" b="1">
                <a:solidFill>
                  <a:srgbClr val="FF0000"/>
                </a:solidFill>
              </a:defRPr>
            </a:lvl1pPr>
          </a:lstStyle>
          <a:p>
            <a:r>
              <a:rPr lang="en-US" dirty="0"/>
              <a:t>Click to edit Master title style</a:t>
            </a:r>
          </a:p>
        </p:txBody>
      </p:sp>
      <p:sp>
        <p:nvSpPr>
          <p:cNvPr id="8" name="Content Placeholder 2"/>
          <p:cNvSpPr>
            <a:spLocks noGrp="1"/>
          </p:cNvSpPr>
          <p:nvPr>
            <p:ph idx="13"/>
          </p:nvPr>
        </p:nvSpPr>
        <p:spPr>
          <a:xfrm>
            <a:off x="514350" y="1371601"/>
            <a:ext cx="9258300" cy="4754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p:cNvSpPr txBox="1">
            <a:spLocks/>
          </p:cNvSpPr>
          <p:nvPr userDrawn="1"/>
        </p:nvSpPr>
        <p:spPr>
          <a:xfrm>
            <a:off x="7372350" y="6356351"/>
            <a:ext cx="24003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D5C474-4230-4742-8879-996C73AA5470}" type="slidenum">
              <a:rPr lang="en-US" sz="1200" smtClean="0"/>
              <a:pPr/>
              <a:t>‹#›</a:t>
            </a:fld>
            <a:endParaRPr lang="en-US" sz="1200"/>
          </a:p>
        </p:txBody>
      </p:sp>
    </p:spTree>
    <p:extLst>
      <p:ext uri="{BB962C8B-B14F-4D97-AF65-F5344CB8AC3E}">
        <p14:creationId xmlns:p14="http://schemas.microsoft.com/office/powerpoint/2010/main" val="2251145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5143500" y="681037"/>
            <a:ext cx="4377335" cy="1731963"/>
          </a:xfrm>
        </p:spPr>
        <p:txBody>
          <a:bodyPr/>
          <a:lstStyle>
            <a:lvl1pPr algn="ctr">
              <a:defRPr sz="3600" b="1"/>
            </a:lvl1pPr>
          </a:lstStyle>
          <a:p>
            <a:r>
              <a:rPr lang="en-US"/>
              <a:t>Click to edit Master title style</a:t>
            </a:r>
            <a:endParaRPr lang="en-US" dirty="0"/>
          </a:p>
        </p:txBody>
      </p:sp>
      <p:sp>
        <p:nvSpPr>
          <p:cNvPr id="205827" name="Rectangle 3"/>
          <p:cNvSpPr>
            <a:spLocks noGrp="1" noChangeArrowheads="1"/>
          </p:cNvSpPr>
          <p:nvPr>
            <p:ph type="subTitle" idx="1"/>
          </p:nvPr>
        </p:nvSpPr>
        <p:spPr>
          <a:xfrm>
            <a:off x="5143500" y="3835400"/>
            <a:ext cx="4371975" cy="2235200"/>
          </a:xfrm>
        </p:spPr>
        <p:txBody>
          <a:bodyPr/>
          <a:lstStyle>
            <a:lvl1pPr marL="0" indent="0" algn="ctr">
              <a:spcBef>
                <a:spcPts val="1013"/>
              </a:spcBef>
              <a:buFont typeface="Times" pitchFamily="-65" charset="0"/>
              <a:buNone/>
              <a:defRPr/>
            </a:lvl1pPr>
          </a:lstStyle>
          <a:p>
            <a:r>
              <a:rPr lang="en-US"/>
              <a:t>Click to edit Master subtitle style</a:t>
            </a:r>
            <a:endParaRPr lang="en-US" dirty="0"/>
          </a:p>
        </p:txBody>
      </p:sp>
      <p:sp>
        <p:nvSpPr>
          <p:cNvPr id="5" name="Rectangle 4"/>
          <p:cNvSpPr>
            <a:spLocks noGrp="1" noChangeArrowheads="1"/>
          </p:cNvSpPr>
          <p:nvPr>
            <p:ph type="dt" sz="half" idx="10"/>
          </p:nvPr>
        </p:nvSpPr>
        <p:spPr>
          <a:xfrm>
            <a:off x="8143875" y="6273800"/>
            <a:ext cx="1371600" cy="457200"/>
          </a:xfrm>
        </p:spPr>
        <p:txBody>
          <a:bodyPr anchor="b"/>
          <a:lstStyle>
            <a:lvl1pPr>
              <a:defRPr>
                <a:solidFill>
                  <a:schemeClr val="bg2"/>
                </a:solidFill>
              </a:defRPr>
            </a:lvl1pPr>
          </a:lstStyle>
          <a:p>
            <a:pPr>
              <a:defRPr/>
            </a:pPr>
            <a:endParaRPr lang="en-US" dirty="0"/>
          </a:p>
        </p:txBody>
      </p:sp>
      <p:sp>
        <p:nvSpPr>
          <p:cNvPr id="6" name="Rectangle 5"/>
          <p:cNvSpPr>
            <a:spLocks noGrp="1" noChangeArrowheads="1"/>
          </p:cNvSpPr>
          <p:nvPr>
            <p:ph type="ftr" sz="quarter" idx="11"/>
          </p:nvPr>
        </p:nvSpPr>
        <p:spPr>
          <a:xfrm>
            <a:off x="6000750" y="6273800"/>
            <a:ext cx="2143125" cy="457200"/>
          </a:xfrm>
        </p:spPr>
        <p:txBody>
          <a:bodyPr anchor="b"/>
          <a:lstStyle>
            <a:lvl1pPr>
              <a:defRPr>
                <a:solidFill>
                  <a:schemeClr val="bg2"/>
                </a:solidFill>
              </a:defRPr>
            </a:lvl1pPr>
          </a:lstStyle>
          <a:p>
            <a:pPr>
              <a:defRPr/>
            </a:pPr>
            <a:endParaRPr lang="en-US" dirty="0"/>
          </a:p>
        </p:txBody>
      </p:sp>
      <p:sp>
        <p:nvSpPr>
          <p:cNvPr id="11" name="Rectangle 6"/>
          <p:cNvSpPr>
            <a:spLocks noGrp="1" noChangeArrowheads="1"/>
          </p:cNvSpPr>
          <p:nvPr>
            <p:ph type="sldNum" sz="quarter" idx="12"/>
          </p:nvPr>
        </p:nvSpPr>
        <p:spPr>
          <a:xfrm>
            <a:off x="5143500" y="6273800"/>
            <a:ext cx="860821" cy="457200"/>
          </a:xfrm>
        </p:spPr>
        <p:txBody>
          <a:bodyPr anchor="b"/>
          <a:lstStyle>
            <a:lvl1pPr>
              <a:defRPr>
                <a:solidFill>
                  <a:schemeClr val="bg2"/>
                </a:solidFill>
              </a:defRPr>
            </a:lvl1pPr>
          </a:lstStyle>
          <a:p>
            <a:fld id="{E74C7FEE-6B48-4643-BCFB-F13B0E13E171}" type="slidenum">
              <a:rPr lang="en-US"/>
              <a:pPr/>
              <a:t>‹#›</a:t>
            </a:fld>
            <a:endParaRPr lang="en-US" dirty="0"/>
          </a:p>
        </p:txBody>
      </p:sp>
    </p:spTree>
    <p:extLst>
      <p:ext uri="{BB962C8B-B14F-4D97-AF65-F5344CB8AC3E}">
        <p14:creationId xmlns:p14="http://schemas.microsoft.com/office/powerpoint/2010/main" val="1588092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42900" y="1752601"/>
            <a:ext cx="8743950"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4076701"/>
            <a:ext cx="8743950"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10" name="Title 1"/>
          <p:cNvSpPr>
            <a:spLocks noGrp="1"/>
          </p:cNvSpPr>
          <p:nvPr>
            <p:ph type="title"/>
          </p:nvPr>
        </p:nvSpPr>
        <p:spPr>
          <a:xfrm>
            <a:off x="11133" y="76200"/>
            <a:ext cx="8401050" cy="990600"/>
          </a:xfrm>
        </p:spPr>
        <p:txBody>
          <a:bodyPr/>
          <a:lstStyle/>
          <a:p>
            <a:r>
              <a:rPr lang="en-US"/>
              <a:t>Click to edit Master title style</a:t>
            </a:r>
            <a:endParaRPr lang="en-US" dirty="0"/>
          </a:p>
        </p:txBody>
      </p:sp>
    </p:spTree>
    <p:extLst>
      <p:ext uri="{BB962C8B-B14F-4D97-AF65-F5344CB8AC3E}">
        <p14:creationId xmlns:p14="http://schemas.microsoft.com/office/powerpoint/2010/main" val="2932966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514350" y="990600"/>
            <a:ext cx="92583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2"/>
          <p:cNvSpPr>
            <a:spLocks noGrp="1" noChangeArrowheads="1"/>
          </p:cNvSpPr>
          <p:nvPr>
            <p:ph type="title"/>
          </p:nvPr>
        </p:nvSpPr>
        <p:spPr bwMode="auto">
          <a:xfrm>
            <a:off x="190500" y="152401"/>
            <a:ext cx="82105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cSld>
  <p:clrMap bg1="lt1" tx1="dk1" bg2="lt2" tx2="dk2" accent1="accent1" accent2="accent2" accent3="accent3" accent4="accent4" accent5="accent5" accent6="accent6" hlink="hlink" folHlink="folHlink"/>
  <p:sldLayoutIdLst>
    <p:sldLayoutId id="2147483719"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36" r:id="rId12"/>
    <p:sldLayoutId id="2147483737" r:id="rId13"/>
    <p:sldLayoutId id="2147483738" r:id="rId14"/>
  </p:sldLayoutIdLst>
  <p:hf hdr="0" ftr="0" dt="0"/>
  <p:txStyles>
    <p:titleStyle>
      <a:lvl1pPr algn="l" rtl="0" eaLnBrk="0" fontAlgn="base" hangingPunct="0">
        <a:spcBef>
          <a:spcPct val="0"/>
        </a:spcBef>
        <a:spcAft>
          <a:spcPct val="0"/>
        </a:spcAft>
        <a:defRPr sz="3200" b="1">
          <a:solidFill>
            <a:schemeClr val="tx1"/>
          </a:solidFill>
          <a:latin typeface="+mj-lt"/>
          <a:ea typeface="MASTERPLAN" pitchFamily="2" charset="0"/>
          <a:cs typeface="Times New Roman" pitchFamily="18" charset="0"/>
        </a:defRPr>
      </a:lvl1pPr>
      <a:lvl2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2pPr>
      <a:lvl3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3pPr>
      <a:lvl4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4pPr>
      <a:lvl5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5pPr>
      <a:lvl6pPr marL="457200" algn="l" rtl="0" fontAlgn="base">
        <a:spcBef>
          <a:spcPct val="0"/>
        </a:spcBef>
        <a:spcAft>
          <a:spcPct val="0"/>
        </a:spcAft>
        <a:defRPr sz="2800" b="1">
          <a:solidFill>
            <a:schemeClr val="tx1"/>
          </a:solidFill>
          <a:latin typeface="Arial" charset="0"/>
        </a:defRPr>
      </a:lvl6pPr>
      <a:lvl7pPr marL="914400" algn="l" rtl="0" fontAlgn="base">
        <a:spcBef>
          <a:spcPct val="0"/>
        </a:spcBef>
        <a:spcAft>
          <a:spcPct val="0"/>
        </a:spcAft>
        <a:defRPr sz="2800" b="1">
          <a:solidFill>
            <a:schemeClr val="tx1"/>
          </a:solidFill>
          <a:latin typeface="Arial" charset="0"/>
        </a:defRPr>
      </a:lvl7pPr>
      <a:lvl8pPr marL="1371600" algn="l" rtl="0" fontAlgn="base">
        <a:spcBef>
          <a:spcPct val="0"/>
        </a:spcBef>
        <a:spcAft>
          <a:spcPct val="0"/>
        </a:spcAft>
        <a:defRPr sz="2800" b="1">
          <a:solidFill>
            <a:schemeClr val="tx1"/>
          </a:solidFill>
          <a:latin typeface="Arial" charset="0"/>
        </a:defRPr>
      </a:lvl8pPr>
      <a:lvl9pPr marL="1828800" algn="l" rtl="0" fontAlgn="base">
        <a:spcBef>
          <a:spcPct val="0"/>
        </a:spcBef>
        <a:spcAft>
          <a:spcPct val="0"/>
        </a:spcAft>
        <a:defRPr sz="2800" b="1">
          <a:solidFill>
            <a:schemeClr val="tx1"/>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Verdana" pitchFamily="34" charset="0"/>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infolab.stanford.edu/~ullman/mining/2009/PageRank.pp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7" Type="http://schemas.openxmlformats.org/officeDocument/2006/relationships/image" Target="../media/image12.e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1.e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19.wmf"/><Relationship Id="rId4"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oleObject" Target="../embeddings/oleObject14.bin"/></Relationships>
</file>

<file path=ppt/slides/_rels/slide3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6.bin"/><Relationship Id="rId1" Type="http://schemas.openxmlformats.org/officeDocument/2006/relationships/slideLayout" Target="../slideLayouts/slideLayout6.xml"/><Relationship Id="rId5" Type="http://schemas.openxmlformats.org/officeDocument/2006/relationships/image" Target="../media/image24.emf"/><Relationship Id="rId4" Type="http://schemas.openxmlformats.org/officeDocument/2006/relationships/oleObject" Target="../embeddings/oleObject17.bin"/></Relationships>
</file>

<file path=ppt/slides/_rels/slide32.xml.rels><?xml version="1.0" encoding="UTF-8" standalone="yes"?>
<Relationships xmlns="http://schemas.openxmlformats.org/package/2006/relationships"><Relationship Id="rId3" Type="http://schemas.openxmlformats.org/officeDocument/2006/relationships/image" Target="../media/image25.emf"/><Relationship Id="rId7" Type="http://schemas.openxmlformats.org/officeDocument/2006/relationships/image" Target="../media/image27.emf"/><Relationship Id="rId2" Type="http://schemas.openxmlformats.org/officeDocument/2006/relationships/oleObject" Target="../embeddings/oleObject18.bin"/><Relationship Id="rId1" Type="http://schemas.openxmlformats.org/officeDocument/2006/relationships/slideLayout" Target="../slideLayouts/slideLayout14.xml"/><Relationship Id="rId6" Type="http://schemas.openxmlformats.org/officeDocument/2006/relationships/oleObject" Target="../embeddings/oleObject20.bin"/><Relationship Id="rId5" Type="http://schemas.openxmlformats.org/officeDocument/2006/relationships/image" Target="../media/image26.emf"/><Relationship Id="rId4" Type="http://schemas.openxmlformats.org/officeDocument/2006/relationships/oleObject" Target="../embeddings/oleObject19.bin"/></Relationships>
</file>

<file path=ppt/slides/_rels/slide3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oleObject" Target="../embeddings/oleObject22.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30.emf"/><Relationship Id="rId7" Type="http://schemas.openxmlformats.org/officeDocument/2006/relationships/image" Target="../media/image32.wmf"/><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5" Type="http://schemas.openxmlformats.org/officeDocument/2006/relationships/image" Target="../media/image31.emf"/><Relationship Id="rId10" Type="http://schemas.openxmlformats.org/officeDocument/2006/relationships/image" Target="../media/image24.emf"/><Relationship Id="rId4" Type="http://schemas.openxmlformats.org/officeDocument/2006/relationships/oleObject" Target="../embeddings/oleObject24.bin"/><Relationship Id="rId9" Type="http://schemas.openxmlformats.org/officeDocument/2006/relationships/oleObject" Target="../embeddings/oleObject17.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40.jpeg"/><Relationship Id="rId13" Type="http://schemas.openxmlformats.org/officeDocument/2006/relationships/image" Target="../media/image45.jpeg"/><Relationship Id="rId3" Type="http://schemas.openxmlformats.org/officeDocument/2006/relationships/notesSlide" Target="../notesSlides/notesSlide14.xml"/><Relationship Id="rId7" Type="http://schemas.openxmlformats.org/officeDocument/2006/relationships/image" Target="../media/image39.jpeg"/><Relationship Id="rId12" Type="http://schemas.openxmlformats.org/officeDocument/2006/relationships/image" Target="../media/image44.jpe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38.gif"/><Relationship Id="rId11" Type="http://schemas.openxmlformats.org/officeDocument/2006/relationships/image" Target="../media/image43.jpeg"/><Relationship Id="rId5" Type="http://schemas.openxmlformats.org/officeDocument/2006/relationships/image" Target="../media/image37.png"/><Relationship Id="rId15" Type="http://schemas.openxmlformats.org/officeDocument/2006/relationships/image" Target="../media/image47.jpeg"/><Relationship Id="rId10" Type="http://schemas.openxmlformats.org/officeDocument/2006/relationships/image" Target="../media/image42.gif"/><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entiment.christopherpotts.net/code-data/happyfuntokenizing.py"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NULL"/><Relationship Id="rId4" Type="http://schemas.openxmlformats.org/officeDocument/2006/relationships/image" Target="../media/image51.w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oleObject" Target="../embeddings/oleObject29.bin"/><Relationship Id="rId4" Type="http://schemas.openxmlformats.org/officeDocument/2006/relationships/image" Target="../media/image29.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3.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www.wjh.harvard.edu/~inquirer" TargetMode="External"/><Relationship Id="rId7" Type="http://schemas.openxmlformats.org/officeDocument/2006/relationships/hyperlink" Target="http://sentiwordnet.isti.cnr.it/"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www.cs.uic.edu/~liub/FBS/opinion-lexicon-English.rar" TargetMode="External"/><Relationship Id="rId5" Type="http://schemas.openxmlformats.org/officeDocument/2006/relationships/hyperlink" Target="http://www.cs.pitt.edu/mpqa/subj_lexicon.html" TargetMode="External"/><Relationship Id="rId4" Type="http://schemas.openxmlformats.org/officeDocument/2006/relationships/hyperlink" Target="http://liwc.wpengine.com/"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7.emf"/><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oleObject" Target="../embeddings/oleObject32.bin"/><Relationship Id="rId5" Type="http://schemas.openxmlformats.org/officeDocument/2006/relationships/image" Target="../media/image56.emf"/><Relationship Id="rId4" Type="http://schemas.openxmlformats.org/officeDocument/2006/relationships/oleObject" Target="../embeddings/oleObject31.bin"/></Relationships>
</file>

<file path=ppt/slides/_rels/slide62.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9.emf"/></Relationships>
</file>

<file path=ppt/slides/_rels/slide63.xml.rels><?xml version="1.0" encoding="UTF-8" standalone="yes"?>
<Relationships xmlns="http://schemas.openxmlformats.org/package/2006/relationships"><Relationship Id="rId3" Type="http://schemas.openxmlformats.org/officeDocument/2006/relationships/image" Target="../media/image60.tif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1.tif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2.tiff"/></Relationships>
</file>

<file path=ppt/slides/_rels/slide6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71.jpeg"/><Relationship Id="rId3" Type="http://schemas.openxmlformats.org/officeDocument/2006/relationships/image" Target="../media/image66.png"/><Relationship Id="rId7" Type="http://schemas.openxmlformats.org/officeDocument/2006/relationships/image" Target="../media/image70.jpe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69.jpeg"/><Relationship Id="rId5" Type="http://schemas.openxmlformats.org/officeDocument/2006/relationships/image" Target="../media/image68.jpeg"/><Relationship Id="rId4" Type="http://schemas.openxmlformats.org/officeDocument/2006/relationships/image" Target="../media/image67.png"/><Relationship Id="rId9" Type="http://schemas.openxmlformats.org/officeDocument/2006/relationships/image" Target="../media/image72.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7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www.epinions.com/"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nlp.stanford.edu:8080/sentiment/rntnDemo.html"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www.cs.uic.edu/~liub/FBS/SentimentAnalysis-and-OpinionMining.pdf"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0"/>
          <p:cNvSpPr txBox="1">
            <a:spLocks/>
          </p:cNvSpPr>
          <p:nvPr/>
        </p:nvSpPr>
        <p:spPr>
          <a:xfrm>
            <a:off x="4152900" y="3333750"/>
            <a:ext cx="5562600" cy="438150"/>
          </a:xfrm>
          <a:prstGeom prst="rect">
            <a:avLst/>
          </a:prstGeom>
        </p:spPr>
        <p:txBody>
          <a:bodyPr/>
          <a:lstStyle>
            <a:lvl1pPr marL="0" indent="0" algn="l" rtl="0" eaLnBrk="0" fontAlgn="base" hangingPunct="0">
              <a:spcBef>
                <a:spcPct val="20000"/>
              </a:spcBef>
              <a:spcAft>
                <a:spcPct val="0"/>
              </a:spcAft>
              <a:buNone/>
              <a:defRPr sz="2000">
                <a:solidFill>
                  <a:schemeClr val="tx1"/>
                </a:solidFill>
                <a:latin typeface="+mn-lt"/>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b="1" dirty="0">
                <a:solidFill>
                  <a:srgbClr val="346374"/>
                </a:solidFill>
              </a:rPr>
              <a:t>Dr. Manish Gupta</a:t>
            </a:r>
            <a:endParaRPr lang="en-US" b="1" dirty="0">
              <a:solidFill>
                <a:schemeClr val="bg1">
                  <a:lumMod val="50000"/>
                </a:schemeClr>
              </a:solidFill>
            </a:endParaRPr>
          </a:p>
        </p:txBody>
      </p:sp>
      <p:sp>
        <p:nvSpPr>
          <p:cNvPr id="2" name="TextBox 1"/>
          <p:cNvSpPr txBox="1"/>
          <p:nvPr/>
        </p:nvSpPr>
        <p:spPr>
          <a:xfrm>
            <a:off x="1409700" y="1752600"/>
            <a:ext cx="9067800" cy="523220"/>
          </a:xfrm>
          <a:prstGeom prst="rect">
            <a:avLst/>
          </a:prstGeom>
          <a:noFill/>
        </p:spPr>
        <p:txBody>
          <a:bodyPr wrap="square" rtlCol="0">
            <a:spAutoFit/>
          </a:bodyPr>
          <a:lstStyle/>
          <a:p>
            <a:r>
              <a:rPr lang="en-IN" sz="2800" b="1" dirty="0">
                <a:solidFill>
                  <a:srgbClr val="346374"/>
                </a:solidFill>
              </a:rPr>
              <a:t>Text Classification and Sentiment Analysis</a:t>
            </a:r>
          </a:p>
        </p:txBody>
      </p:sp>
      <p:sp>
        <p:nvSpPr>
          <p:cNvPr id="9" name="Text Placeholder 20"/>
          <p:cNvSpPr txBox="1">
            <a:spLocks/>
          </p:cNvSpPr>
          <p:nvPr/>
        </p:nvSpPr>
        <p:spPr>
          <a:xfrm>
            <a:off x="4610100" y="4343400"/>
            <a:ext cx="5562600" cy="457200"/>
          </a:xfrm>
          <a:prstGeom prst="rect">
            <a:avLst/>
          </a:prstGeom>
        </p:spPr>
        <p:txBody>
          <a:bodyPr/>
          <a:lstStyle>
            <a:lvl1pPr marL="0" indent="0" algn="l" rtl="0" eaLnBrk="0" fontAlgn="base" hangingPunct="0">
              <a:spcBef>
                <a:spcPct val="20000"/>
              </a:spcBef>
              <a:spcAft>
                <a:spcPct val="0"/>
              </a:spcAft>
              <a:buNone/>
              <a:defRPr sz="2000">
                <a:solidFill>
                  <a:schemeClr val="tx1"/>
                </a:solidFill>
                <a:latin typeface="+mn-lt"/>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endParaRPr lang="en-US" b="1" dirty="0">
              <a:solidFill>
                <a:schemeClr val="bg1">
                  <a:lumMod val="50000"/>
                </a:schemeClr>
              </a:solidFill>
            </a:endParaRPr>
          </a:p>
        </p:txBody>
      </p:sp>
      <p:sp>
        <p:nvSpPr>
          <p:cNvPr id="3" name="TextBox 2"/>
          <p:cNvSpPr txBox="1"/>
          <p:nvPr/>
        </p:nvSpPr>
        <p:spPr>
          <a:xfrm>
            <a:off x="419100" y="5791200"/>
            <a:ext cx="8026556" cy="369332"/>
          </a:xfrm>
          <a:prstGeom prst="rect">
            <a:avLst/>
          </a:prstGeom>
          <a:noFill/>
        </p:spPr>
        <p:txBody>
          <a:bodyPr wrap="none" rtlCol="0">
            <a:spAutoFit/>
          </a:bodyPr>
          <a:lstStyle/>
          <a:p>
            <a:r>
              <a:rPr lang="en-IN" dirty="0"/>
              <a:t>Adapted from </a:t>
            </a:r>
            <a:r>
              <a:rPr lang="en-IN" dirty="0">
                <a:hlinkClick r:id="rId3"/>
              </a:rPr>
              <a:t>http://</a:t>
            </a:r>
            <a:r>
              <a:rPr lang="en-US" dirty="0">
                <a:hlinkClick r:id="rId3"/>
              </a:rPr>
              <a:t>infolab.stanford.edu/~</a:t>
            </a:r>
            <a:r>
              <a:rPr lang="en-US" dirty="0" err="1">
                <a:hlinkClick r:id="rId3"/>
              </a:rPr>
              <a:t>ullman</a:t>
            </a:r>
            <a:r>
              <a:rPr lang="en-US">
                <a:hlinkClick r:id="rId3"/>
              </a:rPr>
              <a:t>/mining/2009/PageRank.ppt</a:t>
            </a:r>
            <a:r>
              <a:rPr lang="en-US"/>
              <a:t> </a:t>
            </a:r>
            <a:endParaRPr lang="en-US"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endParaRPr lang="en-US" dirty="0"/>
          </a:p>
        </p:txBody>
      </p:sp>
      <p:sp>
        <p:nvSpPr>
          <p:cNvPr id="3" name="Content Placeholder 2"/>
          <p:cNvSpPr>
            <a:spLocks noGrp="1"/>
          </p:cNvSpPr>
          <p:nvPr>
            <p:ph idx="1"/>
          </p:nvPr>
        </p:nvSpPr>
        <p:spPr/>
        <p:txBody>
          <a:bodyPr/>
          <a:lstStyle/>
          <a:p>
            <a:r>
              <a:rPr lang="en-IN" b="1" dirty="0">
                <a:solidFill>
                  <a:srgbClr val="7030A0"/>
                </a:solidFill>
              </a:rPr>
              <a:t>Text Classification</a:t>
            </a:r>
          </a:p>
        </p:txBody>
      </p:sp>
    </p:spTree>
    <p:extLst>
      <p:ext uri="{BB962C8B-B14F-4D97-AF65-F5344CB8AC3E}">
        <p14:creationId xmlns:p14="http://schemas.microsoft.com/office/powerpoint/2010/main" val="110399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Is this spam?</a:t>
            </a:r>
          </a:p>
        </p:txBody>
      </p:sp>
      <p:pic>
        <p:nvPicPr>
          <p:cNvPr id="6" name="Picture 5"/>
          <p:cNvPicPr>
            <a:picLocks noChangeAspect="1"/>
          </p:cNvPicPr>
          <p:nvPr/>
        </p:nvPicPr>
        <p:blipFill>
          <a:blip r:embed="rId2"/>
          <a:stretch>
            <a:fillRect/>
          </a:stretch>
        </p:blipFill>
        <p:spPr>
          <a:xfrm>
            <a:off x="600075" y="1971675"/>
            <a:ext cx="9065419" cy="3687017"/>
          </a:xfrm>
          <a:prstGeom prst="rect">
            <a:avLst/>
          </a:prstGeom>
        </p:spPr>
      </p:pic>
    </p:spTree>
    <p:extLst>
      <p:ext uri="{BB962C8B-B14F-4D97-AF65-F5344CB8AC3E}">
        <p14:creationId xmlns:p14="http://schemas.microsoft.com/office/powerpoint/2010/main" val="397106192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4" name="Rectangle 2"/>
          <p:cNvSpPr>
            <a:spLocks noGrp="1" noChangeArrowheads="1"/>
          </p:cNvSpPr>
          <p:nvPr>
            <p:ph type="title"/>
          </p:nvPr>
        </p:nvSpPr>
        <p:spPr>
          <a:xfrm>
            <a:off x="28575" y="604228"/>
            <a:ext cx="8743950" cy="964406"/>
          </a:xfrm>
        </p:spPr>
        <p:txBody>
          <a:bodyPr/>
          <a:lstStyle/>
          <a:p>
            <a:r>
              <a:rPr lang="en-US" dirty="0"/>
              <a:t>Who wrote which Federalist papers?</a:t>
            </a:r>
          </a:p>
        </p:txBody>
      </p:sp>
      <p:sp>
        <p:nvSpPr>
          <p:cNvPr id="1359875" name="Rectangle 3"/>
          <p:cNvSpPr>
            <a:spLocks noGrp="1" noChangeArrowheads="1"/>
          </p:cNvSpPr>
          <p:nvPr>
            <p:ph sz="quarter" idx="1"/>
          </p:nvPr>
        </p:nvSpPr>
        <p:spPr>
          <a:xfrm>
            <a:off x="942975" y="1682213"/>
            <a:ext cx="8058150" cy="3471863"/>
          </a:xfrm>
        </p:spPr>
        <p:txBody>
          <a:bodyPr>
            <a:normAutofit/>
          </a:bodyPr>
          <a:lstStyle/>
          <a:p>
            <a:pPr>
              <a:lnSpc>
                <a:spcPct val="110000"/>
              </a:lnSpc>
              <a:spcAft>
                <a:spcPts val="0"/>
              </a:spcAft>
            </a:pPr>
            <a:r>
              <a:rPr lang="en-US" dirty="0"/>
              <a:t>1787-1788: anonymous essays try to convince New York to ratify U.S Constitution:  Jay, Madison, Hamilton.  </a:t>
            </a:r>
          </a:p>
          <a:p>
            <a:pPr>
              <a:lnSpc>
                <a:spcPct val="110000"/>
              </a:lnSpc>
              <a:spcAft>
                <a:spcPts val="0"/>
              </a:spcAft>
            </a:pPr>
            <a:r>
              <a:rPr lang="en-US" dirty="0"/>
              <a:t>Authorship of 12 of the letters in dispute</a:t>
            </a:r>
          </a:p>
          <a:p>
            <a:pPr>
              <a:lnSpc>
                <a:spcPct val="110000"/>
              </a:lnSpc>
              <a:spcAft>
                <a:spcPts val="0"/>
              </a:spcAft>
            </a:pPr>
            <a:r>
              <a:rPr lang="en-US" dirty="0"/>
              <a:t>1963: solved by </a:t>
            </a:r>
            <a:r>
              <a:rPr lang="en-US" dirty="0" err="1"/>
              <a:t>Mosteller</a:t>
            </a:r>
            <a:r>
              <a:rPr lang="en-US" dirty="0"/>
              <a:t> and Wallace using Bayesian methods</a:t>
            </a:r>
          </a:p>
          <a:p>
            <a:pPr>
              <a:lnSpc>
                <a:spcPct val="110000"/>
              </a:lnSpc>
              <a:spcAft>
                <a:spcPts val="0"/>
              </a:spcAft>
            </a:pPr>
            <a:endParaRPr lang="en-US" dirty="0"/>
          </a:p>
        </p:txBody>
      </p:sp>
      <p:pic>
        <p:nvPicPr>
          <p:cNvPr id="12" name="Picture 11" descr="370px-Federalist.jpg"/>
          <p:cNvPicPr>
            <a:picLocks noChangeAspect="1"/>
          </p:cNvPicPr>
          <p:nvPr/>
        </p:nvPicPr>
        <p:blipFill>
          <a:blip r:embed="rId2"/>
          <a:stretch>
            <a:fillRect/>
          </a:stretch>
        </p:blipFill>
        <p:spPr>
          <a:xfrm>
            <a:off x="8772525" y="685801"/>
            <a:ext cx="1428750" cy="2316891"/>
          </a:xfrm>
          <a:prstGeom prst="rect">
            <a:avLst/>
          </a:prstGeom>
        </p:spPr>
      </p:pic>
      <p:pic>
        <p:nvPicPr>
          <p:cNvPr id="2" name="Picture 1" descr="220px-James_Madiso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8135" y="4699728"/>
            <a:ext cx="1020383" cy="1243013"/>
          </a:xfrm>
          <a:prstGeom prst="rect">
            <a:avLst/>
          </a:prstGeom>
        </p:spPr>
      </p:pic>
      <p:pic>
        <p:nvPicPr>
          <p:cNvPr id="3" name="Picture 2" descr="220px-Alexander_Hamilton_portrait_by_John_Trumbull_1806.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0901" y="4635434"/>
            <a:ext cx="1065815" cy="1264444"/>
          </a:xfrm>
          <a:prstGeom prst="rect">
            <a:avLst/>
          </a:prstGeom>
        </p:spPr>
      </p:pic>
      <p:sp>
        <p:nvSpPr>
          <p:cNvPr id="4" name="TextBox 3"/>
          <p:cNvSpPr txBox="1"/>
          <p:nvPr/>
        </p:nvSpPr>
        <p:spPr>
          <a:xfrm>
            <a:off x="1682643" y="5891574"/>
            <a:ext cx="2002471" cy="403957"/>
          </a:xfrm>
          <a:prstGeom prst="rect">
            <a:avLst/>
          </a:prstGeom>
          <a:noFill/>
        </p:spPr>
        <p:txBody>
          <a:bodyPr wrap="none" rtlCol="0">
            <a:spAutoFit/>
          </a:bodyPr>
          <a:lstStyle/>
          <a:p>
            <a:r>
              <a:rPr lang="en-US" sz="2025" dirty="0">
                <a:latin typeface="+mn-lt"/>
              </a:rPr>
              <a:t>James Madison</a:t>
            </a:r>
          </a:p>
        </p:txBody>
      </p:sp>
      <p:sp>
        <p:nvSpPr>
          <p:cNvPr id="15" name="TextBox 14"/>
          <p:cNvSpPr txBox="1"/>
          <p:nvPr/>
        </p:nvSpPr>
        <p:spPr>
          <a:xfrm>
            <a:off x="6740417" y="5913005"/>
            <a:ext cx="2449710" cy="403957"/>
          </a:xfrm>
          <a:prstGeom prst="rect">
            <a:avLst/>
          </a:prstGeom>
          <a:noFill/>
        </p:spPr>
        <p:txBody>
          <a:bodyPr wrap="none" rtlCol="0">
            <a:spAutoFit/>
          </a:bodyPr>
          <a:lstStyle/>
          <a:p>
            <a:r>
              <a:rPr lang="en-US" sz="2025" dirty="0">
                <a:latin typeface="+mn-lt"/>
              </a:rPr>
              <a:t>Alexander Hamilton</a:t>
            </a:r>
          </a:p>
        </p:txBody>
      </p:sp>
      <p:pic>
        <p:nvPicPr>
          <p:cNvPr id="5" name="Picture 4"/>
          <p:cNvPicPr>
            <a:picLocks noChangeAspect="1"/>
          </p:cNvPicPr>
          <p:nvPr/>
        </p:nvPicPr>
        <p:blipFill>
          <a:blip r:embed="rId5"/>
          <a:stretch>
            <a:fillRect/>
          </a:stretch>
        </p:blipFill>
        <p:spPr>
          <a:xfrm>
            <a:off x="4531045" y="4678297"/>
            <a:ext cx="1125141" cy="1143738"/>
          </a:xfrm>
          <a:prstGeom prst="rect">
            <a:avLst/>
          </a:prstGeom>
        </p:spPr>
      </p:pic>
      <p:sp>
        <p:nvSpPr>
          <p:cNvPr id="10" name="TextBox 9"/>
          <p:cNvSpPr txBox="1"/>
          <p:nvPr/>
        </p:nvSpPr>
        <p:spPr>
          <a:xfrm>
            <a:off x="4544831" y="5891574"/>
            <a:ext cx="1223412" cy="403957"/>
          </a:xfrm>
          <a:prstGeom prst="rect">
            <a:avLst/>
          </a:prstGeom>
          <a:noFill/>
        </p:spPr>
        <p:txBody>
          <a:bodyPr wrap="none" rtlCol="0">
            <a:spAutoFit/>
          </a:bodyPr>
          <a:lstStyle/>
          <a:p>
            <a:r>
              <a:rPr lang="en-US" sz="2025" dirty="0">
                <a:latin typeface="+mn-lt"/>
              </a:rPr>
              <a:t>John Jay</a:t>
            </a:r>
          </a:p>
        </p:txBody>
      </p:sp>
    </p:spTree>
    <p:extLst>
      <p:ext uri="{BB962C8B-B14F-4D97-AF65-F5344CB8AC3E}">
        <p14:creationId xmlns:p14="http://schemas.microsoft.com/office/powerpoint/2010/main" val="2403579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8775" y="685800"/>
            <a:ext cx="8401050" cy="835819"/>
          </a:xfrm>
        </p:spPr>
        <p:txBody>
          <a:bodyPr/>
          <a:lstStyle/>
          <a:p>
            <a:r>
              <a:rPr lang="en-US" dirty="0"/>
              <a:t>Male or female author?</a:t>
            </a:r>
          </a:p>
        </p:txBody>
      </p:sp>
      <p:sp>
        <p:nvSpPr>
          <p:cNvPr id="3" name="Content Placeholder 2"/>
          <p:cNvSpPr>
            <a:spLocks noGrp="1"/>
          </p:cNvSpPr>
          <p:nvPr>
            <p:ph idx="1"/>
          </p:nvPr>
        </p:nvSpPr>
        <p:spPr>
          <a:xfrm>
            <a:off x="342900" y="1885950"/>
            <a:ext cx="9601200" cy="3750469"/>
          </a:xfrm>
        </p:spPr>
        <p:txBody>
          <a:bodyPr/>
          <a:lstStyle/>
          <a:p>
            <a:pPr marL="514350" indent="-514350">
              <a:buFont typeface="+mj-lt"/>
              <a:buAutoNum type="arabicPeriod"/>
            </a:pPr>
            <a:r>
              <a:rPr lang="en-US" dirty="0"/>
              <a:t>By 1925 present-day Vietnam was divided into three parts under French colonial rule. The southern region embracing Saigon and the Mekong delta was the colony of Cochin-China; the central area with its imperial capital at Hue was the protectorate of Annam…</a:t>
            </a:r>
          </a:p>
          <a:p>
            <a:pPr marL="514350" indent="-514350">
              <a:buFont typeface="+mj-lt"/>
              <a:buAutoNum type="arabicPeriod"/>
            </a:pPr>
            <a:r>
              <a:rPr lang="en-US" dirty="0"/>
              <a:t>Clara never failed to be astonished by the extraordinary felicity of her own name. She found it hard to trust herself to the mercy of fate, which had managed over the years to convert her greatest shame into one of her greatest assets…</a:t>
            </a:r>
          </a:p>
        </p:txBody>
      </p:sp>
      <p:sp>
        <p:nvSpPr>
          <p:cNvPr id="5" name="TextBox 4"/>
          <p:cNvSpPr txBox="1"/>
          <p:nvPr/>
        </p:nvSpPr>
        <p:spPr>
          <a:xfrm>
            <a:off x="0" y="5757182"/>
            <a:ext cx="10287000" cy="507831"/>
          </a:xfrm>
          <a:prstGeom prst="rect">
            <a:avLst/>
          </a:prstGeom>
          <a:noFill/>
        </p:spPr>
        <p:txBody>
          <a:bodyPr wrap="square" rtlCol="0">
            <a:spAutoFit/>
          </a:bodyPr>
          <a:lstStyle/>
          <a:p>
            <a:r>
              <a:rPr lang="en-US" sz="1350" dirty="0">
                <a:latin typeface="+mn-lt"/>
              </a:rPr>
              <a:t>S. </a:t>
            </a:r>
            <a:r>
              <a:rPr lang="en-US" sz="1350" dirty="0" err="1">
                <a:latin typeface="+mn-lt"/>
              </a:rPr>
              <a:t>Argamon</a:t>
            </a:r>
            <a:r>
              <a:rPr lang="en-US" sz="1350" dirty="0">
                <a:latin typeface="+mn-lt"/>
              </a:rPr>
              <a:t>, M. Koppel, J. Fine, A. R. </a:t>
            </a:r>
            <a:r>
              <a:rPr lang="en-US" sz="1350" dirty="0" err="1">
                <a:latin typeface="+mn-lt"/>
              </a:rPr>
              <a:t>Shimoni</a:t>
            </a:r>
            <a:r>
              <a:rPr lang="en-US" sz="1350" dirty="0">
                <a:latin typeface="+mn-lt"/>
              </a:rPr>
              <a:t>, 2003. “Gender, Genre, and Writing Style in Formal Written Texts,” Text, volume 23, number 3, pp. 321–346</a:t>
            </a:r>
          </a:p>
        </p:txBody>
      </p:sp>
    </p:spTree>
    <p:extLst>
      <p:ext uri="{BB962C8B-B14F-4D97-AF65-F5344CB8AC3E}">
        <p14:creationId xmlns:p14="http://schemas.microsoft.com/office/powerpoint/2010/main" val="2624243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or negative movie review?</a:t>
            </a:r>
          </a:p>
        </p:txBody>
      </p:sp>
      <p:sp>
        <p:nvSpPr>
          <p:cNvPr id="3" name="Content Placeholder 2"/>
          <p:cNvSpPr>
            <a:spLocks noGrp="1"/>
          </p:cNvSpPr>
          <p:nvPr>
            <p:ph idx="1"/>
          </p:nvPr>
        </p:nvSpPr>
        <p:spPr>
          <a:xfrm>
            <a:off x="857250" y="2057400"/>
            <a:ext cx="8915400" cy="3750469"/>
          </a:xfrm>
        </p:spPr>
        <p:txBody>
          <a:bodyPr/>
          <a:lstStyle/>
          <a:p>
            <a:r>
              <a:rPr lang="en-US" dirty="0"/>
              <a:t>unbelievably disappointing </a:t>
            </a:r>
          </a:p>
          <a:p>
            <a:r>
              <a:rPr lang="en-US" dirty="0"/>
              <a:t>Full of zany characters and richly applied satire, and some great plot twists</a:t>
            </a:r>
          </a:p>
          <a:p>
            <a:r>
              <a:rPr lang="en-US" dirty="0"/>
              <a:t> this is the greatest screwball comedy ever filmed</a:t>
            </a:r>
          </a:p>
          <a:p>
            <a:r>
              <a:rPr lang="en-US" dirty="0"/>
              <a:t> It was pathetic. The worst part about it was the boxing scenes.</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6</a:t>
            </a:fld>
            <a:endParaRPr lang="en-US" dirty="0"/>
          </a:p>
        </p:txBody>
      </p:sp>
      <p:pic>
        <p:nvPicPr>
          <p:cNvPr id="5" name="Picture 4" descr="Thumbs-down-ico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1450" y="4114800"/>
            <a:ext cx="628650" cy="566586"/>
          </a:xfrm>
          <a:prstGeom prst="rect">
            <a:avLst/>
          </a:prstGeom>
        </p:spPr>
      </p:pic>
      <p:pic>
        <p:nvPicPr>
          <p:cNvPr id="6" name="Picture 5" descr="Thumbs-up-icon.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451" y="2657477"/>
            <a:ext cx="665807" cy="600074"/>
          </a:xfrm>
          <a:prstGeom prst="rect">
            <a:avLst/>
          </a:prstGeom>
        </p:spPr>
      </p:pic>
      <p:pic>
        <p:nvPicPr>
          <p:cNvPr id="7" name="Picture 6" descr="Thumbs-down-ico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1450" y="2057400"/>
            <a:ext cx="628650" cy="566586"/>
          </a:xfrm>
          <a:prstGeom prst="rect">
            <a:avLst/>
          </a:prstGeom>
        </p:spPr>
      </p:pic>
      <p:pic>
        <p:nvPicPr>
          <p:cNvPr id="8" name="Picture 7" descr="Thumbs-up-icon.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450" y="3343276"/>
            <a:ext cx="665807" cy="600074"/>
          </a:xfrm>
          <a:prstGeom prst="rect">
            <a:avLst/>
          </a:prstGeom>
        </p:spPr>
      </p:pic>
    </p:spTree>
    <p:extLst>
      <p:ext uri="{BB962C8B-B14F-4D97-AF65-F5344CB8AC3E}">
        <p14:creationId xmlns:p14="http://schemas.microsoft.com/office/powerpoint/2010/main" val="77853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ight Arrow 7"/>
          <p:cNvSpPr/>
          <p:nvPr/>
        </p:nvSpPr>
        <p:spPr bwMode="auto">
          <a:xfrm>
            <a:off x="3514725" y="3429000"/>
            <a:ext cx="1371600" cy="1200150"/>
          </a:xfrm>
          <a:prstGeom prst="rightArrow">
            <a:avLst/>
          </a:prstGeom>
          <a:solidFill>
            <a:schemeClr val="bg2"/>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2" name="Title 1"/>
          <p:cNvSpPr>
            <a:spLocks noGrp="1"/>
          </p:cNvSpPr>
          <p:nvPr>
            <p:ph type="title"/>
          </p:nvPr>
        </p:nvSpPr>
        <p:spPr>
          <a:xfrm>
            <a:off x="1543050" y="535781"/>
            <a:ext cx="8401050" cy="1007269"/>
          </a:xfrm>
        </p:spPr>
        <p:txBody>
          <a:bodyPr/>
          <a:lstStyle/>
          <a:p>
            <a:r>
              <a:rPr lang="en-US" dirty="0"/>
              <a:t>What is the subject of this article?</a:t>
            </a:r>
          </a:p>
        </p:txBody>
      </p:sp>
      <p:sp>
        <p:nvSpPr>
          <p:cNvPr id="3" name="Content Placeholder 2"/>
          <p:cNvSpPr>
            <a:spLocks noGrp="1"/>
          </p:cNvSpPr>
          <p:nvPr>
            <p:ph idx="1"/>
          </p:nvPr>
        </p:nvSpPr>
        <p:spPr>
          <a:xfrm>
            <a:off x="5486400" y="2507456"/>
            <a:ext cx="4286250" cy="3750469"/>
          </a:xfrm>
        </p:spPr>
        <p:txBody>
          <a:bodyPr/>
          <a:lstStyle/>
          <a:p>
            <a:r>
              <a:rPr lang="en-US" dirty="0" err="1"/>
              <a:t>Antogonists</a:t>
            </a:r>
            <a:r>
              <a:rPr lang="en-US" dirty="0"/>
              <a:t> and Inhibitors</a:t>
            </a:r>
          </a:p>
          <a:p>
            <a:r>
              <a:rPr lang="en-US" dirty="0"/>
              <a:t>Blood Supply</a:t>
            </a:r>
          </a:p>
          <a:p>
            <a:r>
              <a:rPr lang="en-US" dirty="0"/>
              <a:t>Chemistry</a:t>
            </a:r>
          </a:p>
          <a:p>
            <a:r>
              <a:rPr lang="en-US" dirty="0"/>
              <a:t>Drug Therapy</a:t>
            </a:r>
          </a:p>
          <a:p>
            <a:r>
              <a:rPr lang="en-US" dirty="0"/>
              <a:t>Embryology</a:t>
            </a:r>
          </a:p>
          <a:p>
            <a:r>
              <a:rPr lang="en-US" dirty="0"/>
              <a:t>Epidemiology</a:t>
            </a:r>
          </a:p>
          <a:p>
            <a:r>
              <a:rPr lang="en-US" dirty="0"/>
              <a:t>…</a:t>
            </a:r>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7</a:t>
            </a:fld>
            <a:endParaRPr lang="en-US"/>
          </a:p>
        </p:txBody>
      </p:sp>
      <p:sp>
        <p:nvSpPr>
          <p:cNvPr id="6" name="TextBox 5"/>
          <p:cNvSpPr txBox="1"/>
          <p:nvPr/>
        </p:nvSpPr>
        <p:spPr>
          <a:xfrm>
            <a:off x="3514725" y="1707311"/>
            <a:ext cx="6715300" cy="577081"/>
          </a:xfrm>
          <a:prstGeom prst="rect">
            <a:avLst/>
          </a:prstGeom>
          <a:noFill/>
        </p:spPr>
        <p:txBody>
          <a:bodyPr wrap="none" rtlCol="0">
            <a:spAutoFit/>
          </a:bodyPr>
          <a:lstStyle/>
          <a:p>
            <a:r>
              <a:rPr lang="en-US" sz="3150" b="1" dirty="0" err="1">
                <a:latin typeface="+mn-lt"/>
              </a:rPr>
              <a:t>MeSH</a:t>
            </a:r>
            <a:r>
              <a:rPr lang="en-US" sz="3150" b="1" dirty="0">
                <a:latin typeface="+mn-lt"/>
              </a:rPr>
              <a:t> Subject Category Hierarchy</a:t>
            </a:r>
          </a:p>
        </p:txBody>
      </p:sp>
      <p:sp>
        <p:nvSpPr>
          <p:cNvPr id="7" name="TextBox 6"/>
          <p:cNvSpPr txBox="1"/>
          <p:nvPr/>
        </p:nvSpPr>
        <p:spPr>
          <a:xfrm>
            <a:off x="3857626" y="3600450"/>
            <a:ext cx="600075" cy="715581"/>
          </a:xfrm>
          <a:prstGeom prst="rect">
            <a:avLst/>
          </a:prstGeom>
          <a:noFill/>
        </p:spPr>
        <p:txBody>
          <a:bodyPr wrap="square" rtlCol="0">
            <a:spAutoFit/>
          </a:bodyPr>
          <a:lstStyle/>
          <a:p>
            <a:r>
              <a:rPr lang="en-US" sz="4050" dirty="0">
                <a:latin typeface="+mn-lt"/>
              </a:rPr>
              <a:t>?</a:t>
            </a:r>
          </a:p>
        </p:txBody>
      </p:sp>
      <p:sp>
        <p:nvSpPr>
          <p:cNvPr id="9" name="TextBox 8"/>
          <p:cNvSpPr txBox="1"/>
          <p:nvPr/>
        </p:nvSpPr>
        <p:spPr>
          <a:xfrm>
            <a:off x="857250" y="2057400"/>
            <a:ext cx="2400300" cy="715581"/>
          </a:xfrm>
          <a:prstGeom prst="rect">
            <a:avLst/>
          </a:prstGeom>
          <a:noFill/>
        </p:spPr>
        <p:txBody>
          <a:bodyPr wrap="square" rtlCol="0">
            <a:spAutoFit/>
          </a:bodyPr>
          <a:lstStyle/>
          <a:p>
            <a:r>
              <a:rPr lang="en-US" sz="2025" dirty="0">
                <a:latin typeface="Lucida Sans" pitchFamily="-65" charset="0"/>
              </a:rPr>
              <a:t>MEDLINE Article</a:t>
            </a:r>
          </a:p>
          <a:p>
            <a:endParaRPr lang="en-US" sz="2025" dirty="0">
              <a:latin typeface="+mn-lt"/>
            </a:endParaRPr>
          </a:p>
        </p:txBody>
      </p:sp>
      <p:pic>
        <p:nvPicPr>
          <p:cNvPr id="10" name="Picture 9" descr="medlin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250" y="2571750"/>
            <a:ext cx="2260825" cy="3007519"/>
          </a:xfrm>
          <a:prstGeom prst="rect">
            <a:avLst/>
          </a:prstGeom>
          <a:ln>
            <a:solidFill>
              <a:schemeClr val="tx1"/>
            </a:solidFill>
          </a:ln>
        </p:spPr>
      </p:pic>
    </p:spTree>
    <p:extLst>
      <p:ext uri="{BB962C8B-B14F-4D97-AF65-F5344CB8AC3E}">
        <p14:creationId xmlns:p14="http://schemas.microsoft.com/office/powerpoint/2010/main" val="166497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uiExpand="1" build="p"/>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4050" dirty="0"/>
              <a:t>Text Classification</a:t>
            </a:r>
          </a:p>
        </p:txBody>
      </p:sp>
      <p:sp>
        <p:nvSpPr>
          <p:cNvPr id="23555" name="Rectangle 3"/>
          <p:cNvSpPr>
            <a:spLocks noGrp="1" noChangeArrowheads="1"/>
          </p:cNvSpPr>
          <p:nvPr>
            <p:ph sz="quarter" idx="1"/>
          </p:nvPr>
        </p:nvSpPr>
        <p:spPr>
          <a:xfrm>
            <a:off x="1028700" y="2143125"/>
            <a:ext cx="8401050" cy="4179094"/>
          </a:xfrm>
        </p:spPr>
        <p:txBody>
          <a:bodyPr/>
          <a:lstStyle/>
          <a:p>
            <a:r>
              <a:rPr lang="en-US" sz="3150" dirty="0">
                <a:latin typeface="Calibri" charset="0"/>
              </a:rPr>
              <a:t>Assigning subject categories, topics, or genres</a:t>
            </a:r>
          </a:p>
          <a:p>
            <a:r>
              <a:rPr lang="en-US" sz="3150" dirty="0">
                <a:latin typeface="Calibri" charset="0"/>
              </a:rPr>
              <a:t>Spam detection</a:t>
            </a:r>
          </a:p>
          <a:p>
            <a:r>
              <a:rPr lang="en-US" sz="3150" dirty="0">
                <a:latin typeface="Calibri" charset="0"/>
              </a:rPr>
              <a:t>Authorship identification</a:t>
            </a:r>
          </a:p>
          <a:p>
            <a:r>
              <a:rPr lang="en-US" sz="3150" dirty="0">
                <a:latin typeface="Calibri" charset="0"/>
              </a:rPr>
              <a:t>Age/gender identification</a:t>
            </a:r>
          </a:p>
          <a:p>
            <a:r>
              <a:rPr lang="en-US" sz="3150" dirty="0">
                <a:latin typeface="Calibri" charset="0"/>
              </a:rPr>
              <a:t>Language Identification</a:t>
            </a:r>
          </a:p>
          <a:p>
            <a:r>
              <a:rPr lang="en-US" sz="3150" dirty="0">
                <a:latin typeface="Calibri" charset="0"/>
              </a:rPr>
              <a:t>Sentiment analysis</a:t>
            </a:r>
          </a:p>
          <a:p>
            <a:r>
              <a:rPr lang="en-US" sz="3150" dirty="0">
                <a:latin typeface="Calibri" charset="0"/>
              </a:rPr>
              <a:t>…</a:t>
            </a:r>
          </a:p>
        </p:txBody>
      </p:sp>
    </p:spTree>
    <p:extLst>
      <p:ext uri="{BB962C8B-B14F-4D97-AF65-F5344CB8AC3E}">
        <p14:creationId xmlns:p14="http://schemas.microsoft.com/office/powerpoint/2010/main" val="242309653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Text Classification: definition</a:t>
            </a:r>
          </a:p>
        </p:txBody>
      </p:sp>
      <p:sp>
        <p:nvSpPr>
          <p:cNvPr id="24579" name="Rectangle 3"/>
          <p:cNvSpPr>
            <a:spLocks noGrp="1" noChangeArrowheads="1"/>
          </p:cNvSpPr>
          <p:nvPr>
            <p:ph sz="quarter" idx="1"/>
          </p:nvPr>
        </p:nvSpPr>
        <p:spPr/>
        <p:txBody>
          <a:bodyPr/>
          <a:lstStyle/>
          <a:p>
            <a:r>
              <a:rPr lang="en-US" sz="3600" i="1" dirty="0">
                <a:latin typeface="Calibri" charset="0"/>
              </a:rPr>
              <a:t>Input</a:t>
            </a:r>
            <a:r>
              <a:rPr lang="en-US" sz="3600" dirty="0">
                <a:latin typeface="Calibri" charset="0"/>
              </a:rPr>
              <a:t>:</a:t>
            </a:r>
          </a:p>
          <a:p>
            <a:pPr lvl="1"/>
            <a:r>
              <a:rPr lang="en-US" sz="3150" dirty="0">
                <a:latin typeface="Calibri" charset="0"/>
              </a:rPr>
              <a:t> a document </a:t>
            </a:r>
            <a:r>
              <a:rPr lang="en-US" sz="3150" i="1" dirty="0">
                <a:solidFill>
                  <a:srgbClr val="FF0000"/>
                </a:solidFill>
                <a:latin typeface="Calibri" charset="0"/>
              </a:rPr>
              <a:t>d</a:t>
            </a:r>
          </a:p>
          <a:p>
            <a:pPr lvl="1"/>
            <a:r>
              <a:rPr lang="en-US" sz="3150" i="1" dirty="0">
                <a:latin typeface="Calibri" charset="0"/>
              </a:rPr>
              <a:t> </a:t>
            </a:r>
            <a:r>
              <a:rPr lang="en-US" sz="3150" dirty="0">
                <a:latin typeface="Calibri" charset="0"/>
                <a:ea typeface="ＭＳ Ｐゴシック" charset="0"/>
              </a:rPr>
              <a:t>a fixed set of classes  </a:t>
            </a:r>
            <a:r>
              <a:rPr lang="en-US" sz="3150" i="1" dirty="0">
                <a:solidFill>
                  <a:srgbClr val="FF0000"/>
                </a:solidFill>
                <a:latin typeface="Calibri" charset="0"/>
                <a:ea typeface="ＭＳ Ｐゴシック" charset="0"/>
              </a:rPr>
              <a:t>C </a:t>
            </a:r>
            <a:r>
              <a:rPr lang="en-US" sz="3150" dirty="0">
                <a:solidFill>
                  <a:srgbClr val="FF0000"/>
                </a:solidFill>
                <a:latin typeface="Calibri" charset="0"/>
                <a:ea typeface="ＭＳ Ｐゴシック" charset="0"/>
              </a:rPr>
              <a:t>=</a:t>
            </a:r>
            <a:r>
              <a:rPr lang="en-US" sz="3150" i="1" dirty="0">
                <a:solidFill>
                  <a:srgbClr val="FF0000"/>
                </a:solidFill>
                <a:latin typeface="Calibri" charset="0"/>
                <a:ea typeface="ＭＳ Ｐゴシック" charset="0"/>
              </a:rPr>
              <a:t> </a:t>
            </a:r>
            <a:r>
              <a:rPr lang="en-US" sz="3150" dirty="0">
                <a:solidFill>
                  <a:srgbClr val="FF0000"/>
                </a:solidFill>
                <a:latin typeface="Calibri" charset="0"/>
                <a:ea typeface="ＭＳ Ｐゴシック" charset="0"/>
                <a:sym typeface="Symbol" charset="0"/>
              </a:rPr>
              <a:t>{</a:t>
            </a:r>
            <a:r>
              <a:rPr lang="en-US" sz="3150" i="1" dirty="0">
                <a:solidFill>
                  <a:srgbClr val="FF0000"/>
                </a:solidFill>
                <a:latin typeface="Calibri" charset="0"/>
                <a:ea typeface="ＭＳ Ｐゴシック" charset="0"/>
                <a:sym typeface="Symbol" charset="0"/>
              </a:rPr>
              <a:t>c</a:t>
            </a:r>
            <a:r>
              <a:rPr lang="en-US" sz="3150" baseline="-25000" dirty="0">
                <a:solidFill>
                  <a:srgbClr val="FF0000"/>
                </a:solidFill>
                <a:latin typeface="Calibri" charset="0"/>
                <a:ea typeface="ＭＳ Ｐゴシック" charset="0"/>
                <a:sym typeface="Symbol" charset="0"/>
              </a:rPr>
              <a:t>1</a:t>
            </a:r>
            <a:r>
              <a:rPr lang="en-US" sz="3150" dirty="0">
                <a:solidFill>
                  <a:srgbClr val="FF0000"/>
                </a:solidFill>
                <a:latin typeface="Calibri" charset="0"/>
                <a:ea typeface="ＭＳ Ｐゴシック" charset="0"/>
                <a:sym typeface="Symbol" charset="0"/>
              </a:rPr>
              <a:t>, </a:t>
            </a:r>
            <a:r>
              <a:rPr lang="en-US" sz="3150" i="1" dirty="0">
                <a:solidFill>
                  <a:srgbClr val="FF0000"/>
                </a:solidFill>
                <a:latin typeface="Calibri" charset="0"/>
                <a:ea typeface="ＭＳ Ｐゴシック" charset="0"/>
                <a:sym typeface="Symbol" charset="0"/>
              </a:rPr>
              <a:t>c</a:t>
            </a:r>
            <a:r>
              <a:rPr lang="en-US" sz="3150" baseline="-25000" dirty="0">
                <a:solidFill>
                  <a:srgbClr val="FF0000"/>
                </a:solidFill>
                <a:latin typeface="Calibri" charset="0"/>
                <a:ea typeface="ＭＳ Ｐゴシック" charset="0"/>
                <a:sym typeface="Symbol" charset="0"/>
              </a:rPr>
              <a:t>2</a:t>
            </a:r>
            <a:r>
              <a:rPr lang="en-US" sz="3150" dirty="0">
                <a:solidFill>
                  <a:srgbClr val="FF0000"/>
                </a:solidFill>
                <a:latin typeface="Calibri" charset="0"/>
                <a:ea typeface="ＭＳ Ｐゴシック" charset="0"/>
                <a:sym typeface="Symbol" charset="0"/>
              </a:rPr>
              <a:t>,…, </a:t>
            </a:r>
            <a:r>
              <a:rPr lang="en-US" sz="3150" i="1" dirty="0" err="1">
                <a:solidFill>
                  <a:srgbClr val="FF0000"/>
                </a:solidFill>
                <a:latin typeface="Calibri" charset="0"/>
                <a:ea typeface="ＭＳ Ｐゴシック" charset="0"/>
                <a:sym typeface="Symbol" charset="0"/>
              </a:rPr>
              <a:t>c</a:t>
            </a:r>
            <a:r>
              <a:rPr lang="en-US" sz="3150" i="1" baseline="-25000" dirty="0" err="1">
                <a:solidFill>
                  <a:srgbClr val="FF0000"/>
                </a:solidFill>
                <a:latin typeface="Calibri" charset="0"/>
                <a:ea typeface="ＭＳ Ｐゴシック" charset="0"/>
                <a:sym typeface="Symbol" charset="0"/>
              </a:rPr>
              <a:t>J</a:t>
            </a:r>
            <a:r>
              <a:rPr lang="en-US" sz="3150" dirty="0">
                <a:solidFill>
                  <a:srgbClr val="FF0000"/>
                </a:solidFill>
                <a:latin typeface="Calibri" charset="0"/>
                <a:ea typeface="ＭＳ Ｐゴシック" charset="0"/>
                <a:sym typeface="Symbol" charset="0"/>
              </a:rPr>
              <a:t>}</a:t>
            </a:r>
          </a:p>
          <a:p>
            <a:pPr lvl="1"/>
            <a:endParaRPr lang="en-US" sz="3150" i="1" dirty="0">
              <a:latin typeface="Calibri" charset="0"/>
            </a:endParaRPr>
          </a:p>
          <a:p>
            <a:r>
              <a:rPr lang="en-US" sz="3600" i="1" dirty="0">
                <a:latin typeface="Calibri" charset="0"/>
              </a:rPr>
              <a:t>Output</a:t>
            </a:r>
            <a:r>
              <a:rPr lang="en-US" sz="3600" dirty="0">
                <a:latin typeface="Calibri" charset="0"/>
              </a:rPr>
              <a:t>: a predicted class </a:t>
            </a:r>
            <a:r>
              <a:rPr lang="en-US" sz="3600" i="1" dirty="0">
                <a:solidFill>
                  <a:srgbClr val="FF0000"/>
                </a:solidFill>
                <a:latin typeface="Calibri" charset="0"/>
              </a:rPr>
              <a:t>c</a:t>
            </a:r>
            <a:r>
              <a:rPr lang="en-US" sz="3600" dirty="0">
                <a:solidFill>
                  <a:srgbClr val="FF0000"/>
                </a:solidFill>
                <a:latin typeface="Calibri" charset="0"/>
              </a:rPr>
              <a:t> </a:t>
            </a:r>
            <a:r>
              <a:rPr lang="en-US" sz="3600" dirty="0">
                <a:solidFill>
                  <a:srgbClr val="FF0000"/>
                </a:solidFill>
                <a:latin typeface="Calibri" charset="0"/>
                <a:ea typeface="ＭＳ Ｐゴシック" charset="0"/>
                <a:sym typeface="Symbol" charset="0"/>
              </a:rPr>
              <a:t> </a:t>
            </a:r>
            <a:r>
              <a:rPr lang="en-US" sz="3600" i="1" dirty="0">
                <a:solidFill>
                  <a:srgbClr val="FF0000"/>
                </a:solidFill>
                <a:latin typeface="Calibri" charset="0"/>
                <a:ea typeface="ＭＳ Ｐゴシック" charset="0"/>
                <a:sym typeface="Symbol" charset="0"/>
              </a:rPr>
              <a:t>C</a:t>
            </a:r>
            <a:endParaRPr lang="en-US" sz="3600" i="1" baseline="-25000" dirty="0">
              <a:solidFill>
                <a:srgbClr val="FF0000"/>
              </a:solidFill>
              <a:latin typeface="Calibri" charset="0"/>
            </a:endParaRPr>
          </a:p>
        </p:txBody>
      </p:sp>
    </p:spTree>
    <p:extLst>
      <p:ext uri="{BB962C8B-B14F-4D97-AF65-F5344CB8AC3E}">
        <p14:creationId xmlns:p14="http://schemas.microsoft.com/office/powerpoint/2010/main" val="3424952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a:xfrm>
            <a:off x="85725" y="600075"/>
            <a:ext cx="9601200" cy="835819"/>
          </a:xfrm>
        </p:spPr>
        <p:txBody>
          <a:bodyPr/>
          <a:lstStyle/>
          <a:p>
            <a:r>
              <a:rPr lang="en-US" sz="4050" dirty="0"/>
              <a:t>Classification Methods: Hand-coded rules</a:t>
            </a:r>
          </a:p>
        </p:txBody>
      </p:sp>
      <p:sp>
        <p:nvSpPr>
          <p:cNvPr id="27651" name="Rectangle 5"/>
          <p:cNvSpPr>
            <a:spLocks noGrp="1" noChangeArrowheads="1"/>
          </p:cNvSpPr>
          <p:nvPr>
            <p:ph sz="quarter" idx="1"/>
          </p:nvPr>
        </p:nvSpPr>
        <p:spPr>
          <a:xfrm>
            <a:off x="514350" y="1600200"/>
            <a:ext cx="9258300" cy="3916363"/>
          </a:xfrm>
        </p:spPr>
        <p:txBody>
          <a:bodyPr/>
          <a:lstStyle/>
          <a:p>
            <a:r>
              <a:rPr lang="en-US" dirty="0">
                <a:latin typeface="Calibri" charset="0"/>
              </a:rPr>
              <a:t>Rules based on combinations of words or other features</a:t>
            </a:r>
          </a:p>
          <a:p>
            <a:pPr lvl="1"/>
            <a:r>
              <a:rPr lang="en-US" dirty="0">
                <a:latin typeface="Calibri" charset="0"/>
              </a:rPr>
              <a:t> spam: black-list-address OR (“dollars” AND “have been selected”)</a:t>
            </a:r>
          </a:p>
          <a:p>
            <a:r>
              <a:rPr lang="en-US" dirty="0">
                <a:latin typeface="Calibri" charset="0"/>
              </a:rPr>
              <a:t>Accuracy can be high</a:t>
            </a:r>
          </a:p>
          <a:p>
            <a:pPr lvl="1"/>
            <a:r>
              <a:rPr lang="en-US" dirty="0">
                <a:latin typeface="Calibri" charset="0"/>
              </a:rPr>
              <a:t>If rules carefully refined by expert</a:t>
            </a:r>
          </a:p>
          <a:p>
            <a:r>
              <a:rPr lang="en-US" dirty="0">
                <a:latin typeface="Calibri" charset="0"/>
              </a:rPr>
              <a:t>But building and maintaining these rules is expensive</a:t>
            </a:r>
          </a:p>
        </p:txBody>
      </p:sp>
    </p:spTree>
    <p:extLst>
      <p:ext uri="{BB962C8B-B14F-4D97-AF65-F5344CB8AC3E}">
        <p14:creationId xmlns:p14="http://schemas.microsoft.com/office/powerpoint/2010/main" val="190331373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0075"/>
            <a:ext cx="9429750" cy="835819"/>
          </a:xfrm>
        </p:spPr>
        <p:txBody>
          <a:bodyPr/>
          <a:lstStyle/>
          <a:p>
            <a:r>
              <a:rPr lang="en-US" sz="4050" dirty="0"/>
              <a:t>Classification Methods: Supervised ML</a:t>
            </a:r>
          </a:p>
        </p:txBody>
      </p:sp>
      <p:sp>
        <p:nvSpPr>
          <p:cNvPr id="3" name="Content Placeholder 2"/>
          <p:cNvSpPr>
            <a:spLocks noGrp="1"/>
          </p:cNvSpPr>
          <p:nvPr>
            <p:ph idx="1"/>
          </p:nvPr>
        </p:nvSpPr>
        <p:spPr>
          <a:xfrm>
            <a:off x="514350" y="1435894"/>
            <a:ext cx="9258300" cy="4080669"/>
          </a:xfrm>
        </p:spPr>
        <p:txBody>
          <a:bodyPr/>
          <a:lstStyle/>
          <a:p>
            <a:r>
              <a:rPr lang="en-US" sz="3150" i="1" dirty="0">
                <a:latin typeface="Calibri" charset="0"/>
              </a:rPr>
              <a:t>Input: </a:t>
            </a:r>
          </a:p>
          <a:p>
            <a:pPr lvl="1"/>
            <a:r>
              <a:rPr lang="en-US" sz="2700" dirty="0">
                <a:latin typeface="Calibri" charset="0"/>
              </a:rPr>
              <a:t>a document </a:t>
            </a:r>
            <a:r>
              <a:rPr lang="en-US" sz="2700" i="1" dirty="0">
                <a:solidFill>
                  <a:srgbClr val="FF0000"/>
                </a:solidFill>
                <a:latin typeface="Calibri" charset="0"/>
              </a:rPr>
              <a:t>d</a:t>
            </a:r>
          </a:p>
          <a:p>
            <a:pPr lvl="1"/>
            <a:r>
              <a:rPr lang="en-US" sz="2700" i="1" dirty="0">
                <a:latin typeface="Calibri" charset="0"/>
              </a:rPr>
              <a:t> </a:t>
            </a:r>
            <a:r>
              <a:rPr lang="en-US" sz="2700" dirty="0">
                <a:latin typeface="Calibri" charset="0"/>
                <a:ea typeface="ＭＳ Ｐゴシック" charset="0"/>
              </a:rPr>
              <a:t>a fixed set of classes  </a:t>
            </a:r>
            <a:r>
              <a:rPr lang="en-US" sz="2700" i="1" dirty="0">
                <a:solidFill>
                  <a:srgbClr val="FF0000"/>
                </a:solidFill>
                <a:latin typeface="Calibri" charset="0"/>
                <a:ea typeface="ＭＳ Ｐゴシック" charset="0"/>
              </a:rPr>
              <a:t>C </a:t>
            </a:r>
            <a:r>
              <a:rPr lang="en-US" sz="2700" dirty="0">
                <a:solidFill>
                  <a:srgbClr val="FF0000"/>
                </a:solidFill>
                <a:latin typeface="Calibri" charset="0"/>
                <a:ea typeface="ＭＳ Ｐゴシック" charset="0"/>
              </a:rPr>
              <a:t>=</a:t>
            </a:r>
            <a:r>
              <a:rPr lang="en-US" sz="2700" i="1" dirty="0">
                <a:solidFill>
                  <a:srgbClr val="FF0000"/>
                </a:solidFill>
                <a:latin typeface="Calibri" charset="0"/>
                <a:ea typeface="ＭＳ Ｐゴシック" charset="0"/>
              </a:rPr>
              <a:t> </a:t>
            </a:r>
            <a:r>
              <a:rPr lang="en-US" sz="2700" dirty="0">
                <a:solidFill>
                  <a:srgbClr val="FF0000"/>
                </a:solidFill>
                <a:latin typeface="Calibri" charset="0"/>
                <a:ea typeface="ＭＳ Ｐゴシック" charset="0"/>
                <a:sym typeface="Symbol" charset="0"/>
              </a:rPr>
              <a:t>{</a:t>
            </a:r>
            <a:r>
              <a:rPr lang="en-US" sz="2700" i="1" dirty="0">
                <a:solidFill>
                  <a:srgbClr val="FF0000"/>
                </a:solidFill>
                <a:latin typeface="Calibri" charset="0"/>
                <a:ea typeface="ＭＳ Ｐゴシック" charset="0"/>
                <a:sym typeface="Symbol" charset="0"/>
              </a:rPr>
              <a:t>c</a:t>
            </a:r>
            <a:r>
              <a:rPr lang="en-US" sz="2700" baseline="-25000" dirty="0">
                <a:solidFill>
                  <a:srgbClr val="FF0000"/>
                </a:solidFill>
                <a:latin typeface="Calibri" charset="0"/>
                <a:ea typeface="ＭＳ Ｐゴシック" charset="0"/>
                <a:sym typeface="Symbol" charset="0"/>
              </a:rPr>
              <a:t>1</a:t>
            </a:r>
            <a:r>
              <a:rPr lang="en-US" sz="2700" dirty="0">
                <a:solidFill>
                  <a:srgbClr val="FF0000"/>
                </a:solidFill>
                <a:latin typeface="Calibri" charset="0"/>
                <a:ea typeface="ＭＳ Ｐゴシック" charset="0"/>
                <a:sym typeface="Symbol" charset="0"/>
              </a:rPr>
              <a:t>, </a:t>
            </a:r>
            <a:r>
              <a:rPr lang="en-US" sz="2700" i="1" dirty="0">
                <a:solidFill>
                  <a:srgbClr val="FF0000"/>
                </a:solidFill>
                <a:latin typeface="Calibri" charset="0"/>
                <a:ea typeface="ＭＳ Ｐゴシック" charset="0"/>
                <a:sym typeface="Symbol" charset="0"/>
              </a:rPr>
              <a:t>c</a:t>
            </a:r>
            <a:r>
              <a:rPr lang="en-US" sz="2700" baseline="-25000" dirty="0">
                <a:solidFill>
                  <a:srgbClr val="FF0000"/>
                </a:solidFill>
                <a:latin typeface="Calibri" charset="0"/>
                <a:ea typeface="ＭＳ Ｐゴシック" charset="0"/>
                <a:sym typeface="Symbol" charset="0"/>
              </a:rPr>
              <a:t>2</a:t>
            </a:r>
            <a:r>
              <a:rPr lang="en-US" sz="2700" dirty="0">
                <a:solidFill>
                  <a:srgbClr val="FF0000"/>
                </a:solidFill>
                <a:latin typeface="Calibri" charset="0"/>
                <a:ea typeface="ＭＳ Ｐゴシック" charset="0"/>
                <a:sym typeface="Symbol" charset="0"/>
              </a:rPr>
              <a:t>,…, </a:t>
            </a:r>
            <a:r>
              <a:rPr lang="en-US" sz="2700" i="1" dirty="0" err="1">
                <a:solidFill>
                  <a:srgbClr val="FF0000"/>
                </a:solidFill>
                <a:latin typeface="Calibri" charset="0"/>
                <a:ea typeface="ＭＳ Ｐゴシック" charset="0"/>
                <a:sym typeface="Symbol" charset="0"/>
              </a:rPr>
              <a:t>c</a:t>
            </a:r>
            <a:r>
              <a:rPr lang="en-US" sz="2700" i="1" baseline="-25000" dirty="0" err="1">
                <a:solidFill>
                  <a:srgbClr val="FF0000"/>
                </a:solidFill>
                <a:latin typeface="Calibri" charset="0"/>
                <a:ea typeface="ＭＳ Ｐゴシック" charset="0"/>
                <a:sym typeface="Symbol" charset="0"/>
              </a:rPr>
              <a:t>J</a:t>
            </a:r>
            <a:r>
              <a:rPr lang="en-US" sz="2700" dirty="0">
                <a:solidFill>
                  <a:srgbClr val="FF0000"/>
                </a:solidFill>
                <a:latin typeface="Calibri" charset="0"/>
                <a:ea typeface="ＭＳ Ｐゴシック" charset="0"/>
                <a:sym typeface="Symbol" charset="0"/>
              </a:rPr>
              <a:t>}</a:t>
            </a:r>
            <a:endParaRPr lang="en-US" sz="2025" i="1" dirty="0">
              <a:solidFill>
                <a:srgbClr val="FF0000"/>
              </a:solidFill>
              <a:latin typeface="Calibri" charset="0"/>
            </a:endParaRPr>
          </a:p>
          <a:p>
            <a:pPr lvl="1"/>
            <a:r>
              <a:rPr lang="en-US" sz="2700" dirty="0">
                <a:latin typeface="Calibri" charset="0"/>
              </a:rPr>
              <a:t>A training set of </a:t>
            </a:r>
            <a:r>
              <a:rPr lang="en-US" sz="2700" i="1" dirty="0">
                <a:solidFill>
                  <a:srgbClr val="FF0000"/>
                </a:solidFill>
                <a:latin typeface="Calibri" charset="0"/>
              </a:rPr>
              <a:t>m</a:t>
            </a:r>
            <a:r>
              <a:rPr lang="en-US" sz="2700" i="1" dirty="0">
                <a:latin typeface="Calibri" charset="0"/>
              </a:rPr>
              <a:t> </a:t>
            </a:r>
            <a:r>
              <a:rPr lang="en-US" sz="2700" dirty="0">
                <a:latin typeface="Calibri" charset="0"/>
              </a:rPr>
              <a:t>hand-labeled documents </a:t>
            </a:r>
            <a:r>
              <a:rPr lang="en-US" sz="2700" i="1" dirty="0">
                <a:solidFill>
                  <a:srgbClr val="FF0000"/>
                </a:solidFill>
                <a:latin typeface="Calibri" charset="0"/>
              </a:rPr>
              <a:t>(d</a:t>
            </a:r>
            <a:r>
              <a:rPr lang="en-US" sz="2700" i="1" baseline="-25000" dirty="0">
                <a:solidFill>
                  <a:srgbClr val="FF0000"/>
                </a:solidFill>
                <a:latin typeface="Calibri" charset="0"/>
              </a:rPr>
              <a:t>1</a:t>
            </a:r>
            <a:r>
              <a:rPr lang="en-US" sz="2700" i="1" dirty="0">
                <a:solidFill>
                  <a:srgbClr val="FF0000"/>
                </a:solidFill>
                <a:latin typeface="Calibri" charset="0"/>
              </a:rPr>
              <a:t>,c</a:t>
            </a:r>
            <a:r>
              <a:rPr lang="en-US" sz="2700" i="1" baseline="-25000" dirty="0">
                <a:solidFill>
                  <a:srgbClr val="FF0000"/>
                </a:solidFill>
                <a:latin typeface="Calibri" charset="0"/>
              </a:rPr>
              <a:t>1</a:t>
            </a:r>
            <a:r>
              <a:rPr lang="en-US" sz="2700" i="1" dirty="0">
                <a:solidFill>
                  <a:srgbClr val="FF0000"/>
                </a:solidFill>
                <a:latin typeface="Calibri" charset="0"/>
              </a:rPr>
              <a:t>),....,(</a:t>
            </a:r>
            <a:r>
              <a:rPr lang="en-US" sz="2700" i="1" dirty="0" err="1">
                <a:solidFill>
                  <a:srgbClr val="FF0000"/>
                </a:solidFill>
                <a:latin typeface="Calibri" charset="0"/>
              </a:rPr>
              <a:t>d</a:t>
            </a:r>
            <a:r>
              <a:rPr lang="en-US" sz="2700" i="1" baseline="-25000" dirty="0" err="1">
                <a:solidFill>
                  <a:srgbClr val="FF0000"/>
                </a:solidFill>
                <a:latin typeface="Calibri" charset="0"/>
              </a:rPr>
              <a:t>m</a:t>
            </a:r>
            <a:r>
              <a:rPr lang="en-US" sz="2700" i="1" dirty="0" err="1">
                <a:solidFill>
                  <a:srgbClr val="FF0000"/>
                </a:solidFill>
                <a:latin typeface="Calibri" charset="0"/>
              </a:rPr>
              <a:t>,c</a:t>
            </a:r>
            <a:r>
              <a:rPr lang="en-US" sz="2700" i="1" baseline="-25000" dirty="0" err="1">
                <a:solidFill>
                  <a:srgbClr val="FF0000"/>
                </a:solidFill>
                <a:latin typeface="Calibri" charset="0"/>
              </a:rPr>
              <a:t>m</a:t>
            </a:r>
            <a:r>
              <a:rPr lang="en-US" sz="2700" i="1" dirty="0">
                <a:solidFill>
                  <a:srgbClr val="FF0000"/>
                </a:solidFill>
                <a:latin typeface="Calibri" charset="0"/>
              </a:rPr>
              <a:t>)</a:t>
            </a:r>
          </a:p>
          <a:p>
            <a:r>
              <a:rPr lang="en-US" sz="3150" i="1" dirty="0">
                <a:latin typeface="Calibri" charset="0"/>
              </a:rPr>
              <a:t>Output: </a:t>
            </a:r>
          </a:p>
          <a:p>
            <a:pPr lvl="1"/>
            <a:r>
              <a:rPr lang="en-US" sz="2700" dirty="0">
                <a:latin typeface="Calibri" charset="0"/>
              </a:rPr>
              <a:t>a learned classifier </a:t>
            </a:r>
            <a:r>
              <a:rPr lang="en-US" sz="2700" i="1" dirty="0" err="1">
                <a:solidFill>
                  <a:srgbClr val="FF0000"/>
                </a:solidFill>
                <a:latin typeface="Calibri" charset="0"/>
              </a:rPr>
              <a:t>γ:d</a:t>
            </a:r>
            <a:r>
              <a:rPr lang="en-US" sz="2700" i="1" dirty="0">
                <a:solidFill>
                  <a:srgbClr val="FF0000"/>
                </a:solidFill>
                <a:latin typeface="Calibri" charset="0"/>
              </a:rPr>
              <a:t> </a:t>
            </a:r>
            <a:r>
              <a:rPr lang="en-US" sz="2700" i="1" dirty="0">
                <a:solidFill>
                  <a:srgbClr val="FF0000"/>
                </a:solidFill>
                <a:latin typeface="Calibri" charset="0"/>
                <a:sym typeface="Wingdings" charset="2"/>
              </a:rPr>
              <a:t> c</a:t>
            </a:r>
            <a:endParaRPr lang="en-US" sz="2700" i="1" dirty="0">
              <a:solidFill>
                <a:srgbClr val="FF0000"/>
              </a:solidFill>
              <a:latin typeface="Calibri" charset="0"/>
            </a:endParaRPr>
          </a:p>
        </p:txBody>
      </p:sp>
      <p:sp>
        <p:nvSpPr>
          <p:cNvPr id="4" name="Slide Number Placeholder 3"/>
          <p:cNvSpPr>
            <a:spLocks noGrp="1"/>
          </p:cNvSpPr>
          <p:nvPr>
            <p:ph type="sldNum" sz="quarter" idx="12"/>
          </p:nvPr>
        </p:nvSpPr>
        <p:spPr/>
        <p:txBody>
          <a:bodyPr/>
          <a:lstStyle/>
          <a:p>
            <a:fld id="{10F35DC5-7E65-8247-99AB-4E984F8A921E}" type="slidenum">
              <a:rPr lang="en-US" smtClean="0"/>
              <a:pPr/>
              <a:t>11</a:t>
            </a:fld>
            <a:endParaRPr lang="en-US"/>
          </a:p>
        </p:txBody>
      </p:sp>
    </p:spTree>
    <p:extLst>
      <p:ext uri="{BB962C8B-B14F-4D97-AF65-F5344CB8AC3E}">
        <p14:creationId xmlns:p14="http://schemas.microsoft.com/office/powerpoint/2010/main" val="3091599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5"/>
          <p:cNvSpPr>
            <a:spLocks noGrp="1" noChangeArrowheads="1"/>
          </p:cNvSpPr>
          <p:nvPr>
            <p:ph sz="quarter" idx="1"/>
          </p:nvPr>
        </p:nvSpPr>
        <p:spPr/>
        <p:txBody>
          <a:bodyPr/>
          <a:lstStyle/>
          <a:p>
            <a:r>
              <a:rPr lang="en-US" sz="3150" dirty="0">
                <a:latin typeface="Calibri" charset="0"/>
              </a:rPr>
              <a:t>Any kind of classifier</a:t>
            </a:r>
          </a:p>
          <a:p>
            <a:pPr lvl="1"/>
            <a:r>
              <a:rPr lang="en-US" sz="2700" dirty="0">
                <a:latin typeface="Calibri" charset="0"/>
              </a:rPr>
              <a:t>Na</a:t>
            </a:r>
            <a:r>
              <a:rPr lang="fr-FR" sz="2700" dirty="0" err="1">
                <a:latin typeface="Calibri" charset="0"/>
              </a:rPr>
              <a:t>ï</a:t>
            </a:r>
            <a:r>
              <a:rPr lang="en-US" sz="2700" dirty="0" err="1">
                <a:latin typeface="Calibri" charset="0"/>
              </a:rPr>
              <a:t>ve</a:t>
            </a:r>
            <a:r>
              <a:rPr lang="en-US" sz="2700" dirty="0">
                <a:latin typeface="Calibri" charset="0"/>
              </a:rPr>
              <a:t> Bayes</a:t>
            </a:r>
          </a:p>
          <a:p>
            <a:pPr lvl="1"/>
            <a:r>
              <a:rPr lang="en-US" sz="2700" dirty="0">
                <a:latin typeface="Calibri" charset="0"/>
              </a:rPr>
              <a:t>Logistic regression</a:t>
            </a:r>
          </a:p>
          <a:p>
            <a:pPr lvl="1"/>
            <a:r>
              <a:rPr lang="en-US" sz="2700" dirty="0">
                <a:latin typeface="Calibri" charset="0"/>
              </a:rPr>
              <a:t>Support-vector machines</a:t>
            </a:r>
          </a:p>
          <a:p>
            <a:pPr lvl="1"/>
            <a:r>
              <a:rPr lang="en-US" sz="2700" dirty="0">
                <a:latin typeface="Calibri" charset="0"/>
              </a:rPr>
              <a:t>k-Nearest Neighbors</a:t>
            </a:r>
          </a:p>
          <a:p>
            <a:pPr lvl="1"/>
            <a:endParaRPr lang="en-US" sz="2700" dirty="0">
              <a:latin typeface="Calibri" charset="0"/>
            </a:endParaRPr>
          </a:p>
          <a:p>
            <a:pPr lvl="1"/>
            <a:r>
              <a:rPr lang="en-US" sz="2700" dirty="0">
                <a:latin typeface="Calibri" charset="0"/>
              </a:rPr>
              <a:t>…</a:t>
            </a:r>
            <a:endParaRPr lang="en-US" sz="1125" dirty="0">
              <a:latin typeface="Calibri" charset="0"/>
            </a:endParaRPr>
          </a:p>
        </p:txBody>
      </p:sp>
      <p:sp>
        <p:nvSpPr>
          <p:cNvPr id="6" name="Title 1"/>
          <p:cNvSpPr>
            <a:spLocks noGrp="1"/>
          </p:cNvSpPr>
          <p:nvPr>
            <p:ph type="title"/>
          </p:nvPr>
        </p:nvSpPr>
        <p:spPr>
          <a:xfrm>
            <a:off x="24245" y="182490"/>
            <a:ext cx="9429750" cy="835819"/>
          </a:xfrm>
        </p:spPr>
        <p:txBody>
          <a:bodyPr/>
          <a:lstStyle/>
          <a:p>
            <a:r>
              <a:rPr lang="en-US" sz="4050" dirty="0"/>
              <a:t>Classification Methods: Supervised ML</a:t>
            </a:r>
          </a:p>
        </p:txBody>
      </p:sp>
    </p:spTree>
    <p:extLst>
      <p:ext uri="{BB962C8B-B14F-4D97-AF65-F5344CB8AC3E}">
        <p14:creationId xmlns:p14="http://schemas.microsoft.com/office/powerpoint/2010/main" val="335127387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4457700" y="685800"/>
            <a:ext cx="5400675" cy="2143125"/>
          </a:xfrm>
        </p:spPr>
        <p:txBody>
          <a:bodyPr/>
          <a:lstStyle/>
          <a:p>
            <a:r>
              <a:rPr lang="en-US" sz="4500">
                <a:latin typeface="Calibri (Headings)"/>
                <a:cs typeface="Calibri (Headings)"/>
              </a:rPr>
              <a:t>Text Classification and Na</a:t>
            </a:r>
            <a:r>
              <a:rPr lang="fr-FR" sz="4500">
                <a:latin typeface="Calibri (Headings)"/>
                <a:cs typeface="Calibri (Headings)"/>
              </a:rPr>
              <a:t>ï</a:t>
            </a:r>
            <a:r>
              <a:rPr lang="en-US" sz="4500">
                <a:latin typeface="Calibri (Headings)"/>
                <a:cs typeface="Calibri (Headings)"/>
              </a:rPr>
              <a:t>ve Bayes</a:t>
            </a:r>
            <a:endParaRPr lang="en-US" sz="45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4050" dirty="0">
                <a:solidFill>
                  <a:srgbClr val="A4001D"/>
                </a:solidFill>
                <a:latin typeface="Calibri"/>
                <a:ea typeface="ＭＳ Ｐゴシック" charset="0"/>
                <a:cs typeface="Calibri"/>
              </a:rPr>
              <a:t>Na</a:t>
            </a:r>
            <a:r>
              <a:rPr lang="fr-FR" sz="4050" dirty="0" err="1">
                <a:solidFill>
                  <a:srgbClr val="A4001D"/>
                </a:solidFill>
                <a:latin typeface="Calibri"/>
                <a:ea typeface="ＭＳ Ｐゴシック" charset="0"/>
                <a:cs typeface="Calibri"/>
              </a:rPr>
              <a:t>ï</a:t>
            </a:r>
            <a:r>
              <a:rPr lang="en-US" sz="4050" dirty="0" err="1">
                <a:solidFill>
                  <a:srgbClr val="A4001D"/>
                </a:solidFill>
                <a:latin typeface="Calibri"/>
                <a:ea typeface="ＭＳ Ｐゴシック" charset="0"/>
                <a:cs typeface="Calibri"/>
              </a:rPr>
              <a:t>ve</a:t>
            </a:r>
            <a:r>
              <a:rPr lang="en-US" sz="4050" dirty="0">
                <a:solidFill>
                  <a:srgbClr val="A4001D"/>
                </a:solidFill>
                <a:latin typeface="Calibri"/>
                <a:ea typeface="ＭＳ Ｐゴシック" charset="0"/>
                <a:cs typeface="Calibri"/>
              </a:rPr>
              <a:t> Bayes (I)</a:t>
            </a:r>
          </a:p>
        </p:txBody>
      </p:sp>
    </p:spTree>
    <p:extLst>
      <p:ext uri="{BB962C8B-B14F-4D97-AF65-F5344CB8AC3E}">
        <p14:creationId xmlns:p14="http://schemas.microsoft.com/office/powerpoint/2010/main" val="50383189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t>Naïve Bayes Intuition</a:t>
            </a:r>
          </a:p>
        </p:txBody>
      </p:sp>
      <p:sp>
        <p:nvSpPr>
          <p:cNvPr id="31747" name="Content Placeholder 2"/>
          <p:cNvSpPr>
            <a:spLocks noGrp="1"/>
          </p:cNvSpPr>
          <p:nvPr>
            <p:ph sz="quarter" idx="1"/>
          </p:nvPr>
        </p:nvSpPr>
        <p:spPr>
          <a:xfrm>
            <a:off x="342900" y="2057400"/>
            <a:ext cx="9172575" cy="3750469"/>
          </a:xfrm>
        </p:spPr>
        <p:txBody>
          <a:bodyPr/>
          <a:lstStyle/>
          <a:p>
            <a:r>
              <a:rPr lang="en-US" sz="3150" dirty="0">
                <a:latin typeface="Calibri" charset="0"/>
              </a:rPr>
              <a:t>Simple (“</a:t>
            </a:r>
            <a:r>
              <a:rPr lang="en-US" sz="3150" dirty="0" err="1">
                <a:latin typeface="Calibri" charset="0"/>
              </a:rPr>
              <a:t>na</a:t>
            </a:r>
            <a:r>
              <a:rPr lang="fr-FR" sz="3150" dirty="0" err="1">
                <a:latin typeface="Calibri" charset="0"/>
              </a:rPr>
              <a:t>ï</a:t>
            </a:r>
            <a:r>
              <a:rPr lang="en-US" sz="3150" dirty="0" err="1">
                <a:latin typeface="Calibri" charset="0"/>
              </a:rPr>
              <a:t>ve</a:t>
            </a:r>
            <a:r>
              <a:rPr lang="en-US" sz="3150" dirty="0">
                <a:latin typeface="Calibri" charset="0"/>
              </a:rPr>
              <a:t>”) classification method based on Bayes rule</a:t>
            </a:r>
          </a:p>
          <a:p>
            <a:r>
              <a:rPr lang="en-US" sz="3150" dirty="0">
                <a:latin typeface="Calibri" charset="0"/>
              </a:rPr>
              <a:t>Relies on very simple representation of document</a:t>
            </a:r>
          </a:p>
          <a:p>
            <a:pPr lvl="1"/>
            <a:r>
              <a:rPr lang="en-US" sz="3150" dirty="0">
                <a:latin typeface="Calibri" charset="0"/>
              </a:rPr>
              <a:t>Bag of words</a:t>
            </a:r>
          </a:p>
          <a:p>
            <a:endParaRPr lang="en-US" dirty="0">
              <a:latin typeface="Calibri" charset="0"/>
            </a:endParaRPr>
          </a:p>
        </p:txBody>
      </p:sp>
    </p:spTree>
    <p:extLst>
      <p:ext uri="{BB962C8B-B14F-4D97-AF65-F5344CB8AC3E}">
        <p14:creationId xmlns:p14="http://schemas.microsoft.com/office/powerpoint/2010/main" val="2235890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543050" y="857250"/>
            <a:ext cx="8401050" cy="835819"/>
          </a:xfrm>
        </p:spPr>
        <p:txBody>
          <a:bodyPr/>
          <a:lstStyle/>
          <a:p>
            <a:r>
              <a:rPr lang="en-US" dirty="0"/>
              <a:t>The bag of words representation</a:t>
            </a:r>
          </a:p>
        </p:txBody>
      </p:sp>
      <p:sp>
        <p:nvSpPr>
          <p:cNvPr id="32772" name="Rectangle 4"/>
          <p:cNvSpPr>
            <a:spLocks noChangeArrowheads="1"/>
          </p:cNvSpPr>
          <p:nvPr/>
        </p:nvSpPr>
        <p:spPr bwMode="auto">
          <a:xfrm>
            <a:off x="2143125" y="2057400"/>
            <a:ext cx="5486400" cy="3686175"/>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r>
              <a:rPr lang="en-US" sz="2250" dirty="0">
                <a:solidFill>
                  <a:srgbClr val="000000"/>
                </a:solidFill>
                <a:latin typeface="Courier"/>
                <a:cs typeface="Courier"/>
              </a:rPr>
              <a:t>I love this movie! It's sweet, but with satirical humor. The dialogue is great and the adventure scenes are fun…  It manages to be whimsical and romantic while laughing at the conventions of the fairy tale genre. I would recommend it to just about anyone. I've seen it several times, and I'm always happy to see it again whenever I have a friend who hasn't seen it yet.</a:t>
            </a:r>
          </a:p>
        </p:txBody>
      </p:sp>
      <p:sp>
        <p:nvSpPr>
          <p:cNvPr id="32773" name="Text Box 5"/>
          <p:cNvSpPr txBox="1">
            <a:spLocks noChangeArrowheads="1"/>
          </p:cNvSpPr>
          <p:nvPr/>
        </p:nvSpPr>
        <p:spPr bwMode="auto">
          <a:xfrm>
            <a:off x="514351" y="2486025"/>
            <a:ext cx="1543049" cy="1927451"/>
          </a:xfrm>
          <a:prstGeom prst="rect">
            <a:avLst/>
          </a:prstGeom>
          <a:noFill/>
          <a:ln w="25400">
            <a:noFill/>
            <a:miter lim="800000"/>
            <a:headEnd/>
            <a:tailEnd/>
          </a:ln>
        </p:spPr>
        <p:txBody>
          <a:bodyPr wrap="square">
            <a:prstTxWarp prst="textNoShape">
              <a:avLst/>
            </a:prstTxWarp>
            <a:spAutoFit/>
          </a:bodyPr>
          <a:lstStyle/>
          <a:p>
            <a:r>
              <a:rPr lang="en-US" sz="11925" dirty="0" err="1">
                <a:latin typeface="Lucida Grande"/>
                <a:ea typeface="Lucida Grande"/>
                <a:cs typeface="Lucida Grande"/>
              </a:rPr>
              <a:t>γ</a:t>
            </a:r>
            <a:r>
              <a:rPr lang="en-US" sz="11925" dirty="0"/>
              <a:t>(</a:t>
            </a:r>
          </a:p>
        </p:txBody>
      </p:sp>
      <p:sp>
        <p:nvSpPr>
          <p:cNvPr id="32774" name="Text Box 6"/>
          <p:cNvSpPr txBox="1">
            <a:spLocks noChangeArrowheads="1"/>
          </p:cNvSpPr>
          <p:nvPr/>
        </p:nvSpPr>
        <p:spPr bwMode="auto">
          <a:xfrm>
            <a:off x="7574474" y="2604433"/>
            <a:ext cx="2351926" cy="1927451"/>
          </a:xfrm>
          <a:prstGeom prst="rect">
            <a:avLst/>
          </a:prstGeom>
          <a:noFill/>
          <a:ln w="25400">
            <a:noFill/>
            <a:miter lim="800000"/>
            <a:headEnd/>
            <a:tailEnd/>
          </a:ln>
        </p:spPr>
        <p:txBody>
          <a:bodyPr wrap="none">
            <a:prstTxWarp prst="textNoShape">
              <a:avLst/>
            </a:prstTxWarp>
            <a:spAutoFit/>
          </a:bodyPr>
          <a:lstStyle/>
          <a:p>
            <a:r>
              <a:rPr lang="en-US" sz="11925" dirty="0"/>
              <a:t>)=c</a:t>
            </a:r>
          </a:p>
        </p:txBody>
      </p:sp>
      <p:sp>
        <p:nvSpPr>
          <p:cNvPr id="32776" name="Text Box 8"/>
          <p:cNvSpPr txBox="1">
            <a:spLocks noChangeArrowheads="1"/>
          </p:cNvSpPr>
          <p:nvPr/>
        </p:nvSpPr>
        <p:spPr bwMode="auto">
          <a:xfrm>
            <a:off x="3943350" y="4329114"/>
            <a:ext cx="184731" cy="369332"/>
          </a:xfrm>
          <a:prstGeom prst="rect">
            <a:avLst/>
          </a:prstGeom>
          <a:noFill/>
          <a:ln w="25400">
            <a:noFill/>
            <a:miter lim="800000"/>
            <a:headEnd/>
            <a:tailEnd/>
          </a:ln>
        </p:spPr>
        <p:txBody>
          <a:bodyPr wrap="none">
            <a:prstTxWarp prst="textNoShape">
              <a:avLst/>
            </a:prstTxWarp>
            <a:spAutoFit/>
          </a:bodyPr>
          <a:lstStyle/>
          <a:p>
            <a:endParaRPr lang="en-US"/>
          </a:p>
        </p:txBody>
      </p:sp>
      <p:pic>
        <p:nvPicPr>
          <p:cNvPr id="9" name="Picture 8" descr="Thumbs-down-ico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4025" y="5314950"/>
            <a:ext cx="628650" cy="566586"/>
          </a:xfrm>
          <a:prstGeom prst="rect">
            <a:avLst/>
          </a:prstGeom>
        </p:spPr>
      </p:pic>
      <p:pic>
        <p:nvPicPr>
          <p:cNvPr id="10" name="Picture 9" descr="Thumbs-up-icon.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44025" y="4543426"/>
            <a:ext cx="665807" cy="600074"/>
          </a:xfrm>
          <a:prstGeom prst="rect">
            <a:avLst/>
          </a:prstGeom>
        </p:spPr>
      </p:pic>
    </p:spTree>
    <p:extLst>
      <p:ext uri="{BB962C8B-B14F-4D97-AF65-F5344CB8AC3E}">
        <p14:creationId xmlns:p14="http://schemas.microsoft.com/office/powerpoint/2010/main" val="181497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543050" y="857250"/>
            <a:ext cx="8401050" cy="835819"/>
          </a:xfrm>
        </p:spPr>
        <p:txBody>
          <a:bodyPr/>
          <a:lstStyle/>
          <a:p>
            <a:r>
              <a:rPr lang="en-US" dirty="0"/>
              <a:t>The bag of words representation</a:t>
            </a:r>
          </a:p>
        </p:txBody>
      </p:sp>
      <p:sp>
        <p:nvSpPr>
          <p:cNvPr id="32772" name="Rectangle 4"/>
          <p:cNvSpPr>
            <a:spLocks noChangeArrowheads="1"/>
          </p:cNvSpPr>
          <p:nvPr/>
        </p:nvSpPr>
        <p:spPr bwMode="auto">
          <a:xfrm>
            <a:off x="2143125" y="2057400"/>
            <a:ext cx="5486400" cy="3686175"/>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r>
              <a:rPr lang="en-US" sz="2250" dirty="0">
                <a:solidFill>
                  <a:schemeClr val="tx2">
                    <a:lumMod val="75000"/>
                  </a:schemeClr>
                </a:solidFill>
                <a:latin typeface="Courier"/>
                <a:cs typeface="Courier"/>
              </a:rPr>
              <a:t>I </a:t>
            </a:r>
            <a:r>
              <a:rPr lang="en-US" sz="2250" b="1" dirty="0">
                <a:latin typeface="Courier"/>
                <a:cs typeface="Courier"/>
              </a:rPr>
              <a:t>love</a:t>
            </a:r>
            <a:r>
              <a:rPr lang="en-US" sz="2250" dirty="0">
                <a:latin typeface="Courier"/>
                <a:cs typeface="Courier"/>
              </a:rPr>
              <a:t> </a:t>
            </a:r>
            <a:r>
              <a:rPr lang="en-US" sz="2250" dirty="0">
                <a:solidFill>
                  <a:schemeClr val="tx2">
                    <a:lumMod val="75000"/>
                  </a:schemeClr>
                </a:solidFill>
                <a:latin typeface="Courier"/>
                <a:cs typeface="Courier"/>
              </a:rPr>
              <a:t>this movie! It's </a:t>
            </a:r>
            <a:r>
              <a:rPr lang="en-US" sz="2250" b="1" dirty="0">
                <a:latin typeface="Courier"/>
                <a:cs typeface="Courier"/>
              </a:rPr>
              <a:t>sweet</a:t>
            </a:r>
            <a:r>
              <a:rPr lang="en-US" sz="2250" dirty="0">
                <a:solidFill>
                  <a:schemeClr val="tx2">
                    <a:lumMod val="75000"/>
                  </a:schemeClr>
                </a:solidFill>
                <a:latin typeface="Courier"/>
                <a:cs typeface="Courier"/>
              </a:rPr>
              <a:t>, but with </a:t>
            </a:r>
            <a:r>
              <a:rPr lang="en-US" sz="2250" b="1" dirty="0">
                <a:latin typeface="Courier"/>
                <a:cs typeface="Courier"/>
              </a:rPr>
              <a:t>satirical</a:t>
            </a:r>
            <a:r>
              <a:rPr lang="en-US" sz="2250" dirty="0">
                <a:latin typeface="Courier"/>
                <a:cs typeface="Courier"/>
              </a:rPr>
              <a:t> </a:t>
            </a:r>
            <a:r>
              <a:rPr lang="en-US" sz="2250" dirty="0">
                <a:solidFill>
                  <a:schemeClr val="tx2">
                    <a:lumMod val="75000"/>
                  </a:schemeClr>
                </a:solidFill>
                <a:latin typeface="Courier"/>
                <a:cs typeface="Courier"/>
              </a:rPr>
              <a:t>humor. The dialogue is </a:t>
            </a:r>
            <a:r>
              <a:rPr lang="en-US" sz="2250" b="1" dirty="0">
                <a:latin typeface="Courier"/>
                <a:cs typeface="Courier"/>
              </a:rPr>
              <a:t>great</a:t>
            </a:r>
            <a:r>
              <a:rPr lang="en-US" sz="2250" dirty="0">
                <a:latin typeface="Courier"/>
                <a:cs typeface="Courier"/>
              </a:rPr>
              <a:t> </a:t>
            </a:r>
            <a:r>
              <a:rPr lang="en-US" sz="2250" dirty="0">
                <a:solidFill>
                  <a:schemeClr val="tx2">
                    <a:lumMod val="75000"/>
                  </a:schemeClr>
                </a:solidFill>
                <a:latin typeface="Courier"/>
                <a:cs typeface="Courier"/>
              </a:rPr>
              <a:t>and the adventure scenes are </a:t>
            </a:r>
            <a:r>
              <a:rPr lang="en-US" sz="2250" b="1" dirty="0">
                <a:latin typeface="Courier"/>
                <a:cs typeface="Courier"/>
              </a:rPr>
              <a:t>fun</a:t>
            </a:r>
            <a:r>
              <a:rPr lang="en-US" sz="2250" dirty="0">
                <a:solidFill>
                  <a:schemeClr val="tx2">
                    <a:lumMod val="75000"/>
                  </a:schemeClr>
                </a:solidFill>
                <a:latin typeface="Courier"/>
                <a:cs typeface="Courier"/>
              </a:rPr>
              <a:t>…  It manages to be </a:t>
            </a:r>
            <a:r>
              <a:rPr lang="en-US" sz="2250" b="1" dirty="0">
                <a:latin typeface="Courier"/>
                <a:cs typeface="Courier"/>
              </a:rPr>
              <a:t>whimsical</a:t>
            </a:r>
            <a:r>
              <a:rPr lang="en-US" sz="2250" dirty="0">
                <a:latin typeface="Courier"/>
                <a:cs typeface="Courier"/>
              </a:rPr>
              <a:t> </a:t>
            </a:r>
            <a:r>
              <a:rPr lang="en-US" sz="2250" dirty="0">
                <a:solidFill>
                  <a:schemeClr val="tx2">
                    <a:lumMod val="75000"/>
                  </a:schemeClr>
                </a:solidFill>
                <a:latin typeface="Courier"/>
                <a:cs typeface="Courier"/>
              </a:rPr>
              <a:t>and </a:t>
            </a:r>
            <a:r>
              <a:rPr lang="en-US" sz="2250" b="1" dirty="0">
                <a:latin typeface="Courier"/>
                <a:cs typeface="Courier"/>
              </a:rPr>
              <a:t>romantic</a:t>
            </a:r>
            <a:r>
              <a:rPr lang="en-US" sz="2250" dirty="0">
                <a:latin typeface="Courier"/>
                <a:cs typeface="Courier"/>
              </a:rPr>
              <a:t> </a:t>
            </a:r>
            <a:r>
              <a:rPr lang="en-US" sz="2250" dirty="0">
                <a:solidFill>
                  <a:schemeClr val="tx2">
                    <a:lumMod val="75000"/>
                  </a:schemeClr>
                </a:solidFill>
                <a:latin typeface="Courier"/>
                <a:cs typeface="Courier"/>
              </a:rPr>
              <a:t>while </a:t>
            </a:r>
            <a:r>
              <a:rPr lang="en-US" sz="2250" b="1" dirty="0">
                <a:latin typeface="Courier"/>
                <a:cs typeface="Courier"/>
              </a:rPr>
              <a:t>laughing</a:t>
            </a:r>
            <a:r>
              <a:rPr lang="en-US" sz="2250" dirty="0">
                <a:latin typeface="Courier"/>
                <a:cs typeface="Courier"/>
              </a:rPr>
              <a:t> </a:t>
            </a:r>
            <a:r>
              <a:rPr lang="en-US" sz="2250" dirty="0">
                <a:solidFill>
                  <a:schemeClr val="tx2">
                    <a:lumMod val="75000"/>
                  </a:schemeClr>
                </a:solidFill>
                <a:latin typeface="Courier"/>
                <a:cs typeface="Courier"/>
              </a:rPr>
              <a:t>at the conventions of the fairy tale genre. I would </a:t>
            </a:r>
            <a:r>
              <a:rPr lang="en-US" sz="2250" b="1" dirty="0">
                <a:latin typeface="Courier"/>
                <a:cs typeface="Courier"/>
              </a:rPr>
              <a:t>recommend</a:t>
            </a:r>
            <a:r>
              <a:rPr lang="en-US" sz="2250" dirty="0">
                <a:latin typeface="Courier"/>
                <a:cs typeface="Courier"/>
              </a:rPr>
              <a:t> </a:t>
            </a:r>
            <a:r>
              <a:rPr lang="en-US" sz="2250" dirty="0">
                <a:solidFill>
                  <a:schemeClr val="tx2">
                    <a:lumMod val="75000"/>
                  </a:schemeClr>
                </a:solidFill>
                <a:latin typeface="Courier"/>
                <a:cs typeface="Courier"/>
              </a:rPr>
              <a:t>it to just about anyone. I've seen it </a:t>
            </a:r>
            <a:r>
              <a:rPr lang="en-US" sz="2250" b="1" dirty="0">
                <a:latin typeface="Courier"/>
                <a:cs typeface="Courier"/>
              </a:rPr>
              <a:t>several</a:t>
            </a:r>
            <a:r>
              <a:rPr lang="en-US" sz="2250" dirty="0">
                <a:latin typeface="Courier"/>
                <a:cs typeface="Courier"/>
              </a:rPr>
              <a:t> </a:t>
            </a:r>
            <a:r>
              <a:rPr lang="en-US" sz="2250" dirty="0">
                <a:solidFill>
                  <a:schemeClr val="tx2">
                    <a:lumMod val="75000"/>
                  </a:schemeClr>
                </a:solidFill>
                <a:latin typeface="Courier"/>
                <a:cs typeface="Courier"/>
              </a:rPr>
              <a:t>times, and I'm always </a:t>
            </a:r>
            <a:r>
              <a:rPr lang="en-US" sz="2250" b="1" dirty="0">
                <a:latin typeface="Courier"/>
                <a:cs typeface="Courier"/>
              </a:rPr>
              <a:t>happy</a:t>
            </a:r>
            <a:r>
              <a:rPr lang="en-US" sz="2250" dirty="0">
                <a:latin typeface="Courier"/>
                <a:cs typeface="Courier"/>
              </a:rPr>
              <a:t> </a:t>
            </a:r>
            <a:r>
              <a:rPr lang="en-US" sz="2250" dirty="0">
                <a:solidFill>
                  <a:schemeClr val="tx2">
                    <a:lumMod val="75000"/>
                  </a:schemeClr>
                </a:solidFill>
                <a:latin typeface="Courier"/>
                <a:cs typeface="Courier"/>
              </a:rPr>
              <a:t>to see it </a:t>
            </a:r>
            <a:r>
              <a:rPr lang="en-US" sz="2250" b="1" dirty="0">
                <a:latin typeface="Courier"/>
                <a:cs typeface="Courier"/>
              </a:rPr>
              <a:t>again</a:t>
            </a:r>
            <a:r>
              <a:rPr lang="en-US" sz="2250" dirty="0">
                <a:latin typeface="Courier"/>
                <a:cs typeface="Courier"/>
              </a:rPr>
              <a:t> </a:t>
            </a:r>
            <a:r>
              <a:rPr lang="en-US" sz="2250" dirty="0">
                <a:solidFill>
                  <a:schemeClr val="tx2">
                    <a:lumMod val="75000"/>
                  </a:schemeClr>
                </a:solidFill>
                <a:latin typeface="Courier"/>
                <a:cs typeface="Courier"/>
              </a:rPr>
              <a:t>whenever I have a friend who hasn't seen it yet</a:t>
            </a:r>
            <a:r>
              <a:rPr lang="en-US" sz="2250" dirty="0">
                <a:latin typeface="Courier"/>
                <a:cs typeface="Courier"/>
              </a:rPr>
              <a:t>.</a:t>
            </a:r>
          </a:p>
        </p:txBody>
      </p:sp>
      <p:sp>
        <p:nvSpPr>
          <p:cNvPr id="32773" name="Text Box 5"/>
          <p:cNvSpPr txBox="1">
            <a:spLocks noChangeArrowheads="1"/>
          </p:cNvSpPr>
          <p:nvPr/>
        </p:nvSpPr>
        <p:spPr bwMode="auto">
          <a:xfrm>
            <a:off x="514351" y="2486025"/>
            <a:ext cx="1543049" cy="1927451"/>
          </a:xfrm>
          <a:prstGeom prst="rect">
            <a:avLst/>
          </a:prstGeom>
          <a:noFill/>
          <a:ln w="25400">
            <a:noFill/>
            <a:miter lim="800000"/>
            <a:headEnd/>
            <a:tailEnd/>
          </a:ln>
        </p:spPr>
        <p:txBody>
          <a:bodyPr wrap="square">
            <a:prstTxWarp prst="textNoShape">
              <a:avLst/>
            </a:prstTxWarp>
            <a:spAutoFit/>
          </a:bodyPr>
          <a:lstStyle/>
          <a:p>
            <a:r>
              <a:rPr lang="en-US" sz="11925" dirty="0" err="1">
                <a:latin typeface="Lucida Grande"/>
                <a:ea typeface="Lucida Grande"/>
                <a:cs typeface="Lucida Grande"/>
              </a:rPr>
              <a:t>γ</a:t>
            </a:r>
            <a:r>
              <a:rPr lang="en-US" sz="11925" dirty="0"/>
              <a:t>(</a:t>
            </a:r>
          </a:p>
        </p:txBody>
      </p:sp>
      <p:sp>
        <p:nvSpPr>
          <p:cNvPr id="32774" name="Text Box 6"/>
          <p:cNvSpPr txBox="1">
            <a:spLocks noChangeArrowheads="1"/>
          </p:cNvSpPr>
          <p:nvPr/>
        </p:nvSpPr>
        <p:spPr bwMode="auto">
          <a:xfrm>
            <a:off x="7574474" y="2604433"/>
            <a:ext cx="2351926" cy="1927451"/>
          </a:xfrm>
          <a:prstGeom prst="rect">
            <a:avLst/>
          </a:prstGeom>
          <a:noFill/>
          <a:ln w="25400">
            <a:noFill/>
            <a:miter lim="800000"/>
            <a:headEnd/>
            <a:tailEnd/>
          </a:ln>
        </p:spPr>
        <p:txBody>
          <a:bodyPr wrap="none">
            <a:prstTxWarp prst="textNoShape">
              <a:avLst/>
            </a:prstTxWarp>
            <a:spAutoFit/>
          </a:bodyPr>
          <a:lstStyle/>
          <a:p>
            <a:r>
              <a:rPr lang="en-US" sz="11925" dirty="0"/>
              <a:t>)=c</a:t>
            </a:r>
          </a:p>
        </p:txBody>
      </p:sp>
      <p:sp>
        <p:nvSpPr>
          <p:cNvPr id="32776" name="Text Box 8"/>
          <p:cNvSpPr txBox="1">
            <a:spLocks noChangeArrowheads="1"/>
          </p:cNvSpPr>
          <p:nvPr/>
        </p:nvSpPr>
        <p:spPr bwMode="auto">
          <a:xfrm>
            <a:off x="3943350" y="4329114"/>
            <a:ext cx="184731" cy="369332"/>
          </a:xfrm>
          <a:prstGeom prst="rect">
            <a:avLst/>
          </a:prstGeom>
          <a:noFill/>
          <a:ln w="25400">
            <a:noFill/>
            <a:miter lim="800000"/>
            <a:headEnd/>
            <a:tailEnd/>
          </a:ln>
        </p:spPr>
        <p:txBody>
          <a:bodyPr wrap="none">
            <a:prstTxWarp prst="textNoShape">
              <a:avLst/>
            </a:prstTxWarp>
            <a:spAutoFit/>
          </a:bodyPr>
          <a:lstStyle/>
          <a:p>
            <a:endParaRPr lang="en-US"/>
          </a:p>
        </p:txBody>
      </p:sp>
      <p:pic>
        <p:nvPicPr>
          <p:cNvPr id="7" name="Picture 6" descr="Thumbs-down-ico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4025" y="5314950"/>
            <a:ext cx="628650" cy="566586"/>
          </a:xfrm>
          <a:prstGeom prst="rect">
            <a:avLst/>
          </a:prstGeom>
        </p:spPr>
      </p:pic>
      <p:pic>
        <p:nvPicPr>
          <p:cNvPr id="8" name="Picture 7" descr="Thumbs-up-icon.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44025" y="4543426"/>
            <a:ext cx="665807" cy="600074"/>
          </a:xfrm>
          <a:prstGeom prst="rect">
            <a:avLst/>
          </a:prstGeom>
        </p:spPr>
      </p:pic>
    </p:spTree>
    <p:extLst>
      <p:ext uri="{BB962C8B-B14F-4D97-AF65-F5344CB8AC3E}">
        <p14:creationId xmlns:p14="http://schemas.microsoft.com/office/powerpoint/2010/main" val="1509758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543050" y="857250"/>
            <a:ext cx="8401050" cy="835819"/>
          </a:xfrm>
        </p:spPr>
        <p:txBody>
          <a:bodyPr/>
          <a:lstStyle/>
          <a:p>
            <a:r>
              <a:rPr lang="en-US" dirty="0"/>
              <a:t>The bag of words representation: </a:t>
            </a:r>
            <a:br>
              <a:rPr lang="en-US" dirty="0"/>
            </a:br>
            <a:r>
              <a:rPr lang="en-US" dirty="0"/>
              <a:t>using a subset of words</a:t>
            </a:r>
          </a:p>
        </p:txBody>
      </p:sp>
      <p:sp>
        <p:nvSpPr>
          <p:cNvPr id="32772" name="Rectangle 4"/>
          <p:cNvSpPr>
            <a:spLocks noChangeArrowheads="1"/>
          </p:cNvSpPr>
          <p:nvPr/>
        </p:nvSpPr>
        <p:spPr bwMode="auto">
          <a:xfrm>
            <a:off x="2143125" y="2057400"/>
            <a:ext cx="5486400" cy="3686175"/>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r>
              <a:rPr lang="en-US" sz="2250" dirty="0">
                <a:solidFill>
                  <a:schemeClr val="tx2">
                    <a:lumMod val="75000"/>
                  </a:schemeClr>
                </a:solidFill>
                <a:latin typeface="Courier"/>
                <a:cs typeface="Courier"/>
              </a:rPr>
              <a:t>x </a:t>
            </a:r>
            <a:r>
              <a:rPr lang="en-US" sz="2250" b="1" dirty="0">
                <a:latin typeface="Courier"/>
                <a:cs typeface="Courier"/>
              </a:rPr>
              <a:t>love</a:t>
            </a:r>
            <a:r>
              <a:rPr lang="en-US" sz="2250" dirty="0">
                <a:latin typeface="Courier"/>
                <a:cs typeface="Courier"/>
              </a:rPr>
              <a:t> </a:t>
            </a:r>
            <a:r>
              <a:rPr lang="en-US" sz="2250" dirty="0" err="1">
                <a:solidFill>
                  <a:schemeClr val="tx2">
                    <a:lumMod val="75000"/>
                  </a:schemeClr>
                </a:solidFill>
                <a:latin typeface="Courier"/>
                <a:cs typeface="Courier"/>
              </a:rPr>
              <a:t>xxxxxxxxxxxxxxxx</a:t>
            </a:r>
            <a:r>
              <a:rPr lang="en-US" sz="2250" dirty="0">
                <a:solidFill>
                  <a:schemeClr val="tx2">
                    <a:lumMod val="75000"/>
                  </a:schemeClr>
                </a:solidFill>
                <a:latin typeface="Courier"/>
                <a:cs typeface="Courier"/>
              </a:rPr>
              <a:t> </a:t>
            </a:r>
            <a:r>
              <a:rPr lang="en-US" sz="2250" b="1" dirty="0">
                <a:latin typeface="Courier"/>
                <a:cs typeface="Courier"/>
              </a:rPr>
              <a:t>sweet</a:t>
            </a:r>
            <a:r>
              <a:rPr lang="en-US" sz="2250" dirty="0">
                <a:solidFill>
                  <a:schemeClr val="tx2">
                    <a:lumMod val="75000"/>
                  </a:schemeClr>
                </a:solidFill>
                <a:latin typeface="Courier"/>
                <a:cs typeface="Courier"/>
              </a:rPr>
              <a:t> </a:t>
            </a:r>
            <a:r>
              <a:rPr lang="en-US" sz="2250" dirty="0" err="1">
                <a:solidFill>
                  <a:schemeClr val="tx2">
                    <a:lumMod val="75000"/>
                  </a:schemeClr>
                </a:solidFill>
                <a:latin typeface="Courier"/>
                <a:cs typeface="Courier"/>
              </a:rPr>
              <a:t>xxxxxxx</a:t>
            </a:r>
            <a:r>
              <a:rPr lang="en-US" sz="2250" dirty="0">
                <a:solidFill>
                  <a:schemeClr val="tx2">
                    <a:lumMod val="75000"/>
                  </a:schemeClr>
                </a:solidFill>
                <a:latin typeface="Courier"/>
                <a:cs typeface="Courier"/>
              </a:rPr>
              <a:t> </a:t>
            </a:r>
            <a:r>
              <a:rPr lang="en-US" sz="2250" b="1" dirty="0">
                <a:latin typeface="Courier"/>
                <a:cs typeface="Courier"/>
              </a:rPr>
              <a:t>satirical</a:t>
            </a:r>
            <a:r>
              <a:rPr lang="en-US" sz="2250" dirty="0">
                <a:latin typeface="Courier"/>
                <a:cs typeface="Courier"/>
              </a:rPr>
              <a:t> </a:t>
            </a:r>
            <a:r>
              <a:rPr lang="en-US" sz="2250" dirty="0" err="1">
                <a:solidFill>
                  <a:schemeClr val="tx2">
                    <a:lumMod val="75000"/>
                  </a:schemeClr>
                </a:solidFill>
                <a:latin typeface="Courier"/>
                <a:cs typeface="Courier"/>
              </a:rPr>
              <a:t>xxxxxxxxxx</a:t>
            </a:r>
            <a:r>
              <a:rPr lang="en-US" sz="2250" dirty="0">
                <a:solidFill>
                  <a:schemeClr val="tx2">
                    <a:lumMod val="75000"/>
                  </a:schemeClr>
                </a:solidFill>
                <a:latin typeface="Courier"/>
                <a:cs typeface="Courier"/>
              </a:rPr>
              <a:t> </a:t>
            </a:r>
            <a:r>
              <a:rPr lang="en-US" sz="2250" dirty="0" err="1">
                <a:solidFill>
                  <a:schemeClr val="tx2">
                    <a:lumMod val="75000"/>
                  </a:schemeClr>
                </a:solidFill>
                <a:latin typeface="Courier"/>
                <a:cs typeface="Courier"/>
              </a:rPr>
              <a:t>xxxxxxxxxxx</a:t>
            </a:r>
            <a:r>
              <a:rPr lang="en-US" sz="2250" dirty="0">
                <a:solidFill>
                  <a:schemeClr val="tx2">
                    <a:lumMod val="75000"/>
                  </a:schemeClr>
                </a:solidFill>
                <a:latin typeface="Courier"/>
                <a:cs typeface="Courier"/>
              </a:rPr>
              <a:t> </a:t>
            </a:r>
            <a:r>
              <a:rPr lang="en-US" sz="2250" b="1" dirty="0">
                <a:latin typeface="Courier"/>
                <a:cs typeface="Courier"/>
              </a:rPr>
              <a:t>great</a:t>
            </a:r>
            <a:r>
              <a:rPr lang="en-US" sz="2250" dirty="0">
                <a:latin typeface="Courier"/>
                <a:cs typeface="Courier"/>
              </a:rPr>
              <a:t> </a:t>
            </a:r>
            <a:r>
              <a:rPr lang="en-US" sz="2250" dirty="0" err="1">
                <a:solidFill>
                  <a:schemeClr val="tx2">
                    <a:lumMod val="75000"/>
                  </a:schemeClr>
                </a:solidFill>
                <a:latin typeface="Courier"/>
                <a:cs typeface="Courier"/>
              </a:rPr>
              <a:t>xxxxxxx</a:t>
            </a:r>
            <a:r>
              <a:rPr lang="en-US" sz="2250" dirty="0">
                <a:solidFill>
                  <a:schemeClr val="tx2">
                    <a:lumMod val="75000"/>
                  </a:schemeClr>
                </a:solidFill>
                <a:latin typeface="Courier"/>
                <a:cs typeface="Courier"/>
              </a:rPr>
              <a:t> </a:t>
            </a:r>
            <a:r>
              <a:rPr lang="en-US" sz="2250" dirty="0" err="1">
                <a:solidFill>
                  <a:schemeClr val="tx2">
                    <a:lumMod val="75000"/>
                  </a:schemeClr>
                </a:solidFill>
                <a:latin typeface="Courier"/>
                <a:cs typeface="Courier"/>
              </a:rPr>
              <a:t>xxxxxxxxxxxxxxxxxxx</a:t>
            </a:r>
            <a:r>
              <a:rPr lang="en-US" sz="2250" dirty="0">
                <a:solidFill>
                  <a:schemeClr val="tx2">
                    <a:lumMod val="75000"/>
                  </a:schemeClr>
                </a:solidFill>
                <a:latin typeface="Courier"/>
                <a:cs typeface="Courier"/>
              </a:rPr>
              <a:t> </a:t>
            </a:r>
            <a:r>
              <a:rPr lang="en-US" sz="2250" b="1" dirty="0">
                <a:latin typeface="Courier"/>
                <a:cs typeface="Courier"/>
              </a:rPr>
              <a:t>fun</a:t>
            </a:r>
            <a:r>
              <a:rPr lang="en-US" sz="2250" dirty="0">
                <a:solidFill>
                  <a:schemeClr val="tx2">
                    <a:lumMod val="75000"/>
                  </a:schemeClr>
                </a:solidFill>
                <a:latin typeface="Courier"/>
                <a:cs typeface="Courier"/>
              </a:rPr>
              <a:t>  </a:t>
            </a:r>
            <a:r>
              <a:rPr lang="en-US" sz="2250" dirty="0" err="1">
                <a:solidFill>
                  <a:schemeClr val="tx2">
                    <a:lumMod val="75000"/>
                  </a:schemeClr>
                </a:solidFill>
                <a:latin typeface="Courier"/>
                <a:cs typeface="Courier"/>
              </a:rPr>
              <a:t>xxxx</a:t>
            </a:r>
            <a:r>
              <a:rPr lang="en-US" sz="2250" dirty="0">
                <a:solidFill>
                  <a:schemeClr val="tx2">
                    <a:lumMod val="75000"/>
                  </a:schemeClr>
                </a:solidFill>
                <a:latin typeface="Courier"/>
                <a:cs typeface="Courier"/>
              </a:rPr>
              <a:t> </a:t>
            </a:r>
            <a:r>
              <a:rPr lang="en-US" sz="2250" dirty="0" err="1">
                <a:solidFill>
                  <a:schemeClr val="tx2">
                    <a:lumMod val="75000"/>
                  </a:schemeClr>
                </a:solidFill>
                <a:latin typeface="Courier"/>
                <a:cs typeface="Courier"/>
              </a:rPr>
              <a:t>xxxxxxxxxxxxx</a:t>
            </a:r>
            <a:r>
              <a:rPr lang="en-US" sz="2250" dirty="0">
                <a:solidFill>
                  <a:schemeClr val="tx2">
                    <a:lumMod val="75000"/>
                  </a:schemeClr>
                </a:solidFill>
                <a:latin typeface="Courier"/>
                <a:cs typeface="Courier"/>
              </a:rPr>
              <a:t> </a:t>
            </a:r>
            <a:r>
              <a:rPr lang="en-US" sz="2250" b="1" dirty="0">
                <a:latin typeface="Courier"/>
                <a:cs typeface="Courier"/>
              </a:rPr>
              <a:t>whimsical</a:t>
            </a:r>
            <a:r>
              <a:rPr lang="en-US" sz="2250" dirty="0">
                <a:latin typeface="Courier"/>
                <a:cs typeface="Courier"/>
              </a:rPr>
              <a:t> </a:t>
            </a:r>
            <a:r>
              <a:rPr lang="en-US" sz="2250" dirty="0" err="1">
                <a:solidFill>
                  <a:schemeClr val="tx2">
                    <a:lumMod val="75000"/>
                  </a:schemeClr>
                </a:solidFill>
                <a:latin typeface="Courier"/>
                <a:cs typeface="Courier"/>
              </a:rPr>
              <a:t>xxxx</a:t>
            </a:r>
            <a:r>
              <a:rPr lang="en-US" sz="2250" dirty="0">
                <a:solidFill>
                  <a:schemeClr val="tx2">
                    <a:lumMod val="75000"/>
                  </a:schemeClr>
                </a:solidFill>
                <a:latin typeface="Courier"/>
                <a:cs typeface="Courier"/>
              </a:rPr>
              <a:t> </a:t>
            </a:r>
            <a:r>
              <a:rPr lang="en-US" sz="2250" b="1" dirty="0">
                <a:latin typeface="Courier"/>
                <a:cs typeface="Courier"/>
              </a:rPr>
              <a:t>romantic</a:t>
            </a:r>
            <a:r>
              <a:rPr lang="en-US" sz="2250" dirty="0">
                <a:latin typeface="Courier"/>
                <a:cs typeface="Courier"/>
              </a:rPr>
              <a:t> </a:t>
            </a:r>
            <a:r>
              <a:rPr lang="en-US" sz="2250" dirty="0" err="1">
                <a:solidFill>
                  <a:schemeClr val="tx2">
                    <a:lumMod val="75000"/>
                  </a:schemeClr>
                </a:solidFill>
                <a:latin typeface="Courier"/>
                <a:cs typeface="Courier"/>
              </a:rPr>
              <a:t>xxxx</a:t>
            </a:r>
            <a:r>
              <a:rPr lang="en-US" sz="2250" dirty="0">
                <a:solidFill>
                  <a:schemeClr val="tx2">
                    <a:lumMod val="75000"/>
                  </a:schemeClr>
                </a:solidFill>
                <a:latin typeface="Courier"/>
                <a:cs typeface="Courier"/>
              </a:rPr>
              <a:t>  </a:t>
            </a:r>
            <a:r>
              <a:rPr lang="en-US" sz="2250" b="1" dirty="0">
                <a:latin typeface="Courier"/>
                <a:cs typeface="Courier"/>
              </a:rPr>
              <a:t>laughing</a:t>
            </a:r>
            <a:r>
              <a:rPr lang="en-US" sz="2250" dirty="0">
                <a:latin typeface="Courier"/>
                <a:cs typeface="Courier"/>
              </a:rPr>
              <a:t> </a:t>
            </a:r>
            <a:r>
              <a:rPr lang="en-US" sz="2250" dirty="0" err="1">
                <a:solidFill>
                  <a:schemeClr val="tx2">
                    <a:lumMod val="75000"/>
                  </a:schemeClr>
                </a:solidFill>
                <a:latin typeface="Courier"/>
                <a:cs typeface="Courier"/>
              </a:rPr>
              <a:t>xxxxxxxxxxxxxxxxxxxxxxxxxxxxxxxxxxxxxxxxxxxx</a:t>
            </a:r>
            <a:r>
              <a:rPr lang="en-US" sz="2250" dirty="0">
                <a:solidFill>
                  <a:schemeClr val="tx2">
                    <a:lumMod val="75000"/>
                  </a:schemeClr>
                </a:solidFill>
                <a:latin typeface="Courier"/>
                <a:cs typeface="Courier"/>
              </a:rPr>
              <a:t> </a:t>
            </a:r>
            <a:r>
              <a:rPr lang="en-US" sz="2250" b="1" dirty="0">
                <a:latin typeface="Courier"/>
                <a:cs typeface="Courier"/>
              </a:rPr>
              <a:t>recommend</a:t>
            </a:r>
            <a:r>
              <a:rPr lang="en-US" sz="2250" dirty="0">
                <a:latin typeface="Courier"/>
                <a:cs typeface="Courier"/>
              </a:rPr>
              <a:t> </a:t>
            </a:r>
            <a:r>
              <a:rPr lang="en-US" sz="2250" dirty="0" err="1">
                <a:solidFill>
                  <a:schemeClr val="tx2">
                    <a:lumMod val="75000"/>
                  </a:schemeClr>
                </a:solidFill>
                <a:latin typeface="Courier"/>
                <a:cs typeface="Courier"/>
              </a:rPr>
              <a:t>xxxxx</a:t>
            </a:r>
            <a:r>
              <a:rPr lang="en-US" sz="2250" dirty="0">
                <a:solidFill>
                  <a:schemeClr val="tx2">
                    <a:lumMod val="75000"/>
                  </a:schemeClr>
                </a:solidFill>
                <a:latin typeface="Courier"/>
                <a:cs typeface="Courier"/>
              </a:rPr>
              <a:t> </a:t>
            </a:r>
            <a:r>
              <a:rPr lang="en-US" sz="2250" dirty="0" err="1">
                <a:solidFill>
                  <a:schemeClr val="tx2">
                    <a:lumMod val="75000"/>
                  </a:schemeClr>
                </a:solidFill>
                <a:latin typeface="Courier"/>
                <a:cs typeface="Courier"/>
              </a:rPr>
              <a:t>xxxxxxxxxxxxxxxxxxxxxxxxxxxxxxxx</a:t>
            </a:r>
            <a:r>
              <a:rPr lang="en-US" sz="2250" dirty="0">
                <a:solidFill>
                  <a:schemeClr val="tx2">
                    <a:lumMod val="75000"/>
                  </a:schemeClr>
                </a:solidFill>
                <a:latin typeface="Courier"/>
                <a:cs typeface="Courier"/>
              </a:rPr>
              <a:t> </a:t>
            </a:r>
            <a:r>
              <a:rPr lang="en-US" sz="2250" b="1" dirty="0">
                <a:latin typeface="Courier"/>
                <a:cs typeface="Courier"/>
              </a:rPr>
              <a:t>several</a:t>
            </a:r>
            <a:r>
              <a:rPr lang="en-US" sz="2250" dirty="0">
                <a:latin typeface="Courier"/>
                <a:cs typeface="Courier"/>
              </a:rPr>
              <a:t> </a:t>
            </a:r>
            <a:r>
              <a:rPr lang="en-US" sz="2250" dirty="0" err="1">
                <a:solidFill>
                  <a:schemeClr val="tx2">
                    <a:lumMod val="75000"/>
                  </a:schemeClr>
                </a:solidFill>
                <a:latin typeface="Courier"/>
                <a:cs typeface="Courier"/>
              </a:rPr>
              <a:t>xxxxxxxxxxxxxxxxx</a:t>
            </a:r>
            <a:r>
              <a:rPr lang="en-US" sz="2250" dirty="0">
                <a:solidFill>
                  <a:schemeClr val="tx2">
                    <a:lumMod val="75000"/>
                  </a:schemeClr>
                </a:solidFill>
                <a:latin typeface="Courier"/>
                <a:cs typeface="Courier"/>
              </a:rPr>
              <a:t> </a:t>
            </a:r>
            <a:r>
              <a:rPr lang="en-US" sz="2250" dirty="0" err="1">
                <a:solidFill>
                  <a:schemeClr val="tx2">
                    <a:lumMod val="75000"/>
                  </a:schemeClr>
                </a:solidFill>
                <a:latin typeface="Courier"/>
                <a:cs typeface="Courier"/>
              </a:rPr>
              <a:t>xxxxx</a:t>
            </a:r>
            <a:r>
              <a:rPr lang="en-US" sz="2250" dirty="0">
                <a:solidFill>
                  <a:schemeClr val="tx2">
                    <a:lumMod val="75000"/>
                  </a:schemeClr>
                </a:solidFill>
                <a:latin typeface="Courier"/>
                <a:cs typeface="Courier"/>
              </a:rPr>
              <a:t>  </a:t>
            </a:r>
            <a:r>
              <a:rPr lang="en-US" sz="2250" b="1" dirty="0">
                <a:latin typeface="Courier"/>
                <a:cs typeface="Courier"/>
              </a:rPr>
              <a:t>happy</a:t>
            </a:r>
            <a:r>
              <a:rPr lang="en-US" sz="2250" dirty="0">
                <a:latin typeface="Courier"/>
                <a:cs typeface="Courier"/>
              </a:rPr>
              <a:t> </a:t>
            </a:r>
            <a:r>
              <a:rPr lang="en-US" sz="2250" dirty="0" err="1">
                <a:solidFill>
                  <a:schemeClr val="tx2">
                    <a:lumMod val="75000"/>
                  </a:schemeClr>
                </a:solidFill>
                <a:latin typeface="Courier"/>
                <a:cs typeface="Courier"/>
              </a:rPr>
              <a:t>xxxxxxxxx</a:t>
            </a:r>
            <a:r>
              <a:rPr lang="en-US" sz="2250" dirty="0">
                <a:solidFill>
                  <a:schemeClr val="tx2">
                    <a:lumMod val="75000"/>
                  </a:schemeClr>
                </a:solidFill>
                <a:latin typeface="Courier"/>
                <a:cs typeface="Courier"/>
              </a:rPr>
              <a:t> </a:t>
            </a:r>
            <a:r>
              <a:rPr lang="en-US" sz="2250" b="1" dirty="0">
                <a:latin typeface="Courier"/>
                <a:cs typeface="Courier"/>
              </a:rPr>
              <a:t>again</a:t>
            </a:r>
            <a:r>
              <a:rPr lang="en-US" sz="2250" dirty="0">
                <a:latin typeface="Courier"/>
                <a:cs typeface="Courier"/>
              </a:rPr>
              <a:t> </a:t>
            </a:r>
            <a:r>
              <a:rPr lang="en-US" sz="2250" dirty="0" err="1">
                <a:solidFill>
                  <a:schemeClr val="tx2">
                    <a:lumMod val="75000"/>
                  </a:schemeClr>
                </a:solidFill>
                <a:latin typeface="Courier"/>
                <a:cs typeface="Courier"/>
              </a:rPr>
              <a:t>xxxxxxxxxxxxxxxxxxxxxxxxxxxxxxxxxxxxxxxxxxxxxxx</a:t>
            </a:r>
            <a:endParaRPr lang="en-US" sz="2250" dirty="0">
              <a:latin typeface="Courier"/>
              <a:cs typeface="Courier"/>
            </a:endParaRPr>
          </a:p>
        </p:txBody>
      </p:sp>
      <p:sp>
        <p:nvSpPr>
          <p:cNvPr id="32773" name="Text Box 5"/>
          <p:cNvSpPr txBox="1">
            <a:spLocks noChangeArrowheads="1"/>
          </p:cNvSpPr>
          <p:nvPr/>
        </p:nvSpPr>
        <p:spPr bwMode="auto">
          <a:xfrm>
            <a:off x="514351" y="2486025"/>
            <a:ext cx="1543049" cy="1927451"/>
          </a:xfrm>
          <a:prstGeom prst="rect">
            <a:avLst/>
          </a:prstGeom>
          <a:noFill/>
          <a:ln w="25400">
            <a:noFill/>
            <a:miter lim="800000"/>
            <a:headEnd/>
            <a:tailEnd/>
          </a:ln>
        </p:spPr>
        <p:txBody>
          <a:bodyPr wrap="square">
            <a:prstTxWarp prst="textNoShape">
              <a:avLst/>
            </a:prstTxWarp>
            <a:spAutoFit/>
          </a:bodyPr>
          <a:lstStyle/>
          <a:p>
            <a:r>
              <a:rPr lang="en-US" sz="11925" dirty="0" err="1">
                <a:latin typeface="Lucida Grande"/>
                <a:ea typeface="Lucida Grande"/>
                <a:cs typeface="Lucida Grande"/>
              </a:rPr>
              <a:t>γ</a:t>
            </a:r>
            <a:r>
              <a:rPr lang="en-US" sz="11925" dirty="0"/>
              <a:t>(</a:t>
            </a:r>
          </a:p>
        </p:txBody>
      </p:sp>
      <p:sp>
        <p:nvSpPr>
          <p:cNvPr id="32774" name="Text Box 6"/>
          <p:cNvSpPr txBox="1">
            <a:spLocks noChangeArrowheads="1"/>
          </p:cNvSpPr>
          <p:nvPr/>
        </p:nvSpPr>
        <p:spPr bwMode="auto">
          <a:xfrm>
            <a:off x="7574474" y="2604433"/>
            <a:ext cx="2351926" cy="1927451"/>
          </a:xfrm>
          <a:prstGeom prst="rect">
            <a:avLst/>
          </a:prstGeom>
          <a:noFill/>
          <a:ln w="25400">
            <a:noFill/>
            <a:miter lim="800000"/>
            <a:headEnd/>
            <a:tailEnd/>
          </a:ln>
        </p:spPr>
        <p:txBody>
          <a:bodyPr wrap="none">
            <a:prstTxWarp prst="textNoShape">
              <a:avLst/>
            </a:prstTxWarp>
            <a:spAutoFit/>
          </a:bodyPr>
          <a:lstStyle/>
          <a:p>
            <a:r>
              <a:rPr lang="en-US" sz="11925" dirty="0"/>
              <a:t>)=c</a:t>
            </a:r>
          </a:p>
        </p:txBody>
      </p:sp>
      <p:pic>
        <p:nvPicPr>
          <p:cNvPr id="7" name="Picture 6" descr="Thumbs-down-ico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4025" y="5314950"/>
            <a:ext cx="628650" cy="566586"/>
          </a:xfrm>
          <a:prstGeom prst="rect">
            <a:avLst/>
          </a:prstGeom>
        </p:spPr>
      </p:pic>
      <p:pic>
        <p:nvPicPr>
          <p:cNvPr id="8" name="Picture 7" descr="Thumbs-up-icon.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44025" y="4543426"/>
            <a:ext cx="665807" cy="600074"/>
          </a:xfrm>
          <a:prstGeom prst="rect">
            <a:avLst/>
          </a:prstGeom>
        </p:spPr>
      </p:pic>
    </p:spTree>
    <p:extLst>
      <p:ext uri="{BB962C8B-B14F-4D97-AF65-F5344CB8AC3E}">
        <p14:creationId xmlns:p14="http://schemas.microsoft.com/office/powerpoint/2010/main" val="2901899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543050" y="857250"/>
            <a:ext cx="8401050" cy="835819"/>
          </a:xfrm>
        </p:spPr>
        <p:txBody>
          <a:bodyPr/>
          <a:lstStyle/>
          <a:p>
            <a:r>
              <a:rPr lang="en-US" dirty="0"/>
              <a:t>The bag of words representation</a:t>
            </a:r>
          </a:p>
        </p:txBody>
      </p:sp>
      <p:sp>
        <p:nvSpPr>
          <p:cNvPr id="32772" name="Rectangle 4"/>
          <p:cNvSpPr>
            <a:spLocks noChangeArrowheads="1"/>
          </p:cNvSpPr>
          <p:nvPr/>
        </p:nvSpPr>
        <p:spPr bwMode="auto">
          <a:xfrm>
            <a:off x="2143125" y="2057400"/>
            <a:ext cx="5486400" cy="3686175"/>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endParaRPr lang="en-US" sz="2250" dirty="0">
              <a:latin typeface="Courier"/>
              <a:cs typeface="Courier"/>
            </a:endParaRPr>
          </a:p>
        </p:txBody>
      </p:sp>
      <p:sp>
        <p:nvSpPr>
          <p:cNvPr id="32773" name="Text Box 5"/>
          <p:cNvSpPr txBox="1">
            <a:spLocks noChangeArrowheads="1"/>
          </p:cNvSpPr>
          <p:nvPr/>
        </p:nvSpPr>
        <p:spPr bwMode="auto">
          <a:xfrm>
            <a:off x="514351" y="2486025"/>
            <a:ext cx="1543049" cy="1927451"/>
          </a:xfrm>
          <a:prstGeom prst="rect">
            <a:avLst/>
          </a:prstGeom>
          <a:noFill/>
          <a:ln w="25400">
            <a:noFill/>
            <a:miter lim="800000"/>
            <a:headEnd/>
            <a:tailEnd/>
          </a:ln>
        </p:spPr>
        <p:txBody>
          <a:bodyPr wrap="square">
            <a:prstTxWarp prst="textNoShape">
              <a:avLst/>
            </a:prstTxWarp>
            <a:spAutoFit/>
          </a:bodyPr>
          <a:lstStyle/>
          <a:p>
            <a:r>
              <a:rPr lang="en-US" sz="11925" dirty="0" err="1">
                <a:latin typeface="Lucida Grande"/>
                <a:ea typeface="Lucida Grande"/>
                <a:cs typeface="Lucida Grande"/>
              </a:rPr>
              <a:t>γ</a:t>
            </a:r>
            <a:r>
              <a:rPr lang="en-US" sz="11925" dirty="0"/>
              <a:t>(</a:t>
            </a:r>
          </a:p>
        </p:txBody>
      </p:sp>
      <p:sp>
        <p:nvSpPr>
          <p:cNvPr id="32774" name="Text Box 6"/>
          <p:cNvSpPr txBox="1">
            <a:spLocks noChangeArrowheads="1"/>
          </p:cNvSpPr>
          <p:nvPr/>
        </p:nvSpPr>
        <p:spPr bwMode="auto">
          <a:xfrm>
            <a:off x="7574474" y="2604433"/>
            <a:ext cx="2351926" cy="1927451"/>
          </a:xfrm>
          <a:prstGeom prst="rect">
            <a:avLst/>
          </a:prstGeom>
          <a:noFill/>
          <a:ln w="25400">
            <a:noFill/>
            <a:miter lim="800000"/>
            <a:headEnd/>
            <a:tailEnd/>
          </a:ln>
        </p:spPr>
        <p:txBody>
          <a:bodyPr wrap="none">
            <a:prstTxWarp prst="textNoShape">
              <a:avLst/>
            </a:prstTxWarp>
            <a:spAutoFit/>
          </a:bodyPr>
          <a:lstStyle/>
          <a:p>
            <a:r>
              <a:rPr lang="en-US" sz="11925" dirty="0"/>
              <a:t>)=c</a:t>
            </a:r>
          </a:p>
        </p:txBody>
      </p:sp>
      <p:graphicFrame>
        <p:nvGraphicFramePr>
          <p:cNvPr id="8" name="Group 44"/>
          <p:cNvGraphicFramePr>
            <a:graphicFrameLocks noGrp="1"/>
          </p:cNvGraphicFramePr>
          <p:nvPr/>
        </p:nvGraphicFramePr>
        <p:xfrm>
          <a:off x="2143125" y="2057400"/>
          <a:ext cx="5486400" cy="3709989"/>
        </p:xfrm>
        <a:graphic>
          <a:graphicData uri="http://schemas.openxmlformats.org/drawingml/2006/table">
            <a:tbl>
              <a:tblPr/>
              <a:tblGrid>
                <a:gridCol w="3291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557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great</a:t>
                      </a:r>
                    </a:p>
                  </a:txBody>
                  <a:tcPr marL="102870" marR="102870" marT="38576" marB="385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2</a:t>
                      </a:r>
                    </a:p>
                  </a:txBody>
                  <a:tcPr marL="102870" marR="102870" marT="38576" marB="385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294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love</a:t>
                      </a:r>
                    </a:p>
                  </a:txBody>
                  <a:tcPr marL="102870" marR="102870" marT="38576" marB="385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2</a:t>
                      </a:r>
                    </a:p>
                  </a:txBody>
                  <a:tcPr marL="102870" marR="102870" marT="38576" marB="385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72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recommend</a:t>
                      </a:r>
                    </a:p>
                  </a:txBody>
                  <a:tcPr marL="102870" marR="102870" marT="38576" marB="385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Courier"/>
                          <a:ea typeface="Arial" charset="0"/>
                          <a:cs typeface="Courier"/>
                        </a:rPr>
                        <a:t>1</a:t>
                      </a:r>
                    </a:p>
                  </a:txBody>
                  <a:tcPr marL="102870" marR="102870" marT="38576" marB="385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7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laugh</a:t>
                      </a:r>
                    </a:p>
                  </a:txBody>
                  <a:tcPr marL="102870" marR="102870" marT="38576" marB="385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Courier"/>
                          <a:ea typeface="Arial" charset="0"/>
                          <a:cs typeface="Courier"/>
                        </a:rPr>
                        <a:t>1</a:t>
                      </a:r>
                    </a:p>
                  </a:txBody>
                  <a:tcPr marL="102870" marR="102870" marT="38576" marB="385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4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happy</a:t>
                      </a:r>
                    </a:p>
                  </a:txBody>
                  <a:tcPr marL="102870" marR="102870" marT="38576" marB="385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1</a:t>
                      </a:r>
                    </a:p>
                  </a:txBody>
                  <a:tcPr marL="102870" marR="102870" marT="38576" marB="385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57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a:t>
                      </a:r>
                    </a:p>
                  </a:txBody>
                  <a:tcPr marL="102870" marR="102870" marT="38576" marB="3857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a:ln>
                            <a:noFill/>
                          </a:ln>
                          <a:solidFill>
                            <a:schemeClr val="tx1"/>
                          </a:solidFill>
                          <a:effectLst/>
                          <a:latin typeface="Courier"/>
                          <a:ea typeface="Arial" charset="0"/>
                          <a:cs typeface="Courier"/>
                        </a:rPr>
                        <a:t>...</a:t>
                      </a:r>
                    </a:p>
                  </a:txBody>
                  <a:tcPr marL="102870" marR="102870" marT="38576" marB="3857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9" name="Picture 8" descr="Thumbs-down-ico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4025" y="5314950"/>
            <a:ext cx="628650" cy="566586"/>
          </a:xfrm>
          <a:prstGeom prst="rect">
            <a:avLst/>
          </a:prstGeom>
        </p:spPr>
      </p:pic>
      <p:pic>
        <p:nvPicPr>
          <p:cNvPr id="10" name="Picture 9" descr="Thumbs-up-icon.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44025" y="4543426"/>
            <a:ext cx="665807" cy="600074"/>
          </a:xfrm>
          <a:prstGeom prst="rect">
            <a:avLst/>
          </a:prstGeom>
        </p:spPr>
      </p:pic>
    </p:spTree>
    <p:extLst>
      <p:ext uri="{BB962C8B-B14F-4D97-AF65-F5344CB8AC3E}">
        <p14:creationId xmlns:p14="http://schemas.microsoft.com/office/powerpoint/2010/main" val="4254093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8111697" y="3474542"/>
            <a:ext cx="1218603" cy="403957"/>
          </a:xfrm>
          <a:prstGeom prst="rect">
            <a:avLst/>
          </a:prstGeom>
          <a:noFill/>
          <a:ln w="38100">
            <a:solidFill>
              <a:srgbClr val="FF9999"/>
            </a:solidFill>
            <a:miter lim="800000"/>
            <a:headEnd/>
            <a:tailEnd/>
          </a:ln>
        </p:spPr>
        <p:txBody>
          <a:bodyPr wrap="none">
            <a:prstTxWarp prst="textNoShape">
              <a:avLst/>
            </a:prstTxWarp>
            <a:spAutoFit/>
          </a:bodyPr>
          <a:lstStyle/>
          <a:p>
            <a:pPr eaLnBrk="0" hangingPunct="0"/>
            <a:r>
              <a:rPr lang="en-US" sz="2025" dirty="0">
                <a:latin typeface="Palatino" charset="0"/>
              </a:rPr>
              <a:t>Planning</a:t>
            </a:r>
          </a:p>
        </p:txBody>
      </p:sp>
      <p:sp>
        <p:nvSpPr>
          <p:cNvPr id="25603" name="Text Box 3"/>
          <p:cNvSpPr txBox="1">
            <a:spLocks noChangeArrowheads="1"/>
          </p:cNvSpPr>
          <p:nvPr/>
        </p:nvSpPr>
        <p:spPr bwMode="auto">
          <a:xfrm>
            <a:off x="9502350" y="3474542"/>
            <a:ext cx="673582" cy="403957"/>
          </a:xfrm>
          <a:prstGeom prst="rect">
            <a:avLst/>
          </a:prstGeom>
          <a:noFill/>
          <a:ln w="38100">
            <a:solidFill>
              <a:schemeClr val="folHlink"/>
            </a:solidFill>
            <a:miter lim="800000"/>
            <a:headEnd/>
            <a:tailEnd/>
          </a:ln>
        </p:spPr>
        <p:txBody>
          <a:bodyPr wrap="none">
            <a:prstTxWarp prst="textNoShape">
              <a:avLst/>
            </a:prstTxWarp>
            <a:spAutoFit/>
          </a:bodyPr>
          <a:lstStyle/>
          <a:p>
            <a:pPr eaLnBrk="0" hangingPunct="0"/>
            <a:r>
              <a:rPr lang="en-US" sz="2025">
                <a:latin typeface="Palatino" charset="0"/>
              </a:rPr>
              <a:t>GUI</a:t>
            </a:r>
          </a:p>
        </p:txBody>
      </p:sp>
      <p:sp>
        <p:nvSpPr>
          <p:cNvPr id="25604" name="Text Box 4"/>
          <p:cNvSpPr txBox="1">
            <a:spLocks noChangeArrowheads="1"/>
          </p:cNvSpPr>
          <p:nvPr/>
        </p:nvSpPr>
        <p:spPr bwMode="auto">
          <a:xfrm>
            <a:off x="6492544" y="3474541"/>
            <a:ext cx="1394156" cy="485454"/>
          </a:xfrm>
          <a:prstGeom prst="rect">
            <a:avLst/>
          </a:prstGeom>
          <a:noFill/>
          <a:ln w="38100">
            <a:solidFill>
              <a:schemeClr val="hlink"/>
            </a:solidFill>
            <a:miter lim="800000"/>
            <a:headEnd/>
            <a:tailEnd/>
          </a:ln>
        </p:spPr>
        <p:txBody>
          <a:bodyPr wrap="square">
            <a:prstTxWarp prst="textNoShape">
              <a:avLst/>
            </a:prstTxWarp>
            <a:spAutoFit/>
          </a:bodyPr>
          <a:lstStyle/>
          <a:p>
            <a:pPr eaLnBrk="0" hangingPunct="0">
              <a:lnSpc>
                <a:spcPct val="80000"/>
              </a:lnSpc>
            </a:pPr>
            <a:r>
              <a:rPr lang="en-US" sz="1575" dirty="0">
                <a:latin typeface="Palatino" charset="0"/>
              </a:rPr>
              <a:t>Garbage</a:t>
            </a:r>
          </a:p>
          <a:p>
            <a:pPr eaLnBrk="0" hangingPunct="0">
              <a:lnSpc>
                <a:spcPct val="80000"/>
              </a:lnSpc>
            </a:pPr>
            <a:r>
              <a:rPr lang="en-US" sz="1575" dirty="0">
                <a:latin typeface="Palatino" charset="0"/>
              </a:rPr>
              <a:t>Collection</a:t>
            </a:r>
          </a:p>
        </p:txBody>
      </p:sp>
      <p:sp>
        <p:nvSpPr>
          <p:cNvPr id="25606" name="Text Box 6"/>
          <p:cNvSpPr txBox="1">
            <a:spLocks noChangeArrowheads="1"/>
          </p:cNvSpPr>
          <p:nvPr/>
        </p:nvSpPr>
        <p:spPr bwMode="auto">
          <a:xfrm>
            <a:off x="3943351" y="3343275"/>
            <a:ext cx="1013823" cy="577081"/>
          </a:xfrm>
          <a:prstGeom prst="rect">
            <a:avLst/>
          </a:prstGeom>
          <a:noFill/>
          <a:ln w="38100">
            <a:solidFill>
              <a:schemeClr val="bg2"/>
            </a:solidFill>
            <a:miter lim="800000"/>
            <a:headEnd/>
            <a:tailEnd/>
          </a:ln>
        </p:spPr>
        <p:txBody>
          <a:bodyPr wrap="square">
            <a:prstTxWarp prst="textNoShape">
              <a:avLst/>
            </a:prstTxWarp>
            <a:spAutoFit/>
          </a:bodyPr>
          <a:lstStyle/>
          <a:p>
            <a:pPr eaLnBrk="0" hangingPunct="0"/>
            <a:r>
              <a:rPr lang="en-US" sz="1575" dirty="0">
                <a:latin typeface="Palatino" charset="0"/>
              </a:rPr>
              <a:t>Machine Learning</a:t>
            </a:r>
          </a:p>
        </p:txBody>
      </p:sp>
      <p:sp>
        <p:nvSpPr>
          <p:cNvPr id="25607" name="Text Box 7"/>
          <p:cNvSpPr txBox="1">
            <a:spLocks noChangeArrowheads="1"/>
          </p:cNvSpPr>
          <p:nvPr/>
        </p:nvSpPr>
        <p:spPr bwMode="auto">
          <a:xfrm>
            <a:off x="5422177" y="3474542"/>
            <a:ext cx="716863" cy="403957"/>
          </a:xfrm>
          <a:prstGeom prst="rect">
            <a:avLst/>
          </a:prstGeom>
          <a:noFill/>
          <a:ln w="38100">
            <a:solidFill>
              <a:schemeClr val="accent1"/>
            </a:solidFill>
            <a:miter lim="800000"/>
            <a:headEnd/>
            <a:tailEnd/>
          </a:ln>
        </p:spPr>
        <p:txBody>
          <a:bodyPr wrap="none">
            <a:prstTxWarp prst="textNoShape">
              <a:avLst/>
            </a:prstTxWarp>
            <a:spAutoFit/>
          </a:bodyPr>
          <a:lstStyle/>
          <a:p>
            <a:pPr eaLnBrk="0" hangingPunct="0"/>
            <a:r>
              <a:rPr lang="en-US" sz="2025" dirty="0">
                <a:latin typeface="Palatino" charset="0"/>
              </a:rPr>
              <a:t>NLP</a:t>
            </a:r>
          </a:p>
        </p:txBody>
      </p:sp>
      <p:sp>
        <p:nvSpPr>
          <p:cNvPr id="25608" name="Text Box 8"/>
          <p:cNvSpPr txBox="1">
            <a:spLocks noChangeArrowheads="1"/>
          </p:cNvSpPr>
          <p:nvPr/>
        </p:nvSpPr>
        <p:spPr bwMode="auto">
          <a:xfrm>
            <a:off x="5224288" y="3943350"/>
            <a:ext cx="1438214" cy="1650452"/>
          </a:xfrm>
          <a:prstGeom prst="rect">
            <a:avLst/>
          </a:prstGeom>
          <a:noFill/>
          <a:ln w="9525">
            <a:noFill/>
            <a:miter lim="800000"/>
            <a:headEnd/>
            <a:tailEnd/>
          </a:ln>
        </p:spPr>
        <p:txBody>
          <a:bodyPr wrap="none">
            <a:prstTxWarp prst="textNoShape">
              <a:avLst/>
            </a:prstTxWarp>
            <a:spAutoFit/>
          </a:bodyPr>
          <a:lstStyle/>
          <a:p>
            <a:pPr eaLnBrk="0" hangingPunct="0"/>
            <a:r>
              <a:rPr lang="en-US" sz="2025" u="sng" dirty="0">
                <a:latin typeface="Palatino" charset="0"/>
              </a:rPr>
              <a:t>parser</a:t>
            </a:r>
            <a:endParaRPr lang="en-US" sz="2025" dirty="0">
              <a:latin typeface="Palatino" charset="0"/>
            </a:endParaRPr>
          </a:p>
          <a:p>
            <a:pPr eaLnBrk="0" hangingPunct="0"/>
            <a:r>
              <a:rPr lang="en-US" sz="2025" dirty="0">
                <a:latin typeface="Palatino" charset="0"/>
              </a:rPr>
              <a:t>tag</a:t>
            </a:r>
          </a:p>
          <a:p>
            <a:pPr eaLnBrk="0" hangingPunct="0"/>
            <a:r>
              <a:rPr lang="en-US" sz="2025" dirty="0">
                <a:latin typeface="Palatino" charset="0"/>
              </a:rPr>
              <a:t>training</a:t>
            </a:r>
          </a:p>
          <a:p>
            <a:pPr eaLnBrk="0" hangingPunct="0"/>
            <a:r>
              <a:rPr lang="en-US" sz="2025" u="sng" dirty="0">
                <a:latin typeface="Palatino" charset="0"/>
              </a:rPr>
              <a:t>translation</a:t>
            </a:r>
          </a:p>
          <a:p>
            <a:pPr eaLnBrk="0" hangingPunct="0"/>
            <a:r>
              <a:rPr lang="en-US" sz="2025" u="sng" dirty="0">
                <a:latin typeface="Palatino" charset="0"/>
              </a:rPr>
              <a:t>language</a:t>
            </a:r>
            <a:r>
              <a:rPr lang="en-US" sz="2025" dirty="0">
                <a:latin typeface="Palatino" charset="0"/>
              </a:rPr>
              <a:t>...</a:t>
            </a:r>
          </a:p>
        </p:txBody>
      </p:sp>
      <p:sp>
        <p:nvSpPr>
          <p:cNvPr id="25610" name="Text Box 10"/>
          <p:cNvSpPr txBox="1">
            <a:spLocks noChangeArrowheads="1"/>
          </p:cNvSpPr>
          <p:nvPr/>
        </p:nvSpPr>
        <p:spPr bwMode="auto">
          <a:xfrm>
            <a:off x="3857626" y="3943350"/>
            <a:ext cx="1342419" cy="1650452"/>
          </a:xfrm>
          <a:prstGeom prst="rect">
            <a:avLst/>
          </a:prstGeom>
          <a:noFill/>
          <a:ln w="9525">
            <a:noFill/>
            <a:miter lim="800000"/>
            <a:headEnd/>
            <a:tailEnd/>
          </a:ln>
        </p:spPr>
        <p:txBody>
          <a:bodyPr wrap="none">
            <a:prstTxWarp prst="textNoShape">
              <a:avLst/>
            </a:prstTxWarp>
            <a:spAutoFit/>
          </a:bodyPr>
          <a:lstStyle/>
          <a:p>
            <a:pPr eaLnBrk="0" hangingPunct="0"/>
            <a:r>
              <a:rPr lang="en-US" sz="2025" dirty="0">
                <a:latin typeface="Palatino" charset="0"/>
              </a:rPr>
              <a:t>learning</a:t>
            </a:r>
          </a:p>
          <a:p>
            <a:pPr eaLnBrk="0" hangingPunct="0"/>
            <a:r>
              <a:rPr lang="en-US" sz="2025" u="sng" dirty="0">
                <a:latin typeface="Palatino" charset="0"/>
              </a:rPr>
              <a:t>training</a:t>
            </a:r>
            <a:endParaRPr lang="en-US" sz="2025" dirty="0">
              <a:latin typeface="Palatino" charset="0"/>
            </a:endParaRPr>
          </a:p>
          <a:p>
            <a:pPr eaLnBrk="0" hangingPunct="0"/>
            <a:r>
              <a:rPr lang="en-US" sz="2025" dirty="0">
                <a:latin typeface="Palatino" charset="0"/>
              </a:rPr>
              <a:t>algorithm</a:t>
            </a:r>
          </a:p>
          <a:p>
            <a:pPr eaLnBrk="0" hangingPunct="0"/>
            <a:r>
              <a:rPr lang="en-US" sz="2025" dirty="0">
                <a:latin typeface="Palatino" charset="0"/>
              </a:rPr>
              <a:t>shrinkage</a:t>
            </a:r>
          </a:p>
          <a:p>
            <a:pPr eaLnBrk="0" hangingPunct="0"/>
            <a:r>
              <a:rPr lang="en-US" sz="2025" dirty="0">
                <a:latin typeface="Palatino" charset="0"/>
              </a:rPr>
              <a:t>network...</a:t>
            </a:r>
          </a:p>
        </p:txBody>
      </p:sp>
      <p:sp>
        <p:nvSpPr>
          <p:cNvPr id="25611" name="Text Box 11"/>
          <p:cNvSpPr txBox="1">
            <a:spLocks noChangeArrowheads="1"/>
          </p:cNvSpPr>
          <p:nvPr/>
        </p:nvSpPr>
        <p:spPr bwMode="auto">
          <a:xfrm>
            <a:off x="6655064" y="3943350"/>
            <a:ext cx="1657826" cy="1650452"/>
          </a:xfrm>
          <a:prstGeom prst="rect">
            <a:avLst/>
          </a:prstGeom>
          <a:noFill/>
          <a:ln w="9525">
            <a:noFill/>
            <a:miter lim="800000"/>
            <a:headEnd/>
            <a:tailEnd/>
          </a:ln>
        </p:spPr>
        <p:txBody>
          <a:bodyPr wrap="none">
            <a:prstTxWarp prst="textNoShape">
              <a:avLst/>
            </a:prstTxWarp>
            <a:spAutoFit/>
          </a:bodyPr>
          <a:lstStyle/>
          <a:p>
            <a:pPr eaLnBrk="0" hangingPunct="0"/>
            <a:r>
              <a:rPr lang="en-US" sz="2025" dirty="0">
                <a:latin typeface="Palatino" charset="0"/>
              </a:rPr>
              <a:t>garbage</a:t>
            </a:r>
          </a:p>
          <a:p>
            <a:pPr eaLnBrk="0" hangingPunct="0"/>
            <a:r>
              <a:rPr lang="en-US" sz="2025" dirty="0">
                <a:latin typeface="Palatino" charset="0"/>
              </a:rPr>
              <a:t>collection</a:t>
            </a:r>
          </a:p>
          <a:p>
            <a:pPr eaLnBrk="0" hangingPunct="0"/>
            <a:r>
              <a:rPr lang="en-US" sz="2025" dirty="0">
                <a:latin typeface="Palatino" charset="0"/>
              </a:rPr>
              <a:t>memory</a:t>
            </a:r>
          </a:p>
          <a:p>
            <a:pPr eaLnBrk="0" hangingPunct="0"/>
            <a:r>
              <a:rPr lang="en-US" sz="2025" dirty="0">
                <a:latin typeface="Palatino" charset="0"/>
              </a:rPr>
              <a:t>optimization</a:t>
            </a:r>
          </a:p>
          <a:p>
            <a:pPr eaLnBrk="0" hangingPunct="0"/>
            <a:r>
              <a:rPr lang="en-US" sz="2025" dirty="0">
                <a:latin typeface="Palatino" charset="0"/>
              </a:rPr>
              <a:t>region...</a:t>
            </a:r>
          </a:p>
        </p:txBody>
      </p:sp>
      <p:grpSp>
        <p:nvGrpSpPr>
          <p:cNvPr id="2" name="Group 1"/>
          <p:cNvGrpSpPr/>
          <p:nvPr/>
        </p:nvGrpSpPr>
        <p:grpSpPr>
          <a:xfrm>
            <a:off x="685801" y="2657475"/>
            <a:ext cx="1285929" cy="2334578"/>
            <a:chOff x="609600" y="1885950"/>
            <a:chExt cx="1143048" cy="2075180"/>
          </a:xfrm>
        </p:grpSpPr>
        <p:sp>
          <p:nvSpPr>
            <p:cNvPr id="25612" name="AutoShape 12"/>
            <p:cNvSpPr>
              <a:spLocks noChangeArrowheads="1"/>
            </p:cNvSpPr>
            <p:nvPr/>
          </p:nvSpPr>
          <p:spPr bwMode="auto">
            <a:xfrm>
              <a:off x="609600" y="1885950"/>
              <a:ext cx="1066800" cy="762000"/>
            </a:xfrm>
            <a:prstGeom prst="foldedCorner">
              <a:avLst>
                <a:gd name="adj" fmla="val 28644"/>
              </a:avLst>
            </a:prstGeom>
            <a:solidFill>
              <a:srgbClr val="B2B2B2"/>
            </a:solidFill>
            <a:ln w="9525">
              <a:solidFill>
                <a:schemeClr val="tx1"/>
              </a:solidFill>
              <a:round/>
              <a:headEnd/>
              <a:tailEnd/>
            </a:ln>
          </p:spPr>
          <p:txBody>
            <a:bodyPr wrap="none" anchor="ctr">
              <a:prstTxWarp prst="textNoShape">
                <a:avLst/>
              </a:prstTxWarp>
            </a:bodyPr>
            <a:lstStyle/>
            <a:p>
              <a:endParaRPr lang="en-US" sz="1350" dirty="0"/>
            </a:p>
            <a:p>
              <a:endParaRPr lang="en-US" sz="1350" dirty="0"/>
            </a:p>
            <a:p>
              <a:r>
                <a:rPr lang="en-US" sz="1350" dirty="0"/>
                <a:t>Test </a:t>
              </a:r>
            </a:p>
            <a:p>
              <a:r>
                <a:rPr lang="en-US" sz="1350" dirty="0"/>
                <a:t>document</a:t>
              </a:r>
            </a:p>
            <a:p>
              <a:endParaRPr lang="en-US" dirty="0"/>
            </a:p>
          </p:txBody>
        </p:sp>
        <p:sp>
          <p:nvSpPr>
            <p:cNvPr id="25613" name="Text Box 13"/>
            <p:cNvSpPr txBox="1">
              <a:spLocks noChangeArrowheads="1"/>
            </p:cNvSpPr>
            <p:nvPr/>
          </p:nvSpPr>
          <p:spPr bwMode="auto">
            <a:xfrm>
              <a:off x="609600" y="2647950"/>
              <a:ext cx="1143048" cy="1313180"/>
            </a:xfrm>
            <a:prstGeom prst="rect">
              <a:avLst/>
            </a:prstGeom>
            <a:noFill/>
            <a:ln w="9525">
              <a:noFill/>
              <a:miter lim="800000"/>
              <a:headEnd/>
              <a:tailEnd/>
            </a:ln>
          </p:spPr>
          <p:txBody>
            <a:bodyPr wrap="none">
              <a:prstTxWarp prst="textNoShape">
                <a:avLst/>
              </a:prstTxWarp>
              <a:spAutoFit/>
            </a:bodyPr>
            <a:lstStyle/>
            <a:p>
              <a:pPr eaLnBrk="0" hangingPunct="0"/>
              <a:r>
                <a:rPr lang="en-US" dirty="0">
                  <a:latin typeface="Palatino" charset="0"/>
                </a:rPr>
                <a:t>parser</a:t>
              </a:r>
            </a:p>
            <a:p>
              <a:pPr eaLnBrk="0" hangingPunct="0"/>
              <a:r>
                <a:rPr lang="en-US" dirty="0">
                  <a:latin typeface="Palatino" charset="0"/>
                </a:rPr>
                <a:t>language</a:t>
              </a:r>
            </a:p>
            <a:p>
              <a:pPr eaLnBrk="0" hangingPunct="0"/>
              <a:r>
                <a:rPr lang="en-US" dirty="0">
                  <a:latin typeface="Palatino" charset="0"/>
                </a:rPr>
                <a:t>label</a:t>
              </a:r>
            </a:p>
            <a:p>
              <a:pPr eaLnBrk="0" hangingPunct="0"/>
              <a:r>
                <a:rPr lang="en-US" dirty="0">
                  <a:latin typeface="Palatino" charset="0"/>
                </a:rPr>
                <a:t>translation</a:t>
              </a:r>
            </a:p>
            <a:p>
              <a:pPr eaLnBrk="0" hangingPunct="0"/>
              <a:r>
                <a:rPr lang="en-US" dirty="0">
                  <a:latin typeface="Palatino" charset="0"/>
                </a:rPr>
                <a:t>…</a:t>
              </a:r>
            </a:p>
          </p:txBody>
        </p:sp>
      </p:grpSp>
      <p:sp>
        <p:nvSpPr>
          <p:cNvPr id="25619" name="Rectangle 34"/>
          <p:cNvSpPr>
            <a:spLocks noGrp="1" noChangeArrowheads="1"/>
          </p:cNvSpPr>
          <p:nvPr>
            <p:ph type="title"/>
          </p:nvPr>
        </p:nvSpPr>
        <p:spPr>
          <a:xfrm>
            <a:off x="1543050" y="942975"/>
            <a:ext cx="8401050" cy="835819"/>
          </a:xfrm>
        </p:spPr>
        <p:txBody>
          <a:bodyPr/>
          <a:lstStyle/>
          <a:p>
            <a:r>
              <a:rPr lang="en-US" dirty="0"/>
              <a:t>Bag of words for document classification</a:t>
            </a:r>
          </a:p>
        </p:txBody>
      </p:sp>
      <p:sp>
        <p:nvSpPr>
          <p:cNvPr id="25633" name="Text Box 32"/>
          <p:cNvSpPr txBox="1">
            <a:spLocks noChangeArrowheads="1"/>
          </p:cNvSpPr>
          <p:nvPr/>
        </p:nvSpPr>
        <p:spPr bwMode="auto">
          <a:xfrm>
            <a:off x="9563070" y="3960763"/>
            <a:ext cx="381836" cy="403957"/>
          </a:xfrm>
          <a:prstGeom prst="rect">
            <a:avLst/>
          </a:prstGeom>
          <a:noFill/>
          <a:ln w="9525">
            <a:noFill/>
            <a:miter lim="800000"/>
            <a:headEnd/>
            <a:tailEnd/>
          </a:ln>
        </p:spPr>
        <p:txBody>
          <a:bodyPr wrap="none">
            <a:prstTxWarp prst="textNoShape">
              <a:avLst/>
            </a:prstTxWarp>
            <a:spAutoFit/>
          </a:bodyPr>
          <a:lstStyle/>
          <a:p>
            <a:pPr eaLnBrk="0" hangingPunct="0"/>
            <a:r>
              <a:rPr lang="en-US" sz="2025">
                <a:latin typeface="Palatino" charset="0"/>
              </a:rPr>
              <a:t>...</a:t>
            </a:r>
          </a:p>
        </p:txBody>
      </p:sp>
      <p:sp>
        <p:nvSpPr>
          <p:cNvPr id="36" name="Text Box 8"/>
          <p:cNvSpPr txBox="1">
            <a:spLocks noChangeArrowheads="1"/>
          </p:cNvSpPr>
          <p:nvPr/>
        </p:nvSpPr>
        <p:spPr bwMode="auto">
          <a:xfrm>
            <a:off x="8191905" y="3941734"/>
            <a:ext cx="1438214" cy="1650452"/>
          </a:xfrm>
          <a:prstGeom prst="rect">
            <a:avLst/>
          </a:prstGeom>
          <a:noFill/>
          <a:ln w="9525">
            <a:noFill/>
            <a:miter lim="800000"/>
            <a:headEnd/>
            <a:tailEnd/>
          </a:ln>
        </p:spPr>
        <p:txBody>
          <a:bodyPr wrap="none">
            <a:prstTxWarp prst="textNoShape">
              <a:avLst/>
            </a:prstTxWarp>
            <a:spAutoFit/>
          </a:bodyPr>
          <a:lstStyle/>
          <a:p>
            <a:pPr eaLnBrk="0" hangingPunct="0"/>
            <a:r>
              <a:rPr lang="en-US" sz="2025" dirty="0">
                <a:latin typeface="Palatino" charset="0"/>
              </a:rPr>
              <a:t>planning</a:t>
            </a:r>
          </a:p>
          <a:p>
            <a:pPr eaLnBrk="0" hangingPunct="0"/>
            <a:r>
              <a:rPr lang="en-US" sz="2025" dirty="0">
                <a:latin typeface="Palatino" charset="0"/>
              </a:rPr>
              <a:t>temporal</a:t>
            </a:r>
          </a:p>
          <a:p>
            <a:pPr eaLnBrk="0" hangingPunct="0"/>
            <a:r>
              <a:rPr lang="en-US" sz="2025" dirty="0">
                <a:latin typeface="Palatino" charset="0"/>
              </a:rPr>
              <a:t>reasoning</a:t>
            </a:r>
          </a:p>
          <a:p>
            <a:pPr eaLnBrk="0" hangingPunct="0"/>
            <a:r>
              <a:rPr lang="en-US" sz="2025" dirty="0">
                <a:latin typeface="Palatino" charset="0"/>
              </a:rPr>
              <a:t>plan</a:t>
            </a:r>
          </a:p>
          <a:p>
            <a:pPr eaLnBrk="0" hangingPunct="0"/>
            <a:r>
              <a:rPr lang="en-US" sz="2025" u="sng" dirty="0">
                <a:latin typeface="Palatino" charset="0"/>
              </a:rPr>
              <a:t>language</a:t>
            </a:r>
            <a:r>
              <a:rPr lang="en-US" sz="2025" dirty="0">
                <a:latin typeface="Palatino" charset="0"/>
              </a:rPr>
              <a:t>...</a:t>
            </a:r>
          </a:p>
        </p:txBody>
      </p:sp>
      <p:sp>
        <p:nvSpPr>
          <p:cNvPr id="10" name="TextBox 9"/>
          <p:cNvSpPr txBox="1"/>
          <p:nvPr/>
        </p:nvSpPr>
        <p:spPr>
          <a:xfrm>
            <a:off x="6572250" y="2345532"/>
            <a:ext cx="441146" cy="646331"/>
          </a:xfrm>
          <a:prstGeom prst="rect">
            <a:avLst/>
          </a:prstGeom>
          <a:noFill/>
        </p:spPr>
        <p:txBody>
          <a:bodyPr wrap="none" rtlCol="0">
            <a:spAutoFit/>
          </a:bodyPr>
          <a:lstStyle/>
          <a:p>
            <a:r>
              <a:rPr lang="en-US" sz="3600" dirty="0">
                <a:latin typeface="+mn-lt"/>
              </a:rPr>
              <a:t>?</a:t>
            </a:r>
          </a:p>
        </p:txBody>
      </p:sp>
    </p:spTree>
    <p:extLst>
      <p:ext uri="{BB962C8B-B14F-4D97-AF65-F5344CB8AC3E}">
        <p14:creationId xmlns:p14="http://schemas.microsoft.com/office/powerpoint/2010/main" val="36578366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44444E-6 -7.88141E-6 C 0.03073 -0.00773 0.05955 -0.02811 0.08993 -0.04015 C 0.09775 -0.04355 0.10573 -0.0454 0.11389 -0.04726 C 0.12344 -0.05004 0.14288 -0.05436 0.14288 -0.05436 C 0.17483 -0.05251 0.20591 -0.05096 0.23681 -0.03305 C 0.25 -0.02564 0.26146 -0.00865 0.27518 -0.00248 C 0.27865 -0.00093 0.28577 0.00216 0.28577 0.00216 C 0.29757 -0.00124 0.30764 -0.00371 0.32014 -0.00495 C 0.33195 -0.0034 0.34393 -0.00217 0.35591 -7.88141E-6 C 0.36077 0.00061 0.36216 0.00802 0.3665 0.01173 C 0.38959 0.03026 0.39966 0.04755 0.41407 0.08708 C 0.42257 0.11056 0.42674 0.13681 0.43525 0.15997 C 0.43577 0.24459 0.43785 0.32921 0.43785 0.41414 " pathEditMode="relative" ptsTypes="ffffffffffffA">
                                      <p:cBhvr>
                                        <p:cTn id="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4457700" y="685800"/>
            <a:ext cx="5400675" cy="2143125"/>
          </a:xfrm>
        </p:spPr>
        <p:txBody>
          <a:bodyPr/>
          <a:lstStyle/>
          <a:p>
            <a:r>
              <a:rPr lang="en-US" sz="4500">
                <a:latin typeface="Calibri (Headings)"/>
                <a:cs typeface="Calibri (Headings)"/>
              </a:rPr>
              <a:t>Text Classification and Na</a:t>
            </a:r>
            <a:r>
              <a:rPr lang="fr-FR" sz="4500">
                <a:latin typeface="Calibri (Headings)"/>
                <a:cs typeface="Calibri (Headings)"/>
              </a:rPr>
              <a:t>ï</a:t>
            </a:r>
            <a:r>
              <a:rPr lang="en-US" sz="4500">
                <a:latin typeface="Calibri (Headings)"/>
                <a:cs typeface="Calibri (Headings)"/>
              </a:rPr>
              <a:t>ve Bayes</a:t>
            </a:r>
            <a:endParaRPr lang="en-US" sz="45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4050" dirty="0">
                <a:solidFill>
                  <a:srgbClr val="A4001D"/>
                </a:solidFill>
                <a:latin typeface="Calibri"/>
                <a:ea typeface="ＭＳ Ｐゴシック" charset="0"/>
                <a:cs typeface="Calibri"/>
              </a:rPr>
              <a:t>Formalizing the Na</a:t>
            </a:r>
            <a:r>
              <a:rPr lang="fr-FR" sz="4050" dirty="0" err="1">
                <a:solidFill>
                  <a:srgbClr val="A4001D"/>
                </a:solidFill>
                <a:latin typeface="Calibri"/>
                <a:ea typeface="ＭＳ Ｐゴシック" charset="0"/>
                <a:cs typeface="Calibri"/>
              </a:rPr>
              <a:t>ï</a:t>
            </a:r>
            <a:r>
              <a:rPr lang="en-US" sz="4050" dirty="0" err="1">
                <a:solidFill>
                  <a:srgbClr val="A4001D"/>
                </a:solidFill>
                <a:latin typeface="Calibri"/>
                <a:ea typeface="ＭＳ Ｐゴシック" charset="0"/>
                <a:cs typeface="Calibri"/>
              </a:rPr>
              <a:t>ve</a:t>
            </a:r>
            <a:r>
              <a:rPr lang="en-US" sz="4050" dirty="0">
                <a:solidFill>
                  <a:srgbClr val="A4001D"/>
                </a:solidFill>
                <a:latin typeface="Calibri"/>
                <a:ea typeface="ＭＳ Ｐゴシック" charset="0"/>
                <a:cs typeface="Calibri"/>
              </a:rPr>
              <a:t> Bayes Classifier</a:t>
            </a:r>
          </a:p>
        </p:txBody>
      </p:sp>
    </p:spTree>
    <p:extLst>
      <p:ext uri="{BB962C8B-B14F-4D97-AF65-F5344CB8AC3E}">
        <p14:creationId xmlns:p14="http://schemas.microsoft.com/office/powerpoint/2010/main" val="151713515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0" y="600075"/>
            <a:ext cx="9570353" cy="835819"/>
          </a:xfrm>
        </p:spPr>
        <p:txBody>
          <a:bodyPr/>
          <a:lstStyle/>
          <a:p>
            <a:r>
              <a:rPr lang="en-US"/>
              <a:t>Bayes’ Rule Applied to Documents and Classes</a:t>
            </a:r>
          </a:p>
        </p:txBody>
      </p:sp>
      <p:graphicFrame>
        <p:nvGraphicFramePr>
          <p:cNvPr id="7" name="Object 3"/>
          <p:cNvGraphicFramePr>
            <a:graphicFrameLocks noChangeAspect="1"/>
          </p:cNvGraphicFramePr>
          <p:nvPr/>
        </p:nvGraphicFramePr>
        <p:xfrm>
          <a:off x="2789634" y="3639741"/>
          <a:ext cx="4973837" cy="1550194"/>
        </p:xfrm>
        <a:graphic>
          <a:graphicData uri="http://schemas.openxmlformats.org/presentationml/2006/ole">
            <mc:AlternateContent xmlns:mc="http://schemas.openxmlformats.org/markup-compatibility/2006">
              <mc:Choice xmlns:v="urn:schemas-microsoft-com:vml" Requires="v">
                <p:oleObj name="Equation" r:id="rId2" imgW="1371600" imgH="419100" progId="Equation.3">
                  <p:embed/>
                </p:oleObj>
              </mc:Choice>
              <mc:Fallback>
                <p:oleObj name="Equation" r:id="rId2" imgW="1371600" imgH="419100" progId="Equation.3">
                  <p:embed/>
                  <p:pic>
                    <p:nvPicPr>
                      <p:cNvPr id="7" name="Object 3"/>
                      <p:cNvPicPr>
                        <a:picLocks noChangeAspect="1" noChangeArrowheads="1"/>
                      </p:cNvPicPr>
                      <p:nvPr/>
                    </p:nvPicPr>
                    <p:blipFill>
                      <a:blip r:embed="rId3"/>
                      <a:srcRect/>
                      <a:stretch>
                        <a:fillRect/>
                      </a:stretch>
                    </p:blipFill>
                    <p:spPr bwMode="auto">
                      <a:xfrm>
                        <a:off x="2789634" y="3639741"/>
                        <a:ext cx="4973837" cy="1550194"/>
                      </a:xfrm>
                      <a:prstGeom prst="rect">
                        <a:avLst/>
                      </a:prstGeom>
                      <a:noFill/>
                      <a:ln>
                        <a:noFill/>
                      </a:ln>
                      <a:effectLst/>
                    </p:spPr>
                  </p:pic>
                </p:oleObj>
              </mc:Fallback>
            </mc:AlternateContent>
          </a:graphicData>
        </a:graphic>
      </p:graphicFrame>
      <p:sp>
        <p:nvSpPr>
          <p:cNvPr id="10" name="Content Placeholder 1"/>
          <p:cNvSpPr>
            <a:spLocks noGrp="1"/>
          </p:cNvSpPr>
          <p:nvPr>
            <p:ph idx="1"/>
          </p:nvPr>
        </p:nvSpPr>
        <p:spPr>
          <a:xfrm>
            <a:off x="342900" y="2143125"/>
            <a:ext cx="9258300" cy="3000375"/>
          </a:xfrm>
        </p:spPr>
        <p:txBody>
          <a:bodyPr/>
          <a:lstStyle/>
          <a:p>
            <a:pPr marL="257175" indent="-257175">
              <a:spcBef>
                <a:spcPct val="50000"/>
              </a:spcBef>
            </a:pPr>
            <a:r>
              <a:rPr lang="en-US" sz="3600" dirty="0"/>
              <a:t>For a document </a:t>
            </a:r>
            <a:r>
              <a:rPr lang="en-US" sz="4050" i="1" dirty="0">
                <a:solidFill>
                  <a:srgbClr val="FF0000"/>
                </a:solidFill>
              </a:rPr>
              <a:t>d</a:t>
            </a:r>
            <a:r>
              <a:rPr lang="en-US" sz="4500" dirty="0"/>
              <a:t> </a:t>
            </a:r>
            <a:r>
              <a:rPr lang="en-US" sz="4050" dirty="0"/>
              <a:t>and a class </a:t>
            </a:r>
            <a:r>
              <a:rPr lang="en-US" sz="4500" i="1" dirty="0">
                <a:solidFill>
                  <a:srgbClr val="FF0000"/>
                </a:solidFill>
              </a:rPr>
              <a:t>c</a:t>
            </a:r>
            <a:endParaRPr lang="en-US" sz="3600" i="1" dirty="0">
              <a:solidFill>
                <a:srgbClr val="FF0000"/>
              </a:solidFill>
            </a:endParaRPr>
          </a:p>
        </p:txBody>
      </p:sp>
    </p:spTree>
    <p:extLst>
      <p:ext uri="{BB962C8B-B14F-4D97-AF65-F5344CB8AC3E}">
        <p14:creationId xmlns:p14="http://schemas.microsoft.com/office/powerpoint/2010/main" val="55067465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dirty="0"/>
              <a:t>Na</a:t>
            </a:r>
            <a:r>
              <a:rPr lang="fr-FR" dirty="0" err="1"/>
              <a:t>ï</a:t>
            </a:r>
            <a:r>
              <a:rPr lang="en-US" dirty="0" err="1"/>
              <a:t>ve</a:t>
            </a:r>
            <a:r>
              <a:rPr lang="en-US" dirty="0"/>
              <a:t> Bayes Classifier (I)</a:t>
            </a:r>
          </a:p>
        </p:txBody>
      </p:sp>
      <p:graphicFrame>
        <p:nvGraphicFramePr>
          <p:cNvPr id="5" name="Object 3"/>
          <p:cNvGraphicFramePr>
            <a:graphicFrameLocks noChangeAspect="1"/>
          </p:cNvGraphicFramePr>
          <p:nvPr/>
        </p:nvGraphicFramePr>
        <p:xfrm>
          <a:off x="1881671" y="2373511"/>
          <a:ext cx="4581638" cy="969764"/>
        </p:xfrm>
        <a:graphic>
          <a:graphicData uri="http://schemas.openxmlformats.org/presentationml/2006/ole">
            <mc:AlternateContent xmlns:mc="http://schemas.openxmlformats.org/markup-compatibility/2006">
              <mc:Choice xmlns:v="urn:schemas-microsoft-com:vml" Requires="v">
                <p:oleObj name="Equation" r:id="rId2" imgW="1371600" imgH="292100" progId="Equation.3">
                  <p:embed/>
                </p:oleObj>
              </mc:Choice>
              <mc:Fallback>
                <p:oleObj name="Equation" r:id="rId2" imgW="1371600" imgH="292100" progId="Equation.3">
                  <p:embed/>
                  <p:pic>
                    <p:nvPicPr>
                      <p:cNvPr id="5" name="Object 3"/>
                      <p:cNvPicPr>
                        <a:picLocks noChangeAspect="1" noChangeArrowheads="1"/>
                      </p:cNvPicPr>
                      <p:nvPr/>
                    </p:nvPicPr>
                    <p:blipFill>
                      <a:blip r:embed="rId3"/>
                      <a:srcRect/>
                      <a:stretch>
                        <a:fillRect/>
                      </a:stretch>
                    </p:blipFill>
                    <p:spPr bwMode="auto">
                      <a:xfrm>
                        <a:off x="1881671" y="2373511"/>
                        <a:ext cx="4581638" cy="969764"/>
                      </a:xfrm>
                      <a:prstGeom prst="rect">
                        <a:avLst/>
                      </a:prstGeom>
                      <a:noFill/>
                      <a:ln>
                        <a:noFill/>
                      </a:ln>
                      <a:effectLst/>
                    </p:spPr>
                  </p:pic>
                </p:oleObj>
              </mc:Fallback>
            </mc:AlternateContent>
          </a:graphicData>
        </a:graphic>
      </p:graphicFrame>
      <p:graphicFrame>
        <p:nvGraphicFramePr>
          <p:cNvPr id="6" name="Object 3"/>
          <p:cNvGraphicFramePr>
            <a:graphicFrameLocks noChangeAspect="1"/>
          </p:cNvGraphicFramePr>
          <p:nvPr/>
        </p:nvGraphicFramePr>
        <p:xfrm>
          <a:off x="2860447" y="3343275"/>
          <a:ext cx="4511904" cy="1371600"/>
        </p:xfrm>
        <a:graphic>
          <a:graphicData uri="http://schemas.openxmlformats.org/presentationml/2006/ole">
            <mc:AlternateContent xmlns:mc="http://schemas.openxmlformats.org/markup-compatibility/2006">
              <mc:Choice xmlns:v="urn:schemas-microsoft-com:vml" Requires="v">
                <p:oleObj name="Equation" r:id="rId4" imgW="1371600" imgH="419100" progId="Equation.3">
                  <p:embed/>
                </p:oleObj>
              </mc:Choice>
              <mc:Fallback>
                <p:oleObj name="Equation" r:id="rId4" imgW="1371600" imgH="419100" progId="Equation.3">
                  <p:embed/>
                  <p:pic>
                    <p:nvPicPr>
                      <p:cNvPr id="6" name="Object 3"/>
                      <p:cNvPicPr>
                        <a:picLocks noChangeAspect="1" noChangeArrowheads="1"/>
                      </p:cNvPicPr>
                      <p:nvPr/>
                    </p:nvPicPr>
                    <p:blipFill>
                      <a:blip r:embed="rId5"/>
                      <a:srcRect/>
                      <a:stretch>
                        <a:fillRect/>
                      </a:stretch>
                    </p:blipFill>
                    <p:spPr bwMode="auto">
                      <a:xfrm>
                        <a:off x="2860447" y="3343275"/>
                        <a:ext cx="4511904" cy="1371600"/>
                      </a:xfrm>
                      <a:prstGeom prst="rect">
                        <a:avLst/>
                      </a:prstGeom>
                      <a:noFill/>
                      <a:ln>
                        <a:noFill/>
                      </a:ln>
                      <a:effectLst/>
                    </p:spPr>
                  </p:pic>
                </p:oleObj>
              </mc:Fallback>
            </mc:AlternateContent>
          </a:graphicData>
        </a:graphic>
      </p:graphicFrame>
      <p:graphicFrame>
        <p:nvGraphicFramePr>
          <p:cNvPr id="8" name="Object 3"/>
          <p:cNvGraphicFramePr>
            <a:graphicFrameLocks noChangeAspect="1"/>
          </p:cNvGraphicFramePr>
          <p:nvPr/>
        </p:nvGraphicFramePr>
        <p:xfrm>
          <a:off x="2825353" y="4886325"/>
          <a:ext cx="4371975" cy="942975"/>
        </p:xfrm>
        <a:graphic>
          <a:graphicData uri="http://schemas.openxmlformats.org/presentationml/2006/ole">
            <mc:AlternateContent xmlns:mc="http://schemas.openxmlformats.org/markup-compatibility/2006">
              <mc:Choice xmlns:v="urn:schemas-microsoft-com:vml" Requires="v">
                <p:oleObj name="Equation" r:id="rId6" imgW="1346200" imgH="292100" progId="Equation.3">
                  <p:embed/>
                </p:oleObj>
              </mc:Choice>
              <mc:Fallback>
                <p:oleObj name="Equation" r:id="rId6" imgW="1346200" imgH="292100" progId="Equation.3">
                  <p:embed/>
                  <p:pic>
                    <p:nvPicPr>
                      <p:cNvPr id="8" name="Object 3"/>
                      <p:cNvPicPr>
                        <a:picLocks noChangeAspect="1" noChangeArrowheads="1"/>
                      </p:cNvPicPr>
                      <p:nvPr/>
                    </p:nvPicPr>
                    <p:blipFill>
                      <a:blip r:embed="rId7"/>
                      <a:srcRect/>
                      <a:stretch>
                        <a:fillRect/>
                      </a:stretch>
                    </p:blipFill>
                    <p:spPr bwMode="auto">
                      <a:xfrm>
                        <a:off x="2825353" y="4886325"/>
                        <a:ext cx="4371975" cy="942975"/>
                      </a:xfrm>
                      <a:prstGeom prst="rect">
                        <a:avLst/>
                      </a:prstGeom>
                      <a:noFill/>
                      <a:ln>
                        <a:noFill/>
                      </a:ln>
                      <a:effectLst/>
                    </p:spPr>
                  </p:pic>
                </p:oleObj>
              </mc:Fallback>
            </mc:AlternateContent>
          </a:graphicData>
        </a:graphic>
      </p:graphicFrame>
      <p:sp>
        <p:nvSpPr>
          <p:cNvPr id="9" name="Text Box 16"/>
          <p:cNvSpPr txBox="1">
            <a:spLocks noChangeArrowheads="1"/>
          </p:cNvSpPr>
          <p:nvPr/>
        </p:nvSpPr>
        <p:spPr bwMode="auto">
          <a:xfrm>
            <a:off x="7029450" y="2314575"/>
            <a:ext cx="2743200" cy="923330"/>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dirty="0"/>
              <a:t>MAP is “maximum a posteriori”  = most likely class</a:t>
            </a:r>
          </a:p>
        </p:txBody>
      </p:sp>
      <p:sp>
        <p:nvSpPr>
          <p:cNvPr id="11" name="Text Box 16"/>
          <p:cNvSpPr txBox="1">
            <a:spLocks noChangeArrowheads="1"/>
          </p:cNvSpPr>
          <p:nvPr/>
        </p:nvSpPr>
        <p:spPr bwMode="auto">
          <a:xfrm>
            <a:off x="7800975" y="3771900"/>
            <a:ext cx="1885950" cy="369332"/>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dirty="0"/>
              <a:t>Bayes Rule</a:t>
            </a:r>
          </a:p>
        </p:txBody>
      </p:sp>
      <p:sp>
        <p:nvSpPr>
          <p:cNvPr id="12" name="Text Box 16"/>
          <p:cNvSpPr txBox="1">
            <a:spLocks noChangeArrowheads="1"/>
          </p:cNvSpPr>
          <p:nvPr/>
        </p:nvSpPr>
        <p:spPr bwMode="auto">
          <a:xfrm>
            <a:off x="7886700" y="4972051"/>
            <a:ext cx="1885950" cy="646331"/>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dirty="0"/>
              <a:t>Dropping the denominator</a:t>
            </a:r>
          </a:p>
        </p:txBody>
      </p:sp>
    </p:spTree>
    <p:extLst>
      <p:ext uri="{BB962C8B-B14F-4D97-AF65-F5344CB8AC3E}">
        <p14:creationId xmlns:p14="http://schemas.microsoft.com/office/powerpoint/2010/main" val="1097180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dirty="0"/>
              <a:t>Na</a:t>
            </a:r>
            <a:r>
              <a:rPr lang="fr-FR" dirty="0" err="1"/>
              <a:t>ï</a:t>
            </a:r>
            <a:r>
              <a:rPr lang="en-US" dirty="0" err="1"/>
              <a:t>ve</a:t>
            </a:r>
            <a:r>
              <a:rPr lang="en-US" dirty="0"/>
              <a:t> Bayes Classifier (II)</a:t>
            </a:r>
          </a:p>
        </p:txBody>
      </p:sp>
      <p:graphicFrame>
        <p:nvGraphicFramePr>
          <p:cNvPr id="5" name="Object 3"/>
          <p:cNvGraphicFramePr>
            <a:graphicFrameLocks noChangeAspect="1"/>
          </p:cNvGraphicFramePr>
          <p:nvPr/>
        </p:nvGraphicFramePr>
        <p:xfrm>
          <a:off x="428625" y="2314575"/>
          <a:ext cx="5513189" cy="969764"/>
        </p:xfrm>
        <a:graphic>
          <a:graphicData uri="http://schemas.openxmlformats.org/presentationml/2006/ole">
            <mc:AlternateContent xmlns:mc="http://schemas.openxmlformats.org/markup-compatibility/2006">
              <mc:Choice xmlns:v="urn:schemas-microsoft-com:vml" Requires="v">
                <p:oleObj name="Equation" r:id="rId2" imgW="1651000" imgH="292100" progId="Equation.3">
                  <p:embed/>
                </p:oleObj>
              </mc:Choice>
              <mc:Fallback>
                <p:oleObj name="Equation" r:id="rId2" imgW="1651000" imgH="292100" progId="Equation.3">
                  <p:embed/>
                  <p:pic>
                    <p:nvPicPr>
                      <p:cNvPr id="5" name="Object 3"/>
                      <p:cNvPicPr>
                        <a:picLocks noChangeAspect="1" noChangeArrowheads="1"/>
                      </p:cNvPicPr>
                      <p:nvPr/>
                    </p:nvPicPr>
                    <p:blipFill>
                      <a:blip r:embed="rId3"/>
                      <a:srcRect/>
                      <a:stretch>
                        <a:fillRect/>
                      </a:stretch>
                    </p:blipFill>
                    <p:spPr bwMode="auto">
                      <a:xfrm>
                        <a:off x="428625" y="2314575"/>
                        <a:ext cx="5513189" cy="969764"/>
                      </a:xfrm>
                      <a:prstGeom prst="rect">
                        <a:avLst/>
                      </a:prstGeom>
                      <a:noFill/>
                      <a:ln>
                        <a:noFill/>
                      </a:ln>
                      <a:effectLst/>
                    </p:spPr>
                  </p:pic>
                </p:oleObj>
              </mc:Fallback>
            </mc:AlternateContent>
          </a:graphicData>
        </a:graphic>
      </p:graphicFrame>
      <p:sp>
        <p:nvSpPr>
          <p:cNvPr id="11" name="Text Box 16"/>
          <p:cNvSpPr txBox="1">
            <a:spLocks noChangeArrowheads="1"/>
          </p:cNvSpPr>
          <p:nvPr/>
        </p:nvSpPr>
        <p:spPr bwMode="auto">
          <a:xfrm>
            <a:off x="8143875" y="3429001"/>
            <a:ext cx="1885950" cy="923330"/>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dirty="0"/>
              <a:t>Document d represented as features x1..xn</a:t>
            </a:r>
          </a:p>
        </p:txBody>
      </p:sp>
      <p:graphicFrame>
        <p:nvGraphicFramePr>
          <p:cNvPr id="10" name="Object 3"/>
          <p:cNvGraphicFramePr>
            <a:graphicFrameLocks noChangeAspect="1"/>
          </p:cNvGraphicFramePr>
          <p:nvPr/>
        </p:nvGraphicFramePr>
        <p:xfrm>
          <a:off x="1457326" y="3580806"/>
          <a:ext cx="6490097" cy="1010841"/>
        </p:xfrm>
        <a:graphic>
          <a:graphicData uri="http://schemas.openxmlformats.org/presentationml/2006/ole">
            <mc:AlternateContent xmlns:mc="http://schemas.openxmlformats.org/markup-compatibility/2006">
              <mc:Choice xmlns:v="urn:schemas-microsoft-com:vml" Requires="v">
                <p:oleObj name="Equation" r:id="rId4" imgW="1942920" imgH="304560" progId="Equation.3">
                  <p:embed/>
                </p:oleObj>
              </mc:Choice>
              <mc:Fallback>
                <p:oleObj name="Equation" r:id="rId4" imgW="1942920" imgH="304560" progId="Equation.3">
                  <p:embed/>
                  <p:pic>
                    <p:nvPicPr>
                      <p:cNvPr id="10" name="Object 3"/>
                      <p:cNvPicPr>
                        <a:picLocks noChangeAspect="1" noChangeArrowheads="1"/>
                      </p:cNvPicPr>
                      <p:nvPr/>
                    </p:nvPicPr>
                    <p:blipFill>
                      <a:blip r:embed="rId5"/>
                      <a:srcRect/>
                      <a:stretch>
                        <a:fillRect/>
                      </a:stretch>
                    </p:blipFill>
                    <p:spPr bwMode="auto">
                      <a:xfrm>
                        <a:off x="1457326" y="3580806"/>
                        <a:ext cx="6490097" cy="101084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614607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85725" y="566676"/>
            <a:ext cx="8572500" cy="835819"/>
          </a:xfrm>
        </p:spPr>
        <p:txBody>
          <a:bodyPr/>
          <a:lstStyle/>
          <a:p>
            <a:r>
              <a:rPr lang="en-US" dirty="0"/>
              <a:t>Na</a:t>
            </a:r>
            <a:r>
              <a:rPr lang="fr-FR" dirty="0" err="1"/>
              <a:t>ï</a:t>
            </a:r>
            <a:r>
              <a:rPr lang="en-US" dirty="0" err="1"/>
              <a:t>ve</a:t>
            </a:r>
            <a:r>
              <a:rPr lang="en-US" dirty="0"/>
              <a:t> Bayes Classifier (IV)</a:t>
            </a:r>
          </a:p>
        </p:txBody>
      </p:sp>
      <p:sp>
        <p:nvSpPr>
          <p:cNvPr id="11" name="Text Box 16"/>
          <p:cNvSpPr txBox="1">
            <a:spLocks noChangeArrowheads="1"/>
          </p:cNvSpPr>
          <p:nvPr/>
        </p:nvSpPr>
        <p:spPr bwMode="auto">
          <a:xfrm>
            <a:off x="7115175" y="3522829"/>
            <a:ext cx="2743200" cy="646331"/>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dirty="0"/>
              <a:t>How often does this class occur?</a:t>
            </a:r>
          </a:p>
        </p:txBody>
      </p:sp>
      <p:graphicFrame>
        <p:nvGraphicFramePr>
          <p:cNvPr id="10" name="Object 3"/>
          <p:cNvGraphicFramePr>
            <a:graphicFrameLocks noChangeAspect="1"/>
          </p:cNvGraphicFramePr>
          <p:nvPr/>
        </p:nvGraphicFramePr>
        <p:xfrm>
          <a:off x="837605" y="2207419"/>
          <a:ext cx="7508081" cy="1012627"/>
        </p:xfrm>
        <a:graphic>
          <a:graphicData uri="http://schemas.openxmlformats.org/presentationml/2006/ole">
            <mc:AlternateContent xmlns:mc="http://schemas.openxmlformats.org/markup-compatibility/2006">
              <mc:Choice xmlns:v="urn:schemas-microsoft-com:vml" Requires="v">
                <p:oleObj name="Equation" r:id="rId2" imgW="2247840" imgH="304560" progId="Equation.3">
                  <p:embed/>
                </p:oleObj>
              </mc:Choice>
              <mc:Fallback>
                <p:oleObj name="Equation" r:id="rId2" imgW="2247840" imgH="304560" progId="Equation.3">
                  <p:embed/>
                  <p:pic>
                    <p:nvPicPr>
                      <p:cNvPr id="10" name="Object 3"/>
                      <p:cNvPicPr>
                        <a:picLocks noChangeAspect="1" noChangeArrowheads="1"/>
                      </p:cNvPicPr>
                      <p:nvPr/>
                    </p:nvPicPr>
                    <p:blipFill>
                      <a:blip r:embed="rId3"/>
                      <a:srcRect/>
                      <a:stretch>
                        <a:fillRect/>
                      </a:stretch>
                    </p:blipFill>
                    <p:spPr bwMode="auto">
                      <a:xfrm>
                        <a:off x="837605" y="2207419"/>
                        <a:ext cx="7508081" cy="1012627"/>
                      </a:xfrm>
                      <a:prstGeom prst="rect">
                        <a:avLst/>
                      </a:prstGeom>
                      <a:noFill/>
                      <a:ln>
                        <a:noFill/>
                      </a:ln>
                      <a:effectLst/>
                    </p:spPr>
                  </p:pic>
                </p:oleObj>
              </mc:Fallback>
            </mc:AlternateContent>
          </a:graphicData>
        </a:graphic>
      </p:graphicFrame>
      <p:sp>
        <p:nvSpPr>
          <p:cNvPr id="6" name="Text Box 16"/>
          <p:cNvSpPr txBox="1">
            <a:spLocks noChangeArrowheads="1"/>
          </p:cNvSpPr>
          <p:nvPr/>
        </p:nvSpPr>
        <p:spPr bwMode="auto">
          <a:xfrm>
            <a:off x="1800225" y="3463358"/>
            <a:ext cx="4886325" cy="369332"/>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lvl="1" eaLnBrk="1" hangingPunct="1"/>
            <a:r>
              <a:rPr lang="en-US" dirty="0">
                <a:latin typeface="Calibri" charset="0"/>
                <a:cs typeface="Arial" charset="0"/>
              </a:rPr>
              <a:t>O(|</a:t>
            </a:r>
            <a:r>
              <a:rPr lang="en-US" i="1" dirty="0" err="1">
                <a:latin typeface="Calibri" charset="0"/>
                <a:cs typeface="Arial" charset="0"/>
              </a:rPr>
              <a:t>X</a:t>
            </a:r>
            <a:r>
              <a:rPr lang="en-US" dirty="0" err="1">
                <a:latin typeface="Calibri" charset="0"/>
                <a:cs typeface="Arial" charset="0"/>
              </a:rPr>
              <a:t>|</a:t>
            </a:r>
            <a:r>
              <a:rPr lang="en-US" i="1" baseline="30000" dirty="0" err="1">
                <a:latin typeface="Calibri" charset="0"/>
                <a:cs typeface="Arial" charset="0"/>
              </a:rPr>
              <a:t>n</a:t>
            </a:r>
            <a:r>
              <a:rPr lang="en-US" dirty="0">
                <a:latin typeface="Calibri" charset="0"/>
                <a:cs typeface="Arial" charset="0"/>
                <a:sym typeface="Symbol" charset="0"/>
              </a:rPr>
              <a:t>•|</a:t>
            </a:r>
            <a:r>
              <a:rPr lang="en-US" i="1" dirty="0">
                <a:latin typeface="Calibri" charset="0"/>
                <a:cs typeface="Arial" charset="0"/>
                <a:sym typeface="Symbol" charset="0"/>
              </a:rPr>
              <a:t>C</a:t>
            </a:r>
            <a:r>
              <a:rPr lang="en-US" dirty="0">
                <a:latin typeface="Calibri" charset="0"/>
                <a:cs typeface="Arial" charset="0"/>
                <a:sym typeface="Symbol" charset="0"/>
              </a:rPr>
              <a:t>|) parameters</a:t>
            </a:r>
            <a:endParaRPr lang="en-US" dirty="0">
              <a:latin typeface="Calibri" charset="0"/>
              <a:cs typeface="Arial" charset="0"/>
            </a:endParaRPr>
          </a:p>
        </p:txBody>
      </p:sp>
      <p:sp>
        <p:nvSpPr>
          <p:cNvPr id="8" name="Text Box 16"/>
          <p:cNvSpPr txBox="1">
            <a:spLocks noChangeArrowheads="1"/>
          </p:cNvSpPr>
          <p:nvPr/>
        </p:nvSpPr>
        <p:spPr bwMode="auto">
          <a:xfrm>
            <a:off x="7200900" y="4637254"/>
            <a:ext cx="2743200" cy="923330"/>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dirty="0"/>
              <a:t>We can just count the relative frequencies in a corpus</a:t>
            </a:r>
          </a:p>
        </p:txBody>
      </p:sp>
      <p:sp>
        <p:nvSpPr>
          <p:cNvPr id="9" name="Text Box 16"/>
          <p:cNvSpPr txBox="1">
            <a:spLocks noChangeArrowheads="1"/>
          </p:cNvSpPr>
          <p:nvPr/>
        </p:nvSpPr>
        <p:spPr bwMode="auto">
          <a:xfrm>
            <a:off x="1800225" y="4320607"/>
            <a:ext cx="4886325" cy="646331"/>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lvl="1" eaLnBrk="1" hangingPunct="1"/>
            <a:r>
              <a:rPr lang="en-US" dirty="0">
                <a:latin typeface="Calibri" charset="0"/>
              </a:rPr>
              <a:t>Could only be estimated if a very, very large number of training examples was available.</a:t>
            </a:r>
          </a:p>
        </p:txBody>
      </p:sp>
    </p:spTree>
    <p:extLst>
      <p:ext uri="{BB962C8B-B14F-4D97-AF65-F5344CB8AC3E}">
        <p14:creationId xmlns:p14="http://schemas.microsoft.com/office/powerpoint/2010/main" val="31487170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0" y="535781"/>
            <a:ext cx="10201275" cy="1264444"/>
          </a:xfrm>
        </p:spPr>
        <p:txBody>
          <a:bodyPr/>
          <a:lstStyle/>
          <a:p>
            <a:r>
              <a:rPr lang="en-US" dirty="0"/>
              <a:t>Multinomial Na</a:t>
            </a:r>
            <a:r>
              <a:rPr lang="fr-FR" dirty="0" err="1"/>
              <a:t>ï</a:t>
            </a:r>
            <a:r>
              <a:rPr lang="en-US" dirty="0" err="1"/>
              <a:t>ve</a:t>
            </a:r>
            <a:r>
              <a:rPr lang="en-US" dirty="0"/>
              <a:t> Bayes Independence Assumptions</a:t>
            </a:r>
          </a:p>
        </p:txBody>
      </p:sp>
      <p:graphicFrame>
        <p:nvGraphicFramePr>
          <p:cNvPr id="10" name="Object 3"/>
          <p:cNvGraphicFramePr>
            <a:graphicFrameLocks noChangeAspect="1"/>
          </p:cNvGraphicFramePr>
          <p:nvPr/>
        </p:nvGraphicFramePr>
        <p:xfrm>
          <a:off x="2930724" y="1864519"/>
          <a:ext cx="3562945" cy="759024"/>
        </p:xfrm>
        <a:graphic>
          <a:graphicData uri="http://schemas.openxmlformats.org/presentationml/2006/ole">
            <mc:AlternateContent xmlns:mc="http://schemas.openxmlformats.org/markup-compatibility/2006">
              <mc:Choice xmlns:v="urn:schemas-microsoft-com:vml" Requires="v">
                <p:oleObj name="Equation" r:id="rId2" imgW="1066680" imgH="228600" progId="Equation.3">
                  <p:embed/>
                </p:oleObj>
              </mc:Choice>
              <mc:Fallback>
                <p:oleObj name="Equation" r:id="rId2" imgW="1066680" imgH="228600" progId="Equation.3">
                  <p:embed/>
                  <p:pic>
                    <p:nvPicPr>
                      <p:cNvPr id="10" name="Object 3"/>
                      <p:cNvPicPr>
                        <a:picLocks noChangeAspect="1" noChangeArrowheads="1"/>
                      </p:cNvPicPr>
                      <p:nvPr/>
                    </p:nvPicPr>
                    <p:blipFill>
                      <a:blip r:embed="rId3"/>
                      <a:srcRect/>
                      <a:stretch>
                        <a:fillRect/>
                      </a:stretch>
                    </p:blipFill>
                    <p:spPr bwMode="auto">
                      <a:xfrm>
                        <a:off x="2930724" y="1864519"/>
                        <a:ext cx="3562945" cy="759024"/>
                      </a:xfrm>
                      <a:prstGeom prst="rect">
                        <a:avLst/>
                      </a:prstGeom>
                      <a:noFill/>
                      <a:ln>
                        <a:noFill/>
                      </a:ln>
                      <a:effectLst/>
                    </p:spPr>
                  </p:pic>
                </p:oleObj>
              </mc:Fallback>
            </mc:AlternateContent>
          </a:graphicData>
        </a:graphic>
      </p:graphicFrame>
      <p:sp>
        <p:nvSpPr>
          <p:cNvPr id="12" name="Rectangle 3"/>
          <p:cNvSpPr>
            <a:spLocks noGrp="1" noChangeArrowheads="1"/>
          </p:cNvSpPr>
          <p:nvPr>
            <p:ph sz="quarter" idx="1"/>
          </p:nvPr>
        </p:nvSpPr>
        <p:spPr>
          <a:xfrm>
            <a:off x="342900" y="3000375"/>
            <a:ext cx="9772650" cy="2914650"/>
          </a:xfrm>
        </p:spPr>
        <p:txBody>
          <a:bodyPr/>
          <a:lstStyle/>
          <a:p>
            <a:r>
              <a:rPr lang="en-US" sz="3150" b="1" dirty="0">
                <a:latin typeface="Calibri" charset="0"/>
                <a:sym typeface="Symbol" charset="2"/>
              </a:rPr>
              <a:t>Bag of Words assumption</a:t>
            </a:r>
            <a:r>
              <a:rPr lang="en-US" sz="3150" dirty="0">
                <a:latin typeface="Calibri" charset="0"/>
                <a:sym typeface="Symbol" charset="2"/>
              </a:rPr>
              <a:t>: Assume position doesn’t matter</a:t>
            </a:r>
          </a:p>
          <a:p>
            <a:r>
              <a:rPr lang="en-US" sz="3150" b="1" dirty="0">
                <a:latin typeface="Calibri" charset="0"/>
                <a:sym typeface="Symbol" charset="2"/>
              </a:rPr>
              <a:t>Conditional Independence</a:t>
            </a:r>
            <a:r>
              <a:rPr lang="en-US" sz="3150" dirty="0">
                <a:latin typeface="Calibri" charset="0"/>
                <a:sym typeface="Symbol" charset="2"/>
              </a:rPr>
              <a:t>: Assume the feature probabilities </a:t>
            </a:r>
            <a:r>
              <a:rPr lang="en-US" sz="3150" i="1" dirty="0">
                <a:latin typeface="Calibri" charset="0"/>
                <a:sym typeface="Symbol" charset="2"/>
              </a:rPr>
              <a:t>P</a:t>
            </a:r>
            <a:r>
              <a:rPr lang="en-US" sz="3150" dirty="0">
                <a:latin typeface="Calibri" charset="0"/>
                <a:sym typeface="Symbol" charset="2"/>
              </a:rPr>
              <a:t>(</a:t>
            </a:r>
            <a:r>
              <a:rPr lang="en-US" sz="3150" i="1" dirty="0" err="1">
                <a:latin typeface="Calibri" charset="0"/>
                <a:sym typeface="Symbol" charset="2"/>
              </a:rPr>
              <a:t>x</a:t>
            </a:r>
            <a:r>
              <a:rPr lang="en-US" sz="3150" i="1" baseline="-25000" dirty="0" err="1">
                <a:latin typeface="Calibri" charset="0"/>
                <a:sym typeface="Symbol" charset="2"/>
              </a:rPr>
              <a:t>i</a:t>
            </a:r>
            <a:r>
              <a:rPr lang="en-US" sz="3150" dirty="0" err="1">
                <a:latin typeface="Calibri" charset="0"/>
                <a:sym typeface="Symbol" charset="2"/>
              </a:rPr>
              <a:t>|</a:t>
            </a:r>
            <a:r>
              <a:rPr lang="en-US" sz="3150" i="1" dirty="0" err="1">
                <a:latin typeface="Calibri" charset="0"/>
                <a:sym typeface="Symbol" charset="2"/>
              </a:rPr>
              <a:t>c</a:t>
            </a:r>
            <a:r>
              <a:rPr lang="en-US" sz="3150" i="1" baseline="-25000" dirty="0" err="1">
                <a:latin typeface="Calibri" charset="0"/>
                <a:sym typeface="Symbol" charset="2"/>
              </a:rPr>
              <a:t>j</a:t>
            </a:r>
            <a:r>
              <a:rPr lang="en-US" sz="3150" dirty="0">
                <a:latin typeface="Calibri" charset="0"/>
                <a:sym typeface="Symbol" charset="2"/>
              </a:rPr>
              <a:t>) are independent given the class </a:t>
            </a:r>
            <a:r>
              <a:rPr lang="en-US" sz="3150" i="1" dirty="0">
                <a:latin typeface="Calibri" charset="0"/>
                <a:sym typeface="Symbol" charset="2"/>
              </a:rPr>
              <a:t>c.</a:t>
            </a:r>
            <a:endParaRPr lang="en-US" sz="3150" i="1" dirty="0">
              <a:latin typeface="Times New Roman" charset="0"/>
            </a:endParaRPr>
          </a:p>
        </p:txBody>
      </p:sp>
      <p:graphicFrame>
        <p:nvGraphicFramePr>
          <p:cNvPr id="13" name="Object 2"/>
          <p:cNvGraphicFramePr>
            <a:graphicFrameLocks noChangeAspect="1"/>
          </p:cNvGraphicFramePr>
          <p:nvPr/>
        </p:nvGraphicFramePr>
        <p:xfrm>
          <a:off x="666155" y="5384603"/>
          <a:ext cx="8963620" cy="575072"/>
        </p:xfrm>
        <a:graphic>
          <a:graphicData uri="http://schemas.openxmlformats.org/presentationml/2006/ole">
            <mc:AlternateContent xmlns:mc="http://schemas.openxmlformats.org/markup-compatibility/2006">
              <mc:Choice xmlns:v="urn:schemas-microsoft-com:vml" Requires="v">
                <p:oleObj name="Equation" r:id="rId4" imgW="3555720" imgH="228600" progId="Equation.3">
                  <p:embed/>
                </p:oleObj>
              </mc:Choice>
              <mc:Fallback>
                <p:oleObj name="Equation" r:id="rId4" imgW="3555720" imgH="228600" progId="Equation.3">
                  <p:embed/>
                  <p:pic>
                    <p:nvPicPr>
                      <p:cNvPr id="13" name="Object 2"/>
                      <p:cNvPicPr>
                        <a:picLocks noChangeAspect="1" noChangeArrowheads="1"/>
                      </p:cNvPicPr>
                      <p:nvPr/>
                    </p:nvPicPr>
                    <p:blipFill>
                      <a:blip r:embed="rId5"/>
                      <a:srcRect/>
                      <a:stretch>
                        <a:fillRect/>
                      </a:stretch>
                    </p:blipFill>
                    <p:spPr bwMode="auto">
                      <a:xfrm>
                        <a:off x="666155" y="5384603"/>
                        <a:ext cx="8963620" cy="57507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874898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35627" y="535781"/>
            <a:ext cx="8572500" cy="835819"/>
          </a:xfrm>
        </p:spPr>
        <p:txBody>
          <a:bodyPr/>
          <a:lstStyle/>
          <a:p>
            <a:r>
              <a:rPr lang="en-US" dirty="0"/>
              <a:t>Multinomial Na</a:t>
            </a:r>
            <a:r>
              <a:rPr lang="fr-FR" dirty="0" err="1"/>
              <a:t>ï</a:t>
            </a:r>
            <a:r>
              <a:rPr lang="en-US" dirty="0" err="1"/>
              <a:t>ve</a:t>
            </a:r>
            <a:r>
              <a:rPr lang="en-US" dirty="0"/>
              <a:t> Bayes Classifier</a:t>
            </a:r>
          </a:p>
        </p:txBody>
      </p:sp>
      <p:graphicFrame>
        <p:nvGraphicFramePr>
          <p:cNvPr id="10" name="Object 3"/>
          <p:cNvGraphicFramePr>
            <a:graphicFrameLocks noChangeAspect="1"/>
          </p:cNvGraphicFramePr>
          <p:nvPr/>
        </p:nvGraphicFramePr>
        <p:xfrm>
          <a:off x="837605" y="2207419"/>
          <a:ext cx="7508081" cy="1012627"/>
        </p:xfrm>
        <a:graphic>
          <a:graphicData uri="http://schemas.openxmlformats.org/presentationml/2006/ole">
            <mc:AlternateContent xmlns:mc="http://schemas.openxmlformats.org/markup-compatibility/2006">
              <mc:Choice xmlns:v="urn:schemas-microsoft-com:vml" Requires="v">
                <p:oleObj name="Equation" r:id="rId2" imgW="2247840" imgH="304560" progId="Equation.3">
                  <p:embed/>
                </p:oleObj>
              </mc:Choice>
              <mc:Fallback>
                <p:oleObj name="Equation" r:id="rId2" imgW="2247840" imgH="304560" progId="Equation.3">
                  <p:embed/>
                  <p:pic>
                    <p:nvPicPr>
                      <p:cNvPr id="10" name="Object 3"/>
                      <p:cNvPicPr>
                        <a:picLocks noChangeAspect="1" noChangeArrowheads="1"/>
                      </p:cNvPicPr>
                      <p:nvPr/>
                    </p:nvPicPr>
                    <p:blipFill>
                      <a:blip r:embed="rId3"/>
                      <a:srcRect/>
                      <a:stretch>
                        <a:fillRect/>
                      </a:stretch>
                    </p:blipFill>
                    <p:spPr bwMode="auto">
                      <a:xfrm>
                        <a:off x="837605" y="2207419"/>
                        <a:ext cx="7508081" cy="1012627"/>
                      </a:xfrm>
                      <a:prstGeom prst="rect">
                        <a:avLst/>
                      </a:prstGeom>
                      <a:noFill/>
                      <a:ln>
                        <a:noFill/>
                      </a:ln>
                      <a:effectLst/>
                    </p:spPr>
                  </p:pic>
                </p:oleObj>
              </mc:Fallback>
            </mc:AlternateContent>
          </a:graphicData>
        </a:graphic>
      </p:graphicFrame>
      <p:graphicFrame>
        <p:nvGraphicFramePr>
          <p:cNvPr id="12" name="Object 2"/>
          <p:cNvGraphicFramePr>
            <a:graphicFrameLocks noChangeAspect="1"/>
          </p:cNvGraphicFramePr>
          <p:nvPr/>
        </p:nvGraphicFramePr>
        <p:xfrm>
          <a:off x="1071562" y="3650457"/>
          <a:ext cx="6252568" cy="1191221"/>
        </p:xfrm>
        <a:graphic>
          <a:graphicData uri="http://schemas.openxmlformats.org/presentationml/2006/ole">
            <mc:AlternateContent xmlns:mc="http://schemas.openxmlformats.org/markup-compatibility/2006">
              <mc:Choice xmlns:v="urn:schemas-microsoft-com:vml" Requires="v">
                <p:oleObj name="Equation" r:id="rId4" imgW="1803240" imgH="342720" progId="Equation.3">
                  <p:embed/>
                </p:oleObj>
              </mc:Choice>
              <mc:Fallback>
                <p:oleObj name="Equation" r:id="rId4" imgW="1803240" imgH="342720" progId="Equation.3">
                  <p:embed/>
                  <p:pic>
                    <p:nvPicPr>
                      <p:cNvPr id="12" name="Object 2"/>
                      <p:cNvPicPr>
                        <a:picLocks noChangeAspect="1" noChangeArrowheads="1"/>
                      </p:cNvPicPr>
                      <p:nvPr/>
                    </p:nvPicPr>
                    <p:blipFill>
                      <a:blip r:embed="rId5"/>
                      <a:srcRect/>
                      <a:stretch>
                        <a:fillRect/>
                      </a:stretch>
                    </p:blipFill>
                    <p:spPr bwMode="auto">
                      <a:xfrm>
                        <a:off x="1071562" y="3650457"/>
                        <a:ext cx="6252568" cy="119122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6272809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02053" y="923352"/>
            <a:ext cx="9670597" cy="835819"/>
          </a:xfrm>
        </p:spPr>
        <p:txBody>
          <a:bodyPr/>
          <a:lstStyle/>
          <a:p>
            <a:r>
              <a:rPr lang="en-US" dirty="0"/>
              <a:t>Applying Multinomial Naive Bayes Classifiers to Text Classification</a:t>
            </a:r>
          </a:p>
        </p:txBody>
      </p:sp>
      <p:graphicFrame>
        <p:nvGraphicFramePr>
          <p:cNvPr id="5" name="Object 2"/>
          <p:cNvGraphicFramePr>
            <a:graphicFrameLocks noChangeAspect="1"/>
          </p:cNvGraphicFramePr>
          <p:nvPr/>
        </p:nvGraphicFramePr>
        <p:xfrm>
          <a:off x="1714500" y="3943351"/>
          <a:ext cx="6800850" cy="1241227"/>
        </p:xfrm>
        <a:graphic>
          <a:graphicData uri="http://schemas.openxmlformats.org/presentationml/2006/ole">
            <mc:AlternateContent xmlns:mc="http://schemas.openxmlformats.org/markup-compatibility/2006">
              <mc:Choice xmlns:v="urn:schemas-microsoft-com:vml" Requires="v">
                <p:oleObj name="Equation" r:id="rId2" imgW="2146300" imgH="393700" progId="Equation.3">
                  <p:embed/>
                </p:oleObj>
              </mc:Choice>
              <mc:Fallback>
                <p:oleObj name="Equation" r:id="rId2" imgW="2146300" imgH="393700" progId="Equation.3">
                  <p:embed/>
                  <p:pic>
                    <p:nvPicPr>
                      <p:cNvPr id="5" name="Object 2"/>
                      <p:cNvPicPr>
                        <a:picLocks noChangeAspect="1" noChangeArrowheads="1"/>
                      </p:cNvPicPr>
                      <p:nvPr/>
                    </p:nvPicPr>
                    <p:blipFill>
                      <a:blip r:embed="rId3"/>
                      <a:srcRect/>
                      <a:stretch>
                        <a:fillRect/>
                      </a:stretch>
                    </p:blipFill>
                    <p:spPr bwMode="auto">
                      <a:xfrm>
                        <a:off x="1714500" y="3943351"/>
                        <a:ext cx="6800850" cy="124122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TextBox 1"/>
          <p:cNvSpPr txBox="1"/>
          <p:nvPr/>
        </p:nvSpPr>
        <p:spPr>
          <a:xfrm>
            <a:off x="771526" y="2314575"/>
            <a:ext cx="8572500" cy="1061829"/>
          </a:xfrm>
          <a:prstGeom prst="rect">
            <a:avLst/>
          </a:prstGeom>
          <a:noFill/>
        </p:spPr>
        <p:txBody>
          <a:bodyPr wrap="square" rtlCol="0">
            <a:spAutoFit/>
          </a:bodyPr>
          <a:lstStyle/>
          <a:p>
            <a:pPr eaLnBrk="1" hangingPunct="1"/>
            <a:r>
              <a:rPr lang="en-US" sz="3150" dirty="0">
                <a:latin typeface="Times New Roman" charset="0"/>
              </a:rPr>
              <a:t>positions </a:t>
            </a:r>
            <a:r>
              <a:rPr lang="en-US" sz="3150" dirty="0">
                <a:latin typeface="Calibri" charset="0"/>
                <a:sym typeface="Symbol" charset="0"/>
              </a:rPr>
              <a:t> all word positions in test document      			</a:t>
            </a:r>
            <a:endParaRPr lang="en-US" sz="3150" i="1" dirty="0">
              <a:latin typeface="Times New Roman" charset="0"/>
            </a:endParaRPr>
          </a:p>
        </p:txBody>
      </p:sp>
    </p:spTree>
    <p:extLst>
      <p:ext uri="{BB962C8B-B14F-4D97-AF65-F5344CB8AC3E}">
        <p14:creationId xmlns:p14="http://schemas.microsoft.com/office/powerpoint/2010/main" val="21608980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4457700" y="685800"/>
            <a:ext cx="5400675" cy="2143125"/>
          </a:xfrm>
        </p:spPr>
        <p:txBody>
          <a:bodyPr/>
          <a:lstStyle/>
          <a:p>
            <a:r>
              <a:rPr lang="en-US" sz="4500">
                <a:latin typeface="Calibri (Headings)"/>
                <a:cs typeface="Calibri (Headings)"/>
              </a:rPr>
              <a:t>Text Classification and Na</a:t>
            </a:r>
            <a:r>
              <a:rPr lang="fr-FR" sz="4500">
                <a:latin typeface="Calibri (Headings)"/>
                <a:cs typeface="Calibri (Headings)"/>
              </a:rPr>
              <a:t>ï</a:t>
            </a:r>
            <a:r>
              <a:rPr lang="en-US" sz="4500">
                <a:latin typeface="Calibri (Headings)"/>
                <a:cs typeface="Calibri (Headings)"/>
              </a:rPr>
              <a:t>ve Bayes</a:t>
            </a:r>
            <a:endParaRPr lang="en-US" sz="45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4050" dirty="0">
                <a:solidFill>
                  <a:srgbClr val="A4001D"/>
                </a:solidFill>
                <a:latin typeface="Calibri"/>
                <a:ea typeface="ＭＳ Ｐゴシック" charset="0"/>
                <a:cs typeface="Calibri"/>
              </a:rPr>
              <a:t>Na</a:t>
            </a:r>
            <a:r>
              <a:rPr lang="fr-FR" sz="4050" dirty="0" err="1">
                <a:solidFill>
                  <a:srgbClr val="A4001D"/>
                </a:solidFill>
                <a:latin typeface="Calibri"/>
                <a:ea typeface="ＭＳ Ｐゴシック" charset="0"/>
                <a:cs typeface="Calibri"/>
              </a:rPr>
              <a:t>ï</a:t>
            </a:r>
            <a:r>
              <a:rPr lang="en-US" sz="4050" dirty="0" err="1">
                <a:solidFill>
                  <a:srgbClr val="A4001D"/>
                </a:solidFill>
                <a:latin typeface="Calibri"/>
                <a:ea typeface="ＭＳ Ｐゴシック" charset="0"/>
                <a:cs typeface="Calibri"/>
              </a:rPr>
              <a:t>ve</a:t>
            </a:r>
            <a:r>
              <a:rPr lang="en-US" sz="4050" dirty="0">
                <a:solidFill>
                  <a:srgbClr val="A4001D"/>
                </a:solidFill>
                <a:latin typeface="Calibri"/>
                <a:ea typeface="ＭＳ Ｐゴシック" charset="0"/>
                <a:cs typeface="Calibri"/>
              </a:rPr>
              <a:t> Bayes: Learning</a:t>
            </a:r>
          </a:p>
        </p:txBody>
      </p:sp>
    </p:spTree>
    <p:extLst>
      <p:ext uri="{BB962C8B-B14F-4D97-AF65-F5344CB8AC3E}">
        <p14:creationId xmlns:p14="http://schemas.microsoft.com/office/powerpoint/2010/main" val="210445638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171451" y="613251"/>
            <a:ext cx="8401050" cy="835819"/>
          </a:xfrm>
        </p:spPr>
        <p:txBody>
          <a:bodyPr/>
          <a:lstStyle/>
          <a:p>
            <a:pPr eaLnBrk="1" hangingPunct="1"/>
            <a:r>
              <a:rPr lang="en-US" sz="3375" dirty="0">
                <a:latin typeface="Calibri" charset="0"/>
                <a:ea typeface="ＭＳ Ｐゴシック" charset="0"/>
                <a:cs typeface="ＭＳ Ｐゴシック" charset="0"/>
              </a:rPr>
              <a:t>Learning the Multinomial Na</a:t>
            </a:r>
            <a:r>
              <a:rPr lang="fr-FR" sz="3375" dirty="0" err="1">
                <a:latin typeface="Calibri" charset="0"/>
                <a:ea typeface="ＭＳ Ｐゴシック" charset="0"/>
                <a:cs typeface="ＭＳ Ｐゴシック" charset="0"/>
              </a:rPr>
              <a:t>ï</a:t>
            </a:r>
            <a:r>
              <a:rPr lang="en-US" sz="3375" dirty="0" err="1">
                <a:latin typeface="Calibri" charset="0"/>
                <a:ea typeface="ＭＳ Ｐゴシック" charset="0"/>
                <a:cs typeface="ＭＳ Ｐゴシック" charset="0"/>
              </a:rPr>
              <a:t>ve</a:t>
            </a:r>
            <a:r>
              <a:rPr lang="en-US" sz="3375" dirty="0">
                <a:latin typeface="Calibri" charset="0"/>
                <a:ea typeface="ＭＳ Ｐゴシック" charset="0"/>
                <a:cs typeface="ＭＳ Ｐゴシック" charset="0"/>
              </a:rPr>
              <a:t> Bayes Model</a:t>
            </a:r>
          </a:p>
        </p:txBody>
      </p:sp>
      <p:sp>
        <p:nvSpPr>
          <p:cNvPr id="41986" name="Rectangle 3"/>
          <p:cNvSpPr>
            <a:spLocks noGrp="1" noChangeArrowheads="1"/>
          </p:cNvSpPr>
          <p:nvPr>
            <p:ph type="body" idx="1"/>
          </p:nvPr>
        </p:nvSpPr>
        <p:spPr>
          <a:xfrm>
            <a:off x="600075" y="2057400"/>
            <a:ext cx="9086850" cy="1628775"/>
          </a:xfrm>
        </p:spPr>
        <p:txBody>
          <a:bodyPr/>
          <a:lstStyle/>
          <a:p>
            <a:pPr eaLnBrk="1" hangingPunct="1"/>
            <a:r>
              <a:rPr lang="en-US" sz="3600" dirty="0">
                <a:latin typeface="Calibri" charset="0"/>
                <a:ea typeface="ＭＳ Ｐゴシック" charset="0"/>
                <a:cs typeface="ＭＳ Ｐゴシック" charset="0"/>
              </a:rPr>
              <a:t>First attempt: maximum likelihood estimates</a:t>
            </a:r>
          </a:p>
          <a:p>
            <a:pPr lvl="1" eaLnBrk="1" hangingPunct="1"/>
            <a:r>
              <a:rPr lang="en-US" sz="3150" dirty="0">
                <a:latin typeface="Calibri" charset="0"/>
                <a:ea typeface="ＭＳ Ｐゴシック" charset="0"/>
              </a:rPr>
              <a:t>simply use the frequencies in the data</a:t>
            </a:r>
          </a:p>
        </p:txBody>
      </p:sp>
      <p:sp>
        <p:nvSpPr>
          <p:cNvPr id="41990" name="TextBox 20"/>
          <p:cNvSpPr txBox="1">
            <a:spLocks noChangeArrowheads="1"/>
          </p:cNvSpPr>
          <p:nvPr/>
        </p:nvSpPr>
        <p:spPr bwMode="auto">
          <a:xfrm>
            <a:off x="8572502" y="465638"/>
            <a:ext cx="114165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800">
                <a:solidFill>
                  <a:srgbClr val="FBFCFF"/>
                </a:solidFill>
              </a:rPr>
              <a:t>Sec.13.3</a:t>
            </a:r>
          </a:p>
        </p:txBody>
      </p:sp>
      <p:graphicFrame>
        <p:nvGraphicFramePr>
          <p:cNvPr id="60" name="Object 2"/>
          <p:cNvGraphicFramePr>
            <a:graphicFrameLocks noChangeAspect="1"/>
          </p:cNvGraphicFramePr>
          <p:nvPr/>
        </p:nvGraphicFramePr>
        <p:xfrm>
          <a:off x="2846286" y="4660598"/>
          <a:ext cx="4354615" cy="1454452"/>
        </p:xfrm>
        <a:graphic>
          <a:graphicData uri="http://schemas.openxmlformats.org/presentationml/2006/ole">
            <mc:AlternateContent xmlns:mc="http://schemas.openxmlformats.org/markup-compatibility/2006">
              <mc:Choice xmlns:v="urn:schemas-microsoft-com:vml" Requires="v">
                <p:oleObj name="Equation" r:id="rId2" imgW="1739900" imgH="584200" progId="Equation.3">
                  <p:embed/>
                </p:oleObj>
              </mc:Choice>
              <mc:Fallback>
                <p:oleObj name="Equation" r:id="rId2" imgW="1739900" imgH="584200" progId="Equation.3">
                  <p:embed/>
                  <p:pic>
                    <p:nvPicPr>
                      <p:cNvPr id="60" name="Object 2"/>
                      <p:cNvPicPr>
                        <a:picLocks noChangeAspect="1" noChangeArrowheads="1"/>
                      </p:cNvPicPr>
                      <p:nvPr/>
                    </p:nvPicPr>
                    <p:blipFill>
                      <a:blip r:embed="rId3"/>
                      <a:srcRect/>
                      <a:stretch>
                        <a:fillRect/>
                      </a:stretch>
                    </p:blipFill>
                    <p:spPr bwMode="auto">
                      <a:xfrm>
                        <a:off x="2846286" y="4660598"/>
                        <a:ext cx="4354615" cy="1454452"/>
                      </a:xfrm>
                      <a:prstGeom prst="rect">
                        <a:avLst/>
                      </a:prstGeom>
                      <a:noFill/>
                      <a:ln>
                        <a:noFill/>
                      </a:ln>
                      <a:effectLst/>
                    </p:spPr>
                  </p:pic>
                </p:oleObj>
              </mc:Fallback>
            </mc:AlternateContent>
          </a:graphicData>
        </a:graphic>
      </p:graphicFrame>
      <p:graphicFrame>
        <p:nvGraphicFramePr>
          <p:cNvPr id="61" name="Object 3"/>
          <p:cNvGraphicFramePr>
            <a:graphicFrameLocks noChangeAspect="1"/>
          </p:cNvGraphicFramePr>
          <p:nvPr/>
        </p:nvGraphicFramePr>
        <p:xfrm>
          <a:off x="3385710" y="3452855"/>
          <a:ext cx="3964780" cy="1103282"/>
        </p:xfrm>
        <a:graphic>
          <a:graphicData uri="http://schemas.openxmlformats.org/presentationml/2006/ole">
            <mc:AlternateContent xmlns:mc="http://schemas.openxmlformats.org/markup-compatibility/2006">
              <mc:Choice xmlns:v="urn:schemas-microsoft-com:vml" Requires="v">
                <p:oleObj name="Equation" r:id="rId4" imgW="1587500" imgH="444500" progId="Equation.3">
                  <p:embed/>
                </p:oleObj>
              </mc:Choice>
              <mc:Fallback>
                <p:oleObj name="Equation" r:id="rId4" imgW="1587500" imgH="444500" progId="Equation.3">
                  <p:embed/>
                  <p:pic>
                    <p:nvPicPr>
                      <p:cNvPr id="61" name="Object 3"/>
                      <p:cNvPicPr>
                        <a:picLocks noChangeAspect="1" noChangeArrowheads="1"/>
                      </p:cNvPicPr>
                      <p:nvPr/>
                    </p:nvPicPr>
                    <p:blipFill>
                      <a:blip r:embed="rId5"/>
                      <a:srcRect/>
                      <a:stretch>
                        <a:fillRect/>
                      </a:stretch>
                    </p:blipFill>
                    <p:spPr bwMode="auto">
                      <a:xfrm>
                        <a:off x="3385710" y="3452855"/>
                        <a:ext cx="3964780" cy="110328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3297703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4"/>
          <p:cNvSpPr>
            <a:spLocks noGrp="1" noChangeArrowheads="1"/>
          </p:cNvSpPr>
          <p:nvPr>
            <p:ph type="body" idx="1"/>
          </p:nvPr>
        </p:nvSpPr>
        <p:spPr>
          <a:xfrm>
            <a:off x="514350" y="3943350"/>
            <a:ext cx="9344025" cy="1800225"/>
          </a:xfrm>
        </p:spPr>
        <p:txBody>
          <a:bodyPr/>
          <a:lstStyle/>
          <a:p>
            <a:pPr>
              <a:lnSpc>
                <a:spcPct val="90000"/>
              </a:lnSpc>
            </a:pPr>
            <a:r>
              <a:rPr lang="en-US" dirty="0">
                <a:ea typeface="ＭＳ Ｐゴシック" charset="0"/>
                <a:cs typeface="Calibri"/>
              </a:rPr>
              <a:t>Create mega-document for topic </a:t>
            </a:r>
            <a:r>
              <a:rPr lang="en-US" i="1" dirty="0">
                <a:ea typeface="ＭＳ Ｐゴシック" charset="0"/>
                <a:cs typeface="Calibri"/>
              </a:rPr>
              <a:t>j</a:t>
            </a:r>
            <a:r>
              <a:rPr lang="en-US" dirty="0">
                <a:ea typeface="ＭＳ Ｐゴシック" charset="0"/>
                <a:cs typeface="Calibri"/>
              </a:rPr>
              <a:t> by concatenating all docs in this topic</a:t>
            </a:r>
          </a:p>
          <a:p>
            <a:pPr lvl="1">
              <a:lnSpc>
                <a:spcPct val="90000"/>
              </a:lnSpc>
            </a:pPr>
            <a:r>
              <a:rPr lang="en-US" sz="2700" dirty="0">
                <a:ea typeface="ＭＳ Ｐゴシック" charset="0"/>
                <a:cs typeface="Calibri"/>
              </a:rPr>
              <a:t>Use frequency of </a:t>
            </a:r>
            <a:r>
              <a:rPr lang="en-US" sz="2700" i="1" dirty="0">
                <a:ea typeface="ＭＳ Ｐゴシック" charset="0"/>
                <a:cs typeface="Calibri"/>
              </a:rPr>
              <a:t>w</a:t>
            </a:r>
            <a:r>
              <a:rPr lang="en-US" sz="2700" dirty="0">
                <a:ea typeface="ＭＳ Ｐゴシック" charset="0"/>
                <a:cs typeface="Calibri"/>
              </a:rPr>
              <a:t> in mega-document</a:t>
            </a:r>
            <a:endParaRPr lang="en-US" sz="2700" dirty="0">
              <a:latin typeface="Calibri"/>
              <a:ea typeface="ＭＳ Ｐゴシック" charset="0"/>
              <a:cs typeface="Calibri"/>
            </a:endParaRPr>
          </a:p>
          <a:p>
            <a:pPr eaLnBrk="1" hangingPunct="1">
              <a:lnSpc>
                <a:spcPct val="90000"/>
              </a:lnSpc>
            </a:pPr>
            <a:endParaRPr lang="en-US" sz="2475" dirty="0">
              <a:latin typeface="Calibri"/>
              <a:ea typeface="ＭＳ Ｐゴシック" charset="0"/>
              <a:cs typeface="Calibri"/>
            </a:endParaRPr>
          </a:p>
          <a:p>
            <a:pPr eaLnBrk="1" hangingPunct="1">
              <a:lnSpc>
                <a:spcPct val="90000"/>
              </a:lnSpc>
            </a:pPr>
            <a:endParaRPr lang="en-US" sz="2475" dirty="0">
              <a:latin typeface="Calibri"/>
              <a:ea typeface="ＭＳ Ｐゴシック" charset="0"/>
              <a:cs typeface="Calibri"/>
            </a:endParaRPr>
          </a:p>
        </p:txBody>
      </p:sp>
      <p:sp>
        <p:nvSpPr>
          <p:cNvPr id="58370" name="Rectangle 2"/>
          <p:cNvSpPr>
            <a:spLocks noGrp="1" noChangeArrowheads="1"/>
          </p:cNvSpPr>
          <p:nvPr>
            <p:ph type="title"/>
          </p:nvPr>
        </p:nvSpPr>
        <p:spPr/>
        <p:txBody>
          <a:bodyPr/>
          <a:lstStyle/>
          <a:p>
            <a:pPr eaLnBrk="1" hangingPunct="1"/>
            <a:r>
              <a:rPr lang="en-US" dirty="0">
                <a:latin typeface="Calibri" charset="0"/>
                <a:ea typeface="ＭＳ Ｐゴシック" charset="0"/>
                <a:cs typeface="ＭＳ Ｐゴシック" charset="0"/>
              </a:rPr>
              <a:t>Parameter estimation</a:t>
            </a:r>
          </a:p>
        </p:txBody>
      </p:sp>
      <p:sp>
        <p:nvSpPr>
          <p:cNvPr id="58373" name="Text Box 6"/>
          <p:cNvSpPr txBox="1">
            <a:spLocks noChangeArrowheads="1"/>
          </p:cNvSpPr>
          <p:nvPr/>
        </p:nvSpPr>
        <p:spPr bwMode="auto">
          <a:xfrm>
            <a:off x="4114800" y="2486025"/>
            <a:ext cx="5915025" cy="923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algn="ctr"/>
            <a:r>
              <a:rPr lang="en-US" sz="2700" dirty="0">
                <a:latin typeface="Calibri"/>
                <a:cs typeface="Calibri"/>
              </a:rPr>
              <a:t>fraction of times word </a:t>
            </a:r>
            <a:r>
              <a:rPr lang="en-US" sz="2700" i="1" dirty="0" err="1">
                <a:latin typeface="Calibri"/>
                <a:cs typeface="Calibri"/>
              </a:rPr>
              <a:t>w</a:t>
            </a:r>
            <a:r>
              <a:rPr lang="en-US" sz="2700" i="1" baseline="-25000" dirty="0" err="1">
                <a:latin typeface="Calibri"/>
                <a:cs typeface="Calibri"/>
              </a:rPr>
              <a:t>i</a:t>
            </a:r>
            <a:r>
              <a:rPr lang="en-US" sz="2700" dirty="0">
                <a:latin typeface="Calibri"/>
                <a:cs typeface="Calibri"/>
              </a:rPr>
              <a:t> appears </a:t>
            </a:r>
          </a:p>
          <a:p>
            <a:pPr algn="ctr"/>
            <a:r>
              <a:rPr lang="en-US" sz="2700" dirty="0">
                <a:latin typeface="Calibri"/>
                <a:cs typeface="Calibri"/>
              </a:rPr>
              <a:t>among all words in documents of topic </a:t>
            </a:r>
            <a:r>
              <a:rPr lang="en-US" sz="2700" i="1" dirty="0" err="1">
                <a:latin typeface="Calibri"/>
                <a:cs typeface="Calibri"/>
              </a:rPr>
              <a:t>c</a:t>
            </a:r>
            <a:r>
              <a:rPr lang="en-US" sz="2700" i="1" baseline="-25000" dirty="0" err="1">
                <a:latin typeface="Calibri"/>
                <a:cs typeface="Calibri"/>
              </a:rPr>
              <a:t>j</a:t>
            </a:r>
            <a:endParaRPr lang="en-US" sz="2700" i="1" baseline="-25000" dirty="0">
              <a:latin typeface="Calibri"/>
              <a:cs typeface="Calibri"/>
            </a:endParaRPr>
          </a:p>
        </p:txBody>
      </p:sp>
      <p:graphicFrame>
        <p:nvGraphicFramePr>
          <p:cNvPr id="6" name="Object 2"/>
          <p:cNvGraphicFramePr>
            <a:graphicFrameLocks noChangeAspect="1"/>
          </p:cNvGraphicFramePr>
          <p:nvPr/>
        </p:nvGraphicFramePr>
        <p:xfrm>
          <a:off x="342900" y="2486025"/>
          <a:ext cx="3591520" cy="1199576"/>
        </p:xfrm>
        <a:graphic>
          <a:graphicData uri="http://schemas.openxmlformats.org/presentationml/2006/ole">
            <mc:AlternateContent xmlns:mc="http://schemas.openxmlformats.org/markup-compatibility/2006">
              <mc:Choice xmlns:v="urn:schemas-microsoft-com:vml" Requires="v">
                <p:oleObj name="Equation" r:id="rId2" imgW="1739900" imgH="584200" progId="Equation.3">
                  <p:embed/>
                </p:oleObj>
              </mc:Choice>
              <mc:Fallback>
                <p:oleObj name="Equation" r:id="rId2" imgW="1739900" imgH="584200" progId="Equation.3">
                  <p:embed/>
                  <p:pic>
                    <p:nvPicPr>
                      <p:cNvPr id="6" name="Object 2"/>
                      <p:cNvPicPr>
                        <a:picLocks noChangeAspect="1" noChangeArrowheads="1"/>
                      </p:cNvPicPr>
                      <p:nvPr/>
                    </p:nvPicPr>
                    <p:blipFill>
                      <a:blip r:embed="rId3"/>
                      <a:srcRect/>
                      <a:stretch>
                        <a:fillRect/>
                      </a:stretch>
                    </p:blipFill>
                    <p:spPr bwMode="auto">
                      <a:xfrm>
                        <a:off x="342900" y="2486025"/>
                        <a:ext cx="3591520" cy="119957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9506860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pPr eaLnBrk="1" hangingPunct="1"/>
            <a:r>
              <a:rPr lang="en-US">
                <a:latin typeface="Calibri" charset="0"/>
                <a:ea typeface="ＭＳ Ｐゴシック" charset="0"/>
                <a:cs typeface="ＭＳ Ｐゴシック" charset="0"/>
              </a:rPr>
              <a:t>Problem with Maximum Likelihood</a:t>
            </a:r>
          </a:p>
        </p:txBody>
      </p:sp>
      <p:sp>
        <p:nvSpPr>
          <p:cNvPr id="43010" name="Rectangle 4"/>
          <p:cNvSpPr>
            <a:spLocks noGrp="1" noChangeArrowheads="1"/>
          </p:cNvSpPr>
          <p:nvPr>
            <p:ph type="body" sz="half" idx="4294967295"/>
          </p:nvPr>
        </p:nvSpPr>
        <p:spPr>
          <a:xfrm>
            <a:off x="495300" y="1749327"/>
            <a:ext cx="9086850" cy="1993106"/>
          </a:xfrm>
        </p:spPr>
        <p:txBody>
          <a:bodyPr/>
          <a:lstStyle/>
          <a:p>
            <a:pPr eaLnBrk="1" hangingPunct="1">
              <a:lnSpc>
                <a:spcPct val="90000"/>
              </a:lnSpc>
            </a:pPr>
            <a:r>
              <a:rPr lang="en-US" dirty="0">
                <a:latin typeface="Calibri" charset="0"/>
                <a:ea typeface="ＭＳ Ｐゴシック" charset="0"/>
                <a:cs typeface="ＭＳ Ｐゴシック" charset="0"/>
              </a:rPr>
              <a:t>What if we have seen no training documents with the word </a:t>
            </a:r>
            <a:r>
              <a:rPr lang="en-US" b="1" i="1" dirty="0">
                <a:latin typeface="Calibri" charset="0"/>
                <a:ea typeface="ＭＳ Ｐゴシック" charset="0"/>
                <a:cs typeface="ＭＳ Ｐゴシック" charset="0"/>
              </a:rPr>
              <a:t>fantastic</a:t>
            </a:r>
            <a:r>
              <a:rPr lang="en-US" b="1" dirty="0">
                <a:latin typeface="Calibri" charset="0"/>
                <a:ea typeface="ＭＳ Ｐゴシック" charset="0"/>
                <a:cs typeface="ＭＳ Ｐゴシック" charset="0"/>
              </a:rPr>
              <a:t> </a:t>
            </a:r>
            <a:r>
              <a:rPr lang="en-US" dirty="0">
                <a:latin typeface="Calibri" charset="0"/>
                <a:ea typeface="ＭＳ Ｐゴシック" charset="0"/>
                <a:cs typeface="ＭＳ Ｐゴシック" charset="0"/>
              </a:rPr>
              <a:t> and classified in the topic </a:t>
            </a:r>
            <a:r>
              <a:rPr lang="en-US" b="1" dirty="0">
                <a:latin typeface="Calibri" charset="0"/>
                <a:ea typeface="ＭＳ Ｐゴシック" charset="0"/>
                <a:cs typeface="ＭＳ Ｐゴシック" charset="0"/>
              </a:rPr>
              <a:t>positive</a:t>
            </a:r>
            <a:r>
              <a:rPr lang="en-US" dirty="0">
                <a:latin typeface="Calibri" charset="0"/>
                <a:ea typeface="ＭＳ Ｐゴシック" charset="0"/>
                <a:cs typeface="ＭＳ Ｐゴシック" charset="0"/>
              </a:rPr>
              <a:t> (</a:t>
            </a:r>
            <a:r>
              <a:rPr lang="en-US" b="1" i="1" dirty="0">
                <a:latin typeface="Calibri" charset="0"/>
                <a:ea typeface="ＭＳ Ｐゴシック" charset="0"/>
                <a:cs typeface="ＭＳ Ｐゴシック" charset="0"/>
              </a:rPr>
              <a:t>thumbs-up)</a:t>
            </a:r>
            <a:r>
              <a:rPr lang="en-US" dirty="0">
                <a:latin typeface="Calibri" charset="0"/>
                <a:ea typeface="ＭＳ Ｐゴシック" charset="0"/>
                <a:cs typeface="ＭＳ Ｐゴシック" charset="0"/>
              </a:rPr>
              <a:t>?</a:t>
            </a:r>
          </a:p>
          <a:p>
            <a:pPr lvl="1" eaLnBrk="1" hangingPunct="1">
              <a:lnSpc>
                <a:spcPct val="90000"/>
              </a:lnSpc>
            </a:pPr>
            <a:endParaRPr lang="en-US" dirty="0">
              <a:latin typeface="Calibri" charset="0"/>
              <a:ea typeface="ＭＳ Ｐゴシック" charset="0"/>
            </a:endParaRPr>
          </a:p>
          <a:p>
            <a:pPr lvl="1" eaLnBrk="1" hangingPunct="1">
              <a:lnSpc>
                <a:spcPct val="90000"/>
              </a:lnSpc>
            </a:pPr>
            <a:endParaRPr lang="en-US" dirty="0">
              <a:latin typeface="Calibri" charset="0"/>
              <a:ea typeface="ＭＳ Ｐゴシック" charset="0"/>
            </a:endParaRPr>
          </a:p>
          <a:p>
            <a:pPr marL="0" indent="0" eaLnBrk="1" hangingPunct="1">
              <a:lnSpc>
                <a:spcPct val="90000"/>
              </a:lnSpc>
              <a:buNone/>
            </a:pPr>
            <a:endParaRPr lang="en-US" dirty="0">
              <a:latin typeface="Calibri" charset="0"/>
              <a:ea typeface="ＭＳ Ｐゴシック" charset="0"/>
            </a:endParaRPr>
          </a:p>
          <a:p>
            <a:pPr marL="0" indent="0" eaLnBrk="1" hangingPunct="1">
              <a:lnSpc>
                <a:spcPct val="90000"/>
              </a:lnSpc>
              <a:buNone/>
            </a:pPr>
            <a:endParaRPr lang="en-US" sz="675" dirty="0">
              <a:latin typeface="Calibri" charset="0"/>
              <a:ea typeface="ＭＳ Ｐゴシック" charset="0"/>
              <a:cs typeface="ＭＳ Ｐゴシック" charset="0"/>
            </a:endParaRPr>
          </a:p>
          <a:p>
            <a:pPr eaLnBrk="1" hangingPunct="1">
              <a:lnSpc>
                <a:spcPct val="90000"/>
              </a:lnSpc>
            </a:pPr>
            <a:r>
              <a:rPr lang="en-US" dirty="0">
                <a:latin typeface="Calibri" charset="0"/>
                <a:ea typeface="ＭＳ Ｐゴシック" charset="0"/>
                <a:cs typeface="ＭＳ Ｐゴシック" charset="0"/>
              </a:rPr>
              <a:t>Zero probabilities are bad!</a:t>
            </a:r>
          </a:p>
        </p:txBody>
      </p:sp>
      <p:graphicFrame>
        <p:nvGraphicFramePr>
          <p:cNvPr id="43011" name="Object 2"/>
          <p:cNvGraphicFramePr>
            <a:graphicFrameLocks noGrp="1" noChangeAspect="1"/>
          </p:cNvGraphicFramePr>
          <p:nvPr>
            <p:ph sz="half" idx="4294967295"/>
          </p:nvPr>
        </p:nvGraphicFramePr>
        <p:xfrm>
          <a:off x="2057401" y="3202187"/>
          <a:ext cx="6197203" cy="960834"/>
        </p:xfrm>
        <a:graphic>
          <a:graphicData uri="http://schemas.openxmlformats.org/presentationml/2006/ole">
            <mc:AlternateContent xmlns:mc="http://schemas.openxmlformats.org/markup-compatibility/2006">
              <mc:Choice xmlns:v="urn:schemas-microsoft-com:vml" Requires="v">
                <p:oleObj name="Equation" r:id="rId2" imgW="3683000" imgH="571500" progId="Equation.3">
                  <p:embed/>
                </p:oleObj>
              </mc:Choice>
              <mc:Fallback>
                <p:oleObj name="Equation" r:id="rId2" imgW="3683000" imgH="571500" progId="Equation.3">
                  <p:embed/>
                  <p:pic>
                    <p:nvPicPr>
                      <p:cNvPr id="43011" name="Object 2"/>
                      <p:cNvPicPr>
                        <a:picLocks noChangeAspect="1" noChangeArrowheads="1"/>
                      </p:cNvPicPr>
                      <p:nvPr/>
                    </p:nvPicPr>
                    <p:blipFill>
                      <a:blip r:embed="rId3"/>
                      <a:srcRect/>
                      <a:stretch>
                        <a:fillRect/>
                      </a:stretch>
                    </p:blipFill>
                    <p:spPr bwMode="auto">
                      <a:xfrm>
                        <a:off x="2057401" y="3202187"/>
                        <a:ext cx="6197203" cy="960834"/>
                      </a:xfrm>
                      <a:prstGeom prst="rect">
                        <a:avLst/>
                      </a:prstGeom>
                      <a:noFill/>
                      <a:ln>
                        <a:noFill/>
                      </a:ln>
                    </p:spPr>
                  </p:pic>
                </p:oleObj>
              </mc:Fallback>
            </mc:AlternateContent>
          </a:graphicData>
        </a:graphic>
      </p:graphicFrame>
      <p:graphicFrame>
        <p:nvGraphicFramePr>
          <p:cNvPr id="43012" name="Object 3"/>
          <p:cNvGraphicFramePr>
            <a:graphicFrameLocks noChangeAspect="1"/>
          </p:cNvGraphicFramePr>
          <p:nvPr/>
        </p:nvGraphicFramePr>
        <p:xfrm>
          <a:off x="2469953" y="5314950"/>
          <a:ext cx="4718447" cy="700088"/>
        </p:xfrm>
        <a:graphic>
          <a:graphicData uri="http://schemas.openxmlformats.org/presentationml/2006/ole">
            <mc:AlternateContent xmlns:mc="http://schemas.openxmlformats.org/markup-compatibility/2006">
              <mc:Choice xmlns:v="urn:schemas-microsoft-com:vml" Requires="v">
                <p:oleObj name="Equation" r:id="rId4" imgW="1968500" imgH="292100" progId="Equation.3">
                  <p:embed/>
                </p:oleObj>
              </mc:Choice>
              <mc:Fallback>
                <p:oleObj name="Equation" r:id="rId4" imgW="1968500" imgH="292100" progId="Equation.3">
                  <p:embed/>
                  <p:pic>
                    <p:nvPicPr>
                      <p:cNvPr id="43012" name="Object 3"/>
                      <p:cNvPicPr>
                        <a:picLocks noChangeAspect="1" noChangeArrowheads="1"/>
                      </p:cNvPicPr>
                      <p:nvPr/>
                    </p:nvPicPr>
                    <p:blipFill>
                      <a:blip r:embed="rId5"/>
                      <a:srcRect/>
                      <a:stretch>
                        <a:fillRect/>
                      </a:stretch>
                    </p:blipFill>
                    <p:spPr bwMode="auto">
                      <a:xfrm>
                        <a:off x="2469953" y="5314950"/>
                        <a:ext cx="4718447" cy="700088"/>
                      </a:xfrm>
                      <a:prstGeom prst="rect">
                        <a:avLst/>
                      </a:prstGeom>
                      <a:noFill/>
                      <a:ln>
                        <a:noFill/>
                      </a:ln>
                      <a:effectLst/>
                    </p:spPr>
                  </p:pic>
                </p:oleObj>
              </mc:Fallback>
            </mc:AlternateContent>
          </a:graphicData>
        </a:graphic>
      </p:graphicFrame>
      <p:sp>
        <p:nvSpPr>
          <p:cNvPr id="43015" name="TextBox 24"/>
          <p:cNvSpPr txBox="1">
            <a:spLocks noChangeArrowheads="1"/>
          </p:cNvSpPr>
          <p:nvPr/>
        </p:nvSpPr>
        <p:spPr bwMode="auto">
          <a:xfrm>
            <a:off x="8572502" y="465638"/>
            <a:ext cx="114165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800">
                <a:solidFill>
                  <a:srgbClr val="FBFCFF"/>
                </a:solidFill>
              </a:rPr>
              <a:t>Sec.13.3</a:t>
            </a:r>
          </a:p>
        </p:txBody>
      </p:sp>
    </p:spTree>
    <p:extLst>
      <p:ext uri="{BB962C8B-B14F-4D97-AF65-F5344CB8AC3E}">
        <p14:creationId xmlns:p14="http://schemas.microsoft.com/office/powerpoint/2010/main" val="383828327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a:xfrm>
            <a:off x="0" y="600075"/>
            <a:ext cx="8401050" cy="835819"/>
          </a:xfrm>
        </p:spPr>
        <p:txBody>
          <a:bodyPr/>
          <a:lstStyle/>
          <a:p>
            <a:r>
              <a:rPr lang="en-US" dirty="0"/>
              <a:t>Laplace (add-1) smoothing for Na</a:t>
            </a:r>
            <a:r>
              <a:rPr lang="fr-FR" dirty="0" err="1"/>
              <a:t>ï</a:t>
            </a:r>
            <a:r>
              <a:rPr lang="en-US" dirty="0" err="1"/>
              <a:t>ve</a:t>
            </a:r>
            <a:r>
              <a:rPr lang="en-US" dirty="0"/>
              <a:t> Bayes</a:t>
            </a:r>
          </a:p>
        </p:txBody>
      </p:sp>
      <p:graphicFrame>
        <p:nvGraphicFramePr>
          <p:cNvPr id="11" name="Object 2"/>
          <p:cNvGraphicFramePr>
            <a:graphicFrameLocks noChangeAspect="1"/>
          </p:cNvGraphicFramePr>
          <p:nvPr/>
        </p:nvGraphicFramePr>
        <p:xfrm>
          <a:off x="1469828" y="2314576"/>
          <a:ext cx="5068491" cy="1519833"/>
        </p:xfrm>
        <a:graphic>
          <a:graphicData uri="http://schemas.openxmlformats.org/presentationml/2006/ole">
            <mc:AlternateContent xmlns:mc="http://schemas.openxmlformats.org/markup-compatibility/2006">
              <mc:Choice xmlns:v="urn:schemas-microsoft-com:vml" Requires="v">
                <p:oleObj name="Equation" r:id="rId2" imgW="1905000" imgH="571500" progId="Equation.3">
                  <p:embed/>
                </p:oleObj>
              </mc:Choice>
              <mc:Fallback>
                <p:oleObj name="Equation" r:id="rId2" imgW="1905000" imgH="571500" progId="Equation.3">
                  <p:embed/>
                  <p:pic>
                    <p:nvPicPr>
                      <p:cNvPr id="11" name="Object 2"/>
                      <p:cNvPicPr>
                        <a:picLocks noChangeAspect="1" noChangeArrowheads="1"/>
                      </p:cNvPicPr>
                      <p:nvPr/>
                    </p:nvPicPr>
                    <p:blipFill>
                      <a:blip r:embed="rId3"/>
                      <a:srcRect/>
                      <a:stretch>
                        <a:fillRect/>
                      </a:stretch>
                    </p:blipFill>
                    <p:spPr bwMode="auto">
                      <a:xfrm>
                        <a:off x="1469828" y="2314576"/>
                        <a:ext cx="5068491" cy="1519833"/>
                      </a:xfrm>
                      <a:prstGeom prst="rect">
                        <a:avLst/>
                      </a:prstGeom>
                      <a:noFill/>
                    </p:spPr>
                  </p:pic>
                </p:oleObj>
              </mc:Fallback>
            </mc:AlternateContent>
          </a:graphicData>
        </a:graphic>
      </p:graphicFrame>
      <p:graphicFrame>
        <p:nvGraphicFramePr>
          <p:cNvPr id="9" name="Object 2"/>
          <p:cNvGraphicFramePr>
            <a:graphicFrameLocks noChangeAspect="1"/>
          </p:cNvGraphicFramePr>
          <p:nvPr/>
        </p:nvGraphicFramePr>
        <p:xfrm>
          <a:off x="2821781" y="4109443"/>
          <a:ext cx="4293394" cy="1891307"/>
        </p:xfrm>
        <a:graphic>
          <a:graphicData uri="http://schemas.openxmlformats.org/presentationml/2006/ole">
            <mc:AlternateContent xmlns:mc="http://schemas.openxmlformats.org/markup-compatibility/2006">
              <mc:Choice xmlns:v="urn:schemas-microsoft-com:vml" Requires="v">
                <p:oleObj name="Equation" r:id="rId4" imgW="1612900" imgH="711200" progId="Equation.3">
                  <p:embed/>
                </p:oleObj>
              </mc:Choice>
              <mc:Fallback>
                <p:oleObj name="Equation" r:id="rId4" imgW="1612900" imgH="711200" progId="Equation.3">
                  <p:embed/>
                  <p:pic>
                    <p:nvPicPr>
                      <p:cNvPr id="9" name="Object 2"/>
                      <p:cNvPicPr>
                        <a:picLocks noChangeAspect="1" noChangeArrowheads="1"/>
                      </p:cNvPicPr>
                      <p:nvPr/>
                    </p:nvPicPr>
                    <p:blipFill>
                      <a:blip r:embed="rId5"/>
                      <a:srcRect/>
                      <a:stretch>
                        <a:fillRect/>
                      </a:stretch>
                    </p:blipFill>
                    <p:spPr bwMode="auto">
                      <a:xfrm>
                        <a:off x="2821781" y="4109443"/>
                        <a:ext cx="4293394" cy="1891307"/>
                      </a:xfrm>
                      <a:prstGeom prst="rect">
                        <a:avLst/>
                      </a:prstGeom>
                      <a:noFill/>
                    </p:spPr>
                  </p:pic>
                </p:oleObj>
              </mc:Fallback>
            </mc:AlternateContent>
          </a:graphicData>
        </a:graphic>
      </p:graphicFrame>
      <p:graphicFrame>
        <p:nvGraphicFramePr>
          <p:cNvPr id="10" name="Object 2"/>
          <p:cNvGraphicFramePr>
            <a:graphicFrameLocks noChangeAspect="1"/>
          </p:cNvGraphicFramePr>
          <p:nvPr/>
        </p:nvGraphicFramePr>
        <p:xfrm>
          <a:off x="1475685" y="2312280"/>
          <a:ext cx="4595218" cy="1519833"/>
        </p:xfrm>
        <a:graphic>
          <a:graphicData uri="http://schemas.openxmlformats.org/presentationml/2006/ole">
            <mc:AlternateContent xmlns:mc="http://schemas.openxmlformats.org/markup-compatibility/2006">
              <mc:Choice xmlns:v="urn:schemas-microsoft-com:vml" Requires="v">
                <p:oleObj name="Equation" r:id="rId6" imgW="1727200" imgH="571500" progId="Equation.3">
                  <p:embed/>
                </p:oleObj>
              </mc:Choice>
              <mc:Fallback>
                <p:oleObj name="Equation" r:id="rId6" imgW="1727200" imgH="571500" progId="Equation.3">
                  <p:embed/>
                  <p:pic>
                    <p:nvPicPr>
                      <p:cNvPr id="10" name="Object 2"/>
                      <p:cNvPicPr>
                        <a:picLocks noChangeAspect="1" noChangeArrowheads="1"/>
                      </p:cNvPicPr>
                      <p:nvPr/>
                    </p:nvPicPr>
                    <p:blipFill>
                      <a:blip r:embed="rId7"/>
                      <a:srcRect/>
                      <a:stretch>
                        <a:fillRect/>
                      </a:stretch>
                    </p:blipFill>
                    <p:spPr bwMode="auto">
                      <a:xfrm>
                        <a:off x="1475685" y="2312280"/>
                        <a:ext cx="4595218" cy="1519833"/>
                      </a:xfrm>
                      <a:prstGeom prst="rect">
                        <a:avLst/>
                      </a:prstGeom>
                      <a:noFill/>
                    </p:spPr>
                  </p:pic>
                </p:oleObj>
              </mc:Fallback>
            </mc:AlternateContent>
          </a:graphicData>
        </a:graphic>
      </p:graphicFrame>
    </p:spTree>
    <p:extLst>
      <p:ext uri="{BB962C8B-B14F-4D97-AF65-F5344CB8AC3E}">
        <p14:creationId xmlns:p14="http://schemas.microsoft.com/office/powerpoint/2010/main" val="136238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3"/>
          <p:cNvSpPr>
            <a:spLocks noGrp="1" noChangeArrowheads="1"/>
          </p:cNvSpPr>
          <p:nvPr>
            <p:ph type="title"/>
          </p:nvPr>
        </p:nvSpPr>
        <p:spPr>
          <a:xfrm>
            <a:off x="1371600" y="664369"/>
            <a:ext cx="8743950" cy="964406"/>
          </a:xfrm>
        </p:spPr>
        <p:txBody>
          <a:bodyPr/>
          <a:lstStyle/>
          <a:p>
            <a:r>
              <a:rPr lang="en-US" dirty="0"/>
              <a:t>Multinomial Naïve Bayes: Learning</a:t>
            </a:r>
          </a:p>
        </p:txBody>
      </p:sp>
      <p:sp>
        <p:nvSpPr>
          <p:cNvPr id="52230" name="Rectangle 4"/>
          <p:cNvSpPr>
            <a:spLocks noGrp="1" noChangeArrowheads="1"/>
          </p:cNvSpPr>
          <p:nvPr>
            <p:ph sz="quarter" idx="1"/>
          </p:nvPr>
        </p:nvSpPr>
        <p:spPr>
          <a:xfrm>
            <a:off x="171450" y="2934893"/>
            <a:ext cx="5143500" cy="2980133"/>
          </a:xfrm>
        </p:spPr>
        <p:txBody>
          <a:bodyPr/>
          <a:lstStyle/>
          <a:p>
            <a:pPr>
              <a:lnSpc>
                <a:spcPct val="90000"/>
              </a:lnSpc>
            </a:pPr>
            <a:r>
              <a:rPr lang="en-US" sz="2475" dirty="0">
                <a:latin typeface="Calibri"/>
                <a:cs typeface="Calibri"/>
              </a:rPr>
              <a:t>Calculate </a:t>
            </a:r>
            <a:r>
              <a:rPr lang="en-US" sz="2475" i="1" dirty="0">
                <a:latin typeface="Calibri"/>
                <a:cs typeface="Calibri"/>
              </a:rPr>
              <a:t>P</a:t>
            </a:r>
            <a:r>
              <a:rPr lang="en-US" sz="2475" dirty="0">
                <a:latin typeface="Calibri"/>
                <a:cs typeface="Calibri"/>
              </a:rPr>
              <a:t>(</a:t>
            </a:r>
            <a:r>
              <a:rPr lang="en-US" sz="2475" i="1" dirty="0" err="1">
                <a:latin typeface="Calibri"/>
                <a:cs typeface="Calibri"/>
              </a:rPr>
              <a:t>c</a:t>
            </a:r>
            <a:r>
              <a:rPr lang="en-US" sz="2475" i="1" baseline="-25000" dirty="0" err="1">
                <a:latin typeface="Calibri"/>
                <a:cs typeface="Calibri"/>
              </a:rPr>
              <a:t>j</a:t>
            </a:r>
            <a:r>
              <a:rPr lang="en-US" sz="2475" dirty="0">
                <a:latin typeface="Calibri"/>
                <a:cs typeface="Calibri"/>
              </a:rPr>
              <a:t>)</a:t>
            </a:r>
            <a:r>
              <a:rPr lang="en-US" sz="2475" i="1" dirty="0">
                <a:latin typeface="Calibri"/>
                <a:cs typeface="Calibri"/>
              </a:rPr>
              <a:t> </a:t>
            </a:r>
            <a:r>
              <a:rPr lang="en-US" sz="2475" dirty="0">
                <a:latin typeface="Calibri"/>
                <a:cs typeface="Calibri"/>
              </a:rPr>
              <a:t>terms</a:t>
            </a:r>
          </a:p>
          <a:p>
            <a:pPr lvl="1">
              <a:lnSpc>
                <a:spcPct val="90000"/>
              </a:lnSpc>
            </a:pPr>
            <a:r>
              <a:rPr lang="en-US" sz="2250" dirty="0">
                <a:latin typeface="Calibri"/>
                <a:cs typeface="Calibri"/>
              </a:rPr>
              <a:t>For each </a:t>
            </a:r>
            <a:r>
              <a:rPr lang="en-US" sz="2250" i="1" dirty="0" err="1">
                <a:latin typeface="Calibri"/>
                <a:cs typeface="Calibri"/>
              </a:rPr>
              <a:t>c</a:t>
            </a:r>
            <a:r>
              <a:rPr lang="en-US" sz="2250" i="1" baseline="-25000" dirty="0" err="1">
                <a:latin typeface="Calibri"/>
                <a:cs typeface="Calibri"/>
              </a:rPr>
              <a:t>j</a:t>
            </a:r>
            <a:r>
              <a:rPr lang="en-US" sz="2250" i="1" baseline="-25000" dirty="0">
                <a:latin typeface="Calibri"/>
                <a:cs typeface="Calibri"/>
              </a:rPr>
              <a:t> </a:t>
            </a:r>
            <a:r>
              <a:rPr lang="en-US" sz="2250" dirty="0">
                <a:latin typeface="Calibri"/>
                <a:cs typeface="Calibri"/>
              </a:rPr>
              <a:t>in </a:t>
            </a:r>
            <a:r>
              <a:rPr lang="en-US" sz="2250" i="1" dirty="0">
                <a:latin typeface="Calibri"/>
                <a:cs typeface="Calibri"/>
              </a:rPr>
              <a:t>C</a:t>
            </a:r>
            <a:r>
              <a:rPr lang="en-US" sz="2250" dirty="0">
                <a:latin typeface="Calibri"/>
                <a:cs typeface="Calibri"/>
              </a:rPr>
              <a:t> do</a:t>
            </a:r>
          </a:p>
          <a:p>
            <a:pPr marL="900113" lvl="2" indent="0">
              <a:lnSpc>
                <a:spcPct val="90000"/>
              </a:lnSpc>
              <a:buNone/>
            </a:pPr>
            <a:r>
              <a:rPr lang="en-US" i="1" dirty="0">
                <a:latin typeface="Calibri"/>
                <a:cs typeface="Calibri"/>
              </a:rPr>
              <a:t> </a:t>
            </a:r>
            <a:r>
              <a:rPr lang="en-US" i="1" dirty="0" err="1">
                <a:latin typeface="Calibri"/>
                <a:cs typeface="Calibri"/>
              </a:rPr>
              <a:t>docs</a:t>
            </a:r>
            <a:r>
              <a:rPr lang="en-US" i="1" baseline="-25000" dirty="0" err="1">
                <a:latin typeface="Calibri"/>
                <a:cs typeface="Calibri"/>
              </a:rPr>
              <a:t>j</a:t>
            </a:r>
            <a:r>
              <a:rPr lang="en-US" i="1" dirty="0">
                <a:latin typeface="Calibri"/>
                <a:cs typeface="Calibri"/>
              </a:rPr>
              <a:t> </a:t>
            </a:r>
            <a:r>
              <a:rPr lang="en-US" dirty="0">
                <a:latin typeface="Calibri"/>
                <a:cs typeface="Calibri"/>
                <a:sym typeface="Symbol" charset="2"/>
              </a:rPr>
              <a:t></a:t>
            </a:r>
            <a:r>
              <a:rPr lang="en-US" i="1" dirty="0">
                <a:latin typeface="Calibri"/>
                <a:cs typeface="Calibri"/>
                <a:sym typeface="Symbol" charset="2"/>
              </a:rPr>
              <a:t> </a:t>
            </a:r>
            <a:r>
              <a:rPr lang="en-US" dirty="0">
                <a:latin typeface="Calibri"/>
                <a:cs typeface="Calibri"/>
                <a:sym typeface="Symbol" charset="2"/>
              </a:rPr>
              <a:t>all docs with  class =</a:t>
            </a:r>
            <a:r>
              <a:rPr lang="en-US" i="1" dirty="0" err="1">
                <a:latin typeface="Calibri"/>
                <a:cs typeface="Calibri"/>
              </a:rPr>
              <a:t>c</a:t>
            </a:r>
            <a:r>
              <a:rPr lang="en-US" i="1" baseline="-25000" dirty="0" err="1">
                <a:latin typeface="Calibri"/>
                <a:cs typeface="Calibri"/>
              </a:rPr>
              <a:t>j</a:t>
            </a:r>
            <a:endParaRPr lang="en-US" i="1" baseline="-25000" dirty="0">
              <a:latin typeface="Calibri"/>
              <a:cs typeface="Calibri"/>
            </a:endParaRPr>
          </a:p>
          <a:p>
            <a:pPr>
              <a:spcBef>
                <a:spcPts val="0"/>
              </a:spcBef>
            </a:pPr>
            <a:endParaRPr lang="en-US" sz="2475" dirty="0">
              <a:latin typeface="Calibri"/>
              <a:cs typeface="Calibri"/>
            </a:endParaRPr>
          </a:p>
        </p:txBody>
      </p:sp>
      <p:graphicFrame>
        <p:nvGraphicFramePr>
          <p:cNvPr id="52226" name="Object 2"/>
          <p:cNvGraphicFramePr>
            <a:graphicFrameLocks noChangeAspect="1"/>
          </p:cNvGraphicFramePr>
          <p:nvPr/>
        </p:nvGraphicFramePr>
        <p:xfrm>
          <a:off x="5990035" y="4470203"/>
          <a:ext cx="3848696" cy="859035"/>
        </p:xfrm>
        <a:graphic>
          <a:graphicData uri="http://schemas.openxmlformats.org/presentationml/2006/ole">
            <mc:AlternateContent xmlns:mc="http://schemas.openxmlformats.org/markup-compatibility/2006">
              <mc:Choice xmlns:v="urn:schemas-microsoft-com:vml" Requires="v">
                <p:oleObj name="Equation" r:id="rId2" imgW="1879560" imgH="419040" progId="Equation.3">
                  <p:embed/>
                </p:oleObj>
              </mc:Choice>
              <mc:Fallback>
                <p:oleObj name="Equation" r:id="rId2" imgW="1879560" imgH="419040" progId="Equation.3">
                  <p:embed/>
                  <p:pic>
                    <p:nvPicPr>
                      <p:cNvPr id="52226" name="Object 2"/>
                      <p:cNvPicPr>
                        <a:picLocks noChangeAspect="1" noChangeArrowheads="1"/>
                      </p:cNvPicPr>
                      <p:nvPr/>
                    </p:nvPicPr>
                    <p:blipFill>
                      <a:blip r:embed="rId3"/>
                      <a:srcRect/>
                      <a:stretch>
                        <a:fillRect/>
                      </a:stretch>
                    </p:blipFill>
                    <p:spPr bwMode="auto">
                      <a:xfrm>
                        <a:off x="5990035" y="4470203"/>
                        <a:ext cx="3848696" cy="859035"/>
                      </a:xfrm>
                      <a:prstGeom prst="rect">
                        <a:avLst/>
                      </a:prstGeom>
                      <a:noFill/>
                    </p:spPr>
                  </p:pic>
                </p:oleObj>
              </mc:Fallback>
            </mc:AlternateContent>
          </a:graphicData>
        </a:graphic>
      </p:graphicFrame>
      <p:graphicFrame>
        <p:nvGraphicFramePr>
          <p:cNvPr id="52227" name="Object 3"/>
          <p:cNvGraphicFramePr>
            <a:graphicFrameLocks noChangeAspect="1"/>
          </p:cNvGraphicFramePr>
          <p:nvPr/>
        </p:nvGraphicFramePr>
        <p:xfrm>
          <a:off x="1200150" y="4200525"/>
          <a:ext cx="3600450" cy="834887"/>
        </p:xfrm>
        <a:graphic>
          <a:graphicData uri="http://schemas.openxmlformats.org/presentationml/2006/ole">
            <mc:AlternateContent xmlns:mc="http://schemas.openxmlformats.org/markup-compatibility/2006">
              <mc:Choice xmlns:v="urn:schemas-microsoft-com:vml" Requires="v">
                <p:oleObj name="Equation" r:id="rId4" imgW="1752600" imgH="406400" progId="Equation.3">
                  <p:embed/>
                </p:oleObj>
              </mc:Choice>
              <mc:Fallback>
                <p:oleObj name="Equation" r:id="rId4" imgW="1752600" imgH="406400" progId="Equation.3">
                  <p:embed/>
                  <p:pic>
                    <p:nvPicPr>
                      <p:cNvPr id="52227" name="Object 3"/>
                      <p:cNvPicPr>
                        <a:picLocks noChangeAspect="1" noChangeArrowheads="1"/>
                      </p:cNvPicPr>
                      <p:nvPr/>
                    </p:nvPicPr>
                    <p:blipFill>
                      <a:blip r:embed="rId5"/>
                      <a:srcRect/>
                      <a:stretch>
                        <a:fillRect/>
                      </a:stretch>
                    </p:blipFill>
                    <p:spPr bwMode="auto">
                      <a:xfrm>
                        <a:off x="1200150" y="4200525"/>
                        <a:ext cx="3600450" cy="834887"/>
                      </a:xfrm>
                      <a:prstGeom prst="rect">
                        <a:avLst/>
                      </a:prstGeom>
                      <a:noFill/>
                    </p:spPr>
                  </p:pic>
                </p:oleObj>
              </mc:Fallback>
            </mc:AlternateContent>
          </a:graphicData>
        </a:graphic>
      </p:graphicFrame>
      <p:sp>
        <p:nvSpPr>
          <p:cNvPr id="8" name="Rectangle 4"/>
          <p:cNvSpPr txBox="1">
            <a:spLocks noChangeArrowheads="1"/>
          </p:cNvSpPr>
          <p:nvPr/>
        </p:nvSpPr>
        <p:spPr bwMode="auto">
          <a:xfrm>
            <a:off x="4543425" y="2914650"/>
            <a:ext cx="6515100"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02870" tIns="51435" rIns="102870" bIns="51435"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spcBef>
                <a:spcPts val="0"/>
              </a:spcBef>
            </a:pPr>
            <a:r>
              <a:rPr lang="en-US" sz="2475" dirty="0">
                <a:latin typeface="Calibri"/>
                <a:cs typeface="Calibri"/>
              </a:rPr>
              <a:t>Calculate </a:t>
            </a:r>
            <a:r>
              <a:rPr lang="en-US" sz="2475" i="1" dirty="0">
                <a:latin typeface="Calibri"/>
                <a:cs typeface="Calibri"/>
              </a:rPr>
              <a:t>P</a:t>
            </a:r>
            <a:r>
              <a:rPr lang="en-US" sz="2475" dirty="0">
                <a:latin typeface="Calibri"/>
                <a:cs typeface="Calibri"/>
              </a:rPr>
              <a:t>(</a:t>
            </a:r>
            <a:r>
              <a:rPr lang="en-US" sz="2475" i="1" dirty="0" err="1">
                <a:latin typeface="Calibri"/>
                <a:cs typeface="Calibri"/>
              </a:rPr>
              <a:t>w</a:t>
            </a:r>
            <a:r>
              <a:rPr lang="en-US" sz="2475" i="1" baseline="-25000" dirty="0" err="1">
                <a:latin typeface="Calibri"/>
                <a:cs typeface="Calibri"/>
              </a:rPr>
              <a:t>k</a:t>
            </a:r>
            <a:r>
              <a:rPr lang="en-US" sz="2475" i="1" dirty="0">
                <a:latin typeface="Calibri"/>
                <a:cs typeface="Calibri"/>
              </a:rPr>
              <a:t> </a:t>
            </a:r>
            <a:r>
              <a:rPr lang="en-US" sz="2475" dirty="0">
                <a:latin typeface="Calibri"/>
                <a:cs typeface="Calibri"/>
              </a:rPr>
              <a:t>|</a:t>
            </a:r>
            <a:r>
              <a:rPr lang="en-US" sz="2475" i="1" dirty="0">
                <a:latin typeface="Calibri"/>
                <a:cs typeface="Calibri"/>
              </a:rPr>
              <a:t> </a:t>
            </a:r>
            <a:r>
              <a:rPr lang="en-US" sz="2475" i="1" dirty="0" err="1">
                <a:latin typeface="Calibri"/>
                <a:cs typeface="Calibri"/>
              </a:rPr>
              <a:t>c</a:t>
            </a:r>
            <a:r>
              <a:rPr lang="en-US" sz="2475" i="1" baseline="-25000" dirty="0" err="1">
                <a:latin typeface="Calibri"/>
                <a:cs typeface="Calibri"/>
              </a:rPr>
              <a:t>j</a:t>
            </a:r>
            <a:r>
              <a:rPr lang="en-US" sz="2475" dirty="0">
                <a:latin typeface="Calibri"/>
                <a:cs typeface="Calibri"/>
              </a:rPr>
              <a:t>)</a:t>
            </a:r>
            <a:r>
              <a:rPr lang="en-US" sz="2475" i="1" dirty="0">
                <a:latin typeface="Calibri"/>
                <a:cs typeface="Calibri"/>
              </a:rPr>
              <a:t> </a:t>
            </a:r>
            <a:r>
              <a:rPr lang="en-US" sz="2475" dirty="0">
                <a:latin typeface="Calibri"/>
                <a:cs typeface="Calibri"/>
              </a:rPr>
              <a:t>terms</a:t>
            </a:r>
          </a:p>
          <a:p>
            <a:pPr lvl="1">
              <a:spcBef>
                <a:spcPts val="0"/>
              </a:spcBef>
            </a:pPr>
            <a:r>
              <a:rPr lang="en-US" sz="2250" i="1" dirty="0" err="1">
                <a:latin typeface="Calibri"/>
                <a:ea typeface="ＭＳ Ｐゴシック" charset="-128"/>
                <a:cs typeface="Calibri"/>
              </a:rPr>
              <a:t>Text</a:t>
            </a:r>
            <a:r>
              <a:rPr lang="en-US" sz="2250" i="1" baseline="-25000" dirty="0" err="1">
                <a:latin typeface="Calibri"/>
                <a:ea typeface="ＭＳ Ｐゴシック" charset="-128"/>
                <a:cs typeface="Calibri"/>
              </a:rPr>
              <a:t>j</a:t>
            </a:r>
            <a:r>
              <a:rPr lang="en-US" sz="2250" i="1" dirty="0">
                <a:latin typeface="Calibri"/>
                <a:ea typeface="ＭＳ Ｐゴシック" charset="-128"/>
                <a:cs typeface="Calibri"/>
              </a:rPr>
              <a:t> </a:t>
            </a:r>
            <a:r>
              <a:rPr lang="en-US" sz="2250" dirty="0">
                <a:latin typeface="Calibri"/>
                <a:ea typeface="ＭＳ Ｐゴシック" charset="-128"/>
                <a:cs typeface="Calibri"/>
                <a:sym typeface="Symbol" charset="2"/>
              </a:rPr>
              <a:t> single doc containing all </a:t>
            </a:r>
            <a:r>
              <a:rPr lang="en-US" sz="2250" i="1" dirty="0" err="1">
                <a:latin typeface="Calibri"/>
                <a:ea typeface="ＭＳ Ｐゴシック" charset="-128"/>
                <a:cs typeface="Calibri"/>
              </a:rPr>
              <a:t>docs</a:t>
            </a:r>
            <a:r>
              <a:rPr lang="en-US" sz="2250" i="1" baseline="-25000" dirty="0" err="1">
                <a:latin typeface="Calibri"/>
                <a:ea typeface="ＭＳ Ｐゴシック" charset="-128"/>
                <a:cs typeface="Calibri"/>
              </a:rPr>
              <a:t>j</a:t>
            </a:r>
            <a:endParaRPr lang="en-US" sz="2250" i="1" baseline="-25000" dirty="0">
              <a:latin typeface="Calibri"/>
              <a:ea typeface="ＭＳ Ｐゴシック" charset="-128"/>
              <a:cs typeface="Calibri"/>
            </a:endParaRPr>
          </a:p>
          <a:p>
            <a:pPr lvl="1">
              <a:spcBef>
                <a:spcPts val="0"/>
              </a:spcBef>
            </a:pPr>
            <a:r>
              <a:rPr lang="en-US" sz="2250" dirty="0">
                <a:latin typeface="Calibri"/>
                <a:ea typeface="ＭＳ Ｐゴシック" charset="-128"/>
                <a:cs typeface="Calibri"/>
              </a:rPr>
              <a:t>For</a:t>
            </a:r>
            <a:r>
              <a:rPr lang="en-US" sz="2250" i="1" baseline="-25000" dirty="0">
                <a:latin typeface="Calibri"/>
                <a:ea typeface="ＭＳ Ｐゴシック" charset="-128"/>
                <a:cs typeface="Calibri"/>
              </a:rPr>
              <a:t> </a:t>
            </a:r>
            <a:r>
              <a:rPr lang="en-US" sz="2250" dirty="0">
                <a:latin typeface="Calibri"/>
                <a:ea typeface="ＭＳ Ｐゴシック" charset="-128"/>
                <a:cs typeface="Calibri"/>
              </a:rPr>
              <a:t>each word </a:t>
            </a:r>
            <a:r>
              <a:rPr lang="en-US" sz="2250" i="1" dirty="0" err="1">
                <a:latin typeface="Calibri"/>
                <a:ea typeface="ＭＳ Ｐゴシック" charset="-128"/>
                <a:cs typeface="Calibri"/>
              </a:rPr>
              <a:t>w</a:t>
            </a:r>
            <a:r>
              <a:rPr lang="en-US" sz="2250" i="1" baseline="-25000" dirty="0" err="1">
                <a:latin typeface="Calibri"/>
                <a:ea typeface="ＭＳ Ｐゴシック" charset="-128"/>
                <a:cs typeface="Calibri"/>
              </a:rPr>
              <a:t>k</a:t>
            </a:r>
            <a:r>
              <a:rPr lang="en-US" sz="2250" i="1" dirty="0">
                <a:latin typeface="Calibri"/>
                <a:ea typeface="ＭＳ Ｐゴシック" charset="-128"/>
                <a:cs typeface="Calibri"/>
              </a:rPr>
              <a:t> </a:t>
            </a:r>
            <a:r>
              <a:rPr lang="en-US" sz="2250" dirty="0">
                <a:latin typeface="Calibri"/>
                <a:ea typeface="ＭＳ Ｐゴシック" charset="-128"/>
                <a:cs typeface="Calibri"/>
              </a:rPr>
              <a:t>in </a:t>
            </a:r>
            <a:r>
              <a:rPr lang="en-US" sz="2250" i="1" dirty="0">
                <a:latin typeface="Calibri"/>
                <a:ea typeface="ＭＳ Ｐゴシック" charset="-128"/>
                <a:cs typeface="Calibri"/>
              </a:rPr>
              <a:t>Vocabulary</a:t>
            </a:r>
          </a:p>
          <a:p>
            <a:pPr marL="900113" lvl="2" indent="0">
              <a:spcBef>
                <a:spcPts val="0"/>
              </a:spcBef>
              <a:buNone/>
            </a:pPr>
            <a:r>
              <a:rPr lang="en-US" sz="2250" i="1" dirty="0">
                <a:latin typeface="Calibri"/>
                <a:ea typeface="ＭＳ Ｐゴシック" charset="-128"/>
                <a:cs typeface="Calibri"/>
              </a:rPr>
              <a:t>    </a:t>
            </a:r>
            <a:r>
              <a:rPr lang="en-US" sz="2250" i="1" dirty="0" err="1">
                <a:latin typeface="Calibri"/>
                <a:ea typeface="ＭＳ Ｐゴシック" charset="-128"/>
                <a:cs typeface="Calibri"/>
              </a:rPr>
              <a:t>n</a:t>
            </a:r>
            <a:r>
              <a:rPr lang="en-US" sz="2250" i="1" baseline="-25000" dirty="0" err="1">
                <a:latin typeface="Calibri"/>
                <a:ea typeface="ＭＳ Ｐゴシック" charset="-128"/>
                <a:cs typeface="Calibri"/>
              </a:rPr>
              <a:t>k</a:t>
            </a:r>
            <a:r>
              <a:rPr lang="en-US" sz="2250" i="1" dirty="0">
                <a:latin typeface="Calibri"/>
                <a:ea typeface="ＭＳ Ｐゴシック" charset="-128"/>
                <a:cs typeface="Calibri"/>
              </a:rPr>
              <a:t> </a:t>
            </a:r>
            <a:r>
              <a:rPr lang="en-US" sz="2250" dirty="0">
                <a:latin typeface="Calibri"/>
                <a:ea typeface="ＭＳ Ｐゴシック" charset="-128"/>
                <a:cs typeface="Calibri"/>
                <a:sym typeface="Symbol" charset="2"/>
              </a:rPr>
              <a:t> # of occurrences of </a:t>
            </a:r>
            <a:r>
              <a:rPr lang="en-US" sz="2250" i="1" dirty="0" err="1">
                <a:latin typeface="Calibri"/>
                <a:ea typeface="ＭＳ Ｐゴシック" charset="-128"/>
                <a:cs typeface="Calibri"/>
                <a:sym typeface="Symbol" charset="2"/>
              </a:rPr>
              <a:t>w</a:t>
            </a:r>
            <a:r>
              <a:rPr lang="en-US" sz="2250" i="1" baseline="-25000" dirty="0" err="1">
                <a:latin typeface="Calibri"/>
                <a:ea typeface="ＭＳ Ｐゴシック" charset="-128"/>
                <a:cs typeface="Calibri"/>
              </a:rPr>
              <a:t>k</a:t>
            </a:r>
            <a:r>
              <a:rPr lang="en-US" sz="2250" i="1" dirty="0">
                <a:latin typeface="Calibri"/>
                <a:ea typeface="ＭＳ Ｐゴシック" charset="-128"/>
                <a:cs typeface="Calibri"/>
              </a:rPr>
              <a:t> </a:t>
            </a:r>
            <a:r>
              <a:rPr lang="en-US" sz="2250" dirty="0">
                <a:latin typeface="Calibri"/>
                <a:ea typeface="ＭＳ Ｐゴシック" charset="-128"/>
                <a:cs typeface="Calibri"/>
              </a:rPr>
              <a:t>in </a:t>
            </a:r>
            <a:r>
              <a:rPr lang="en-US" sz="2250" i="1" dirty="0" err="1">
                <a:latin typeface="Calibri"/>
                <a:ea typeface="ＭＳ Ｐゴシック" charset="-128"/>
                <a:cs typeface="Calibri"/>
              </a:rPr>
              <a:t>Text</a:t>
            </a:r>
            <a:r>
              <a:rPr lang="en-US" sz="2250" i="1" baseline="-25000" dirty="0" err="1">
                <a:latin typeface="Calibri"/>
                <a:ea typeface="ＭＳ Ｐゴシック" charset="-128"/>
                <a:cs typeface="Calibri"/>
              </a:rPr>
              <a:t>j</a:t>
            </a:r>
            <a:endParaRPr lang="en-US" sz="2250" i="1" baseline="-25000" dirty="0">
              <a:latin typeface="Calibri"/>
              <a:ea typeface="ＭＳ Ｐゴシック" charset="-128"/>
              <a:cs typeface="Calibri"/>
            </a:endParaRPr>
          </a:p>
        </p:txBody>
      </p:sp>
      <p:sp>
        <p:nvSpPr>
          <p:cNvPr id="9" name="Rectangle 4"/>
          <p:cNvSpPr txBox="1">
            <a:spLocks noChangeArrowheads="1"/>
          </p:cNvSpPr>
          <p:nvPr/>
        </p:nvSpPr>
        <p:spPr bwMode="auto">
          <a:xfrm>
            <a:off x="171450" y="2314575"/>
            <a:ext cx="6086475"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02870" tIns="51435" rIns="102870" bIns="51435"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lnSpc>
                <a:spcPct val="90000"/>
              </a:lnSpc>
            </a:pPr>
            <a:r>
              <a:rPr lang="en-US" sz="2475" dirty="0">
                <a:latin typeface="Calibri" charset="0"/>
              </a:rPr>
              <a:t>From training corpus, extract </a:t>
            </a:r>
            <a:r>
              <a:rPr lang="en-US" sz="2475" i="1" dirty="0">
                <a:latin typeface="Times New Roman" charset="0"/>
              </a:rPr>
              <a:t>Vocabulary</a:t>
            </a:r>
            <a:endParaRPr lang="en-US" sz="2475" dirty="0">
              <a:latin typeface="Calibri" charset="0"/>
            </a:endParaRPr>
          </a:p>
        </p:txBody>
      </p:sp>
    </p:spTree>
    <p:extLst>
      <p:ext uri="{BB962C8B-B14F-4D97-AF65-F5344CB8AC3E}">
        <p14:creationId xmlns:p14="http://schemas.microsoft.com/office/powerpoint/2010/main" val="5569399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3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3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2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915025" y="3692337"/>
            <a:ext cx="4543425" cy="2896947"/>
          </a:xfrm>
          <a:prstGeom prst="rect">
            <a:avLst/>
          </a:prstGeom>
          <a:noFill/>
        </p:spPr>
        <p:txBody>
          <a:bodyPr wrap="square" rtlCol="0">
            <a:spAutoFit/>
          </a:bodyPr>
          <a:lstStyle/>
          <a:p>
            <a:r>
              <a:rPr lang="en-US" sz="2025" b="1" dirty="0">
                <a:latin typeface="+mn-lt"/>
              </a:rPr>
              <a:t>Choosing a class:</a:t>
            </a:r>
          </a:p>
          <a:p>
            <a:r>
              <a:rPr lang="en-US" sz="2025" dirty="0">
                <a:latin typeface="+mn-lt"/>
              </a:rPr>
              <a:t>P(c|d5) </a:t>
            </a:r>
          </a:p>
          <a:p>
            <a:endParaRPr lang="en-US" sz="2025" dirty="0">
              <a:latin typeface="+mn-lt"/>
            </a:endParaRPr>
          </a:p>
          <a:p>
            <a:endParaRPr lang="en-US" sz="2025" dirty="0">
              <a:latin typeface="+mn-lt"/>
            </a:endParaRPr>
          </a:p>
          <a:p>
            <a:endParaRPr lang="en-US" sz="2025" dirty="0">
              <a:latin typeface="+mn-lt"/>
            </a:endParaRPr>
          </a:p>
          <a:p>
            <a:r>
              <a:rPr lang="en-US" sz="2025" dirty="0">
                <a:latin typeface="+mn-lt"/>
              </a:rPr>
              <a:t>P(j|d5) </a:t>
            </a:r>
          </a:p>
          <a:p>
            <a:endParaRPr lang="en-US" sz="2025" dirty="0">
              <a:latin typeface="+mn-lt"/>
            </a:endParaRPr>
          </a:p>
          <a:p>
            <a:endParaRPr lang="en-US" sz="2025" dirty="0">
              <a:latin typeface="+mn-lt"/>
            </a:endParaRPr>
          </a:p>
          <a:p>
            <a:endParaRPr lang="en-US" sz="2025" dirty="0">
              <a:latin typeface="+mn-lt"/>
            </a:endParaRPr>
          </a:p>
        </p:txBody>
      </p:sp>
      <p:sp>
        <p:nvSpPr>
          <p:cNvPr id="40" name="TextBox 39"/>
          <p:cNvSpPr txBox="1"/>
          <p:nvPr/>
        </p:nvSpPr>
        <p:spPr>
          <a:xfrm>
            <a:off x="6600825" y="5263314"/>
            <a:ext cx="2983509" cy="646331"/>
          </a:xfrm>
          <a:prstGeom prst="rect">
            <a:avLst/>
          </a:prstGeom>
          <a:noFill/>
        </p:spPr>
        <p:txBody>
          <a:bodyPr wrap="none" rtlCol="0">
            <a:spAutoFit/>
          </a:bodyPr>
          <a:lstStyle/>
          <a:p>
            <a:pPr lvl="1"/>
            <a:r>
              <a:rPr lang="en-US" altLang="zh-TW" dirty="0">
                <a:latin typeface="Calibri" charset="0"/>
              </a:rPr>
              <a:t> </a:t>
            </a:r>
            <a:r>
              <a:rPr lang="en-US" altLang="zh-TW" dirty="0">
                <a:latin typeface="Calibri" charset="0"/>
                <a:ea typeface="Arial" charset="0"/>
                <a:cs typeface="Arial" charset="0"/>
              </a:rPr>
              <a:t>1/4 * (2/9)</a:t>
            </a:r>
            <a:r>
              <a:rPr lang="en-US" altLang="zh-TW" baseline="30000" dirty="0">
                <a:latin typeface="Calibri" charset="0"/>
                <a:ea typeface="Arial" charset="0"/>
                <a:cs typeface="Arial" charset="0"/>
              </a:rPr>
              <a:t>3</a:t>
            </a:r>
            <a:r>
              <a:rPr lang="en-US" altLang="zh-TW" dirty="0">
                <a:latin typeface="Calibri" charset="0"/>
                <a:ea typeface="Arial" charset="0"/>
                <a:cs typeface="Arial" charset="0"/>
              </a:rPr>
              <a:t> * 2/9 * 2/9 </a:t>
            </a:r>
            <a:r>
              <a:rPr lang="en-US" altLang="zh-TW" dirty="0">
                <a:latin typeface="Calibri" charset="0"/>
              </a:rPr>
              <a:t> </a:t>
            </a:r>
          </a:p>
          <a:p>
            <a:pPr lvl="1">
              <a:buFont typeface="Wingdings" charset="2"/>
              <a:buNone/>
            </a:pPr>
            <a:r>
              <a:rPr lang="en-US" altLang="zh-TW" dirty="0">
                <a:latin typeface="Calibri" charset="0"/>
                <a:ea typeface="Arial" charset="0"/>
                <a:cs typeface="Arial" charset="0"/>
              </a:rPr>
              <a:t>	≈ 0.0001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87706708"/>
              </p:ext>
            </p:extLst>
          </p:nvPr>
        </p:nvGraphicFramePr>
        <p:xfrm>
          <a:off x="3130291" y="218066"/>
          <a:ext cx="6931049" cy="2239138"/>
        </p:xfrm>
        <a:graphic>
          <a:graphicData uri="http://schemas.openxmlformats.org/drawingml/2006/table">
            <a:tbl>
              <a:tblPr firstRow="1" bandRow="1">
                <a:tableStyleId>{5C22544A-7EE6-4342-B048-85BDC9FD1C3A}</a:tableStyleId>
              </a:tblPr>
              <a:tblGrid>
                <a:gridCol w="1119783">
                  <a:extLst>
                    <a:ext uri="{9D8B030D-6E8A-4147-A177-3AD203B41FA5}">
                      <a16:colId xmlns:a16="http://schemas.microsoft.com/office/drawing/2014/main" val="20000"/>
                    </a:ext>
                  </a:extLst>
                </a:gridCol>
                <a:gridCol w="701040">
                  <a:extLst>
                    <a:ext uri="{9D8B030D-6E8A-4147-A177-3AD203B41FA5}">
                      <a16:colId xmlns:a16="http://schemas.microsoft.com/office/drawing/2014/main" val="20001"/>
                    </a:ext>
                  </a:extLst>
                </a:gridCol>
                <a:gridCol w="4252976">
                  <a:extLst>
                    <a:ext uri="{9D8B030D-6E8A-4147-A177-3AD203B41FA5}">
                      <a16:colId xmlns:a16="http://schemas.microsoft.com/office/drawing/2014/main" val="20002"/>
                    </a:ext>
                  </a:extLst>
                </a:gridCol>
                <a:gridCol w="857250">
                  <a:extLst>
                    <a:ext uri="{9D8B030D-6E8A-4147-A177-3AD203B41FA5}">
                      <a16:colId xmlns:a16="http://schemas.microsoft.com/office/drawing/2014/main" val="20003"/>
                    </a:ext>
                  </a:extLst>
                </a:gridCol>
              </a:tblGrid>
              <a:tr h="490919">
                <a:tc>
                  <a:txBody>
                    <a:bodyPr/>
                    <a:lstStyle/>
                    <a:p>
                      <a:pPr>
                        <a:lnSpc>
                          <a:spcPct val="70000"/>
                        </a:lnSpc>
                      </a:pPr>
                      <a:endParaRPr lang="en-US" sz="1800" dirty="0"/>
                    </a:p>
                  </a:txBody>
                  <a:tcPr marL="102870" marR="102870" marT="51435" marB="51435"/>
                </a:tc>
                <a:tc>
                  <a:txBody>
                    <a:bodyPr/>
                    <a:lstStyle/>
                    <a:p>
                      <a:pPr>
                        <a:lnSpc>
                          <a:spcPct val="70000"/>
                        </a:lnSpc>
                      </a:pPr>
                      <a:r>
                        <a:rPr lang="en-US" sz="1800" dirty="0"/>
                        <a:t>Doc</a:t>
                      </a:r>
                    </a:p>
                  </a:txBody>
                  <a:tcPr marL="102870" marR="102870" marT="51435" marB="51435"/>
                </a:tc>
                <a:tc>
                  <a:txBody>
                    <a:bodyPr/>
                    <a:lstStyle/>
                    <a:p>
                      <a:pPr>
                        <a:lnSpc>
                          <a:spcPct val="70000"/>
                        </a:lnSpc>
                      </a:pPr>
                      <a:r>
                        <a:rPr lang="en-US" sz="1800" dirty="0"/>
                        <a:t>Words</a:t>
                      </a:r>
                    </a:p>
                  </a:txBody>
                  <a:tcPr marL="102870" marR="102870" marT="51435" marB="51435"/>
                </a:tc>
                <a:tc>
                  <a:txBody>
                    <a:bodyPr/>
                    <a:lstStyle/>
                    <a:p>
                      <a:pPr>
                        <a:lnSpc>
                          <a:spcPct val="70000"/>
                        </a:lnSpc>
                      </a:pPr>
                      <a:r>
                        <a:rPr lang="en-US" sz="1800" dirty="0"/>
                        <a:t>Class</a:t>
                      </a:r>
                    </a:p>
                  </a:txBody>
                  <a:tcPr marL="102870" marR="102870" marT="51435" marB="51435"/>
                </a:tc>
                <a:extLst>
                  <a:ext uri="{0D108BD9-81ED-4DB2-BD59-A6C34878D82A}">
                    <a16:rowId xmlns:a16="http://schemas.microsoft.com/office/drawing/2014/main" val="10000"/>
                  </a:ext>
                </a:extLst>
              </a:tr>
              <a:tr h="314325">
                <a:tc>
                  <a:txBody>
                    <a:bodyPr/>
                    <a:lstStyle/>
                    <a:p>
                      <a:pPr>
                        <a:lnSpc>
                          <a:spcPct val="70000"/>
                        </a:lnSpc>
                      </a:pPr>
                      <a:r>
                        <a:rPr lang="en-US" sz="1800" dirty="0"/>
                        <a:t>Training</a:t>
                      </a:r>
                    </a:p>
                  </a:txBody>
                  <a:tcPr marL="102870" marR="102870" marT="51435" marB="51435">
                    <a:solidFill>
                      <a:schemeClr val="accent6">
                        <a:lumMod val="20000"/>
                        <a:lumOff val="80000"/>
                      </a:schemeClr>
                    </a:solidFill>
                  </a:tcPr>
                </a:tc>
                <a:tc>
                  <a:txBody>
                    <a:bodyPr/>
                    <a:lstStyle/>
                    <a:p>
                      <a:pPr>
                        <a:lnSpc>
                          <a:spcPct val="70000"/>
                        </a:lnSpc>
                      </a:pPr>
                      <a:r>
                        <a:rPr lang="en-US" sz="1800" dirty="0"/>
                        <a:t>1</a:t>
                      </a:r>
                    </a:p>
                  </a:txBody>
                  <a:tcPr marL="102870" marR="102870" marT="51435" marB="51435">
                    <a:solidFill>
                      <a:schemeClr val="accent6">
                        <a:lumMod val="20000"/>
                        <a:lumOff val="80000"/>
                      </a:schemeClr>
                    </a:solidFill>
                  </a:tcPr>
                </a:tc>
                <a:tc>
                  <a:txBody>
                    <a:bodyPr/>
                    <a:lstStyle/>
                    <a:p>
                      <a:pPr>
                        <a:lnSpc>
                          <a:spcPct val="70000"/>
                        </a:lnSpc>
                      </a:pPr>
                      <a:r>
                        <a:rPr lang="en-US" sz="1800" dirty="0"/>
                        <a:t>Chinese</a:t>
                      </a:r>
                      <a:r>
                        <a:rPr lang="en-US" sz="1800" baseline="0" dirty="0"/>
                        <a:t> Beijing Chinese</a:t>
                      </a:r>
                      <a:endParaRPr lang="en-US" sz="1800" dirty="0"/>
                    </a:p>
                  </a:txBody>
                  <a:tcPr marL="102870" marR="102870" marT="51435" marB="51435">
                    <a:solidFill>
                      <a:schemeClr val="accent6">
                        <a:lumMod val="20000"/>
                        <a:lumOff val="80000"/>
                      </a:schemeClr>
                    </a:solidFill>
                  </a:tcPr>
                </a:tc>
                <a:tc>
                  <a:txBody>
                    <a:bodyPr/>
                    <a:lstStyle/>
                    <a:p>
                      <a:pPr>
                        <a:lnSpc>
                          <a:spcPct val="70000"/>
                        </a:lnSpc>
                      </a:pPr>
                      <a:r>
                        <a:rPr lang="en-US" sz="1800" dirty="0"/>
                        <a:t>c</a:t>
                      </a:r>
                    </a:p>
                  </a:txBody>
                  <a:tcPr marL="102870" marR="102870" marT="51435" marB="51435">
                    <a:solidFill>
                      <a:schemeClr val="accent6">
                        <a:lumMod val="20000"/>
                        <a:lumOff val="80000"/>
                      </a:schemeClr>
                    </a:solidFill>
                  </a:tcPr>
                </a:tc>
                <a:extLst>
                  <a:ext uri="{0D108BD9-81ED-4DB2-BD59-A6C34878D82A}">
                    <a16:rowId xmlns:a16="http://schemas.microsoft.com/office/drawing/2014/main" val="10001"/>
                  </a:ext>
                </a:extLst>
              </a:tr>
              <a:tr h="314325">
                <a:tc>
                  <a:txBody>
                    <a:bodyPr/>
                    <a:lstStyle/>
                    <a:p>
                      <a:pPr>
                        <a:lnSpc>
                          <a:spcPct val="70000"/>
                        </a:lnSpc>
                      </a:pPr>
                      <a:endParaRPr lang="en-US" sz="1800" dirty="0"/>
                    </a:p>
                  </a:txBody>
                  <a:tcPr marL="102870" marR="102870" marT="51435" marB="51435">
                    <a:solidFill>
                      <a:schemeClr val="accent6">
                        <a:lumMod val="20000"/>
                        <a:lumOff val="80000"/>
                      </a:schemeClr>
                    </a:solidFill>
                  </a:tcPr>
                </a:tc>
                <a:tc>
                  <a:txBody>
                    <a:bodyPr/>
                    <a:lstStyle/>
                    <a:p>
                      <a:pPr>
                        <a:lnSpc>
                          <a:spcPct val="70000"/>
                        </a:lnSpc>
                      </a:pPr>
                      <a:r>
                        <a:rPr lang="en-US" sz="1800" dirty="0"/>
                        <a:t>2</a:t>
                      </a:r>
                    </a:p>
                  </a:txBody>
                  <a:tcPr marL="102870" marR="102870" marT="51435" marB="51435">
                    <a:solidFill>
                      <a:schemeClr val="accent6">
                        <a:lumMod val="20000"/>
                        <a:lumOff val="80000"/>
                      </a:schemeClr>
                    </a:solidFill>
                  </a:tcPr>
                </a:tc>
                <a:tc>
                  <a:txBody>
                    <a:bodyPr/>
                    <a:lstStyle/>
                    <a:p>
                      <a:pPr>
                        <a:lnSpc>
                          <a:spcPct val="70000"/>
                        </a:lnSpc>
                      </a:pPr>
                      <a:r>
                        <a:rPr lang="en-US" sz="1800" dirty="0"/>
                        <a:t>Chinese Chinese Shanghai</a:t>
                      </a:r>
                    </a:p>
                  </a:txBody>
                  <a:tcPr marL="102870" marR="102870" marT="51435" marB="51435">
                    <a:solidFill>
                      <a:schemeClr val="accent6">
                        <a:lumMod val="20000"/>
                        <a:lumOff val="80000"/>
                      </a:schemeClr>
                    </a:solidFill>
                  </a:tcPr>
                </a:tc>
                <a:tc>
                  <a:txBody>
                    <a:bodyPr/>
                    <a:lstStyle/>
                    <a:p>
                      <a:pPr>
                        <a:lnSpc>
                          <a:spcPct val="70000"/>
                        </a:lnSpc>
                      </a:pPr>
                      <a:r>
                        <a:rPr lang="en-US" sz="1800" dirty="0"/>
                        <a:t>c</a:t>
                      </a:r>
                    </a:p>
                  </a:txBody>
                  <a:tcPr marL="102870" marR="102870" marT="51435" marB="51435">
                    <a:solidFill>
                      <a:schemeClr val="accent6">
                        <a:lumMod val="20000"/>
                        <a:lumOff val="80000"/>
                      </a:schemeClr>
                    </a:solidFill>
                  </a:tcPr>
                </a:tc>
                <a:extLst>
                  <a:ext uri="{0D108BD9-81ED-4DB2-BD59-A6C34878D82A}">
                    <a16:rowId xmlns:a16="http://schemas.microsoft.com/office/drawing/2014/main" val="10002"/>
                  </a:ext>
                </a:extLst>
              </a:tr>
              <a:tr h="314325">
                <a:tc>
                  <a:txBody>
                    <a:bodyPr/>
                    <a:lstStyle/>
                    <a:p>
                      <a:pPr>
                        <a:lnSpc>
                          <a:spcPct val="70000"/>
                        </a:lnSpc>
                      </a:pPr>
                      <a:endParaRPr lang="en-US" sz="1800"/>
                    </a:p>
                  </a:txBody>
                  <a:tcPr marL="102870" marR="102870" marT="51435" marB="51435">
                    <a:solidFill>
                      <a:schemeClr val="accent6">
                        <a:lumMod val="20000"/>
                        <a:lumOff val="80000"/>
                      </a:schemeClr>
                    </a:solidFill>
                  </a:tcPr>
                </a:tc>
                <a:tc>
                  <a:txBody>
                    <a:bodyPr/>
                    <a:lstStyle/>
                    <a:p>
                      <a:pPr>
                        <a:lnSpc>
                          <a:spcPct val="70000"/>
                        </a:lnSpc>
                      </a:pPr>
                      <a:r>
                        <a:rPr lang="en-US" sz="1800" dirty="0"/>
                        <a:t>3</a:t>
                      </a:r>
                    </a:p>
                  </a:txBody>
                  <a:tcPr marL="102870" marR="102870" marT="51435" marB="51435">
                    <a:solidFill>
                      <a:schemeClr val="accent6">
                        <a:lumMod val="20000"/>
                        <a:lumOff val="80000"/>
                      </a:schemeClr>
                    </a:solidFill>
                  </a:tcPr>
                </a:tc>
                <a:tc>
                  <a:txBody>
                    <a:bodyPr/>
                    <a:lstStyle/>
                    <a:p>
                      <a:pPr>
                        <a:lnSpc>
                          <a:spcPct val="70000"/>
                        </a:lnSpc>
                      </a:pPr>
                      <a:r>
                        <a:rPr lang="en-US" sz="1800" dirty="0"/>
                        <a:t>Chinese Macao</a:t>
                      </a:r>
                    </a:p>
                  </a:txBody>
                  <a:tcPr marL="102870" marR="102870" marT="51435" marB="51435">
                    <a:solidFill>
                      <a:schemeClr val="accent6">
                        <a:lumMod val="20000"/>
                        <a:lumOff val="80000"/>
                      </a:schemeClr>
                    </a:solidFill>
                  </a:tcPr>
                </a:tc>
                <a:tc>
                  <a:txBody>
                    <a:bodyPr/>
                    <a:lstStyle/>
                    <a:p>
                      <a:pPr>
                        <a:lnSpc>
                          <a:spcPct val="70000"/>
                        </a:lnSpc>
                      </a:pPr>
                      <a:r>
                        <a:rPr lang="en-US" sz="1800" dirty="0"/>
                        <a:t>c</a:t>
                      </a:r>
                    </a:p>
                  </a:txBody>
                  <a:tcPr marL="102870" marR="102870" marT="51435" marB="51435">
                    <a:solidFill>
                      <a:schemeClr val="accent6">
                        <a:lumMod val="20000"/>
                        <a:lumOff val="80000"/>
                      </a:schemeClr>
                    </a:solidFill>
                  </a:tcPr>
                </a:tc>
                <a:extLst>
                  <a:ext uri="{0D108BD9-81ED-4DB2-BD59-A6C34878D82A}">
                    <a16:rowId xmlns:a16="http://schemas.microsoft.com/office/drawing/2014/main" val="10003"/>
                  </a:ext>
                </a:extLst>
              </a:tr>
              <a:tr h="314325">
                <a:tc>
                  <a:txBody>
                    <a:bodyPr/>
                    <a:lstStyle/>
                    <a:p>
                      <a:pPr>
                        <a:lnSpc>
                          <a:spcPct val="70000"/>
                        </a:lnSpc>
                      </a:pPr>
                      <a:endParaRPr lang="en-US" sz="1800"/>
                    </a:p>
                  </a:txBody>
                  <a:tcPr marL="102870" marR="102870" marT="51435" marB="51435">
                    <a:solidFill>
                      <a:schemeClr val="accent6">
                        <a:lumMod val="20000"/>
                        <a:lumOff val="80000"/>
                      </a:schemeClr>
                    </a:solidFill>
                  </a:tcPr>
                </a:tc>
                <a:tc>
                  <a:txBody>
                    <a:bodyPr/>
                    <a:lstStyle/>
                    <a:p>
                      <a:pPr>
                        <a:lnSpc>
                          <a:spcPct val="70000"/>
                        </a:lnSpc>
                      </a:pPr>
                      <a:r>
                        <a:rPr lang="en-US" sz="1800" dirty="0"/>
                        <a:t>4</a:t>
                      </a:r>
                    </a:p>
                  </a:txBody>
                  <a:tcPr marL="102870" marR="102870" marT="51435" marB="51435">
                    <a:solidFill>
                      <a:schemeClr val="accent6">
                        <a:lumMod val="20000"/>
                        <a:lumOff val="80000"/>
                      </a:schemeClr>
                    </a:solidFill>
                  </a:tcPr>
                </a:tc>
                <a:tc>
                  <a:txBody>
                    <a:bodyPr/>
                    <a:lstStyle/>
                    <a:p>
                      <a:pPr>
                        <a:lnSpc>
                          <a:spcPct val="70000"/>
                        </a:lnSpc>
                      </a:pPr>
                      <a:r>
                        <a:rPr lang="en-US" sz="1800" dirty="0"/>
                        <a:t>Tokyo Japan Chinese</a:t>
                      </a:r>
                    </a:p>
                  </a:txBody>
                  <a:tcPr marL="102870" marR="102870" marT="51435" marB="51435">
                    <a:solidFill>
                      <a:schemeClr val="accent6">
                        <a:lumMod val="20000"/>
                        <a:lumOff val="80000"/>
                      </a:schemeClr>
                    </a:solidFill>
                  </a:tcPr>
                </a:tc>
                <a:tc>
                  <a:txBody>
                    <a:bodyPr/>
                    <a:lstStyle/>
                    <a:p>
                      <a:pPr>
                        <a:lnSpc>
                          <a:spcPct val="70000"/>
                        </a:lnSpc>
                      </a:pPr>
                      <a:r>
                        <a:rPr lang="en-US" sz="1800" dirty="0"/>
                        <a:t>j</a:t>
                      </a:r>
                    </a:p>
                  </a:txBody>
                  <a:tcPr marL="102870" marR="102870" marT="51435" marB="51435">
                    <a:solidFill>
                      <a:schemeClr val="accent6">
                        <a:lumMod val="20000"/>
                        <a:lumOff val="80000"/>
                      </a:schemeClr>
                    </a:solidFill>
                  </a:tcPr>
                </a:tc>
                <a:extLst>
                  <a:ext uri="{0D108BD9-81ED-4DB2-BD59-A6C34878D82A}">
                    <a16:rowId xmlns:a16="http://schemas.microsoft.com/office/drawing/2014/main" val="10004"/>
                  </a:ext>
                </a:extLst>
              </a:tr>
              <a:tr h="490919">
                <a:tc>
                  <a:txBody>
                    <a:bodyPr/>
                    <a:lstStyle/>
                    <a:p>
                      <a:pPr>
                        <a:lnSpc>
                          <a:spcPct val="70000"/>
                        </a:lnSpc>
                      </a:pPr>
                      <a:r>
                        <a:rPr lang="en-US" sz="1800" dirty="0"/>
                        <a:t>Test</a:t>
                      </a:r>
                    </a:p>
                  </a:txBody>
                  <a:tcPr marL="102870" marR="102870" marT="51435" marB="51435"/>
                </a:tc>
                <a:tc>
                  <a:txBody>
                    <a:bodyPr/>
                    <a:lstStyle/>
                    <a:p>
                      <a:pPr>
                        <a:lnSpc>
                          <a:spcPct val="70000"/>
                        </a:lnSpc>
                      </a:pPr>
                      <a:r>
                        <a:rPr lang="en-US" sz="1800" dirty="0"/>
                        <a:t>5</a:t>
                      </a:r>
                    </a:p>
                  </a:txBody>
                  <a:tcPr marL="102870" marR="102870" marT="51435" marB="51435"/>
                </a:tc>
                <a:tc>
                  <a:txBody>
                    <a:bodyPr/>
                    <a:lstStyle/>
                    <a:p>
                      <a:pPr>
                        <a:lnSpc>
                          <a:spcPct val="70000"/>
                        </a:lnSpc>
                      </a:pPr>
                      <a:r>
                        <a:rPr lang="en-US" sz="1800" dirty="0"/>
                        <a:t>Chinese Chinese Chinese Tokyo</a:t>
                      </a:r>
                      <a:r>
                        <a:rPr lang="en-US" sz="1800" baseline="0" dirty="0"/>
                        <a:t> Japan</a:t>
                      </a:r>
                      <a:endParaRPr lang="en-US" sz="1800" dirty="0"/>
                    </a:p>
                  </a:txBody>
                  <a:tcPr marL="102870" marR="102870" marT="51435" marB="51435"/>
                </a:tc>
                <a:tc>
                  <a:txBody>
                    <a:bodyPr/>
                    <a:lstStyle/>
                    <a:p>
                      <a:pPr>
                        <a:lnSpc>
                          <a:spcPct val="70000"/>
                        </a:lnSpc>
                      </a:pPr>
                      <a:r>
                        <a:rPr lang="en-US" sz="1800" dirty="0"/>
                        <a:t>?</a:t>
                      </a:r>
                    </a:p>
                  </a:txBody>
                  <a:tcPr marL="102870" marR="102870" marT="51435" marB="51435"/>
                </a:tc>
                <a:extLst>
                  <a:ext uri="{0D108BD9-81ED-4DB2-BD59-A6C34878D82A}">
                    <a16:rowId xmlns:a16="http://schemas.microsoft.com/office/drawing/2014/main" val="10005"/>
                  </a:ext>
                </a:extLst>
              </a:tr>
            </a:tbl>
          </a:graphicData>
        </a:graphic>
      </p:graphicFrame>
      <p:sp>
        <p:nvSpPr>
          <p:cNvPr id="7" name="TextBox 6"/>
          <p:cNvSpPr txBox="1"/>
          <p:nvPr/>
        </p:nvSpPr>
        <p:spPr>
          <a:xfrm>
            <a:off x="942975" y="3943351"/>
            <a:ext cx="3329758" cy="2273699"/>
          </a:xfrm>
          <a:prstGeom prst="rect">
            <a:avLst/>
          </a:prstGeom>
          <a:noFill/>
        </p:spPr>
        <p:txBody>
          <a:bodyPr wrap="none" rtlCol="0">
            <a:spAutoFit/>
          </a:bodyPr>
          <a:lstStyle/>
          <a:p>
            <a:r>
              <a:rPr lang="en-US" sz="2025" b="1" dirty="0">
                <a:latin typeface="+mn-lt"/>
              </a:rPr>
              <a:t>Conditional Probabilities:</a:t>
            </a:r>
          </a:p>
          <a:p>
            <a:r>
              <a:rPr lang="en-US" sz="2025" dirty="0">
                <a:latin typeface="+mn-lt"/>
              </a:rPr>
              <a:t>P(</a:t>
            </a:r>
            <a:r>
              <a:rPr lang="en-US" sz="2025" dirty="0" err="1">
                <a:latin typeface="+mn-lt"/>
              </a:rPr>
              <a:t>Chinese|</a:t>
            </a:r>
            <a:r>
              <a:rPr lang="en-US" sz="2025" i="1" dirty="0" err="1">
                <a:latin typeface="+mn-lt"/>
              </a:rPr>
              <a:t>c</a:t>
            </a:r>
            <a:r>
              <a:rPr lang="en-US" sz="2025" dirty="0">
                <a:latin typeface="+mn-lt"/>
              </a:rPr>
              <a:t>) =</a:t>
            </a:r>
          </a:p>
          <a:p>
            <a:r>
              <a:rPr lang="en-US" sz="2025" dirty="0">
                <a:latin typeface="+mn-lt"/>
              </a:rPr>
              <a:t>P(</a:t>
            </a:r>
            <a:r>
              <a:rPr lang="en-US" sz="2025" dirty="0" err="1">
                <a:latin typeface="+mn-lt"/>
              </a:rPr>
              <a:t>Tokyo|</a:t>
            </a:r>
            <a:r>
              <a:rPr lang="en-US" sz="2025" i="1" dirty="0" err="1">
                <a:latin typeface="+mn-lt"/>
              </a:rPr>
              <a:t>c</a:t>
            </a:r>
            <a:r>
              <a:rPr lang="en-US" sz="2025" dirty="0">
                <a:latin typeface="+mn-lt"/>
              </a:rPr>
              <a:t>)    =</a:t>
            </a:r>
          </a:p>
          <a:p>
            <a:r>
              <a:rPr lang="en-US" sz="2025" dirty="0">
                <a:latin typeface="+mn-lt"/>
              </a:rPr>
              <a:t>P(</a:t>
            </a:r>
            <a:r>
              <a:rPr lang="en-US" sz="2025" dirty="0" err="1">
                <a:latin typeface="+mn-lt"/>
              </a:rPr>
              <a:t>Japan|</a:t>
            </a:r>
            <a:r>
              <a:rPr lang="en-US" sz="2025" i="1" dirty="0" err="1">
                <a:latin typeface="+mn-lt"/>
              </a:rPr>
              <a:t>c</a:t>
            </a:r>
            <a:r>
              <a:rPr lang="en-US" sz="2025" dirty="0">
                <a:latin typeface="+mn-lt"/>
              </a:rPr>
              <a:t>)     =</a:t>
            </a:r>
          </a:p>
          <a:p>
            <a:r>
              <a:rPr lang="en-US" sz="2025" dirty="0">
                <a:latin typeface="+mn-lt"/>
              </a:rPr>
              <a:t>P(</a:t>
            </a:r>
            <a:r>
              <a:rPr lang="en-US" sz="2025" dirty="0" err="1">
                <a:latin typeface="+mn-lt"/>
              </a:rPr>
              <a:t>Chinese|</a:t>
            </a:r>
            <a:r>
              <a:rPr lang="en-US" sz="2025" i="1" dirty="0" err="1">
                <a:latin typeface="+mn-lt"/>
              </a:rPr>
              <a:t>j</a:t>
            </a:r>
            <a:r>
              <a:rPr lang="en-US" sz="2025" dirty="0">
                <a:latin typeface="+mn-lt"/>
              </a:rPr>
              <a:t>) =</a:t>
            </a:r>
          </a:p>
          <a:p>
            <a:r>
              <a:rPr lang="en-US" sz="2025" dirty="0">
                <a:latin typeface="+mn-lt"/>
              </a:rPr>
              <a:t>P(</a:t>
            </a:r>
            <a:r>
              <a:rPr lang="en-US" sz="2025" dirty="0" err="1">
                <a:latin typeface="+mn-lt"/>
              </a:rPr>
              <a:t>Tokyo|</a:t>
            </a:r>
            <a:r>
              <a:rPr lang="en-US" sz="2025" i="1" dirty="0" err="1">
                <a:latin typeface="+mn-lt"/>
              </a:rPr>
              <a:t>j</a:t>
            </a:r>
            <a:r>
              <a:rPr lang="en-US" sz="2025" dirty="0">
                <a:latin typeface="+mn-lt"/>
              </a:rPr>
              <a:t>)     =</a:t>
            </a:r>
          </a:p>
          <a:p>
            <a:r>
              <a:rPr lang="en-US" sz="2025" dirty="0">
                <a:latin typeface="+mn-lt"/>
              </a:rPr>
              <a:t>P(</a:t>
            </a:r>
            <a:r>
              <a:rPr lang="en-US" sz="2025" dirty="0" err="1">
                <a:latin typeface="+mn-lt"/>
              </a:rPr>
              <a:t>Japan|</a:t>
            </a:r>
            <a:r>
              <a:rPr lang="en-US" sz="2025" i="1" dirty="0" err="1">
                <a:latin typeface="+mn-lt"/>
              </a:rPr>
              <a:t>j</a:t>
            </a:r>
            <a:r>
              <a:rPr lang="en-US" sz="2025" dirty="0">
                <a:latin typeface="+mn-lt"/>
              </a:rPr>
              <a:t>)      = </a:t>
            </a:r>
          </a:p>
        </p:txBody>
      </p:sp>
      <p:sp>
        <p:nvSpPr>
          <p:cNvPr id="8" name="TextBox 7"/>
          <p:cNvSpPr txBox="1"/>
          <p:nvPr/>
        </p:nvSpPr>
        <p:spPr>
          <a:xfrm>
            <a:off x="514350" y="2599677"/>
            <a:ext cx="1200149" cy="1061829"/>
          </a:xfrm>
          <a:prstGeom prst="rect">
            <a:avLst/>
          </a:prstGeom>
          <a:noFill/>
        </p:spPr>
        <p:txBody>
          <a:bodyPr wrap="square" rtlCol="0">
            <a:spAutoFit/>
          </a:bodyPr>
          <a:lstStyle/>
          <a:p>
            <a:r>
              <a:rPr lang="en-US" sz="2025" b="1" dirty="0">
                <a:latin typeface="+mn-lt"/>
              </a:rPr>
              <a:t>Priors:</a:t>
            </a:r>
          </a:p>
          <a:p>
            <a:r>
              <a:rPr lang="en-US" sz="2025" i="1" dirty="0">
                <a:latin typeface="+mn-lt"/>
              </a:rPr>
              <a:t>P</a:t>
            </a:r>
            <a:r>
              <a:rPr lang="en-US" sz="2025" dirty="0">
                <a:latin typeface="+mn-lt"/>
              </a:rPr>
              <a:t>(</a:t>
            </a:r>
            <a:r>
              <a:rPr lang="en-US" sz="2025" i="1" dirty="0">
                <a:latin typeface="+mn-lt"/>
              </a:rPr>
              <a:t>c</a:t>
            </a:r>
            <a:r>
              <a:rPr lang="en-US" sz="2025" dirty="0">
                <a:latin typeface="+mn-lt"/>
              </a:rPr>
              <a:t>)= </a:t>
            </a:r>
          </a:p>
          <a:p>
            <a:endParaRPr lang="en-US" sz="225" i="1" dirty="0">
              <a:latin typeface="+mn-lt"/>
            </a:endParaRPr>
          </a:p>
          <a:p>
            <a:r>
              <a:rPr lang="en-US" sz="2025" i="1" dirty="0">
                <a:latin typeface="+mn-lt"/>
              </a:rPr>
              <a:t>P</a:t>
            </a:r>
            <a:r>
              <a:rPr lang="en-US" sz="2025" dirty="0">
                <a:latin typeface="+mn-lt"/>
              </a:rPr>
              <a:t>(</a:t>
            </a:r>
            <a:r>
              <a:rPr lang="en-US" sz="2025" i="1" dirty="0">
                <a:latin typeface="+mn-lt"/>
              </a:rPr>
              <a:t>j</a:t>
            </a:r>
            <a:r>
              <a:rPr lang="en-US" sz="2025" dirty="0">
                <a:latin typeface="+mn-lt"/>
              </a:rPr>
              <a:t>)= </a:t>
            </a:r>
          </a:p>
        </p:txBody>
      </p:sp>
      <p:sp>
        <p:nvSpPr>
          <p:cNvPr id="12" name="TextBox 11"/>
          <p:cNvSpPr txBox="1"/>
          <p:nvPr/>
        </p:nvSpPr>
        <p:spPr>
          <a:xfrm>
            <a:off x="1285876" y="2884780"/>
            <a:ext cx="372979" cy="646331"/>
          </a:xfrm>
          <a:prstGeom prst="rect">
            <a:avLst/>
          </a:prstGeom>
          <a:noFill/>
        </p:spPr>
        <p:txBody>
          <a:bodyPr wrap="square" rtlCol="0">
            <a:spAutoFit/>
          </a:bodyPr>
          <a:lstStyle/>
          <a:p>
            <a:r>
              <a:rPr lang="en-US" dirty="0">
                <a:latin typeface="+mn-lt"/>
              </a:rPr>
              <a:t>3</a:t>
            </a:r>
          </a:p>
          <a:p>
            <a:endParaRPr lang="en-US" dirty="0">
              <a:latin typeface="+mn-lt"/>
            </a:endParaRPr>
          </a:p>
        </p:txBody>
      </p:sp>
      <p:sp>
        <p:nvSpPr>
          <p:cNvPr id="13" name="TextBox 12"/>
          <p:cNvSpPr txBox="1"/>
          <p:nvPr/>
        </p:nvSpPr>
        <p:spPr>
          <a:xfrm>
            <a:off x="1285875" y="3137445"/>
            <a:ext cx="342900" cy="369332"/>
          </a:xfrm>
          <a:prstGeom prst="rect">
            <a:avLst/>
          </a:prstGeom>
          <a:noFill/>
        </p:spPr>
        <p:txBody>
          <a:bodyPr wrap="square" rtlCol="0">
            <a:spAutoFit/>
          </a:bodyPr>
          <a:lstStyle/>
          <a:p>
            <a:r>
              <a:rPr lang="en-US" dirty="0">
                <a:latin typeface="+mn-lt"/>
              </a:rPr>
              <a:t>4</a:t>
            </a:r>
          </a:p>
        </p:txBody>
      </p:sp>
      <p:cxnSp>
        <p:nvCxnSpPr>
          <p:cNvPr id="15" name="Straight Connector 14"/>
          <p:cNvCxnSpPr/>
          <p:nvPr/>
        </p:nvCxnSpPr>
        <p:spPr bwMode="auto">
          <a:xfrm>
            <a:off x="1346031" y="3223170"/>
            <a:ext cx="200205" cy="0"/>
          </a:xfrm>
          <a:prstGeom prst="line">
            <a:avLst/>
          </a:prstGeom>
          <a:ln>
            <a:headEnd type="none" w="med" len="med"/>
            <a:tailEnd type="none" w="med" len="med"/>
          </a:ln>
          <a:effectLst/>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1543051" y="3114028"/>
            <a:ext cx="372979" cy="646331"/>
          </a:xfrm>
          <a:prstGeom prst="rect">
            <a:avLst/>
          </a:prstGeom>
          <a:noFill/>
        </p:spPr>
        <p:txBody>
          <a:bodyPr wrap="square" rtlCol="0">
            <a:spAutoFit/>
          </a:bodyPr>
          <a:lstStyle/>
          <a:p>
            <a:r>
              <a:rPr lang="en-US" dirty="0">
                <a:latin typeface="+mn-lt"/>
              </a:rPr>
              <a:t>1</a:t>
            </a:r>
          </a:p>
          <a:p>
            <a:endParaRPr lang="en-US" dirty="0">
              <a:latin typeface="+mn-lt"/>
            </a:endParaRPr>
          </a:p>
        </p:txBody>
      </p:sp>
      <p:sp>
        <p:nvSpPr>
          <p:cNvPr id="24" name="TextBox 23"/>
          <p:cNvSpPr txBox="1"/>
          <p:nvPr/>
        </p:nvSpPr>
        <p:spPr>
          <a:xfrm>
            <a:off x="1543050" y="3366693"/>
            <a:ext cx="342900" cy="369332"/>
          </a:xfrm>
          <a:prstGeom prst="rect">
            <a:avLst/>
          </a:prstGeom>
          <a:noFill/>
        </p:spPr>
        <p:txBody>
          <a:bodyPr wrap="square" rtlCol="0">
            <a:spAutoFit/>
          </a:bodyPr>
          <a:lstStyle/>
          <a:p>
            <a:r>
              <a:rPr lang="en-US" dirty="0">
                <a:latin typeface="+mn-lt"/>
              </a:rPr>
              <a:t>4</a:t>
            </a:r>
          </a:p>
        </p:txBody>
      </p:sp>
      <p:cxnSp>
        <p:nvCxnSpPr>
          <p:cNvPr id="25" name="Straight Connector 24"/>
          <p:cNvCxnSpPr/>
          <p:nvPr/>
        </p:nvCxnSpPr>
        <p:spPr bwMode="auto">
          <a:xfrm>
            <a:off x="1603206" y="3452418"/>
            <a:ext cx="200205" cy="0"/>
          </a:xfrm>
          <a:prstGeom prst="line">
            <a:avLst/>
          </a:prstGeom>
          <a:ln>
            <a:headEnd type="none" w="med" len="med"/>
            <a:tailEnd type="none" w="med" len="med"/>
          </a:ln>
          <a:effectLst/>
        </p:spPr>
        <p:style>
          <a:lnRef idx="2">
            <a:schemeClr val="dk1"/>
          </a:lnRef>
          <a:fillRef idx="0">
            <a:schemeClr val="dk1"/>
          </a:fillRef>
          <a:effectRef idx="1">
            <a:schemeClr val="dk1"/>
          </a:effectRef>
          <a:fontRef idx="minor">
            <a:schemeClr val="tx1"/>
          </a:fontRef>
        </p:style>
      </p:cxnSp>
      <p:graphicFrame>
        <p:nvGraphicFramePr>
          <p:cNvPr id="27" name="Object 2"/>
          <p:cNvGraphicFramePr>
            <a:graphicFrameLocks noChangeAspect="1"/>
          </p:cNvGraphicFramePr>
          <p:nvPr/>
        </p:nvGraphicFramePr>
        <p:xfrm>
          <a:off x="257175" y="1800226"/>
          <a:ext cx="2805433" cy="771525"/>
        </p:xfrm>
        <a:graphic>
          <a:graphicData uri="http://schemas.openxmlformats.org/presentationml/2006/ole">
            <mc:AlternateContent xmlns:mc="http://schemas.openxmlformats.org/markup-compatibility/2006">
              <mc:Choice xmlns:v="urn:schemas-microsoft-com:vml" Requires="v">
                <p:oleObj name="Equation" r:id="rId2" imgW="1524000" imgH="419100" progId="Equation.3">
                  <p:embed/>
                </p:oleObj>
              </mc:Choice>
              <mc:Fallback>
                <p:oleObj name="Equation" r:id="rId2" imgW="1524000" imgH="419100" progId="Equation.3">
                  <p:embed/>
                  <p:pic>
                    <p:nvPicPr>
                      <p:cNvPr id="27" name="Object 2"/>
                      <p:cNvPicPr>
                        <a:picLocks noChangeAspect="1" noChangeArrowheads="1"/>
                      </p:cNvPicPr>
                      <p:nvPr/>
                    </p:nvPicPr>
                    <p:blipFill>
                      <a:blip r:embed="rId3"/>
                      <a:srcRect/>
                      <a:stretch>
                        <a:fillRect/>
                      </a:stretch>
                    </p:blipFill>
                    <p:spPr bwMode="auto">
                      <a:xfrm>
                        <a:off x="257175" y="1800226"/>
                        <a:ext cx="2805433" cy="771525"/>
                      </a:xfrm>
                      <a:prstGeom prst="rect">
                        <a:avLst/>
                      </a:prstGeom>
                      <a:noFill/>
                    </p:spPr>
                  </p:pic>
                </p:oleObj>
              </mc:Fallback>
            </mc:AlternateContent>
          </a:graphicData>
        </a:graphic>
      </p:graphicFrame>
      <p:graphicFrame>
        <p:nvGraphicFramePr>
          <p:cNvPr id="28" name="Object 2"/>
          <p:cNvGraphicFramePr>
            <a:graphicFrameLocks noChangeAspect="1"/>
          </p:cNvGraphicFramePr>
          <p:nvPr/>
        </p:nvGraphicFramePr>
        <p:xfrm>
          <a:off x="1714500" y="880468"/>
          <a:ext cx="1214438" cy="725091"/>
        </p:xfrm>
        <a:graphic>
          <a:graphicData uri="http://schemas.openxmlformats.org/presentationml/2006/ole">
            <mc:AlternateContent xmlns:mc="http://schemas.openxmlformats.org/markup-compatibility/2006">
              <mc:Choice xmlns:v="urn:schemas-microsoft-com:vml" Requires="v">
                <p:oleObj name="Equation" r:id="rId4" imgW="660400" imgH="393700" progId="Equation.3">
                  <p:embed/>
                </p:oleObj>
              </mc:Choice>
              <mc:Fallback>
                <p:oleObj name="Equation" r:id="rId4" imgW="660400" imgH="393700" progId="Equation.3">
                  <p:embed/>
                  <p:pic>
                    <p:nvPicPr>
                      <p:cNvPr id="28" name="Object 2"/>
                      <p:cNvPicPr>
                        <a:picLocks noChangeAspect="1" noChangeArrowheads="1"/>
                      </p:cNvPicPr>
                      <p:nvPr/>
                    </p:nvPicPr>
                    <p:blipFill>
                      <a:blip r:embed="rId5"/>
                      <a:srcRect/>
                      <a:stretch>
                        <a:fillRect/>
                      </a:stretch>
                    </p:blipFill>
                    <p:spPr bwMode="auto">
                      <a:xfrm>
                        <a:off x="1714500" y="880468"/>
                        <a:ext cx="1214438" cy="725091"/>
                      </a:xfrm>
                      <a:prstGeom prst="rect">
                        <a:avLst/>
                      </a:prstGeom>
                      <a:noFill/>
                    </p:spPr>
                  </p:pic>
                </p:oleObj>
              </mc:Fallback>
            </mc:AlternateContent>
          </a:graphicData>
        </a:graphic>
      </p:graphicFrame>
      <p:sp>
        <p:nvSpPr>
          <p:cNvPr id="29" name="TextBox 28"/>
          <p:cNvSpPr txBox="1"/>
          <p:nvPr/>
        </p:nvSpPr>
        <p:spPr>
          <a:xfrm>
            <a:off x="2743201" y="4241133"/>
            <a:ext cx="3087705" cy="403957"/>
          </a:xfrm>
          <a:prstGeom prst="rect">
            <a:avLst/>
          </a:prstGeom>
          <a:noFill/>
        </p:spPr>
        <p:txBody>
          <a:bodyPr wrap="none" rtlCol="0">
            <a:spAutoFit/>
          </a:bodyPr>
          <a:lstStyle/>
          <a:p>
            <a:r>
              <a:rPr lang="en-US" sz="2025" dirty="0">
                <a:latin typeface="+mn-lt"/>
              </a:rPr>
              <a:t>(5+1) / (8+6) = 6/14 = 3/7</a:t>
            </a:r>
          </a:p>
        </p:txBody>
      </p:sp>
      <p:sp>
        <p:nvSpPr>
          <p:cNvPr id="30" name="TextBox 29"/>
          <p:cNvSpPr txBox="1"/>
          <p:nvPr/>
        </p:nvSpPr>
        <p:spPr>
          <a:xfrm>
            <a:off x="2743200" y="4543425"/>
            <a:ext cx="2430474" cy="403957"/>
          </a:xfrm>
          <a:prstGeom prst="rect">
            <a:avLst/>
          </a:prstGeom>
          <a:noFill/>
        </p:spPr>
        <p:txBody>
          <a:bodyPr wrap="none" rtlCol="0">
            <a:spAutoFit/>
          </a:bodyPr>
          <a:lstStyle/>
          <a:p>
            <a:r>
              <a:rPr lang="en-US" sz="2025" dirty="0">
                <a:latin typeface="+mn-lt"/>
              </a:rPr>
              <a:t>(0+1) / (8+6) = 1/14</a:t>
            </a:r>
          </a:p>
        </p:txBody>
      </p:sp>
      <p:sp>
        <p:nvSpPr>
          <p:cNvPr id="32" name="TextBox 31"/>
          <p:cNvSpPr txBox="1"/>
          <p:nvPr/>
        </p:nvSpPr>
        <p:spPr>
          <a:xfrm>
            <a:off x="2743200" y="5199147"/>
            <a:ext cx="2175596" cy="403957"/>
          </a:xfrm>
          <a:prstGeom prst="rect">
            <a:avLst/>
          </a:prstGeom>
          <a:noFill/>
        </p:spPr>
        <p:txBody>
          <a:bodyPr wrap="none" rtlCol="0">
            <a:spAutoFit/>
          </a:bodyPr>
          <a:lstStyle/>
          <a:p>
            <a:r>
              <a:rPr lang="en-US" altLang="zh-TW" sz="2025" dirty="0">
                <a:latin typeface="Calibri" charset="0"/>
              </a:rPr>
              <a:t>(1+1) / (3+6) = 2/9 </a:t>
            </a:r>
            <a:endParaRPr lang="en-US" sz="2025" dirty="0">
              <a:latin typeface="+mn-lt"/>
            </a:endParaRPr>
          </a:p>
        </p:txBody>
      </p:sp>
      <p:sp>
        <p:nvSpPr>
          <p:cNvPr id="33" name="TextBox 32"/>
          <p:cNvSpPr txBox="1"/>
          <p:nvPr/>
        </p:nvSpPr>
        <p:spPr>
          <a:xfrm>
            <a:off x="2743200" y="4869374"/>
            <a:ext cx="2430474" cy="403957"/>
          </a:xfrm>
          <a:prstGeom prst="rect">
            <a:avLst/>
          </a:prstGeom>
          <a:noFill/>
        </p:spPr>
        <p:txBody>
          <a:bodyPr wrap="none" rtlCol="0">
            <a:spAutoFit/>
          </a:bodyPr>
          <a:lstStyle/>
          <a:p>
            <a:r>
              <a:rPr lang="en-US" sz="2025" dirty="0">
                <a:latin typeface="+mn-lt"/>
              </a:rPr>
              <a:t>(0+1) / (8+6) = 1/14</a:t>
            </a:r>
          </a:p>
        </p:txBody>
      </p:sp>
      <p:sp>
        <p:nvSpPr>
          <p:cNvPr id="34" name="TextBox 33"/>
          <p:cNvSpPr txBox="1"/>
          <p:nvPr/>
        </p:nvSpPr>
        <p:spPr>
          <a:xfrm>
            <a:off x="2743200" y="5499527"/>
            <a:ext cx="2175596" cy="403957"/>
          </a:xfrm>
          <a:prstGeom prst="rect">
            <a:avLst/>
          </a:prstGeom>
          <a:noFill/>
        </p:spPr>
        <p:txBody>
          <a:bodyPr wrap="none" rtlCol="0">
            <a:spAutoFit/>
          </a:bodyPr>
          <a:lstStyle/>
          <a:p>
            <a:r>
              <a:rPr lang="en-US" altLang="zh-TW" sz="2025" dirty="0">
                <a:latin typeface="Calibri" charset="0"/>
              </a:rPr>
              <a:t>(1+1) / (3+6) = 2/9 </a:t>
            </a:r>
            <a:endParaRPr lang="en-US" sz="2025" dirty="0">
              <a:latin typeface="+mn-lt"/>
            </a:endParaRPr>
          </a:p>
        </p:txBody>
      </p:sp>
      <p:sp>
        <p:nvSpPr>
          <p:cNvPr id="35" name="TextBox 34"/>
          <p:cNvSpPr txBox="1"/>
          <p:nvPr/>
        </p:nvSpPr>
        <p:spPr>
          <a:xfrm>
            <a:off x="2750454" y="5788692"/>
            <a:ext cx="2175596" cy="403957"/>
          </a:xfrm>
          <a:prstGeom prst="rect">
            <a:avLst/>
          </a:prstGeom>
          <a:noFill/>
        </p:spPr>
        <p:txBody>
          <a:bodyPr wrap="none" rtlCol="0">
            <a:spAutoFit/>
          </a:bodyPr>
          <a:lstStyle/>
          <a:p>
            <a:r>
              <a:rPr lang="en-US" altLang="zh-TW" sz="2025" dirty="0">
                <a:latin typeface="Calibri" charset="0"/>
              </a:rPr>
              <a:t>(1+1) / (3+6) = 2/9 </a:t>
            </a:r>
            <a:endParaRPr lang="en-US" sz="2025" dirty="0">
              <a:latin typeface="+mn-lt"/>
            </a:endParaRPr>
          </a:p>
        </p:txBody>
      </p:sp>
      <p:sp>
        <p:nvSpPr>
          <p:cNvPr id="36" name="TextBox 35"/>
          <p:cNvSpPr txBox="1"/>
          <p:nvPr/>
        </p:nvSpPr>
        <p:spPr>
          <a:xfrm>
            <a:off x="6595816" y="4050276"/>
            <a:ext cx="3164649" cy="646331"/>
          </a:xfrm>
          <a:prstGeom prst="rect">
            <a:avLst/>
          </a:prstGeom>
          <a:noFill/>
        </p:spPr>
        <p:txBody>
          <a:bodyPr wrap="none" rtlCol="0">
            <a:spAutoFit/>
          </a:bodyPr>
          <a:lstStyle/>
          <a:p>
            <a:pPr lvl="1"/>
            <a:r>
              <a:rPr lang="en-US" altLang="zh-TW" dirty="0">
                <a:latin typeface="Calibri" charset="0"/>
              </a:rPr>
              <a:t> 3/4 * (3/7)</a:t>
            </a:r>
            <a:r>
              <a:rPr lang="en-US" altLang="zh-TW" baseline="30000" dirty="0">
                <a:latin typeface="Calibri" charset="0"/>
              </a:rPr>
              <a:t>3</a:t>
            </a:r>
            <a:r>
              <a:rPr lang="en-US" altLang="zh-TW" dirty="0">
                <a:latin typeface="Calibri" charset="0"/>
              </a:rPr>
              <a:t> * 1/14 * 1/14 </a:t>
            </a:r>
          </a:p>
          <a:p>
            <a:pPr lvl="1">
              <a:buFont typeface="Wingdings" charset="2"/>
              <a:buNone/>
            </a:pPr>
            <a:r>
              <a:rPr lang="en-US" altLang="zh-TW" dirty="0">
                <a:latin typeface="Calibri" charset="0"/>
                <a:ea typeface="Arial" charset="0"/>
                <a:cs typeface="Arial" charset="0"/>
              </a:rPr>
              <a:t>	≈ 0.0003</a:t>
            </a:r>
          </a:p>
        </p:txBody>
      </p:sp>
      <p:graphicFrame>
        <p:nvGraphicFramePr>
          <p:cNvPr id="38" name="Object 2"/>
          <p:cNvGraphicFramePr>
            <a:graphicFrameLocks noChangeAspect="1"/>
          </p:cNvGraphicFramePr>
          <p:nvPr/>
        </p:nvGraphicFramePr>
        <p:xfrm>
          <a:off x="6928686" y="4181118"/>
          <a:ext cx="251818" cy="158056"/>
        </p:xfrm>
        <a:graphic>
          <a:graphicData uri="http://schemas.openxmlformats.org/presentationml/2006/ole">
            <mc:AlternateContent xmlns:mc="http://schemas.openxmlformats.org/markup-compatibility/2006">
              <mc:Choice xmlns:v="urn:schemas-microsoft-com:vml" Requires="v">
                <p:oleObj name="Equation" r:id="rId6" imgW="152280" imgH="126720" progId="Equation.3">
                  <p:embed/>
                </p:oleObj>
              </mc:Choice>
              <mc:Fallback>
                <p:oleObj name="Equation" r:id="rId6" imgW="152280" imgH="126720" progId="Equation.3">
                  <p:embed/>
                  <p:pic>
                    <p:nvPicPr>
                      <p:cNvPr id="38"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8686" y="4181118"/>
                        <a:ext cx="251818" cy="158056"/>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graphicFrame>
        <p:nvGraphicFramePr>
          <p:cNvPr id="39" name="Object 2"/>
          <p:cNvGraphicFramePr>
            <a:graphicFrameLocks noChangeAspect="1"/>
          </p:cNvGraphicFramePr>
          <p:nvPr/>
        </p:nvGraphicFramePr>
        <p:xfrm>
          <a:off x="6858000" y="5381268"/>
          <a:ext cx="251818" cy="158056"/>
        </p:xfrm>
        <a:graphic>
          <a:graphicData uri="http://schemas.openxmlformats.org/presentationml/2006/ole">
            <mc:AlternateContent xmlns:mc="http://schemas.openxmlformats.org/markup-compatibility/2006">
              <mc:Choice xmlns:v="urn:schemas-microsoft-com:vml" Requires="v">
                <p:oleObj name="Equation" r:id="rId8" imgW="152280" imgH="126720" progId="Equation.3">
                  <p:embed/>
                </p:oleObj>
              </mc:Choice>
              <mc:Fallback>
                <p:oleObj name="Equation" r:id="rId8" imgW="152280" imgH="126720" progId="Equation.3">
                  <p:embed/>
                  <p:pic>
                    <p:nvPicPr>
                      <p:cNvPr id="39"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0" y="5381268"/>
                        <a:ext cx="251818" cy="158056"/>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graphicFrame>
        <p:nvGraphicFramePr>
          <p:cNvPr id="26" name="Object 3"/>
          <p:cNvGraphicFramePr>
            <a:graphicFrameLocks noChangeAspect="1"/>
          </p:cNvGraphicFramePr>
          <p:nvPr/>
        </p:nvGraphicFramePr>
        <p:xfrm>
          <a:off x="5054204" y="2814637"/>
          <a:ext cx="4718447" cy="700088"/>
        </p:xfrm>
        <a:graphic>
          <a:graphicData uri="http://schemas.openxmlformats.org/presentationml/2006/ole">
            <mc:AlternateContent xmlns:mc="http://schemas.openxmlformats.org/markup-compatibility/2006">
              <mc:Choice xmlns:v="urn:schemas-microsoft-com:vml" Requires="v">
                <p:oleObj name="Equation" r:id="rId9" imgW="1968500" imgH="292100" progId="Equation.3">
                  <p:embed/>
                </p:oleObj>
              </mc:Choice>
              <mc:Fallback>
                <p:oleObj name="Equation" r:id="rId9" imgW="1968500" imgH="292100" progId="Equation.3">
                  <p:embed/>
                  <p:pic>
                    <p:nvPicPr>
                      <p:cNvPr id="26" name="Object 3"/>
                      <p:cNvPicPr>
                        <a:picLocks noChangeAspect="1" noChangeArrowheads="1"/>
                      </p:cNvPicPr>
                      <p:nvPr/>
                    </p:nvPicPr>
                    <p:blipFill>
                      <a:blip r:embed="rId10"/>
                      <a:srcRect/>
                      <a:stretch>
                        <a:fillRect/>
                      </a:stretch>
                    </p:blipFill>
                    <p:spPr bwMode="auto">
                      <a:xfrm>
                        <a:off x="5054204" y="2814637"/>
                        <a:ext cx="4718447" cy="7000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37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0" grpId="0"/>
      <p:bldP spid="7" grpId="0"/>
      <p:bldP spid="8" grpId="0" build="allAtOnce"/>
      <p:bldP spid="13" grpId="0"/>
      <p:bldP spid="24" grpId="0"/>
      <p:bldP spid="29" grpId="0"/>
      <p:bldP spid="30" grpId="0"/>
      <p:bldP spid="32" grpId="0"/>
      <p:bldP spid="33" grpId="0"/>
      <p:bldP spid="34" grpId="0"/>
      <p:bldP spid="35" grpId="0"/>
      <p:bldP spid="3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543050" y="771525"/>
            <a:ext cx="8401050" cy="835819"/>
          </a:xfrm>
        </p:spPr>
        <p:txBody>
          <a:bodyPr/>
          <a:lstStyle/>
          <a:p>
            <a:r>
              <a:rPr lang="en-US" dirty="0"/>
              <a:t>Summary: Naive Bayes is Not So Naive</a:t>
            </a:r>
          </a:p>
        </p:txBody>
      </p:sp>
      <p:sp>
        <p:nvSpPr>
          <p:cNvPr id="73731" name="Rectangle 3"/>
          <p:cNvSpPr>
            <a:spLocks noGrp="1" noChangeArrowheads="1"/>
          </p:cNvSpPr>
          <p:nvPr>
            <p:ph sz="quarter" idx="1"/>
          </p:nvPr>
        </p:nvSpPr>
        <p:spPr>
          <a:xfrm>
            <a:off x="171450" y="1821656"/>
            <a:ext cx="9858375" cy="4243388"/>
          </a:xfrm>
        </p:spPr>
        <p:txBody>
          <a:bodyPr/>
          <a:lstStyle/>
          <a:p>
            <a:pPr marL="257175" indent="-257175"/>
            <a:r>
              <a:rPr lang="en-US" dirty="0">
                <a:latin typeface="Calibri" charset="0"/>
              </a:rPr>
              <a:t>Very Fast, low storage requirements</a:t>
            </a:r>
          </a:p>
          <a:p>
            <a:pPr marL="257175" indent="-257175"/>
            <a:r>
              <a:rPr lang="en-US" dirty="0">
                <a:latin typeface="Calibri" charset="0"/>
              </a:rPr>
              <a:t>Robust to Irrelevant Features</a:t>
            </a:r>
          </a:p>
          <a:p>
            <a:pPr marL="642938" lvl="1" indent="-185738">
              <a:lnSpc>
                <a:spcPct val="90000"/>
              </a:lnSpc>
              <a:buNone/>
            </a:pPr>
            <a:r>
              <a:rPr lang="en-US" dirty="0">
                <a:latin typeface="Calibri" charset="0"/>
              </a:rPr>
              <a:t>	</a:t>
            </a:r>
            <a:r>
              <a:rPr lang="en-US" sz="2025" dirty="0">
                <a:latin typeface="Calibri" charset="0"/>
              </a:rPr>
              <a:t>Irrelevant Features cancel each other without affecting results</a:t>
            </a:r>
          </a:p>
          <a:p>
            <a:pPr marL="257175" indent="-257175"/>
            <a:r>
              <a:rPr lang="en-US" dirty="0">
                <a:latin typeface="Calibri" charset="0"/>
              </a:rPr>
              <a:t>Very good in domains with many equally important features</a:t>
            </a:r>
          </a:p>
          <a:p>
            <a:pPr marL="642938" lvl="1" indent="-185738">
              <a:buNone/>
            </a:pPr>
            <a:r>
              <a:rPr lang="en-US" dirty="0">
                <a:latin typeface="Calibri" charset="0"/>
              </a:rPr>
              <a:t>	</a:t>
            </a:r>
            <a:r>
              <a:rPr lang="en-US" sz="2025" dirty="0">
                <a:latin typeface="Calibri" charset="0"/>
              </a:rPr>
              <a:t>Decision Trees suffer from </a:t>
            </a:r>
            <a:r>
              <a:rPr lang="en-US" sz="2025" i="1" dirty="0">
                <a:latin typeface="Calibri" charset="0"/>
              </a:rPr>
              <a:t>fragmentation</a:t>
            </a:r>
            <a:r>
              <a:rPr lang="en-US" sz="2025" dirty="0">
                <a:latin typeface="Calibri" charset="0"/>
              </a:rPr>
              <a:t> in such cases – especially if little data</a:t>
            </a:r>
          </a:p>
          <a:p>
            <a:pPr marL="257175" indent="-257175"/>
            <a:r>
              <a:rPr lang="en-US" dirty="0">
                <a:latin typeface="Calibri" charset="0"/>
              </a:rPr>
              <a:t>Optimal if the independence assumptions hold: </a:t>
            </a:r>
            <a:r>
              <a:rPr lang="en-US" sz="2250" dirty="0">
                <a:latin typeface="Calibri" charset="0"/>
              </a:rPr>
              <a:t>If assumed independence is correct, then it is the Bayes Optimal Classifier for problem</a:t>
            </a:r>
            <a:endParaRPr lang="en-US" dirty="0">
              <a:latin typeface="Calibri" charset="0"/>
            </a:endParaRPr>
          </a:p>
          <a:p>
            <a:pPr marL="257175" indent="-257175"/>
            <a:r>
              <a:rPr lang="en-US" dirty="0">
                <a:latin typeface="Calibri" charset="0"/>
              </a:rPr>
              <a:t>A good dependable baseline for text classification</a:t>
            </a:r>
          </a:p>
          <a:p>
            <a:pPr marL="0" indent="0">
              <a:buNone/>
            </a:pPr>
            <a:endParaRPr lang="en-US" dirty="0">
              <a:latin typeface="Calibri" charset="0"/>
            </a:endParaRPr>
          </a:p>
        </p:txBody>
      </p:sp>
    </p:spTree>
    <p:extLst>
      <p:ext uri="{BB962C8B-B14F-4D97-AF65-F5344CB8AC3E}">
        <p14:creationId xmlns:p14="http://schemas.microsoft.com/office/powerpoint/2010/main" val="804126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373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73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7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endParaRPr lang="en-US" dirty="0"/>
          </a:p>
        </p:txBody>
      </p:sp>
      <p:sp>
        <p:nvSpPr>
          <p:cNvPr id="3" name="Content Placeholder 2"/>
          <p:cNvSpPr>
            <a:spLocks noGrp="1"/>
          </p:cNvSpPr>
          <p:nvPr>
            <p:ph idx="1"/>
          </p:nvPr>
        </p:nvSpPr>
        <p:spPr/>
        <p:txBody>
          <a:bodyPr/>
          <a:lstStyle/>
          <a:p>
            <a:r>
              <a:rPr lang="en-IN" b="1" dirty="0">
                <a:solidFill>
                  <a:srgbClr val="7030A0"/>
                </a:solidFill>
              </a:rPr>
              <a:t>Applications of Sentiment Analysis</a:t>
            </a:r>
          </a:p>
        </p:txBody>
      </p:sp>
    </p:spTree>
    <p:extLst>
      <p:ext uri="{BB962C8B-B14F-4D97-AF65-F5344CB8AC3E}">
        <p14:creationId xmlns:p14="http://schemas.microsoft.com/office/powerpoint/2010/main" val="18798465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0"/>
            <a:ext cx="9220200" cy="761999"/>
          </a:xfrm>
        </p:spPr>
        <p:txBody>
          <a:bodyPr>
            <a:normAutofit/>
          </a:bodyPr>
          <a:lstStyle/>
          <a:p>
            <a:r>
              <a:rPr lang="en-US" dirty="0"/>
              <a:t>Why Sentiment Analysis</a:t>
            </a:r>
          </a:p>
        </p:txBody>
      </p:sp>
      <p:sp>
        <p:nvSpPr>
          <p:cNvPr id="3" name="Content Placeholder 2"/>
          <p:cNvSpPr>
            <a:spLocks noGrp="1"/>
          </p:cNvSpPr>
          <p:nvPr>
            <p:ph idx="1"/>
          </p:nvPr>
        </p:nvSpPr>
        <p:spPr/>
        <p:txBody>
          <a:bodyPr/>
          <a:lstStyle/>
          <a:p>
            <a:r>
              <a:rPr lang="en-US" sz="2800" dirty="0"/>
              <a:t>Also called as Opinion extraction, Opinion mining, Sentiment mining, Subjectivity analysis</a:t>
            </a:r>
          </a:p>
          <a:p>
            <a:r>
              <a:rPr lang="en-IN" sz="2800" i="1" dirty="0">
                <a:cs typeface="ＭＳ Ｐゴシック" pitchFamily="-65" charset="-128"/>
              </a:rPr>
              <a:t>Applications</a:t>
            </a:r>
            <a:endParaRPr lang="en-US" sz="2800" i="1" dirty="0">
              <a:cs typeface="ＭＳ Ｐゴシック" pitchFamily="-65" charset="-128"/>
            </a:endParaRPr>
          </a:p>
          <a:p>
            <a:pPr lvl="1"/>
            <a:r>
              <a:rPr lang="en-US" sz="2400" i="1" dirty="0">
                <a:cs typeface="ＭＳ Ｐゴシック" pitchFamily="-65" charset="-128"/>
              </a:rPr>
              <a:t>Movie</a:t>
            </a:r>
            <a:r>
              <a:rPr lang="en-US" sz="2400" dirty="0">
                <a:cs typeface="ＭＳ Ｐゴシック" pitchFamily="-65" charset="-128"/>
              </a:rPr>
              <a:t>:  is this review positive or negative?</a:t>
            </a:r>
          </a:p>
          <a:p>
            <a:pPr lvl="1"/>
            <a:r>
              <a:rPr lang="en-US" sz="2400" i="1" dirty="0">
                <a:cs typeface="ＭＳ Ｐゴシック" pitchFamily="-65" charset="-128"/>
              </a:rPr>
              <a:t>Products</a:t>
            </a:r>
            <a:r>
              <a:rPr lang="en-US" sz="2400" dirty="0">
                <a:cs typeface="ＭＳ Ｐゴシック" pitchFamily="-65" charset="-128"/>
              </a:rPr>
              <a:t>: what do people think about the new iPhone?</a:t>
            </a:r>
          </a:p>
          <a:p>
            <a:pPr lvl="1"/>
            <a:r>
              <a:rPr lang="en-US" sz="2400" i="1" dirty="0">
                <a:cs typeface="ＭＳ Ｐゴシック" pitchFamily="-65" charset="-128"/>
              </a:rPr>
              <a:t>Politics</a:t>
            </a:r>
            <a:r>
              <a:rPr lang="en-US" sz="2400" dirty="0">
                <a:cs typeface="ＭＳ Ｐゴシック" pitchFamily="-65" charset="-128"/>
              </a:rPr>
              <a:t>: what do people think about this candidate or issue?</a:t>
            </a:r>
          </a:p>
          <a:p>
            <a:pPr lvl="1"/>
            <a:r>
              <a:rPr lang="en-US" sz="2400" i="1" dirty="0">
                <a:cs typeface="ＭＳ Ｐゴシック" pitchFamily="-65" charset="-128"/>
              </a:rPr>
              <a:t>Prediction</a:t>
            </a:r>
            <a:r>
              <a:rPr lang="en-US" sz="2400" dirty="0">
                <a:cs typeface="ＭＳ Ｐゴシック" pitchFamily="-65" charset="-128"/>
              </a:rPr>
              <a:t>: predict election outcomes or market trends from sentiment</a:t>
            </a:r>
          </a:p>
        </p:txBody>
      </p:sp>
    </p:spTree>
    <p:extLst>
      <p:ext uri="{BB962C8B-B14F-4D97-AF65-F5344CB8AC3E}">
        <p14:creationId xmlns:p14="http://schemas.microsoft.com/office/powerpoint/2010/main" val="2052756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or Negative Movie Review?</a:t>
            </a:r>
          </a:p>
        </p:txBody>
      </p:sp>
      <p:sp>
        <p:nvSpPr>
          <p:cNvPr id="3" name="Content Placeholder 2"/>
          <p:cNvSpPr>
            <a:spLocks noGrp="1"/>
          </p:cNvSpPr>
          <p:nvPr>
            <p:ph idx="1"/>
          </p:nvPr>
        </p:nvSpPr>
        <p:spPr/>
        <p:txBody>
          <a:bodyPr>
            <a:normAutofit/>
          </a:bodyPr>
          <a:lstStyle/>
          <a:p>
            <a:r>
              <a:rPr lang="en-US" dirty="0"/>
              <a:t>unbelievably disappointing </a:t>
            </a:r>
          </a:p>
          <a:p>
            <a:r>
              <a:rPr lang="en-US" dirty="0"/>
              <a:t>Full of zany characters and richly applied satire, and some great plot twists</a:t>
            </a:r>
          </a:p>
          <a:p>
            <a:r>
              <a:rPr lang="en-US" dirty="0"/>
              <a:t> this is the greatest screwball comedy ever filmed</a:t>
            </a:r>
          </a:p>
          <a:p>
            <a:r>
              <a:rPr lang="en-US" dirty="0"/>
              <a:t> It was pathetic. The worst part about it was the boxing scenes.</a:t>
            </a:r>
          </a:p>
          <a:p>
            <a:endParaRPr lang="en-US" dirty="0"/>
          </a:p>
          <a:p>
            <a:endParaRPr lang="en-US" dirty="0"/>
          </a:p>
          <a:p>
            <a:endParaRPr lang="en-US" dirty="0"/>
          </a:p>
          <a:p>
            <a:endParaRPr lang="en-US" dirty="0"/>
          </a:p>
          <a:p>
            <a:endParaRPr lang="en-US" dirty="0"/>
          </a:p>
        </p:txBody>
      </p:sp>
      <p:pic>
        <p:nvPicPr>
          <p:cNvPr id="5" name="Picture 4" descr="Thumbs-down-icon.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10700" y="2743200"/>
            <a:ext cx="558800" cy="503632"/>
          </a:xfrm>
          <a:prstGeom prst="rect">
            <a:avLst/>
          </a:prstGeom>
        </p:spPr>
      </p:pic>
      <p:pic>
        <p:nvPicPr>
          <p:cNvPr id="6" name="Picture 5" descr="Thumbs-up-ico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10701" y="1447803"/>
            <a:ext cx="591828" cy="533399"/>
          </a:xfrm>
          <a:prstGeom prst="rect">
            <a:avLst/>
          </a:prstGeom>
        </p:spPr>
      </p:pic>
      <p:pic>
        <p:nvPicPr>
          <p:cNvPr id="7" name="Picture 6" descr="Thumbs-down-icon.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10700" y="914400"/>
            <a:ext cx="558800" cy="503632"/>
          </a:xfrm>
          <a:prstGeom prst="rect">
            <a:avLst/>
          </a:prstGeom>
        </p:spPr>
      </p:pic>
      <p:pic>
        <p:nvPicPr>
          <p:cNvPr id="8" name="Picture 7" descr="Thumbs-up-ico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10700" y="2057402"/>
            <a:ext cx="591828" cy="533399"/>
          </a:xfrm>
          <a:prstGeom prst="rect">
            <a:avLst/>
          </a:prstGeom>
        </p:spPr>
      </p:pic>
    </p:spTree>
    <p:extLst>
      <p:ext uri="{BB962C8B-B14F-4D97-AF65-F5344CB8AC3E}">
        <p14:creationId xmlns:p14="http://schemas.microsoft.com/office/powerpoint/2010/main" val="202126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Product Search</a:t>
            </a:r>
            <a:endParaRPr lang="en-US" dirty="0"/>
          </a:p>
        </p:txBody>
      </p:sp>
      <p:pic>
        <p:nvPicPr>
          <p:cNvPr id="5" name="Picture 4" descr="googleproductsearch.tif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7300" y="1219200"/>
            <a:ext cx="7467600" cy="3857163"/>
          </a:xfrm>
          <a:prstGeom prst="rect">
            <a:avLst/>
          </a:prstGeom>
        </p:spPr>
      </p:pic>
    </p:spTree>
    <p:extLst>
      <p:ext uri="{BB962C8B-B14F-4D97-AF65-F5344CB8AC3E}">
        <p14:creationId xmlns:p14="http://schemas.microsoft.com/office/powerpoint/2010/main" val="37265581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rapezoid 28"/>
          <p:cNvSpPr/>
          <p:nvPr/>
        </p:nvSpPr>
        <p:spPr>
          <a:xfrm rot="10800000">
            <a:off x="2781299" y="2362200"/>
            <a:ext cx="5181600" cy="1198330"/>
          </a:xfrm>
          <a:prstGeom prst="trapezoid">
            <a:avLst>
              <a:gd name="adj" fmla="val 66591"/>
            </a:avLst>
          </a:prstGeom>
          <a:gradFill flip="none" rotWithShape="1">
            <a:gsLst>
              <a:gs pos="0">
                <a:schemeClr val="accent2">
                  <a:lumMod val="40000"/>
                  <a:lumOff val="60000"/>
                </a:schemeClr>
              </a:gs>
              <a:gs pos="50000">
                <a:schemeClr val="accent2">
                  <a:lumMod val="20000"/>
                  <a:lumOff val="80000"/>
                </a:schemeClr>
              </a:gs>
              <a:gs pos="100000">
                <a:schemeClr val="bg1"/>
              </a:gs>
            </a:gsLst>
            <a:lin ang="162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normAutofit fontScale="90000"/>
          </a:bodyPr>
          <a:lstStyle/>
          <a:p>
            <a:r>
              <a:rPr lang="en-US" altLang="zh-CN" dirty="0"/>
              <a:t>Online opinions cover all kinds of topics</a:t>
            </a:r>
            <a:endParaRPr lang="zh-CN" alt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pic>
        <p:nvPicPr>
          <p:cNvPr id="13" name="Picture 7"/>
          <p:cNvPicPr>
            <a:picLocks noChangeAspect="1" noChangeArrowheads="1"/>
          </p:cNvPicPr>
          <p:nvPr/>
        </p:nvPicPr>
        <p:blipFill>
          <a:blip r:embed="rId4" cstate="print"/>
          <a:stretch>
            <a:fillRect/>
          </a:stretch>
        </p:blipFill>
        <p:spPr bwMode="auto">
          <a:xfrm>
            <a:off x="5905500" y="5181600"/>
            <a:ext cx="990600" cy="990600"/>
          </a:xfrm>
          <a:prstGeom prst="rect">
            <a:avLst/>
          </a:prstGeom>
          <a:noFill/>
          <a:ln>
            <a:noFill/>
          </a:ln>
        </p:spPr>
      </p:pic>
      <p:pic>
        <p:nvPicPr>
          <p:cNvPr id="14" name="Picture 2"/>
          <p:cNvPicPr>
            <a:picLocks noChangeAspect="1" noChangeArrowheads="1"/>
          </p:cNvPicPr>
          <p:nvPr/>
        </p:nvPicPr>
        <p:blipFill>
          <a:blip r:embed="rId5">
            <a:clrChange>
              <a:clrFrom>
                <a:srgbClr val="FFFFFF"/>
              </a:clrFrom>
              <a:clrTo>
                <a:srgbClr val="FFFFFF">
                  <a:alpha val="0"/>
                </a:srgbClr>
              </a:clrTo>
            </a:clrChange>
            <a:grayscl/>
          </a:blip>
          <a:srcRect l="7111" t="10600" r="5778" b="37708"/>
          <a:stretch>
            <a:fillRect/>
          </a:stretch>
        </p:blipFill>
        <p:spPr bwMode="auto">
          <a:xfrm>
            <a:off x="3757612" y="2819400"/>
            <a:ext cx="3367088" cy="1443038"/>
          </a:xfrm>
          <a:prstGeom prst="rect">
            <a:avLst/>
          </a:prstGeom>
          <a:noFill/>
          <a:ln>
            <a:noFill/>
          </a:ln>
        </p:spPr>
      </p:pic>
      <p:sp>
        <p:nvSpPr>
          <p:cNvPr id="15" name="Rectangle 14"/>
          <p:cNvSpPr>
            <a:spLocks noChangeArrowheads="1"/>
          </p:cNvSpPr>
          <p:nvPr/>
        </p:nvSpPr>
        <p:spPr bwMode="auto">
          <a:xfrm>
            <a:off x="5789858" y="4495800"/>
            <a:ext cx="19367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000" b="1" dirty="0"/>
              <a:t>65M </a:t>
            </a:r>
            <a:r>
              <a:rPr lang="en-US" sz="2000" b="1" dirty="0" err="1">
                <a:solidFill>
                  <a:schemeClr val="accent2"/>
                </a:solidFill>
              </a:rPr>
              <a:t>msgs</a:t>
            </a:r>
            <a:r>
              <a:rPr lang="en-US" sz="2000" b="1" dirty="0">
                <a:solidFill>
                  <a:schemeClr val="accent2"/>
                </a:solidFill>
              </a:rPr>
              <a:t>/day</a:t>
            </a:r>
          </a:p>
        </p:txBody>
      </p:sp>
      <p:pic>
        <p:nvPicPr>
          <p:cNvPr id="1026" name="Picture 2" descr="Yahoo! Group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91350" y="5617714"/>
            <a:ext cx="2495550" cy="40208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p:cNvSpPr txBox="1"/>
          <p:nvPr/>
        </p:nvSpPr>
        <p:spPr>
          <a:xfrm>
            <a:off x="1104900" y="1143001"/>
            <a:ext cx="2362200" cy="1692771"/>
          </a:xfrm>
          <a:prstGeom prst="rect">
            <a:avLst/>
          </a:prstGeom>
          <a:noFill/>
        </p:spPr>
        <p:txBody>
          <a:bodyPr wrap="square" rtlCol="0">
            <a:spAutoFit/>
          </a:bodyPr>
          <a:lstStyle/>
          <a:p>
            <a:r>
              <a:rPr lang="en-US" sz="2400" b="1" dirty="0"/>
              <a:t>Topics: </a:t>
            </a:r>
          </a:p>
          <a:p>
            <a:r>
              <a:rPr lang="en-US" sz="2000" dirty="0"/>
              <a:t>People</a:t>
            </a:r>
          </a:p>
          <a:p>
            <a:r>
              <a:rPr lang="en-US" sz="2000" dirty="0"/>
              <a:t>Events</a:t>
            </a:r>
          </a:p>
          <a:p>
            <a:r>
              <a:rPr lang="en-US" sz="2000" dirty="0"/>
              <a:t>Products</a:t>
            </a:r>
          </a:p>
          <a:p>
            <a:r>
              <a:rPr lang="en-US" sz="2000" dirty="0"/>
              <a:t>Services, …</a:t>
            </a:r>
          </a:p>
        </p:txBody>
      </p:sp>
      <p:sp>
        <p:nvSpPr>
          <p:cNvPr id="19" name="Rectangle 18"/>
          <p:cNvSpPr/>
          <p:nvPr/>
        </p:nvSpPr>
        <p:spPr>
          <a:xfrm>
            <a:off x="1104900" y="4322638"/>
            <a:ext cx="1587294" cy="1692771"/>
          </a:xfrm>
          <a:prstGeom prst="rect">
            <a:avLst/>
          </a:prstGeom>
        </p:spPr>
        <p:txBody>
          <a:bodyPr wrap="none">
            <a:spAutoFit/>
          </a:bodyPr>
          <a:lstStyle/>
          <a:p>
            <a:r>
              <a:rPr lang="en-US" sz="2400" b="1" dirty="0"/>
              <a:t>Sources: </a:t>
            </a:r>
          </a:p>
          <a:p>
            <a:r>
              <a:rPr lang="en-US" sz="2000" dirty="0"/>
              <a:t>Blogs </a:t>
            </a:r>
          </a:p>
          <a:p>
            <a:r>
              <a:rPr lang="en-US" sz="2000" dirty="0" err="1"/>
              <a:t>Microblogs</a:t>
            </a:r>
            <a:r>
              <a:rPr lang="en-US" sz="2000" dirty="0"/>
              <a:t> </a:t>
            </a:r>
          </a:p>
          <a:p>
            <a:r>
              <a:rPr lang="en-US" sz="2000" dirty="0"/>
              <a:t>Forums </a:t>
            </a:r>
          </a:p>
          <a:p>
            <a:r>
              <a:rPr lang="en-US" altLang="zh-CN" sz="2000" dirty="0"/>
              <a:t>Reviews ,</a:t>
            </a:r>
            <a:r>
              <a:rPr lang="en-US" sz="2000" dirty="0"/>
              <a:t>…</a:t>
            </a:r>
          </a:p>
        </p:txBody>
      </p:sp>
      <p:pic>
        <p:nvPicPr>
          <p:cNvPr id="1028" name="Picture 4" descr="http://upload.wikimedia.org/wikipedia/commons/thumb/a/a4/Hurricane_Katrina_August_28_2005_NASA.jpg/236px-Hurricane_Katrina_August_28_2005_NASA.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5814996">
            <a:off x="3794746" y="919844"/>
            <a:ext cx="932145" cy="12046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32" name="Picture 8" descr="http://t2.gstatic.com/images?q=tbn:ANd9GcS1qvMR5Uf02CJxDyrj1C5mOsWSDrNDy_Sg0j2pX_pqNPkaR6sJ"/>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08224" y="1219200"/>
            <a:ext cx="1897276" cy="1428452"/>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21335546">
            <a:off x="2983496" y="1221703"/>
            <a:ext cx="977234" cy="133351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7" name="Picture 13" descr="BlogScop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52901" y="5508976"/>
            <a:ext cx="1635631" cy="543362"/>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p:cNvSpPr>
            <a:spLocks noChangeArrowheads="1"/>
          </p:cNvSpPr>
          <p:nvPr/>
        </p:nvSpPr>
        <p:spPr bwMode="auto">
          <a:xfrm>
            <a:off x="4200753" y="4495800"/>
            <a:ext cx="17235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000" b="1" dirty="0"/>
              <a:t>53M </a:t>
            </a:r>
            <a:r>
              <a:rPr lang="en-US" sz="2000" b="1" dirty="0">
                <a:solidFill>
                  <a:schemeClr val="accent2"/>
                </a:solidFill>
              </a:rPr>
              <a:t>blogs</a:t>
            </a:r>
          </a:p>
          <a:p>
            <a:r>
              <a:rPr lang="en-US" sz="2000" b="1" dirty="0"/>
              <a:t>1307M </a:t>
            </a:r>
            <a:r>
              <a:rPr lang="en-US" sz="2000" b="1" dirty="0">
                <a:solidFill>
                  <a:schemeClr val="accent2"/>
                </a:solidFill>
              </a:rPr>
              <a:t>posts</a:t>
            </a:r>
          </a:p>
        </p:txBody>
      </p:sp>
      <p:sp>
        <p:nvSpPr>
          <p:cNvPr id="33" name="Rectangle 32"/>
          <p:cNvSpPr>
            <a:spLocks noChangeArrowheads="1"/>
          </p:cNvSpPr>
          <p:nvPr/>
        </p:nvSpPr>
        <p:spPr bwMode="auto">
          <a:xfrm>
            <a:off x="7706954" y="4516670"/>
            <a:ext cx="163724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000" b="1" dirty="0"/>
              <a:t>115M</a:t>
            </a:r>
            <a:r>
              <a:rPr lang="en-US" sz="2000" b="1" dirty="0">
                <a:solidFill>
                  <a:srgbClr val="00B050"/>
                </a:solidFill>
              </a:rPr>
              <a:t> </a:t>
            </a:r>
            <a:r>
              <a:rPr lang="en-US" sz="2000" b="1" dirty="0">
                <a:solidFill>
                  <a:schemeClr val="accent2"/>
                </a:solidFill>
              </a:rPr>
              <a:t>users </a:t>
            </a:r>
            <a:br>
              <a:rPr lang="en-US" sz="2000" b="1" dirty="0">
                <a:solidFill>
                  <a:srgbClr val="00B050"/>
                </a:solidFill>
              </a:rPr>
            </a:br>
            <a:r>
              <a:rPr lang="en-US" sz="2000" b="1" dirty="0"/>
              <a:t>10M </a:t>
            </a:r>
            <a:r>
              <a:rPr lang="en-US" sz="2000" b="1" dirty="0">
                <a:solidFill>
                  <a:schemeClr val="accent2"/>
                </a:solidFill>
              </a:rPr>
              <a:t>groups</a:t>
            </a:r>
          </a:p>
        </p:txBody>
      </p:sp>
      <p:sp>
        <p:nvSpPr>
          <p:cNvPr id="24" name="AutoShape 17" descr="data:image/jpg;base64,/9j/4AAQSkZJRgABAQAAAQABAAD/2wCEAAkGBggGBQkIBwgKCQkKDSAODQwYGB4fIBsfJyQiKCAhJSEiJy4qJCUjMSEkKy8sJCsyMTIzKCQ3NTArQTIuNCkBCQoKBQUFDQUFDSkYEhgpKSkpKSkpKSkpKSkpKSkpKSkpKSkpKSkpKSkpKSkpKSkpKSkpKSkpKSkpKSkpKSkpKf/AABEIAE0ATQMBIgACEQEDEQH/xAAbAAACAgMBAAAAAAAAAAAAAAAGBwEFAAMEAv/EADkQAAEDAwMCAwYDBQkAAAAAAAECAwQABREGEiEHMRNBURQiMmFxgRWRoQhCUrHhFhckM1NiwcLR/8QAFAEBAAAAAAAAAAAAAAAAAAAAAP/EABQRAQAAAAAAAAAAAAAAAAAAAAD/2gAMAwEAAhEDEQA/AHjUHgVNVOq3HG9I3ZbDjjbqITikLTwQQgkYPrQc9+1latPOoYlvqdmuf5UNtJW6r6IHP58VSTZ2oL9DktS7dEtVvdjOf4Z1W59wbTjCU8I5x5kiqPTkV+PAnogw2rWiVZm32764SVLeWn3ip1RJOCe3litLN907Du1vlO3edqK9RIHsa2YyVOpWTnKsgYPf18qDz081PqSPoi33OQv8dhuuFhTHZ9JTn4SeHOATtOD8zTHsGprXqWIX7ZKQ9s4cb7KQfRSTyk/Wkhoy63fTbrGnbpEYiiHKTcYsZ1YadXkqG1JPukkH4VEH0oqkotepbvc7jGkyrLfo8htMcpHhvBKtiSFtn40hROTzn1oG0CKmg3p1frxek3hm9Oxn3LZNMNLzaSkK2j3jj50ZUEYrAAKmsoMPagbqxOm26wwXYkv2Vhye2zJUBklCsgjnjGCcg/KjmgXrQwXemNwcT8UdaHh9lj/2gpE6f0hbEiNcEzb47Aa2ttvLKglKd4JDeQkJRsOeO1dFq1NM0++9HfTbUx20LfUhlrw0ICVpTjdkcbTuyRk58sVUr07HuT9wet1kut3cuqw869nwEc4JBdXgqT8QwhOMEir8aPvN1ltvXdVgtSlZShttnxV8gA4U7xkhIzhJ4FBwfhVh1p1VvDcxqNcYT1qaWysHPmeUqH8xQoNKzmNI2S4RJP4mmTKMZiC6cKQoKXt8J4YUj4OB2z5VV9VHmtPdSUtqaVK8GA0hLgUW1DGeUlvASfoMfKo03qpTjduiwLw34UCUJTFsmEIG4buEvgY53HhePvQF3SvWtssMp7TlxZnxbrOuS1EOgEgkcblHHPGO3JpyZpI6diuXfq1ZW7pa3ozsVh+a4hwJIKlLUUlKgSFpTuTg/KncBxQTWVlZQZQv1Oj+09M76jGcQ1K/Ln/iifNVeqo/tekrsxjcXYTiAPqg0AxpeZfJKNMGMkGyu2YF9zA4cCRt57/l86qRpe5Jt+m5Gob9GiSLRdFK3qXuCwSNqNxPxHB79ga86ETfpVg0NNtboNsZZWzcGiQOMkBWPPGOK2zemTY0xeoU+8pjMP3b8Rjv/wCn6BWfXJ/SgCOql2asXW9M+VFTMbaiJyyfmhSR+ROftQE3LskiMy3JiOMrYty2t6f33skoUfkM4P0phdTbnKsvV2a/FgtXIi0BDqFpJASUncrjtj1oANygrioYn2UNKEZpgPpyCML3FzHmVpyP1oGR0KgR0a+vCocoy40OIGmXvUKUCcDy7GnxSb/Z7jRS/qWXBQtMRUhLbAV3CRuIB+eCM05KDKysqM0E4rVIaS7HcbI4WkpP3rRPneyw5C2UiRIZaK0xwoAqOCQOe2e1C9m1nf7tBjTU6TWqLISFJcbktKOD/tVjt580AhpCzXq79JrMxY7gqFIgXQ+J7xTuSFkKHHpnOD3oml6YtMs6uj3C+BUa4uocktBYBYxjGcnjcQPKqjTNhavOirlaZU521mLqFwodSQDkLykffPlVletN6VQ/qyRPnrSZzDark2Dy2kYKSABn3iKBcdWWbijqRcvwZxSUs2Qe0nI5axtWOe+QRQyterYc8tyIhkOIejEoKAoEhJ9nTx3BGePPHNXXWchPUFLkV9xEV+2tjenJyjB7jjg4HeqiPdbSpAVdtQahLiihaS2ygD3BhB5c/d7CgbP7PTCk6JnyVj35E9SifoE/1pp0ltJXKRY9ONN2SRqJu2urU8l5dvS5nJ5OULJ/SouPVW+W6U4mNNZkMM8LW9EcbUSRnCUJOcDzKto+tA6qjFIaB+0dPbkpRc7LHcRuwpTalJOPorP5U6LBfIWpLLHudvd8WNITlJ8x6gjyI86BTaklI1BrxhF/scGyqiO7X333iPGY5GAAAFnzTg5B+VN62RYMK2sMW1DTcVCcNJR2x8qBU36dqwKiLYtaGgs4DjBd/QrAz9qtP7KXlTLfiaqlMNNDCGWGWmkgY9MK+3PFBS2vSTOoXNW2yY48wfx0SQtPySlSe/kaJLhoW0z7pdZ0tTpdusYRVjdjCR/D6E4GfpVe700iKfW9LvV8kOvqxIV45TvwMDIQB2HHFbHemmnFvMl9iY+GkbEoU+4R/OgACGB1xsEEuNutRYbcZ05yk7Wl55PChyOaq9QJiNaK1HcSwypyTqHwYqsAlKU98fwg4Pami50m0c85tXZwdg4O9fp9a519IdGvJCDaVpClAcOr+fPegselLZR0yspUoqW4x4iiT6kmtXT2e5endR3JwK8J+6qbaB591CUo/wCprm/ucsLaUpiS7vEbAwG0SFY7ehrXE6UR7Wwlq06iv0EJXkBLoxnzOCnHPnQWeurTYk6YnzZ9pgyFttHwypsZKjwkZAzySO1dOi9IR9HWgxITj213DjjalZSleBu2+gJod1Hoe/Sbehpes5brLS0vJQtls5KVApyU7c4ODXBbOot7alyoE8QpbsbafHCFI3Zz3SFEcY8qD//Z"/>
          <p:cNvSpPr>
            <a:spLocks noChangeAspect="1" noChangeArrowheads="1"/>
          </p:cNvSpPr>
          <p:nvPr/>
        </p:nvSpPr>
        <p:spPr bwMode="auto">
          <a:xfrm>
            <a:off x="7270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AutoShape 19" descr="data:image/jpg;base64,/9j/4AAQSkZJRgABAQAAAQABAAD/2wCEAAkGBggGBQkIBwgKCQkKDSAODQwYGB4fIBsfJyQiKCAhJSEiJy4qJCUjMSEkKy8sJCsyMTIzKCQ3NTArQTIuNCkBCQoKBQUFDQUFDSkYEhgpKSkpKSkpKSkpKSkpKSkpKSkpKSkpKSkpKSkpKSkpKSkpKSkpKSkpKSkpKSkpKSkpKf/AABEIAE0ATQMBIgACEQEDEQH/xAAbAAACAgMBAAAAAAAAAAAAAAAGBwEFAAMEAv/EADkQAAEDAwMCAwYDBQkAAAAAAAECAwQABREGEiEHMRNBURQiMmFxgRWRoQhCUrHhFhckM1NiwcLR/8QAFAEBAAAAAAAAAAAAAAAAAAAAAP/EABQRAQAAAAAAAAAAAAAAAAAAAAD/2gAMAwEAAhEDEQA/AHjUHgVNVOq3HG9I3ZbDjjbqITikLTwQQgkYPrQc9+1latPOoYlvqdmuf5UNtJW6r6IHP58VSTZ2oL9DktS7dEtVvdjOf4Z1W59wbTjCU8I5x5kiqPTkV+PAnogw2rWiVZm32764SVLeWn3ip1RJOCe3litLN907Du1vlO3edqK9RIHsa2YyVOpWTnKsgYPf18qDz081PqSPoi33OQv8dhuuFhTHZ9JTn4SeHOATtOD8zTHsGprXqWIX7ZKQ9s4cb7KQfRSTyk/Wkhoy63fTbrGnbpEYiiHKTcYsZ1YadXkqG1JPukkH4VEH0oqkotepbvc7jGkyrLfo8htMcpHhvBKtiSFtn40hROTzn1oG0CKmg3p1frxek3hm9Oxn3LZNMNLzaSkK2j3jj50ZUEYrAAKmsoMPagbqxOm26wwXYkv2Vhye2zJUBklCsgjnjGCcg/KjmgXrQwXemNwcT8UdaHh9lj/2gpE6f0hbEiNcEzb47Aa2ttvLKglKd4JDeQkJRsOeO1dFq1NM0++9HfTbUx20LfUhlrw0ICVpTjdkcbTuyRk58sVUr07HuT9wet1kut3cuqw869nwEc4JBdXgqT8QwhOMEir8aPvN1ltvXdVgtSlZShttnxV8gA4U7xkhIzhJ4FBwfhVh1p1VvDcxqNcYT1qaWysHPmeUqH8xQoNKzmNI2S4RJP4mmTKMZiC6cKQoKXt8J4YUj4OB2z5VV9VHmtPdSUtqaVK8GA0hLgUW1DGeUlvASfoMfKo03qpTjduiwLw34UCUJTFsmEIG4buEvgY53HhePvQF3SvWtssMp7TlxZnxbrOuS1EOgEgkcblHHPGO3JpyZpI6diuXfq1ZW7pa3ozsVh+a4hwJIKlLUUlKgSFpTuTg/KncBxQTWVlZQZQv1Oj+09M76jGcQ1K/Ln/iifNVeqo/tekrsxjcXYTiAPqg0AxpeZfJKNMGMkGyu2YF9zA4cCRt57/l86qRpe5Jt+m5Gob9GiSLRdFK3qXuCwSNqNxPxHB79ga86ETfpVg0NNtboNsZZWzcGiQOMkBWPPGOK2zemTY0xeoU+8pjMP3b8Rjv/wCn6BWfXJ/SgCOql2asXW9M+VFTMbaiJyyfmhSR+ROftQE3LskiMy3JiOMrYty2t6f33skoUfkM4P0phdTbnKsvV2a/FgtXIi0BDqFpJASUncrjtj1oANygrioYn2UNKEZpgPpyCML3FzHmVpyP1oGR0KgR0a+vCocoy40OIGmXvUKUCcDy7GnxSb/Z7jRS/qWXBQtMRUhLbAV3CRuIB+eCM05KDKysqM0E4rVIaS7HcbI4WkpP3rRPneyw5C2UiRIZaK0xwoAqOCQOe2e1C9m1nf7tBjTU6TWqLISFJcbktKOD/tVjt580AhpCzXq79JrMxY7gqFIgXQ+J7xTuSFkKHHpnOD3oml6YtMs6uj3C+BUa4uocktBYBYxjGcnjcQPKqjTNhavOirlaZU521mLqFwodSQDkLykffPlVletN6VQ/qyRPnrSZzDark2Dy2kYKSABn3iKBcdWWbijqRcvwZxSUs2Qe0nI5axtWOe+QRQyterYc8tyIhkOIejEoKAoEhJ9nTx3BGePPHNXXWchPUFLkV9xEV+2tjenJyjB7jjg4HeqiPdbSpAVdtQahLiihaS2ygD3BhB5c/d7CgbP7PTCk6JnyVj35E9SifoE/1pp0ltJXKRY9ONN2SRqJu2urU8l5dvS5nJ5OULJ/SouPVW+W6U4mNNZkMM8LW9EcbUSRnCUJOcDzKto+tA6qjFIaB+0dPbkpRc7LHcRuwpTalJOPorP5U6LBfIWpLLHudvd8WNITlJ8x6gjyI86BTaklI1BrxhF/scGyqiO7X333iPGY5GAAAFnzTg5B+VN62RYMK2sMW1DTcVCcNJR2x8qBU36dqwKiLYtaGgs4DjBd/QrAz9qtP7KXlTLfiaqlMNNDCGWGWmkgY9MK+3PFBS2vSTOoXNW2yY48wfx0SQtPySlSe/kaJLhoW0z7pdZ0tTpdusYRVjdjCR/D6E4GfpVe700iKfW9LvV8kOvqxIV45TvwMDIQB2HHFbHemmnFvMl9iY+GkbEoU+4R/OgACGB1xsEEuNutRYbcZ05yk7Wl55PChyOaq9QJiNaK1HcSwypyTqHwYqsAlKU98fwg4Pami50m0c85tXZwdg4O9fp9a519IdGvJCDaVpClAcOr+fPegselLZR0yspUoqW4x4iiT6kmtXT2e5endR3JwK8J+6qbaB591CUo/wCprm/ucsLaUpiS7vEbAwG0SFY7ehrXE6UR7Wwlq06iv0EJXkBLoxnzOCnHPnQWeurTYk6YnzZ9pgyFttHwypsZKjwkZAzySO1dOi9IR9HWgxITj213DjjalZSleBu2+gJod1Hoe/Sbehpes5brLS0vJQtls5KVApyU7c4ODXBbOot7alyoE8QpbsbafHCFI3Zz3SFEcY8qD//Z"/>
          <p:cNvSpPr>
            <a:spLocks noChangeAspect="1" noChangeArrowheads="1"/>
          </p:cNvSpPr>
          <p:nvPr/>
        </p:nvSpPr>
        <p:spPr bwMode="auto">
          <a:xfrm>
            <a:off x="8794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45" name="Picture 21" descr="http://www.needahandspanishproperties.com/images/AA%20Linkpics/87%20Squares/hotel%20clip%20art%2087px%20x%2087px.jpg"/>
          <p:cNvPicPr>
            <a:picLocks noChangeAspect="1" noChangeArrowheads="1"/>
          </p:cNvPicPr>
          <p:nvPr/>
        </p:nvPicPr>
        <p:blipFill>
          <a:blip r:embed="rId11">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5060" y="1303390"/>
            <a:ext cx="1260722" cy="1260724"/>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descr="http://t0.gstatic.com/images?q=tbn:ANd9GcR_SWefXJNBVwDiG42ovPhbv9BG3JBCrlJNTSqzGQOU0PviJV0veg"/>
          <p:cNvPicPr>
            <a:picLocks noChangeAspect="1" noChangeArrowheads="1"/>
          </p:cNvPicPr>
          <p:nvPr/>
        </p:nvPicPr>
        <p:blipFill>
          <a:blip r:embed="rId12">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57644" y="1219200"/>
            <a:ext cx="424256" cy="808916"/>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descr="http://static.technorati.com/10/09/29/19163/tripadvisor-logo.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8901" y="5257000"/>
            <a:ext cx="1400175" cy="795338"/>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40"/>
          <p:cNvSpPr>
            <a:spLocks noChangeArrowheads="1"/>
          </p:cNvSpPr>
          <p:nvPr/>
        </p:nvSpPr>
        <p:spPr bwMode="auto">
          <a:xfrm>
            <a:off x="2476500" y="4516670"/>
            <a:ext cx="16930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000" b="1" dirty="0"/>
              <a:t>45M </a:t>
            </a:r>
            <a:r>
              <a:rPr lang="en-US" sz="2000" b="1" dirty="0">
                <a:solidFill>
                  <a:schemeClr val="accent2"/>
                </a:solidFill>
              </a:rPr>
              <a:t>reviews</a:t>
            </a:r>
          </a:p>
        </p:txBody>
      </p:sp>
      <p:pic>
        <p:nvPicPr>
          <p:cNvPr id="46" name="Picture 2"/>
          <p:cNvPicPr>
            <a:picLocks noChangeAspect="1" noChangeArrowheads="1"/>
          </p:cNvPicPr>
          <p:nvPr/>
        </p:nvPicPr>
        <p:blipFill>
          <a:blip r:embed="rId14" cstate="print">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2095501" y="4261348"/>
            <a:ext cx="506977" cy="1649714"/>
          </a:xfrm>
          <a:prstGeom prst="rect">
            <a:avLst/>
          </a:prstGeom>
          <a:noFill/>
          <a:ln w="9525">
            <a:noFill/>
            <a:miter lim="800000"/>
            <a:headEnd/>
            <a:tailEnd/>
          </a:ln>
        </p:spPr>
      </p:pic>
      <p:pic>
        <p:nvPicPr>
          <p:cNvPr id="47" name="Picture 2"/>
          <p:cNvPicPr>
            <a:picLocks noChangeAspect="1" noChangeArrowheads="1"/>
          </p:cNvPicPr>
          <p:nvPr/>
        </p:nvPicPr>
        <p:blipFill>
          <a:blip r:embed="rId14" cstate="print">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2095501" y="935733"/>
            <a:ext cx="506977" cy="1649714"/>
          </a:xfrm>
          <a:prstGeom prst="rect">
            <a:avLst/>
          </a:prstGeom>
          <a:noFill/>
          <a:ln w="9525">
            <a:noFill/>
            <a:miter lim="800000"/>
            <a:headEnd/>
            <a:tailEnd/>
          </a:ln>
        </p:spPr>
      </p:pic>
      <p:pic>
        <p:nvPicPr>
          <p:cNvPr id="56" name="Picture 10" descr="http://www.wareground.com/images/400/4g_iphone_wont_arrive_until_2012_according_to_analyst.jpg"/>
          <p:cNvPicPr>
            <a:picLocks noChangeAspect="1" noChangeArrowheads="1"/>
          </p:cNvPicPr>
          <p:nvPr/>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r="25390"/>
          <a:stretch>
            <a:fillRect/>
          </a:stretch>
        </p:blipFill>
        <p:spPr bwMode="auto">
          <a:xfrm>
            <a:off x="5219700" y="948210"/>
            <a:ext cx="1066800" cy="1590689"/>
          </a:xfrm>
          <a:prstGeom prst="rect">
            <a:avLst/>
          </a:prstGeom>
          <a:noFill/>
          <a:extLst>
            <a:ext uri="{909E8E84-426E-40DD-AFC4-6F175D3DCCD1}">
              <a14:hiddenFill xmlns:a14="http://schemas.microsoft.com/office/drawing/2010/main">
                <a:solidFill>
                  <a:srgbClr val="FFFFFF"/>
                </a:solidFill>
              </a14:hiddenFill>
            </a:ext>
          </a:extLst>
        </p:spPr>
      </p:pic>
      <p:sp>
        <p:nvSpPr>
          <p:cNvPr id="34" name="Up Arrow 33"/>
          <p:cNvSpPr/>
          <p:nvPr/>
        </p:nvSpPr>
        <p:spPr>
          <a:xfrm>
            <a:off x="4029076" y="4419600"/>
            <a:ext cx="171448" cy="457200"/>
          </a:xfrm>
          <a:prstGeom prst="up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35" name="Up Arrow 34"/>
          <p:cNvSpPr/>
          <p:nvPr/>
        </p:nvSpPr>
        <p:spPr>
          <a:xfrm>
            <a:off x="5476876" y="4419600"/>
            <a:ext cx="171448" cy="457200"/>
          </a:xfrm>
          <a:prstGeom prst="up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36" name="Up Arrow 35"/>
          <p:cNvSpPr/>
          <p:nvPr/>
        </p:nvSpPr>
        <p:spPr>
          <a:xfrm>
            <a:off x="7534276" y="4419600"/>
            <a:ext cx="171448" cy="457200"/>
          </a:xfrm>
          <a:prstGeom prst="up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37" name="Up Arrow 36"/>
          <p:cNvSpPr/>
          <p:nvPr/>
        </p:nvSpPr>
        <p:spPr>
          <a:xfrm>
            <a:off x="9134476" y="4419600"/>
            <a:ext cx="171448" cy="457200"/>
          </a:xfrm>
          <a:prstGeom prst="up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38" name="Rectangle 37"/>
          <p:cNvSpPr/>
          <p:nvPr/>
        </p:nvSpPr>
        <p:spPr>
          <a:xfrm>
            <a:off x="7455783" y="1831012"/>
            <a:ext cx="697627" cy="707886"/>
          </a:xfrm>
          <a:prstGeom prst="rect">
            <a:avLst/>
          </a:prstGeom>
        </p:spPr>
        <p:txBody>
          <a:bodyPr wrap="none">
            <a:spAutoFit/>
          </a:bodyPr>
          <a:lstStyle/>
          <a:p>
            <a:r>
              <a:rPr lang="en-US" altLang="zh-CN" sz="4000" b="1" dirty="0"/>
              <a:t>…</a:t>
            </a:r>
            <a:endParaRPr lang="zh-CN" altLang="en-US" sz="4000" b="1" dirty="0"/>
          </a:p>
        </p:txBody>
      </p:sp>
      <p:sp>
        <p:nvSpPr>
          <p:cNvPr id="40" name="Rectangle 39"/>
          <p:cNvSpPr/>
          <p:nvPr/>
        </p:nvSpPr>
        <p:spPr>
          <a:xfrm>
            <a:off x="9162199" y="4980299"/>
            <a:ext cx="697627" cy="707886"/>
          </a:xfrm>
          <a:prstGeom prst="rect">
            <a:avLst/>
          </a:prstGeom>
        </p:spPr>
        <p:txBody>
          <a:bodyPr wrap="none">
            <a:spAutoFit/>
          </a:bodyPr>
          <a:lstStyle/>
          <a:p>
            <a:r>
              <a:rPr lang="en-US" altLang="zh-CN" sz="4000" b="1" dirty="0"/>
              <a:t>…</a:t>
            </a:r>
            <a:endParaRPr lang="zh-CN" altLang="en-US" sz="4000" b="1" dirty="0"/>
          </a:p>
        </p:txBody>
      </p:sp>
    </p:spTree>
    <p:custDataLst>
      <p:tags r:id="rId1"/>
    </p:custDataLst>
    <p:extLst>
      <p:ext uri="{BB962C8B-B14F-4D97-AF65-F5344CB8AC3E}">
        <p14:creationId xmlns:p14="http://schemas.microsoft.com/office/powerpoint/2010/main" val="573530451"/>
      </p:ext>
    </p:extLst>
  </p:cSld>
  <p:clrMapOvr>
    <a:masterClrMapping/>
  </p:clrMapOvr>
  <mc:AlternateContent xmlns:mc="http://schemas.openxmlformats.org/markup-compatibility/2006" xmlns:p14="http://schemas.microsoft.com/office/powerpoint/2010/main">
    <mc:Choice Requires="p14">
      <p:transition spd="slow" p14:dur="2000" advTm="67755"/>
    </mc:Choice>
    <mc:Fallback xmlns="">
      <p:transition spd="slow" advTm="677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wipe(left)">
                                      <p:cBhvr>
                                        <p:cTn id="7" dur="500"/>
                                        <p:tgtEl>
                                          <p:spTgt spid="1028"/>
                                        </p:tgtEl>
                                      </p:cBhvr>
                                    </p:animEffect>
                                  </p:childTnLst>
                                </p:cTn>
                              </p:par>
                              <p:par>
                                <p:cTn id="8" presetID="22" presetClass="entr" presetSubtype="8" fill="hold" nodeType="withEffect">
                                  <p:stCondLst>
                                    <p:cond delay="0"/>
                                  </p:stCondLst>
                                  <p:childTnLst>
                                    <p:set>
                                      <p:cBhvr>
                                        <p:cTn id="9" dur="1" fill="hold">
                                          <p:stCondLst>
                                            <p:cond delay="0"/>
                                          </p:stCondLst>
                                        </p:cTn>
                                        <p:tgtEl>
                                          <p:spTgt spid="1032"/>
                                        </p:tgtEl>
                                        <p:attrNameLst>
                                          <p:attrName>style.visibility</p:attrName>
                                        </p:attrNameLst>
                                      </p:cBhvr>
                                      <p:to>
                                        <p:strVal val="visible"/>
                                      </p:to>
                                    </p:set>
                                    <p:animEffect transition="in" filter="wipe(left)">
                                      <p:cBhvr>
                                        <p:cTn id="10" dur="500"/>
                                        <p:tgtEl>
                                          <p:spTgt spid="1032"/>
                                        </p:tgtEl>
                                      </p:cBhvr>
                                    </p:animEffect>
                                  </p:childTnLst>
                                </p:cTn>
                              </p:par>
                              <p:par>
                                <p:cTn id="11" presetID="22" presetClass="entr" presetSubtype="8" fill="hold" nodeType="withEffect">
                                  <p:stCondLst>
                                    <p:cond delay="0"/>
                                  </p:stCondLst>
                                  <p:childTnLst>
                                    <p:set>
                                      <p:cBhvr>
                                        <p:cTn id="12" dur="1" fill="hold">
                                          <p:stCondLst>
                                            <p:cond delay="0"/>
                                          </p:stCondLst>
                                        </p:cTn>
                                        <p:tgtEl>
                                          <p:spTgt spid="1035"/>
                                        </p:tgtEl>
                                        <p:attrNameLst>
                                          <p:attrName>style.visibility</p:attrName>
                                        </p:attrNameLst>
                                      </p:cBhvr>
                                      <p:to>
                                        <p:strVal val="visible"/>
                                      </p:to>
                                    </p:set>
                                    <p:animEffect transition="in" filter="wipe(left)">
                                      <p:cBhvr>
                                        <p:cTn id="13" dur="500"/>
                                        <p:tgtEl>
                                          <p:spTgt spid="1035"/>
                                        </p:tgtEl>
                                      </p:cBhvr>
                                    </p:animEffect>
                                  </p:childTnLst>
                                </p:cTn>
                              </p:par>
                              <p:par>
                                <p:cTn id="14" presetID="22" presetClass="entr" presetSubtype="8" fill="hold" nodeType="withEffect">
                                  <p:stCondLst>
                                    <p:cond delay="0"/>
                                  </p:stCondLst>
                                  <p:childTnLst>
                                    <p:set>
                                      <p:cBhvr>
                                        <p:cTn id="15" dur="1" fill="hold">
                                          <p:stCondLst>
                                            <p:cond delay="0"/>
                                          </p:stCondLst>
                                        </p:cTn>
                                        <p:tgtEl>
                                          <p:spTgt spid="1045"/>
                                        </p:tgtEl>
                                        <p:attrNameLst>
                                          <p:attrName>style.visibility</p:attrName>
                                        </p:attrNameLst>
                                      </p:cBhvr>
                                      <p:to>
                                        <p:strVal val="visible"/>
                                      </p:to>
                                    </p:set>
                                    <p:animEffect transition="in" filter="wipe(left)">
                                      <p:cBhvr>
                                        <p:cTn id="16" dur="500"/>
                                        <p:tgtEl>
                                          <p:spTgt spid="1045"/>
                                        </p:tgtEl>
                                      </p:cBhvr>
                                    </p:animEffect>
                                  </p:childTnLst>
                                </p:cTn>
                              </p:par>
                              <p:par>
                                <p:cTn id="17" presetID="22" presetClass="entr" presetSubtype="8" fill="hold" nodeType="withEffect">
                                  <p:stCondLst>
                                    <p:cond delay="0"/>
                                  </p:stCondLst>
                                  <p:childTnLst>
                                    <p:set>
                                      <p:cBhvr>
                                        <p:cTn id="18" dur="1" fill="hold">
                                          <p:stCondLst>
                                            <p:cond delay="0"/>
                                          </p:stCondLst>
                                        </p:cTn>
                                        <p:tgtEl>
                                          <p:spTgt spid="1047"/>
                                        </p:tgtEl>
                                        <p:attrNameLst>
                                          <p:attrName>style.visibility</p:attrName>
                                        </p:attrNameLst>
                                      </p:cBhvr>
                                      <p:to>
                                        <p:strVal val="visible"/>
                                      </p:to>
                                    </p:set>
                                    <p:animEffect transition="in" filter="wipe(left)">
                                      <p:cBhvr>
                                        <p:cTn id="19" dur="500"/>
                                        <p:tgtEl>
                                          <p:spTgt spid="1047"/>
                                        </p:tgtEl>
                                      </p:cBhvr>
                                    </p:animEffect>
                                  </p:childTnLst>
                                </p:cTn>
                              </p:par>
                              <p:par>
                                <p:cTn id="20" presetID="22" presetClass="entr" presetSubtype="8" fill="hold"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left)">
                                      <p:cBhvr>
                                        <p:cTn id="22" dur="500"/>
                                        <p:tgtEl>
                                          <p:spTgt spid="56"/>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down)">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down)">
                                      <p:cBhvr>
                                        <p:cTn id="30" dur="500"/>
                                        <p:tgtEl>
                                          <p:spTgt spid="13"/>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down)">
                                      <p:cBhvr>
                                        <p:cTn id="33" dur="500"/>
                                        <p:tgtEl>
                                          <p:spTgt spid="15"/>
                                        </p:tgtEl>
                                      </p:cBhvr>
                                    </p:animEffect>
                                  </p:childTnLst>
                                </p:cTn>
                              </p:par>
                              <p:par>
                                <p:cTn id="34" presetID="22" presetClass="entr" presetSubtype="4" fill="hold" nodeType="withEffect">
                                  <p:stCondLst>
                                    <p:cond delay="0"/>
                                  </p:stCondLst>
                                  <p:childTnLst>
                                    <p:set>
                                      <p:cBhvr>
                                        <p:cTn id="35" dur="1" fill="hold">
                                          <p:stCondLst>
                                            <p:cond delay="0"/>
                                          </p:stCondLst>
                                        </p:cTn>
                                        <p:tgtEl>
                                          <p:spTgt spid="1026"/>
                                        </p:tgtEl>
                                        <p:attrNameLst>
                                          <p:attrName>style.visibility</p:attrName>
                                        </p:attrNameLst>
                                      </p:cBhvr>
                                      <p:to>
                                        <p:strVal val="visible"/>
                                      </p:to>
                                    </p:set>
                                    <p:animEffect transition="in" filter="wipe(down)">
                                      <p:cBhvr>
                                        <p:cTn id="36" dur="500"/>
                                        <p:tgtEl>
                                          <p:spTgt spid="1026"/>
                                        </p:tgtEl>
                                      </p:cBhvr>
                                    </p:animEffect>
                                  </p:childTnLst>
                                </p:cTn>
                              </p:par>
                              <p:par>
                                <p:cTn id="37" presetID="22" presetClass="entr" presetSubtype="4" fill="hold" nodeType="withEffect">
                                  <p:stCondLst>
                                    <p:cond delay="0"/>
                                  </p:stCondLst>
                                  <p:childTnLst>
                                    <p:set>
                                      <p:cBhvr>
                                        <p:cTn id="38" dur="1" fill="hold">
                                          <p:stCondLst>
                                            <p:cond delay="0"/>
                                          </p:stCondLst>
                                        </p:cTn>
                                        <p:tgtEl>
                                          <p:spTgt spid="1037"/>
                                        </p:tgtEl>
                                        <p:attrNameLst>
                                          <p:attrName>style.visibility</p:attrName>
                                        </p:attrNameLst>
                                      </p:cBhvr>
                                      <p:to>
                                        <p:strVal val="visible"/>
                                      </p:to>
                                    </p:set>
                                    <p:animEffect transition="in" filter="wipe(down)">
                                      <p:cBhvr>
                                        <p:cTn id="39" dur="500"/>
                                        <p:tgtEl>
                                          <p:spTgt spid="1037"/>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down)">
                                      <p:cBhvr>
                                        <p:cTn id="42" dur="500"/>
                                        <p:tgtEl>
                                          <p:spTgt spid="3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wipe(down)">
                                      <p:cBhvr>
                                        <p:cTn id="45" dur="500"/>
                                        <p:tgtEl>
                                          <p:spTgt spid="33"/>
                                        </p:tgtEl>
                                      </p:cBhvr>
                                    </p:animEffect>
                                  </p:childTnLst>
                                </p:cTn>
                              </p:par>
                              <p:par>
                                <p:cTn id="46" presetID="22" presetClass="entr" presetSubtype="4" fill="hold"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wipe(down)">
                                      <p:cBhvr>
                                        <p:cTn id="48" dur="500"/>
                                        <p:tgtEl>
                                          <p:spTgt spid="39"/>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wipe(down)">
                                      <p:cBhvr>
                                        <p:cTn id="51" dur="500"/>
                                        <p:tgtEl>
                                          <p:spTgt spid="41"/>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wipe(down)">
                                      <p:cBhvr>
                                        <p:cTn id="58" dur="500"/>
                                        <p:tgtEl>
                                          <p:spTgt spid="34"/>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wipe(down)">
                                      <p:cBhvr>
                                        <p:cTn id="61" dur="500"/>
                                        <p:tgtEl>
                                          <p:spTgt spid="35"/>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wipe(down)">
                                      <p:cBhvr>
                                        <p:cTn id="64" dur="500"/>
                                        <p:tgtEl>
                                          <p:spTgt spid="36"/>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wipe(down)">
                                      <p:cBhvr>
                                        <p:cTn id="6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2" grpId="0"/>
      <p:bldP spid="33" grpId="0"/>
      <p:bldP spid="41" grpId="0"/>
      <p:bldP spid="34" grpId="0" animBg="1"/>
      <p:bldP spid="35" grpId="0" animBg="1"/>
      <p:bldP spid="36" grpId="0" animBg="1"/>
      <p:bldP spid="37" grpId="0" animBg="1"/>
      <p:bldP spid="38" grpId="0"/>
      <p:bldP spid="4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57304D90-07B8-4846-A15A-39F3BA36866C}" type="slidenum">
              <a:rPr lang="en-US" altLang="zh-CN"/>
              <a:pPr/>
              <a:t>41</a:t>
            </a:fld>
            <a:endParaRPr lang="en-US" altLang="zh-CN"/>
          </a:p>
        </p:txBody>
      </p:sp>
      <p:sp>
        <p:nvSpPr>
          <p:cNvPr id="2284546" name="Rectangle 2"/>
          <p:cNvSpPr>
            <a:spLocks noGrp="1" noChangeArrowheads="1"/>
          </p:cNvSpPr>
          <p:nvPr>
            <p:ph type="title"/>
          </p:nvPr>
        </p:nvSpPr>
        <p:spPr/>
        <p:txBody>
          <a:bodyPr/>
          <a:lstStyle/>
          <a:p>
            <a:r>
              <a:rPr lang="en-US" sz="3800"/>
              <a:t>Opinion Question Answering</a:t>
            </a:r>
          </a:p>
        </p:txBody>
      </p:sp>
      <p:sp>
        <p:nvSpPr>
          <p:cNvPr id="2284547" name="Rectangle 3"/>
          <p:cNvSpPr>
            <a:spLocks noGrp="1" noChangeArrowheads="1"/>
          </p:cNvSpPr>
          <p:nvPr>
            <p:ph type="body" idx="1"/>
          </p:nvPr>
        </p:nvSpPr>
        <p:spPr>
          <a:xfrm>
            <a:off x="1485900" y="1836738"/>
            <a:ext cx="7772400" cy="908050"/>
          </a:xfrm>
        </p:spPr>
        <p:txBody>
          <a:bodyPr/>
          <a:lstStyle/>
          <a:p>
            <a:endParaRPr lang="en-US"/>
          </a:p>
        </p:txBody>
      </p:sp>
      <p:sp>
        <p:nvSpPr>
          <p:cNvPr id="2284548" name="Text Box 4"/>
          <p:cNvSpPr txBox="1">
            <a:spLocks noChangeArrowheads="1"/>
          </p:cNvSpPr>
          <p:nvPr/>
        </p:nvSpPr>
        <p:spPr bwMode="auto">
          <a:xfrm>
            <a:off x="1485900" y="2743201"/>
            <a:ext cx="6019800" cy="1200329"/>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eaLnBrk="1" hangingPunct="1"/>
            <a:r>
              <a:rPr lang="en-US" sz="2400"/>
              <a:t>Q: What is the international reaction to the reelection of Robert Mugabe as President of Zimbabwe?  </a:t>
            </a:r>
          </a:p>
        </p:txBody>
      </p:sp>
      <p:sp>
        <p:nvSpPr>
          <p:cNvPr id="2284549" name="Text Box 5"/>
          <p:cNvSpPr txBox="1">
            <a:spLocks noChangeArrowheads="1"/>
          </p:cNvSpPr>
          <p:nvPr/>
        </p:nvSpPr>
        <p:spPr bwMode="auto">
          <a:xfrm>
            <a:off x="1479550" y="4210050"/>
            <a:ext cx="594995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eaLnBrk="1" hangingPunct="1"/>
            <a:endParaRPr lang="en-US" sz="2400"/>
          </a:p>
          <a:p>
            <a:pPr lvl="2" eaLnBrk="1" hangingPunct="1"/>
            <a:r>
              <a:rPr lang="en-US" sz="2400"/>
              <a:t>A: African observers </a:t>
            </a:r>
            <a:r>
              <a:rPr lang="en-US" sz="2400">
                <a:solidFill>
                  <a:srgbClr val="0000FF"/>
                </a:solidFill>
              </a:rPr>
              <a:t>generally approved</a:t>
            </a:r>
            <a:r>
              <a:rPr lang="en-US" sz="2400"/>
              <a:t> of his victory while Western Governments </a:t>
            </a:r>
            <a:r>
              <a:rPr lang="en-US" sz="2400">
                <a:solidFill>
                  <a:srgbClr val="FF0000"/>
                </a:solidFill>
              </a:rPr>
              <a:t>denounced</a:t>
            </a:r>
            <a:r>
              <a:rPr lang="en-US" sz="2400"/>
              <a:t> it.</a:t>
            </a:r>
          </a:p>
          <a:p>
            <a:pPr eaLnBrk="1" hangingPunct="1"/>
            <a:endParaRPr lang="en-US" sz="2400"/>
          </a:p>
          <a:p>
            <a:pPr eaLnBrk="1" hangingPunct="1"/>
            <a:endParaRPr lang="en-US" sz="2400"/>
          </a:p>
        </p:txBody>
      </p:sp>
    </p:spTree>
    <p:extLst>
      <p:ext uri="{BB962C8B-B14F-4D97-AF65-F5344CB8AC3E}">
        <p14:creationId xmlns:p14="http://schemas.microsoft.com/office/powerpoint/2010/main" val="4067260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Sentiment Analysis</a:t>
            </a:r>
          </a:p>
        </p:txBody>
      </p:sp>
      <p:sp>
        <p:nvSpPr>
          <p:cNvPr id="3" name="Content Placeholder 2"/>
          <p:cNvSpPr>
            <a:spLocks noGrp="1"/>
          </p:cNvSpPr>
          <p:nvPr>
            <p:ph idx="1"/>
          </p:nvPr>
        </p:nvSpPr>
        <p:spPr/>
        <p:txBody>
          <a:bodyPr/>
          <a:lstStyle/>
          <a:p>
            <a:r>
              <a:rPr lang="en-US" dirty="0"/>
              <a:t>Simplest task:</a:t>
            </a:r>
          </a:p>
          <a:p>
            <a:pPr lvl="1"/>
            <a:r>
              <a:rPr lang="en-US" dirty="0"/>
              <a:t>Is the attitude of this text positive or negative?</a:t>
            </a:r>
          </a:p>
          <a:p>
            <a:r>
              <a:rPr lang="en-US" dirty="0"/>
              <a:t>More complex:</a:t>
            </a:r>
          </a:p>
          <a:p>
            <a:pPr lvl="1"/>
            <a:r>
              <a:rPr lang="en-US" dirty="0"/>
              <a:t>Rank the attitude of this text from 1 to 5</a:t>
            </a:r>
          </a:p>
          <a:p>
            <a:r>
              <a:rPr lang="en-US" dirty="0"/>
              <a:t>Advanced:</a:t>
            </a:r>
          </a:p>
          <a:p>
            <a:pPr lvl="1"/>
            <a:r>
              <a:rPr lang="en-US" dirty="0"/>
              <a:t>Detect the target, source, or complex attitude types (moods, comparison)</a:t>
            </a:r>
          </a:p>
          <a:p>
            <a:endParaRPr lang="en-US" dirty="0"/>
          </a:p>
          <a:p>
            <a:endParaRPr lang="en-US" dirty="0"/>
          </a:p>
        </p:txBody>
      </p:sp>
      <p:pic>
        <p:nvPicPr>
          <p:cNvPr id="4" name="Picture 3" descr="girl_reading_a_book_while_laying_on_the_floor_0515-1002-0104-0834_SMU.jpg">
            <a:extLst>
              <a:ext uri="{FF2B5EF4-FFF2-40B4-BE49-F238E27FC236}">
                <a16:creationId xmlns:a16="http://schemas.microsoft.com/office/drawing/2014/main" id="{8A7B2CBC-C2AA-413E-B53E-0E56D3A94B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21906" y="3671021"/>
            <a:ext cx="2643187"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loud Callout 6">
            <a:extLst>
              <a:ext uri="{FF2B5EF4-FFF2-40B4-BE49-F238E27FC236}">
                <a16:creationId xmlns:a16="http://schemas.microsoft.com/office/drawing/2014/main" id="{0DA557E1-6927-4FAB-A047-F08B67092BFA}"/>
              </a:ext>
            </a:extLst>
          </p:cNvPr>
          <p:cNvSpPr/>
          <p:nvPr/>
        </p:nvSpPr>
        <p:spPr>
          <a:xfrm>
            <a:off x="2321718" y="3456709"/>
            <a:ext cx="2000250" cy="1000125"/>
          </a:xfrm>
          <a:prstGeom prst="cloudCallout">
            <a:avLst>
              <a:gd name="adj1" fmla="val 53359"/>
              <a:gd name="adj2" fmla="val 65498"/>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hangingPunct="1"/>
            <a:r>
              <a:rPr lang="en-US">
                <a:solidFill>
                  <a:schemeClr val="tx1"/>
                </a:solidFill>
                <a:latin typeface="Century Schoolbook" pitchFamily="18" charset="0"/>
                <a:ea typeface="宋体" pitchFamily="2" charset="-122"/>
                <a:cs typeface="Arial" pitchFamily="34" charset="0"/>
              </a:rPr>
              <a:t>This is a good book. </a:t>
            </a:r>
            <a:endParaRPr lang="en-IN">
              <a:solidFill>
                <a:schemeClr val="tx1"/>
              </a:solidFill>
              <a:latin typeface="Century Schoolbook" pitchFamily="18" charset="0"/>
              <a:ea typeface="宋体" pitchFamily="2" charset="-122"/>
              <a:cs typeface="Arial" pitchFamily="34" charset="0"/>
            </a:endParaRPr>
          </a:p>
        </p:txBody>
      </p:sp>
      <p:cxnSp>
        <p:nvCxnSpPr>
          <p:cNvPr id="6" name="Straight Arrow Connector 5">
            <a:extLst>
              <a:ext uri="{FF2B5EF4-FFF2-40B4-BE49-F238E27FC236}">
                <a16:creationId xmlns:a16="http://schemas.microsoft.com/office/drawing/2014/main" id="{852D14C3-F8B5-4B2C-B032-114121747369}"/>
              </a:ext>
            </a:extLst>
          </p:cNvPr>
          <p:cNvCxnSpPr/>
          <p:nvPr/>
        </p:nvCxnSpPr>
        <p:spPr>
          <a:xfrm rot="10800000">
            <a:off x="5536406" y="5242646"/>
            <a:ext cx="1285875" cy="1588"/>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7" name="TextBox 9">
            <a:extLst>
              <a:ext uri="{FF2B5EF4-FFF2-40B4-BE49-F238E27FC236}">
                <a16:creationId xmlns:a16="http://schemas.microsoft.com/office/drawing/2014/main" id="{01610A83-1D67-471B-A326-56D285374452}"/>
              </a:ext>
            </a:extLst>
          </p:cNvPr>
          <p:cNvSpPr txBox="1">
            <a:spLocks noChangeArrowheads="1"/>
          </p:cNvSpPr>
          <p:nvPr/>
        </p:nvSpPr>
        <p:spPr bwMode="auto">
          <a:xfrm>
            <a:off x="6750843" y="4885459"/>
            <a:ext cx="10715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atin typeface="Century Schoolbook" pitchFamily="18" charset="0"/>
                <a:cs typeface="Arial" pitchFamily="34" charset="0"/>
              </a:rPr>
              <a:t>Opinion Holder</a:t>
            </a:r>
            <a:endParaRPr lang="en-IN">
              <a:latin typeface="Century Schoolbook" pitchFamily="18" charset="0"/>
              <a:cs typeface="Arial" pitchFamily="34" charset="0"/>
            </a:endParaRPr>
          </a:p>
        </p:txBody>
      </p:sp>
      <p:cxnSp>
        <p:nvCxnSpPr>
          <p:cNvPr id="8" name="Straight Arrow Connector 7">
            <a:extLst>
              <a:ext uri="{FF2B5EF4-FFF2-40B4-BE49-F238E27FC236}">
                <a16:creationId xmlns:a16="http://schemas.microsoft.com/office/drawing/2014/main" id="{E48D4BB2-2EBC-4E39-B4D4-4AE28AB37E94}"/>
              </a:ext>
            </a:extLst>
          </p:cNvPr>
          <p:cNvCxnSpPr/>
          <p:nvPr/>
        </p:nvCxnSpPr>
        <p:spPr>
          <a:xfrm rot="10800000">
            <a:off x="5393531" y="6025284"/>
            <a:ext cx="1285875" cy="1587"/>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9" name="TextBox 12">
            <a:extLst>
              <a:ext uri="{FF2B5EF4-FFF2-40B4-BE49-F238E27FC236}">
                <a16:creationId xmlns:a16="http://schemas.microsoft.com/office/drawing/2014/main" id="{1D62EE34-F434-4887-BCAC-0A2C2C84E311}"/>
              </a:ext>
            </a:extLst>
          </p:cNvPr>
          <p:cNvSpPr txBox="1">
            <a:spLocks noChangeArrowheads="1"/>
          </p:cNvSpPr>
          <p:nvPr/>
        </p:nvSpPr>
        <p:spPr bwMode="auto">
          <a:xfrm>
            <a:off x="6536531" y="5814146"/>
            <a:ext cx="1071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atin typeface="Century Schoolbook" pitchFamily="18" charset="0"/>
                <a:cs typeface="Arial" pitchFamily="34" charset="0"/>
              </a:rPr>
              <a:t>Object</a:t>
            </a:r>
            <a:endParaRPr lang="en-IN">
              <a:latin typeface="Century Schoolbook" pitchFamily="18" charset="0"/>
              <a:cs typeface="Arial" pitchFamily="34" charset="0"/>
            </a:endParaRPr>
          </a:p>
        </p:txBody>
      </p:sp>
      <p:cxnSp>
        <p:nvCxnSpPr>
          <p:cNvPr id="10" name="Straight Arrow Connector 9">
            <a:extLst>
              <a:ext uri="{FF2B5EF4-FFF2-40B4-BE49-F238E27FC236}">
                <a16:creationId xmlns:a16="http://schemas.microsoft.com/office/drawing/2014/main" id="{DD5BC6E6-1FD3-42D0-9CF9-EF58044C1070}"/>
              </a:ext>
            </a:extLst>
          </p:cNvPr>
          <p:cNvCxnSpPr>
            <a:stCxn id="11" idx="0"/>
          </p:cNvCxnSpPr>
          <p:nvPr/>
        </p:nvCxnSpPr>
        <p:spPr>
          <a:xfrm rot="5400000" flipH="1" flipV="1">
            <a:off x="2554287" y="4760840"/>
            <a:ext cx="714375" cy="10636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11" name="TextBox 14">
            <a:extLst>
              <a:ext uri="{FF2B5EF4-FFF2-40B4-BE49-F238E27FC236}">
                <a16:creationId xmlns:a16="http://schemas.microsoft.com/office/drawing/2014/main" id="{59ACAC28-F9C9-4DB0-859F-B9210A4BF252}"/>
              </a:ext>
            </a:extLst>
          </p:cNvPr>
          <p:cNvSpPr txBox="1">
            <a:spLocks noChangeArrowheads="1"/>
          </p:cNvSpPr>
          <p:nvPr/>
        </p:nvSpPr>
        <p:spPr bwMode="auto">
          <a:xfrm>
            <a:off x="2321718" y="5171209"/>
            <a:ext cx="1071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atin typeface="Century Schoolbook" pitchFamily="18" charset="0"/>
                <a:cs typeface="Arial" pitchFamily="34" charset="0"/>
              </a:rPr>
              <a:t>Opinion</a:t>
            </a:r>
            <a:endParaRPr lang="en-IN">
              <a:latin typeface="Century Schoolbook" pitchFamily="18" charset="0"/>
              <a:cs typeface="Arial" pitchFamily="34" charset="0"/>
            </a:endParaRPr>
          </a:p>
        </p:txBody>
      </p:sp>
      <p:pic>
        <p:nvPicPr>
          <p:cNvPr id="13" name="Picture 12">
            <a:extLst>
              <a:ext uri="{FF2B5EF4-FFF2-40B4-BE49-F238E27FC236}">
                <a16:creationId xmlns:a16="http://schemas.microsoft.com/office/drawing/2014/main" id="{65731881-0643-408B-9C4F-216A2CB43488}"/>
              </a:ext>
            </a:extLst>
          </p:cNvPr>
          <p:cNvPicPr>
            <a:picLocks noChangeAspect="1"/>
          </p:cNvPicPr>
          <p:nvPr/>
        </p:nvPicPr>
        <p:blipFill>
          <a:blip r:embed="rId4"/>
          <a:stretch>
            <a:fillRect/>
          </a:stretch>
        </p:blipFill>
        <p:spPr>
          <a:xfrm>
            <a:off x="6151634" y="266701"/>
            <a:ext cx="4038600" cy="304800"/>
          </a:xfrm>
          <a:prstGeom prst="rect">
            <a:avLst/>
          </a:prstGeom>
        </p:spPr>
      </p:pic>
      <p:pic>
        <p:nvPicPr>
          <p:cNvPr id="14" name="Picture 13">
            <a:extLst>
              <a:ext uri="{FF2B5EF4-FFF2-40B4-BE49-F238E27FC236}">
                <a16:creationId xmlns:a16="http://schemas.microsoft.com/office/drawing/2014/main" id="{0B5D6C23-DBD0-4D19-BD91-24BB717E976B}"/>
              </a:ext>
            </a:extLst>
          </p:cNvPr>
          <p:cNvPicPr>
            <a:picLocks noChangeAspect="1"/>
          </p:cNvPicPr>
          <p:nvPr/>
        </p:nvPicPr>
        <p:blipFill>
          <a:blip r:embed="rId5"/>
          <a:stretch>
            <a:fillRect/>
          </a:stretch>
        </p:blipFill>
        <p:spPr>
          <a:xfrm>
            <a:off x="6179343" y="737948"/>
            <a:ext cx="3625779" cy="693351"/>
          </a:xfrm>
          <a:prstGeom prst="rect">
            <a:avLst/>
          </a:prstGeom>
        </p:spPr>
      </p:pic>
    </p:spTree>
    <p:extLst>
      <p:ext uri="{BB962C8B-B14F-4D97-AF65-F5344CB8AC3E}">
        <p14:creationId xmlns:p14="http://schemas.microsoft.com/office/powerpoint/2010/main" val="316204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endParaRPr lang="en-US" dirty="0"/>
          </a:p>
        </p:txBody>
      </p:sp>
      <p:sp>
        <p:nvSpPr>
          <p:cNvPr id="3" name="Content Placeholder 2"/>
          <p:cNvSpPr>
            <a:spLocks noGrp="1"/>
          </p:cNvSpPr>
          <p:nvPr>
            <p:ph idx="1"/>
          </p:nvPr>
        </p:nvSpPr>
        <p:spPr/>
        <p:txBody>
          <a:bodyPr/>
          <a:lstStyle/>
          <a:p>
            <a:r>
              <a:rPr lang="en-IN" dirty="0">
                <a:solidFill>
                  <a:srgbClr val="00B050"/>
                </a:solidFill>
              </a:rPr>
              <a:t>Applications of Sentiment Analysis</a:t>
            </a:r>
          </a:p>
          <a:p>
            <a:r>
              <a:rPr lang="en-IN" b="1" dirty="0">
                <a:solidFill>
                  <a:srgbClr val="7030A0"/>
                </a:solidFill>
              </a:rPr>
              <a:t>Word-based Classification Approach</a:t>
            </a:r>
          </a:p>
        </p:txBody>
      </p:sp>
    </p:spTree>
    <p:extLst>
      <p:ext uri="{BB962C8B-B14F-4D97-AF65-F5344CB8AC3E}">
        <p14:creationId xmlns:p14="http://schemas.microsoft.com/office/powerpoint/2010/main" val="191640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0"/>
            <a:ext cx="9753600" cy="685800"/>
          </a:xfrm>
        </p:spPr>
        <p:txBody>
          <a:bodyPr>
            <a:normAutofit fontScale="90000"/>
          </a:bodyPr>
          <a:lstStyle/>
          <a:p>
            <a:r>
              <a:rPr lang="en-US" dirty="0"/>
              <a:t>IMDB data in the Pang and Lee database (2002)</a:t>
            </a:r>
          </a:p>
        </p:txBody>
      </p:sp>
      <p:sp>
        <p:nvSpPr>
          <p:cNvPr id="3" name="Content Placeholder 2"/>
          <p:cNvSpPr>
            <a:spLocks noGrp="1"/>
          </p:cNvSpPr>
          <p:nvPr>
            <p:ph idx="1"/>
          </p:nvPr>
        </p:nvSpPr>
        <p:spPr>
          <a:xfrm>
            <a:off x="647700" y="1822826"/>
            <a:ext cx="4095750" cy="4525963"/>
          </a:xfrm>
        </p:spPr>
        <p:txBody>
          <a:bodyPr/>
          <a:lstStyle/>
          <a:p>
            <a:pPr marL="0" indent="0">
              <a:buNone/>
            </a:pPr>
            <a:r>
              <a:rPr lang="en-US" sz="1800" dirty="0"/>
              <a:t>when _star wars_ came out some twenty years ago , the image of traveling throughout the stars has become a commonplace image . […]</a:t>
            </a:r>
          </a:p>
          <a:p>
            <a:pPr marL="0" indent="0">
              <a:buNone/>
            </a:pPr>
            <a:r>
              <a:rPr lang="en-US" sz="1800" dirty="0"/>
              <a:t>when </a:t>
            </a:r>
            <a:r>
              <a:rPr lang="en-US" sz="1800" dirty="0" err="1"/>
              <a:t>han</a:t>
            </a:r>
            <a:r>
              <a:rPr lang="en-US" sz="1800" dirty="0"/>
              <a:t> solo goes light speed , the stars change to bright lines , going towards the viewer in lines that converge at an invisible point . </a:t>
            </a:r>
          </a:p>
          <a:p>
            <a:pPr marL="0" indent="0">
              <a:buNone/>
            </a:pPr>
            <a:r>
              <a:rPr lang="en-US" sz="1800" b="1" dirty="0"/>
              <a:t>cool</a:t>
            </a:r>
            <a:r>
              <a:rPr lang="en-US" sz="1800" dirty="0"/>
              <a:t> . </a:t>
            </a:r>
          </a:p>
          <a:p>
            <a:pPr marL="0" indent="0">
              <a:buNone/>
            </a:pPr>
            <a:r>
              <a:rPr lang="en-US" sz="1800" dirty="0"/>
              <a:t>_</a:t>
            </a:r>
            <a:r>
              <a:rPr lang="en-US" sz="1800" dirty="0" err="1"/>
              <a:t>october</a:t>
            </a:r>
            <a:r>
              <a:rPr lang="en-US" sz="1800" dirty="0"/>
              <a:t> sky_ offers a much simpler image–that of a single white dot , traveling horizontally across the night sky .   [. . . ]</a:t>
            </a:r>
          </a:p>
        </p:txBody>
      </p:sp>
      <p:sp>
        <p:nvSpPr>
          <p:cNvPr id="4" name="Content Placeholder 2"/>
          <p:cNvSpPr txBox="1">
            <a:spLocks/>
          </p:cNvSpPr>
          <p:nvPr/>
        </p:nvSpPr>
        <p:spPr bwMode="auto">
          <a:xfrm>
            <a:off x="5219700" y="1820200"/>
            <a:ext cx="4495800" cy="2438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marL="0" indent="0">
              <a:buNone/>
            </a:pPr>
            <a:r>
              <a:rPr lang="en-US" sz="1800" dirty="0"/>
              <a:t>“ snake eyes ” is the most </a:t>
            </a:r>
            <a:r>
              <a:rPr lang="en-US" sz="1800" b="1" dirty="0"/>
              <a:t>aggravating</a:t>
            </a:r>
            <a:r>
              <a:rPr lang="en-US" sz="1800" dirty="0"/>
              <a:t> kind of movie : the kind that shows so much potential then becomes </a:t>
            </a:r>
            <a:r>
              <a:rPr lang="en-US" sz="1800" b="1" dirty="0"/>
              <a:t>unbelievably disappointing</a:t>
            </a:r>
            <a:r>
              <a:rPr lang="en-US" sz="1800" dirty="0"/>
              <a:t> . </a:t>
            </a:r>
          </a:p>
          <a:p>
            <a:pPr marL="0" indent="0">
              <a:buNone/>
            </a:pPr>
            <a:r>
              <a:rPr lang="en-US" sz="1800" dirty="0"/>
              <a:t>it’s not just because this is a </a:t>
            </a:r>
            <a:r>
              <a:rPr lang="en-US" sz="1800" dirty="0" err="1"/>
              <a:t>brian</a:t>
            </a:r>
            <a:r>
              <a:rPr lang="en-US" sz="1800" dirty="0"/>
              <a:t> </a:t>
            </a:r>
            <a:r>
              <a:rPr lang="en-US" sz="1800" dirty="0" err="1"/>
              <a:t>depalma</a:t>
            </a:r>
            <a:r>
              <a:rPr lang="en-US" sz="1800" dirty="0"/>
              <a:t> film , and since he’s a great director and one who’s films are always greeted with at least some fanfare . </a:t>
            </a:r>
          </a:p>
          <a:p>
            <a:pPr marL="0" indent="0">
              <a:buNone/>
            </a:pPr>
            <a:r>
              <a:rPr lang="en-US" sz="1800" dirty="0"/>
              <a:t>and it’s not even because this was a film starring </a:t>
            </a:r>
            <a:r>
              <a:rPr lang="en-US" sz="1800" dirty="0" err="1"/>
              <a:t>nicolas</a:t>
            </a:r>
            <a:r>
              <a:rPr lang="en-US" sz="1800" dirty="0"/>
              <a:t> cage and since he gives a </a:t>
            </a:r>
            <a:r>
              <a:rPr lang="en-US" sz="1800" dirty="0" err="1"/>
              <a:t>brauvara</a:t>
            </a:r>
            <a:r>
              <a:rPr lang="en-US" sz="1800" dirty="0"/>
              <a:t> performance , this film is hardly worth his talents . </a:t>
            </a:r>
          </a:p>
        </p:txBody>
      </p:sp>
      <p:sp>
        <p:nvSpPr>
          <p:cNvPr id="5" name="TextBox 4"/>
          <p:cNvSpPr txBox="1"/>
          <p:nvPr/>
        </p:nvSpPr>
        <p:spPr>
          <a:xfrm>
            <a:off x="2247900" y="1143000"/>
            <a:ext cx="914171" cy="646331"/>
          </a:xfrm>
          <a:prstGeom prst="rect">
            <a:avLst/>
          </a:prstGeom>
          <a:noFill/>
        </p:spPr>
        <p:txBody>
          <a:bodyPr wrap="square" rtlCol="0">
            <a:spAutoFit/>
          </a:bodyPr>
          <a:lstStyle/>
          <a:p>
            <a:r>
              <a:rPr lang="en-US" sz="3600" dirty="0">
                <a:solidFill>
                  <a:srgbClr val="3366FF"/>
                </a:solidFill>
                <a:latin typeface="Zapf Dingbats"/>
                <a:ea typeface="Zapf Dingbats"/>
                <a:cs typeface="Zapf Dingbats"/>
                <a:sym typeface="Zapf Dingbats"/>
              </a:rPr>
              <a:t>✓</a:t>
            </a:r>
            <a:endParaRPr lang="en-US" sz="3600" dirty="0">
              <a:solidFill>
                <a:srgbClr val="3366FF"/>
              </a:solidFill>
            </a:endParaRPr>
          </a:p>
        </p:txBody>
      </p:sp>
      <p:sp>
        <p:nvSpPr>
          <p:cNvPr id="6" name="TextBox 5"/>
          <p:cNvSpPr txBox="1"/>
          <p:nvPr/>
        </p:nvSpPr>
        <p:spPr>
          <a:xfrm>
            <a:off x="7277100" y="1143000"/>
            <a:ext cx="381000" cy="646331"/>
          </a:xfrm>
          <a:prstGeom prst="rect">
            <a:avLst/>
          </a:prstGeom>
          <a:noFill/>
        </p:spPr>
        <p:txBody>
          <a:bodyPr wrap="square" rtlCol="0">
            <a:spAutoFit/>
          </a:bodyPr>
          <a:lstStyle/>
          <a:p>
            <a:r>
              <a:rPr lang="en-US" sz="3600" dirty="0">
                <a:solidFill>
                  <a:srgbClr val="FF0000"/>
                </a:solidFill>
                <a:latin typeface="Zapf Dingbats"/>
                <a:ea typeface="Zapf Dingbats"/>
                <a:cs typeface="Zapf Dingbats"/>
                <a:sym typeface="Zapf Dingbats"/>
              </a:rPr>
              <a:t>✗</a:t>
            </a:r>
            <a:endParaRPr lang="en-US" sz="3600" dirty="0">
              <a:solidFill>
                <a:srgbClr val="FF0000"/>
              </a:solidFill>
            </a:endParaRPr>
          </a:p>
        </p:txBody>
      </p:sp>
    </p:spTree>
    <p:extLst>
      <p:ext uri="{BB962C8B-B14F-4D97-AF65-F5344CB8AC3E}">
        <p14:creationId xmlns:p14="http://schemas.microsoft.com/office/powerpoint/2010/main" val="3763851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9829800" cy="533400"/>
          </a:xfrm>
        </p:spPr>
        <p:txBody>
          <a:bodyPr>
            <a:normAutofit fontScale="90000"/>
          </a:bodyPr>
          <a:lstStyle/>
          <a:p>
            <a:r>
              <a:rPr lang="en-US" dirty="0"/>
              <a:t>Word-based Classification Approach</a:t>
            </a:r>
          </a:p>
        </p:txBody>
      </p:sp>
      <p:sp>
        <p:nvSpPr>
          <p:cNvPr id="3" name="Content Placeholder 2"/>
          <p:cNvSpPr>
            <a:spLocks noGrp="1"/>
          </p:cNvSpPr>
          <p:nvPr>
            <p:ph idx="1"/>
          </p:nvPr>
        </p:nvSpPr>
        <p:spPr/>
        <p:txBody>
          <a:bodyPr/>
          <a:lstStyle/>
          <a:p>
            <a:r>
              <a:rPr lang="en-US" sz="2800" dirty="0"/>
              <a:t>Tokenization of words in review</a:t>
            </a:r>
          </a:p>
          <a:p>
            <a:r>
              <a:rPr lang="en-US" sz="2800" dirty="0"/>
              <a:t>Feature Extraction</a:t>
            </a:r>
          </a:p>
          <a:p>
            <a:r>
              <a:rPr lang="en-US" sz="2800" dirty="0"/>
              <a:t>Classification using different classifiers</a:t>
            </a:r>
          </a:p>
          <a:p>
            <a:pPr lvl="1"/>
            <a:r>
              <a:rPr lang="en-US" sz="2400" dirty="0"/>
              <a:t>Naïve Bayes – will use this one today</a:t>
            </a:r>
          </a:p>
          <a:p>
            <a:pPr lvl="1"/>
            <a:r>
              <a:rPr lang="en-US" sz="2400" dirty="0" err="1"/>
              <a:t>MaxEnt</a:t>
            </a:r>
            <a:endParaRPr lang="en-US" sz="2400" dirty="0"/>
          </a:p>
          <a:p>
            <a:pPr lvl="1"/>
            <a:r>
              <a:rPr lang="en-US" sz="2400" dirty="0"/>
              <a:t>SVM</a:t>
            </a:r>
          </a:p>
          <a:p>
            <a:pPr lvl="1"/>
            <a:r>
              <a:rPr lang="en-US" sz="2400" dirty="0" err="1"/>
              <a:t>MaxEnt</a:t>
            </a:r>
            <a:r>
              <a:rPr lang="en-US" sz="2400" dirty="0"/>
              <a:t> and SVM tend to do better than Na</a:t>
            </a:r>
            <a:r>
              <a:rPr lang="fr-FR" sz="2400" dirty="0"/>
              <a:t>ï</a:t>
            </a:r>
            <a:r>
              <a:rPr lang="en-US" sz="2400" dirty="0" err="1"/>
              <a:t>ve</a:t>
            </a:r>
            <a:r>
              <a:rPr lang="en-US" sz="2400" dirty="0"/>
              <a:t> Bayes</a:t>
            </a:r>
          </a:p>
        </p:txBody>
      </p:sp>
    </p:spTree>
    <p:extLst>
      <p:ext uri="{BB962C8B-B14F-4D97-AF65-F5344CB8AC3E}">
        <p14:creationId xmlns:p14="http://schemas.microsoft.com/office/powerpoint/2010/main" val="2047015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Sentiment Tokenization Issues</a:t>
            </a:r>
          </a:p>
        </p:txBody>
      </p:sp>
      <p:sp>
        <p:nvSpPr>
          <p:cNvPr id="3" name="Content Placeholder 2"/>
          <p:cNvSpPr>
            <a:spLocks noGrp="1"/>
          </p:cNvSpPr>
          <p:nvPr>
            <p:ph idx="1"/>
          </p:nvPr>
        </p:nvSpPr>
        <p:spPr>
          <a:xfrm>
            <a:off x="514350" y="990600"/>
            <a:ext cx="8210550" cy="4525963"/>
          </a:xfrm>
        </p:spPr>
        <p:txBody>
          <a:bodyPr>
            <a:normAutofit/>
          </a:bodyPr>
          <a:lstStyle/>
          <a:p>
            <a:r>
              <a:rPr lang="en-US" dirty="0"/>
              <a:t>Deal with HTML and XML markup</a:t>
            </a:r>
          </a:p>
          <a:p>
            <a:r>
              <a:rPr lang="en-US" dirty="0"/>
              <a:t>Twitter mark-up (user names, hash tags)</a:t>
            </a:r>
          </a:p>
          <a:p>
            <a:r>
              <a:rPr lang="en-US" dirty="0"/>
              <a:t>Slang: Lol, rofl, omg! ….., Gr8, IMHO, …</a:t>
            </a:r>
          </a:p>
          <a:p>
            <a:r>
              <a:rPr lang="en-US" dirty="0"/>
              <a:t>Capitalization (preserve words in all caps)</a:t>
            </a:r>
          </a:p>
          <a:p>
            <a:r>
              <a:rPr lang="en-US" dirty="0"/>
              <a:t>Phone numbers, dates</a:t>
            </a:r>
          </a:p>
          <a:p>
            <a:r>
              <a:rPr lang="en-US" dirty="0"/>
              <a:t>Emoticons</a:t>
            </a:r>
          </a:p>
          <a:p>
            <a:r>
              <a:rPr lang="en-US" dirty="0"/>
              <a:t>Useful code:</a:t>
            </a:r>
          </a:p>
          <a:p>
            <a:pPr lvl="1"/>
            <a:r>
              <a:rPr lang="en-US" dirty="0">
                <a:hlinkClick r:id="rId3"/>
              </a:rPr>
              <a:t>Christopher Potts sentiment tokenizer</a:t>
            </a:r>
            <a:endParaRPr lang="en-US" dirty="0"/>
          </a:p>
          <a:p>
            <a:pPr lvl="1"/>
            <a:r>
              <a:rPr lang="en-US" dirty="0">
                <a:hlinkClick r:id="rId3"/>
              </a:rPr>
              <a:t>Brendan O’Connor twitter tokenizer</a:t>
            </a:r>
            <a:endParaRPr lang="en-US" dirty="0"/>
          </a:p>
          <a:p>
            <a:endParaRPr lang="en-US" dirty="0"/>
          </a:p>
        </p:txBody>
      </p:sp>
    </p:spTree>
    <p:extLst>
      <p:ext uri="{BB962C8B-B14F-4D97-AF65-F5344CB8AC3E}">
        <p14:creationId xmlns:p14="http://schemas.microsoft.com/office/powerpoint/2010/main" val="286173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9906000" cy="533399"/>
          </a:xfrm>
        </p:spPr>
        <p:txBody>
          <a:bodyPr>
            <a:normAutofit fontScale="90000"/>
          </a:bodyPr>
          <a:lstStyle/>
          <a:p>
            <a:r>
              <a:rPr lang="en-US" dirty="0"/>
              <a:t>Extracting Features for Sentiment Classification</a:t>
            </a:r>
          </a:p>
        </p:txBody>
      </p:sp>
      <p:sp>
        <p:nvSpPr>
          <p:cNvPr id="3" name="Content Placeholder 2"/>
          <p:cNvSpPr>
            <a:spLocks noGrp="1"/>
          </p:cNvSpPr>
          <p:nvPr>
            <p:ph idx="1"/>
          </p:nvPr>
        </p:nvSpPr>
        <p:spPr/>
        <p:txBody>
          <a:bodyPr>
            <a:normAutofit lnSpcReduction="10000"/>
          </a:bodyPr>
          <a:lstStyle/>
          <a:p>
            <a:r>
              <a:rPr lang="en-US" dirty="0"/>
              <a:t>How to handle negation</a:t>
            </a:r>
          </a:p>
          <a:p>
            <a:pPr lvl="1"/>
            <a:r>
              <a:rPr lang="en-US" dirty="0"/>
              <a:t>“I didn’t like this movie” vs “I really like this movie”</a:t>
            </a:r>
          </a:p>
          <a:p>
            <a:pPr lvl="1"/>
            <a:r>
              <a:rPr lang="en-US" sz="2300" dirty="0"/>
              <a:t>Add NOT_ to every word between negation and following punctuation:</a:t>
            </a:r>
          </a:p>
          <a:p>
            <a:pPr lvl="2"/>
            <a:r>
              <a:rPr lang="en-US" sz="2300" dirty="0">
                <a:solidFill>
                  <a:srgbClr val="660066"/>
                </a:solidFill>
                <a:latin typeface="Courier"/>
                <a:cs typeface="Courier"/>
              </a:rPr>
              <a:t>didn’t like this movie , but I</a:t>
            </a:r>
          </a:p>
          <a:p>
            <a:pPr lvl="2"/>
            <a:endParaRPr lang="en-US" sz="2300" dirty="0">
              <a:solidFill>
                <a:srgbClr val="660066"/>
              </a:solidFill>
              <a:latin typeface="Courier"/>
              <a:cs typeface="Courier"/>
            </a:endParaRPr>
          </a:p>
          <a:p>
            <a:pPr lvl="2"/>
            <a:r>
              <a:rPr lang="en-US" sz="2300" dirty="0">
                <a:solidFill>
                  <a:srgbClr val="660066"/>
                </a:solidFill>
                <a:latin typeface="Courier"/>
                <a:cs typeface="Courier"/>
              </a:rPr>
              <a:t>didn’t </a:t>
            </a:r>
            <a:r>
              <a:rPr lang="en-US" sz="2300" dirty="0" err="1">
                <a:solidFill>
                  <a:srgbClr val="660066"/>
                </a:solidFill>
                <a:latin typeface="Courier"/>
                <a:cs typeface="Courier"/>
              </a:rPr>
              <a:t>NOT_like</a:t>
            </a:r>
            <a:r>
              <a:rPr lang="en-US" sz="2300" dirty="0">
                <a:solidFill>
                  <a:srgbClr val="660066"/>
                </a:solidFill>
                <a:latin typeface="Courier"/>
                <a:cs typeface="Courier"/>
              </a:rPr>
              <a:t> </a:t>
            </a:r>
            <a:r>
              <a:rPr lang="en-US" sz="2300" dirty="0" err="1">
                <a:solidFill>
                  <a:srgbClr val="660066"/>
                </a:solidFill>
                <a:latin typeface="Courier"/>
                <a:cs typeface="Courier"/>
              </a:rPr>
              <a:t>NOT_this</a:t>
            </a:r>
            <a:r>
              <a:rPr lang="en-US" sz="2300" dirty="0">
                <a:solidFill>
                  <a:srgbClr val="660066"/>
                </a:solidFill>
                <a:latin typeface="Courier"/>
                <a:cs typeface="Courier"/>
              </a:rPr>
              <a:t> </a:t>
            </a:r>
            <a:r>
              <a:rPr lang="en-US" sz="2300" dirty="0" err="1">
                <a:solidFill>
                  <a:srgbClr val="660066"/>
                </a:solidFill>
                <a:latin typeface="Courier"/>
                <a:cs typeface="Courier"/>
              </a:rPr>
              <a:t>NOT_movie</a:t>
            </a:r>
            <a:r>
              <a:rPr lang="en-US" sz="2300" dirty="0">
                <a:solidFill>
                  <a:srgbClr val="660066"/>
                </a:solidFill>
                <a:latin typeface="Courier"/>
                <a:cs typeface="Courier"/>
              </a:rPr>
              <a:t> but I</a:t>
            </a:r>
          </a:p>
          <a:p>
            <a:pPr lvl="1"/>
            <a:endParaRPr lang="en-US" dirty="0">
              <a:latin typeface="Courier"/>
              <a:cs typeface="Courier"/>
            </a:endParaRPr>
          </a:p>
          <a:p>
            <a:r>
              <a:rPr lang="en-US" dirty="0"/>
              <a:t>Which words to use?</a:t>
            </a:r>
          </a:p>
          <a:p>
            <a:pPr lvl="1"/>
            <a:r>
              <a:rPr lang="en-US" dirty="0"/>
              <a:t>Only adjectives</a:t>
            </a:r>
          </a:p>
          <a:p>
            <a:pPr lvl="1"/>
            <a:r>
              <a:rPr lang="en-US" dirty="0"/>
              <a:t>All words</a:t>
            </a:r>
          </a:p>
          <a:p>
            <a:pPr lvl="2"/>
            <a:r>
              <a:rPr lang="en-US" dirty="0"/>
              <a:t>All words turns out to work better, at least on this data</a:t>
            </a:r>
          </a:p>
        </p:txBody>
      </p:sp>
      <p:sp>
        <p:nvSpPr>
          <p:cNvPr id="6" name="Down Arrow 5"/>
          <p:cNvSpPr/>
          <p:nvPr/>
        </p:nvSpPr>
        <p:spPr>
          <a:xfrm>
            <a:off x="4076700" y="2800350"/>
            <a:ext cx="914400" cy="400050"/>
          </a:xfrm>
          <a:prstGeom prst="downArrow">
            <a:avLst/>
          </a:prstGeom>
          <a:solidFill>
            <a:schemeClr val="accent2">
              <a:lumMod val="75000"/>
            </a:schemeClr>
          </a:solidFill>
          <a:ln>
            <a:solidFill>
              <a:schemeClr val="accent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19939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a:t>
            </a:r>
            <a:r>
              <a:rPr lang="fr-FR" dirty="0" err="1"/>
              <a:t>ï</a:t>
            </a:r>
            <a:r>
              <a:rPr lang="en-US" dirty="0" err="1"/>
              <a:t>ve</a:t>
            </a:r>
            <a:r>
              <a:rPr lang="en-US" dirty="0"/>
              <a:t> Bayes</a:t>
            </a:r>
          </a:p>
        </p:txBody>
      </p:sp>
      <p:graphicFrame>
        <p:nvGraphicFramePr>
          <p:cNvPr id="6" name="Object 2"/>
          <p:cNvGraphicFramePr>
            <a:graphicFrameLocks noChangeAspect="1"/>
          </p:cNvGraphicFramePr>
          <p:nvPr/>
        </p:nvGraphicFramePr>
        <p:xfrm>
          <a:off x="1411288" y="1787525"/>
          <a:ext cx="6550025" cy="1489075"/>
        </p:xfrm>
        <a:graphic>
          <a:graphicData uri="http://schemas.openxmlformats.org/presentationml/2006/ole">
            <mc:AlternateContent xmlns:mc="http://schemas.openxmlformats.org/markup-compatibility/2006">
              <mc:Choice xmlns:v="urn:schemas-microsoft-com:vml" Requires="v">
                <p:oleObj name="Equation" r:id="rId3" imgW="2222280" imgH="507960" progId="Equation.3">
                  <p:embed/>
                </p:oleObj>
              </mc:Choice>
              <mc:Fallback>
                <p:oleObj name="Equation" r:id="rId3" imgW="2222280" imgH="507960" progId="Equation.3">
                  <p:embed/>
                  <p:pic>
                    <p:nvPicPr>
                      <p:cNvPr id="6" name="Object 2"/>
                      <p:cNvPicPr>
                        <a:picLocks noChangeAspect="1" noChangeArrowheads="1"/>
                      </p:cNvPicPr>
                      <p:nvPr/>
                    </p:nvPicPr>
                    <p:blipFill>
                      <a:blip r:embed="rId4"/>
                      <a:srcRect/>
                      <a:stretch>
                        <a:fillRect/>
                      </a:stretch>
                    </p:blipFill>
                    <p:spPr bwMode="auto">
                      <a:xfrm>
                        <a:off x="1411288" y="1787525"/>
                        <a:ext cx="6550025" cy="1489075"/>
                      </a:xfrm>
                      <a:prstGeom prst="rect">
                        <a:avLst/>
                      </a:prstGeom>
                      <a:noFill/>
                      <a:ln>
                        <a:noFill/>
                      </a:ln>
                      <a:effectLst/>
                    </p:spPr>
                  </p:pic>
                </p:oleObj>
              </mc:Fallback>
            </mc:AlternateContent>
          </a:graphicData>
        </a:graphic>
      </p:graphicFrame>
      <p:sp>
        <p:nvSpPr>
          <p:cNvPr id="3" name="TextBox 2"/>
          <p:cNvSpPr txBox="1"/>
          <p:nvPr/>
        </p:nvSpPr>
        <p:spPr>
          <a:xfrm>
            <a:off x="562203" y="1295400"/>
            <a:ext cx="8315097" cy="369332"/>
          </a:xfrm>
          <a:prstGeom prst="rect">
            <a:avLst/>
          </a:prstGeom>
          <a:noFill/>
        </p:spPr>
        <p:txBody>
          <a:bodyPr wrap="none" rtlCol="0">
            <a:spAutoFit/>
          </a:bodyPr>
          <a:lstStyle/>
          <a:p>
            <a:r>
              <a:rPr lang="en-IN" dirty="0"/>
              <a:t>In Naïve Bayes, </a:t>
            </a:r>
            <a:r>
              <a:rPr lang="en-IN" dirty="0" err="1"/>
              <a:t>prob</a:t>
            </a:r>
            <a:r>
              <a:rPr lang="en-IN" dirty="0"/>
              <a:t> of assigning a document to class c is computed as follows: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3141390" y="3505200"/>
                <a:ext cx="3089820" cy="7194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𝑖</m:t>
                              </m:r>
                            </m:sub>
                          </m:sSub>
                        </m:e>
                        <m:e>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𝑗</m:t>
                              </m:r>
                            </m:sub>
                          </m:sSub>
                        </m:e>
                      </m:d>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𝑐𝑜𝑢𝑛𝑡</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𝑖</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𝑗</m:t>
                                  </m:r>
                                </m:sub>
                              </m:sSub>
                            </m:e>
                          </m:d>
                          <m:r>
                            <a:rPr lang="en-IN" b="0" i="1" smtClean="0">
                              <a:latin typeface="Cambria Math" panose="02040503050406030204" pitchFamily="18" charset="0"/>
                            </a:rPr>
                            <m:t>+1</m:t>
                          </m:r>
                        </m:num>
                        <m:den>
                          <m:r>
                            <a:rPr lang="en-IN" b="0" i="1" smtClean="0">
                              <a:latin typeface="Cambria Math" panose="02040503050406030204" pitchFamily="18" charset="0"/>
                            </a:rPr>
                            <m:t>𝑐𝑜𝑢𝑛𝑡</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e>
                          </m:d>
                          <m:r>
                            <a:rPr lang="en-IN" b="0" i="1" smtClean="0">
                              <a:latin typeface="Cambria Math" panose="02040503050406030204" pitchFamily="18" charset="0"/>
                            </a:rPr>
                            <m:t>+|</m:t>
                          </m:r>
                          <m:r>
                            <a:rPr lang="en-IN" b="0" i="1" smtClean="0">
                              <a:latin typeface="Cambria Math" panose="02040503050406030204" pitchFamily="18" charset="0"/>
                            </a:rPr>
                            <m:t>𝑉</m:t>
                          </m:r>
                          <m:r>
                            <a:rPr lang="en-IN" b="0" i="1" smtClean="0">
                              <a:latin typeface="Cambria Math" panose="02040503050406030204" pitchFamily="18" charset="0"/>
                            </a:rPr>
                            <m:t>|</m:t>
                          </m:r>
                        </m:den>
                      </m:f>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3141390" y="3505200"/>
                <a:ext cx="3089820" cy="71949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16367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0"/>
            <a:ext cx="9677400" cy="609599"/>
          </a:xfrm>
        </p:spPr>
        <p:txBody>
          <a:bodyPr/>
          <a:lstStyle/>
          <a:p>
            <a:r>
              <a:rPr lang="en-US" sz="3200" dirty="0" err="1"/>
              <a:t>Binarized</a:t>
            </a:r>
            <a:r>
              <a:rPr lang="en-US" sz="3200" dirty="0"/>
              <a:t> (Boolean feature) Multinomial Na</a:t>
            </a:r>
            <a:r>
              <a:rPr lang="fr-FR" sz="3200" dirty="0" err="1"/>
              <a:t>ï</a:t>
            </a:r>
            <a:r>
              <a:rPr lang="en-US" sz="3200" dirty="0" err="1"/>
              <a:t>ve</a:t>
            </a:r>
            <a:r>
              <a:rPr lang="en-US" sz="3200" dirty="0"/>
              <a:t> Bayes</a:t>
            </a:r>
          </a:p>
        </p:txBody>
      </p:sp>
      <p:sp>
        <p:nvSpPr>
          <p:cNvPr id="3" name="Content Placeholder 2"/>
          <p:cNvSpPr>
            <a:spLocks noGrp="1"/>
          </p:cNvSpPr>
          <p:nvPr>
            <p:ph idx="1"/>
          </p:nvPr>
        </p:nvSpPr>
        <p:spPr/>
        <p:txBody>
          <a:bodyPr>
            <a:normAutofit/>
          </a:bodyPr>
          <a:lstStyle/>
          <a:p>
            <a:r>
              <a:rPr lang="en-US" dirty="0"/>
              <a:t>Intuition:</a:t>
            </a:r>
          </a:p>
          <a:p>
            <a:pPr lvl="1"/>
            <a:r>
              <a:rPr lang="en-US" dirty="0"/>
              <a:t>For sentiment </a:t>
            </a:r>
          </a:p>
          <a:p>
            <a:pPr lvl="1"/>
            <a:r>
              <a:rPr lang="en-US" dirty="0"/>
              <a:t>Word occurrence may matter more than word frequency</a:t>
            </a:r>
          </a:p>
          <a:p>
            <a:pPr lvl="2"/>
            <a:r>
              <a:rPr lang="en-US" dirty="0"/>
              <a:t>The occurrence of the word </a:t>
            </a:r>
            <a:r>
              <a:rPr lang="en-US" i="1" dirty="0"/>
              <a:t>fantastic</a:t>
            </a:r>
            <a:r>
              <a:rPr lang="en-US" dirty="0"/>
              <a:t> tells us a lot</a:t>
            </a:r>
          </a:p>
          <a:p>
            <a:pPr lvl="2"/>
            <a:r>
              <a:rPr lang="en-US" dirty="0"/>
              <a:t>The fact that it occurs 5 times may not tell us much more.</a:t>
            </a:r>
          </a:p>
          <a:p>
            <a:pPr lvl="1"/>
            <a:r>
              <a:rPr lang="en-US" dirty="0"/>
              <a:t>Boolean Multinomial Na</a:t>
            </a:r>
            <a:r>
              <a:rPr lang="fr-FR" dirty="0" err="1"/>
              <a:t>ï</a:t>
            </a:r>
            <a:r>
              <a:rPr lang="en-US" dirty="0" err="1"/>
              <a:t>ve</a:t>
            </a:r>
            <a:r>
              <a:rPr lang="en-US" dirty="0"/>
              <a:t> Bayes</a:t>
            </a:r>
          </a:p>
          <a:p>
            <a:pPr lvl="2"/>
            <a:r>
              <a:rPr lang="en-US" dirty="0"/>
              <a:t>Clips all the word counts in each document at 1</a:t>
            </a:r>
          </a:p>
        </p:txBody>
      </p:sp>
    </p:spTree>
    <p:extLst>
      <p:ext uri="{BB962C8B-B14F-4D97-AF65-F5344CB8AC3E}">
        <p14:creationId xmlns:p14="http://schemas.microsoft.com/office/powerpoint/2010/main" val="84750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3"/>
          <p:cNvSpPr>
            <a:spLocks noGrp="1" noChangeArrowheads="1"/>
          </p:cNvSpPr>
          <p:nvPr>
            <p:ph type="title"/>
          </p:nvPr>
        </p:nvSpPr>
        <p:spPr>
          <a:xfrm>
            <a:off x="190500" y="152400"/>
            <a:ext cx="9448800" cy="553289"/>
          </a:xfrm>
        </p:spPr>
        <p:txBody>
          <a:bodyPr>
            <a:normAutofit fontScale="90000"/>
          </a:bodyPr>
          <a:lstStyle/>
          <a:p>
            <a:r>
              <a:rPr lang="en-US"/>
              <a:t>Boolean Multinomial </a:t>
            </a:r>
            <a:r>
              <a:rPr lang="en-US" dirty="0"/>
              <a:t>Naïve Bayes: Learning</a:t>
            </a:r>
          </a:p>
        </p:txBody>
      </p:sp>
      <p:sp>
        <p:nvSpPr>
          <p:cNvPr id="12" name="Rectangle 4"/>
          <p:cNvSpPr>
            <a:spLocks noGrp="1" noChangeArrowheads="1"/>
          </p:cNvSpPr>
          <p:nvPr>
            <p:ph sz="quarter" idx="1"/>
          </p:nvPr>
        </p:nvSpPr>
        <p:spPr>
          <a:xfrm>
            <a:off x="152400" y="1827743"/>
            <a:ext cx="4572000" cy="2649007"/>
          </a:xfrm>
        </p:spPr>
        <p:txBody>
          <a:bodyPr/>
          <a:lstStyle/>
          <a:p>
            <a:pPr>
              <a:lnSpc>
                <a:spcPct val="90000"/>
              </a:lnSpc>
            </a:pPr>
            <a:r>
              <a:rPr lang="en-US" sz="2200" dirty="0">
                <a:latin typeface="Calibri"/>
                <a:cs typeface="Calibri"/>
              </a:rPr>
              <a:t>Calculate </a:t>
            </a:r>
            <a:r>
              <a:rPr lang="en-US" sz="2200" i="1" dirty="0">
                <a:latin typeface="Calibri"/>
                <a:cs typeface="Calibri"/>
              </a:rPr>
              <a:t>P</a:t>
            </a:r>
            <a:r>
              <a:rPr lang="en-US" sz="2200" dirty="0">
                <a:latin typeface="Calibri"/>
                <a:cs typeface="Calibri"/>
              </a:rPr>
              <a:t>(</a:t>
            </a:r>
            <a:r>
              <a:rPr lang="en-US" sz="2200" i="1" dirty="0" err="1">
                <a:latin typeface="Calibri"/>
                <a:cs typeface="Calibri"/>
              </a:rPr>
              <a:t>c</a:t>
            </a:r>
            <a:r>
              <a:rPr lang="en-US" sz="2200" i="1" baseline="-25000" dirty="0" err="1">
                <a:latin typeface="Calibri"/>
                <a:cs typeface="Calibri"/>
              </a:rPr>
              <a:t>j</a:t>
            </a:r>
            <a:r>
              <a:rPr lang="en-US" sz="2200" dirty="0">
                <a:latin typeface="Calibri"/>
                <a:cs typeface="Calibri"/>
              </a:rPr>
              <a:t>)</a:t>
            </a:r>
            <a:r>
              <a:rPr lang="en-US" sz="2200" i="1" dirty="0">
                <a:latin typeface="Calibri"/>
                <a:cs typeface="Calibri"/>
              </a:rPr>
              <a:t> </a:t>
            </a:r>
            <a:r>
              <a:rPr lang="en-US" sz="2200" dirty="0">
                <a:latin typeface="Calibri"/>
                <a:cs typeface="Calibri"/>
              </a:rPr>
              <a:t>terms</a:t>
            </a:r>
          </a:p>
          <a:p>
            <a:pPr lvl="1">
              <a:lnSpc>
                <a:spcPct val="90000"/>
              </a:lnSpc>
            </a:pPr>
            <a:r>
              <a:rPr lang="en-US" sz="2000" dirty="0">
                <a:latin typeface="Calibri"/>
                <a:cs typeface="Calibri"/>
              </a:rPr>
              <a:t>For each </a:t>
            </a:r>
            <a:r>
              <a:rPr lang="en-US" sz="2000" i="1" dirty="0" err="1">
                <a:latin typeface="Calibri"/>
                <a:cs typeface="Calibri"/>
              </a:rPr>
              <a:t>c</a:t>
            </a:r>
            <a:r>
              <a:rPr lang="en-US" sz="2000" i="1" baseline="-25000" dirty="0" err="1">
                <a:latin typeface="Calibri"/>
                <a:cs typeface="Calibri"/>
              </a:rPr>
              <a:t>j</a:t>
            </a:r>
            <a:r>
              <a:rPr lang="en-US" sz="2000" i="1" baseline="-25000" dirty="0">
                <a:latin typeface="Calibri"/>
                <a:cs typeface="Calibri"/>
              </a:rPr>
              <a:t> </a:t>
            </a:r>
            <a:r>
              <a:rPr lang="en-US" sz="2000" dirty="0">
                <a:latin typeface="Calibri"/>
                <a:cs typeface="Calibri"/>
              </a:rPr>
              <a:t>in </a:t>
            </a:r>
            <a:r>
              <a:rPr lang="en-US" sz="2000" i="1" dirty="0">
                <a:latin typeface="Calibri"/>
                <a:cs typeface="Calibri"/>
              </a:rPr>
              <a:t>C</a:t>
            </a:r>
            <a:r>
              <a:rPr lang="en-US" sz="2000" dirty="0">
                <a:latin typeface="Calibri"/>
                <a:cs typeface="Calibri"/>
              </a:rPr>
              <a:t> do</a:t>
            </a:r>
          </a:p>
          <a:p>
            <a:pPr marL="800100" lvl="2" indent="0">
              <a:lnSpc>
                <a:spcPct val="90000"/>
              </a:lnSpc>
              <a:buNone/>
            </a:pPr>
            <a:r>
              <a:rPr lang="en-US" i="1" dirty="0">
                <a:latin typeface="Calibri"/>
                <a:cs typeface="Calibri"/>
              </a:rPr>
              <a:t> </a:t>
            </a:r>
            <a:r>
              <a:rPr lang="en-US" i="1" dirty="0" err="1">
                <a:latin typeface="Calibri"/>
                <a:cs typeface="Calibri"/>
              </a:rPr>
              <a:t>docs</a:t>
            </a:r>
            <a:r>
              <a:rPr lang="en-US" i="1" baseline="-25000" dirty="0" err="1">
                <a:latin typeface="Calibri"/>
                <a:cs typeface="Calibri"/>
              </a:rPr>
              <a:t>j</a:t>
            </a:r>
            <a:r>
              <a:rPr lang="en-US" i="1" dirty="0">
                <a:latin typeface="Calibri"/>
                <a:cs typeface="Calibri"/>
              </a:rPr>
              <a:t> </a:t>
            </a:r>
            <a:r>
              <a:rPr lang="en-US" dirty="0">
                <a:latin typeface="Calibri"/>
                <a:cs typeface="Calibri"/>
                <a:sym typeface="Symbol" charset="2"/>
              </a:rPr>
              <a:t></a:t>
            </a:r>
            <a:r>
              <a:rPr lang="en-US" i="1" dirty="0">
                <a:latin typeface="Calibri"/>
                <a:cs typeface="Calibri"/>
                <a:sym typeface="Symbol" charset="2"/>
              </a:rPr>
              <a:t> </a:t>
            </a:r>
            <a:r>
              <a:rPr lang="en-US" dirty="0">
                <a:latin typeface="Calibri"/>
                <a:cs typeface="Calibri"/>
                <a:sym typeface="Symbol" charset="2"/>
              </a:rPr>
              <a:t>all docs with  class =</a:t>
            </a:r>
            <a:r>
              <a:rPr lang="en-US" i="1" dirty="0" err="1">
                <a:latin typeface="Calibri"/>
                <a:cs typeface="Calibri"/>
              </a:rPr>
              <a:t>c</a:t>
            </a:r>
            <a:r>
              <a:rPr lang="en-US" i="1" baseline="-25000" dirty="0" err="1">
                <a:latin typeface="Calibri"/>
                <a:cs typeface="Calibri"/>
              </a:rPr>
              <a:t>j</a:t>
            </a:r>
            <a:endParaRPr lang="en-US" i="1" baseline="-25000" dirty="0">
              <a:latin typeface="Calibri"/>
              <a:cs typeface="Calibri"/>
            </a:endParaRPr>
          </a:p>
          <a:p>
            <a:pPr>
              <a:spcBef>
                <a:spcPts val="0"/>
              </a:spcBef>
            </a:pPr>
            <a:endParaRPr lang="en-US" sz="2200" dirty="0">
              <a:latin typeface="Calibri"/>
              <a:cs typeface="Calibri"/>
            </a:endParaRPr>
          </a:p>
        </p:txBody>
      </p:sp>
      <p:graphicFrame>
        <p:nvGraphicFramePr>
          <p:cNvPr id="13" name="Object 3"/>
          <p:cNvGraphicFramePr>
            <a:graphicFrameLocks noChangeAspect="1"/>
          </p:cNvGraphicFramePr>
          <p:nvPr/>
        </p:nvGraphicFramePr>
        <p:xfrm>
          <a:off x="1066800" y="2952750"/>
          <a:ext cx="3200400" cy="742122"/>
        </p:xfrm>
        <a:graphic>
          <a:graphicData uri="http://schemas.openxmlformats.org/presentationml/2006/ole">
            <mc:AlternateContent xmlns:mc="http://schemas.openxmlformats.org/markup-compatibility/2006">
              <mc:Choice xmlns:v="urn:schemas-microsoft-com:vml" Requires="v">
                <p:oleObj name="Equation" r:id="rId3" imgW="1752600" imgH="406400" progId="Equation.3">
                  <p:embed/>
                </p:oleObj>
              </mc:Choice>
              <mc:Fallback>
                <p:oleObj name="Equation" r:id="rId3" imgW="1752600" imgH="406400" progId="Equation.3">
                  <p:embed/>
                  <p:pic>
                    <p:nvPicPr>
                      <p:cNvPr id="13" name="Object 3"/>
                      <p:cNvPicPr>
                        <a:picLocks noChangeAspect="1" noChangeArrowheads="1"/>
                      </p:cNvPicPr>
                      <p:nvPr/>
                    </p:nvPicPr>
                    <p:blipFill>
                      <a:blip r:embed="rId4"/>
                      <a:srcRect/>
                      <a:stretch>
                        <a:fillRect/>
                      </a:stretch>
                    </p:blipFill>
                    <p:spPr bwMode="auto">
                      <a:xfrm>
                        <a:off x="1066800" y="2952750"/>
                        <a:ext cx="3200400" cy="742122"/>
                      </a:xfrm>
                      <a:prstGeom prst="rect">
                        <a:avLst/>
                      </a:prstGeom>
                      <a:noFill/>
                    </p:spPr>
                  </p:pic>
                </p:oleObj>
              </mc:Fallback>
            </mc:AlternateContent>
          </a:graphicData>
        </a:graphic>
      </p:graphicFrame>
      <p:grpSp>
        <p:nvGrpSpPr>
          <p:cNvPr id="14" name="Group 13"/>
          <p:cNvGrpSpPr/>
          <p:nvPr/>
        </p:nvGrpSpPr>
        <p:grpSpPr>
          <a:xfrm>
            <a:off x="4038600" y="2190750"/>
            <a:ext cx="5791200" cy="1776535"/>
            <a:chOff x="4038600" y="2495550"/>
            <a:chExt cx="5791200" cy="1776535"/>
          </a:xfrm>
        </p:grpSpPr>
        <p:graphicFrame>
          <p:nvGraphicFramePr>
            <p:cNvPr id="15" name="Object 2"/>
            <p:cNvGraphicFramePr>
              <a:graphicFrameLocks noChangeAspect="1"/>
            </p:cNvGraphicFramePr>
            <p:nvPr/>
          </p:nvGraphicFramePr>
          <p:xfrm>
            <a:off x="5233147" y="3486150"/>
            <a:ext cx="3606053" cy="785935"/>
          </p:xfrm>
          <a:graphic>
            <a:graphicData uri="http://schemas.openxmlformats.org/presentationml/2006/ole">
              <mc:AlternateContent xmlns:mc="http://schemas.openxmlformats.org/markup-compatibility/2006">
                <mc:Choice xmlns:v="urn:schemas-microsoft-com:vml" Requires="v">
                  <p:oleObj name="Equation" r:id="rId5" imgW="1981200" imgH="431800" progId="Equation.3">
                    <p:embed/>
                  </p:oleObj>
                </mc:Choice>
                <mc:Fallback>
                  <p:oleObj name="Equation" r:id="rId5" imgW="1981200" imgH="431800" progId="Equation.3">
                    <p:embed/>
                    <p:pic>
                      <p:nvPicPr>
                        <p:cNvPr id="15" name="Object 2"/>
                        <p:cNvPicPr>
                          <a:picLocks noChangeAspect="1" noChangeArrowheads="1"/>
                        </p:cNvPicPr>
                        <p:nvPr/>
                      </p:nvPicPr>
                      <p:blipFill>
                        <a:blip r:embed="rId6"/>
                        <a:srcRect/>
                        <a:stretch>
                          <a:fillRect/>
                        </a:stretch>
                      </p:blipFill>
                      <p:spPr bwMode="auto">
                        <a:xfrm>
                          <a:off x="5233147" y="3486150"/>
                          <a:ext cx="3606053" cy="785935"/>
                        </a:xfrm>
                        <a:prstGeom prst="rect">
                          <a:avLst/>
                        </a:prstGeom>
                        <a:noFill/>
                      </p:spPr>
                    </p:pic>
                  </p:oleObj>
                </mc:Fallback>
              </mc:AlternateContent>
            </a:graphicData>
          </a:graphic>
        </p:graphicFrame>
        <p:sp>
          <p:nvSpPr>
            <p:cNvPr id="16" name="Rectangle 4"/>
            <p:cNvSpPr txBox="1">
              <a:spLocks noChangeArrowheads="1"/>
            </p:cNvSpPr>
            <p:nvPr/>
          </p:nvSpPr>
          <p:spPr bwMode="auto">
            <a:xfrm>
              <a:off x="4038600" y="2495550"/>
              <a:ext cx="5791200" cy="152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lvl="1">
                <a:spcBef>
                  <a:spcPts val="0"/>
                </a:spcBef>
              </a:pPr>
              <a:r>
                <a:rPr lang="en-US" i="1" dirty="0" err="1">
                  <a:latin typeface="Calibri"/>
                  <a:ea typeface="ＭＳ Ｐゴシック" charset="-128"/>
                  <a:cs typeface="Calibri"/>
                </a:rPr>
                <a:t>Text</a:t>
              </a:r>
              <a:r>
                <a:rPr lang="en-US" i="1" baseline="-25000" dirty="0" err="1">
                  <a:latin typeface="Calibri"/>
                  <a:ea typeface="ＭＳ Ｐゴシック" charset="-128"/>
                  <a:cs typeface="Calibri"/>
                </a:rPr>
                <a:t>j</a:t>
              </a:r>
              <a:r>
                <a:rPr lang="en-US" i="1" dirty="0">
                  <a:latin typeface="Calibri"/>
                  <a:ea typeface="ＭＳ Ｐゴシック" charset="-128"/>
                  <a:cs typeface="Calibri"/>
                </a:rPr>
                <a:t> </a:t>
              </a:r>
              <a:r>
                <a:rPr lang="en-US" dirty="0">
                  <a:latin typeface="Calibri"/>
                  <a:ea typeface="ＭＳ Ｐゴシック" charset="-128"/>
                  <a:cs typeface="Calibri"/>
                  <a:sym typeface="Symbol" charset="2"/>
                </a:rPr>
                <a:t> single doc containing all </a:t>
              </a:r>
              <a:r>
                <a:rPr lang="en-US" i="1" dirty="0" err="1">
                  <a:latin typeface="Calibri"/>
                  <a:ea typeface="ＭＳ Ｐゴシック" charset="-128"/>
                  <a:cs typeface="Calibri"/>
                </a:rPr>
                <a:t>docs</a:t>
              </a:r>
              <a:r>
                <a:rPr lang="en-US" i="1" baseline="-25000" dirty="0" err="1">
                  <a:latin typeface="Calibri"/>
                  <a:ea typeface="ＭＳ Ｐゴシック" charset="-128"/>
                  <a:cs typeface="Calibri"/>
                </a:rPr>
                <a:t>j</a:t>
              </a:r>
              <a:endParaRPr lang="en-US" i="1" baseline="-25000" dirty="0">
                <a:latin typeface="Calibri"/>
                <a:ea typeface="ＭＳ Ｐゴシック" charset="-128"/>
                <a:cs typeface="Calibri"/>
              </a:endParaRPr>
            </a:p>
            <a:p>
              <a:pPr lvl="1">
                <a:spcBef>
                  <a:spcPts val="0"/>
                </a:spcBef>
              </a:pPr>
              <a:r>
                <a:rPr lang="en-US" dirty="0">
                  <a:latin typeface="Calibri"/>
                  <a:ea typeface="ＭＳ Ｐゴシック" charset="-128"/>
                  <a:cs typeface="Calibri"/>
                </a:rPr>
                <a:t>For</a:t>
              </a:r>
              <a:r>
                <a:rPr lang="en-US" i="1" baseline="-25000" dirty="0">
                  <a:latin typeface="Calibri"/>
                  <a:ea typeface="ＭＳ Ｐゴシック" charset="-128"/>
                  <a:cs typeface="Calibri"/>
                </a:rPr>
                <a:t> </a:t>
              </a:r>
              <a:r>
                <a:rPr lang="en-US" dirty="0">
                  <a:latin typeface="Calibri"/>
                  <a:ea typeface="ＭＳ Ｐゴシック" charset="-128"/>
                  <a:cs typeface="Calibri"/>
                </a:rPr>
                <a:t>each word </a:t>
              </a:r>
              <a:r>
                <a:rPr lang="en-US" i="1" dirty="0" err="1">
                  <a:latin typeface="Calibri"/>
                  <a:ea typeface="ＭＳ Ｐゴシック" charset="-128"/>
                  <a:cs typeface="Calibri"/>
                </a:rPr>
                <a:t>w</a:t>
              </a:r>
              <a:r>
                <a:rPr lang="en-US" i="1" baseline="-25000" dirty="0" err="1">
                  <a:latin typeface="Calibri"/>
                  <a:ea typeface="ＭＳ Ｐゴシック" charset="-128"/>
                  <a:cs typeface="Calibri"/>
                </a:rPr>
                <a:t>k</a:t>
              </a:r>
              <a:r>
                <a:rPr lang="en-US" i="1" dirty="0">
                  <a:latin typeface="Calibri"/>
                  <a:ea typeface="ＭＳ Ｐゴシック" charset="-128"/>
                  <a:cs typeface="Calibri"/>
                </a:rPr>
                <a:t> </a:t>
              </a:r>
              <a:r>
                <a:rPr lang="en-US" dirty="0">
                  <a:latin typeface="Calibri"/>
                  <a:ea typeface="ＭＳ Ｐゴシック" charset="-128"/>
                  <a:cs typeface="Calibri"/>
                </a:rPr>
                <a:t>in </a:t>
              </a:r>
              <a:r>
                <a:rPr lang="en-US" i="1" dirty="0">
                  <a:latin typeface="Calibri"/>
                  <a:ea typeface="ＭＳ Ｐゴシック" charset="-128"/>
                  <a:cs typeface="Calibri"/>
                </a:rPr>
                <a:t>Vocabulary</a:t>
              </a:r>
            </a:p>
            <a:p>
              <a:pPr marL="800100" lvl="2" indent="0">
                <a:spcBef>
                  <a:spcPts val="0"/>
                </a:spcBef>
                <a:buNone/>
              </a:pPr>
              <a:r>
                <a:rPr lang="en-US" i="1" dirty="0">
                  <a:latin typeface="Calibri"/>
                  <a:ea typeface="ＭＳ Ｐゴシック" charset="-128"/>
                  <a:cs typeface="Calibri"/>
                </a:rPr>
                <a:t>    </a:t>
              </a:r>
              <a:r>
                <a:rPr lang="en-US" i="1" dirty="0" err="1">
                  <a:latin typeface="Calibri"/>
                  <a:ea typeface="ＭＳ Ｐゴシック" charset="-128"/>
                  <a:cs typeface="Calibri"/>
                </a:rPr>
                <a:t>n</a:t>
              </a:r>
              <a:r>
                <a:rPr lang="en-US" i="1" baseline="-25000" dirty="0" err="1">
                  <a:latin typeface="Calibri"/>
                  <a:ea typeface="ＭＳ Ｐゴシック" charset="-128"/>
                  <a:cs typeface="Calibri"/>
                </a:rPr>
                <a:t>k</a:t>
              </a:r>
              <a:r>
                <a:rPr lang="en-US" i="1" dirty="0">
                  <a:latin typeface="Calibri"/>
                  <a:ea typeface="ＭＳ Ｐゴシック" charset="-128"/>
                  <a:cs typeface="Calibri"/>
                </a:rPr>
                <a:t> </a:t>
              </a:r>
              <a:r>
                <a:rPr lang="en-US" dirty="0">
                  <a:latin typeface="Calibri"/>
                  <a:ea typeface="ＭＳ Ｐゴシック" charset="-128"/>
                  <a:cs typeface="Calibri"/>
                  <a:sym typeface="Symbol" charset="2"/>
                </a:rPr>
                <a:t> # of occurrences of </a:t>
              </a:r>
              <a:r>
                <a:rPr lang="en-US" i="1" dirty="0" err="1">
                  <a:latin typeface="Calibri"/>
                  <a:ea typeface="ＭＳ Ｐゴシック" charset="-128"/>
                  <a:cs typeface="Calibri"/>
                  <a:sym typeface="Symbol" charset="2"/>
                </a:rPr>
                <a:t>w</a:t>
              </a:r>
              <a:r>
                <a:rPr lang="en-US" i="1" baseline="-25000" dirty="0" err="1">
                  <a:latin typeface="Calibri"/>
                  <a:ea typeface="ＭＳ Ｐゴシック" charset="-128"/>
                  <a:cs typeface="Calibri"/>
                </a:rPr>
                <a:t>k</a:t>
              </a:r>
              <a:r>
                <a:rPr lang="en-US" i="1" dirty="0">
                  <a:latin typeface="Calibri"/>
                  <a:ea typeface="ＭＳ Ｐゴシック" charset="-128"/>
                  <a:cs typeface="Calibri"/>
                </a:rPr>
                <a:t> </a:t>
              </a:r>
              <a:r>
                <a:rPr lang="en-US" dirty="0">
                  <a:latin typeface="Calibri"/>
                  <a:ea typeface="ＭＳ Ｐゴシック" charset="-128"/>
                  <a:cs typeface="Calibri"/>
                </a:rPr>
                <a:t>in </a:t>
              </a:r>
              <a:r>
                <a:rPr lang="en-US" i="1" dirty="0" err="1">
                  <a:latin typeface="Calibri"/>
                  <a:ea typeface="ＭＳ Ｐゴシック" charset="-128"/>
                  <a:cs typeface="Calibri"/>
                </a:rPr>
                <a:t>Text</a:t>
              </a:r>
              <a:r>
                <a:rPr lang="en-US" i="1" baseline="-25000" dirty="0" err="1">
                  <a:latin typeface="Calibri"/>
                  <a:ea typeface="ＭＳ Ｐゴシック" charset="-128"/>
                  <a:cs typeface="Calibri"/>
                </a:rPr>
                <a:t>j</a:t>
              </a:r>
              <a:endParaRPr lang="en-US" i="1" baseline="-25000" dirty="0">
                <a:latin typeface="Calibri"/>
                <a:ea typeface="ＭＳ Ｐゴシック" charset="-128"/>
                <a:cs typeface="Calibri"/>
              </a:endParaRPr>
            </a:p>
          </p:txBody>
        </p:sp>
      </p:grpSp>
      <p:sp>
        <p:nvSpPr>
          <p:cNvPr id="17" name="Rectangle 4"/>
          <p:cNvSpPr txBox="1">
            <a:spLocks noChangeArrowheads="1"/>
          </p:cNvSpPr>
          <p:nvPr/>
        </p:nvSpPr>
        <p:spPr bwMode="auto">
          <a:xfrm>
            <a:off x="152400" y="1276350"/>
            <a:ext cx="5410200"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lnSpc>
                <a:spcPct val="90000"/>
              </a:lnSpc>
            </a:pPr>
            <a:r>
              <a:rPr lang="en-US" sz="2200" dirty="0">
                <a:latin typeface="Calibri" charset="0"/>
              </a:rPr>
              <a:t>From training corpus, extract </a:t>
            </a:r>
            <a:r>
              <a:rPr lang="en-US" sz="2200" i="1" dirty="0">
                <a:latin typeface="Times New Roman" charset="0"/>
              </a:rPr>
              <a:t>Vocabulary</a:t>
            </a:r>
            <a:endParaRPr lang="en-US" sz="2200" dirty="0">
              <a:latin typeface="Calibri" charset="0"/>
            </a:endParaRPr>
          </a:p>
        </p:txBody>
      </p:sp>
      <p:sp>
        <p:nvSpPr>
          <p:cNvPr id="18" name="Rectangle 4"/>
          <p:cNvSpPr txBox="1">
            <a:spLocks noChangeArrowheads="1"/>
          </p:cNvSpPr>
          <p:nvPr/>
        </p:nvSpPr>
        <p:spPr bwMode="auto">
          <a:xfrm>
            <a:off x="3962400" y="1809750"/>
            <a:ext cx="57912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spcBef>
                <a:spcPts val="0"/>
              </a:spcBef>
            </a:pPr>
            <a:r>
              <a:rPr lang="en-US" sz="2200" dirty="0">
                <a:latin typeface="Calibri"/>
                <a:cs typeface="Calibri"/>
              </a:rPr>
              <a:t>Calculate </a:t>
            </a:r>
            <a:r>
              <a:rPr lang="en-US" sz="2200" i="1" dirty="0">
                <a:latin typeface="Calibri"/>
                <a:cs typeface="Calibri"/>
              </a:rPr>
              <a:t>P</a:t>
            </a:r>
            <a:r>
              <a:rPr lang="en-US" sz="2200" dirty="0">
                <a:latin typeface="Calibri"/>
                <a:cs typeface="Calibri"/>
              </a:rPr>
              <a:t>(</a:t>
            </a:r>
            <a:r>
              <a:rPr lang="en-US" sz="2200" i="1" dirty="0" err="1">
                <a:latin typeface="Calibri"/>
                <a:cs typeface="Calibri"/>
              </a:rPr>
              <a:t>w</a:t>
            </a:r>
            <a:r>
              <a:rPr lang="en-US" sz="2200" i="1" baseline="-25000" dirty="0" err="1">
                <a:latin typeface="Calibri"/>
                <a:cs typeface="Calibri"/>
              </a:rPr>
              <a:t>k</a:t>
            </a:r>
            <a:r>
              <a:rPr lang="en-US" sz="2200" i="1" dirty="0">
                <a:latin typeface="Calibri"/>
                <a:cs typeface="Calibri"/>
              </a:rPr>
              <a:t> </a:t>
            </a:r>
            <a:r>
              <a:rPr lang="en-US" sz="2200" dirty="0">
                <a:latin typeface="Calibri"/>
                <a:cs typeface="Calibri"/>
              </a:rPr>
              <a:t>|</a:t>
            </a:r>
            <a:r>
              <a:rPr lang="en-US" sz="2200" i="1" dirty="0">
                <a:latin typeface="Calibri"/>
                <a:cs typeface="Calibri"/>
              </a:rPr>
              <a:t> </a:t>
            </a:r>
            <a:r>
              <a:rPr lang="en-US" sz="2200" i="1" dirty="0" err="1">
                <a:latin typeface="Calibri"/>
                <a:cs typeface="Calibri"/>
              </a:rPr>
              <a:t>c</a:t>
            </a:r>
            <a:r>
              <a:rPr lang="en-US" sz="2200" i="1" baseline="-25000" dirty="0" err="1">
                <a:latin typeface="Calibri"/>
                <a:cs typeface="Calibri"/>
              </a:rPr>
              <a:t>j</a:t>
            </a:r>
            <a:r>
              <a:rPr lang="en-US" sz="2200" dirty="0">
                <a:latin typeface="Calibri"/>
                <a:cs typeface="Calibri"/>
              </a:rPr>
              <a:t>)</a:t>
            </a:r>
            <a:r>
              <a:rPr lang="en-US" sz="2200" i="1" dirty="0">
                <a:latin typeface="Calibri"/>
                <a:cs typeface="Calibri"/>
              </a:rPr>
              <a:t> </a:t>
            </a:r>
            <a:r>
              <a:rPr lang="en-US" sz="2200" dirty="0">
                <a:latin typeface="Calibri"/>
                <a:cs typeface="Calibri"/>
              </a:rPr>
              <a:t>terms</a:t>
            </a:r>
          </a:p>
        </p:txBody>
      </p:sp>
      <p:sp>
        <p:nvSpPr>
          <p:cNvPr id="19" name="Rectangle 4"/>
          <p:cNvSpPr txBox="1">
            <a:spLocks noChangeArrowheads="1"/>
          </p:cNvSpPr>
          <p:nvPr/>
        </p:nvSpPr>
        <p:spPr bwMode="auto">
          <a:xfrm>
            <a:off x="4038600" y="2190750"/>
            <a:ext cx="5791200" cy="68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lvl="1">
              <a:spcBef>
                <a:spcPts val="0"/>
              </a:spcBef>
            </a:pPr>
            <a:r>
              <a:rPr lang="en-US" sz="1800" dirty="0">
                <a:latin typeface="Calibri"/>
                <a:cs typeface="Calibri"/>
              </a:rPr>
              <a:t>Remove duplicates in each doc:</a:t>
            </a:r>
          </a:p>
          <a:p>
            <a:pPr lvl="2">
              <a:spcBef>
                <a:spcPts val="0"/>
              </a:spcBef>
            </a:pPr>
            <a:r>
              <a:rPr lang="en-US" sz="1800" dirty="0">
                <a:latin typeface="Calibri"/>
                <a:cs typeface="Calibri"/>
              </a:rPr>
              <a:t>For each word type w in </a:t>
            </a:r>
            <a:r>
              <a:rPr lang="en-US" sz="1800" dirty="0" err="1">
                <a:latin typeface="Calibri"/>
                <a:cs typeface="Calibri"/>
              </a:rPr>
              <a:t>doc</a:t>
            </a:r>
            <a:r>
              <a:rPr lang="en-US" sz="1800" baseline="-25000" dirty="0" err="1">
                <a:latin typeface="Calibri"/>
                <a:cs typeface="Calibri"/>
              </a:rPr>
              <a:t>j</a:t>
            </a:r>
            <a:r>
              <a:rPr lang="en-US" sz="1800" dirty="0">
                <a:latin typeface="Calibri"/>
                <a:cs typeface="Calibri"/>
              </a:rPr>
              <a:t>  </a:t>
            </a:r>
          </a:p>
          <a:p>
            <a:pPr lvl="3">
              <a:spcBef>
                <a:spcPts val="0"/>
              </a:spcBef>
            </a:pPr>
            <a:r>
              <a:rPr lang="en-US" sz="1800" dirty="0">
                <a:latin typeface="Calibri"/>
                <a:cs typeface="Calibri"/>
              </a:rPr>
              <a:t>Retain only a single instance of w</a:t>
            </a:r>
          </a:p>
        </p:txBody>
      </p:sp>
    </p:spTree>
    <p:extLst>
      <p:ext uri="{BB962C8B-B14F-4D97-AF65-F5344CB8AC3E}">
        <p14:creationId xmlns:p14="http://schemas.microsoft.com/office/powerpoint/2010/main" val="41919820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14544E-7 3.56393E-6 L -1.14544E-7 0.18313 " pathEditMode="relative" rAng="0" ptsTypes="AA">
                                      <p:cBhvr>
                                        <p:cTn id="6" dur="500" fill="hold"/>
                                        <p:tgtEl>
                                          <p:spTgt spid="14"/>
                                        </p:tgtEl>
                                        <p:attrNameLst>
                                          <p:attrName>ppt_x</p:attrName>
                                          <p:attrName>ppt_y</p:attrName>
                                        </p:attrNameLst>
                                      </p:cBhvr>
                                      <p:rCtr x="0" y="9141"/>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9753600" cy="533400"/>
          </a:xfrm>
        </p:spPr>
        <p:txBody>
          <a:bodyPr>
            <a:normAutofit fontScale="90000"/>
          </a:bodyPr>
          <a:lstStyle/>
          <a:p>
            <a:r>
              <a:rPr lang="en-US" dirty="0"/>
              <a:t>Boolean Multinomial Na</a:t>
            </a:r>
            <a:r>
              <a:rPr lang="fr-FR" dirty="0" err="1"/>
              <a:t>ï</a:t>
            </a:r>
            <a:r>
              <a:rPr lang="en-US" dirty="0" err="1"/>
              <a:t>ve</a:t>
            </a:r>
            <a:r>
              <a:rPr lang="en-US" dirty="0"/>
              <a:t> Bayes on test doc </a:t>
            </a:r>
            <a:r>
              <a:rPr lang="en-US" i="1" dirty="0"/>
              <a:t>d</a:t>
            </a:r>
          </a:p>
        </p:txBody>
      </p:sp>
      <p:sp>
        <p:nvSpPr>
          <p:cNvPr id="3" name="Content Placeholder 2"/>
          <p:cNvSpPr>
            <a:spLocks noGrp="1"/>
          </p:cNvSpPr>
          <p:nvPr>
            <p:ph idx="1"/>
          </p:nvPr>
        </p:nvSpPr>
        <p:spPr/>
        <p:txBody>
          <a:bodyPr/>
          <a:lstStyle/>
          <a:p>
            <a:r>
              <a:rPr lang="en-US" dirty="0"/>
              <a:t>First remove all duplicate words from </a:t>
            </a:r>
            <a:r>
              <a:rPr lang="en-US" i="1" dirty="0"/>
              <a:t>d</a:t>
            </a:r>
          </a:p>
          <a:p>
            <a:r>
              <a:rPr lang="en-US" dirty="0"/>
              <a:t>Then compute NB using the same equation: </a:t>
            </a:r>
          </a:p>
        </p:txBody>
      </p:sp>
      <p:graphicFrame>
        <p:nvGraphicFramePr>
          <p:cNvPr id="6" name="Object 2"/>
          <p:cNvGraphicFramePr>
            <a:graphicFrameLocks noChangeAspect="1"/>
          </p:cNvGraphicFramePr>
          <p:nvPr/>
        </p:nvGraphicFramePr>
        <p:xfrm>
          <a:off x="2143125" y="2286000"/>
          <a:ext cx="5848350" cy="1328737"/>
        </p:xfrm>
        <a:graphic>
          <a:graphicData uri="http://schemas.openxmlformats.org/presentationml/2006/ole">
            <mc:AlternateContent xmlns:mc="http://schemas.openxmlformats.org/markup-compatibility/2006">
              <mc:Choice xmlns:v="urn:schemas-microsoft-com:vml" Requires="v">
                <p:oleObj name="Equation" r:id="rId3" imgW="2222280" imgH="507960" progId="Equation.3">
                  <p:embed/>
                </p:oleObj>
              </mc:Choice>
              <mc:Fallback>
                <p:oleObj name="Equation" r:id="rId3" imgW="2222280" imgH="507960" progId="Equation.3">
                  <p:embed/>
                  <p:pic>
                    <p:nvPicPr>
                      <p:cNvPr id="6" name="Object 2"/>
                      <p:cNvPicPr>
                        <a:picLocks noChangeAspect="1" noChangeArrowheads="1"/>
                      </p:cNvPicPr>
                      <p:nvPr/>
                    </p:nvPicPr>
                    <p:blipFill>
                      <a:blip r:embed="rId4"/>
                      <a:srcRect/>
                      <a:stretch>
                        <a:fillRect/>
                      </a:stretch>
                    </p:blipFill>
                    <p:spPr bwMode="auto">
                      <a:xfrm>
                        <a:off x="2143125" y="2286000"/>
                        <a:ext cx="5848350" cy="132873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52327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Normal vs. Boolean Multinomial NB</a:t>
            </a:r>
          </a:p>
        </p:txBody>
      </p:sp>
      <p:graphicFrame>
        <p:nvGraphicFramePr>
          <p:cNvPr id="5" name="Content Placeholder 4"/>
          <p:cNvGraphicFramePr>
            <a:graphicFrameLocks noGrp="1"/>
          </p:cNvGraphicFramePr>
          <p:nvPr>
            <p:ph idx="1"/>
          </p:nvPr>
        </p:nvGraphicFramePr>
        <p:xfrm>
          <a:off x="647700" y="1828800"/>
          <a:ext cx="9258302" cy="1676400"/>
        </p:xfrm>
        <a:graphic>
          <a:graphicData uri="http://schemas.openxmlformats.org/drawingml/2006/table">
            <a:tbl>
              <a:tblPr firstRow="1" bandRow="1">
                <a:tableStyleId>{5C22544A-7EE6-4342-B048-85BDC9FD1C3A}</a:tableStyleId>
              </a:tblPr>
              <a:tblGrid>
                <a:gridCol w="1570606">
                  <a:extLst>
                    <a:ext uri="{9D8B030D-6E8A-4147-A177-3AD203B41FA5}">
                      <a16:colId xmlns:a16="http://schemas.microsoft.com/office/drawing/2014/main" val="20000"/>
                    </a:ext>
                  </a:extLst>
                </a:gridCol>
                <a:gridCol w="826633">
                  <a:extLst>
                    <a:ext uri="{9D8B030D-6E8A-4147-A177-3AD203B41FA5}">
                      <a16:colId xmlns:a16="http://schemas.microsoft.com/office/drawing/2014/main" val="20001"/>
                    </a:ext>
                  </a:extLst>
                </a:gridCol>
                <a:gridCol w="5658686">
                  <a:extLst>
                    <a:ext uri="{9D8B030D-6E8A-4147-A177-3AD203B41FA5}">
                      <a16:colId xmlns:a16="http://schemas.microsoft.com/office/drawing/2014/main" val="20002"/>
                    </a:ext>
                  </a:extLst>
                </a:gridCol>
                <a:gridCol w="1202377">
                  <a:extLst>
                    <a:ext uri="{9D8B030D-6E8A-4147-A177-3AD203B41FA5}">
                      <a16:colId xmlns:a16="http://schemas.microsoft.com/office/drawing/2014/main" val="20003"/>
                    </a:ext>
                  </a:extLst>
                </a:gridCol>
              </a:tblGrid>
              <a:tr h="279400">
                <a:tc>
                  <a:txBody>
                    <a:bodyPr/>
                    <a:lstStyle/>
                    <a:p>
                      <a:pPr>
                        <a:lnSpc>
                          <a:spcPct val="70000"/>
                        </a:lnSpc>
                      </a:pPr>
                      <a:r>
                        <a:rPr lang="en-US" sz="1600" dirty="0"/>
                        <a:t>Normal</a:t>
                      </a:r>
                    </a:p>
                  </a:txBody>
                  <a:tcPr marL="144286" marR="144286"/>
                </a:tc>
                <a:tc>
                  <a:txBody>
                    <a:bodyPr/>
                    <a:lstStyle/>
                    <a:p>
                      <a:pPr>
                        <a:lnSpc>
                          <a:spcPct val="70000"/>
                        </a:lnSpc>
                      </a:pPr>
                      <a:r>
                        <a:rPr lang="en-US" sz="1600" dirty="0"/>
                        <a:t>Doc</a:t>
                      </a:r>
                    </a:p>
                  </a:txBody>
                  <a:tcPr marL="144286" marR="144286"/>
                </a:tc>
                <a:tc>
                  <a:txBody>
                    <a:bodyPr/>
                    <a:lstStyle/>
                    <a:p>
                      <a:pPr>
                        <a:lnSpc>
                          <a:spcPct val="70000"/>
                        </a:lnSpc>
                      </a:pPr>
                      <a:r>
                        <a:rPr lang="en-US" sz="1600" dirty="0"/>
                        <a:t>Words</a:t>
                      </a:r>
                    </a:p>
                  </a:txBody>
                  <a:tcPr marL="144286" marR="144286"/>
                </a:tc>
                <a:tc>
                  <a:txBody>
                    <a:bodyPr/>
                    <a:lstStyle/>
                    <a:p>
                      <a:pPr>
                        <a:lnSpc>
                          <a:spcPct val="70000"/>
                        </a:lnSpc>
                      </a:pPr>
                      <a:r>
                        <a:rPr lang="en-US" sz="1600" dirty="0"/>
                        <a:t>Class</a:t>
                      </a:r>
                    </a:p>
                  </a:txBody>
                  <a:tcPr marL="144286" marR="144286"/>
                </a:tc>
                <a:extLst>
                  <a:ext uri="{0D108BD9-81ED-4DB2-BD59-A6C34878D82A}">
                    <a16:rowId xmlns:a16="http://schemas.microsoft.com/office/drawing/2014/main" val="10000"/>
                  </a:ext>
                </a:extLst>
              </a:tr>
              <a:tr h="279400">
                <a:tc>
                  <a:txBody>
                    <a:bodyPr/>
                    <a:lstStyle/>
                    <a:p>
                      <a:pPr>
                        <a:lnSpc>
                          <a:spcPct val="70000"/>
                        </a:lnSpc>
                      </a:pPr>
                      <a:r>
                        <a:rPr lang="en-US" sz="1600" dirty="0"/>
                        <a:t>Training</a:t>
                      </a:r>
                    </a:p>
                  </a:txBody>
                  <a:tcPr marL="144286" marR="144286">
                    <a:solidFill>
                      <a:schemeClr val="accent6">
                        <a:lumMod val="20000"/>
                        <a:lumOff val="80000"/>
                      </a:schemeClr>
                    </a:solidFill>
                  </a:tcPr>
                </a:tc>
                <a:tc>
                  <a:txBody>
                    <a:bodyPr/>
                    <a:lstStyle/>
                    <a:p>
                      <a:pPr>
                        <a:lnSpc>
                          <a:spcPct val="70000"/>
                        </a:lnSpc>
                      </a:pPr>
                      <a:r>
                        <a:rPr lang="en-US" sz="1600" dirty="0"/>
                        <a:t>1</a:t>
                      </a:r>
                    </a:p>
                  </a:txBody>
                  <a:tcPr marL="144286" marR="144286">
                    <a:solidFill>
                      <a:schemeClr val="accent6">
                        <a:lumMod val="20000"/>
                        <a:lumOff val="80000"/>
                      </a:schemeClr>
                    </a:solidFill>
                  </a:tcPr>
                </a:tc>
                <a:tc>
                  <a:txBody>
                    <a:bodyPr/>
                    <a:lstStyle/>
                    <a:p>
                      <a:pPr>
                        <a:lnSpc>
                          <a:spcPct val="70000"/>
                        </a:lnSpc>
                      </a:pPr>
                      <a:r>
                        <a:rPr lang="en-US" sz="1600" dirty="0"/>
                        <a:t>Chinese</a:t>
                      </a:r>
                      <a:r>
                        <a:rPr lang="en-US" sz="1600" baseline="0" dirty="0"/>
                        <a:t> Beijing Chinese</a:t>
                      </a:r>
                      <a:endParaRPr lang="en-US" sz="1600" dirty="0"/>
                    </a:p>
                  </a:txBody>
                  <a:tcPr marL="144286" marR="144286">
                    <a:solidFill>
                      <a:schemeClr val="accent6">
                        <a:lumMod val="20000"/>
                        <a:lumOff val="80000"/>
                      </a:schemeClr>
                    </a:solidFill>
                  </a:tcPr>
                </a:tc>
                <a:tc>
                  <a:txBody>
                    <a:bodyPr/>
                    <a:lstStyle/>
                    <a:p>
                      <a:pPr>
                        <a:lnSpc>
                          <a:spcPct val="70000"/>
                        </a:lnSpc>
                      </a:pPr>
                      <a:r>
                        <a:rPr lang="en-US" sz="1600" dirty="0"/>
                        <a:t>c</a:t>
                      </a:r>
                    </a:p>
                  </a:txBody>
                  <a:tcPr marL="144286" marR="144286">
                    <a:solidFill>
                      <a:schemeClr val="accent6">
                        <a:lumMod val="20000"/>
                        <a:lumOff val="80000"/>
                      </a:schemeClr>
                    </a:solidFill>
                  </a:tcPr>
                </a:tc>
                <a:extLst>
                  <a:ext uri="{0D108BD9-81ED-4DB2-BD59-A6C34878D82A}">
                    <a16:rowId xmlns:a16="http://schemas.microsoft.com/office/drawing/2014/main" val="10001"/>
                  </a:ext>
                </a:extLst>
              </a:tr>
              <a:tr h="279400">
                <a:tc>
                  <a:txBody>
                    <a:bodyPr/>
                    <a:lstStyle/>
                    <a:p>
                      <a:pPr>
                        <a:lnSpc>
                          <a:spcPct val="70000"/>
                        </a:lnSpc>
                      </a:pPr>
                      <a:endParaRPr lang="en-US" sz="1600" dirty="0"/>
                    </a:p>
                  </a:txBody>
                  <a:tcPr marL="144286" marR="144286">
                    <a:solidFill>
                      <a:schemeClr val="accent6">
                        <a:lumMod val="20000"/>
                        <a:lumOff val="80000"/>
                      </a:schemeClr>
                    </a:solidFill>
                  </a:tcPr>
                </a:tc>
                <a:tc>
                  <a:txBody>
                    <a:bodyPr/>
                    <a:lstStyle/>
                    <a:p>
                      <a:pPr>
                        <a:lnSpc>
                          <a:spcPct val="70000"/>
                        </a:lnSpc>
                      </a:pPr>
                      <a:r>
                        <a:rPr lang="en-US" sz="1600" dirty="0"/>
                        <a:t>2</a:t>
                      </a:r>
                    </a:p>
                  </a:txBody>
                  <a:tcPr marL="144286" marR="144286">
                    <a:solidFill>
                      <a:schemeClr val="accent6">
                        <a:lumMod val="20000"/>
                        <a:lumOff val="80000"/>
                      </a:schemeClr>
                    </a:solidFill>
                  </a:tcPr>
                </a:tc>
                <a:tc>
                  <a:txBody>
                    <a:bodyPr/>
                    <a:lstStyle/>
                    <a:p>
                      <a:pPr>
                        <a:lnSpc>
                          <a:spcPct val="70000"/>
                        </a:lnSpc>
                      </a:pPr>
                      <a:r>
                        <a:rPr lang="en-US" sz="1600" dirty="0"/>
                        <a:t>Chinese Chinese Shanghai</a:t>
                      </a:r>
                    </a:p>
                  </a:txBody>
                  <a:tcPr marL="144286" marR="144286">
                    <a:solidFill>
                      <a:schemeClr val="accent6">
                        <a:lumMod val="20000"/>
                        <a:lumOff val="80000"/>
                      </a:schemeClr>
                    </a:solidFill>
                  </a:tcPr>
                </a:tc>
                <a:tc>
                  <a:txBody>
                    <a:bodyPr/>
                    <a:lstStyle/>
                    <a:p>
                      <a:pPr>
                        <a:lnSpc>
                          <a:spcPct val="70000"/>
                        </a:lnSpc>
                      </a:pPr>
                      <a:r>
                        <a:rPr lang="en-US" sz="1600" dirty="0"/>
                        <a:t>c</a:t>
                      </a:r>
                    </a:p>
                  </a:txBody>
                  <a:tcPr marL="144286" marR="144286">
                    <a:solidFill>
                      <a:schemeClr val="accent6">
                        <a:lumMod val="20000"/>
                        <a:lumOff val="80000"/>
                      </a:schemeClr>
                    </a:solidFill>
                  </a:tcPr>
                </a:tc>
                <a:extLst>
                  <a:ext uri="{0D108BD9-81ED-4DB2-BD59-A6C34878D82A}">
                    <a16:rowId xmlns:a16="http://schemas.microsoft.com/office/drawing/2014/main" val="10002"/>
                  </a:ext>
                </a:extLst>
              </a:tr>
              <a:tr h="279400">
                <a:tc>
                  <a:txBody>
                    <a:bodyPr/>
                    <a:lstStyle/>
                    <a:p>
                      <a:pPr>
                        <a:lnSpc>
                          <a:spcPct val="70000"/>
                        </a:lnSpc>
                      </a:pPr>
                      <a:endParaRPr lang="en-US" sz="1600"/>
                    </a:p>
                  </a:txBody>
                  <a:tcPr marL="144286" marR="144286">
                    <a:solidFill>
                      <a:schemeClr val="accent6">
                        <a:lumMod val="20000"/>
                        <a:lumOff val="80000"/>
                      </a:schemeClr>
                    </a:solidFill>
                  </a:tcPr>
                </a:tc>
                <a:tc>
                  <a:txBody>
                    <a:bodyPr/>
                    <a:lstStyle/>
                    <a:p>
                      <a:pPr>
                        <a:lnSpc>
                          <a:spcPct val="70000"/>
                        </a:lnSpc>
                      </a:pPr>
                      <a:r>
                        <a:rPr lang="en-US" sz="1600" dirty="0"/>
                        <a:t>3</a:t>
                      </a:r>
                    </a:p>
                  </a:txBody>
                  <a:tcPr marL="144286" marR="144286">
                    <a:solidFill>
                      <a:schemeClr val="accent6">
                        <a:lumMod val="20000"/>
                        <a:lumOff val="80000"/>
                      </a:schemeClr>
                    </a:solidFill>
                  </a:tcPr>
                </a:tc>
                <a:tc>
                  <a:txBody>
                    <a:bodyPr/>
                    <a:lstStyle/>
                    <a:p>
                      <a:pPr>
                        <a:lnSpc>
                          <a:spcPct val="70000"/>
                        </a:lnSpc>
                      </a:pPr>
                      <a:r>
                        <a:rPr lang="en-US" sz="1600" dirty="0"/>
                        <a:t>Chinese Macao</a:t>
                      </a:r>
                    </a:p>
                  </a:txBody>
                  <a:tcPr marL="144286" marR="144286">
                    <a:solidFill>
                      <a:schemeClr val="accent6">
                        <a:lumMod val="20000"/>
                        <a:lumOff val="80000"/>
                      </a:schemeClr>
                    </a:solidFill>
                  </a:tcPr>
                </a:tc>
                <a:tc>
                  <a:txBody>
                    <a:bodyPr/>
                    <a:lstStyle/>
                    <a:p>
                      <a:pPr>
                        <a:lnSpc>
                          <a:spcPct val="70000"/>
                        </a:lnSpc>
                      </a:pPr>
                      <a:r>
                        <a:rPr lang="en-US" sz="1600" dirty="0"/>
                        <a:t>c</a:t>
                      </a:r>
                    </a:p>
                  </a:txBody>
                  <a:tcPr marL="144286" marR="144286">
                    <a:solidFill>
                      <a:schemeClr val="accent6">
                        <a:lumMod val="20000"/>
                        <a:lumOff val="80000"/>
                      </a:schemeClr>
                    </a:solidFill>
                  </a:tcPr>
                </a:tc>
                <a:extLst>
                  <a:ext uri="{0D108BD9-81ED-4DB2-BD59-A6C34878D82A}">
                    <a16:rowId xmlns:a16="http://schemas.microsoft.com/office/drawing/2014/main" val="10003"/>
                  </a:ext>
                </a:extLst>
              </a:tr>
              <a:tr h="279400">
                <a:tc>
                  <a:txBody>
                    <a:bodyPr/>
                    <a:lstStyle/>
                    <a:p>
                      <a:pPr>
                        <a:lnSpc>
                          <a:spcPct val="70000"/>
                        </a:lnSpc>
                      </a:pPr>
                      <a:endParaRPr lang="en-US" sz="1600"/>
                    </a:p>
                  </a:txBody>
                  <a:tcPr marL="144286" marR="144286">
                    <a:solidFill>
                      <a:schemeClr val="accent6">
                        <a:lumMod val="20000"/>
                        <a:lumOff val="80000"/>
                      </a:schemeClr>
                    </a:solidFill>
                  </a:tcPr>
                </a:tc>
                <a:tc>
                  <a:txBody>
                    <a:bodyPr/>
                    <a:lstStyle/>
                    <a:p>
                      <a:pPr>
                        <a:lnSpc>
                          <a:spcPct val="70000"/>
                        </a:lnSpc>
                      </a:pPr>
                      <a:r>
                        <a:rPr lang="en-US" sz="1600" dirty="0"/>
                        <a:t>4</a:t>
                      </a:r>
                    </a:p>
                  </a:txBody>
                  <a:tcPr marL="144286" marR="144286">
                    <a:solidFill>
                      <a:schemeClr val="accent6">
                        <a:lumMod val="20000"/>
                        <a:lumOff val="80000"/>
                      </a:schemeClr>
                    </a:solidFill>
                  </a:tcPr>
                </a:tc>
                <a:tc>
                  <a:txBody>
                    <a:bodyPr/>
                    <a:lstStyle/>
                    <a:p>
                      <a:pPr>
                        <a:lnSpc>
                          <a:spcPct val="70000"/>
                        </a:lnSpc>
                      </a:pPr>
                      <a:r>
                        <a:rPr lang="en-US" sz="1600" dirty="0"/>
                        <a:t>Tokyo Japan Chinese</a:t>
                      </a:r>
                    </a:p>
                  </a:txBody>
                  <a:tcPr marL="144286" marR="144286">
                    <a:solidFill>
                      <a:schemeClr val="accent6">
                        <a:lumMod val="20000"/>
                        <a:lumOff val="80000"/>
                      </a:schemeClr>
                    </a:solidFill>
                  </a:tcPr>
                </a:tc>
                <a:tc>
                  <a:txBody>
                    <a:bodyPr/>
                    <a:lstStyle/>
                    <a:p>
                      <a:pPr>
                        <a:lnSpc>
                          <a:spcPct val="70000"/>
                        </a:lnSpc>
                      </a:pPr>
                      <a:r>
                        <a:rPr lang="en-US" sz="1600" dirty="0"/>
                        <a:t>j</a:t>
                      </a:r>
                    </a:p>
                  </a:txBody>
                  <a:tcPr marL="144286" marR="144286">
                    <a:solidFill>
                      <a:schemeClr val="accent6">
                        <a:lumMod val="20000"/>
                        <a:lumOff val="80000"/>
                      </a:schemeClr>
                    </a:solidFill>
                  </a:tcPr>
                </a:tc>
                <a:extLst>
                  <a:ext uri="{0D108BD9-81ED-4DB2-BD59-A6C34878D82A}">
                    <a16:rowId xmlns:a16="http://schemas.microsoft.com/office/drawing/2014/main" val="10004"/>
                  </a:ext>
                </a:extLst>
              </a:tr>
              <a:tr h="279400">
                <a:tc>
                  <a:txBody>
                    <a:bodyPr/>
                    <a:lstStyle/>
                    <a:p>
                      <a:pPr>
                        <a:lnSpc>
                          <a:spcPct val="70000"/>
                        </a:lnSpc>
                      </a:pPr>
                      <a:r>
                        <a:rPr lang="en-US" sz="1600" dirty="0"/>
                        <a:t>Test</a:t>
                      </a:r>
                    </a:p>
                  </a:txBody>
                  <a:tcPr marL="144286" marR="144286"/>
                </a:tc>
                <a:tc>
                  <a:txBody>
                    <a:bodyPr/>
                    <a:lstStyle/>
                    <a:p>
                      <a:pPr>
                        <a:lnSpc>
                          <a:spcPct val="70000"/>
                        </a:lnSpc>
                      </a:pPr>
                      <a:r>
                        <a:rPr lang="en-US" sz="1600" dirty="0"/>
                        <a:t>5</a:t>
                      </a:r>
                    </a:p>
                  </a:txBody>
                  <a:tcPr marL="144286" marR="144286"/>
                </a:tc>
                <a:tc>
                  <a:txBody>
                    <a:bodyPr/>
                    <a:lstStyle/>
                    <a:p>
                      <a:pPr>
                        <a:lnSpc>
                          <a:spcPct val="70000"/>
                        </a:lnSpc>
                      </a:pPr>
                      <a:r>
                        <a:rPr lang="en-US" sz="1600" dirty="0"/>
                        <a:t>Chinese Chinese Chinese Tokyo</a:t>
                      </a:r>
                      <a:r>
                        <a:rPr lang="en-US" sz="1600" baseline="0" dirty="0"/>
                        <a:t> Japan</a:t>
                      </a:r>
                      <a:endParaRPr lang="en-US" sz="1600" dirty="0"/>
                    </a:p>
                  </a:txBody>
                  <a:tcPr marL="144286" marR="144286"/>
                </a:tc>
                <a:tc>
                  <a:txBody>
                    <a:bodyPr/>
                    <a:lstStyle/>
                    <a:p>
                      <a:pPr>
                        <a:lnSpc>
                          <a:spcPct val="70000"/>
                        </a:lnSpc>
                      </a:pPr>
                      <a:r>
                        <a:rPr lang="en-US" sz="1600" dirty="0"/>
                        <a:t>?</a:t>
                      </a:r>
                    </a:p>
                  </a:txBody>
                  <a:tcPr marL="144286" marR="144286"/>
                </a:tc>
                <a:extLst>
                  <a:ext uri="{0D108BD9-81ED-4DB2-BD59-A6C34878D82A}">
                    <a16:rowId xmlns:a16="http://schemas.microsoft.com/office/drawing/2014/main" val="10005"/>
                  </a:ext>
                </a:extLst>
              </a:tr>
            </a:tbl>
          </a:graphicData>
        </a:graphic>
      </p:graphicFrame>
      <p:graphicFrame>
        <p:nvGraphicFramePr>
          <p:cNvPr id="46" name="Content Placeholder 4"/>
          <p:cNvGraphicFramePr>
            <a:graphicFrameLocks/>
          </p:cNvGraphicFramePr>
          <p:nvPr/>
        </p:nvGraphicFramePr>
        <p:xfrm>
          <a:off x="647700" y="3886200"/>
          <a:ext cx="8534401" cy="1662684"/>
        </p:xfrm>
        <a:graphic>
          <a:graphicData uri="http://schemas.openxmlformats.org/drawingml/2006/table">
            <a:tbl>
              <a:tblPr firstRow="1" bandRow="1">
                <a:tableStyleId>{5C22544A-7EE6-4342-B048-85BDC9FD1C3A}</a:tableStyleId>
              </a:tblPr>
              <a:tblGrid>
                <a:gridCol w="1447801">
                  <a:extLst>
                    <a:ext uri="{9D8B030D-6E8A-4147-A177-3AD203B41FA5}">
                      <a16:colId xmlns:a16="http://schemas.microsoft.com/office/drawing/2014/main" val="20000"/>
                    </a:ext>
                  </a:extLst>
                </a:gridCol>
                <a:gridCol w="761999">
                  <a:extLst>
                    <a:ext uri="{9D8B030D-6E8A-4147-A177-3AD203B41FA5}">
                      <a16:colId xmlns:a16="http://schemas.microsoft.com/office/drawing/2014/main" val="20001"/>
                    </a:ext>
                  </a:extLst>
                </a:gridCol>
                <a:gridCol w="5216237">
                  <a:extLst>
                    <a:ext uri="{9D8B030D-6E8A-4147-A177-3AD203B41FA5}">
                      <a16:colId xmlns:a16="http://schemas.microsoft.com/office/drawing/2014/main" val="20002"/>
                    </a:ext>
                  </a:extLst>
                </a:gridCol>
                <a:gridCol w="1108364">
                  <a:extLst>
                    <a:ext uri="{9D8B030D-6E8A-4147-A177-3AD203B41FA5}">
                      <a16:colId xmlns:a16="http://schemas.microsoft.com/office/drawing/2014/main" val="20003"/>
                    </a:ext>
                  </a:extLst>
                </a:gridCol>
              </a:tblGrid>
              <a:tr h="127000">
                <a:tc>
                  <a:txBody>
                    <a:bodyPr/>
                    <a:lstStyle/>
                    <a:p>
                      <a:pPr>
                        <a:lnSpc>
                          <a:spcPct val="70000"/>
                        </a:lnSpc>
                      </a:pPr>
                      <a:r>
                        <a:rPr lang="en-US" sz="1600" dirty="0"/>
                        <a:t>Boolean</a:t>
                      </a:r>
                    </a:p>
                  </a:txBody>
                  <a:tcPr marL="133004" marR="133004"/>
                </a:tc>
                <a:tc>
                  <a:txBody>
                    <a:bodyPr/>
                    <a:lstStyle/>
                    <a:p>
                      <a:pPr>
                        <a:lnSpc>
                          <a:spcPct val="70000"/>
                        </a:lnSpc>
                      </a:pPr>
                      <a:r>
                        <a:rPr lang="en-US" sz="1600" dirty="0"/>
                        <a:t>Doc</a:t>
                      </a:r>
                    </a:p>
                  </a:txBody>
                  <a:tcPr marL="133004" marR="133004"/>
                </a:tc>
                <a:tc>
                  <a:txBody>
                    <a:bodyPr/>
                    <a:lstStyle/>
                    <a:p>
                      <a:pPr>
                        <a:lnSpc>
                          <a:spcPct val="70000"/>
                        </a:lnSpc>
                      </a:pPr>
                      <a:r>
                        <a:rPr lang="en-US" sz="1600" dirty="0"/>
                        <a:t>Words</a:t>
                      </a:r>
                    </a:p>
                  </a:txBody>
                  <a:tcPr marL="133004" marR="133004"/>
                </a:tc>
                <a:tc>
                  <a:txBody>
                    <a:bodyPr/>
                    <a:lstStyle/>
                    <a:p>
                      <a:pPr>
                        <a:lnSpc>
                          <a:spcPct val="70000"/>
                        </a:lnSpc>
                      </a:pPr>
                      <a:r>
                        <a:rPr lang="en-US" sz="1600" dirty="0"/>
                        <a:t>Class</a:t>
                      </a:r>
                    </a:p>
                  </a:txBody>
                  <a:tcPr marL="133004" marR="133004"/>
                </a:tc>
                <a:extLst>
                  <a:ext uri="{0D108BD9-81ED-4DB2-BD59-A6C34878D82A}">
                    <a16:rowId xmlns:a16="http://schemas.microsoft.com/office/drawing/2014/main" val="10000"/>
                  </a:ext>
                </a:extLst>
              </a:tr>
              <a:tr h="279400">
                <a:tc>
                  <a:txBody>
                    <a:bodyPr/>
                    <a:lstStyle/>
                    <a:p>
                      <a:pPr>
                        <a:lnSpc>
                          <a:spcPct val="70000"/>
                        </a:lnSpc>
                      </a:pPr>
                      <a:r>
                        <a:rPr lang="en-US" sz="1600" dirty="0"/>
                        <a:t>Training</a:t>
                      </a:r>
                    </a:p>
                  </a:txBody>
                  <a:tcPr marL="133004" marR="133004">
                    <a:solidFill>
                      <a:schemeClr val="accent6">
                        <a:lumMod val="20000"/>
                        <a:lumOff val="80000"/>
                      </a:schemeClr>
                    </a:solidFill>
                  </a:tcPr>
                </a:tc>
                <a:tc>
                  <a:txBody>
                    <a:bodyPr/>
                    <a:lstStyle/>
                    <a:p>
                      <a:pPr>
                        <a:lnSpc>
                          <a:spcPct val="70000"/>
                        </a:lnSpc>
                      </a:pPr>
                      <a:r>
                        <a:rPr lang="en-US" sz="1600" dirty="0"/>
                        <a:t>1</a:t>
                      </a:r>
                    </a:p>
                  </a:txBody>
                  <a:tcPr marL="133004" marR="133004">
                    <a:solidFill>
                      <a:schemeClr val="accent6">
                        <a:lumMod val="20000"/>
                        <a:lumOff val="80000"/>
                      </a:schemeClr>
                    </a:solidFill>
                  </a:tcPr>
                </a:tc>
                <a:tc>
                  <a:txBody>
                    <a:bodyPr/>
                    <a:lstStyle/>
                    <a:p>
                      <a:pPr>
                        <a:lnSpc>
                          <a:spcPct val="70000"/>
                        </a:lnSpc>
                      </a:pPr>
                      <a:r>
                        <a:rPr lang="en-US" sz="1600" dirty="0"/>
                        <a:t>Chinese</a:t>
                      </a:r>
                      <a:r>
                        <a:rPr lang="en-US" sz="1600" baseline="0" dirty="0"/>
                        <a:t> Beijing</a:t>
                      </a:r>
                      <a:endParaRPr lang="en-US" sz="1600" dirty="0"/>
                    </a:p>
                  </a:txBody>
                  <a:tcPr marL="133004" marR="133004">
                    <a:solidFill>
                      <a:schemeClr val="accent6">
                        <a:lumMod val="20000"/>
                        <a:lumOff val="80000"/>
                      </a:schemeClr>
                    </a:solidFill>
                  </a:tcPr>
                </a:tc>
                <a:tc>
                  <a:txBody>
                    <a:bodyPr/>
                    <a:lstStyle/>
                    <a:p>
                      <a:pPr>
                        <a:lnSpc>
                          <a:spcPct val="70000"/>
                        </a:lnSpc>
                      </a:pPr>
                      <a:r>
                        <a:rPr lang="en-US" sz="1600" dirty="0"/>
                        <a:t>c</a:t>
                      </a:r>
                    </a:p>
                  </a:txBody>
                  <a:tcPr marL="133004" marR="133004">
                    <a:solidFill>
                      <a:schemeClr val="accent6">
                        <a:lumMod val="20000"/>
                        <a:lumOff val="80000"/>
                      </a:schemeClr>
                    </a:solidFill>
                  </a:tcPr>
                </a:tc>
                <a:extLst>
                  <a:ext uri="{0D108BD9-81ED-4DB2-BD59-A6C34878D82A}">
                    <a16:rowId xmlns:a16="http://schemas.microsoft.com/office/drawing/2014/main" val="10001"/>
                  </a:ext>
                </a:extLst>
              </a:tr>
              <a:tr h="279400">
                <a:tc>
                  <a:txBody>
                    <a:bodyPr/>
                    <a:lstStyle/>
                    <a:p>
                      <a:pPr>
                        <a:lnSpc>
                          <a:spcPct val="70000"/>
                        </a:lnSpc>
                      </a:pPr>
                      <a:endParaRPr lang="en-US" sz="1600" dirty="0"/>
                    </a:p>
                  </a:txBody>
                  <a:tcPr marL="133004" marR="133004">
                    <a:solidFill>
                      <a:schemeClr val="accent6">
                        <a:lumMod val="20000"/>
                        <a:lumOff val="80000"/>
                      </a:schemeClr>
                    </a:solidFill>
                  </a:tcPr>
                </a:tc>
                <a:tc>
                  <a:txBody>
                    <a:bodyPr/>
                    <a:lstStyle/>
                    <a:p>
                      <a:pPr>
                        <a:lnSpc>
                          <a:spcPct val="70000"/>
                        </a:lnSpc>
                      </a:pPr>
                      <a:r>
                        <a:rPr lang="en-US" sz="1600" dirty="0"/>
                        <a:t>2</a:t>
                      </a:r>
                    </a:p>
                  </a:txBody>
                  <a:tcPr marL="133004" marR="133004">
                    <a:solidFill>
                      <a:schemeClr val="accent6">
                        <a:lumMod val="20000"/>
                        <a:lumOff val="80000"/>
                      </a:schemeClr>
                    </a:solidFill>
                  </a:tcPr>
                </a:tc>
                <a:tc>
                  <a:txBody>
                    <a:bodyPr/>
                    <a:lstStyle/>
                    <a:p>
                      <a:pPr>
                        <a:lnSpc>
                          <a:spcPct val="70000"/>
                        </a:lnSpc>
                      </a:pPr>
                      <a:r>
                        <a:rPr lang="en-US" sz="1600" dirty="0"/>
                        <a:t>Chinese Shanghai</a:t>
                      </a:r>
                    </a:p>
                  </a:txBody>
                  <a:tcPr marL="133004" marR="133004">
                    <a:solidFill>
                      <a:schemeClr val="accent6">
                        <a:lumMod val="20000"/>
                        <a:lumOff val="80000"/>
                      </a:schemeClr>
                    </a:solidFill>
                  </a:tcPr>
                </a:tc>
                <a:tc>
                  <a:txBody>
                    <a:bodyPr/>
                    <a:lstStyle/>
                    <a:p>
                      <a:pPr>
                        <a:lnSpc>
                          <a:spcPct val="70000"/>
                        </a:lnSpc>
                      </a:pPr>
                      <a:r>
                        <a:rPr lang="en-US" sz="1600" dirty="0"/>
                        <a:t>c</a:t>
                      </a:r>
                    </a:p>
                  </a:txBody>
                  <a:tcPr marL="133004" marR="133004">
                    <a:solidFill>
                      <a:schemeClr val="accent6">
                        <a:lumMod val="20000"/>
                        <a:lumOff val="80000"/>
                      </a:schemeClr>
                    </a:solidFill>
                  </a:tcPr>
                </a:tc>
                <a:extLst>
                  <a:ext uri="{0D108BD9-81ED-4DB2-BD59-A6C34878D82A}">
                    <a16:rowId xmlns:a16="http://schemas.microsoft.com/office/drawing/2014/main" val="10002"/>
                  </a:ext>
                </a:extLst>
              </a:tr>
              <a:tr h="279400">
                <a:tc>
                  <a:txBody>
                    <a:bodyPr/>
                    <a:lstStyle/>
                    <a:p>
                      <a:pPr>
                        <a:lnSpc>
                          <a:spcPct val="70000"/>
                        </a:lnSpc>
                      </a:pPr>
                      <a:endParaRPr lang="en-US" sz="1600"/>
                    </a:p>
                  </a:txBody>
                  <a:tcPr marL="133004" marR="133004">
                    <a:solidFill>
                      <a:schemeClr val="accent6">
                        <a:lumMod val="20000"/>
                        <a:lumOff val="80000"/>
                      </a:schemeClr>
                    </a:solidFill>
                  </a:tcPr>
                </a:tc>
                <a:tc>
                  <a:txBody>
                    <a:bodyPr/>
                    <a:lstStyle/>
                    <a:p>
                      <a:pPr>
                        <a:lnSpc>
                          <a:spcPct val="70000"/>
                        </a:lnSpc>
                      </a:pPr>
                      <a:r>
                        <a:rPr lang="en-US" sz="1600" dirty="0"/>
                        <a:t>3</a:t>
                      </a:r>
                    </a:p>
                  </a:txBody>
                  <a:tcPr marL="133004" marR="133004">
                    <a:solidFill>
                      <a:schemeClr val="accent6">
                        <a:lumMod val="20000"/>
                        <a:lumOff val="80000"/>
                      </a:schemeClr>
                    </a:solidFill>
                  </a:tcPr>
                </a:tc>
                <a:tc>
                  <a:txBody>
                    <a:bodyPr/>
                    <a:lstStyle/>
                    <a:p>
                      <a:pPr>
                        <a:lnSpc>
                          <a:spcPct val="70000"/>
                        </a:lnSpc>
                      </a:pPr>
                      <a:r>
                        <a:rPr lang="en-US" sz="1600" dirty="0"/>
                        <a:t>Chinese Macao</a:t>
                      </a:r>
                    </a:p>
                  </a:txBody>
                  <a:tcPr marL="133004" marR="133004">
                    <a:solidFill>
                      <a:schemeClr val="accent6">
                        <a:lumMod val="20000"/>
                        <a:lumOff val="80000"/>
                      </a:schemeClr>
                    </a:solidFill>
                  </a:tcPr>
                </a:tc>
                <a:tc>
                  <a:txBody>
                    <a:bodyPr/>
                    <a:lstStyle/>
                    <a:p>
                      <a:pPr>
                        <a:lnSpc>
                          <a:spcPct val="70000"/>
                        </a:lnSpc>
                      </a:pPr>
                      <a:r>
                        <a:rPr lang="en-US" sz="1600" dirty="0"/>
                        <a:t>c</a:t>
                      </a:r>
                    </a:p>
                  </a:txBody>
                  <a:tcPr marL="133004" marR="133004">
                    <a:solidFill>
                      <a:schemeClr val="accent6">
                        <a:lumMod val="20000"/>
                        <a:lumOff val="80000"/>
                      </a:schemeClr>
                    </a:solidFill>
                  </a:tcPr>
                </a:tc>
                <a:extLst>
                  <a:ext uri="{0D108BD9-81ED-4DB2-BD59-A6C34878D82A}">
                    <a16:rowId xmlns:a16="http://schemas.microsoft.com/office/drawing/2014/main" val="10003"/>
                  </a:ext>
                </a:extLst>
              </a:tr>
              <a:tr h="279400">
                <a:tc>
                  <a:txBody>
                    <a:bodyPr/>
                    <a:lstStyle/>
                    <a:p>
                      <a:pPr>
                        <a:lnSpc>
                          <a:spcPct val="70000"/>
                        </a:lnSpc>
                      </a:pPr>
                      <a:endParaRPr lang="en-US" sz="1600"/>
                    </a:p>
                  </a:txBody>
                  <a:tcPr marL="133004" marR="133004">
                    <a:solidFill>
                      <a:schemeClr val="accent6">
                        <a:lumMod val="20000"/>
                        <a:lumOff val="80000"/>
                      </a:schemeClr>
                    </a:solidFill>
                  </a:tcPr>
                </a:tc>
                <a:tc>
                  <a:txBody>
                    <a:bodyPr/>
                    <a:lstStyle/>
                    <a:p>
                      <a:pPr>
                        <a:lnSpc>
                          <a:spcPct val="70000"/>
                        </a:lnSpc>
                      </a:pPr>
                      <a:r>
                        <a:rPr lang="en-US" sz="1600" dirty="0"/>
                        <a:t>4</a:t>
                      </a:r>
                    </a:p>
                  </a:txBody>
                  <a:tcPr marL="133004" marR="133004">
                    <a:solidFill>
                      <a:schemeClr val="accent6">
                        <a:lumMod val="20000"/>
                        <a:lumOff val="80000"/>
                      </a:schemeClr>
                    </a:solidFill>
                  </a:tcPr>
                </a:tc>
                <a:tc>
                  <a:txBody>
                    <a:bodyPr/>
                    <a:lstStyle/>
                    <a:p>
                      <a:pPr>
                        <a:lnSpc>
                          <a:spcPct val="70000"/>
                        </a:lnSpc>
                      </a:pPr>
                      <a:r>
                        <a:rPr lang="en-US" sz="1600" dirty="0"/>
                        <a:t>Tokyo Japan Chinese</a:t>
                      </a:r>
                    </a:p>
                  </a:txBody>
                  <a:tcPr marL="133004" marR="133004">
                    <a:solidFill>
                      <a:schemeClr val="accent6">
                        <a:lumMod val="20000"/>
                        <a:lumOff val="80000"/>
                      </a:schemeClr>
                    </a:solidFill>
                  </a:tcPr>
                </a:tc>
                <a:tc>
                  <a:txBody>
                    <a:bodyPr/>
                    <a:lstStyle/>
                    <a:p>
                      <a:pPr>
                        <a:lnSpc>
                          <a:spcPct val="70000"/>
                        </a:lnSpc>
                      </a:pPr>
                      <a:r>
                        <a:rPr lang="en-US" sz="1600" dirty="0"/>
                        <a:t>j</a:t>
                      </a:r>
                    </a:p>
                  </a:txBody>
                  <a:tcPr marL="133004" marR="133004">
                    <a:solidFill>
                      <a:schemeClr val="accent6">
                        <a:lumMod val="20000"/>
                        <a:lumOff val="80000"/>
                      </a:schemeClr>
                    </a:solidFill>
                  </a:tcPr>
                </a:tc>
                <a:extLst>
                  <a:ext uri="{0D108BD9-81ED-4DB2-BD59-A6C34878D82A}">
                    <a16:rowId xmlns:a16="http://schemas.microsoft.com/office/drawing/2014/main" val="10004"/>
                  </a:ext>
                </a:extLst>
              </a:tr>
              <a:tr h="279400">
                <a:tc>
                  <a:txBody>
                    <a:bodyPr/>
                    <a:lstStyle/>
                    <a:p>
                      <a:pPr>
                        <a:lnSpc>
                          <a:spcPct val="70000"/>
                        </a:lnSpc>
                      </a:pPr>
                      <a:r>
                        <a:rPr lang="en-US" sz="1600" dirty="0"/>
                        <a:t>Test</a:t>
                      </a:r>
                    </a:p>
                  </a:txBody>
                  <a:tcPr marL="133004" marR="133004"/>
                </a:tc>
                <a:tc>
                  <a:txBody>
                    <a:bodyPr/>
                    <a:lstStyle/>
                    <a:p>
                      <a:pPr>
                        <a:lnSpc>
                          <a:spcPct val="70000"/>
                        </a:lnSpc>
                      </a:pPr>
                      <a:r>
                        <a:rPr lang="en-US" sz="1600" dirty="0"/>
                        <a:t>5</a:t>
                      </a:r>
                    </a:p>
                  </a:txBody>
                  <a:tcPr marL="133004" marR="133004"/>
                </a:tc>
                <a:tc>
                  <a:txBody>
                    <a:bodyPr/>
                    <a:lstStyle/>
                    <a:p>
                      <a:pPr>
                        <a:lnSpc>
                          <a:spcPct val="70000"/>
                        </a:lnSpc>
                      </a:pPr>
                      <a:r>
                        <a:rPr lang="en-US" sz="1600" dirty="0"/>
                        <a:t>Chinese Tokyo</a:t>
                      </a:r>
                      <a:r>
                        <a:rPr lang="en-US" sz="1600" baseline="0" dirty="0"/>
                        <a:t> Japan</a:t>
                      </a:r>
                      <a:endParaRPr lang="en-US" sz="1600" dirty="0"/>
                    </a:p>
                  </a:txBody>
                  <a:tcPr marL="133004" marR="133004"/>
                </a:tc>
                <a:tc>
                  <a:txBody>
                    <a:bodyPr/>
                    <a:lstStyle/>
                    <a:p>
                      <a:pPr>
                        <a:lnSpc>
                          <a:spcPct val="70000"/>
                        </a:lnSpc>
                      </a:pPr>
                      <a:r>
                        <a:rPr lang="en-US" sz="1600" dirty="0"/>
                        <a:t>?</a:t>
                      </a:r>
                    </a:p>
                  </a:txBody>
                  <a:tcPr marL="133004" marR="133004"/>
                </a:tc>
                <a:extLst>
                  <a:ext uri="{0D108BD9-81ED-4DB2-BD59-A6C34878D82A}">
                    <a16:rowId xmlns:a16="http://schemas.microsoft.com/office/drawing/2014/main" val="10005"/>
                  </a:ext>
                </a:extLst>
              </a:tr>
            </a:tbl>
          </a:graphicData>
        </a:graphic>
      </p:graphicFrame>
      <p:sp>
        <p:nvSpPr>
          <p:cNvPr id="2" name="Rectangle 1"/>
          <p:cNvSpPr/>
          <p:nvPr/>
        </p:nvSpPr>
        <p:spPr>
          <a:xfrm>
            <a:off x="1028700" y="5867400"/>
            <a:ext cx="7543800" cy="369332"/>
          </a:xfrm>
          <a:prstGeom prst="rect">
            <a:avLst/>
          </a:prstGeom>
        </p:spPr>
        <p:txBody>
          <a:bodyPr wrap="square">
            <a:spAutoFit/>
          </a:bodyPr>
          <a:lstStyle/>
          <a:p>
            <a:r>
              <a:rPr lang="en-US" dirty="0"/>
              <a:t>Binary seems to work better than full word counts</a:t>
            </a:r>
          </a:p>
        </p:txBody>
      </p:sp>
    </p:spTree>
    <p:extLst>
      <p:ext uri="{BB962C8B-B14F-4D97-AF65-F5344CB8AC3E}">
        <p14:creationId xmlns:p14="http://schemas.microsoft.com/office/powerpoint/2010/main" val="322557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90500" y="152401"/>
            <a:ext cx="9982200" cy="609599"/>
          </a:xfrm>
        </p:spPr>
        <p:txBody>
          <a:bodyPr>
            <a:normAutofit fontScale="90000"/>
          </a:bodyPr>
          <a:lstStyle/>
          <a:p>
            <a:r>
              <a:rPr lang="en-US" dirty="0"/>
              <a:t>Problems: What makes reviews hard to classify?</a:t>
            </a:r>
          </a:p>
        </p:txBody>
      </p:sp>
      <p:sp>
        <p:nvSpPr>
          <p:cNvPr id="39939" name="Rectangle 3"/>
          <p:cNvSpPr>
            <a:spLocks noGrp="1" noChangeArrowheads="1"/>
          </p:cNvSpPr>
          <p:nvPr>
            <p:ph idx="1"/>
          </p:nvPr>
        </p:nvSpPr>
        <p:spPr>
          <a:xfrm>
            <a:off x="725267" y="1266969"/>
            <a:ext cx="4400915" cy="4525963"/>
          </a:xfrm>
        </p:spPr>
        <p:txBody>
          <a:bodyPr/>
          <a:lstStyle/>
          <a:p>
            <a:r>
              <a:rPr lang="en-US" sz="2000" dirty="0"/>
              <a:t>Perfume review in </a:t>
            </a:r>
            <a:r>
              <a:rPr lang="en-US" sz="2000" i="1" dirty="0"/>
              <a:t>Perfumes: the Guide</a:t>
            </a:r>
            <a:r>
              <a:rPr lang="en-US" sz="2000" dirty="0"/>
              <a:t>: “If you are reading this because it is your darling fragrance, please wear it at home exclusively, and tape the windows shut.”</a:t>
            </a:r>
          </a:p>
          <a:p>
            <a:pPr lvl="1"/>
            <a:r>
              <a:rPr lang="en-IN" dirty="0"/>
              <a:t>Negative review but very difficult to figure out using just positive or negative words.</a:t>
            </a:r>
            <a:endParaRPr lang="en-US" dirty="0"/>
          </a:p>
        </p:txBody>
      </p:sp>
      <p:sp>
        <p:nvSpPr>
          <p:cNvPr id="4" name="Slide Number Placeholder 5"/>
          <p:cNvSpPr>
            <a:spLocks noGrp="1"/>
          </p:cNvSpPr>
          <p:nvPr>
            <p:ph type="sldNum" sz="quarter" idx="4294967295"/>
          </p:nvPr>
        </p:nvSpPr>
        <p:spPr>
          <a:xfrm>
            <a:off x="9829800" y="5772150"/>
            <a:ext cx="457200" cy="228600"/>
          </a:xfrm>
          <a:prstGeom prst="rect">
            <a:avLst/>
          </a:prstGeom>
        </p:spPr>
        <p:txBody>
          <a:bodyPr/>
          <a:lstStyle/>
          <a:p>
            <a:fld id="{DCAB7E93-AD45-C349-8A19-0FCE009C7A3C}" type="slidenum">
              <a:rPr lang="en-US"/>
              <a:pPr/>
              <a:t>53</a:t>
            </a:fld>
            <a:endParaRPr lang="en-US"/>
          </a:p>
        </p:txBody>
      </p:sp>
      <p:pic>
        <p:nvPicPr>
          <p:cNvPr id="3" name="Picture 2" descr="A screenshot of text&#10;&#10;Description generated with very high confidence">
            <a:extLst>
              <a:ext uri="{FF2B5EF4-FFF2-40B4-BE49-F238E27FC236}">
                <a16:creationId xmlns:a16="http://schemas.microsoft.com/office/drawing/2014/main" id="{6A1CB627-B4F0-415C-B7BB-20A47C2C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4500" y="1180465"/>
            <a:ext cx="3696065" cy="4820285"/>
          </a:xfrm>
          <a:prstGeom prst="rect">
            <a:avLst/>
          </a:prstGeom>
        </p:spPr>
      </p:pic>
    </p:spTree>
    <p:extLst>
      <p:ext uri="{BB962C8B-B14F-4D97-AF65-F5344CB8AC3E}">
        <p14:creationId xmlns:p14="http://schemas.microsoft.com/office/powerpoint/2010/main" val="10357100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90500" y="152401"/>
            <a:ext cx="9982200" cy="609599"/>
          </a:xfrm>
        </p:spPr>
        <p:txBody>
          <a:bodyPr>
            <a:normAutofit fontScale="90000"/>
          </a:bodyPr>
          <a:lstStyle/>
          <a:p>
            <a:r>
              <a:rPr lang="en-US" dirty="0"/>
              <a:t>Problems: What makes reviews hard to classify?</a:t>
            </a:r>
          </a:p>
        </p:txBody>
      </p:sp>
      <p:sp>
        <p:nvSpPr>
          <p:cNvPr id="39939" name="Rectangle 3"/>
          <p:cNvSpPr>
            <a:spLocks noGrp="1" noChangeArrowheads="1"/>
          </p:cNvSpPr>
          <p:nvPr>
            <p:ph idx="1"/>
          </p:nvPr>
        </p:nvSpPr>
        <p:spPr/>
        <p:txBody>
          <a:bodyPr/>
          <a:lstStyle/>
          <a:p>
            <a:r>
              <a:rPr lang="en-US" sz="2000" dirty="0"/>
              <a:t>“This film should be </a:t>
            </a:r>
            <a:r>
              <a:rPr lang="en-US" sz="2000" dirty="0">
                <a:solidFill>
                  <a:srgbClr val="0000FF"/>
                </a:solidFill>
              </a:rPr>
              <a:t>brilliant</a:t>
            </a:r>
            <a:r>
              <a:rPr lang="en-US" sz="2000" dirty="0"/>
              <a:t>.  It sounds like a </a:t>
            </a:r>
            <a:r>
              <a:rPr lang="en-US" sz="2000" dirty="0">
                <a:solidFill>
                  <a:srgbClr val="0000FF"/>
                </a:solidFill>
              </a:rPr>
              <a:t>great </a:t>
            </a:r>
            <a:r>
              <a:rPr lang="en-US" sz="2000" dirty="0"/>
              <a:t>plot, the actors are </a:t>
            </a:r>
            <a:r>
              <a:rPr lang="en-US" sz="2000" dirty="0">
                <a:solidFill>
                  <a:srgbClr val="0000FF"/>
                </a:solidFill>
              </a:rPr>
              <a:t>first grade</a:t>
            </a:r>
            <a:r>
              <a:rPr lang="en-US" sz="2000" dirty="0"/>
              <a:t>, and the supporting cast is </a:t>
            </a:r>
            <a:r>
              <a:rPr lang="en-US" sz="2000" dirty="0">
                <a:solidFill>
                  <a:srgbClr val="0000FF"/>
                </a:solidFill>
              </a:rPr>
              <a:t>good </a:t>
            </a:r>
            <a:r>
              <a:rPr lang="en-US" sz="2000" dirty="0"/>
              <a:t>as well, and Stallone is attempting to deliver a good performance. However, it </a:t>
            </a:r>
            <a:r>
              <a:rPr lang="en-US" sz="2000" b="1" dirty="0">
                <a:solidFill>
                  <a:srgbClr val="FF0000"/>
                </a:solidFill>
              </a:rPr>
              <a:t>can’t hold up</a:t>
            </a:r>
            <a:r>
              <a:rPr lang="en-US" sz="2000" dirty="0"/>
              <a:t>.”</a:t>
            </a:r>
          </a:p>
          <a:p>
            <a:pPr lvl="1"/>
            <a:r>
              <a:rPr lang="en-IN" dirty="0"/>
              <a:t>Seems like a positive review but it is not.</a:t>
            </a:r>
            <a:endParaRPr lang="en-US" dirty="0"/>
          </a:p>
          <a:p>
            <a:r>
              <a:rPr lang="en-US" sz="2000" dirty="0"/>
              <a:t>Well as usual Keanu Reeves is nothing special, but surprisingly, the </a:t>
            </a:r>
            <a:r>
              <a:rPr lang="en-US" sz="2000" dirty="0">
                <a:solidFill>
                  <a:srgbClr val="0000FF"/>
                </a:solidFill>
              </a:rPr>
              <a:t>very talented </a:t>
            </a:r>
            <a:r>
              <a:rPr lang="en-US" sz="2000" dirty="0"/>
              <a:t>Laurence </a:t>
            </a:r>
            <a:r>
              <a:rPr lang="en-US" sz="2000" dirty="0" err="1"/>
              <a:t>Fishbourne</a:t>
            </a:r>
            <a:r>
              <a:rPr lang="en-US" sz="2000" dirty="0"/>
              <a:t> is </a:t>
            </a:r>
            <a:r>
              <a:rPr lang="en-US" sz="2000" b="1" dirty="0">
                <a:solidFill>
                  <a:srgbClr val="FF0000"/>
                </a:solidFill>
              </a:rPr>
              <a:t>not so good </a:t>
            </a:r>
            <a:r>
              <a:rPr lang="en-US" sz="2000" dirty="0"/>
              <a:t>either, I was surprised.</a:t>
            </a:r>
          </a:p>
          <a:p>
            <a:pPr lvl="1"/>
            <a:r>
              <a:rPr lang="en-IN" dirty="0"/>
              <a:t>Ordering effect</a:t>
            </a:r>
          </a:p>
          <a:p>
            <a:pPr lvl="1"/>
            <a:r>
              <a:rPr lang="en-IN" dirty="0"/>
              <a:t>Multiple sentiments within same sentence.</a:t>
            </a:r>
          </a:p>
          <a:p>
            <a:r>
              <a:rPr lang="en-US" dirty="0"/>
              <a:t>(Almost) No resources and tools for low/scarce resource languages like Indian languages.</a:t>
            </a:r>
          </a:p>
          <a:p>
            <a:endParaRPr lang="en-US" dirty="0"/>
          </a:p>
          <a:p>
            <a:pPr lvl="1"/>
            <a:endParaRPr lang="en-US" dirty="0"/>
          </a:p>
        </p:txBody>
      </p:sp>
      <p:sp>
        <p:nvSpPr>
          <p:cNvPr id="4" name="Slide Number Placeholder 5"/>
          <p:cNvSpPr>
            <a:spLocks noGrp="1"/>
          </p:cNvSpPr>
          <p:nvPr>
            <p:ph type="sldNum" sz="quarter" idx="4294967295"/>
          </p:nvPr>
        </p:nvSpPr>
        <p:spPr>
          <a:xfrm>
            <a:off x="9829800" y="5772150"/>
            <a:ext cx="457200" cy="228600"/>
          </a:xfrm>
          <a:prstGeom prst="rect">
            <a:avLst/>
          </a:prstGeom>
        </p:spPr>
        <p:txBody>
          <a:bodyPr/>
          <a:lstStyle/>
          <a:p>
            <a:fld id="{DCAB7E93-AD45-C349-8A19-0FCE009C7A3C}" type="slidenum">
              <a:rPr lang="en-US"/>
              <a:pPr/>
              <a:t>54</a:t>
            </a:fld>
            <a:endParaRPr lang="en-US"/>
          </a:p>
        </p:txBody>
      </p:sp>
    </p:spTree>
    <p:extLst>
      <p:ext uri="{BB962C8B-B14F-4D97-AF65-F5344CB8AC3E}">
        <p14:creationId xmlns:p14="http://schemas.microsoft.com/office/powerpoint/2010/main" val="951429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
          <p:cNvSpPr>
            <a:spLocks noGrp="1"/>
          </p:cNvSpPr>
          <p:nvPr>
            <p:ph type="sldNum" sz="quarter" idx="10"/>
          </p:nvPr>
        </p:nvSpPr>
        <p:spPr/>
        <p:txBody>
          <a:bodyPr/>
          <a:lstStyle/>
          <a:p>
            <a:fld id="{3413C071-58E2-4E3D-836B-7D7408C7EF6D}" type="slidenum">
              <a:rPr lang="en-US" altLang="zh-CN"/>
              <a:pPr/>
              <a:t>55</a:t>
            </a:fld>
            <a:endParaRPr lang="en-US" altLang="zh-CN"/>
          </a:p>
        </p:txBody>
      </p:sp>
      <p:sp>
        <p:nvSpPr>
          <p:cNvPr id="2279426" name="Rectangle 2"/>
          <p:cNvSpPr>
            <a:spLocks noGrp="1" noChangeArrowheads="1"/>
          </p:cNvSpPr>
          <p:nvPr>
            <p:ph type="title" idx="4294967295"/>
          </p:nvPr>
        </p:nvSpPr>
        <p:spPr/>
        <p:txBody>
          <a:bodyPr>
            <a:normAutofit fontScale="90000"/>
          </a:bodyPr>
          <a:lstStyle/>
          <a:p>
            <a:r>
              <a:rPr lang="en-US" sz="3800"/>
              <a:t>Sample Review 1</a:t>
            </a:r>
            <a:br>
              <a:rPr lang="en-US" sz="3800"/>
            </a:br>
            <a:r>
              <a:rPr lang="en-US" sz="2900"/>
              <a:t>(This, that and this)</a:t>
            </a:r>
          </a:p>
        </p:txBody>
      </p:sp>
      <p:sp>
        <p:nvSpPr>
          <p:cNvPr id="2279427" name="Rectangle 3"/>
          <p:cNvSpPr>
            <a:spLocks noGrp="1" noChangeArrowheads="1"/>
          </p:cNvSpPr>
          <p:nvPr>
            <p:ph type="body" idx="4294967295"/>
          </p:nvPr>
        </p:nvSpPr>
        <p:spPr/>
        <p:txBody>
          <a:bodyPr/>
          <a:lstStyle/>
          <a:p>
            <a:pPr>
              <a:lnSpc>
                <a:spcPct val="80000"/>
              </a:lnSpc>
            </a:pPr>
            <a:r>
              <a:rPr lang="en-US" sz="1400" dirty="0"/>
              <a:t>FLY E300 is a good mobile which i purchased recently with lots of hesitation. Since this Brand is not familiar in Market as well known as Sony Ericsson. But i found that E300 was cheap with almost all the features for a good mobile. Any other brand with the same set of features would come around 19k Indian </a:t>
            </a:r>
            <a:r>
              <a:rPr lang="en-US" sz="1400" dirty="0" err="1"/>
              <a:t>Ruppees</a:t>
            </a:r>
            <a:r>
              <a:rPr lang="en-US" sz="1400" dirty="0"/>
              <a:t>.. But this one is only 9k.</a:t>
            </a:r>
            <a:br>
              <a:rPr lang="en-US" sz="1400" dirty="0"/>
            </a:br>
            <a:br>
              <a:rPr lang="en-US" sz="1400" dirty="0"/>
            </a:br>
            <a:r>
              <a:rPr lang="en-US" sz="1400" dirty="0"/>
              <a:t>Touch Screen, good resolution, good talk time, 3.2Mega Pixel camera, A2DP, IRDA and so on... </a:t>
            </a:r>
            <a:br>
              <a:rPr lang="en-US" sz="1400" dirty="0"/>
            </a:br>
            <a:br>
              <a:rPr lang="en-US" sz="1400" dirty="0"/>
            </a:br>
            <a:r>
              <a:rPr lang="en-US" sz="1400" dirty="0"/>
              <a:t>BUT BEWARE THAT THE CAMERA IS NOT THAT GOOD, THOUGH IT FEATURES 3.2 MEGA PIXEL, ITS NOT AS GOOD AS MY PREVIOUS MOBILE SONY ERICSSION K750i which is just 2Mega Pixel.</a:t>
            </a:r>
            <a:br>
              <a:rPr lang="en-US" sz="1400" dirty="0"/>
            </a:br>
            <a:br>
              <a:rPr lang="en-US" sz="1400" dirty="0"/>
            </a:br>
            <a:r>
              <a:rPr lang="en-US" sz="1400" dirty="0"/>
              <a:t>Sony </a:t>
            </a:r>
            <a:r>
              <a:rPr lang="en-US" sz="1400" dirty="0" err="1"/>
              <a:t>ericsson</a:t>
            </a:r>
            <a:r>
              <a:rPr lang="en-US" sz="1400" dirty="0"/>
              <a:t> was excellent with the feature of camera. So if anyone is thinking for Camera, please excuse. This model of FLY is not apt for you.. Am fooled in this regard..</a:t>
            </a:r>
            <a:br>
              <a:rPr lang="en-US" sz="1400" dirty="0"/>
            </a:br>
            <a:br>
              <a:rPr lang="en-US" sz="1400" dirty="0"/>
            </a:br>
            <a:r>
              <a:rPr lang="en-US" sz="1400" dirty="0"/>
              <a:t>Audio is not bad, </a:t>
            </a:r>
            <a:r>
              <a:rPr lang="en-US" sz="1400" dirty="0" err="1"/>
              <a:t>infact</a:t>
            </a:r>
            <a:r>
              <a:rPr lang="en-US" sz="1400" dirty="0"/>
              <a:t> better than Sony Ericsson K750i. </a:t>
            </a:r>
            <a:br>
              <a:rPr lang="en-US" sz="1400" dirty="0"/>
            </a:br>
            <a:br>
              <a:rPr lang="en-US" sz="1400" dirty="0"/>
            </a:br>
            <a:r>
              <a:rPr lang="en-US" sz="1400" dirty="0"/>
              <a:t>FLY is not user friendly probably since we have just started to use this Brand.</a:t>
            </a:r>
          </a:p>
        </p:txBody>
      </p:sp>
      <p:sp>
        <p:nvSpPr>
          <p:cNvPr id="73732" name="Oval 4"/>
          <p:cNvSpPr>
            <a:spLocks noChangeArrowheads="1"/>
          </p:cNvSpPr>
          <p:nvPr/>
        </p:nvSpPr>
        <p:spPr bwMode="auto">
          <a:xfrm>
            <a:off x="800100" y="1600200"/>
            <a:ext cx="1676400" cy="533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733" name="Line 5"/>
          <p:cNvSpPr>
            <a:spLocks noChangeShapeType="1"/>
          </p:cNvSpPr>
          <p:nvPr/>
        </p:nvSpPr>
        <p:spPr bwMode="auto">
          <a:xfrm flipV="1">
            <a:off x="2476500" y="1219200"/>
            <a:ext cx="2057400" cy="685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34" name="Rectangle 6"/>
          <p:cNvSpPr>
            <a:spLocks noChangeArrowheads="1"/>
          </p:cNvSpPr>
          <p:nvPr/>
        </p:nvSpPr>
        <p:spPr bwMode="auto">
          <a:xfrm>
            <a:off x="4381500" y="533400"/>
            <a:ext cx="3581400" cy="1066800"/>
          </a:xfrm>
          <a:prstGeom prst="rect">
            <a:avLst/>
          </a:prstGeom>
          <a:solidFill>
            <a:srgbClr val="FF0000"/>
          </a:solidFill>
          <a:ln w="38100">
            <a:solidFill>
              <a:schemeClr val="bg1"/>
            </a:solidFill>
            <a:miter lim="800000"/>
            <a:headEnd/>
            <a:tailEnd/>
          </a:ln>
        </p:spPr>
        <p:txBody>
          <a:bodyPr wrap="none" anchor="ctr"/>
          <a:lstStyle/>
          <a:p>
            <a:pPr algn="ctr"/>
            <a:r>
              <a:rPr lang="en-US" b="1">
                <a:solidFill>
                  <a:schemeClr val="bg1"/>
                </a:solidFill>
              </a:rPr>
              <a:t>‘Touch screen’ today signifies</a:t>
            </a:r>
          </a:p>
          <a:p>
            <a:pPr algn="ctr"/>
            <a:r>
              <a:rPr lang="en-US" b="1">
                <a:solidFill>
                  <a:schemeClr val="bg1"/>
                </a:solidFill>
              </a:rPr>
              <a:t>a positive feature. </a:t>
            </a:r>
          </a:p>
          <a:p>
            <a:pPr algn="ctr"/>
            <a:r>
              <a:rPr lang="en-US" b="1">
                <a:solidFill>
                  <a:schemeClr val="bg1"/>
                </a:solidFill>
              </a:rPr>
              <a:t>Will it be the same in the future?</a:t>
            </a:r>
          </a:p>
        </p:txBody>
      </p:sp>
      <p:sp>
        <p:nvSpPr>
          <p:cNvPr id="73735" name="Oval 7"/>
          <p:cNvSpPr>
            <a:spLocks noChangeArrowheads="1"/>
          </p:cNvSpPr>
          <p:nvPr/>
        </p:nvSpPr>
        <p:spPr bwMode="auto">
          <a:xfrm>
            <a:off x="1866900" y="2743200"/>
            <a:ext cx="1676400" cy="533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736" name="Line 8"/>
          <p:cNvSpPr>
            <a:spLocks noChangeShapeType="1"/>
          </p:cNvSpPr>
          <p:nvPr/>
        </p:nvSpPr>
        <p:spPr bwMode="auto">
          <a:xfrm flipV="1">
            <a:off x="3543300" y="2514600"/>
            <a:ext cx="2286000" cy="5334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37" name="Rectangle 9"/>
          <p:cNvSpPr>
            <a:spLocks noChangeArrowheads="1"/>
          </p:cNvSpPr>
          <p:nvPr/>
        </p:nvSpPr>
        <p:spPr bwMode="auto">
          <a:xfrm>
            <a:off x="5829300" y="1828800"/>
            <a:ext cx="3200400" cy="1066800"/>
          </a:xfrm>
          <a:prstGeom prst="rect">
            <a:avLst/>
          </a:prstGeom>
          <a:solidFill>
            <a:srgbClr val="FF0000"/>
          </a:solidFill>
          <a:ln w="38100">
            <a:solidFill>
              <a:schemeClr val="bg1"/>
            </a:solidFill>
            <a:miter lim="800000"/>
            <a:headEnd/>
            <a:tailEnd/>
          </a:ln>
        </p:spPr>
        <p:txBody>
          <a:bodyPr wrap="none" anchor="ctr"/>
          <a:lstStyle/>
          <a:p>
            <a:pPr algn="ctr"/>
            <a:r>
              <a:rPr lang="en-US" b="1">
                <a:solidFill>
                  <a:schemeClr val="bg1"/>
                </a:solidFill>
              </a:rPr>
              <a:t>Comparing old products</a:t>
            </a:r>
          </a:p>
        </p:txBody>
      </p:sp>
      <p:sp>
        <p:nvSpPr>
          <p:cNvPr id="73738" name="Oval 10"/>
          <p:cNvSpPr>
            <a:spLocks noChangeArrowheads="1"/>
          </p:cNvSpPr>
          <p:nvPr/>
        </p:nvSpPr>
        <p:spPr bwMode="auto">
          <a:xfrm>
            <a:off x="2476500" y="3441700"/>
            <a:ext cx="1676400" cy="533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739" name="Line 11"/>
          <p:cNvSpPr>
            <a:spLocks noChangeShapeType="1"/>
          </p:cNvSpPr>
          <p:nvPr/>
        </p:nvSpPr>
        <p:spPr bwMode="auto">
          <a:xfrm>
            <a:off x="4152900" y="3748088"/>
            <a:ext cx="1447800" cy="36671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0" name="Rectangle 12"/>
          <p:cNvSpPr>
            <a:spLocks noChangeArrowheads="1"/>
          </p:cNvSpPr>
          <p:nvPr/>
        </p:nvSpPr>
        <p:spPr bwMode="auto">
          <a:xfrm>
            <a:off x="5600700" y="3429000"/>
            <a:ext cx="3581400" cy="1066800"/>
          </a:xfrm>
          <a:prstGeom prst="rect">
            <a:avLst/>
          </a:prstGeom>
          <a:solidFill>
            <a:srgbClr val="FF0000"/>
          </a:solidFill>
          <a:ln w="38100">
            <a:solidFill>
              <a:schemeClr val="bg1"/>
            </a:solidFill>
            <a:miter lim="800000"/>
            <a:headEnd/>
            <a:tailEnd/>
          </a:ln>
        </p:spPr>
        <p:txBody>
          <a:bodyPr wrap="none" anchor="ctr"/>
          <a:lstStyle/>
          <a:p>
            <a:pPr algn="ctr"/>
            <a:r>
              <a:rPr lang="en-US" b="1">
                <a:solidFill>
                  <a:schemeClr val="bg1"/>
                </a:solidFill>
              </a:rPr>
              <a:t>The confused conclusion</a:t>
            </a:r>
          </a:p>
        </p:txBody>
      </p:sp>
      <p:sp>
        <p:nvSpPr>
          <p:cNvPr id="2279437" name="Text Box 13"/>
          <p:cNvSpPr txBox="1">
            <a:spLocks noChangeArrowheads="1"/>
          </p:cNvSpPr>
          <p:nvPr/>
        </p:nvSpPr>
        <p:spPr bwMode="auto">
          <a:xfrm>
            <a:off x="5143500" y="6096001"/>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pPr>
              <a:spcBef>
                <a:spcPct val="50000"/>
              </a:spcBef>
            </a:pPr>
            <a:r>
              <a:rPr lang="en-US"/>
              <a:t>From: www.mouthshut.com</a:t>
            </a:r>
          </a:p>
        </p:txBody>
      </p:sp>
    </p:spTree>
    <p:extLst>
      <p:ext uri="{BB962C8B-B14F-4D97-AF65-F5344CB8AC3E}">
        <p14:creationId xmlns:p14="http://schemas.microsoft.com/office/powerpoint/2010/main" val="41107457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3734"/>
                                        </p:tgtEl>
                                        <p:attrNameLst>
                                          <p:attrName>style.visibility</p:attrName>
                                        </p:attrNameLst>
                                      </p:cBhvr>
                                      <p:to>
                                        <p:strVal val="visible"/>
                                      </p:to>
                                    </p:set>
                                    <p:animEffect transition="in" filter="fade">
                                      <p:cBhvr>
                                        <p:cTn id="7" dur="500"/>
                                        <p:tgtEl>
                                          <p:spTgt spid="737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3733"/>
                                        </p:tgtEl>
                                        <p:attrNameLst>
                                          <p:attrName>style.visibility</p:attrName>
                                        </p:attrNameLst>
                                      </p:cBhvr>
                                      <p:to>
                                        <p:strVal val="visible"/>
                                      </p:to>
                                    </p:set>
                                    <p:animEffect transition="in" filter="fade">
                                      <p:cBhvr>
                                        <p:cTn id="10" dur="500"/>
                                        <p:tgtEl>
                                          <p:spTgt spid="737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3732"/>
                                        </p:tgtEl>
                                        <p:attrNameLst>
                                          <p:attrName>style.visibility</p:attrName>
                                        </p:attrNameLst>
                                      </p:cBhvr>
                                      <p:to>
                                        <p:strVal val="visible"/>
                                      </p:to>
                                    </p:set>
                                    <p:animEffect transition="in" filter="fade">
                                      <p:cBhvr>
                                        <p:cTn id="13" dur="500"/>
                                        <p:tgtEl>
                                          <p:spTgt spid="7373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xit" presetSubtype="0" fill="hold" grpId="1" nodeType="clickEffect">
                                  <p:stCondLst>
                                    <p:cond delay="0"/>
                                  </p:stCondLst>
                                  <p:childTnLst>
                                    <p:animEffect transition="out" filter="fade">
                                      <p:cBhvr>
                                        <p:cTn id="17" dur="500"/>
                                        <p:tgtEl>
                                          <p:spTgt spid="73734"/>
                                        </p:tgtEl>
                                      </p:cBhvr>
                                    </p:animEffect>
                                    <p:set>
                                      <p:cBhvr>
                                        <p:cTn id="18" dur="1" fill="hold">
                                          <p:stCondLst>
                                            <p:cond delay="499"/>
                                          </p:stCondLst>
                                        </p:cTn>
                                        <p:tgtEl>
                                          <p:spTgt spid="73734"/>
                                        </p:tgtEl>
                                        <p:attrNameLst>
                                          <p:attrName>style.visibility</p:attrName>
                                        </p:attrNameLst>
                                      </p:cBhvr>
                                      <p:to>
                                        <p:strVal val="hidden"/>
                                      </p:to>
                                    </p:set>
                                  </p:childTnLst>
                                </p:cTn>
                              </p:par>
                              <p:par>
                                <p:cTn id="19" presetID="10" presetClass="exit" presetSubtype="0" fill="hold" grpId="1" nodeType="withEffect">
                                  <p:stCondLst>
                                    <p:cond delay="0"/>
                                  </p:stCondLst>
                                  <p:childTnLst>
                                    <p:animEffect transition="out" filter="fade">
                                      <p:cBhvr>
                                        <p:cTn id="20" dur="500"/>
                                        <p:tgtEl>
                                          <p:spTgt spid="73733"/>
                                        </p:tgtEl>
                                      </p:cBhvr>
                                    </p:animEffect>
                                    <p:set>
                                      <p:cBhvr>
                                        <p:cTn id="21" dur="1" fill="hold">
                                          <p:stCondLst>
                                            <p:cond delay="499"/>
                                          </p:stCondLst>
                                        </p:cTn>
                                        <p:tgtEl>
                                          <p:spTgt spid="73733"/>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73732"/>
                                        </p:tgtEl>
                                      </p:cBhvr>
                                    </p:animEffect>
                                    <p:set>
                                      <p:cBhvr>
                                        <p:cTn id="24" dur="1" fill="hold">
                                          <p:stCondLst>
                                            <p:cond delay="499"/>
                                          </p:stCondLst>
                                        </p:cTn>
                                        <p:tgtEl>
                                          <p:spTgt spid="73732"/>
                                        </p:tgtEl>
                                        <p:attrNameLst>
                                          <p:attrName>style.visibility</p:attrName>
                                        </p:attrNameLst>
                                      </p:cBhvr>
                                      <p:to>
                                        <p:strVal val="hidden"/>
                                      </p:to>
                                    </p:set>
                                  </p:childTnLst>
                                </p:cTn>
                              </p:par>
                            </p:childTnLst>
                          </p:cTn>
                        </p:par>
                        <p:par>
                          <p:cTn id="25" fill="hold" nodeType="afterGroup">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73737"/>
                                        </p:tgtEl>
                                        <p:attrNameLst>
                                          <p:attrName>style.visibility</p:attrName>
                                        </p:attrNameLst>
                                      </p:cBhvr>
                                      <p:to>
                                        <p:strVal val="visible"/>
                                      </p:to>
                                    </p:set>
                                    <p:animEffect transition="in" filter="fade">
                                      <p:cBhvr>
                                        <p:cTn id="28" dur="500"/>
                                        <p:tgtEl>
                                          <p:spTgt spid="737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3736"/>
                                        </p:tgtEl>
                                        <p:attrNameLst>
                                          <p:attrName>style.visibility</p:attrName>
                                        </p:attrNameLst>
                                      </p:cBhvr>
                                      <p:to>
                                        <p:strVal val="visible"/>
                                      </p:to>
                                    </p:set>
                                    <p:animEffect transition="in" filter="fade">
                                      <p:cBhvr>
                                        <p:cTn id="31" dur="500"/>
                                        <p:tgtEl>
                                          <p:spTgt spid="737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3735"/>
                                        </p:tgtEl>
                                        <p:attrNameLst>
                                          <p:attrName>style.visibility</p:attrName>
                                        </p:attrNameLst>
                                      </p:cBhvr>
                                      <p:to>
                                        <p:strVal val="visible"/>
                                      </p:to>
                                    </p:set>
                                    <p:animEffect transition="in" filter="fade">
                                      <p:cBhvr>
                                        <p:cTn id="34" dur="500"/>
                                        <p:tgtEl>
                                          <p:spTgt spid="7373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xit" presetSubtype="0" fill="hold" grpId="1" nodeType="clickEffect">
                                  <p:stCondLst>
                                    <p:cond delay="0"/>
                                  </p:stCondLst>
                                  <p:childTnLst>
                                    <p:animEffect transition="out" filter="fade">
                                      <p:cBhvr>
                                        <p:cTn id="38" dur="500"/>
                                        <p:tgtEl>
                                          <p:spTgt spid="73737"/>
                                        </p:tgtEl>
                                      </p:cBhvr>
                                    </p:animEffect>
                                    <p:set>
                                      <p:cBhvr>
                                        <p:cTn id="39" dur="1" fill="hold">
                                          <p:stCondLst>
                                            <p:cond delay="499"/>
                                          </p:stCondLst>
                                        </p:cTn>
                                        <p:tgtEl>
                                          <p:spTgt spid="73737"/>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500"/>
                                        <p:tgtEl>
                                          <p:spTgt spid="73736"/>
                                        </p:tgtEl>
                                      </p:cBhvr>
                                    </p:animEffect>
                                    <p:set>
                                      <p:cBhvr>
                                        <p:cTn id="42" dur="1" fill="hold">
                                          <p:stCondLst>
                                            <p:cond delay="499"/>
                                          </p:stCondLst>
                                        </p:cTn>
                                        <p:tgtEl>
                                          <p:spTgt spid="73736"/>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500"/>
                                        <p:tgtEl>
                                          <p:spTgt spid="73735"/>
                                        </p:tgtEl>
                                      </p:cBhvr>
                                    </p:animEffect>
                                    <p:set>
                                      <p:cBhvr>
                                        <p:cTn id="45" dur="1" fill="hold">
                                          <p:stCondLst>
                                            <p:cond delay="499"/>
                                          </p:stCondLst>
                                        </p:cTn>
                                        <p:tgtEl>
                                          <p:spTgt spid="73735"/>
                                        </p:tgtEl>
                                        <p:attrNameLst>
                                          <p:attrName>style.visibility</p:attrName>
                                        </p:attrNameLst>
                                      </p:cBhvr>
                                      <p:to>
                                        <p:strVal val="hidden"/>
                                      </p:to>
                                    </p:set>
                                  </p:childTnLst>
                                </p:cTn>
                              </p:par>
                            </p:childTnLst>
                          </p:cTn>
                        </p:par>
                        <p:par>
                          <p:cTn id="46" fill="hold" nodeType="afterGroup">
                            <p:stCondLst>
                              <p:cond delay="500"/>
                            </p:stCondLst>
                            <p:childTnLst>
                              <p:par>
                                <p:cTn id="47" presetID="10" presetClass="entr" presetSubtype="0" fill="hold" grpId="0" nodeType="afterEffect">
                                  <p:stCondLst>
                                    <p:cond delay="0"/>
                                  </p:stCondLst>
                                  <p:childTnLst>
                                    <p:set>
                                      <p:cBhvr>
                                        <p:cTn id="48" dur="1" fill="hold">
                                          <p:stCondLst>
                                            <p:cond delay="0"/>
                                          </p:stCondLst>
                                        </p:cTn>
                                        <p:tgtEl>
                                          <p:spTgt spid="73740"/>
                                        </p:tgtEl>
                                        <p:attrNameLst>
                                          <p:attrName>style.visibility</p:attrName>
                                        </p:attrNameLst>
                                      </p:cBhvr>
                                      <p:to>
                                        <p:strVal val="visible"/>
                                      </p:to>
                                    </p:set>
                                    <p:animEffect transition="in" filter="fade">
                                      <p:cBhvr>
                                        <p:cTn id="49" dur="500"/>
                                        <p:tgtEl>
                                          <p:spTgt spid="737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3739"/>
                                        </p:tgtEl>
                                        <p:attrNameLst>
                                          <p:attrName>style.visibility</p:attrName>
                                        </p:attrNameLst>
                                      </p:cBhvr>
                                      <p:to>
                                        <p:strVal val="visible"/>
                                      </p:to>
                                    </p:set>
                                    <p:animEffect transition="in" filter="fade">
                                      <p:cBhvr>
                                        <p:cTn id="52" dur="500"/>
                                        <p:tgtEl>
                                          <p:spTgt spid="7373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3738"/>
                                        </p:tgtEl>
                                        <p:attrNameLst>
                                          <p:attrName>style.visibility</p:attrName>
                                        </p:attrNameLst>
                                      </p:cBhvr>
                                      <p:to>
                                        <p:strVal val="visible"/>
                                      </p:to>
                                    </p:set>
                                    <p:animEffect transition="in" filter="fade">
                                      <p:cBhvr>
                                        <p:cTn id="55" dur="500"/>
                                        <p:tgtEl>
                                          <p:spTgt spid="7373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xit" presetSubtype="0" fill="hold" grpId="1" nodeType="clickEffect">
                                  <p:stCondLst>
                                    <p:cond delay="0"/>
                                  </p:stCondLst>
                                  <p:childTnLst>
                                    <p:animEffect transition="out" filter="fade">
                                      <p:cBhvr>
                                        <p:cTn id="59" dur="500"/>
                                        <p:tgtEl>
                                          <p:spTgt spid="73740"/>
                                        </p:tgtEl>
                                      </p:cBhvr>
                                    </p:animEffect>
                                    <p:set>
                                      <p:cBhvr>
                                        <p:cTn id="60" dur="1" fill="hold">
                                          <p:stCondLst>
                                            <p:cond delay="499"/>
                                          </p:stCondLst>
                                        </p:cTn>
                                        <p:tgtEl>
                                          <p:spTgt spid="73740"/>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500"/>
                                        <p:tgtEl>
                                          <p:spTgt spid="73739"/>
                                        </p:tgtEl>
                                      </p:cBhvr>
                                    </p:animEffect>
                                    <p:set>
                                      <p:cBhvr>
                                        <p:cTn id="63" dur="1" fill="hold">
                                          <p:stCondLst>
                                            <p:cond delay="499"/>
                                          </p:stCondLst>
                                        </p:cTn>
                                        <p:tgtEl>
                                          <p:spTgt spid="73739"/>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73738"/>
                                        </p:tgtEl>
                                      </p:cBhvr>
                                    </p:animEffect>
                                    <p:set>
                                      <p:cBhvr>
                                        <p:cTn id="66" dur="1" fill="hold">
                                          <p:stCondLst>
                                            <p:cond delay="499"/>
                                          </p:stCondLst>
                                        </p:cTn>
                                        <p:tgtEl>
                                          <p:spTgt spid="737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animBg="1"/>
      <p:bldP spid="73732" grpId="1" animBg="1"/>
      <p:bldP spid="73733" grpId="0" animBg="1"/>
      <p:bldP spid="73733" grpId="1" animBg="1"/>
      <p:bldP spid="73734" grpId="0" animBg="1"/>
      <p:bldP spid="73734" grpId="1" animBg="1"/>
      <p:bldP spid="73735" grpId="0" animBg="1"/>
      <p:bldP spid="73735" grpId="1" animBg="1"/>
      <p:bldP spid="73736" grpId="0" animBg="1"/>
      <p:bldP spid="73736" grpId="1" animBg="1"/>
      <p:bldP spid="73737" grpId="0" animBg="1"/>
      <p:bldP spid="73737" grpId="1" animBg="1"/>
      <p:bldP spid="73738" grpId="0" animBg="1"/>
      <p:bldP spid="73738" grpId="1" animBg="1"/>
      <p:bldP spid="73739" grpId="0" animBg="1"/>
      <p:bldP spid="73739" grpId="1" animBg="1"/>
      <p:bldP spid="73740" grpId="0" animBg="1"/>
      <p:bldP spid="73740"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fld id="{4256E0A6-F6E9-45F9-B60D-51CCC71EB5F4}" type="slidenum">
              <a:rPr lang="en-US" altLang="zh-CN"/>
              <a:pPr/>
              <a:t>56</a:t>
            </a:fld>
            <a:endParaRPr lang="en-US" altLang="zh-CN"/>
          </a:p>
        </p:txBody>
      </p:sp>
      <p:sp>
        <p:nvSpPr>
          <p:cNvPr id="2280450" name="Rectangle 2"/>
          <p:cNvSpPr>
            <a:spLocks noGrp="1" noChangeArrowheads="1"/>
          </p:cNvSpPr>
          <p:nvPr>
            <p:ph type="title" idx="4294967295"/>
          </p:nvPr>
        </p:nvSpPr>
        <p:spPr>
          <a:xfrm>
            <a:off x="190500" y="152400"/>
            <a:ext cx="8210550" cy="1066799"/>
          </a:xfrm>
        </p:spPr>
        <p:txBody>
          <a:bodyPr>
            <a:normAutofit fontScale="90000"/>
          </a:bodyPr>
          <a:lstStyle/>
          <a:p>
            <a:r>
              <a:rPr lang="en-US" sz="3800" dirty="0"/>
              <a:t>Sample Review 2 (Noise)</a:t>
            </a:r>
            <a:br>
              <a:rPr lang="en-US" sz="3800" dirty="0"/>
            </a:br>
            <a:endParaRPr lang="en-US" sz="2900" dirty="0"/>
          </a:p>
        </p:txBody>
      </p:sp>
      <p:sp>
        <p:nvSpPr>
          <p:cNvPr id="2280451" name="Rectangle 3"/>
          <p:cNvSpPr>
            <a:spLocks noGrp="1" noChangeArrowheads="1"/>
          </p:cNvSpPr>
          <p:nvPr>
            <p:ph type="body" idx="4294967295"/>
          </p:nvPr>
        </p:nvSpPr>
        <p:spPr/>
        <p:txBody>
          <a:bodyPr/>
          <a:lstStyle/>
          <a:p>
            <a:pPr>
              <a:lnSpc>
                <a:spcPct val="80000"/>
              </a:lnSpc>
              <a:buFont typeface="Wingdings" pitchFamily="2" charset="2"/>
              <a:buNone/>
            </a:pPr>
            <a:r>
              <a:rPr lang="en-US" sz="2000"/>
              <a:t> Hi,</a:t>
            </a:r>
            <a:br>
              <a:rPr lang="en-US" sz="2000"/>
            </a:br>
            <a:br>
              <a:rPr lang="en-US" sz="2000"/>
            </a:br>
            <a:r>
              <a:rPr lang="en-US" sz="2000"/>
              <a:t>   I have Haier phone.. It was good when i was buing this phone.. But I invented  A lot of bad features by this phone those are It’s cost is low but Software is not good and Battery is very bad..,,Ther are no signals at out side of the city..,, People can’t understand this type of software..,, There aren’t features in this phone, Design is better not good..,, Sound also bad..So I’m not intrest this side.They are giving heare phones it is good. They are giving more talktime and validity these are  also good.They are giving colour screen at display time it is also good because other phones aren’t this type of feature.It is also low wait. </a:t>
            </a:r>
          </a:p>
          <a:p>
            <a:pPr>
              <a:lnSpc>
                <a:spcPct val="80000"/>
              </a:lnSpc>
            </a:pPr>
            <a:endParaRPr lang="en-US" sz="2000"/>
          </a:p>
        </p:txBody>
      </p:sp>
      <p:sp>
        <p:nvSpPr>
          <p:cNvPr id="74756" name="Oval 4"/>
          <p:cNvSpPr>
            <a:spLocks noChangeArrowheads="1"/>
          </p:cNvSpPr>
          <p:nvPr/>
        </p:nvSpPr>
        <p:spPr bwMode="auto">
          <a:xfrm>
            <a:off x="3049732" y="1447800"/>
            <a:ext cx="1676400" cy="533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757" name="Line 5"/>
          <p:cNvSpPr>
            <a:spLocks noChangeShapeType="1"/>
          </p:cNvSpPr>
          <p:nvPr/>
        </p:nvSpPr>
        <p:spPr bwMode="auto">
          <a:xfrm>
            <a:off x="4649932" y="1917700"/>
            <a:ext cx="1524000" cy="1397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58" name="Rectangle 6"/>
          <p:cNvSpPr>
            <a:spLocks noChangeArrowheads="1"/>
          </p:cNvSpPr>
          <p:nvPr/>
        </p:nvSpPr>
        <p:spPr bwMode="auto">
          <a:xfrm>
            <a:off x="6173932" y="1498600"/>
            <a:ext cx="3581400" cy="1066800"/>
          </a:xfrm>
          <a:prstGeom prst="rect">
            <a:avLst/>
          </a:prstGeom>
          <a:solidFill>
            <a:srgbClr val="FF0000"/>
          </a:solidFill>
          <a:ln w="38100">
            <a:solidFill>
              <a:schemeClr val="bg1"/>
            </a:solidFill>
            <a:miter lim="800000"/>
            <a:headEnd/>
            <a:tailEnd/>
          </a:ln>
        </p:spPr>
        <p:txBody>
          <a:bodyPr wrap="none" anchor="ctr"/>
          <a:lstStyle/>
          <a:p>
            <a:pPr algn="ctr"/>
            <a:r>
              <a:rPr lang="en-US" b="1" dirty="0">
                <a:solidFill>
                  <a:schemeClr val="bg1"/>
                </a:solidFill>
              </a:rPr>
              <a:t>Lack of punctuation marks,</a:t>
            </a:r>
          </a:p>
          <a:p>
            <a:pPr algn="ctr"/>
            <a:r>
              <a:rPr lang="en-US" b="1" dirty="0">
                <a:solidFill>
                  <a:schemeClr val="bg1"/>
                </a:solidFill>
              </a:rPr>
              <a:t>Grammatical errors</a:t>
            </a:r>
          </a:p>
        </p:txBody>
      </p:sp>
      <p:sp>
        <p:nvSpPr>
          <p:cNvPr id="2280458" name="Text Box 10"/>
          <p:cNvSpPr txBox="1">
            <a:spLocks noChangeArrowheads="1"/>
          </p:cNvSpPr>
          <p:nvPr/>
        </p:nvSpPr>
        <p:spPr bwMode="auto">
          <a:xfrm>
            <a:off x="5143500" y="6096001"/>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pPr>
              <a:spcBef>
                <a:spcPct val="50000"/>
              </a:spcBef>
            </a:pPr>
            <a:r>
              <a:rPr lang="en-US"/>
              <a:t>From: www.mouthshut.com</a:t>
            </a:r>
          </a:p>
        </p:txBody>
      </p:sp>
    </p:spTree>
    <p:extLst>
      <p:ext uri="{BB962C8B-B14F-4D97-AF65-F5344CB8AC3E}">
        <p14:creationId xmlns:p14="http://schemas.microsoft.com/office/powerpoint/2010/main" val="3705197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4758"/>
                                        </p:tgtEl>
                                        <p:attrNameLst>
                                          <p:attrName>style.visibility</p:attrName>
                                        </p:attrNameLst>
                                      </p:cBhvr>
                                      <p:to>
                                        <p:strVal val="visible"/>
                                      </p:to>
                                    </p:set>
                                    <p:animEffect transition="in" filter="fade">
                                      <p:cBhvr>
                                        <p:cTn id="7" dur="500"/>
                                        <p:tgtEl>
                                          <p:spTgt spid="7475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4757"/>
                                        </p:tgtEl>
                                        <p:attrNameLst>
                                          <p:attrName>style.visibility</p:attrName>
                                        </p:attrNameLst>
                                      </p:cBhvr>
                                      <p:to>
                                        <p:strVal val="visible"/>
                                      </p:to>
                                    </p:set>
                                    <p:animEffect transition="in" filter="fade">
                                      <p:cBhvr>
                                        <p:cTn id="10" dur="500"/>
                                        <p:tgtEl>
                                          <p:spTgt spid="7475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4756"/>
                                        </p:tgtEl>
                                        <p:attrNameLst>
                                          <p:attrName>style.visibility</p:attrName>
                                        </p:attrNameLst>
                                      </p:cBhvr>
                                      <p:to>
                                        <p:strVal val="visible"/>
                                      </p:to>
                                    </p:set>
                                    <p:animEffect transition="in" filter="fade">
                                      <p:cBhvr>
                                        <p:cTn id="13" dur="500"/>
                                        <p:tgtEl>
                                          <p:spTgt spid="7475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xit" presetSubtype="0" fill="hold" grpId="1" nodeType="clickEffect">
                                  <p:stCondLst>
                                    <p:cond delay="0"/>
                                  </p:stCondLst>
                                  <p:childTnLst>
                                    <p:animEffect transition="out" filter="fade">
                                      <p:cBhvr>
                                        <p:cTn id="17" dur="500"/>
                                        <p:tgtEl>
                                          <p:spTgt spid="74758"/>
                                        </p:tgtEl>
                                      </p:cBhvr>
                                    </p:animEffect>
                                    <p:set>
                                      <p:cBhvr>
                                        <p:cTn id="18" dur="1" fill="hold">
                                          <p:stCondLst>
                                            <p:cond delay="499"/>
                                          </p:stCondLst>
                                        </p:cTn>
                                        <p:tgtEl>
                                          <p:spTgt spid="74758"/>
                                        </p:tgtEl>
                                        <p:attrNameLst>
                                          <p:attrName>style.visibility</p:attrName>
                                        </p:attrNameLst>
                                      </p:cBhvr>
                                      <p:to>
                                        <p:strVal val="hidden"/>
                                      </p:to>
                                    </p:set>
                                  </p:childTnLst>
                                </p:cTn>
                              </p:par>
                              <p:par>
                                <p:cTn id="19" presetID="10" presetClass="exit" presetSubtype="0" fill="hold" grpId="1" nodeType="withEffect">
                                  <p:stCondLst>
                                    <p:cond delay="0"/>
                                  </p:stCondLst>
                                  <p:childTnLst>
                                    <p:animEffect transition="out" filter="fade">
                                      <p:cBhvr>
                                        <p:cTn id="20" dur="500"/>
                                        <p:tgtEl>
                                          <p:spTgt spid="74757"/>
                                        </p:tgtEl>
                                      </p:cBhvr>
                                    </p:animEffect>
                                    <p:set>
                                      <p:cBhvr>
                                        <p:cTn id="21" dur="1" fill="hold">
                                          <p:stCondLst>
                                            <p:cond delay="499"/>
                                          </p:stCondLst>
                                        </p:cTn>
                                        <p:tgtEl>
                                          <p:spTgt spid="74757"/>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74756"/>
                                        </p:tgtEl>
                                      </p:cBhvr>
                                    </p:animEffect>
                                    <p:set>
                                      <p:cBhvr>
                                        <p:cTn id="24" dur="1" fill="hold">
                                          <p:stCondLst>
                                            <p:cond delay="499"/>
                                          </p:stCondLst>
                                        </p:cTn>
                                        <p:tgtEl>
                                          <p:spTgt spid="747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animBg="1"/>
      <p:bldP spid="74756" grpId="1" animBg="1"/>
      <p:bldP spid="74757" grpId="0" animBg="1"/>
      <p:bldP spid="74757" grpId="1" animBg="1"/>
      <p:bldP spid="74758" grpId="0" animBg="1"/>
      <p:bldP spid="74758"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fld id="{71A7FA71-5815-463B-BFAD-0098F029C37E}" type="slidenum">
              <a:rPr lang="en-US" altLang="zh-CN"/>
              <a:pPr/>
              <a:t>57</a:t>
            </a:fld>
            <a:endParaRPr lang="en-US" altLang="zh-CN"/>
          </a:p>
        </p:txBody>
      </p:sp>
      <p:sp>
        <p:nvSpPr>
          <p:cNvPr id="2281474" name="Rectangle 2"/>
          <p:cNvSpPr>
            <a:spLocks noGrp="1" noChangeArrowheads="1"/>
          </p:cNvSpPr>
          <p:nvPr>
            <p:ph type="title" idx="4294967295"/>
          </p:nvPr>
        </p:nvSpPr>
        <p:spPr>
          <a:xfrm>
            <a:off x="514350" y="91281"/>
            <a:ext cx="8229600" cy="1143000"/>
          </a:xfrm>
        </p:spPr>
        <p:txBody>
          <a:bodyPr>
            <a:normAutofit fontScale="90000"/>
          </a:bodyPr>
          <a:lstStyle/>
          <a:p>
            <a:r>
              <a:rPr lang="en-US" sz="3800" dirty="0"/>
              <a:t>Sample Review 3 </a:t>
            </a:r>
            <a:r>
              <a:rPr lang="en-US" sz="2900" dirty="0"/>
              <a:t>(Alternating sentiments)</a:t>
            </a:r>
            <a:br>
              <a:rPr lang="en-US" sz="2900" dirty="0"/>
            </a:br>
            <a:endParaRPr lang="en-US" sz="2900" dirty="0"/>
          </a:p>
        </p:txBody>
      </p:sp>
      <p:sp>
        <p:nvSpPr>
          <p:cNvPr id="2281475" name="Rectangle 3"/>
          <p:cNvSpPr>
            <a:spLocks noGrp="1" noChangeArrowheads="1"/>
          </p:cNvSpPr>
          <p:nvPr>
            <p:ph type="body" idx="4294967295"/>
          </p:nvPr>
        </p:nvSpPr>
        <p:spPr/>
        <p:txBody>
          <a:bodyPr/>
          <a:lstStyle/>
          <a:p>
            <a:pPr>
              <a:lnSpc>
                <a:spcPct val="80000"/>
              </a:lnSpc>
              <a:buFont typeface="Wingdings" pitchFamily="2" charset="2"/>
              <a:buNone/>
            </a:pPr>
            <a:r>
              <a:rPr lang="en-US" sz="2400"/>
              <a:t>I suggest that instead of fillings songs in tunes you should fill tunes (not made of songs) only. The phone has good popularity in old age people. Third i had tried much for its data cable but i find it nowhere. It should be supplied with set with some extra cost. </a:t>
            </a:r>
          </a:p>
          <a:p>
            <a:pPr>
              <a:lnSpc>
                <a:spcPct val="80000"/>
              </a:lnSpc>
              <a:buFont typeface="Wingdings" pitchFamily="2" charset="2"/>
              <a:buNone/>
            </a:pPr>
            <a:r>
              <a:rPr lang="en-US" sz="2400"/>
              <a:t>Good features of this phone are its cheapest price and durability . It should have some features more than nokia 1200. it is easily available in market and repair is also available </a:t>
            </a:r>
            <a:endParaRPr lang="en-US" sz="1800"/>
          </a:p>
          <a:p>
            <a:pPr>
              <a:lnSpc>
                <a:spcPct val="80000"/>
              </a:lnSpc>
            </a:pPr>
            <a:endParaRPr lang="en-US" sz="1800"/>
          </a:p>
        </p:txBody>
      </p:sp>
      <p:sp>
        <p:nvSpPr>
          <p:cNvPr id="2281476" name="Text Box 10"/>
          <p:cNvSpPr txBox="1">
            <a:spLocks noChangeArrowheads="1"/>
          </p:cNvSpPr>
          <p:nvPr/>
        </p:nvSpPr>
        <p:spPr bwMode="auto">
          <a:xfrm>
            <a:off x="5143500" y="6096001"/>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pPr>
              <a:spcBef>
                <a:spcPct val="50000"/>
              </a:spcBef>
            </a:pPr>
            <a:r>
              <a:rPr lang="en-US"/>
              <a:t>From: www.mouthshut.com</a:t>
            </a:r>
          </a:p>
        </p:txBody>
      </p:sp>
      <p:sp>
        <p:nvSpPr>
          <p:cNvPr id="92171" name="AutoShape 11"/>
          <p:cNvSpPr>
            <a:spLocks noChangeArrowheads="1"/>
          </p:cNvSpPr>
          <p:nvPr/>
        </p:nvSpPr>
        <p:spPr bwMode="auto">
          <a:xfrm>
            <a:off x="7429500" y="1790700"/>
            <a:ext cx="533400" cy="533400"/>
          </a:xfrm>
          <a:prstGeom prst="smileyFace">
            <a:avLst>
              <a:gd name="adj" fmla="val 4653"/>
            </a:avLst>
          </a:prstGeom>
          <a:solidFill>
            <a:srgbClr val="339933"/>
          </a:solidFill>
          <a:ln w="38100">
            <a:solidFill>
              <a:schemeClr val="tx1"/>
            </a:solidFill>
            <a:round/>
            <a:headEnd/>
            <a:tailEnd/>
          </a:ln>
        </p:spPr>
        <p:txBody>
          <a:bodyPr wrap="none" anchor="ctr"/>
          <a:lstStyle/>
          <a:p>
            <a:endParaRPr lang="en-US"/>
          </a:p>
        </p:txBody>
      </p:sp>
      <p:sp>
        <p:nvSpPr>
          <p:cNvPr id="92172" name="AutoShape 12"/>
          <p:cNvSpPr>
            <a:spLocks noChangeArrowheads="1"/>
          </p:cNvSpPr>
          <p:nvPr/>
        </p:nvSpPr>
        <p:spPr bwMode="auto">
          <a:xfrm>
            <a:off x="3086100" y="1524000"/>
            <a:ext cx="533400" cy="533400"/>
          </a:xfrm>
          <a:prstGeom prst="smileyFace">
            <a:avLst>
              <a:gd name="adj" fmla="val -4653"/>
            </a:avLst>
          </a:prstGeom>
          <a:solidFill>
            <a:srgbClr val="FF3300"/>
          </a:solidFill>
          <a:ln w="38100">
            <a:solidFill>
              <a:schemeClr val="tx1"/>
            </a:solidFill>
            <a:round/>
            <a:headEnd/>
            <a:tailEnd/>
          </a:ln>
        </p:spPr>
        <p:txBody>
          <a:bodyPr wrap="none" anchor="ctr"/>
          <a:lstStyle/>
          <a:p>
            <a:endParaRPr lang="en-US"/>
          </a:p>
        </p:txBody>
      </p:sp>
      <p:sp>
        <p:nvSpPr>
          <p:cNvPr id="92174" name="AutoShape 14"/>
          <p:cNvSpPr>
            <a:spLocks noChangeArrowheads="1"/>
          </p:cNvSpPr>
          <p:nvPr/>
        </p:nvSpPr>
        <p:spPr bwMode="auto">
          <a:xfrm>
            <a:off x="3644900" y="2628900"/>
            <a:ext cx="533400" cy="533400"/>
          </a:xfrm>
          <a:prstGeom prst="smileyFace">
            <a:avLst>
              <a:gd name="adj" fmla="val -4653"/>
            </a:avLst>
          </a:prstGeom>
          <a:solidFill>
            <a:srgbClr val="FF3300"/>
          </a:solidFill>
          <a:ln w="38100">
            <a:solidFill>
              <a:schemeClr val="tx1"/>
            </a:solidFill>
            <a:round/>
            <a:headEnd/>
            <a:tailEnd/>
          </a:ln>
        </p:spPr>
        <p:txBody>
          <a:bodyPr wrap="none" anchor="ctr"/>
          <a:lstStyle/>
          <a:p>
            <a:endParaRPr lang="en-US"/>
          </a:p>
        </p:txBody>
      </p:sp>
      <p:sp>
        <p:nvSpPr>
          <p:cNvPr id="92175" name="AutoShape 15"/>
          <p:cNvSpPr>
            <a:spLocks noChangeArrowheads="1"/>
          </p:cNvSpPr>
          <p:nvPr/>
        </p:nvSpPr>
        <p:spPr bwMode="auto">
          <a:xfrm>
            <a:off x="1574800" y="3162300"/>
            <a:ext cx="533400" cy="533400"/>
          </a:xfrm>
          <a:prstGeom prst="smileyFace">
            <a:avLst>
              <a:gd name="adj" fmla="val 4653"/>
            </a:avLst>
          </a:prstGeom>
          <a:solidFill>
            <a:srgbClr val="339933"/>
          </a:solidFill>
          <a:ln w="38100">
            <a:solidFill>
              <a:schemeClr val="tx1"/>
            </a:solidFill>
            <a:round/>
            <a:headEnd/>
            <a:tailEnd/>
          </a:ln>
        </p:spPr>
        <p:txBody>
          <a:bodyPr wrap="none" anchor="ctr"/>
          <a:lstStyle/>
          <a:p>
            <a:endParaRPr lang="en-US"/>
          </a:p>
        </p:txBody>
      </p:sp>
      <p:sp>
        <p:nvSpPr>
          <p:cNvPr id="92176" name="AutoShape 16"/>
          <p:cNvSpPr>
            <a:spLocks noChangeArrowheads="1"/>
          </p:cNvSpPr>
          <p:nvPr/>
        </p:nvSpPr>
        <p:spPr bwMode="auto">
          <a:xfrm>
            <a:off x="4876800" y="3314700"/>
            <a:ext cx="533400" cy="533400"/>
          </a:xfrm>
          <a:prstGeom prst="smileyFace">
            <a:avLst>
              <a:gd name="adj" fmla="val -4653"/>
            </a:avLst>
          </a:prstGeom>
          <a:solidFill>
            <a:srgbClr val="FF3300"/>
          </a:solidFill>
          <a:ln w="38100">
            <a:solidFill>
              <a:schemeClr val="tx1"/>
            </a:solidFill>
            <a:round/>
            <a:headEnd/>
            <a:tailEnd/>
          </a:ln>
        </p:spPr>
        <p:txBody>
          <a:bodyPr wrap="none" anchor="ctr"/>
          <a:lstStyle/>
          <a:p>
            <a:endParaRPr lang="en-US"/>
          </a:p>
        </p:txBody>
      </p:sp>
      <p:sp>
        <p:nvSpPr>
          <p:cNvPr id="92177" name="AutoShape 17"/>
          <p:cNvSpPr>
            <a:spLocks noChangeArrowheads="1"/>
          </p:cNvSpPr>
          <p:nvPr/>
        </p:nvSpPr>
        <p:spPr bwMode="auto">
          <a:xfrm>
            <a:off x="6496050" y="3695700"/>
            <a:ext cx="533400" cy="533400"/>
          </a:xfrm>
          <a:prstGeom prst="smileyFace">
            <a:avLst>
              <a:gd name="adj" fmla="val 4653"/>
            </a:avLst>
          </a:prstGeom>
          <a:solidFill>
            <a:srgbClr val="339933"/>
          </a:solidFill>
          <a:ln w="38100">
            <a:solidFill>
              <a:schemeClr val="tx1"/>
            </a:solidFill>
            <a:round/>
            <a:headEnd/>
            <a:tailEnd/>
          </a:ln>
        </p:spPr>
        <p:txBody>
          <a:bodyPr wrap="none" anchor="ctr"/>
          <a:lstStyle/>
          <a:p>
            <a:endParaRPr lang="en-US"/>
          </a:p>
        </p:txBody>
      </p:sp>
    </p:spTree>
    <p:extLst>
      <p:ext uri="{BB962C8B-B14F-4D97-AF65-F5344CB8AC3E}">
        <p14:creationId xmlns:p14="http://schemas.microsoft.com/office/powerpoint/2010/main" val="1025185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72"/>
                                        </p:tgtEl>
                                        <p:attrNameLst>
                                          <p:attrName>style.visibility</p:attrName>
                                        </p:attrNameLst>
                                      </p:cBhvr>
                                      <p:to>
                                        <p:strVal val="visible"/>
                                      </p:to>
                                    </p:set>
                                    <p:animEffect transition="in" filter="fade">
                                      <p:cBhvr>
                                        <p:cTn id="7" dur="500"/>
                                        <p:tgtEl>
                                          <p:spTgt spid="92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71"/>
                                        </p:tgtEl>
                                        <p:attrNameLst>
                                          <p:attrName>style.visibility</p:attrName>
                                        </p:attrNameLst>
                                      </p:cBhvr>
                                      <p:to>
                                        <p:strVal val="visible"/>
                                      </p:to>
                                    </p:set>
                                    <p:animEffect transition="in" filter="fade">
                                      <p:cBhvr>
                                        <p:cTn id="12" dur="500"/>
                                        <p:tgtEl>
                                          <p:spTgt spid="921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2174"/>
                                        </p:tgtEl>
                                        <p:attrNameLst>
                                          <p:attrName>style.visibility</p:attrName>
                                        </p:attrNameLst>
                                      </p:cBhvr>
                                      <p:to>
                                        <p:strVal val="visible"/>
                                      </p:to>
                                    </p:set>
                                    <p:animEffect transition="in" filter="fade">
                                      <p:cBhvr>
                                        <p:cTn id="17" dur="500"/>
                                        <p:tgtEl>
                                          <p:spTgt spid="921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2175"/>
                                        </p:tgtEl>
                                        <p:attrNameLst>
                                          <p:attrName>style.visibility</p:attrName>
                                        </p:attrNameLst>
                                      </p:cBhvr>
                                      <p:to>
                                        <p:strVal val="visible"/>
                                      </p:to>
                                    </p:set>
                                    <p:animEffect transition="in" filter="fade">
                                      <p:cBhvr>
                                        <p:cTn id="22" dur="500"/>
                                        <p:tgtEl>
                                          <p:spTgt spid="921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2176"/>
                                        </p:tgtEl>
                                        <p:attrNameLst>
                                          <p:attrName>style.visibility</p:attrName>
                                        </p:attrNameLst>
                                      </p:cBhvr>
                                      <p:to>
                                        <p:strVal val="visible"/>
                                      </p:to>
                                    </p:set>
                                    <p:animEffect transition="in" filter="fade">
                                      <p:cBhvr>
                                        <p:cTn id="27" dur="500"/>
                                        <p:tgtEl>
                                          <p:spTgt spid="9217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2177"/>
                                        </p:tgtEl>
                                        <p:attrNameLst>
                                          <p:attrName>style.visibility</p:attrName>
                                        </p:attrNameLst>
                                      </p:cBhvr>
                                      <p:to>
                                        <p:strVal val="visible"/>
                                      </p:to>
                                    </p:set>
                                    <p:animEffect transition="in" filter="fade">
                                      <p:cBhvr>
                                        <p:cTn id="32" dur="500"/>
                                        <p:tgtEl>
                                          <p:spTgt spid="92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1" grpId="0" animBg="1"/>
      <p:bldP spid="92172" grpId="0" animBg="1"/>
      <p:bldP spid="92174" grpId="0" animBg="1"/>
      <p:bldP spid="92175" grpId="0" animBg="1"/>
      <p:bldP spid="92176" grpId="0" animBg="1"/>
      <p:bldP spid="9217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p:cNvSpPr>
            <a:spLocks noGrp="1"/>
          </p:cNvSpPr>
          <p:nvPr>
            <p:ph type="sldNum" sz="quarter" idx="10"/>
          </p:nvPr>
        </p:nvSpPr>
        <p:spPr/>
        <p:txBody>
          <a:bodyPr/>
          <a:lstStyle/>
          <a:p>
            <a:fld id="{8429D468-FD14-4CCA-AA66-6A57DEFE19D7}" type="slidenum">
              <a:rPr lang="en-US" altLang="zh-CN"/>
              <a:pPr/>
              <a:t>58</a:t>
            </a:fld>
            <a:endParaRPr lang="en-US" altLang="zh-CN"/>
          </a:p>
        </p:txBody>
      </p:sp>
      <p:sp>
        <p:nvSpPr>
          <p:cNvPr id="2282498" name="Rectangle 2"/>
          <p:cNvSpPr>
            <a:spLocks noGrp="1" noChangeArrowheads="1"/>
          </p:cNvSpPr>
          <p:nvPr>
            <p:ph type="title" idx="4294967295"/>
          </p:nvPr>
        </p:nvSpPr>
        <p:spPr/>
        <p:txBody>
          <a:bodyPr>
            <a:normAutofit fontScale="90000"/>
          </a:bodyPr>
          <a:lstStyle/>
          <a:p>
            <a:r>
              <a:rPr lang="en-US" sz="3800"/>
              <a:t>Sample Review 4</a:t>
            </a:r>
            <a:br>
              <a:rPr lang="en-US" sz="3800"/>
            </a:br>
            <a:r>
              <a:rPr lang="en-US" sz="2900"/>
              <a:t>(Subject-centric or not?)</a:t>
            </a:r>
          </a:p>
        </p:txBody>
      </p:sp>
      <p:sp>
        <p:nvSpPr>
          <p:cNvPr id="2282499" name="Rectangle 3"/>
          <p:cNvSpPr>
            <a:spLocks noGrp="1" noChangeArrowheads="1"/>
          </p:cNvSpPr>
          <p:nvPr>
            <p:ph type="body" idx="4294967295"/>
          </p:nvPr>
        </p:nvSpPr>
        <p:spPr/>
        <p:txBody>
          <a:bodyPr>
            <a:normAutofit lnSpcReduction="10000"/>
          </a:bodyPr>
          <a:lstStyle/>
          <a:p>
            <a:pPr>
              <a:lnSpc>
                <a:spcPct val="80000"/>
              </a:lnSpc>
            </a:pPr>
            <a:r>
              <a:rPr lang="en-US" sz="1600" dirty="0"/>
              <a:t>I have this personal experience of using this cell phone. I bought it one and half years back. It had modern features that a normal cell phone has, and the look is excellent. I was very impressed by the design. I bought it for </a:t>
            </a:r>
            <a:r>
              <a:rPr lang="en-US" sz="1600" dirty="0" err="1"/>
              <a:t>Rs</a:t>
            </a:r>
            <a:r>
              <a:rPr lang="en-US" sz="1600" dirty="0"/>
              <a:t>. 8000. It was a gift for someone. It worked fine for first one month, and then started the series of multiple faults it has. First the speaker </a:t>
            </a:r>
            <a:r>
              <a:rPr lang="en-US" sz="1600" dirty="0" err="1"/>
              <a:t>didnt</a:t>
            </a:r>
            <a:r>
              <a:rPr lang="en-US" sz="1600" dirty="0"/>
              <a:t> work, I took it to the service </a:t>
            </a:r>
            <a:r>
              <a:rPr lang="en-US" sz="1600" dirty="0" err="1"/>
              <a:t>centre</a:t>
            </a:r>
            <a:r>
              <a:rPr lang="en-US" sz="1600" dirty="0"/>
              <a:t> (which is like a govt. office with no work). It took 15 days to repair the handset, moreover they charged me </a:t>
            </a:r>
            <a:r>
              <a:rPr lang="en-US" sz="1600" dirty="0" err="1"/>
              <a:t>Rs</a:t>
            </a:r>
            <a:r>
              <a:rPr lang="en-US" sz="1600" dirty="0"/>
              <a:t>. 500. Then after 15 days again the mike </a:t>
            </a:r>
            <a:r>
              <a:rPr lang="en-US" sz="1600" dirty="0" err="1"/>
              <a:t>didnt</a:t>
            </a:r>
            <a:r>
              <a:rPr lang="en-US" sz="1600" dirty="0"/>
              <a:t> work, then again same set of time was consumed for the repairs and it continued. Later the camera </a:t>
            </a:r>
            <a:r>
              <a:rPr lang="en-US" sz="1600" dirty="0" err="1"/>
              <a:t>didnt</a:t>
            </a:r>
            <a:r>
              <a:rPr lang="en-US" sz="1600" dirty="0"/>
              <a:t> work, the </a:t>
            </a:r>
            <a:r>
              <a:rPr lang="en-US" sz="1600" dirty="0" err="1"/>
              <a:t>speakes</a:t>
            </a:r>
            <a:r>
              <a:rPr lang="en-US" sz="1600" dirty="0"/>
              <a:t> were rubbish, it used to hang. It started restarting automatically. And the govt. office had staff which I doubt have any </a:t>
            </a:r>
            <a:r>
              <a:rPr lang="en-US" sz="1600" dirty="0" err="1"/>
              <a:t>knoledge</a:t>
            </a:r>
            <a:r>
              <a:rPr lang="en-US" sz="1600" dirty="0"/>
              <a:t> of cell phones??</a:t>
            </a:r>
            <a:br>
              <a:rPr lang="en-US" sz="1600" dirty="0"/>
            </a:br>
            <a:r>
              <a:rPr lang="en-US" sz="1600" dirty="0"/>
              <a:t>     These multiple faults continued for as long as one year, when the warranty period ended. In this period of time I spent a considerable amount on the petrol, a lot of time (as the service </a:t>
            </a:r>
            <a:r>
              <a:rPr lang="en-US" sz="1600" dirty="0" err="1"/>
              <a:t>centre</a:t>
            </a:r>
            <a:r>
              <a:rPr lang="en-US" sz="1600" dirty="0"/>
              <a:t> is a govt. office). And at last the phone is still working, but now it works as a paper weight. The company who produces such items must be sacked. I understand that it might be fault with one </a:t>
            </a:r>
            <a:r>
              <a:rPr lang="en-US" sz="1600" dirty="0" err="1"/>
              <a:t>prticular</a:t>
            </a:r>
            <a:r>
              <a:rPr lang="en-US" sz="1600" dirty="0"/>
              <a:t> handset, but the company itself never bothered for replacement and I have never seen such miserable </a:t>
            </a:r>
            <a:r>
              <a:rPr lang="en-US" sz="1600" dirty="0" err="1"/>
              <a:t>cust</a:t>
            </a:r>
            <a:r>
              <a:rPr lang="en-US" sz="1600" dirty="0"/>
              <a:t> service. For a </a:t>
            </a:r>
            <a:r>
              <a:rPr lang="en-US" sz="1600" dirty="0" err="1"/>
              <a:t>comman</a:t>
            </a:r>
            <a:r>
              <a:rPr lang="en-US" sz="1600" dirty="0"/>
              <a:t> man like me, </a:t>
            </a:r>
            <a:r>
              <a:rPr lang="en-US" sz="1600" dirty="0" err="1"/>
              <a:t>Rs</a:t>
            </a:r>
            <a:r>
              <a:rPr lang="en-US" sz="1600" dirty="0"/>
              <a:t>. 8000 is a big amount. And I spent almost the same amount to get it work, if any has a good suggestion and can </a:t>
            </a:r>
            <a:r>
              <a:rPr lang="en-US" sz="1600" dirty="0" err="1"/>
              <a:t>gude</a:t>
            </a:r>
            <a:r>
              <a:rPr lang="en-US" sz="1600" dirty="0"/>
              <a:t> me how to sue such companies, please guide. </a:t>
            </a:r>
            <a:br>
              <a:rPr lang="en-US" sz="1600" dirty="0"/>
            </a:br>
            <a:r>
              <a:rPr lang="en-US" sz="1600" dirty="0"/>
              <a:t>     For this the quality team is faulty, the </a:t>
            </a:r>
            <a:r>
              <a:rPr lang="en-US" sz="1600" dirty="0" err="1"/>
              <a:t>cust</a:t>
            </a:r>
            <a:r>
              <a:rPr lang="en-US" sz="1600" dirty="0"/>
              <a:t> service is really miserable and the worst condition of any </a:t>
            </a:r>
            <a:r>
              <a:rPr lang="en-US" sz="1600" dirty="0" err="1"/>
              <a:t>organisation</a:t>
            </a:r>
            <a:r>
              <a:rPr lang="en-US" sz="1600" dirty="0"/>
              <a:t> I have ever seen is with the service </a:t>
            </a:r>
            <a:r>
              <a:rPr lang="en-US" sz="1600" dirty="0" err="1"/>
              <a:t>centre</a:t>
            </a:r>
            <a:r>
              <a:rPr lang="en-US" sz="1600" dirty="0"/>
              <a:t> for Fly and Sony </a:t>
            </a:r>
            <a:r>
              <a:rPr lang="en-US" sz="1600" dirty="0" err="1"/>
              <a:t>Erricson</a:t>
            </a:r>
            <a:r>
              <a:rPr lang="en-US" sz="1600" dirty="0"/>
              <a:t>, (it’s near </a:t>
            </a:r>
            <a:r>
              <a:rPr lang="en-US" sz="1600" dirty="0" err="1"/>
              <a:t>Sancheti</a:t>
            </a:r>
            <a:r>
              <a:rPr lang="en-US" sz="1600" dirty="0"/>
              <a:t> hospital, Pune). I </a:t>
            </a:r>
            <a:r>
              <a:rPr lang="en-US" sz="1600" dirty="0" err="1"/>
              <a:t>dont</a:t>
            </a:r>
            <a:r>
              <a:rPr lang="en-US" sz="1600" dirty="0"/>
              <a:t> have any thing else to say. </a:t>
            </a:r>
          </a:p>
        </p:txBody>
      </p:sp>
      <p:sp>
        <p:nvSpPr>
          <p:cNvPr id="2282504" name="Text Box 8"/>
          <p:cNvSpPr txBox="1">
            <a:spLocks noChangeArrowheads="1"/>
          </p:cNvSpPr>
          <p:nvPr/>
        </p:nvSpPr>
        <p:spPr bwMode="auto">
          <a:xfrm>
            <a:off x="5143500" y="6096001"/>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pPr>
              <a:spcBef>
                <a:spcPct val="50000"/>
              </a:spcBef>
            </a:pPr>
            <a:r>
              <a:rPr lang="en-US"/>
              <a:t>From: www.mouthshut.com</a:t>
            </a:r>
          </a:p>
        </p:txBody>
      </p:sp>
    </p:spTree>
    <p:extLst>
      <p:ext uri="{BB962C8B-B14F-4D97-AF65-F5344CB8AC3E}">
        <p14:creationId xmlns:p14="http://schemas.microsoft.com/office/powerpoint/2010/main" val="551364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endParaRPr lang="en-US" dirty="0"/>
          </a:p>
        </p:txBody>
      </p:sp>
      <p:sp>
        <p:nvSpPr>
          <p:cNvPr id="3" name="Content Placeholder 2"/>
          <p:cNvSpPr>
            <a:spLocks noGrp="1"/>
          </p:cNvSpPr>
          <p:nvPr>
            <p:ph idx="1"/>
          </p:nvPr>
        </p:nvSpPr>
        <p:spPr/>
        <p:txBody>
          <a:bodyPr/>
          <a:lstStyle/>
          <a:p>
            <a:r>
              <a:rPr lang="en-IN" dirty="0">
                <a:solidFill>
                  <a:srgbClr val="00B050"/>
                </a:solidFill>
              </a:rPr>
              <a:t>Applications of Sentiment Analysis</a:t>
            </a:r>
          </a:p>
          <a:p>
            <a:r>
              <a:rPr lang="en-IN" dirty="0">
                <a:solidFill>
                  <a:srgbClr val="00B050"/>
                </a:solidFill>
              </a:rPr>
              <a:t>Word-based Classification Approach</a:t>
            </a:r>
          </a:p>
          <a:p>
            <a:r>
              <a:rPr lang="en-IN" b="1" dirty="0">
                <a:solidFill>
                  <a:srgbClr val="7030A0"/>
                </a:solidFill>
              </a:rPr>
              <a:t>Sentiment Lexicons and Negation Words</a:t>
            </a:r>
          </a:p>
        </p:txBody>
      </p:sp>
    </p:spTree>
    <p:extLst>
      <p:ext uri="{BB962C8B-B14F-4D97-AF65-F5344CB8AC3E}">
        <p14:creationId xmlns:p14="http://schemas.microsoft.com/office/powerpoint/2010/main" val="15963821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Sentiment Lexicons</a:t>
            </a:r>
            <a:endParaRPr lang="en-US" dirty="0"/>
          </a:p>
        </p:txBody>
      </p:sp>
      <p:sp>
        <p:nvSpPr>
          <p:cNvPr id="3" name="Content Placeholder 2"/>
          <p:cNvSpPr>
            <a:spLocks noGrp="1"/>
          </p:cNvSpPr>
          <p:nvPr>
            <p:ph idx="1"/>
          </p:nvPr>
        </p:nvSpPr>
        <p:spPr/>
        <p:txBody>
          <a:bodyPr/>
          <a:lstStyle/>
          <a:p>
            <a:r>
              <a:rPr lang="en-IN" dirty="0"/>
              <a:t>Positive words: abide, ability, able, abound, absolve, absorbent, … </a:t>
            </a:r>
          </a:p>
          <a:p>
            <a:r>
              <a:rPr lang="en-IN" dirty="0"/>
              <a:t>Negative words: abandon, abandonment, abate, abdicate, abhor, abject, …</a:t>
            </a:r>
          </a:p>
          <a:p>
            <a:r>
              <a:rPr lang="en-IN" dirty="0"/>
              <a:t>Available lexicons</a:t>
            </a:r>
          </a:p>
          <a:p>
            <a:pPr lvl="1"/>
            <a:r>
              <a:rPr lang="en-IN" dirty="0">
                <a:hlinkClick r:id="rId3"/>
              </a:rPr>
              <a:t>General Inquirer</a:t>
            </a:r>
            <a:r>
              <a:rPr lang="en-IN" dirty="0"/>
              <a:t>: </a:t>
            </a:r>
            <a:r>
              <a:rPr lang="en-US" dirty="0"/>
              <a:t>1915 positive words and 2291 negative words</a:t>
            </a:r>
          </a:p>
          <a:p>
            <a:pPr lvl="1"/>
            <a:r>
              <a:rPr lang="en-US" dirty="0">
                <a:hlinkClick r:id="rId4"/>
              </a:rPr>
              <a:t>LIWC (Linguistic Inquiry and Word Count)</a:t>
            </a:r>
            <a:r>
              <a:rPr lang="en-US" dirty="0"/>
              <a:t>: 2300 words, &gt;70 classes</a:t>
            </a:r>
          </a:p>
          <a:p>
            <a:pPr lvl="1"/>
            <a:r>
              <a:rPr lang="en-US" dirty="0">
                <a:hlinkClick r:id="rId5"/>
              </a:rPr>
              <a:t>MPQA Subjectivity Cues Lexicon</a:t>
            </a:r>
            <a:r>
              <a:rPr lang="en-US" dirty="0"/>
              <a:t>: 2718 positive words and 4912 negative words. Each word annotated for intensity (strong, weak)</a:t>
            </a:r>
          </a:p>
          <a:p>
            <a:pPr lvl="1"/>
            <a:r>
              <a:rPr lang="en-US" dirty="0">
                <a:hlinkClick r:id="rId6"/>
              </a:rPr>
              <a:t>Bing Liu Opinion Lexicon</a:t>
            </a:r>
            <a:r>
              <a:rPr lang="en-US" dirty="0"/>
              <a:t>: 2006 positive words and 4783 negative words</a:t>
            </a:r>
          </a:p>
          <a:p>
            <a:pPr lvl="1"/>
            <a:r>
              <a:rPr lang="en-US" dirty="0" err="1">
                <a:hlinkClick r:id="rId7"/>
              </a:rPr>
              <a:t>SentiWordNet</a:t>
            </a:r>
            <a:r>
              <a:rPr lang="en-US" dirty="0"/>
              <a:t>: All WordNet </a:t>
            </a:r>
            <a:r>
              <a:rPr lang="en-US" dirty="0" err="1"/>
              <a:t>synsets</a:t>
            </a:r>
            <a:r>
              <a:rPr lang="en-US" dirty="0"/>
              <a:t> automatically annotated for degrees of positivity, negativity, and neutrality/objectiveness, 1.7M words</a:t>
            </a:r>
          </a:p>
          <a:p>
            <a:pPr lvl="2"/>
            <a:r>
              <a:rPr lang="en-US" dirty="0"/>
              <a:t>[estimable(J,3)] “may be computed or estimated”: </a:t>
            </a:r>
            <a:r>
              <a:rPr lang="en-US" dirty="0" err="1"/>
              <a:t>Pos</a:t>
            </a:r>
            <a:r>
              <a:rPr lang="en-US" dirty="0"/>
              <a:t>=0, </a:t>
            </a:r>
            <a:r>
              <a:rPr lang="en-US" dirty="0" err="1"/>
              <a:t>Neg</a:t>
            </a:r>
            <a:r>
              <a:rPr lang="en-US" dirty="0"/>
              <a:t>=0, </a:t>
            </a:r>
            <a:r>
              <a:rPr lang="en-US" dirty="0" err="1"/>
              <a:t>Obj</a:t>
            </a:r>
            <a:r>
              <a:rPr lang="en-US" dirty="0"/>
              <a:t>=1</a:t>
            </a:r>
          </a:p>
          <a:p>
            <a:pPr lvl="2"/>
            <a:r>
              <a:rPr lang="en-US" dirty="0"/>
              <a:t>[estimable(J,1)] “deserving of respect or high regard”: </a:t>
            </a:r>
            <a:r>
              <a:rPr lang="en-US" dirty="0" err="1"/>
              <a:t>Pos</a:t>
            </a:r>
            <a:r>
              <a:rPr lang="en-US" dirty="0"/>
              <a:t>=0.75, </a:t>
            </a:r>
            <a:r>
              <a:rPr lang="en-US" dirty="0" err="1"/>
              <a:t>Neg</a:t>
            </a:r>
            <a:r>
              <a:rPr lang="en-US" dirty="0"/>
              <a:t>=0, </a:t>
            </a:r>
            <a:r>
              <a:rPr lang="en-US" dirty="0" err="1"/>
              <a:t>Obj</a:t>
            </a:r>
            <a:r>
              <a:rPr lang="en-US" dirty="0"/>
              <a:t>=0.25</a:t>
            </a:r>
          </a:p>
          <a:p>
            <a:pPr marL="914400" lvl="2" indent="0">
              <a:buNone/>
            </a:pPr>
            <a:endParaRPr lang="en-US" dirty="0"/>
          </a:p>
          <a:p>
            <a:pPr marL="914400" lvl="2" indent="0">
              <a:buNone/>
            </a:pPr>
            <a:endParaRPr lang="en-US" dirty="0"/>
          </a:p>
          <a:p>
            <a:pPr marL="914400" lvl="2" indent="0">
              <a:buNone/>
            </a:pPr>
            <a:endParaRPr lang="en-IN" dirty="0"/>
          </a:p>
          <a:p>
            <a:pPr marL="1371600" lvl="3" indent="0">
              <a:buNone/>
            </a:pPr>
            <a:endParaRPr lang="en-IN" dirty="0"/>
          </a:p>
          <a:p>
            <a:pPr marL="457200" lvl="1" indent="0">
              <a:buNone/>
            </a:pPr>
            <a:endParaRPr lang="en-IN" dirty="0"/>
          </a:p>
          <a:p>
            <a:pPr marL="457200" lvl="1" indent="0">
              <a:buNone/>
            </a:pPr>
            <a:endParaRPr lang="en-US" dirty="0"/>
          </a:p>
        </p:txBody>
      </p:sp>
    </p:spTree>
    <p:extLst>
      <p:ext uri="{BB962C8B-B14F-4D97-AF65-F5344CB8AC3E}">
        <p14:creationId xmlns:p14="http://schemas.microsoft.com/office/powerpoint/2010/main" val="1985741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9220200" cy="521563"/>
          </a:xfrm>
        </p:spPr>
        <p:txBody>
          <a:bodyPr>
            <a:normAutofit fontScale="90000"/>
          </a:bodyPr>
          <a:lstStyle/>
          <a:p>
            <a:r>
              <a:rPr lang="en-US" dirty="0"/>
              <a:t>Analyzing the Polarity of each Word in IMDB</a:t>
            </a:r>
          </a:p>
        </p:txBody>
      </p:sp>
      <p:sp>
        <p:nvSpPr>
          <p:cNvPr id="11" name="Content Placeholder 10"/>
          <p:cNvSpPr>
            <a:spLocks noGrp="1"/>
          </p:cNvSpPr>
          <p:nvPr>
            <p:ph idx="1"/>
          </p:nvPr>
        </p:nvSpPr>
        <p:spPr/>
        <p:txBody>
          <a:bodyPr/>
          <a:lstStyle/>
          <a:p>
            <a:r>
              <a:rPr lang="en-US" dirty="0"/>
              <a:t>How likely is each word to appear in each sentiment class?</a:t>
            </a:r>
          </a:p>
          <a:p>
            <a:r>
              <a:rPr lang="en-US" dirty="0"/>
              <a:t>Count(“bad”) in 1-star, 2-star, 3-star, etc.</a:t>
            </a:r>
          </a:p>
          <a:p>
            <a:r>
              <a:rPr lang="en-US" dirty="0"/>
              <a:t>But can’t use raw counts: count(10)&gt;count(2) b</a:t>
            </a:r>
            <a:r>
              <a:rPr lang="en-IN" dirty="0" err="1"/>
              <a:t>ecause</a:t>
            </a:r>
            <a:r>
              <a:rPr lang="en-IN" dirty="0"/>
              <a:t> there are many 10 star reviews and very few 2 star ones</a:t>
            </a:r>
            <a:endParaRPr lang="en-US" dirty="0"/>
          </a:p>
          <a:p>
            <a:r>
              <a:rPr lang="en-US" dirty="0"/>
              <a:t>Instead, </a:t>
            </a:r>
            <a:r>
              <a:rPr lang="en-US" b="1" dirty="0"/>
              <a:t>likelihood:</a:t>
            </a:r>
          </a:p>
          <a:p>
            <a:endParaRPr lang="en-US" b="1" dirty="0"/>
          </a:p>
          <a:p>
            <a:r>
              <a:rPr lang="en-US" dirty="0"/>
              <a:t>Make them comparable between words</a:t>
            </a:r>
          </a:p>
          <a:p>
            <a:pPr lvl="1"/>
            <a:r>
              <a:rPr lang="en-US" b="1" dirty="0"/>
              <a:t>Scaled likelihood:</a:t>
            </a:r>
          </a:p>
        </p:txBody>
      </p:sp>
      <p:sp>
        <p:nvSpPr>
          <p:cNvPr id="10" name="TextBox 9"/>
          <p:cNvSpPr txBox="1"/>
          <p:nvPr/>
        </p:nvSpPr>
        <p:spPr>
          <a:xfrm>
            <a:off x="1714500" y="5833199"/>
            <a:ext cx="6546515" cy="584775"/>
          </a:xfrm>
          <a:prstGeom prst="rect">
            <a:avLst/>
          </a:prstGeom>
          <a:noFill/>
        </p:spPr>
        <p:txBody>
          <a:bodyPr wrap="square" rtlCol="0">
            <a:spAutoFit/>
          </a:bodyPr>
          <a:lstStyle/>
          <a:p>
            <a:r>
              <a:rPr lang="en-US" sz="1600" dirty="0">
                <a:solidFill>
                  <a:srgbClr val="28817A"/>
                </a:solidFill>
              </a:rPr>
              <a:t>Potts, Christopher. 2011. On the negativity of negation.  SALT  20, 636-659.</a:t>
            </a:r>
          </a:p>
        </p:txBody>
      </p:sp>
      <p:pic>
        <p:nvPicPr>
          <p:cNvPr id="12" name="Picture 11" descr="imdb-bad-count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2300" y="2667000"/>
            <a:ext cx="2743200" cy="2743200"/>
          </a:xfrm>
          <a:prstGeom prst="rect">
            <a:avLst/>
          </a:prstGeom>
        </p:spPr>
      </p:pic>
      <p:graphicFrame>
        <p:nvGraphicFramePr>
          <p:cNvPr id="13" name="Object 12"/>
          <p:cNvGraphicFramePr>
            <a:graphicFrameLocks noChangeAspect="1"/>
          </p:cNvGraphicFramePr>
          <p:nvPr/>
        </p:nvGraphicFramePr>
        <p:xfrm>
          <a:off x="4056063" y="2819400"/>
          <a:ext cx="2578100" cy="850900"/>
        </p:xfrm>
        <a:graphic>
          <a:graphicData uri="http://schemas.openxmlformats.org/presentationml/2006/ole">
            <mc:AlternateContent xmlns:mc="http://schemas.openxmlformats.org/markup-compatibility/2006">
              <mc:Choice xmlns:v="urn:schemas-microsoft-com:vml" Requires="v">
                <p:oleObj name="Equation" r:id="rId4" imgW="1460500" imgH="482600" progId="Equation.3">
                  <p:embed/>
                </p:oleObj>
              </mc:Choice>
              <mc:Fallback>
                <p:oleObj name="Equation" r:id="rId4" imgW="1460500" imgH="482600" progId="Equation.3">
                  <p:embed/>
                  <p:pic>
                    <p:nvPicPr>
                      <p:cNvPr id="13" name="Object 12"/>
                      <p:cNvPicPr/>
                      <p:nvPr/>
                    </p:nvPicPr>
                    <p:blipFill>
                      <a:blip r:embed="rId5"/>
                      <a:stretch>
                        <a:fillRect/>
                      </a:stretch>
                    </p:blipFill>
                    <p:spPr>
                      <a:xfrm>
                        <a:off x="4056063" y="2819400"/>
                        <a:ext cx="2578100" cy="8509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3924300" y="4191000"/>
          <a:ext cx="1258824" cy="989076"/>
        </p:xfrm>
        <a:graphic>
          <a:graphicData uri="http://schemas.openxmlformats.org/presentationml/2006/ole">
            <mc:AlternateContent xmlns:mc="http://schemas.openxmlformats.org/markup-compatibility/2006">
              <mc:Choice xmlns:v="urn:schemas-microsoft-com:vml" Requires="v">
                <p:oleObj name="Equation" r:id="rId6" imgW="533400" imgH="419100" progId="Equation.3">
                  <p:embed/>
                </p:oleObj>
              </mc:Choice>
              <mc:Fallback>
                <p:oleObj name="Equation" r:id="rId6" imgW="533400" imgH="419100" progId="Equation.3">
                  <p:embed/>
                  <p:pic>
                    <p:nvPicPr>
                      <p:cNvPr id="14" name="Object 13"/>
                      <p:cNvPicPr/>
                      <p:nvPr/>
                    </p:nvPicPr>
                    <p:blipFill>
                      <a:blip r:embed="rId7"/>
                      <a:stretch>
                        <a:fillRect/>
                      </a:stretch>
                    </p:blipFill>
                    <p:spPr>
                      <a:xfrm>
                        <a:off x="3924300" y="4191000"/>
                        <a:ext cx="1258824" cy="989076"/>
                      </a:xfrm>
                      <a:prstGeom prst="rect">
                        <a:avLst/>
                      </a:prstGeom>
                    </p:spPr>
                  </p:pic>
                </p:oleObj>
              </mc:Fallback>
            </mc:AlternateContent>
          </a:graphicData>
        </a:graphic>
      </p:graphicFrame>
    </p:spTree>
    <p:extLst>
      <p:ext uri="{BB962C8B-B14F-4D97-AF65-F5344CB8AC3E}">
        <p14:creationId xmlns:p14="http://schemas.microsoft.com/office/powerpoint/2010/main" val="292955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9220200" cy="380999"/>
          </a:xfrm>
        </p:spPr>
        <p:txBody>
          <a:bodyPr>
            <a:normAutofit fontScale="90000"/>
          </a:bodyPr>
          <a:lstStyle/>
          <a:p>
            <a:r>
              <a:rPr lang="en-US" dirty="0"/>
              <a:t>Analyzing the Polarity of each Word in IMDB</a:t>
            </a:r>
          </a:p>
        </p:txBody>
      </p:sp>
      <p:pic>
        <p:nvPicPr>
          <p:cNvPr id="5" name="Picture 4" descr="scalarpos-imdb.pdf"/>
          <p:cNvPicPr>
            <a:picLocks noChangeAspect="1"/>
          </p:cNvPicPr>
          <p:nvPr/>
        </p:nvPicPr>
        <p:blipFill rotWithShape="1">
          <a:blip r:embed="rId3">
            <a:extLst>
              <a:ext uri="{28A0092B-C50C-407E-A947-70E740481C1C}">
                <a14:useLocalDpi xmlns:a14="http://schemas.microsoft.com/office/drawing/2010/main" val="0"/>
              </a:ext>
            </a:extLst>
          </a:blip>
          <a:srcRect l="2430" r="-2430"/>
          <a:stretch/>
        </p:blipFill>
        <p:spPr>
          <a:xfrm>
            <a:off x="1197491" y="1371600"/>
            <a:ext cx="8534400" cy="2133600"/>
          </a:xfrm>
          <a:prstGeom prst="rect">
            <a:avLst/>
          </a:prstGeom>
        </p:spPr>
      </p:pic>
      <p:pic>
        <p:nvPicPr>
          <p:cNvPr id="6" name="Picture 5" descr="scalarneg-imdb.pdf"/>
          <p:cNvPicPr>
            <a:picLocks noChangeAspect="1"/>
          </p:cNvPicPr>
          <p:nvPr/>
        </p:nvPicPr>
        <p:blipFill rotWithShape="1">
          <a:blip r:embed="rId4">
            <a:extLst>
              <a:ext uri="{28A0092B-C50C-407E-A947-70E740481C1C}">
                <a14:useLocalDpi xmlns:a14="http://schemas.microsoft.com/office/drawing/2010/main" val="0"/>
              </a:ext>
            </a:extLst>
          </a:blip>
          <a:srcRect l="2679" r="-2679"/>
          <a:stretch/>
        </p:blipFill>
        <p:spPr>
          <a:xfrm>
            <a:off x="1142627" y="3429000"/>
            <a:ext cx="8534400" cy="2133600"/>
          </a:xfrm>
          <a:prstGeom prst="rect">
            <a:avLst/>
          </a:prstGeom>
        </p:spPr>
      </p:pic>
      <p:sp>
        <p:nvSpPr>
          <p:cNvPr id="9" name="TextBox 8"/>
          <p:cNvSpPr txBox="1"/>
          <p:nvPr/>
        </p:nvSpPr>
        <p:spPr>
          <a:xfrm rot="16200000">
            <a:off x="276926" y="2296203"/>
            <a:ext cx="1141659" cy="400110"/>
          </a:xfrm>
          <a:prstGeom prst="rect">
            <a:avLst/>
          </a:prstGeom>
          <a:noFill/>
        </p:spPr>
        <p:txBody>
          <a:bodyPr wrap="none" rtlCol="0">
            <a:spAutoFit/>
          </a:bodyPr>
          <a:lstStyle/>
          <a:p>
            <a:r>
              <a:rPr lang="en-US" sz="1000" dirty="0"/>
              <a:t>Scaled likelihood</a:t>
            </a:r>
          </a:p>
          <a:p>
            <a:r>
              <a:rPr lang="en-US" sz="1000" dirty="0"/>
              <a:t>P(</a:t>
            </a:r>
            <a:r>
              <a:rPr lang="en-US" sz="1000" dirty="0" err="1"/>
              <a:t>w|c</a:t>
            </a:r>
            <a:r>
              <a:rPr lang="en-US" sz="1000" dirty="0"/>
              <a:t>)/P(w)</a:t>
            </a:r>
          </a:p>
        </p:txBody>
      </p:sp>
      <p:sp>
        <p:nvSpPr>
          <p:cNvPr id="11" name="TextBox 10"/>
          <p:cNvSpPr txBox="1"/>
          <p:nvPr/>
        </p:nvSpPr>
        <p:spPr>
          <a:xfrm rot="16200000">
            <a:off x="276926" y="4259185"/>
            <a:ext cx="1141659" cy="400110"/>
          </a:xfrm>
          <a:prstGeom prst="rect">
            <a:avLst/>
          </a:prstGeom>
          <a:noFill/>
        </p:spPr>
        <p:txBody>
          <a:bodyPr wrap="none" rtlCol="0">
            <a:spAutoFit/>
          </a:bodyPr>
          <a:lstStyle/>
          <a:p>
            <a:r>
              <a:rPr lang="en-US" sz="1000" dirty="0"/>
              <a:t>Scaled likelihood</a:t>
            </a:r>
          </a:p>
          <a:p>
            <a:r>
              <a:rPr lang="en-US" sz="1000" dirty="0"/>
              <a:t>P(</a:t>
            </a:r>
            <a:r>
              <a:rPr lang="en-US" sz="1000" dirty="0" err="1"/>
              <a:t>w|c</a:t>
            </a:r>
            <a:r>
              <a:rPr lang="en-US" sz="1000" dirty="0"/>
              <a:t>)/P(w)</a:t>
            </a:r>
          </a:p>
        </p:txBody>
      </p:sp>
      <p:sp>
        <p:nvSpPr>
          <p:cNvPr id="12" name="TextBox 11"/>
          <p:cNvSpPr txBox="1"/>
          <p:nvPr/>
        </p:nvSpPr>
        <p:spPr>
          <a:xfrm>
            <a:off x="2074163" y="956846"/>
            <a:ext cx="7010402" cy="338554"/>
          </a:xfrm>
          <a:prstGeom prst="rect">
            <a:avLst/>
          </a:prstGeom>
          <a:noFill/>
        </p:spPr>
        <p:txBody>
          <a:bodyPr wrap="square" rtlCol="0">
            <a:spAutoFit/>
          </a:bodyPr>
          <a:lstStyle/>
          <a:p>
            <a:r>
              <a:rPr lang="en-US" sz="1600" dirty="0">
                <a:solidFill>
                  <a:srgbClr val="28817A"/>
                </a:solidFill>
              </a:rPr>
              <a:t>Potts, Christopher. 2011. On the negativity of negation, 636-659.</a:t>
            </a:r>
          </a:p>
        </p:txBody>
      </p:sp>
    </p:spTree>
    <p:extLst>
      <p:ext uri="{BB962C8B-B14F-4D97-AF65-F5344CB8AC3E}">
        <p14:creationId xmlns:p14="http://schemas.microsoft.com/office/powerpoint/2010/main" val="313340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9448800" cy="457199"/>
          </a:xfrm>
        </p:spPr>
        <p:txBody>
          <a:bodyPr>
            <a:normAutofit fontScale="90000"/>
          </a:bodyPr>
          <a:lstStyle/>
          <a:p>
            <a:r>
              <a:rPr lang="en-US" dirty="0"/>
              <a:t>Other Sentiment Feature: Logical Negation</a:t>
            </a:r>
          </a:p>
        </p:txBody>
      </p:sp>
      <p:sp>
        <p:nvSpPr>
          <p:cNvPr id="3" name="Content Placeholder 2"/>
          <p:cNvSpPr>
            <a:spLocks noGrp="1"/>
          </p:cNvSpPr>
          <p:nvPr>
            <p:ph idx="1"/>
          </p:nvPr>
        </p:nvSpPr>
        <p:spPr/>
        <p:txBody>
          <a:bodyPr/>
          <a:lstStyle/>
          <a:p>
            <a:r>
              <a:rPr lang="en-US" sz="2800" dirty="0"/>
              <a:t>Is logical negation (</a:t>
            </a:r>
            <a:r>
              <a:rPr lang="en-US" sz="2800" i="1" dirty="0"/>
              <a:t>no, not, never</a:t>
            </a:r>
            <a:r>
              <a:rPr lang="en-US" sz="2800" dirty="0"/>
              <a:t>) associated with negative sentiment?</a:t>
            </a:r>
          </a:p>
          <a:p>
            <a:pPr lvl="1"/>
            <a:r>
              <a:rPr lang="en-US" sz="2400" dirty="0"/>
              <a:t>Count negation (</a:t>
            </a:r>
            <a:r>
              <a:rPr lang="en-US" sz="2400" i="1" dirty="0"/>
              <a:t>not, </a:t>
            </a:r>
            <a:r>
              <a:rPr lang="en-US" sz="2400" i="1" dirty="0" err="1"/>
              <a:t>n’t</a:t>
            </a:r>
            <a:r>
              <a:rPr lang="en-US" sz="2400" i="1" dirty="0"/>
              <a:t>, no, never</a:t>
            </a:r>
            <a:r>
              <a:rPr lang="en-US" sz="2400" dirty="0"/>
              <a:t>) in online reviews</a:t>
            </a:r>
          </a:p>
          <a:p>
            <a:pPr lvl="1"/>
            <a:r>
              <a:rPr lang="en-US" sz="2400" dirty="0"/>
              <a:t>Regress against the review rating</a:t>
            </a:r>
          </a:p>
        </p:txBody>
      </p:sp>
      <p:pic>
        <p:nvPicPr>
          <p:cNvPr id="5" name="Picture 4" descr="potts.tiff"/>
          <p:cNvPicPr>
            <a:picLocks noChangeAspect="1"/>
          </p:cNvPicPr>
          <p:nvPr/>
        </p:nvPicPr>
        <p:blipFill rotWithShape="1">
          <a:blip r:embed="rId3">
            <a:extLst>
              <a:ext uri="{28A0092B-C50C-407E-A947-70E740481C1C}">
                <a14:useLocalDpi xmlns:a14="http://schemas.microsoft.com/office/drawing/2010/main" val="0"/>
              </a:ext>
            </a:extLst>
          </a:blip>
          <a:srcRect l="4860" r="-4860"/>
          <a:stretch/>
        </p:blipFill>
        <p:spPr>
          <a:xfrm>
            <a:off x="1790700" y="2895600"/>
            <a:ext cx="7239000" cy="3111164"/>
          </a:xfrm>
          <a:prstGeom prst="rect">
            <a:avLst/>
          </a:prstGeom>
        </p:spPr>
      </p:pic>
      <p:sp>
        <p:nvSpPr>
          <p:cNvPr id="6" name="TextBox 5"/>
          <p:cNvSpPr txBox="1"/>
          <p:nvPr/>
        </p:nvSpPr>
        <p:spPr>
          <a:xfrm rot="16200000">
            <a:off x="435331" y="4311930"/>
            <a:ext cx="1679480" cy="523220"/>
          </a:xfrm>
          <a:prstGeom prst="rect">
            <a:avLst/>
          </a:prstGeom>
          <a:noFill/>
        </p:spPr>
        <p:txBody>
          <a:bodyPr wrap="square" rtlCol="0">
            <a:spAutoFit/>
          </a:bodyPr>
          <a:lstStyle/>
          <a:p>
            <a:r>
              <a:rPr lang="en-US" sz="1400" dirty="0"/>
              <a:t>Scaled likelihood</a:t>
            </a:r>
          </a:p>
          <a:p>
            <a:r>
              <a:rPr lang="en-US" sz="1400" dirty="0"/>
              <a:t>P(</a:t>
            </a:r>
            <a:r>
              <a:rPr lang="en-US" sz="1400" dirty="0" err="1"/>
              <a:t>w|c</a:t>
            </a:r>
            <a:r>
              <a:rPr lang="en-US" sz="1400" dirty="0"/>
              <a:t>)/P(w)</a:t>
            </a:r>
          </a:p>
        </p:txBody>
      </p:sp>
      <p:sp>
        <p:nvSpPr>
          <p:cNvPr id="7" name="Rectangle 6"/>
          <p:cNvSpPr/>
          <p:nvPr/>
        </p:nvSpPr>
        <p:spPr>
          <a:xfrm>
            <a:off x="3191683" y="3338091"/>
            <a:ext cx="3903633" cy="369332"/>
          </a:xfrm>
          <a:prstGeom prst="rect">
            <a:avLst/>
          </a:prstGeom>
        </p:spPr>
        <p:txBody>
          <a:bodyPr wrap="none">
            <a:spAutoFit/>
          </a:bodyPr>
          <a:lstStyle/>
          <a:p>
            <a:r>
              <a:rPr lang="en-US" dirty="0">
                <a:solidFill>
                  <a:srgbClr val="00B050"/>
                </a:solidFill>
              </a:rPr>
              <a:t>More negation in negative sentiment</a:t>
            </a:r>
          </a:p>
        </p:txBody>
      </p:sp>
    </p:spTree>
    <p:extLst>
      <p:ext uri="{BB962C8B-B14F-4D97-AF65-F5344CB8AC3E}">
        <p14:creationId xmlns:p14="http://schemas.microsoft.com/office/powerpoint/2010/main" val="141793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endParaRPr lang="en-US" dirty="0"/>
          </a:p>
        </p:txBody>
      </p:sp>
      <p:sp>
        <p:nvSpPr>
          <p:cNvPr id="3" name="Content Placeholder 2"/>
          <p:cNvSpPr>
            <a:spLocks noGrp="1"/>
          </p:cNvSpPr>
          <p:nvPr>
            <p:ph idx="1"/>
          </p:nvPr>
        </p:nvSpPr>
        <p:spPr/>
        <p:txBody>
          <a:bodyPr/>
          <a:lstStyle/>
          <a:p>
            <a:r>
              <a:rPr lang="en-IN" dirty="0">
                <a:solidFill>
                  <a:srgbClr val="00B050"/>
                </a:solidFill>
              </a:rPr>
              <a:t>Applications of Sentiment Analysis</a:t>
            </a:r>
          </a:p>
          <a:p>
            <a:r>
              <a:rPr lang="en-IN" dirty="0">
                <a:solidFill>
                  <a:srgbClr val="00B050"/>
                </a:solidFill>
              </a:rPr>
              <a:t>Word-based Classification Approach</a:t>
            </a:r>
          </a:p>
          <a:p>
            <a:r>
              <a:rPr lang="en-IN" dirty="0">
                <a:solidFill>
                  <a:srgbClr val="00B050"/>
                </a:solidFill>
              </a:rPr>
              <a:t>Sentiment Lexicons and Negation Words</a:t>
            </a:r>
          </a:p>
          <a:p>
            <a:r>
              <a:rPr lang="en-IN" b="1" dirty="0">
                <a:solidFill>
                  <a:srgbClr val="7030A0"/>
                </a:solidFill>
              </a:rPr>
              <a:t>Learning Sentiment Lexicons</a:t>
            </a:r>
          </a:p>
          <a:p>
            <a:endParaRPr lang="en-IN" dirty="0"/>
          </a:p>
          <a:p>
            <a:endParaRPr lang="en-US" dirty="0"/>
          </a:p>
        </p:txBody>
      </p:sp>
    </p:spTree>
    <p:extLst>
      <p:ext uri="{BB962C8B-B14F-4D97-AF65-F5344CB8AC3E}">
        <p14:creationId xmlns:p14="http://schemas.microsoft.com/office/powerpoint/2010/main" val="27787058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Semi-supervised Learning of Lexicons</a:t>
            </a:r>
          </a:p>
        </p:txBody>
      </p:sp>
      <p:sp>
        <p:nvSpPr>
          <p:cNvPr id="3" name="Content Placeholder 2"/>
          <p:cNvSpPr>
            <a:spLocks noGrp="1"/>
          </p:cNvSpPr>
          <p:nvPr>
            <p:ph idx="1"/>
          </p:nvPr>
        </p:nvSpPr>
        <p:spPr/>
        <p:txBody>
          <a:bodyPr/>
          <a:lstStyle/>
          <a:p>
            <a:r>
              <a:rPr lang="en-US" sz="2800" dirty="0"/>
              <a:t>Use a small amount of information</a:t>
            </a:r>
          </a:p>
          <a:p>
            <a:pPr lvl="1"/>
            <a:r>
              <a:rPr lang="en-US" sz="2400" dirty="0"/>
              <a:t>A few labeled examples</a:t>
            </a:r>
          </a:p>
          <a:p>
            <a:pPr lvl="1"/>
            <a:r>
              <a:rPr lang="en-US" sz="2400" dirty="0"/>
              <a:t>A few hand-built patterns</a:t>
            </a:r>
          </a:p>
          <a:p>
            <a:r>
              <a:rPr lang="en-US" sz="2800" dirty="0"/>
              <a:t>To bootstrap a lexicon using this small amount of information</a:t>
            </a:r>
          </a:p>
          <a:p>
            <a:pPr lvl="1"/>
            <a:r>
              <a:rPr lang="en-IN" sz="2400" dirty="0"/>
              <a:t>Just increase lexicon size</a:t>
            </a:r>
          </a:p>
          <a:p>
            <a:pPr lvl="1"/>
            <a:r>
              <a:rPr lang="en-IN" sz="2400" dirty="0"/>
              <a:t>Adapt lexicon to another domain</a:t>
            </a:r>
            <a:endParaRPr lang="en-US" sz="2400" dirty="0"/>
          </a:p>
        </p:txBody>
      </p:sp>
    </p:spTree>
    <p:extLst>
      <p:ext uri="{BB962C8B-B14F-4D97-AF65-F5344CB8AC3E}">
        <p14:creationId xmlns:p14="http://schemas.microsoft.com/office/powerpoint/2010/main" val="3476652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228600"/>
            <a:ext cx="8210550" cy="533400"/>
          </a:xfrm>
        </p:spPr>
        <p:txBody>
          <a:bodyPr>
            <a:normAutofit fontScale="90000"/>
          </a:bodyPr>
          <a:lstStyle/>
          <a:p>
            <a:r>
              <a:rPr lang="en-US" dirty="0"/>
              <a:t>Using “and” and “but”</a:t>
            </a:r>
          </a:p>
        </p:txBody>
      </p:sp>
      <p:sp>
        <p:nvSpPr>
          <p:cNvPr id="3" name="Content Placeholder 2"/>
          <p:cNvSpPr>
            <a:spLocks noGrp="1"/>
          </p:cNvSpPr>
          <p:nvPr>
            <p:ph idx="1"/>
          </p:nvPr>
        </p:nvSpPr>
        <p:spPr>
          <a:xfrm>
            <a:off x="533400" y="1112837"/>
            <a:ext cx="9258300" cy="4525963"/>
          </a:xfrm>
        </p:spPr>
        <p:txBody>
          <a:bodyPr/>
          <a:lstStyle/>
          <a:p>
            <a:r>
              <a:rPr lang="en-US" sz="2800" dirty="0"/>
              <a:t>Adjectives conjoined by “</a:t>
            </a:r>
            <a:r>
              <a:rPr lang="en-US" sz="2800" i="1" dirty="0"/>
              <a:t>and</a:t>
            </a:r>
            <a:r>
              <a:rPr lang="en-US" sz="2800" dirty="0"/>
              <a:t>” have same polarity</a:t>
            </a:r>
          </a:p>
          <a:p>
            <a:pPr lvl="1"/>
            <a:r>
              <a:rPr lang="en-US" sz="2400" dirty="0">
                <a:solidFill>
                  <a:srgbClr val="0000FF"/>
                </a:solidFill>
              </a:rPr>
              <a:t>Fair </a:t>
            </a:r>
            <a:r>
              <a:rPr lang="en-US" sz="2400" b="1" dirty="0">
                <a:solidFill>
                  <a:srgbClr val="0000FF"/>
                </a:solidFill>
              </a:rPr>
              <a:t>and</a:t>
            </a:r>
            <a:r>
              <a:rPr lang="en-US" sz="2400" dirty="0">
                <a:solidFill>
                  <a:srgbClr val="0000FF"/>
                </a:solidFill>
              </a:rPr>
              <a:t> legitimate, corrupt </a:t>
            </a:r>
            <a:r>
              <a:rPr lang="en-US" sz="2400" b="1" dirty="0">
                <a:solidFill>
                  <a:srgbClr val="0000FF"/>
                </a:solidFill>
              </a:rPr>
              <a:t>and</a:t>
            </a:r>
            <a:r>
              <a:rPr lang="en-US" sz="2400" dirty="0">
                <a:solidFill>
                  <a:srgbClr val="0000FF"/>
                </a:solidFill>
              </a:rPr>
              <a:t> brutal – high frequency</a:t>
            </a:r>
          </a:p>
          <a:p>
            <a:pPr lvl="1"/>
            <a:r>
              <a:rPr lang="en-US" sz="2400" dirty="0">
                <a:solidFill>
                  <a:srgbClr val="0000FF"/>
                </a:solidFill>
              </a:rPr>
              <a:t>*fair </a:t>
            </a:r>
            <a:r>
              <a:rPr lang="en-US" sz="2400" b="1" dirty="0">
                <a:solidFill>
                  <a:srgbClr val="0000FF"/>
                </a:solidFill>
              </a:rPr>
              <a:t>and</a:t>
            </a:r>
            <a:r>
              <a:rPr lang="en-US" sz="2400" dirty="0">
                <a:solidFill>
                  <a:srgbClr val="0000FF"/>
                </a:solidFill>
              </a:rPr>
              <a:t> brutal, *corrupt </a:t>
            </a:r>
            <a:r>
              <a:rPr lang="en-US" sz="2400" b="1" dirty="0">
                <a:solidFill>
                  <a:srgbClr val="0000FF"/>
                </a:solidFill>
              </a:rPr>
              <a:t>and</a:t>
            </a:r>
            <a:r>
              <a:rPr lang="en-US" sz="2400" dirty="0">
                <a:solidFill>
                  <a:srgbClr val="0000FF"/>
                </a:solidFill>
              </a:rPr>
              <a:t> legitimate – low frequency</a:t>
            </a:r>
          </a:p>
          <a:p>
            <a:r>
              <a:rPr lang="en-US" sz="2800" dirty="0"/>
              <a:t>Adjectives conjoined by “</a:t>
            </a:r>
            <a:r>
              <a:rPr lang="en-US" sz="2800" i="1" dirty="0"/>
              <a:t>but</a:t>
            </a:r>
            <a:r>
              <a:rPr lang="en-US" sz="2800" dirty="0"/>
              <a:t>” do not</a:t>
            </a:r>
          </a:p>
          <a:p>
            <a:pPr lvl="1"/>
            <a:r>
              <a:rPr lang="en-US" sz="2400" dirty="0">
                <a:solidFill>
                  <a:srgbClr val="0000FF"/>
                </a:solidFill>
              </a:rPr>
              <a:t>fair </a:t>
            </a:r>
            <a:r>
              <a:rPr lang="en-US" sz="2400" b="1" dirty="0">
                <a:solidFill>
                  <a:srgbClr val="0000FF"/>
                </a:solidFill>
              </a:rPr>
              <a:t>but </a:t>
            </a:r>
            <a:r>
              <a:rPr lang="en-US" sz="2400" dirty="0">
                <a:solidFill>
                  <a:srgbClr val="0000FF"/>
                </a:solidFill>
              </a:rPr>
              <a:t>brutal – high frequency</a:t>
            </a:r>
          </a:p>
          <a:p>
            <a:r>
              <a:rPr lang="en-US" sz="2800" dirty="0"/>
              <a:t>Step 1: Label seed set of 1336 adjectives (all &gt;20 in 21 million word WSJ corpus): 657 positive and 679 negative</a:t>
            </a:r>
            <a:endParaRPr lang="en-US" sz="2400" dirty="0"/>
          </a:p>
          <a:p>
            <a:pPr lvl="1"/>
            <a:endParaRPr lang="en-US" sz="2400" dirty="0"/>
          </a:p>
          <a:p>
            <a:pPr lvl="1"/>
            <a:endParaRPr lang="en-US" sz="2400" dirty="0"/>
          </a:p>
        </p:txBody>
      </p:sp>
    </p:spTree>
    <p:extLst>
      <p:ext uri="{BB962C8B-B14F-4D97-AF65-F5344CB8AC3E}">
        <p14:creationId xmlns:p14="http://schemas.microsoft.com/office/powerpoint/2010/main" val="20438778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952500" y="1981200"/>
            <a:ext cx="7010400" cy="3235477"/>
            <a:chOff x="381000" y="1885950"/>
            <a:chExt cx="7010400" cy="3235477"/>
          </a:xfrm>
        </p:grpSpPr>
        <p:pic>
          <p:nvPicPr>
            <p:cNvPr id="6" name="Picture 5" descr="nice1.tif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885950"/>
              <a:ext cx="7010400" cy="828151"/>
            </a:xfrm>
            <a:prstGeom prst="rect">
              <a:avLst/>
            </a:prstGeom>
          </p:spPr>
        </p:pic>
        <p:pic>
          <p:nvPicPr>
            <p:cNvPr id="7" name="Picture 6" descr="nice2.tif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2661138"/>
              <a:ext cx="7010400" cy="2460289"/>
            </a:xfrm>
            <a:prstGeom prst="rect">
              <a:avLst/>
            </a:prstGeom>
          </p:spPr>
        </p:pic>
      </p:grpSp>
      <p:sp>
        <p:nvSpPr>
          <p:cNvPr id="2" name="Title 1"/>
          <p:cNvSpPr>
            <a:spLocks noGrp="1"/>
          </p:cNvSpPr>
          <p:nvPr>
            <p:ph type="title"/>
          </p:nvPr>
        </p:nvSpPr>
        <p:spPr>
          <a:xfrm>
            <a:off x="190500" y="152401"/>
            <a:ext cx="9372600" cy="465136"/>
          </a:xfrm>
        </p:spPr>
        <p:txBody>
          <a:bodyPr>
            <a:normAutofit fontScale="90000"/>
          </a:bodyPr>
          <a:lstStyle/>
          <a:p>
            <a:r>
              <a:rPr lang="en-US" dirty="0"/>
              <a:t>Using “and” and “but”: Step 2</a:t>
            </a:r>
          </a:p>
        </p:txBody>
      </p:sp>
      <p:sp>
        <p:nvSpPr>
          <p:cNvPr id="3" name="Content Placeholder 2"/>
          <p:cNvSpPr>
            <a:spLocks noGrp="1"/>
          </p:cNvSpPr>
          <p:nvPr>
            <p:ph idx="1"/>
          </p:nvPr>
        </p:nvSpPr>
        <p:spPr/>
        <p:txBody>
          <a:bodyPr/>
          <a:lstStyle/>
          <a:p>
            <a:r>
              <a:rPr lang="en-US" sz="2800" dirty="0"/>
              <a:t>Expand seed set to conjoined adjectives</a:t>
            </a:r>
            <a:endParaRPr lang="en-US" dirty="0"/>
          </a:p>
          <a:p>
            <a:pPr lvl="2"/>
            <a:endParaRPr lang="en-US" dirty="0"/>
          </a:p>
        </p:txBody>
      </p:sp>
      <p:sp>
        <p:nvSpPr>
          <p:cNvPr id="10" name="Rectangle 9"/>
          <p:cNvSpPr/>
          <p:nvPr/>
        </p:nvSpPr>
        <p:spPr bwMode="auto">
          <a:xfrm>
            <a:off x="8039100" y="3124198"/>
            <a:ext cx="1371600" cy="381000"/>
          </a:xfrm>
          <a:prstGeom prst="rect">
            <a:avLst/>
          </a:prstGeom>
          <a:solidFill>
            <a:schemeClr val="accent2">
              <a:lumMod val="40000"/>
              <a:lumOff val="6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r>
              <a:rPr lang="en-US" sz="1600" dirty="0">
                <a:latin typeface="Lucida Sans" pitchFamily="-65" charset="0"/>
              </a:rPr>
              <a:t>nice, helpful</a:t>
            </a:r>
          </a:p>
        </p:txBody>
      </p:sp>
      <p:sp>
        <p:nvSpPr>
          <p:cNvPr id="11" name="Rectangle 10"/>
          <p:cNvSpPr/>
          <p:nvPr/>
        </p:nvSpPr>
        <p:spPr bwMode="auto">
          <a:xfrm>
            <a:off x="8191500" y="4190998"/>
            <a:ext cx="1371600" cy="381000"/>
          </a:xfrm>
          <a:prstGeom prst="rect">
            <a:avLst/>
          </a:prstGeom>
          <a:solidFill>
            <a:schemeClr val="accent2">
              <a:lumMod val="40000"/>
              <a:lumOff val="6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r>
              <a:rPr lang="en-US" sz="1600" dirty="0">
                <a:latin typeface="Lucida Sans" pitchFamily="-65" charset="0"/>
              </a:rPr>
              <a:t>nice, classy</a:t>
            </a:r>
          </a:p>
        </p:txBody>
      </p:sp>
      <p:sp>
        <p:nvSpPr>
          <p:cNvPr id="12" name="Oval 11"/>
          <p:cNvSpPr/>
          <p:nvPr/>
        </p:nvSpPr>
        <p:spPr bwMode="auto">
          <a:xfrm>
            <a:off x="5905500" y="2743198"/>
            <a:ext cx="1676400" cy="381000"/>
          </a:xfrm>
          <a:prstGeom prst="ellipse">
            <a:avLst/>
          </a:prstGeom>
          <a:no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en-US" sz="2400">
              <a:latin typeface="Lucida Sans" pitchFamily="-65" charset="0"/>
            </a:endParaRPr>
          </a:p>
        </p:txBody>
      </p:sp>
      <p:sp>
        <p:nvSpPr>
          <p:cNvPr id="14" name="Oval 13"/>
          <p:cNvSpPr/>
          <p:nvPr/>
        </p:nvSpPr>
        <p:spPr bwMode="auto">
          <a:xfrm>
            <a:off x="5869404" y="2786980"/>
            <a:ext cx="1752600" cy="419100"/>
          </a:xfrm>
          <a:prstGeom prst="ellipse">
            <a:avLst/>
          </a:prstGeom>
          <a:no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en-US" sz="2400">
              <a:latin typeface="Lucida Sans" pitchFamily="-65" charset="0"/>
            </a:endParaRPr>
          </a:p>
        </p:txBody>
      </p:sp>
      <p:sp>
        <p:nvSpPr>
          <p:cNvPr id="15" name="Oval 14"/>
          <p:cNvSpPr/>
          <p:nvPr/>
        </p:nvSpPr>
        <p:spPr bwMode="auto">
          <a:xfrm>
            <a:off x="2095500" y="3962398"/>
            <a:ext cx="1752600" cy="419100"/>
          </a:xfrm>
          <a:prstGeom prst="ellipse">
            <a:avLst/>
          </a:prstGeom>
          <a:no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en-US" sz="2400">
              <a:latin typeface="Lucida Sans" pitchFamily="-65" charset="0"/>
            </a:endParaRPr>
          </a:p>
        </p:txBody>
      </p:sp>
    </p:spTree>
    <p:extLst>
      <p:ext uri="{BB962C8B-B14F-4D97-AF65-F5344CB8AC3E}">
        <p14:creationId xmlns:p14="http://schemas.microsoft.com/office/powerpoint/2010/main" val="75833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8991600" cy="419099"/>
          </a:xfrm>
        </p:spPr>
        <p:txBody>
          <a:bodyPr>
            <a:normAutofit fontScale="90000"/>
          </a:bodyPr>
          <a:lstStyle/>
          <a:p>
            <a:r>
              <a:rPr lang="en-US" dirty="0"/>
              <a:t>Using “and” and “but”</a:t>
            </a:r>
          </a:p>
        </p:txBody>
      </p:sp>
      <p:sp>
        <p:nvSpPr>
          <p:cNvPr id="3" name="Content Placeholder 2"/>
          <p:cNvSpPr>
            <a:spLocks noGrp="1"/>
          </p:cNvSpPr>
          <p:nvPr>
            <p:ph idx="1"/>
          </p:nvPr>
        </p:nvSpPr>
        <p:spPr>
          <a:xfrm>
            <a:off x="514350" y="990601"/>
            <a:ext cx="4552950" cy="2362200"/>
          </a:xfrm>
        </p:spPr>
        <p:txBody>
          <a:bodyPr/>
          <a:lstStyle/>
          <a:p>
            <a:r>
              <a:rPr lang="en-US" dirty="0"/>
              <a:t>Step 3: Supervised classifier assigns “polarity similarity” to each word pair, resulting in graph:</a:t>
            </a:r>
          </a:p>
          <a:p>
            <a:pPr lvl="1"/>
            <a:r>
              <a:rPr lang="en-IN" dirty="0"/>
              <a:t>Features are count(and), count(but), …</a:t>
            </a:r>
            <a:endParaRPr lang="en-US" dirty="0"/>
          </a:p>
        </p:txBody>
      </p:sp>
      <p:pic>
        <p:nvPicPr>
          <p:cNvPr id="4" name="Picture 3"/>
          <p:cNvPicPr>
            <a:picLocks noChangeAspect="1"/>
          </p:cNvPicPr>
          <p:nvPr/>
        </p:nvPicPr>
        <p:blipFill>
          <a:blip r:embed="rId3"/>
          <a:stretch>
            <a:fillRect/>
          </a:stretch>
        </p:blipFill>
        <p:spPr>
          <a:xfrm>
            <a:off x="499696" y="3581555"/>
            <a:ext cx="4814888" cy="1935008"/>
          </a:xfrm>
          <a:prstGeom prst="rect">
            <a:avLst/>
          </a:prstGeom>
        </p:spPr>
      </p:pic>
      <p:sp>
        <p:nvSpPr>
          <p:cNvPr id="19" name="Content Placeholder 2"/>
          <p:cNvSpPr txBox="1">
            <a:spLocks/>
          </p:cNvSpPr>
          <p:nvPr/>
        </p:nvSpPr>
        <p:spPr bwMode="auto">
          <a:xfrm>
            <a:off x="5219700" y="1014048"/>
            <a:ext cx="458013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inion" pitchFamily="18" charset="0"/>
                <a:ea typeface="Verdana" pitchFamily="34" charset="0"/>
                <a:cs typeface="Verdana" pitchFamily="34" charset="0"/>
              </a:defRPr>
            </a:lvl1pPr>
            <a:lvl2pPr marL="742950" indent="-285750" algn="l" rtl="0" eaLnBrk="0" fontAlgn="base" hangingPunct="0">
              <a:spcBef>
                <a:spcPct val="20000"/>
              </a:spcBef>
              <a:spcAft>
                <a:spcPct val="0"/>
              </a:spcAft>
              <a:buChar char="–"/>
              <a:defRPr sz="2000">
                <a:solidFill>
                  <a:schemeClr val="tx1"/>
                </a:solidFill>
                <a:latin typeface="Minion" pitchFamily="18" charset="0"/>
                <a:ea typeface="Verdana" pitchFamily="34" charset="0"/>
                <a:cs typeface="Verdana" pitchFamily="34" charset="0"/>
              </a:defRPr>
            </a:lvl2pPr>
            <a:lvl3pPr marL="1143000" indent="-228600" algn="l" rtl="0" eaLnBrk="0" fontAlgn="base" hangingPunct="0">
              <a:spcBef>
                <a:spcPct val="20000"/>
              </a:spcBef>
              <a:spcAft>
                <a:spcPct val="0"/>
              </a:spcAft>
              <a:buChar char="•"/>
              <a:defRPr sz="1600">
                <a:solidFill>
                  <a:schemeClr val="tx1"/>
                </a:solidFill>
                <a:latin typeface="Minion" pitchFamily="18" charset="0"/>
                <a:ea typeface="Verdana" pitchFamily="34" charset="0"/>
                <a:cs typeface="Verdana" pitchFamily="34" charset="0"/>
              </a:defRPr>
            </a:lvl3pPr>
            <a:lvl4pPr marL="1600200" indent="-228600" algn="l" rtl="0" eaLnBrk="0" fontAlgn="base" hangingPunct="0">
              <a:spcBef>
                <a:spcPct val="20000"/>
              </a:spcBef>
              <a:spcAft>
                <a:spcPct val="0"/>
              </a:spcAft>
              <a:buChar char="–"/>
              <a:defRPr sz="1200">
                <a:solidFill>
                  <a:schemeClr val="tx1"/>
                </a:solidFill>
                <a:latin typeface="Minion" pitchFamily="18" charset="0"/>
                <a:ea typeface="Verdana" pitchFamily="34" charset="0"/>
                <a:cs typeface="Verdana" pitchFamily="34" charset="0"/>
              </a:defRPr>
            </a:lvl4pPr>
            <a:lvl5pPr marL="2057400" indent="-228600" algn="l" rtl="0" eaLnBrk="0" fontAlgn="base" hangingPunct="0">
              <a:spcBef>
                <a:spcPct val="20000"/>
              </a:spcBef>
              <a:spcAft>
                <a:spcPct val="0"/>
              </a:spcAft>
              <a:buChar char="»"/>
              <a:defRPr sz="1000">
                <a:solidFill>
                  <a:schemeClr val="tx1"/>
                </a:solidFill>
                <a:latin typeface="Minion" pitchFamily="18"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Step 4: Clustering for partitioning the graph into two</a:t>
            </a:r>
          </a:p>
        </p:txBody>
      </p:sp>
      <p:pic>
        <p:nvPicPr>
          <p:cNvPr id="20" name="Picture 19"/>
          <p:cNvPicPr>
            <a:picLocks noChangeAspect="1"/>
          </p:cNvPicPr>
          <p:nvPr/>
        </p:nvPicPr>
        <p:blipFill>
          <a:blip r:embed="rId4"/>
          <a:stretch>
            <a:fillRect/>
          </a:stretch>
        </p:blipFill>
        <p:spPr>
          <a:xfrm>
            <a:off x="5372100" y="3657600"/>
            <a:ext cx="4471987" cy="1957403"/>
          </a:xfrm>
          <a:prstGeom prst="rect">
            <a:avLst/>
          </a:prstGeom>
        </p:spPr>
      </p:pic>
    </p:spTree>
    <p:extLst>
      <p:ext uri="{BB962C8B-B14F-4D97-AF65-F5344CB8AC3E}">
        <p14:creationId xmlns:p14="http://schemas.microsoft.com/office/powerpoint/2010/main" val="23556791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9D99341A-8FDB-4DF6-A180-B40B76E56864}" type="slidenum">
              <a:rPr lang="en-US" altLang="zh-CN"/>
              <a:pPr/>
              <a:t>69</a:t>
            </a:fld>
            <a:endParaRPr lang="en-US" altLang="zh-CN"/>
          </a:p>
        </p:txBody>
      </p:sp>
      <p:sp>
        <p:nvSpPr>
          <p:cNvPr id="2197506" name="Rectangle 2"/>
          <p:cNvSpPr>
            <a:spLocks noGrp="1" noChangeArrowheads="1"/>
          </p:cNvSpPr>
          <p:nvPr>
            <p:ph type="title"/>
          </p:nvPr>
        </p:nvSpPr>
        <p:spPr/>
        <p:txBody>
          <a:bodyPr/>
          <a:lstStyle/>
          <a:p>
            <a:r>
              <a:rPr lang="en-US"/>
              <a:t>WordNet</a:t>
            </a:r>
          </a:p>
        </p:txBody>
      </p:sp>
      <p:pic>
        <p:nvPicPr>
          <p:cNvPr id="2197507" name="Picture 3" descr="brilliantsm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1" y="1981200"/>
            <a:ext cx="7853363" cy="2497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5313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3"/>
          <p:cNvSpPr>
            <a:spLocks noGrp="1"/>
          </p:cNvSpPr>
          <p:nvPr>
            <p:ph type="sldNum" sz="quarter" idx="10"/>
          </p:nvPr>
        </p:nvSpPr>
        <p:spPr/>
        <p:txBody>
          <a:bodyPr/>
          <a:lstStyle/>
          <a:p>
            <a:fld id="{AC47EA66-C9B4-4197-BA0B-69D4A32CD2C5}" type="slidenum">
              <a:rPr lang="en-US" altLang="zh-CN"/>
              <a:pPr/>
              <a:t>70</a:t>
            </a:fld>
            <a:endParaRPr lang="en-US" altLang="zh-CN"/>
          </a:p>
        </p:txBody>
      </p:sp>
      <p:sp>
        <p:nvSpPr>
          <p:cNvPr id="2199554" name="Rectangle 2"/>
          <p:cNvSpPr>
            <a:spLocks noGrp="1" noChangeArrowheads="1"/>
          </p:cNvSpPr>
          <p:nvPr>
            <p:ph type="title"/>
          </p:nvPr>
        </p:nvSpPr>
        <p:spPr/>
        <p:txBody>
          <a:bodyPr/>
          <a:lstStyle/>
          <a:p>
            <a:r>
              <a:rPr lang="en-US"/>
              <a:t>WordNet</a:t>
            </a:r>
          </a:p>
        </p:txBody>
      </p:sp>
      <p:pic>
        <p:nvPicPr>
          <p:cNvPr id="2199555" name="Picture 3" descr="brilliantsm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1" y="1981200"/>
            <a:ext cx="7853363" cy="2497138"/>
          </a:xfrm>
          <a:prstGeom prst="rect">
            <a:avLst/>
          </a:prstGeom>
          <a:noFill/>
          <a:extLst>
            <a:ext uri="{909E8E84-426E-40DD-AFC4-6F175D3DCCD1}">
              <a14:hiddenFill xmlns:a14="http://schemas.microsoft.com/office/drawing/2010/main">
                <a:solidFill>
                  <a:srgbClr val="FFFFFF"/>
                </a:solidFill>
              </a14:hiddenFill>
            </a:ext>
          </a:extLst>
        </p:spPr>
      </p:pic>
      <p:sp>
        <p:nvSpPr>
          <p:cNvPr id="2199556" name="Oval 4"/>
          <p:cNvSpPr>
            <a:spLocks noChangeArrowheads="1"/>
          </p:cNvSpPr>
          <p:nvPr/>
        </p:nvSpPr>
        <p:spPr bwMode="auto">
          <a:xfrm>
            <a:off x="2171700" y="1828800"/>
            <a:ext cx="2362200" cy="457200"/>
          </a:xfrm>
          <a:prstGeom prst="ellipse">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2188938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3"/>
          <p:cNvSpPr>
            <a:spLocks noGrp="1"/>
          </p:cNvSpPr>
          <p:nvPr>
            <p:ph type="sldNum" sz="quarter" idx="10"/>
          </p:nvPr>
        </p:nvSpPr>
        <p:spPr/>
        <p:txBody>
          <a:bodyPr/>
          <a:lstStyle/>
          <a:p>
            <a:fld id="{B66A3336-9725-481B-992E-C2348CBAE472}" type="slidenum">
              <a:rPr lang="en-US" altLang="zh-CN"/>
              <a:pPr/>
              <a:t>71</a:t>
            </a:fld>
            <a:endParaRPr lang="en-US" altLang="zh-CN"/>
          </a:p>
        </p:txBody>
      </p:sp>
      <p:sp>
        <p:nvSpPr>
          <p:cNvPr id="2201602" name="Rectangle 2"/>
          <p:cNvSpPr>
            <a:spLocks noGrp="1" noChangeArrowheads="1"/>
          </p:cNvSpPr>
          <p:nvPr>
            <p:ph type="title"/>
          </p:nvPr>
        </p:nvSpPr>
        <p:spPr>
          <a:xfrm>
            <a:off x="266700" y="274638"/>
            <a:ext cx="8229600" cy="1143000"/>
          </a:xfrm>
        </p:spPr>
        <p:txBody>
          <a:bodyPr/>
          <a:lstStyle/>
          <a:p>
            <a:pPr algn="r"/>
            <a:r>
              <a:rPr lang="en-US"/>
              <a:t>WordNet relations</a:t>
            </a:r>
          </a:p>
        </p:txBody>
      </p:sp>
      <p:pic>
        <p:nvPicPr>
          <p:cNvPr id="2201603" name="Picture 3" descr="brilliantsm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1" y="1981200"/>
            <a:ext cx="7853363" cy="2497138"/>
          </a:xfrm>
          <a:prstGeom prst="rect">
            <a:avLst/>
          </a:prstGeom>
          <a:noFill/>
          <a:extLst>
            <a:ext uri="{909E8E84-426E-40DD-AFC4-6F175D3DCCD1}">
              <a14:hiddenFill xmlns:a14="http://schemas.microsoft.com/office/drawing/2010/main">
                <a:solidFill>
                  <a:srgbClr val="FFFFFF"/>
                </a:solidFill>
              </a14:hiddenFill>
            </a:ext>
          </a:extLst>
        </p:spPr>
      </p:pic>
      <p:sp>
        <p:nvSpPr>
          <p:cNvPr id="2201604" name="Oval 4"/>
          <p:cNvSpPr>
            <a:spLocks noChangeArrowheads="1"/>
          </p:cNvSpPr>
          <p:nvPr/>
        </p:nvSpPr>
        <p:spPr bwMode="auto">
          <a:xfrm>
            <a:off x="2476500" y="2514600"/>
            <a:ext cx="1066800" cy="457200"/>
          </a:xfrm>
          <a:prstGeom prst="ellipse">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6895467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3"/>
          <p:cNvSpPr>
            <a:spLocks noGrp="1"/>
          </p:cNvSpPr>
          <p:nvPr>
            <p:ph type="sldNum" sz="quarter" idx="10"/>
          </p:nvPr>
        </p:nvSpPr>
        <p:spPr/>
        <p:txBody>
          <a:bodyPr/>
          <a:lstStyle/>
          <a:p>
            <a:fld id="{F9836A55-8B40-4A46-B015-C8356F216CCC}" type="slidenum">
              <a:rPr lang="en-US" altLang="zh-CN"/>
              <a:pPr/>
              <a:t>72</a:t>
            </a:fld>
            <a:endParaRPr lang="en-US" altLang="zh-CN"/>
          </a:p>
        </p:txBody>
      </p:sp>
      <p:sp>
        <p:nvSpPr>
          <p:cNvPr id="2203650" name="Rectangle 2"/>
          <p:cNvSpPr>
            <a:spLocks noGrp="1" noChangeArrowheads="1"/>
          </p:cNvSpPr>
          <p:nvPr>
            <p:ph type="title"/>
          </p:nvPr>
        </p:nvSpPr>
        <p:spPr/>
        <p:txBody>
          <a:bodyPr/>
          <a:lstStyle/>
          <a:p>
            <a:r>
              <a:rPr lang="en-US" dirty="0"/>
              <a:t>          WordNet relations</a:t>
            </a:r>
          </a:p>
        </p:txBody>
      </p:sp>
      <p:pic>
        <p:nvPicPr>
          <p:cNvPr id="2203651" name="Picture 3" descr="brilliantsm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1" y="1981200"/>
            <a:ext cx="7853363" cy="2497138"/>
          </a:xfrm>
          <a:prstGeom prst="rect">
            <a:avLst/>
          </a:prstGeom>
          <a:noFill/>
          <a:extLst>
            <a:ext uri="{909E8E84-426E-40DD-AFC4-6F175D3DCCD1}">
              <a14:hiddenFill xmlns:a14="http://schemas.microsoft.com/office/drawing/2010/main">
                <a:solidFill>
                  <a:srgbClr val="FFFFFF"/>
                </a:solidFill>
              </a14:hiddenFill>
            </a:ext>
          </a:extLst>
        </p:spPr>
      </p:pic>
      <p:sp>
        <p:nvSpPr>
          <p:cNvPr id="2203652" name="Oval 4"/>
          <p:cNvSpPr>
            <a:spLocks noChangeArrowheads="1"/>
          </p:cNvSpPr>
          <p:nvPr/>
        </p:nvSpPr>
        <p:spPr bwMode="auto">
          <a:xfrm>
            <a:off x="2781300" y="3886200"/>
            <a:ext cx="1066800" cy="457200"/>
          </a:xfrm>
          <a:prstGeom prst="ellipse">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0077823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WordNet to Learn Polarity</a:t>
            </a:r>
          </a:p>
        </p:txBody>
      </p:sp>
      <p:sp>
        <p:nvSpPr>
          <p:cNvPr id="3" name="Content Placeholder 2"/>
          <p:cNvSpPr>
            <a:spLocks noGrp="1"/>
          </p:cNvSpPr>
          <p:nvPr>
            <p:ph idx="1"/>
          </p:nvPr>
        </p:nvSpPr>
        <p:spPr/>
        <p:txBody>
          <a:bodyPr>
            <a:normAutofit/>
          </a:bodyPr>
          <a:lstStyle/>
          <a:p>
            <a:r>
              <a:rPr lang="en-US" dirty="0"/>
              <a:t>WordNet: online thesaurus.</a:t>
            </a:r>
          </a:p>
          <a:p>
            <a:r>
              <a:rPr lang="en-US" dirty="0"/>
              <a:t>Create positive (“good”) and negative seed-words (“terrible”)</a:t>
            </a:r>
          </a:p>
          <a:p>
            <a:r>
              <a:rPr lang="en-US" dirty="0"/>
              <a:t>Find Synonyms and Antonyms</a:t>
            </a:r>
          </a:p>
          <a:p>
            <a:pPr lvl="1"/>
            <a:r>
              <a:rPr lang="en-US" dirty="0"/>
              <a:t>Positive Set:  Add  synonyms of positive words (“well”) and antonyms of negative words </a:t>
            </a:r>
          </a:p>
          <a:p>
            <a:pPr lvl="1"/>
            <a:r>
              <a:rPr lang="en-US" dirty="0"/>
              <a:t>Negative Set: Add synonyms of negative words (“awful”)  and antonyms of positive words (“evil”)</a:t>
            </a:r>
          </a:p>
          <a:p>
            <a:r>
              <a:rPr lang="en-US" dirty="0"/>
              <a:t>Repeat, following chains of synonyms</a:t>
            </a:r>
          </a:p>
          <a:p>
            <a:r>
              <a:rPr lang="en-US" dirty="0"/>
              <a:t>Filter out bad examples or wrong word senses.</a:t>
            </a:r>
          </a:p>
        </p:txBody>
      </p:sp>
    </p:spTree>
    <p:extLst>
      <p:ext uri="{BB962C8B-B14F-4D97-AF65-F5344CB8AC3E}">
        <p14:creationId xmlns:p14="http://schemas.microsoft.com/office/powerpoint/2010/main" val="15755482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1E85-A23F-4471-99DF-354EB8D8ED51}"/>
              </a:ext>
            </a:extLst>
          </p:cNvPr>
          <p:cNvSpPr>
            <a:spLocks noGrp="1"/>
          </p:cNvSpPr>
          <p:nvPr>
            <p:ph type="title"/>
          </p:nvPr>
        </p:nvSpPr>
        <p:spPr>
          <a:xfrm>
            <a:off x="190500" y="304800"/>
            <a:ext cx="8210550" cy="533400"/>
          </a:xfrm>
        </p:spPr>
        <p:txBody>
          <a:bodyPr/>
          <a:lstStyle/>
          <a:p>
            <a:r>
              <a:rPr lang="en-US" dirty="0"/>
              <a:t>Sentiments are domain dependent and aspect dependent</a:t>
            </a:r>
          </a:p>
        </p:txBody>
      </p:sp>
      <p:sp>
        <p:nvSpPr>
          <p:cNvPr id="3" name="Content Placeholder 2">
            <a:extLst>
              <a:ext uri="{FF2B5EF4-FFF2-40B4-BE49-F238E27FC236}">
                <a16:creationId xmlns:a16="http://schemas.microsoft.com/office/drawing/2014/main" id="{28C7D1E4-457A-4F0E-AB5E-F764BF56B7D5}"/>
              </a:ext>
            </a:extLst>
          </p:cNvPr>
          <p:cNvSpPr>
            <a:spLocks noGrp="1"/>
          </p:cNvSpPr>
          <p:nvPr>
            <p:ph idx="1"/>
          </p:nvPr>
        </p:nvSpPr>
        <p:spPr/>
        <p:txBody>
          <a:bodyPr/>
          <a:lstStyle/>
          <a:p>
            <a:endParaRPr lang="en-US"/>
          </a:p>
        </p:txBody>
      </p:sp>
      <p:sp>
        <p:nvSpPr>
          <p:cNvPr id="4" name="TextBox 2">
            <a:extLst>
              <a:ext uri="{FF2B5EF4-FFF2-40B4-BE49-F238E27FC236}">
                <a16:creationId xmlns:a16="http://schemas.microsoft.com/office/drawing/2014/main" id="{603B8EB8-A506-42ED-97F8-319D83A360B0}"/>
              </a:ext>
            </a:extLst>
          </p:cNvPr>
          <p:cNvSpPr txBox="1"/>
          <p:nvPr/>
        </p:nvSpPr>
        <p:spPr>
          <a:xfrm>
            <a:off x="-24245" y="3322637"/>
            <a:ext cx="2422996"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Berlin Sans FB Demi" pitchFamily="34" charset="0"/>
              </a:rPr>
              <a:t>“unpredictable”</a:t>
            </a:r>
          </a:p>
        </p:txBody>
      </p:sp>
      <p:grpSp>
        <p:nvGrpSpPr>
          <p:cNvPr id="5" name="Group 4">
            <a:extLst>
              <a:ext uri="{FF2B5EF4-FFF2-40B4-BE49-F238E27FC236}">
                <a16:creationId xmlns:a16="http://schemas.microsoft.com/office/drawing/2014/main" id="{3C8A8C04-F86C-4A43-ABBE-5DE11914FD6D}"/>
              </a:ext>
            </a:extLst>
          </p:cNvPr>
          <p:cNvGrpSpPr/>
          <p:nvPr/>
        </p:nvGrpSpPr>
        <p:grpSpPr>
          <a:xfrm>
            <a:off x="2063493" y="1341437"/>
            <a:ext cx="2027062" cy="1559926"/>
            <a:chOff x="3733800" y="1600200"/>
            <a:chExt cx="2436614" cy="1917195"/>
          </a:xfrm>
        </p:grpSpPr>
        <p:pic>
          <p:nvPicPr>
            <p:cNvPr id="13" name="Picture 12">
              <a:extLst>
                <a:ext uri="{FF2B5EF4-FFF2-40B4-BE49-F238E27FC236}">
                  <a16:creationId xmlns:a16="http://schemas.microsoft.com/office/drawing/2014/main" id="{EA53FE56-B2C6-4D2E-BF1C-834307A8F6B8}"/>
                </a:ext>
              </a:extLst>
            </p:cNvPr>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3733800" y="1600200"/>
              <a:ext cx="1905000" cy="1905000"/>
            </a:xfrm>
            <a:prstGeom prst="rect">
              <a:avLst/>
            </a:prstGeom>
            <a:noFill/>
            <a:ln w="9525">
              <a:noFill/>
              <a:miter lim="800000"/>
              <a:headEnd/>
              <a:tailEnd/>
            </a:ln>
          </p:spPr>
        </p:pic>
        <p:pic>
          <p:nvPicPr>
            <p:cNvPr id="14" name="Picture 13">
              <a:extLst>
                <a:ext uri="{FF2B5EF4-FFF2-40B4-BE49-F238E27FC236}">
                  <a16:creationId xmlns:a16="http://schemas.microsoft.com/office/drawing/2014/main" id="{BA6A71E3-CCFB-44E8-A0A1-5561881EC5F6}"/>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689277" y="2008610"/>
              <a:ext cx="1481137" cy="1508785"/>
            </a:xfrm>
            <a:prstGeom prst="rect">
              <a:avLst/>
            </a:prstGeom>
            <a:noFill/>
            <a:ln w="9525">
              <a:noFill/>
              <a:miter lim="800000"/>
              <a:headEnd/>
              <a:tailEnd/>
            </a:ln>
          </p:spPr>
        </p:pic>
      </p:grpSp>
      <p:sp>
        <p:nvSpPr>
          <p:cNvPr id="6" name="TextBox 18">
            <a:extLst>
              <a:ext uri="{FF2B5EF4-FFF2-40B4-BE49-F238E27FC236}">
                <a16:creationId xmlns:a16="http://schemas.microsoft.com/office/drawing/2014/main" id="{B8318634-9E0E-4C8F-8BDB-5722293A21BD}"/>
              </a:ext>
            </a:extLst>
          </p:cNvPr>
          <p:cNvSpPr txBox="1"/>
          <p:nvPr/>
        </p:nvSpPr>
        <p:spPr>
          <a:xfrm>
            <a:off x="2033155" y="2789237"/>
            <a:ext cx="26670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t>Domain = Movie</a:t>
            </a:r>
          </a:p>
        </p:txBody>
      </p:sp>
      <p:sp>
        <p:nvSpPr>
          <p:cNvPr id="7" name="TextBox 19">
            <a:extLst>
              <a:ext uri="{FF2B5EF4-FFF2-40B4-BE49-F238E27FC236}">
                <a16:creationId xmlns:a16="http://schemas.microsoft.com/office/drawing/2014/main" id="{C3744F0A-258A-4E1A-8537-310952D4808C}"/>
              </a:ext>
            </a:extLst>
          </p:cNvPr>
          <p:cNvSpPr txBox="1"/>
          <p:nvPr/>
        </p:nvSpPr>
        <p:spPr>
          <a:xfrm>
            <a:off x="2109355" y="5680372"/>
            <a:ext cx="24384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t>Domain = Laptop</a:t>
            </a:r>
          </a:p>
        </p:txBody>
      </p:sp>
      <p:pic>
        <p:nvPicPr>
          <p:cNvPr id="8" name="Picture 7">
            <a:extLst>
              <a:ext uri="{FF2B5EF4-FFF2-40B4-BE49-F238E27FC236}">
                <a16:creationId xmlns:a16="http://schemas.microsoft.com/office/drawing/2014/main" id="{8D46D93A-0155-4396-A8F6-CE2F7CFAF22E}"/>
              </a:ext>
            </a:extLst>
          </p:cNvPr>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2248521" y="4240737"/>
            <a:ext cx="1918234" cy="1672700"/>
          </a:xfrm>
          <a:prstGeom prst="rect">
            <a:avLst/>
          </a:prstGeom>
          <a:noFill/>
          <a:ln w="9525">
            <a:noFill/>
            <a:miter lim="800000"/>
            <a:headEnd/>
            <a:tailEnd/>
          </a:ln>
        </p:spPr>
      </p:pic>
      <p:sp>
        <p:nvSpPr>
          <p:cNvPr id="9" name="Right Arrow 31">
            <a:extLst>
              <a:ext uri="{FF2B5EF4-FFF2-40B4-BE49-F238E27FC236}">
                <a16:creationId xmlns:a16="http://schemas.microsoft.com/office/drawing/2014/main" id="{FD84C65F-0D88-4CED-B1CA-637C53584D80}"/>
              </a:ext>
            </a:extLst>
          </p:cNvPr>
          <p:cNvSpPr/>
          <p:nvPr/>
        </p:nvSpPr>
        <p:spPr>
          <a:xfrm rot="18675280">
            <a:off x="726354" y="2495838"/>
            <a:ext cx="685800" cy="6858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ight Arrow 32">
            <a:extLst>
              <a:ext uri="{FF2B5EF4-FFF2-40B4-BE49-F238E27FC236}">
                <a16:creationId xmlns:a16="http://schemas.microsoft.com/office/drawing/2014/main" id="{3B6E0DB3-4F11-427F-9CB0-C6F27AEB9829}"/>
              </a:ext>
            </a:extLst>
          </p:cNvPr>
          <p:cNvSpPr/>
          <p:nvPr/>
        </p:nvSpPr>
        <p:spPr>
          <a:xfrm rot="2514882">
            <a:off x="726686" y="3768768"/>
            <a:ext cx="685800" cy="6858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Picture 10" descr="http://t1.gstatic.com/images?q=tbn:ANd9GcTWxuJp7IaheL6S7jF1i0XYDa2MMqEERFg-Wfv5fxNPYulcLuBs6w">
            <a:extLst>
              <a:ext uri="{FF2B5EF4-FFF2-40B4-BE49-F238E27FC236}">
                <a16:creationId xmlns:a16="http://schemas.microsoft.com/office/drawing/2014/main" id="{128ED57A-844C-44CB-91E8-588F0CDF5EA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8755" y="1646237"/>
            <a:ext cx="1360972" cy="117538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http://t0.gstatic.com/images?q=tbn:ANd9GcSfsFSRPpMrwIATIZNoYXSFB8VfWhsxfFK7aiqX6gnkEXmbWgeq">
            <a:extLst>
              <a:ext uri="{FF2B5EF4-FFF2-40B4-BE49-F238E27FC236}">
                <a16:creationId xmlns:a16="http://schemas.microsoft.com/office/drawing/2014/main" id="{3F03DB68-5E11-46B9-83C8-0B743270D4CD}"/>
              </a:ext>
            </a:extLst>
          </p:cNvPr>
          <p:cNvPicPr>
            <a:picLocks noChangeAspect="1" noChangeArrowheads="1"/>
          </p:cNvPicPr>
          <p:nvPr/>
        </p:nvPicPr>
        <p:blipFill>
          <a:blip r:embed="rId7">
            <a:clrChange>
              <a:clrFrom>
                <a:srgbClr val="FCFEFB"/>
              </a:clrFrom>
              <a:clrTo>
                <a:srgbClr val="FCFEFB">
                  <a:alpha val="0"/>
                </a:srgbClr>
              </a:clrTo>
            </a:clrChange>
            <a:extLst>
              <a:ext uri="{28A0092B-C50C-407E-A947-70E740481C1C}">
                <a14:useLocalDpi xmlns:a14="http://schemas.microsoft.com/office/drawing/2010/main" val="0"/>
              </a:ext>
            </a:extLst>
          </a:blip>
          <a:srcRect/>
          <a:stretch>
            <a:fillRect/>
          </a:stretch>
        </p:blipFill>
        <p:spPr bwMode="auto">
          <a:xfrm>
            <a:off x="966355" y="4156372"/>
            <a:ext cx="1360972" cy="1278844"/>
          </a:xfrm>
          <a:prstGeom prst="rect">
            <a:avLst/>
          </a:prstGeom>
          <a:noFill/>
          <a:extLst>
            <a:ext uri="{909E8E84-426E-40DD-AFC4-6F175D3DCCD1}">
              <a14:hiddenFill xmlns:a14="http://schemas.microsoft.com/office/drawing/2010/main">
                <a:solidFill>
                  <a:srgbClr val="FFFFFF"/>
                </a:solidFill>
              </a14:hiddenFill>
            </a:ext>
          </a:extLst>
        </p:spPr>
      </p:pic>
      <p:sp>
        <p:nvSpPr>
          <p:cNvPr id="15" name="Rounded Rectangular Callout 40">
            <a:extLst>
              <a:ext uri="{FF2B5EF4-FFF2-40B4-BE49-F238E27FC236}">
                <a16:creationId xmlns:a16="http://schemas.microsoft.com/office/drawing/2014/main" id="{4EFF39DD-5920-4F3C-B449-CFF0903D406F}"/>
              </a:ext>
            </a:extLst>
          </p:cNvPr>
          <p:cNvSpPr/>
          <p:nvPr/>
        </p:nvSpPr>
        <p:spPr>
          <a:xfrm>
            <a:off x="6373988" y="2280954"/>
            <a:ext cx="3484227" cy="3202992"/>
          </a:xfrm>
          <a:prstGeom prst="wedgeRoundRectCallout">
            <a:avLst>
              <a:gd name="adj1" fmla="val -94752"/>
              <a:gd name="adj2" fmla="val 47950"/>
              <a:gd name="adj3" fmla="val 16667"/>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16" name="TextBox 25">
            <a:extLst>
              <a:ext uri="{FF2B5EF4-FFF2-40B4-BE49-F238E27FC236}">
                <a16:creationId xmlns:a16="http://schemas.microsoft.com/office/drawing/2014/main" id="{1258549D-E90F-438E-81F6-0DAD8EF6316B}"/>
              </a:ext>
            </a:extLst>
          </p:cNvPr>
          <p:cNvSpPr txBox="1"/>
          <p:nvPr/>
        </p:nvSpPr>
        <p:spPr>
          <a:xfrm>
            <a:off x="6678787" y="3121746"/>
            <a:ext cx="157540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Berlin Sans FB Demi" pitchFamily="34" charset="0"/>
              </a:rPr>
              <a:t>“large”</a:t>
            </a:r>
          </a:p>
        </p:txBody>
      </p:sp>
      <p:pic>
        <p:nvPicPr>
          <p:cNvPr id="17" name="Picture 16">
            <a:extLst>
              <a:ext uri="{FF2B5EF4-FFF2-40B4-BE49-F238E27FC236}">
                <a16:creationId xmlns:a16="http://schemas.microsoft.com/office/drawing/2014/main" id="{F062D809-7555-4A7D-AE0B-3F53B9D90661}"/>
              </a:ext>
            </a:extLst>
          </p:cNvPr>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8535298" y="1939057"/>
            <a:ext cx="1689322" cy="1106488"/>
          </a:xfrm>
          <a:prstGeom prst="rect">
            <a:avLst/>
          </a:prstGeom>
          <a:noFill/>
          <a:ln w="9525">
            <a:noFill/>
            <a:miter lim="800000"/>
            <a:headEnd/>
            <a:tailEnd/>
          </a:ln>
        </p:spPr>
      </p:pic>
      <p:pic>
        <p:nvPicPr>
          <p:cNvPr id="18" name="Picture 17">
            <a:extLst>
              <a:ext uri="{FF2B5EF4-FFF2-40B4-BE49-F238E27FC236}">
                <a16:creationId xmlns:a16="http://schemas.microsoft.com/office/drawing/2014/main" id="{0B36B107-90F7-46EC-8C2C-9A963A2382DD}"/>
              </a:ext>
            </a:extLst>
          </p:cNvPr>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8534202" y="3758905"/>
            <a:ext cx="1506820" cy="1077466"/>
          </a:xfrm>
          <a:prstGeom prst="rect">
            <a:avLst/>
          </a:prstGeom>
          <a:noFill/>
          <a:ln w="9525">
            <a:noFill/>
            <a:miter lim="800000"/>
            <a:headEnd/>
            <a:tailEnd/>
          </a:ln>
        </p:spPr>
      </p:pic>
      <p:sp>
        <p:nvSpPr>
          <p:cNvPr id="19" name="TextBox 33">
            <a:extLst>
              <a:ext uri="{FF2B5EF4-FFF2-40B4-BE49-F238E27FC236}">
                <a16:creationId xmlns:a16="http://schemas.microsoft.com/office/drawing/2014/main" id="{073595BC-B16C-4668-A097-9EB59B280613}"/>
              </a:ext>
            </a:extLst>
          </p:cNvPr>
          <p:cNvSpPr txBox="1"/>
          <p:nvPr/>
        </p:nvSpPr>
        <p:spPr>
          <a:xfrm>
            <a:off x="8355188" y="2969346"/>
            <a:ext cx="1956058"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t>Aspect = Screen</a:t>
            </a:r>
          </a:p>
        </p:txBody>
      </p:sp>
      <p:sp>
        <p:nvSpPr>
          <p:cNvPr id="20" name="TextBox 34">
            <a:extLst>
              <a:ext uri="{FF2B5EF4-FFF2-40B4-BE49-F238E27FC236}">
                <a16:creationId xmlns:a16="http://schemas.microsoft.com/office/drawing/2014/main" id="{CAE817C2-F8A6-4B19-B290-AA7B09C0C1AC}"/>
              </a:ext>
            </a:extLst>
          </p:cNvPr>
          <p:cNvSpPr txBox="1"/>
          <p:nvPr/>
        </p:nvSpPr>
        <p:spPr>
          <a:xfrm>
            <a:off x="8431388" y="4721946"/>
            <a:ext cx="1956058"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t>Aspect = Battery</a:t>
            </a:r>
          </a:p>
        </p:txBody>
      </p:sp>
      <p:sp>
        <p:nvSpPr>
          <p:cNvPr id="21" name="Right Arrow 37">
            <a:extLst>
              <a:ext uri="{FF2B5EF4-FFF2-40B4-BE49-F238E27FC236}">
                <a16:creationId xmlns:a16="http://schemas.microsoft.com/office/drawing/2014/main" id="{854A811F-040F-41EE-99A9-6D550B9A68F6}"/>
              </a:ext>
            </a:extLst>
          </p:cNvPr>
          <p:cNvSpPr/>
          <p:nvPr/>
        </p:nvSpPr>
        <p:spPr>
          <a:xfrm rot="18675280">
            <a:off x="7024926" y="2508418"/>
            <a:ext cx="524126" cy="55014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ight Arrow 38">
            <a:extLst>
              <a:ext uri="{FF2B5EF4-FFF2-40B4-BE49-F238E27FC236}">
                <a16:creationId xmlns:a16="http://schemas.microsoft.com/office/drawing/2014/main" id="{96349FAB-BFB5-4733-8F9F-4AB0229A3114}"/>
              </a:ext>
            </a:extLst>
          </p:cNvPr>
          <p:cNvSpPr/>
          <p:nvPr/>
        </p:nvSpPr>
        <p:spPr>
          <a:xfrm rot="2514882">
            <a:off x="7012073" y="3663555"/>
            <a:ext cx="550140" cy="52412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3" name="Picture 22" descr="http://t1.gstatic.com/images?q=tbn:ANd9GcTWxuJp7IaheL6S7jF1i0XYDa2MMqEERFg-Wfv5fxNPYulcLuBs6w">
            <a:extLst>
              <a:ext uri="{FF2B5EF4-FFF2-40B4-BE49-F238E27FC236}">
                <a16:creationId xmlns:a16="http://schemas.microsoft.com/office/drawing/2014/main" id="{28B52976-711A-4E38-9AA1-2B68389388BD}"/>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64588" y="1646237"/>
            <a:ext cx="1091757" cy="89829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http://t0.gstatic.com/images?q=tbn:ANd9GcSfsFSRPpMrwIATIZNoYXSFB8VfWhsxfFK7aiqX6gnkEXmbWgeq">
            <a:extLst>
              <a:ext uri="{FF2B5EF4-FFF2-40B4-BE49-F238E27FC236}">
                <a16:creationId xmlns:a16="http://schemas.microsoft.com/office/drawing/2014/main" id="{CD748E2C-D0F6-404D-8A39-243C978E34E2}"/>
              </a:ext>
            </a:extLst>
          </p:cNvPr>
          <p:cNvPicPr>
            <a:picLocks noChangeAspect="1" noChangeArrowheads="1"/>
          </p:cNvPicPr>
          <p:nvPr/>
        </p:nvPicPr>
        <p:blipFill>
          <a:blip r:embed="rId7">
            <a:clrChange>
              <a:clrFrom>
                <a:srgbClr val="FCFEFB"/>
              </a:clrFrom>
              <a:clrTo>
                <a:srgbClr val="FCFEFB">
                  <a:alpha val="0"/>
                </a:srgbClr>
              </a:clrTo>
            </a:clrChange>
            <a:extLst>
              <a:ext uri="{28A0092B-C50C-407E-A947-70E740481C1C}">
                <a14:useLocalDpi xmlns:a14="http://schemas.microsoft.com/office/drawing/2010/main" val="0"/>
              </a:ext>
            </a:extLst>
          </a:blip>
          <a:srcRect/>
          <a:stretch>
            <a:fillRect/>
          </a:stretch>
        </p:blipFill>
        <p:spPr bwMode="auto">
          <a:xfrm>
            <a:off x="7201560" y="4261428"/>
            <a:ext cx="1091757" cy="977362"/>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7">
            <a:extLst>
              <a:ext uri="{FF2B5EF4-FFF2-40B4-BE49-F238E27FC236}">
                <a16:creationId xmlns:a16="http://schemas.microsoft.com/office/drawing/2014/main" id="{E33D04A3-24A2-45A5-9E8F-0FE38F13CB17}"/>
              </a:ext>
            </a:extLst>
          </p:cNvPr>
          <p:cNvSpPr txBox="1"/>
          <p:nvPr/>
        </p:nvSpPr>
        <p:spPr>
          <a:xfrm>
            <a:off x="4087988" y="5479481"/>
            <a:ext cx="1956057"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t>Domain = Laptop</a:t>
            </a:r>
          </a:p>
        </p:txBody>
      </p:sp>
      <p:pic>
        <p:nvPicPr>
          <p:cNvPr id="26" name="Picture 25">
            <a:extLst>
              <a:ext uri="{FF2B5EF4-FFF2-40B4-BE49-F238E27FC236}">
                <a16:creationId xmlns:a16="http://schemas.microsoft.com/office/drawing/2014/main" id="{043E3002-5D36-4317-8793-623AB7C5A484}"/>
              </a:ext>
            </a:extLst>
          </p:cNvPr>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4227154" y="4429711"/>
            <a:ext cx="1538786" cy="1278369"/>
          </a:xfrm>
          <a:prstGeom prst="rect">
            <a:avLst/>
          </a:prstGeom>
          <a:noFill/>
          <a:ln w="9525">
            <a:noFill/>
            <a:miter lim="800000"/>
            <a:headEnd/>
            <a:tailEnd/>
          </a:ln>
        </p:spPr>
      </p:pic>
    </p:spTree>
    <p:extLst>
      <p:ext uri="{BB962C8B-B14F-4D97-AF65-F5344CB8AC3E}">
        <p14:creationId xmlns:p14="http://schemas.microsoft.com/office/powerpoint/2010/main" val="57729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9" grpId="0"/>
      <p:bldP spid="20" grpId="0"/>
      <p:bldP spid="21" grpId="0" animBg="1"/>
      <p:bldP spid="22" grpId="0" animBg="1"/>
      <p:bldP spid="2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71500" y="0"/>
            <a:ext cx="9144000" cy="1417638"/>
          </a:xfrm>
          <a:prstGeom prst="rect">
            <a:avLst/>
          </a:prstGeom>
        </p:spPr>
        <p:txBody>
          <a:bodyPr/>
          <a:lstStyle/>
          <a:p>
            <a:pPr lvl="0" algn="ctr">
              <a:spcBef>
                <a:spcPct val="0"/>
              </a:spcBef>
              <a:defRPr/>
            </a:pPr>
            <a:r>
              <a:rPr lang="en-US" sz="4000" b="1" dirty="0">
                <a:latin typeface="+mj-lt"/>
                <a:ea typeface="+mj-ea"/>
                <a:cs typeface="+mj-cs"/>
              </a:rPr>
              <a:t>A n</a:t>
            </a:r>
            <a:r>
              <a:rPr lang="en-US" sz="4000" b="1" dirty="0" err="1">
                <a:latin typeface="+mj-lt"/>
                <a:ea typeface="+mj-ea"/>
                <a:cs typeface="+mj-cs"/>
              </a:rPr>
              <a:t>ew</a:t>
            </a:r>
            <a:r>
              <a:rPr lang="en-US" sz="4000" b="1" dirty="0">
                <a:latin typeface="+mj-lt"/>
                <a:ea typeface="+mj-ea"/>
                <a:cs typeface="+mj-cs"/>
              </a:rPr>
              <a:t> and harder problem: </a:t>
            </a:r>
          </a:p>
          <a:p>
            <a:pPr lvl="0" algn="ctr">
              <a:spcBef>
                <a:spcPct val="0"/>
              </a:spcBef>
              <a:defRPr/>
            </a:pPr>
            <a:r>
              <a:rPr lang="en-US" sz="3200" b="1" dirty="0">
                <a:latin typeface="+mj-lt"/>
                <a:ea typeface="+mj-ea"/>
                <a:cs typeface="+mj-cs"/>
              </a:rPr>
              <a:t>constructing aspect-dependent sentiment lexicon</a:t>
            </a:r>
          </a:p>
        </p:txBody>
      </p:sp>
      <p:sp>
        <p:nvSpPr>
          <p:cNvPr id="29" name="Slide Number Placeholder 28"/>
          <p:cNvSpPr>
            <a:spLocks noGrp="1"/>
          </p:cNvSpPr>
          <p:nvPr>
            <p:ph type="sldNum" sz="quarter" idx="12"/>
          </p:nvPr>
        </p:nvSpPr>
        <p:spPr/>
        <p:txBody>
          <a:bodyPr/>
          <a:lstStyle/>
          <a:p>
            <a:fld id="{B6F15528-21DE-4FAA-801E-634DDDAF4B2B}" type="slidenum">
              <a:rPr lang="en-US" smtClean="0"/>
              <a:pPr/>
              <a:t>75</a:t>
            </a:fld>
            <a:endParaRPr lang="en-US" dirty="0"/>
          </a:p>
        </p:txBody>
      </p:sp>
      <p:sp>
        <p:nvSpPr>
          <p:cNvPr id="34" name="Rounded Rectangle 33"/>
          <p:cNvSpPr/>
          <p:nvPr/>
        </p:nvSpPr>
        <p:spPr>
          <a:xfrm>
            <a:off x="2495550" y="4526672"/>
            <a:ext cx="2438400" cy="128864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2000" dirty="0"/>
              <a:t>Screen-large	</a:t>
            </a:r>
            <a:r>
              <a:rPr lang="en-US" sz="2000" b="1" dirty="0">
                <a:solidFill>
                  <a:srgbClr val="008000"/>
                </a:solidFill>
              </a:rPr>
              <a:t>+1</a:t>
            </a:r>
          </a:p>
          <a:p>
            <a:r>
              <a:rPr lang="en-US" sz="2000" dirty="0"/>
              <a:t>Screen-great	</a:t>
            </a:r>
            <a:r>
              <a:rPr lang="en-US" sz="2000" b="1" dirty="0">
                <a:solidFill>
                  <a:srgbClr val="008000"/>
                </a:solidFill>
              </a:rPr>
              <a:t>+1</a:t>
            </a:r>
          </a:p>
          <a:p>
            <a:r>
              <a:rPr lang="en-US" sz="2000" dirty="0"/>
              <a:t>Battery-large	</a:t>
            </a:r>
            <a:r>
              <a:rPr lang="en-US" sz="2000" b="1" dirty="0">
                <a:solidFill>
                  <a:srgbClr val="FF0000"/>
                </a:solidFill>
              </a:rPr>
              <a:t>-1</a:t>
            </a:r>
            <a:endParaRPr lang="en-US" sz="2000" b="1" baseline="-25000" dirty="0">
              <a:solidFill>
                <a:srgbClr val="FF0000"/>
              </a:solidFill>
            </a:endParaRPr>
          </a:p>
          <a:p>
            <a:r>
              <a:rPr lang="en-US" sz="2000" dirty="0"/>
              <a:t>…		…</a:t>
            </a:r>
          </a:p>
        </p:txBody>
      </p:sp>
      <p:sp>
        <p:nvSpPr>
          <p:cNvPr id="37" name="Rectangle 163"/>
          <p:cNvSpPr>
            <a:spLocks noChangeArrowheads="1"/>
          </p:cNvSpPr>
          <p:nvPr/>
        </p:nvSpPr>
        <p:spPr bwMode="auto">
          <a:xfrm>
            <a:off x="1028700" y="4038600"/>
            <a:ext cx="1143000" cy="533400"/>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wrap="none" anchor="ctr"/>
          <a:lstStyle/>
          <a:p>
            <a:pPr algn="ctr" eaLnBrk="0" hangingPunct="0"/>
            <a:r>
              <a:rPr lang="en-US" altLang="zh-CN" sz="2800" b="1" dirty="0">
                <a:ea typeface="宋体" pitchFamily="2" charset="-122"/>
              </a:rPr>
              <a:t>Output:</a:t>
            </a:r>
          </a:p>
        </p:txBody>
      </p:sp>
      <p:sp>
        <p:nvSpPr>
          <p:cNvPr id="38" name="Rectangle 162"/>
          <p:cNvSpPr>
            <a:spLocks noChangeArrowheads="1"/>
          </p:cNvSpPr>
          <p:nvPr/>
        </p:nvSpPr>
        <p:spPr bwMode="auto">
          <a:xfrm>
            <a:off x="876300" y="1447800"/>
            <a:ext cx="1143000" cy="533400"/>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wrap="none" anchor="ctr"/>
          <a:lstStyle/>
          <a:p>
            <a:pPr algn="ctr" eaLnBrk="0" hangingPunct="0"/>
            <a:r>
              <a:rPr lang="en-US" altLang="zh-CN" sz="2800" b="1" dirty="0">
                <a:ea typeface="宋体" pitchFamily="2" charset="-122"/>
              </a:rPr>
              <a:t>Input:</a:t>
            </a:r>
          </a:p>
        </p:txBody>
      </p:sp>
      <p:sp>
        <p:nvSpPr>
          <p:cNvPr id="39" name="Rectangle 38"/>
          <p:cNvSpPr/>
          <p:nvPr/>
        </p:nvSpPr>
        <p:spPr>
          <a:xfrm>
            <a:off x="2344506" y="4095690"/>
            <a:ext cx="3988592" cy="400110"/>
          </a:xfrm>
          <a:prstGeom prst="rect">
            <a:avLst/>
          </a:prstGeom>
        </p:spPr>
        <p:txBody>
          <a:bodyPr wrap="none">
            <a:spAutoFit/>
          </a:bodyPr>
          <a:lstStyle/>
          <a:p>
            <a:r>
              <a:rPr lang="en-US" altLang="zh-CN" sz="2000" b="1" dirty="0"/>
              <a:t>“Aspect-</a:t>
            </a:r>
            <a:r>
              <a:rPr lang="en-US" altLang="zh-CN" sz="2000" b="1" dirty="0" err="1"/>
              <a:t>Adj</a:t>
            </a:r>
            <a:r>
              <a:rPr lang="en-US" altLang="zh-CN" sz="2000" b="1" dirty="0"/>
              <a:t>”: </a:t>
            </a:r>
            <a:r>
              <a:rPr lang="en-US" altLang="zh-CN" sz="2000" b="1" dirty="0" err="1"/>
              <a:t>sentiment_score</a:t>
            </a:r>
            <a:endParaRPr lang="zh-CN" altLang="en-US" sz="2000" b="1" dirty="0"/>
          </a:p>
        </p:txBody>
      </p:sp>
      <p:sp>
        <p:nvSpPr>
          <p:cNvPr id="40" name="Rounded Rectangle 39"/>
          <p:cNvSpPr/>
          <p:nvPr/>
        </p:nvSpPr>
        <p:spPr>
          <a:xfrm>
            <a:off x="2400300" y="1981200"/>
            <a:ext cx="2438400" cy="128864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2000" dirty="0"/>
              <a:t>Screen-large	</a:t>
            </a:r>
            <a:r>
              <a:rPr lang="en-US" sz="2000" b="1" dirty="0">
                <a:solidFill>
                  <a:schemeClr val="tx1"/>
                </a:solidFill>
              </a:rPr>
              <a:t>?</a:t>
            </a:r>
          </a:p>
          <a:p>
            <a:r>
              <a:rPr lang="en-US" sz="2000" dirty="0"/>
              <a:t>Screen-great	</a:t>
            </a:r>
            <a:r>
              <a:rPr lang="en-US" sz="2000" b="1" dirty="0">
                <a:solidFill>
                  <a:schemeClr val="tx1"/>
                </a:solidFill>
              </a:rPr>
              <a:t>?</a:t>
            </a:r>
          </a:p>
          <a:p>
            <a:r>
              <a:rPr lang="en-US" sz="2000" dirty="0"/>
              <a:t>Battery-large	</a:t>
            </a:r>
            <a:r>
              <a:rPr lang="en-US" sz="2000" b="1" dirty="0">
                <a:solidFill>
                  <a:schemeClr val="tx1"/>
                </a:solidFill>
              </a:rPr>
              <a:t>?</a:t>
            </a:r>
            <a:endParaRPr lang="en-US" sz="2000" b="1" baseline="-25000" dirty="0">
              <a:solidFill>
                <a:schemeClr val="tx1"/>
              </a:solidFill>
            </a:endParaRPr>
          </a:p>
          <a:p>
            <a:r>
              <a:rPr lang="en-US" sz="2000" dirty="0"/>
              <a:t>…		…</a:t>
            </a:r>
          </a:p>
        </p:txBody>
      </p:sp>
      <p:sp>
        <p:nvSpPr>
          <p:cNvPr id="41" name="Rectangle 40"/>
          <p:cNvSpPr/>
          <p:nvPr/>
        </p:nvSpPr>
        <p:spPr>
          <a:xfrm>
            <a:off x="2247901" y="1524000"/>
            <a:ext cx="3206327" cy="400110"/>
          </a:xfrm>
          <a:prstGeom prst="rect">
            <a:avLst/>
          </a:prstGeom>
        </p:spPr>
        <p:txBody>
          <a:bodyPr wrap="none">
            <a:spAutoFit/>
          </a:bodyPr>
          <a:lstStyle/>
          <a:p>
            <a:r>
              <a:rPr lang="en-US" altLang="zh-CN" sz="2000" b="1" dirty="0"/>
              <a:t>“Aspect-</a:t>
            </a:r>
            <a:r>
              <a:rPr lang="en-US" altLang="zh-CN" sz="2000" b="1" dirty="0" err="1"/>
              <a:t>Adj</a:t>
            </a:r>
            <a:r>
              <a:rPr lang="en-US" altLang="zh-CN" sz="2000" b="1" dirty="0"/>
              <a:t>” candidates</a:t>
            </a:r>
            <a:endParaRPr lang="zh-CN" altLang="en-US" sz="2000" b="1" dirty="0"/>
          </a:p>
        </p:txBody>
      </p:sp>
      <p:sp>
        <p:nvSpPr>
          <p:cNvPr id="42" name="Right Arrow 41"/>
          <p:cNvSpPr/>
          <p:nvPr/>
        </p:nvSpPr>
        <p:spPr>
          <a:xfrm rot="5400000">
            <a:off x="3258906" y="3429000"/>
            <a:ext cx="685800" cy="6858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angle 50"/>
          <p:cNvSpPr/>
          <p:nvPr/>
        </p:nvSpPr>
        <p:spPr>
          <a:xfrm>
            <a:off x="5219701" y="1600200"/>
            <a:ext cx="2023311" cy="400110"/>
          </a:xfrm>
          <a:prstGeom prst="rect">
            <a:avLst/>
          </a:prstGeom>
        </p:spPr>
        <p:txBody>
          <a:bodyPr wrap="none">
            <a:spAutoFit/>
          </a:bodyPr>
          <a:lstStyle/>
          <a:p>
            <a:r>
              <a:rPr lang="en-US" altLang="zh-CN" sz="2000" b="1" dirty="0"/>
              <a:t>Laptop domain</a:t>
            </a:r>
            <a:endParaRPr lang="zh-CN" altLang="en-US" sz="2000" b="1" dirty="0"/>
          </a:p>
        </p:txBody>
      </p:sp>
      <p:sp>
        <p:nvSpPr>
          <p:cNvPr id="52" name="Documents"/>
          <p:cNvSpPr>
            <a:spLocks noEditPoints="1" noChangeArrowheads="1"/>
          </p:cNvSpPr>
          <p:nvPr/>
        </p:nvSpPr>
        <p:spPr bwMode="auto">
          <a:xfrm>
            <a:off x="5524500" y="1981200"/>
            <a:ext cx="1066800" cy="1379538"/>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FFFF66"/>
          </a:solidFill>
          <a:ln w="9525">
            <a:solidFill>
              <a:schemeClr val="tx1">
                <a:lumMod val="50000"/>
                <a:lumOff val="50000"/>
              </a:schemeClr>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53" name="Rectangle 52"/>
          <p:cNvSpPr/>
          <p:nvPr/>
        </p:nvSpPr>
        <p:spPr>
          <a:xfrm>
            <a:off x="4914900" y="2209800"/>
            <a:ext cx="484428" cy="707886"/>
          </a:xfrm>
          <a:prstGeom prst="rect">
            <a:avLst/>
          </a:prstGeom>
        </p:spPr>
        <p:txBody>
          <a:bodyPr wrap="none">
            <a:spAutoFit/>
          </a:bodyPr>
          <a:lstStyle/>
          <a:p>
            <a:r>
              <a:rPr lang="en-US" altLang="zh-CN" sz="4000" b="1" dirty="0">
                <a:ea typeface="宋体" pitchFamily="2" charset="-122"/>
              </a:rPr>
              <a:t>+</a:t>
            </a:r>
            <a:endParaRPr lang="zh-CN" altLang="en-US" sz="4000" dirty="0"/>
          </a:p>
        </p:txBody>
      </p:sp>
      <p:sp>
        <p:nvSpPr>
          <p:cNvPr id="27" name="Rounded Rectangular Callout 26"/>
          <p:cNvSpPr/>
          <p:nvPr/>
        </p:nvSpPr>
        <p:spPr>
          <a:xfrm>
            <a:off x="5282045" y="4683624"/>
            <a:ext cx="4600006" cy="1148352"/>
          </a:xfrm>
          <a:prstGeom prst="wedgeRoundRectCallout">
            <a:avLst>
              <a:gd name="adj1" fmla="val -56536"/>
              <a:gd name="adj2" fmla="val -8190"/>
              <a:gd name="adj3" fmla="val 16667"/>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altLang="zh-CN" sz="2800" b="1" dirty="0"/>
              <a:t>A harder problem:</a:t>
            </a:r>
          </a:p>
          <a:p>
            <a:r>
              <a:rPr lang="en-US" sz="2800" b="1" dirty="0"/>
              <a:t>due to increased sparseness</a:t>
            </a:r>
          </a:p>
        </p:txBody>
      </p:sp>
    </p:spTree>
    <p:extLst>
      <p:ext uri="{BB962C8B-B14F-4D97-AF65-F5344CB8AC3E}">
        <p14:creationId xmlns:p14="http://schemas.microsoft.com/office/powerpoint/2010/main" val="246885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wipe(left)">
                                      <p:cBhvr>
                                        <p:cTn id="13" dur="500"/>
                                        <p:tgtEl>
                                          <p:spTgt spid="3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left)">
                                      <p:cBhvr>
                                        <p:cTn id="16" dur="50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7" grpId="0"/>
      <p:bldP spid="39" grpId="0"/>
      <p:bldP spid="42" grpId="0" animBg="1"/>
      <p:bldP spid="2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Turney</a:t>
            </a:r>
            <a:r>
              <a:rPr lang="en-US" dirty="0"/>
              <a:t> Algorithm</a:t>
            </a:r>
          </a:p>
        </p:txBody>
      </p:sp>
      <p:sp>
        <p:nvSpPr>
          <p:cNvPr id="3" name="Content Placeholder 2"/>
          <p:cNvSpPr>
            <a:spLocks noGrp="1"/>
          </p:cNvSpPr>
          <p:nvPr>
            <p:ph idx="1"/>
          </p:nvPr>
        </p:nvSpPr>
        <p:spPr/>
        <p:txBody>
          <a:bodyPr/>
          <a:lstStyle/>
          <a:p>
            <a:pPr marL="457200" indent="-457200">
              <a:buFont typeface="+mj-lt"/>
              <a:buAutoNum type="arabicPeriod"/>
            </a:pPr>
            <a:r>
              <a:rPr lang="en-US" dirty="0"/>
              <a:t>Extract a </a:t>
            </a:r>
            <a:r>
              <a:rPr lang="en-US" i="1" dirty="0"/>
              <a:t>phrasal lexicon </a:t>
            </a:r>
            <a:r>
              <a:rPr lang="en-US" dirty="0"/>
              <a:t>from reviews</a:t>
            </a:r>
          </a:p>
          <a:p>
            <a:pPr marL="457200" indent="-457200">
              <a:buFont typeface="+mj-lt"/>
              <a:buAutoNum type="arabicPeriod"/>
            </a:pPr>
            <a:r>
              <a:rPr lang="en-US" dirty="0"/>
              <a:t>Learn polarity of each phrase</a:t>
            </a:r>
          </a:p>
          <a:p>
            <a:pPr marL="457200" indent="-457200">
              <a:buFont typeface="+mj-lt"/>
              <a:buAutoNum type="arabicPeriod"/>
            </a:pPr>
            <a:r>
              <a:rPr lang="en-US" dirty="0"/>
              <a:t>Rate a review by the average polarity of its phrases</a:t>
            </a:r>
          </a:p>
        </p:txBody>
      </p:sp>
      <p:graphicFrame>
        <p:nvGraphicFramePr>
          <p:cNvPr id="6" name="Content Placeholder 4"/>
          <p:cNvGraphicFramePr>
            <a:graphicFrameLocks/>
          </p:cNvGraphicFramePr>
          <p:nvPr/>
        </p:nvGraphicFramePr>
        <p:xfrm>
          <a:off x="647700" y="2514600"/>
          <a:ext cx="8534400" cy="3108960"/>
        </p:xfrm>
        <a:graphic>
          <a:graphicData uri="http://schemas.openxmlformats.org/drawingml/2006/table">
            <a:tbl>
              <a:tblPr firstRow="1" bandRow="1"/>
              <a:tblGrid>
                <a:gridCol w="2844800">
                  <a:extLst>
                    <a:ext uri="{9D8B030D-6E8A-4147-A177-3AD203B41FA5}">
                      <a16:colId xmlns:a16="http://schemas.microsoft.com/office/drawing/2014/main" val="20000"/>
                    </a:ext>
                  </a:extLst>
                </a:gridCol>
                <a:gridCol w="2844800">
                  <a:extLst>
                    <a:ext uri="{9D8B030D-6E8A-4147-A177-3AD203B41FA5}">
                      <a16:colId xmlns:a16="http://schemas.microsoft.com/office/drawing/2014/main" val="20001"/>
                    </a:ext>
                  </a:extLst>
                </a:gridCol>
                <a:gridCol w="2844800">
                  <a:extLst>
                    <a:ext uri="{9D8B030D-6E8A-4147-A177-3AD203B41FA5}">
                      <a16:colId xmlns:a16="http://schemas.microsoft.com/office/drawing/2014/main" val="20002"/>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sz="2400" dirty="0"/>
                        <a:t>First Word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sz="2400" dirty="0"/>
                        <a:t>Second Word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sz="2400" dirty="0"/>
                        <a:t>Third Word</a:t>
                      </a:r>
                      <a:r>
                        <a:rPr lang="en-US" sz="2400" baseline="0" dirty="0"/>
                        <a:t>  (not extracted)</a:t>
                      </a:r>
                      <a:endParaRPr 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JJ</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NN or NNS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solidFill>
                            <a:srgbClr val="28817A"/>
                          </a:solidFill>
                        </a:rPr>
                        <a:t>anything</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RB,</a:t>
                      </a:r>
                      <a:r>
                        <a:rPr lang="en-US" sz="2400" baseline="0" dirty="0"/>
                        <a:t> RBR, RBS</a:t>
                      </a:r>
                      <a:endParaRPr 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JJ</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solidFill>
                            <a:srgbClr val="28817A"/>
                          </a:solidFill>
                        </a:rPr>
                        <a:t>Not NN nor NNS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JJ</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JJ</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solidFill>
                            <a:srgbClr val="28817A"/>
                          </a:solidFill>
                        </a:rPr>
                        <a:t>Not NN or NNS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NN or NNS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JJ</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solidFill>
                            <a:srgbClr val="28817A"/>
                          </a:solidFill>
                        </a:rPr>
                        <a:t>Nor NN nor</a:t>
                      </a:r>
                      <a:r>
                        <a:rPr lang="en-US" sz="2400" baseline="0" dirty="0">
                          <a:solidFill>
                            <a:srgbClr val="28817A"/>
                          </a:solidFill>
                        </a:rPr>
                        <a:t> NNS</a:t>
                      </a:r>
                      <a:endParaRPr lang="en-US" sz="2400" dirty="0">
                        <a:solidFill>
                          <a:srgbClr val="28817A"/>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RB, RBR, or RBS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t>VB, VBD, VBN, VBG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2400" dirty="0">
                          <a:solidFill>
                            <a:srgbClr val="28817A"/>
                          </a:solidFill>
                        </a:rPr>
                        <a:t>anything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914400" y="5734050"/>
            <a:ext cx="6769802" cy="369332"/>
          </a:xfrm>
          <a:prstGeom prst="rect">
            <a:avLst/>
          </a:prstGeom>
          <a:noFill/>
        </p:spPr>
        <p:txBody>
          <a:bodyPr wrap="none" rtlCol="0">
            <a:spAutoFit/>
          </a:bodyPr>
          <a:lstStyle/>
          <a:p>
            <a:r>
              <a:rPr lang="en-IN" dirty="0"/>
              <a:t>JJ=adjective, NN=noun, NNS=plural noun, RB=adverb, VB=verb</a:t>
            </a:r>
            <a:endParaRPr lang="en-US" dirty="0"/>
          </a:p>
        </p:txBody>
      </p:sp>
    </p:spTree>
    <p:extLst>
      <p:ext uri="{BB962C8B-B14F-4D97-AF65-F5344CB8AC3E}">
        <p14:creationId xmlns:p14="http://schemas.microsoft.com/office/powerpoint/2010/main" val="21510213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lide Number Placeholder 1"/>
          <p:cNvSpPr>
            <a:spLocks noGrp="1"/>
          </p:cNvSpPr>
          <p:nvPr>
            <p:ph type="sldNum" sz="quarter" idx="10"/>
          </p:nvPr>
        </p:nvSpPr>
        <p:spPr/>
        <p:txBody>
          <a:bodyPr/>
          <a:lstStyle/>
          <a:p>
            <a:fld id="{90670165-72CC-4A0D-AF79-6B813FDCDCE3}" type="slidenum">
              <a:rPr lang="en-US" altLang="zh-CN"/>
              <a:pPr/>
              <a:t>77</a:t>
            </a:fld>
            <a:endParaRPr lang="en-US" altLang="zh-CN"/>
          </a:p>
        </p:txBody>
      </p:sp>
      <p:sp>
        <p:nvSpPr>
          <p:cNvPr id="2264066" name="Rectangle 1"/>
          <p:cNvSpPr>
            <a:spLocks noGrp="1" noChangeArrowheads="1"/>
          </p:cNvSpPr>
          <p:nvPr>
            <p:ph type="title" idx="4294967295"/>
          </p:nvPr>
        </p:nvSpPr>
        <p:spPr>
          <a:xfrm>
            <a:off x="190500" y="457200"/>
            <a:ext cx="8210550" cy="533400"/>
          </a:xfrm>
        </p:spPr>
        <p:txBody>
          <a:bodyPr vert="horz" wrap="square" lIns="35717" tIns="35717" rIns="35717" bIns="35717" numCol="1" anchor="ctr" anchorCtr="0" compatLnSpc="1">
            <a:prstTxWarp prst="textNoShape">
              <a:avLst/>
            </a:prstTxWarp>
          </a:bodyPr>
          <a:lstStyle/>
          <a:p>
            <a:r>
              <a:rPr lang="en-US" dirty="0"/>
              <a:t>Extracting Phrases using Dependency Parse</a:t>
            </a:r>
          </a:p>
        </p:txBody>
      </p:sp>
      <p:grpSp>
        <p:nvGrpSpPr>
          <p:cNvPr id="2" name="Group 2"/>
          <p:cNvGrpSpPr>
            <a:grpSpLocks/>
          </p:cNvGrpSpPr>
          <p:nvPr/>
        </p:nvGrpSpPr>
        <p:grpSpPr bwMode="auto">
          <a:xfrm>
            <a:off x="225426" y="1703859"/>
            <a:ext cx="2925763" cy="1956916"/>
            <a:chOff x="0" y="-1"/>
            <a:chExt cx="2622" cy="1753"/>
          </a:xfrm>
        </p:grpSpPr>
        <p:grpSp>
          <p:nvGrpSpPr>
            <p:cNvPr id="2264068" name="Group 3"/>
            <p:cNvGrpSpPr>
              <a:grpSpLocks/>
            </p:cNvGrpSpPr>
            <p:nvPr/>
          </p:nvGrpSpPr>
          <p:grpSpPr bwMode="auto">
            <a:xfrm>
              <a:off x="745" y="-1"/>
              <a:ext cx="1128" cy="1379"/>
              <a:chOff x="0" y="-1"/>
              <a:chExt cx="1128" cy="1379"/>
            </a:xfrm>
          </p:grpSpPr>
          <p:sp>
            <p:nvSpPr>
              <p:cNvPr id="31748" name="Rectangle 4"/>
              <p:cNvSpPr>
                <a:spLocks/>
              </p:cNvSpPr>
              <p:nvPr/>
            </p:nvSpPr>
            <p:spPr bwMode="auto">
              <a:xfrm>
                <a:off x="0" y="24"/>
                <a:ext cx="1128" cy="1328"/>
              </a:xfrm>
              <a:prstGeom prst="rect">
                <a:avLst/>
              </a:prstGeom>
              <a:solidFill>
                <a:srgbClr val="FBF8FF"/>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sp>
            <p:nvSpPr>
              <p:cNvPr id="2264070" name="Rectangle 5"/>
              <p:cNvSpPr>
                <a:spLocks/>
              </p:cNvSpPr>
              <p:nvPr/>
            </p:nvSpPr>
            <p:spPr bwMode="auto">
              <a:xfrm>
                <a:off x="94" y="-1"/>
                <a:ext cx="899" cy="1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938"/>
                <a:r>
                  <a:rPr lang="en-US" sz="2500">
                    <a:latin typeface="Gill Sans Light" pitchFamily="-112" charset="0"/>
                    <a:ea typeface="ヒラギノ角ゴ ProN W3" pitchFamily="-112" charset="-128"/>
                    <a:sym typeface="Gill Sans Light" pitchFamily="-112" charset="0"/>
                  </a:rPr>
                  <a:t>flash</a:t>
                </a:r>
              </a:p>
              <a:p>
                <a:pPr defTabSz="642938"/>
                <a:r>
                  <a:rPr lang="en-US" sz="2500">
                    <a:latin typeface="Gill Sans Light" pitchFamily="-112" charset="0"/>
                    <a:ea typeface="ヒラギノ角ゴ ProN W3" pitchFamily="-112" charset="-128"/>
                    <a:sym typeface="Gill Sans Light" pitchFamily="-112" charset="0"/>
                  </a:rPr>
                  <a:t>controls</a:t>
                </a:r>
              </a:p>
              <a:p>
                <a:pPr defTabSz="642938"/>
                <a:r>
                  <a:rPr lang="en-US" sz="2500">
                    <a:latin typeface="Gill Sans Light" pitchFamily="-112" charset="0"/>
                    <a:ea typeface="ヒラギノ角ゴ ProN W3" pitchFamily="-112" charset="-128"/>
                    <a:sym typeface="Gill Sans Light" pitchFamily="-112" charset="0"/>
                  </a:rPr>
                  <a:t>battery</a:t>
                </a:r>
              </a:p>
              <a:p>
                <a:pPr defTabSz="642938"/>
                <a:r>
                  <a:rPr lang="en-US" sz="2500">
                    <a:latin typeface="Gill Sans Light" pitchFamily="-112" charset="0"/>
                    <a:ea typeface="ヒラギノ角ゴ ProN W3" pitchFamily="-112" charset="-128"/>
                    <a:sym typeface="Gill Sans Light" pitchFamily="-112" charset="0"/>
                  </a:rPr>
                  <a:t>...</a:t>
                </a:r>
              </a:p>
            </p:txBody>
          </p:sp>
        </p:grpSp>
        <p:sp>
          <p:nvSpPr>
            <p:cNvPr id="2264071" name="Rectangle 6"/>
            <p:cNvSpPr>
              <a:spLocks/>
            </p:cNvSpPr>
            <p:nvPr/>
          </p:nvSpPr>
          <p:spPr bwMode="auto">
            <a:xfrm>
              <a:off x="0" y="1408"/>
              <a:ext cx="2622"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200">
                  <a:latin typeface="Gill Sans Light" pitchFamily="-112" charset="0"/>
                  <a:ea typeface="ヒラギノ角ゴ ProN W3" pitchFamily="-112" charset="-128"/>
                  <a:sym typeface="Gill Sans Light" pitchFamily="-112" charset="0"/>
                </a:rPr>
                <a:t>Extracted features</a:t>
              </a:r>
            </a:p>
          </p:txBody>
        </p:sp>
      </p:grpSp>
      <p:grpSp>
        <p:nvGrpSpPr>
          <p:cNvPr id="4" name="Group 7"/>
          <p:cNvGrpSpPr>
            <a:grpSpLocks/>
          </p:cNvGrpSpPr>
          <p:nvPr/>
        </p:nvGrpSpPr>
        <p:grpSpPr bwMode="auto">
          <a:xfrm rot="-19514">
            <a:off x="2551114" y="2009776"/>
            <a:ext cx="3165475" cy="2112963"/>
            <a:chOff x="0" y="0"/>
            <a:chExt cx="2836" cy="1893"/>
          </a:xfrm>
        </p:grpSpPr>
        <p:grpSp>
          <p:nvGrpSpPr>
            <p:cNvPr id="2264073" name="Group 8"/>
            <p:cNvGrpSpPr>
              <a:grpSpLocks/>
            </p:cNvGrpSpPr>
            <p:nvPr/>
          </p:nvGrpSpPr>
          <p:grpSpPr bwMode="auto">
            <a:xfrm>
              <a:off x="403" y="0"/>
              <a:ext cx="2026" cy="1013"/>
              <a:chOff x="0" y="0"/>
              <a:chExt cx="2025" cy="1013"/>
            </a:xfrm>
          </p:grpSpPr>
          <p:pic>
            <p:nvPicPr>
              <p:cNvPr id="3175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68" cy="757"/>
              </a:xfrm>
              <a:prstGeom prst="rect">
                <a:avLst/>
              </a:prstGeom>
              <a:noFill/>
              <a:ln>
                <a:noFill/>
              </a:ln>
              <a:effectLst>
                <a:outerShdw blurRad="127000" dist="76199" dir="270000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175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 y="64"/>
                <a:ext cx="1768" cy="757"/>
              </a:xfrm>
              <a:prstGeom prst="rect">
                <a:avLst/>
              </a:prstGeom>
              <a:noFill/>
              <a:ln>
                <a:noFill/>
              </a:ln>
              <a:effectLst>
                <a:outerShdw blurRad="127000" dist="76199" dir="270000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175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 y="128"/>
                <a:ext cx="1768" cy="757"/>
              </a:xfrm>
              <a:prstGeom prst="rect">
                <a:avLst/>
              </a:prstGeom>
              <a:noFill/>
              <a:ln>
                <a:noFill/>
              </a:ln>
              <a:effectLst>
                <a:outerShdw blurRad="127000" dist="76199" dir="270000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175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 y="192"/>
                <a:ext cx="1768" cy="757"/>
              </a:xfrm>
              <a:prstGeom prst="rect">
                <a:avLst/>
              </a:prstGeom>
              <a:noFill/>
              <a:ln>
                <a:noFill/>
              </a:ln>
              <a:effectLst>
                <a:outerShdw blurRad="127000" dist="76199" dir="270000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175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 y="256"/>
                <a:ext cx="1768" cy="757"/>
              </a:xfrm>
              <a:prstGeom prst="rect">
                <a:avLst/>
              </a:prstGeom>
              <a:noFill/>
              <a:ln>
                <a:noFill/>
              </a:ln>
              <a:effectLst>
                <a:outerShdw blurRad="127000" dist="76199" dir="270000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2264079" name="Rectangle 14"/>
            <p:cNvSpPr>
              <a:spLocks/>
            </p:cNvSpPr>
            <p:nvPr/>
          </p:nvSpPr>
          <p:spPr bwMode="auto">
            <a:xfrm>
              <a:off x="0" y="788"/>
              <a:ext cx="2836"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300">
                  <a:latin typeface="Gill Sans Light" pitchFamily="-112" charset="0"/>
                  <a:ea typeface="ヒラギノ角ゴ ProN W3" pitchFamily="-112" charset="-128"/>
                  <a:sym typeface="Gill Sans Light" pitchFamily="-112" charset="0"/>
                </a:rPr>
                <a:t>Review sentence dependency parses</a:t>
              </a:r>
            </a:p>
          </p:txBody>
        </p:sp>
      </p:grpSp>
      <p:pic>
        <p:nvPicPr>
          <p:cNvPr id="31759" name="Picture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9026" y="2476500"/>
            <a:ext cx="652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6" name="Group 16"/>
          <p:cNvGrpSpPr>
            <a:grpSpLocks/>
          </p:cNvGrpSpPr>
          <p:nvPr/>
        </p:nvGrpSpPr>
        <p:grpSpPr bwMode="auto">
          <a:xfrm>
            <a:off x="5746750" y="1455739"/>
            <a:ext cx="3727450" cy="2460625"/>
            <a:chOff x="0" y="0"/>
            <a:chExt cx="3338" cy="2204"/>
          </a:xfrm>
        </p:grpSpPr>
        <p:sp>
          <p:nvSpPr>
            <p:cNvPr id="31761" name="Rectangle 17"/>
            <p:cNvSpPr>
              <a:spLocks/>
            </p:cNvSpPr>
            <p:nvPr/>
          </p:nvSpPr>
          <p:spPr bwMode="auto">
            <a:xfrm>
              <a:off x="818" y="1032"/>
              <a:ext cx="1128" cy="424"/>
            </a:xfrm>
            <a:prstGeom prst="rect">
              <a:avLst/>
            </a:prstGeom>
            <a:solidFill>
              <a:srgbClr val="FAFBFF"/>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500">
                  <a:solidFill>
                    <a:srgbClr val="676767"/>
                  </a:solidFill>
                  <a:latin typeface="Gill Sans Light" pitchFamily="-112" charset="0"/>
                  <a:ea typeface="ヒラギノ角ゴ ProN W3" pitchFamily="-112" charset="-128"/>
                  <a:sym typeface="Gill Sans Light" pitchFamily="-112" charset="0"/>
                </a:rPr>
                <a:t>controls</a:t>
              </a:r>
            </a:p>
          </p:txBody>
        </p:sp>
        <p:sp>
          <p:nvSpPr>
            <p:cNvPr id="31762" name="Oval 18"/>
            <p:cNvSpPr>
              <a:spLocks/>
            </p:cNvSpPr>
            <p:nvPr/>
          </p:nvSpPr>
          <p:spPr bwMode="auto">
            <a:xfrm>
              <a:off x="0" y="196"/>
              <a:ext cx="1589" cy="495"/>
            </a:xfrm>
            <a:prstGeom prst="ellipse">
              <a:avLst/>
            </a:prstGeom>
            <a:solidFill>
              <a:srgbClr val="FDFFFB"/>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500">
                  <a:solidFill>
                    <a:srgbClr val="676767"/>
                  </a:solidFill>
                  <a:latin typeface="Gill Sans Light" pitchFamily="-112" charset="0"/>
                  <a:ea typeface="ヒラギノ角ゴ ProN W3" pitchFamily="-112" charset="-128"/>
                  <a:sym typeface="Gill Sans Light" pitchFamily="-112" charset="0"/>
                </a:rPr>
                <a:t>large</a:t>
              </a:r>
            </a:p>
          </p:txBody>
        </p:sp>
        <p:sp>
          <p:nvSpPr>
            <p:cNvPr id="31763" name="Oval 19"/>
            <p:cNvSpPr>
              <a:spLocks/>
            </p:cNvSpPr>
            <p:nvPr/>
          </p:nvSpPr>
          <p:spPr bwMode="auto">
            <a:xfrm>
              <a:off x="2018" y="0"/>
              <a:ext cx="1320" cy="584"/>
            </a:xfrm>
            <a:prstGeom prst="ellipse">
              <a:avLst/>
            </a:prstGeom>
            <a:solidFill>
              <a:srgbClr val="FDFFFB"/>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500">
                  <a:solidFill>
                    <a:srgbClr val="676767"/>
                  </a:solidFill>
                  <a:latin typeface="Gill Sans Light" pitchFamily="-112" charset="0"/>
                  <a:ea typeface="ヒラギノ角ゴ ProN W3" pitchFamily="-112" charset="-128"/>
                  <a:sym typeface="Gill Sans Light" pitchFamily="-112" charset="0"/>
                </a:rPr>
                <a:t>intuitive</a:t>
              </a:r>
            </a:p>
          </p:txBody>
        </p:sp>
        <p:pic>
          <p:nvPicPr>
            <p:cNvPr id="31764" name="Picture 2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6" y="392"/>
              <a:ext cx="320" cy="664"/>
            </a:xfrm>
            <a:prstGeom prst="rect">
              <a:avLst/>
            </a:prstGeom>
            <a:noFill/>
            <a:ln>
              <a:noFill/>
            </a:ln>
            <a:effectLst>
              <a:outerShdw blurRad="127000" dist="76199" dir="2700000" algn="ctr" rotWithShape="0">
                <a:schemeClr val="bg2">
                  <a:alpha val="74997"/>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1765" name="Picture 2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1" y="538"/>
              <a:ext cx="984" cy="584"/>
            </a:xfrm>
            <a:prstGeom prst="rect">
              <a:avLst/>
            </a:prstGeom>
            <a:noFill/>
            <a:ln>
              <a:noFill/>
            </a:ln>
            <a:effectLst>
              <a:outerShdw blurRad="127000" dist="76199" dir="2700000" algn="ctr" rotWithShape="0">
                <a:schemeClr val="bg2">
                  <a:alpha val="74997"/>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1766" name="Picture 2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 y="1264"/>
              <a:ext cx="288" cy="712"/>
            </a:xfrm>
            <a:prstGeom prst="rect">
              <a:avLst/>
            </a:prstGeom>
            <a:noFill/>
            <a:ln>
              <a:noFill/>
            </a:ln>
            <a:effectLst>
              <a:outerShdw blurRad="127000" dist="76199" dir="2700000" algn="ctr" rotWithShape="0">
                <a:schemeClr val="bg2">
                  <a:alpha val="74997"/>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1767" name="Oval 23"/>
            <p:cNvSpPr>
              <a:spLocks/>
            </p:cNvSpPr>
            <p:nvPr/>
          </p:nvSpPr>
          <p:spPr bwMode="auto">
            <a:xfrm>
              <a:off x="742" y="1620"/>
              <a:ext cx="1320" cy="584"/>
            </a:xfrm>
            <a:prstGeom prst="ellipse">
              <a:avLst/>
            </a:prstGeom>
            <a:solidFill>
              <a:srgbClr val="FDFFFB"/>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500">
                  <a:solidFill>
                    <a:srgbClr val="676767"/>
                  </a:solidFill>
                  <a:latin typeface="Gill Sans Light" pitchFamily="-112" charset="0"/>
                  <a:ea typeface="ヒラギノ角ゴ ProN W3" pitchFamily="-112" charset="-128"/>
                  <a:sym typeface="Gill Sans Light" pitchFamily="-112" charset="0"/>
                </a:rPr>
                <a:t>natural</a:t>
              </a:r>
            </a:p>
          </p:txBody>
        </p:sp>
      </p:grpSp>
      <p:pic>
        <p:nvPicPr>
          <p:cNvPr id="31768" name="Picture 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3363" y="2527301"/>
            <a:ext cx="6524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1770" name="Rectangle 26"/>
          <p:cNvSpPr>
            <a:spLocks/>
          </p:cNvSpPr>
          <p:nvPr/>
        </p:nvSpPr>
        <p:spPr bwMode="auto">
          <a:xfrm>
            <a:off x="819151" y="4069770"/>
            <a:ext cx="363131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938">
              <a:spcBef>
                <a:spcPts val="2675"/>
              </a:spcBef>
            </a:pPr>
            <a:r>
              <a:rPr lang="en-US" sz="2700">
                <a:latin typeface="Gill Sans Light" pitchFamily="-112" charset="0"/>
                <a:ea typeface="ヒラギノ角ゴ ProN W3" pitchFamily="-112" charset="-128"/>
                <a:sym typeface="Gill Sans Light" pitchFamily="-112" charset="0"/>
              </a:rPr>
              <a:t>“The controls are intuitive.”</a:t>
            </a:r>
          </a:p>
        </p:txBody>
      </p:sp>
      <p:pic>
        <p:nvPicPr>
          <p:cNvPr id="31771" name="Picture 2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9151" y="4408489"/>
            <a:ext cx="185737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1772" name="Rectangle 28"/>
          <p:cNvSpPr>
            <a:spLocks/>
          </p:cNvSpPr>
          <p:nvPr/>
        </p:nvSpPr>
        <p:spPr bwMode="auto">
          <a:xfrm>
            <a:off x="2591049" y="4645175"/>
            <a:ext cx="7694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3000">
                <a:solidFill>
                  <a:srgbClr val="D90B00"/>
                </a:solidFill>
                <a:latin typeface="Gill Sans Light" pitchFamily="-112" charset="0"/>
                <a:ea typeface="ヒラギノ角ゴ ProN W3" pitchFamily="-112" charset="-128"/>
                <a:sym typeface="Gill Sans Light" pitchFamily="-112" charset="0"/>
              </a:rPr>
              <a:t>nsubj</a:t>
            </a:r>
          </a:p>
        </p:txBody>
      </p:sp>
      <p:sp>
        <p:nvSpPr>
          <p:cNvPr id="31773" name="Rectangle 29"/>
          <p:cNvSpPr>
            <a:spLocks/>
          </p:cNvSpPr>
          <p:nvPr/>
        </p:nvSpPr>
        <p:spPr bwMode="auto">
          <a:xfrm>
            <a:off x="4543426" y="4352925"/>
            <a:ext cx="49561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500">
                <a:latin typeface="Gill Sans Light" pitchFamily="-112" charset="0"/>
                <a:ea typeface="ヒラギノ角ゴ ProN W3" pitchFamily="-112" charset="-128"/>
                <a:sym typeface="Gill Sans Light" pitchFamily="-112" charset="0"/>
              </a:rPr>
              <a:t>“There are large controls on the top.”</a:t>
            </a:r>
          </a:p>
        </p:txBody>
      </p:sp>
      <p:grpSp>
        <p:nvGrpSpPr>
          <p:cNvPr id="7" name="Group 30"/>
          <p:cNvGrpSpPr>
            <a:grpSpLocks/>
          </p:cNvGrpSpPr>
          <p:nvPr/>
        </p:nvGrpSpPr>
        <p:grpSpPr bwMode="auto">
          <a:xfrm>
            <a:off x="6310535" y="4679108"/>
            <a:ext cx="1018578" cy="703036"/>
            <a:chOff x="-14" y="-32"/>
            <a:chExt cx="911" cy="629"/>
          </a:xfrm>
        </p:grpSpPr>
        <p:pic>
          <p:nvPicPr>
            <p:cNvPr id="2264096" name="Picture 3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 y="-32"/>
              <a:ext cx="91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264097" name="Rectangle 32"/>
            <p:cNvSpPr>
              <a:spLocks/>
            </p:cNvSpPr>
            <p:nvPr/>
          </p:nvSpPr>
          <p:spPr bwMode="auto">
            <a:xfrm>
              <a:off x="33" y="184"/>
              <a:ext cx="761"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3000">
                  <a:solidFill>
                    <a:srgbClr val="D90B00"/>
                  </a:solidFill>
                  <a:latin typeface="Gill Sans Light" pitchFamily="-112" charset="0"/>
                  <a:ea typeface="ヒラギノ角ゴ ProN W3" pitchFamily="-112" charset="-128"/>
                  <a:sym typeface="Gill Sans Light" pitchFamily="-112" charset="0"/>
                </a:rPr>
                <a:t>amod</a:t>
              </a:r>
            </a:p>
          </p:txBody>
        </p:sp>
      </p:grpSp>
      <p:sp>
        <p:nvSpPr>
          <p:cNvPr id="31777" name="Rectangle 33"/>
          <p:cNvSpPr>
            <a:spLocks/>
          </p:cNvSpPr>
          <p:nvPr/>
        </p:nvSpPr>
        <p:spPr bwMode="auto">
          <a:xfrm>
            <a:off x="2054226" y="5322888"/>
            <a:ext cx="49561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500">
                <a:latin typeface="Gill Sans Light" pitchFamily="-112" charset="0"/>
                <a:ea typeface="ヒラギノ角ゴ ProN W3" pitchFamily="-112" charset="-128"/>
                <a:sym typeface="Gill Sans Light" pitchFamily="-112" charset="0"/>
              </a:rPr>
              <a:t>“The controls feel natural.”</a:t>
            </a:r>
          </a:p>
        </p:txBody>
      </p:sp>
      <p:grpSp>
        <p:nvGrpSpPr>
          <p:cNvPr id="8" name="Group 34"/>
          <p:cNvGrpSpPr>
            <a:grpSpLocks/>
          </p:cNvGrpSpPr>
          <p:nvPr/>
        </p:nvGrpSpPr>
        <p:grpSpPr bwMode="auto">
          <a:xfrm>
            <a:off x="4072789" y="4796934"/>
            <a:ext cx="855862" cy="672607"/>
            <a:chOff x="-32" y="18"/>
            <a:chExt cx="768" cy="601"/>
          </a:xfrm>
        </p:grpSpPr>
        <p:pic>
          <p:nvPicPr>
            <p:cNvPr id="2264100" name="Picture 3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 y="307"/>
              <a:ext cx="76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264101" name="Rectangle 36"/>
            <p:cNvSpPr>
              <a:spLocks/>
            </p:cNvSpPr>
            <p:nvPr/>
          </p:nvSpPr>
          <p:spPr bwMode="auto">
            <a:xfrm>
              <a:off x="32" y="18"/>
              <a:ext cx="690"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3000">
                  <a:solidFill>
                    <a:srgbClr val="D90B00"/>
                  </a:solidFill>
                  <a:latin typeface="Gill Sans Light" pitchFamily="-112" charset="0"/>
                  <a:ea typeface="ヒラギノ角ゴ ProN W3" pitchFamily="-112" charset="-128"/>
                  <a:sym typeface="Gill Sans Light" pitchFamily="-112" charset="0"/>
                </a:rPr>
                <a:t>nsubj</a:t>
              </a:r>
            </a:p>
          </p:txBody>
        </p:sp>
      </p:grpSp>
      <p:grpSp>
        <p:nvGrpSpPr>
          <p:cNvPr id="9" name="Group 37"/>
          <p:cNvGrpSpPr>
            <a:grpSpLocks/>
          </p:cNvGrpSpPr>
          <p:nvPr/>
        </p:nvGrpSpPr>
        <p:grpSpPr bwMode="auto">
          <a:xfrm>
            <a:off x="4880759" y="5680845"/>
            <a:ext cx="1861317" cy="539513"/>
            <a:chOff x="-32" y="-32"/>
            <a:chExt cx="1667" cy="483"/>
          </a:xfrm>
        </p:grpSpPr>
        <p:pic>
          <p:nvPicPr>
            <p:cNvPr id="2264103" name="Picture 3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 y="-32"/>
              <a:ext cx="78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264104" name="Rectangle 39"/>
            <p:cNvSpPr>
              <a:spLocks/>
            </p:cNvSpPr>
            <p:nvPr/>
          </p:nvSpPr>
          <p:spPr bwMode="auto">
            <a:xfrm>
              <a:off x="565" y="38"/>
              <a:ext cx="1070"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3000">
                  <a:solidFill>
                    <a:srgbClr val="D90B00"/>
                  </a:solidFill>
                  <a:latin typeface="Gill Sans Light" pitchFamily="-112" charset="0"/>
                  <a:ea typeface="ヒラギノ角ゴ ProN W3" pitchFamily="-112" charset="-128"/>
                  <a:sym typeface="Gill Sans Light" pitchFamily="-112" charset="0"/>
                </a:rPr>
                <a:t>advmod</a:t>
              </a:r>
            </a:p>
          </p:txBody>
        </p:sp>
      </p:grpSp>
    </p:spTree>
    <p:extLst>
      <p:ext uri="{BB962C8B-B14F-4D97-AF65-F5344CB8AC3E}">
        <p14:creationId xmlns:p14="http://schemas.microsoft.com/office/powerpoint/2010/main" val="6053890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31759"/>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31770"/>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31771"/>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3177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3177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3177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499"/>
                                          </p:stCondLst>
                                        </p:cTn>
                                        <p:tgtEl>
                                          <p:spTgt spid="31768"/>
                                        </p:tgtEl>
                                        <p:attrNameLst>
                                          <p:attrName>style.visibility</p:attrName>
                                        </p:attrNameLst>
                                      </p:cBhvr>
                                      <p:to>
                                        <p:strVal val="visible"/>
                                      </p:to>
                                    </p:set>
                                  </p:childTnLst>
                                </p:cTn>
                              </p:par>
                            </p:childTnLst>
                          </p:cTn>
                        </p:par>
                        <p:par>
                          <p:cTn id="49" fill="hold" nodeType="afterGroup">
                            <p:stCondLst>
                              <p:cond delay="500"/>
                            </p:stCondLst>
                            <p:childTnLst>
                              <p:par>
                                <p:cTn id="50" presetID="1" presetClass="entr" presetSubtype="0" fill="hold" nodeType="afterEffect">
                                  <p:stCondLst>
                                    <p:cond delay="0"/>
                                  </p:stCondLst>
                                  <p:childTnLst>
                                    <p:set>
                                      <p:cBhvr>
                                        <p:cTn id="51"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70" grpId="0" autoUpdateAnimBg="0"/>
      <p:bldP spid="31772" grpId="0" autoUpdateAnimBg="0"/>
      <p:bldP spid="31773" grpId="0" autoUpdateAnimBg="0"/>
      <p:bldP spid="31777"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Measure Polarity of a Phrase?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Positive phrases co-occur (on the web) more with </a:t>
                </a:r>
                <a:r>
                  <a:rPr lang="en-US" i="1" dirty="0"/>
                  <a:t>“excellent”</a:t>
                </a:r>
              </a:p>
              <a:p>
                <a:r>
                  <a:rPr lang="en-US" dirty="0"/>
                  <a:t>Negative phrases co-occur (on the web) more with </a:t>
                </a:r>
                <a:r>
                  <a:rPr lang="en-US" i="1" dirty="0"/>
                  <a:t>“poor”</a:t>
                </a:r>
              </a:p>
              <a:p>
                <a:r>
                  <a:rPr lang="en-US" dirty="0"/>
                  <a:t>But how to measure co-occurrence?</a:t>
                </a:r>
              </a:p>
              <a:p>
                <a:pPr lvl="1"/>
                <a:r>
                  <a:rPr lang="en-US" dirty="0"/>
                  <a:t>PMI between two words measures how much more do two words co-occur than if they were independent.</a:t>
                </a:r>
              </a:p>
              <a:p>
                <a:pPr lvl="2"/>
                <a14:m>
                  <m:oMath xmlns:m="http://schemas.openxmlformats.org/officeDocument/2006/math">
                    <m:r>
                      <a:rPr lang="en-IN" b="0" i="1" smtClean="0">
                        <a:latin typeface="Cambria Math" panose="02040503050406030204" pitchFamily="18" charset="0"/>
                      </a:rPr>
                      <m:t>𝑃𝑀𝐼</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2</m:t>
                            </m:r>
                          </m:sub>
                        </m:sSub>
                      </m:e>
                    </m:d>
                    <m:r>
                      <a:rPr lang="en-IN" b="0" i="1" smtClean="0">
                        <a:latin typeface="Cambria Math" panose="02040503050406030204" pitchFamily="18" charset="0"/>
                      </a:rPr>
                      <m:t>=</m:t>
                    </m:r>
                    <m:func>
                      <m:funcPr>
                        <m:ctrlPr>
                          <a:rPr lang="en-IN" b="0" i="1" smtClean="0">
                            <a:latin typeface="Cambria Math" panose="02040503050406030204" pitchFamily="18" charset="0"/>
                          </a:rPr>
                        </m:ctrlPr>
                      </m:funcPr>
                      <m:fName>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log</m:t>
                            </m:r>
                          </m:e>
                          <m:sub>
                            <m:r>
                              <a:rPr lang="en-IN" b="0" i="1" smtClean="0">
                                <a:latin typeface="Cambria Math" panose="02040503050406030204" pitchFamily="18" charset="0"/>
                              </a:rPr>
                              <m:t>2</m:t>
                            </m:r>
                          </m:sub>
                        </m:sSub>
                      </m:fName>
                      <m:e>
                        <m:f>
                          <m:fPr>
                            <m:ctrlPr>
                              <a:rPr lang="en-IN" b="0" i="1" smtClean="0">
                                <a:latin typeface="Cambria Math" panose="02040503050406030204" pitchFamily="18" charset="0"/>
                              </a:rPr>
                            </m:ctrlPr>
                          </m:fPr>
                          <m:num>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1</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2</m:t>
                                </m:r>
                              </m:sub>
                            </m:sSub>
                            <m:r>
                              <a:rPr lang="en-IN" b="0" i="1" smtClean="0">
                                <a:latin typeface="Cambria Math" panose="02040503050406030204" pitchFamily="18" charset="0"/>
                              </a:rPr>
                              <m:t>)</m:t>
                            </m:r>
                          </m:num>
                          <m:den>
                            <m:r>
                              <a:rPr lang="en-IN" b="0" i="1" smtClean="0">
                                <a:latin typeface="Cambria Math" panose="02040503050406030204" pitchFamily="18" charset="0"/>
                              </a:rPr>
                              <m:t>𝑃</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1</m:t>
                                    </m:r>
                                  </m:sub>
                                </m:sSub>
                              </m:e>
                            </m:d>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2</m:t>
                                </m:r>
                              </m:sub>
                            </m:sSub>
                            <m:r>
                              <a:rPr lang="en-IN" b="0" i="1" smtClean="0">
                                <a:latin typeface="Cambria Math" panose="02040503050406030204" pitchFamily="18" charset="0"/>
                              </a:rPr>
                              <m:t>)</m:t>
                            </m:r>
                          </m:den>
                        </m:f>
                      </m:e>
                    </m:func>
                  </m:oMath>
                </a14:m>
                <a:endParaRPr lang="en-US" dirty="0"/>
              </a:p>
              <a:p>
                <a:pPr lvl="2"/>
                <a:r>
                  <a:rPr lang="en-IN" dirty="0"/>
                  <a:t>Estimate P(w) by issuing “w” as a query to search engine and looking at #results</a:t>
                </a:r>
              </a:p>
              <a:p>
                <a:pPr lvl="2"/>
                <a:r>
                  <a:rPr lang="en-IN" dirty="0"/>
                  <a:t>Estimate P(</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1</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2</m:t>
                        </m:r>
                      </m:sub>
                    </m:sSub>
                  </m:oMath>
                </a14:m>
                <a:r>
                  <a:rPr lang="en-IN" dirty="0"/>
                  <a:t>) by issuing “</a:t>
                </a:r>
                <a14:m>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𝑤</m:t>
                        </m:r>
                      </m:e>
                      <m:sub>
                        <m:r>
                          <a:rPr lang="en-IN" b="0" i="1" dirty="0" smtClean="0">
                            <a:latin typeface="Cambria Math" panose="02040503050406030204" pitchFamily="18" charset="0"/>
                          </a:rPr>
                          <m:t>1</m:t>
                        </m:r>
                      </m:sub>
                    </m:sSub>
                    <m:r>
                      <a:rPr lang="en-IN" b="0" i="1" dirty="0" smtClean="0">
                        <a:latin typeface="Cambria Math" panose="02040503050406030204" pitchFamily="18" charset="0"/>
                      </a:rPr>
                      <m:t> </m:t>
                    </m:r>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𝑤</m:t>
                        </m:r>
                      </m:e>
                      <m:sub>
                        <m:r>
                          <a:rPr lang="en-IN" b="0" i="1" dirty="0" smtClean="0">
                            <a:latin typeface="Cambria Math" panose="02040503050406030204" pitchFamily="18" charset="0"/>
                          </a:rPr>
                          <m:t>2</m:t>
                        </m:r>
                      </m:sub>
                    </m:sSub>
                  </m:oMath>
                </a14:m>
                <a:r>
                  <a:rPr lang="en-IN" dirty="0"/>
                  <a:t>” as a query to search engine and looking at #results</a:t>
                </a:r>
              </a:p>
              <a:p>
                <a:r>
                  <a:rPr lang="en-IN" dirty="0"/>
                  <a:t>Polarity of phrase = PMI(phrase, “excellent”) </a:t>
                </a:r>
                <a14:m>
                  <m:oMath xmlns:m="http://schemas.openxmlformats.org/officeDocument/2006/math">
                    <m:r>
                      <a:rPr lang="en-IN" b="0" i="1" smtClean="0">
                        <a:latin typeface="Cambria Math" panose="02040503050406030204" pitchFamily="18" charset="0"/>
                      </a:rPr>
                      <m:t>−</m:t>
                    </m:r>
                  </m:oMath>
                </a14:m>
                <a:r>
                  <a:rPr lang="en-IN" dirty="0"/>
                  <a:t> PMI(phrase, “poor”)</a:t>
                </a:r>
              </a:p>
              <a:p>
                <a:pPr lvl="2"/>
                <a:endParaRPr lang="en-IN" dirty="0"/>
              </a:p>
              <a:p>
                <a:pPr lvl="2"/>
                <a:endParaRPr lang="en-US" dirty="0"/>
              </a:p>
              <a:p>
                <a:pPr lvl="2"/>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56" t="-1078" r="-1317"/>
                </a:stretch>
              </a:blipFill>
            </p:spPr>
            <p:txBody>
              <a:bodyPr/>
              <a:lstStyle/>
              <a:p>
                <a:r>
                  <a:rPr lang="en-US">
                    <a:noFill/>
                  </a:rPr>
                  <a:t> </a:t>
                </a:r>
              </a:p>
            </p:txBody>
          </p:sp>
        </mc:Fallback>
      </mc:AlternateContent>
    </p:spTree>
    <p:extLst>
      <p:ext uri="{BB962C8B-B14F-4D97-AF65-F5344CB8AC3E}">
        <p14:creationId xmlns:p14="http://schemas.microsoft.com/office/powerpoint/2010/main" val="32162619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 Number Placeholder 1"/>
          <p:cNvSpPr>
            <a:spLocks noGrp="1"/>
          </p:cNvSpPr>
          <p:nvPr>
            <p:ph type="sldNum" sz="quarter" idx="10"/>
          </p:nvPr>
        </p:nvSpPr>
        <p:spPr>
          <a:xfrm>
            <a:off x="0" y="-274639"/>
            <a:ext cx="0" cy="0"/>
          </a:xfrm>
        </p:spPr>
        <p:txBody>
          <a:bodyPr/>
          <a:lstStyle/>
          <a:p>
            <a:fld id="{2844573A-E69A-45BC-86A7-4C75E26E6896}" type="slidenum">
              <a:rPr lang="en-US" altLang="zh-CN"/>
              <a:pPr/>
              <a:t>79</a:t>
            </a:fld>
            <a:endParaRPr lang="en-US" altLang="zh-CN"/>
          </a:p>
        </p:txBody>
      </p:sp>
      <p:sp>
        <p:nvSpPr>
          <p:cNvPr id="2266114" name="Rectangle 1"/>
          <p:cNvSpPr>
            <a:spLocks noGrp="1" noChangeArrowheads="1"/>
          </p:cNvSpPr>
          <p:nvPr>
            <p:ph type="title" idx="4294967295"/>
          </p:nvPr>
        </p:nvSpPr>
        <p:spPr>
          <a:xfrm>
            <a:off x="342900" y="-274639"/>
            <a:ext cx="8643938" cy="884237"/>
          </a:xfrm>
        </p:spPr>
        <p:txBody>
          <a:bodyPr vert="horz" wrap="square" lIns="35717" tIns="35717" rIns="35717" bIns="35717" numCol="1" anchor="b" anchorCtr="0" compatLnSpc="1">
            <a:prstTxWarp prst="textNoShape">
              <a:avLst/>
            </a:prstTxWarp>
          </a:bodyPr>
          <a:lstStyle/>
          <a:p>
            <a:r>
              <a:rPr lang="en-US" dirty="0"/>
              <a:t>Classifying Opinions</a:t>
            </a:r>
          </a:p>
        </p:txBody>
      </p:sp>
      <p:sp>
        <p:nvSpPr>
          <p:cNvPr id="2266115" name="Rectangle 2"/>
          <p:cNvSpPr>
            <a:spLocks noGrp="1" noChangeArrowheads="1"/>
          </p:cNvSpPr>
          <p:nvPr>
            <p:ph type="body" idx="4294967295"/>
          </p:nvPr>
        </p:nvSpPr>
        <p:spPr>
          <a:xfrm>
            <a:off x="571500" y="573086"/>
            <a:ext cx="8643938" cy="847725"/>
          </a:xfrm>
        </p:spPr>
        <p:txBody>
          <a:bodyPr vert="horz" wrap="square" lIns="35717" tIns="35717" rIns="35717" bIns="35717" numCol="1" anchor="t" anchorCtr="0" compatLnSpc="1">
            <a:prstTxWarp prst="textNoShape">
              <a:avLst/>
            </a:prstTxWarp>
            <a:normAutofit fontScale="92500" lnSpcReduction="20000"/>
          </a:bodyPr>
          <a:lstStyle/>
          <a:p>
            <a:pPr indent="0"/>
            <a:r>
              <a:rPr lang="en-US"/>
              <a:t>Synonymous words have high Web-PMI with each other</a:t>
            </a:r>
          </a:p>
          <a:p>
            <a:pPr indent="0"/>
            <a:endParaRPr lang="en-US"/>
          </a:p>
        </p:txBody>
      </p:sp>
      <p:grpSp>
        <p:nvGrpSpPr>
          <p:cNvPr id="2" name="Group 3"/>
          <p:cNvGrpSpPr>
            <a:grpSpLocks/>
          </p:cNvGrpSpPr>
          <p:nvPr/>
        </p:nvGrpSpPr>
        <p:grpSpPr bwMode="auto">
          <a:xfrm>
            <a:off x="725488" y="1331910"/>
            <a:ext cx="1465262" cy="1773238"/>
            <a:chOff x="0" y="0"/>
            <a:chExt cx="1312" cy="1587"/>
          </a:xfrm>
        </p:grpSpPr>
        <p:sp>
          <p:nvSpPr>
            <p:cNvPr id="2266117" name="Rectangle 4"/>
            <p:cNvSpPr>
              <a:spLocks/>
            </p:cNvSpPr>
            <p:nvPr/>
          </p:nvSpPr>
          <p:spPr bwMode="auto">
            <a:xfrm>
              <a:off x="0" y="1227"/>
              <a:ext cx="131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200">
                  <a:latin typeface="Gill Sans Light" pitchFamily="-112" charset="0"/>
                  <a:ea typeface="ヒラギノ角ゴ ProN W3" pitchFamily="-112" charset="-128"/>
                  <a:sym typeface="Gill Sans Light" pitchFamily="-112" charset="0"/>
                </a:rPr>
                <a:t>Web-PMI</a:t>
              </a:r>
            </a:p>
          </p:txBody>
        </p:sp>
        <p:pic>
          <p:nvPicPr>
            <p:cNvPr id="226611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 y="0"/>
              <a:ext cx="1183" cy="1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3" name="Group 6"/>
          <p:cNvGrpSpPr>
            <a:grpSpLocks/>
          </p:cNvGrpSpPr>
          <p:nvPr/>
        </p:nvGrpSpPr>
        <p:grpSpPr bwMode="auto">
          <a:xfrm>
            <a:off x="2916239" y="1295478"/>
            <a:ext cx="5476875" cy="2201783"/>
            <a:chOff x="0" y="-17"/>
            <a:chExt cx="4907" cy="1973"/>
          </a:xfrm>
        </p:grpSpPr>
        <p:sp>
          <p:nvSpPr>
            <p:cNvPr id="33799" name="Oval 7"/>
            <p:cNvSpPr>
              <a:spLocks/>
            </p:cNvSpPr>
            <p:nvPr/>
          </p:nvSpPr>
          <p:spPr bwMode="auto">
            <a:xfrm>
              <a:off x="107" y="232"/>
              <a:ext cx="1048" cy="496"/>
            </a:xfrm>
            <a:prstGeom prst="ellipse">
              <a:avLst/>
            </a:prstGeom>
            <a:solidFill>
              <a:srgbClr val="FFFBFB"/>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grpSp>
          <p:nvGrpSpPr>
            <p:cNvPr id="2266121" name="Group 8"/>
            <p:cNvGrpSpPr>
              <a:grpSpLocks/>
            </p:cNvGrpSpPr>
            <p:nvPr/>
          </p:nvGrpSpPr>
          <p:grpSpPr bwMode="auto">
            <a:xfrm>
              <a:off x="1342" y="-17"/>
              <a:ext cx="2233" cy="1973"/>
              <a:chOff x="0" y="-17"/>
              <a:chExt cx="2232" cy="1973"/>
            </a:xfrm>
          </p:grpSpPr>
          <p:grpSp>
            <p:nvGrpSpPr>
              <p:cNvPr id="2266122" name="Group 9"/>
              <p:cNvGrpSpPr>
                <a:grpSpLocks/>
              </p:cNvGrpSpPr>
              <p:nvPr/>
            </p:nvGrpSpPr>
            <p:grpSpPr bwMode="auto">
              <a:xfrm>
                <a:off x="550" y="-17"/>
                <a:ext cx="1129" cy="1379"/>
                <a:chOff x="0" y="-17"/>
                <a:chExt cx="1128" cy="1379"/>
              </a:xfrm>
            </p:grpSpPr>
            <p:sp>
              <p:nvSpPr>
                <p:cNvPr id="33802" name="Rectangle 10"/>
                <p:cNvSpPr>
                  <a:spLocks/>
                </p:cNvSpPr>
                <p:nvPr/>
              </p:nvSpPr>
              <p:spPr bwMode="auto">
                <a:xfrm>
                  <a:off x="0" y="8"/>
                  <a:ext cx="1128" cy="1328"/>
                </a:xfrm>
                <a:prstGeom prst="rect">
                  <a:avLst/>
                </a:prstGeom>
                <a:solidFill>
                  <a:srgbClr val="FBF8FF"/>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sp>
              <p:nvSpPr>
                <p:cNvPr id="2266124" name="Rectangle 11"/>
                <p:cNvSpPr>
                  <a:spLocks/>
                </p:cNvSpPr>
                <p:nvPr/>
              </p:nvSpPr>
              <p:spPr bwMode="auto">
                <a:xfrm>
                  <a:off x="94" y="-17"/>
                  <a:ext cx="962" cy="1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938"/>
                  <a:r>
                    <a:rPr lang="en-US" sz="2000">
                      <a:latin typeface="Gill Sans Light" pitchFamily="-112" charset="0"/>
                      <a:ea typeface="ヒラギノ角ゴ ProN W3" pitchFamily="-112" charset="-128"/>
                      <a:sym typeface="Gill Sans Light" pitchFamily="-112" charset="0"/>
                    </a:rPr>
                    <a:t>great +</a:t>
                  </a:r>
                </a:p>
                <a:p>
                  <a:pPr defTabSz="642938"/>
                  <a:r>
                    <a:rPr lang="en-US" sz="2000">
                      <a:latin typeface="Gill Sans Light" pitchFamily="-112" charset="0"/>
                      <a:ea typeface="ヒラギノ角ゴ ProN W3" pitchFamily="-112" charset="-128"/>
                      <a:sym typeface="Gill Sans Light" pitchFamily="-112" charset="0"/>
                    </a:rPr>
                    <a:t>poor -</a:t>
                  </a:r>
                </a:p>
                <a:p>
                  <a:pPr defTabSz="642938"/>
                  <a:r>
                    <a:rPr lang="en-US" sz="2000">
                      <a:latin typeface="Gill Sans Light" pitchFamily="-112" charset="0"/>
                      <a:ea typeface="ヒラギノ角ゴ ProN W3" pitchFamily="-112" charset="-128"/>
                      <a:sym typeface="Gill Sans Light" pitchFamily="-112" charset="0"/>
                    </a:rPr>
                    <a:t>excellent +</a:t>
                  </a:r>
                </a:p>
                <a:p>
                  <a:pPr defTabSz="642938"/>
                  <a:r>
                    <a:rPr lang="en-US" sz="2000">
                      <a:latin typeface="Gill Sans Light" pitchFamily="-112" charset="0"/>
                      <a:ea typeface="ヒラギノ角ゴ ProN W3" pitchFamily="-112" charset="-128"/>
                      <a:sym typeface="Gill Sans Light" pitchFamily="-112" charset="0"/>
                    </a:rPr>
                    <a:t>terrible -</a:t>
                  </a:r>
                </a:p>
                <a:p>
                  <a:pPr defTabSz="642938"/>
                  <a:r>
                    <a:rPr lang="en-US" sz="2000">
                      <a:latin typeface="Gill Sans Light" pitchFamily="-112" charset="0"/>
                      <a:ea typeface="ヒラギノ角ゴ ProN W3" pitchFamily="-112" charset="-128"/>
                      <a:sym typeface="Gill Sans Light" pitchFamily="-112" charset="0"/>
                    </a:rPr>
                    <a:t>...</a:t>
                  </a:r>
                </a:p>
              </p:txBody>
            </p:sp>
          </p:grpSp>
          <p:sp>
            <p:nvSpPr>
              <p:cNvPr id="2266125" name="Rectangle 12"/>
              <p:cNvSpPr>
                <a:spLocks/>
              </p:cNvSpPr>
              <p:nvPr/>
            </p:nvSpPr>
            <p:spPr bwMode="auto">
              <a:xfrm>
                <a:off x="0" y="1332"/>
                <a:ext cx="2232"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200">
                    <a:latin typeface="Gill Sans Light" pitchFamily="-112" charset="0"/>
                    <a:ea typeface="ヒラギノ角ゴ ProN W3" pitchFamily="-112" charset="-128"/>
                    <a:sym typeface="Gill Sans Light" pitchFamily="-112" charset="0"/>
                  </a:rPr>
                  <a:t>known-polarity adjectives</a:t>
                </a:r>
              </a:p>
            </p:txBody>
          </p:sp>
        </p:grpSp>
        <p:grpSp>
          <p:nvGrpSpPr>
            <p:cNvPr id="2266126" name="Group 13"/>
            <p:cNvGrpSpPr>
              <a:grpSpLocks/>
            </p:cNvGrpSpPr>
            <p:nvPr/>
          </p:nvGrpSpPr>
          <p:grpSpPr bwMode="auto">
            <a:xfrm>
              <a:off x="0" y="342"/>
              <a:ext cx="1247" cy="1006"/>
              <a:chOff x="0" y="22"/>
              <a:chExt cx="1247" cy="1006"/>
            </a:xfrm>
          </p:grpSpPr>
          <p:sp>
            <p:nvSpPr>
              <p:cNvPr id="2266127" name="Rectangle 14"/>
              <p:cNvSpPr>
                <a:spLocks/>
              </p:cNvSpPr>
              <p:nvPr/>
            </p:nvSpPr>
            <p:spPr bwMode="auto">
              <a:xfrm>
                <a:off x="264" y="22"/>
                <a:ext cx="687"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938"/>
                <a:r>
                  <a:rPr lang="en-US" sz="2000">
                    <a:latin typeface="Gill Sans Light" pitchFamily="-112" charset="0"/>
                    <a:ea typeface="ヒラギノ角ゴ ProN W3" pitchFamily="-112" charset="-128"/>
                    <a:sym typeface="Gill Sans Light" pitchFamily="-112" charset="0"/>
                  </a:rPr>
                  <a:t>intuitive</a:t>
                </a:r>
              </a:p>
            </p:txBody>
          </p:sp>
          <p:sp>
            <p:nvSpPr>
              <p:cNvPr id="2266128" name="Rectangle 15"/>
              <p:cNvSpPr>
                <a:spLocks/>
              </p:cNvSpPr>
              <p:nvPr/>
            </p:nvSpPr>
            <p:spPr bwMode="auto">
              <a:xfrm>
                <a:off x="0" y="404"/>
                <a:ext cx="1247"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200">
                    <a:latin typeface="Gill Sans Light" pitchFamily="-112" charset="0"/>
                    <a:ea typeface="ヒラギノ角ゴ ProN W3" pitchFamily="-112" charset="-128"/>
                    <a:sym typeface="Gill Sans Light" pitchFamily="-112" charset="0"/>
                  </a:rPr>
                  <a:t>unknown adjective</a:t>
                </a:r>
              </a:p>
            </p:txBody>
          </p:sp>
        </p:grpSp>
        <p:grpSp>
          <p:nvGrpSpPr>
            <p:cNvPr id="2266129" name="Group 16"/>
            <p:cNvGrpSpPr>
              <a:grpSpLocks/>
            </p:cNvGrpSpPr>
            <p:nvPr/>
          </p:nvGrpSpPr>
          <p:grpSpPr bwMode="auto">
            <a:xfrm>
              <a:off x="3659" y="280"/>
              <a:ext cx="1248" cy="768"/>
              <a:chOff x="0" y="0"/>
              <a:chExt cx="1248" cy="768"/>
            </a:xfrm>
          </p:grpSpPr>
          <p:grpSp>
            <p:nvGrpSpPr>
              <p:cNvPr id="2266130" name="Group 17"/>
              <p:cNvGrpSpPr>
                <a:grpSpLocks/>
              </p:cNvGrpSpPr>
              <p:nvPr/>
            </p:nvGrpSpPr>
            <p:grpSpPr bwMode="auto">
              <a:xfrm>
                <a:off x="202" y="0"/>
                <a:ext cx="848" cy="392"/>
                <a:chOff x="0" y="0"/>
                <a:chExt cx="848" cy="392"/>
              </a:xfrm>
            </p:grpSpPr>
            <p:sp>
              <p:nvSpPr>
                <p:cNvPr id="33810" name="Rectangle 18"/>
                <p:cNvSpPr>
                  <a:spLocks/>
                </p:cNvSpPr>
                <p:nvPr/>
              </p:nvSpPr>
              <p:spPr bwMode="auto">
                <a:xfrm>
                  <a:off x="0" y="0"/>
                  <a:ext cx="848" cy="392"/>
                </a:xfrm>
                <a:prstGeom prst="rect">
                  <a:avLst/>
                </a:prstGeom>
                <a:solidFill>
                  <a:srgbClr val="FBF8FF"/>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sp>
              <p:nvSpPr>
                <p:cNvPr id="2266132" name="Rectangle 19"/>
                <p:cNvSpPr>
                  <a:spLocks/>
                </p:cNvSpPr>
                <p:nvPr/>
              </p:nvSpPr>
              <p:spPr bwMode="auto">
                <a:xfrm>
                  <a:off x="70" y="54"/>
                  <a:ext cx="65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938"/>
                  <a:r>
                    <a:rPr lang="en-US" sz="2000">
                      <a:latin typeface="Gill Sans Light" pitchFamily="-112" charset="0"/>
                      <a:ea typeface="ヒラギノ角ゴ ProN W3" pitchFamily="-112" charset="-128"/>
                      <a:sym typeface="Gill Sans Light" pitchFamily="-112" charset="0"/>
                    </a:rPr>
                    <a:t>camera</a:t>
                  </a:r>
                </a:p>
              </p:txBody>
            </p:sp>
          </p:grpSp>
          <p:sp>
            <p:nvSpPr>
              <p:cNvPr id="2266133" name="Rectangle 20"/>
              <p:cNvSpPr>
                <a:spLocks/>
              </p:cNvSpPr>
              <p:nvPr/>
            </p:nvSpPr>
            <p:spPr bwMode="auto">
              <a:xfrm>
                <a:off x="0" y="424"/>
                <a:ext cx="1248"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200">
                    <a:latin typeface="Gill Sans Light" pitchFamily="-112" charset="0"/>
                    <a:ea typeface="ヒラギノ角ゴ ProN W3" pitchFamily="-112" charset="-128"/>
                    <a:sym typeface="Gill Sans Light" pitchFamily="-112" charset="0"/>
                  </a:rPr>
                  <a:t>context</a:t>
                </a:r>
              </a:p>
            </p:txBody>
          </p:sp>
        </p:grpSp>
      </p:grpSp>
      <p:grpSp>
        <p:nvGrpSpPr>
          <p:cNvPr id="9" name="Group 21"/>
          <p:cNvGrpSpPr>
            <a:grpSpLocks/>
          </p:cNvGrpSpPr>
          <p:nvPr/>
        </p:nvGrpSpPr>
        <p:grpSpPr bwMode="auto">
          <a:xfrm>
            <a:off x="1894094" y="3352799"/>
            <a:ext cx="7332456" cy="884237"/>
            <a:chOff x="40" y="0"/>
            <a:chExt cx="6568" cy="791"/>
          </a:xfrm>
        </p:grpSpPr>
        <p:grpSp>
          <p:nvGrpSpPr>
            <p:cNvPr id="2266135" name="Group 22"/>
            <p:cNvGrpSpPr>
              <a:grpSpLocks/>
            </p:cNvGrpSpPr>
            <p:nvPr/>
          </p:nvGrpSpPr>
          <p:grpSpPr bwMode="auto">
            <a:xfrm>
              <a:off x="1224" y="0"/>
              <a:ext cx="5384" cy="791"/>
              <a:chOff x="0" y="0"/>
              <a:chExt cx="5384" cy="791"/>
            </a:xfrm>
          </p:grpSpPr>
          <p:sp>
            <p:nvSpPr>
              <p:cNvPr id="2266136" name="Rectangle 23"/>
              <p:cNvSpPr>
                <a:spLocks/>
              </p:cNvSpPr>
              <p:nvPr/>
            </p:nvSpPr>
            <p:spPr bwMode="auto">
              <a:xfrm>
                <a:off x="0" y="0"/>
                <a:ext cx="5384" cy="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a:latin typeface="Gill Sans Light" pitchFamily="-112" charset="0"/>
                    <a:ea typeface="ヒラギノ角ゴ ProN W3" pitchFamily="-112" charset="-128"/>
                    <a:sym typeface="Gill Sans Light" pitchFamily="-112" charset="0"/>
                  </a:rPr>
                  <a:t>HITS(“camera” near adj, great)</a:t>
                </a:r>
              </a:p>
              <a:p>
                <a:pPr algn="ctr" defTabSz="642938"/>
                <a:r>
                  <a:rPr lang="en-US" sz="1700">
                    <a:latin typeface="Gill Sans Light" pitchFamily="-112" charset="0"/>
                    <a:ea typeface="ヒラギノ角ゴ ProN W3" pitchFamily="-112" charset="-128"/>
                    <a:sym typeface="Gill Sans Light" pitchFamily="-112" charset="0"/>
                  </a:rPr>
                  <a:t>HITS(“camera” NEAR adj) x HITS(“camera” NEAR great)</a:t>
                </a:r>
              </a:p>
            </p:txBody>
          </p:sp>
          <p:sp>
            <p:nvSpPr>
              <p:cNvPr id="2266137" name="Line 24"/>
              <p:cNvSpPr>
                <a:spLocks noChangeShapeType="1"/>
              </p:cNvSpPr>
              <p:nvPr/>
            </p:nvSpPr>
            <p:spPr bwMode="auto">
              <a:xfrm>
                <a:off x="990" y="418"/>
                <a:ext cx="340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en-US"/>
              </a:p>
            </p:txBody>
          </p:sp>
        </p:grpSp>
        <p:sp>
          <p:nvSpPr>
            <p:cNvPr id="2266138" name="Rectangle 25"/>
            <p:cNvSpPr>
              <a:spLocks/>
            </p:cNvSpPr>
            <p:nvPr/>
          </p:nvSpPr>
          <p:spPr bwMode="auto">
            <a:xfrm>
              <a:off x="40" y="231"/>
              <a:ext cx="168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1700">
                  <a:latin typeface="Gill Sans Light" pitchFamily="-112" charset="0"/>
                  <a:ea typeface="ヒラギノ角ゴ ProN W3" pitchFamily="-112" charset="-128"/>
                  <a:sym typeface="Gill Sans Light" pitchFamily="-112" charset="0"/>
                </a:rPr>
                <a:t>WebPMI(adj, great) = </a:t>
              </a:r>
            </a:p>
          </p:txBody>
        </p:sp>
      </p:grpSp>
      <p:grpSp>
        <p:nvGrpSpPr>
          <p:cNvPr id="11" name="Group 26"/>
          <p:cNvGrpSpPr>
            <a:grpSpLocks/>
          </p:cNvGrpSpPr>
          <p:nvPr/>
        </p:nvGrpSpPr>
        <p:grpSpPr bwMode="auto">
          <a:xfrm>
            <a:off x="2336801" y="4221161"/>
            <a:ext cx="1165225" cy="1166813"/>
            <a:chOff x="0" y="0"/>
            <a:chExt cx="1045" cy="1045"/>
          </a:xfrm>
        </p:grpSpPr>
        <p:grpSp>
          <p:nvGrpSpPr>
            <p:cNvPr id="2266140" name="Group 27"/>
            <p:cNvGrpSpPr>
              <a:grpSpLocks/>
            </p:cNvGrpSpPr>
            <p:nvPr/>
          </p:nvGrpSpPr>
          <p:grpSpPr bwMode="auto">
            <a:xfrm>
              <a:off x="0" y="0"/>
              <a:ext cx="1045" cy="1045"/>
              <a:chOff x="0" y="0"/>
              <a:chExt cx="1045" cy="1045"/>
            </a:xfrm>
          </p:grpSpPr>
          <p:grpSp>
            <p:nvGrpSpPr>
              <p:cNvPr id="2266141" name="Group 28"/>
              <p:cNvGrpSpPr>
                <a:grpSpLocks/>
              </p:cNvGrpSpPr>
              <p:nvPr/>
            </p:nvGrpSpPr>
            <p:grpSpPr bwMode="auto">
              <a:xfrm>
                <a:off x="0" y="0"/>
                <a:ext cx="1045" cy="1045"/>
                <a:chOff x="0" y="0"/>
                <a:chExt cx="1045" cy="1045"/>
              </a:xfrm>
            </p:grpSpPr>
            <p:sp>
              <p:nvSpPr>
                <p:cNvPr id="33821" name="Rectangle 29"/>
                <p:cNvSpPr>
                  <a:spLocks/>
                </p:cNvSpPr>
                <p:nvPr/>
              </p:nvSpPr>
              <p:spPr bwMode="auto">
                <a:xfrm>
                  <a:off x="0" y="0"/>
                  <a:ext cx="804" cy="804"/>
                </a:xfrm>
                <a:prstGeom prst="rect">
                  <a:avLst/>
                </a:prstGeom>
                <a:solidFill>
                  <a:srgbClr val="FEF7FF"/>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sp>
              <p:nvSpPr>
                <p:cNvPr id="33822" name="Rectangle 30"/>
                <p:cNvSpPr>
                  <a:spLocks/>
                </p:cNvSpPr>
                <p:nvPr/>
              </p:nvSpPr>
              <p:spPr bwMode="auto">
                <a:xfrm>
                  <a:off x="80" y="80"/>
                  <a:ext cx="804" cy="804"/>
                </a:xfrm>
                <a:prstGeom prst="rect">
                  <a:avLst/>
                </a:prstGeom>
                <a:solidFill>
                  <a:srgbClr val="FEF7FF"/>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sp>
              <p:nvSpPr>
                <p:cNvPr id="33823" name="Rectangle 31"/>
                <p:cNvSpPr>
                  <a:spLocks/>
                </p:cNvSpPr>
                <p:nvPr/>
              </p:nvSpPr>
              <p:spPr bwMode="auto">
                <a:xfrm>
                  <a:off x="160" y="160"/>
                  <a:ext cx="804" cy="804"/>
                </a:xfrm>
                <a:prstGeom prst="rect">
                  <a:avLst/>
                </a:prstGeom>
                <a:solidFill>
                  <a:srgbClr val="FEF7FF"/>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sp>
              <p:nvSpPr>
                <p:cNvPr id="33824" name="Rectangle 32"/>
                <p:cNvSpPr>
                  <a:spLocks/>
                </p:cNvSpPr>
                <p:nvPr/>
              </p:nvSpPr>
              <p:spPr bwMode="auto">
                <a:xfrm>
                  <a:off x="241" y="241"/>
                  <a:ext cx="804" cy="804"/>
                </a:xfrm>
                <a:prstGeom prst="rect">
                  <a:avLst/>
                </a:prstGeom>
                <a:solidFill>
                  <a:srgbClr val="FEF7FF"/>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grpSp>
          <p:sp>
            <p:nvSpPr>
              <p:cNvPr id="2266146" name="Rectangle 33"/>
              <p:cNvSpPr>
                <a:spLocks/>
              </p:cNvSpPr>
              <p:nvPr/>
            </p:nvSpPr>
            <p:spPr bwMode="auto">
              <a:xfrm>
                <a:off x="283" y="459"/>
                <a:ext cx="756"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1900">
                    <a:latin typeface="Gill Sans Light" pitchFamily="-112" charset="0"/>
                    <a:ea typeface="ヒラギノ角ゴ ProN W3" pitchFamily="-112" charset="-128"/>
                    <a:sym typeface="Gill Sans Light" pitchFamily="-112" charset="0"/>
                  </a:rPr>
                  <a:t>training </a:t>
                </a:r>
              </a:p>
              <a:p>
                <a:pPr algn="ctr" defTabSz="642938"/>
                <a:r>
                  <a:rPr lang="en-US" sz="1900">
                    <a:latin typeface="Gill Sans Light" pitchFamily="-112" charset="0"/>
                    <a:ea typeface="ヒラギノ角ゴ ProN W3" pitchFamily="-112" charset="-128"/>
                    <a:sym typeface="Gill Sans Light" pitchFamily="-112" charset="0"/>
                  </a:rPr>
                  <a:t>words</a:t>
                </a:r>
              </a:p>
            </p:txBody>
          </p:sp>
        </p:grpSp>
        <p:sp>
          <p:nvSpPr>
            <p:cNvPr id="2266147" name="Rectangle 34"/>
            <p:cNvSpPr>
              <a:spLocks/>
            </p:cNvSpPr>
            <p:nvPr/>
          </p:nvSpPr>
          <p:spPr bwMode="auto">
            <a:xfrm>
              <a:off x="497" y="218"/>
              <a:ext cx="27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2200">
                  <a:latin typeface="Gill Sans Light" pitchFamily="-112" charset="0"/>
                  <a:ea typeface="ヒラギノ角ゴ ProN W3" pitchFamily="-112" charset="-128"/>
                  <a:sym typeface="Gill Sans Light" pitchFamily="-112" charset="0"/>
                </a:rPr>
                <a:t>+/-</a:t>
              </a:r>
            </a:p>
          </p:txBody>
        </p:sp>
      </p:grpSp>
      <p:grpSp>
        <p:nvGrpSpPr>
          <p:cNvPr id="14" name="Group 35"/>
          <p:cNvGrpSpPr>
            <a:grpSpLocks/>
          </p:cNvGrpSpPr>
          <p:nvPr/>
        </p:nvGrpSpPr>
        <p:grpSpPr bwMode="auto">
          <a:xfrm>
            <a:off x="582613" y="4851697"/>
            <a:ext cx="2857500" cy="1625303"/>
            <a:chOff x="0" y="-4"/>
            <a:chExt cx="2560" cy="1456"/>
          </a:xfrm>
        </p:grpSpPr>
        <p:sp>
          <p:nvSpPr>
            <p:cNvPr id="2266149" name="Rectangle 36"/>
            <p:cNvSpPr>
              <a:spLocks/>
            </p:cNvSpPr>
            <p:nvPr/>
          </p:nvSpPr>
          <p:spPr bwMode="auto">
            <a:xfrm>
              <a:off x="870" y="-4"/>
              <a:ext cx="787" cy="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8700">
                  <a:latin typeface="Gill Sans Light" pitchFamily="-112" charset="0"/>
                  <a:ea typeface="ヒラギノ角ゴ ProN W3" pitchFamily="-112" charset="-128"/>
                  <a:sym typeface="Gill Sans Light" pitchFamily="-112" charset="0"/>
                </a:rPr>
                <a:t>(:)</a:t>
              </a:r>
            </a:p>
          </p:txBody>
        </p:sp>
        <p:sp>
          <p:nvSpPr>
            <p:cNvPr id="2266150" name="Rectangle 37"/>
            <p:cNvSpPr>
              <a:spLocks/>
            </p:cNvSpPr>
            <p:nvPr/>
          </p:nvSpPr>
          <p:spPr bwMode="auto">
            <a:xfrm>
              <a:off x="0" y="1132"/>
              <a:ext cx="256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2000">
                  <a:latin typeface="Gill Sans Light" pitchFamily="-112" charset="0"/>
                  <a:ea typeface="ヒラギノ角ゴ ProN W3" pitchFamily="-112" charset="-128"/>
                  <a:sym typeface="Gill Sans Light" pitchFamily="-112" charset="0"/>
                </a:rPr>
                <a:t>WebPMI feature vector</a:t>
              </a:r>
            </a:p>
          </p:txBody>
        </p:sp>
      </p:grpSp>
      <p:grpSp>
        <p:nvGrpSpPr>
          <p:cNvPr id="15" name="Group 38"/>
          <p:cNvGrpSpPr>
            <a:grpSpLocks/>
          </p:cNvGrpSpPr>
          <p:nvPr/>
        </p:nvGrpSpPr>
        <p:grpSpPr bwMode="auto">
          <a:xfrm>
            <a:off x="4581525" y="4822823"/>
            <a:ext cx="1695450" cy="893762"/>
            <a:chOff x="0" y="0"/>
            <a:chExt cx="1520" cy="800"/>
          </a:xfrm>
        </p:grpSpPr>
        <p:sp>
          <p:nvSpPr>
            <p:cNvPr id="33831" name="Rectangle 39"/>
            <p:cNvSpPr>
              <a:spLocks/>
            </p:cNvSpPr>
            <p:nvPr/>
          </p:nvSpPr>
          <p:spPr bwMode="auto">
            <a:xfrm>
              <a:off x="0" y="0"/>
              <a:ext cx="1520" cy="800"/>
            </a:xfrm>
            <a:prstGeom prst="rect">
              <a:avLst/>
            </a:prstGeom>
            <a:gradFill rotWithShape="0">
              <a:gsLst>
                <a:gs pos="0">
                  <a:srgbClr val="6C7472"/>
                </a:gs>
                <a:gs pos="100000">
                  <a:srgbClr val="464658"/>
                </a:gs>
              </a:gsLst>
              <a:path path="rect">
                <a:fillToRect l="50000" t="50000" r="50000" b="50000"/>
              </a:path>
            </a:gra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ctr" defTabSz="642938"/>
              <a:endParaRPr lang="en-US" sz="3000">
                <a:solidFill>
                  <a:srgbClr val="414141"/>
                </a:solidFill>
                <a:latin typeface="Gill Sans Light" pitchFamily="-112" charset="0"/>
                <a:ea typeface="ヒラギノ角ゴ ProN W3" pitchFamily="-112" charset="-128"/>
                <a:sym typeface="Gill Sans Light" pitchFamily="-112" charset="0"/>
              </a:endParaRPr>
            </a:p>
          </p:txBody>
        </p:sp>
        <p:sp>
          <p:nvSpPr>
            <p:cNvPr id="2266153" name="Rectangle 40"/>
            <p:cNvSpPr>
              <a:spLocks/>
            </p:cNvSpPr>
            <p:nvPr/>
          </p:nvSpPr>
          <p:spPr bwMode="auto">
            <a:xfrm>
              <a:off x="123" y="168"/>
              <a:ext cx="127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defTabSz="642938"/>
              <a:r>
                <a:rPr lang="en-US" sz="3100">
                  <a:solidFill>
                    <a:srgbClr val="F8F8F8"/>
                  </a:solidFill>
                  <a:latin typeface="Gill Sans Light" pitchFamily="-112" charset="0"/>
                  <a:ea typeface="ヒラギノ角ゴ ProN W3" pitchFamily="-112" charset="-128"/>
                  <a:sym typeface="Gill Sans Light" pitchFamily="-112" charset="0"/>
                </a:rPr>
                <a:t>classifier</a:t>
              </a:r>
            </a:p>
          </p:txBody>
        </p:sp>
      </p:grpSp>
      <p:pic>
        <p:nvPicPr>
          <p:cNvPr id="33833" name="Picture 4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9338" y="4879974"/>
            <a:ext cx="10350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3834" name="Picture 4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0938" y="5405436"/>
            <a:ext cx="21971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3835" name="Picture 4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7938" y="5127624"/>
            <a:ext cx="10541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3836" name="Rectangle 44"/>
          <p:cNvSpPr>
            <a:spLocks/>
          </p:cNvSpPr>
          <p:nvPr/>
        </p:nvSpPr>
        <p:spPr bwMode="auto">
          <a:xfrm>
            <a:off x="7461623" y="4880156"/>
            <a:ext cx="743793" cy="81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5300">
                <a:latin typeface="Gill Sans Light" pitchFamily="-112" charset="0"/>
                <a:ea typeface="ヒラギノ角ゴ ProN W3" pitchFamily="-112" charset="-128"/>
                <a:sym typeface="Gill Sans Light" pitchFamily="-112" charset="0"/>
              </a:rPr>
              <a:t>+/-</a:t>
            </a:r>
          </a:p>
        </p:txBody>
      </p:sp>
      <p:sp>
        <p:nvSpPr>
          <p:cNvPr id="33837" name="Rectangle 45"/>
          <p:cNvSpPr>
            <a:spLocks/>
          </p:cNvSpPr>
          <p:nvPr/>
        </p:nvSpPr>
        <p:spPr bwMode="auto">
          <a:xfrm>
            <a:off x="5797826" y="5977086"/>
            <a:ext cx="37840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938"/>
            <a:r>
              <a:rPr lang="en-US" sz="3000">
                <a:latin typeface="Gill Sans Light" pitchFamily="-112" charset="0"/>
                <a:ea typeface="ヒラギノ角ゴ ProN W3" pitchFamily="-112" charset="-128"/>
                <a:sym typeface="Gill Sans Light" pitchFamily="-112" charset="0"/>
              </a:rPr>
              <a:t>F1 Scores: 0.78(+) 0.76(-)</a:t>
            </a:r>
          </a:p>
        </p:txBody>
      </p:sp>
    </p:spTree>
    <p:extLst>
      <p:ext uri="{BB962C8B-B14F-4D97-AF65-F5344CB8AC3E}">
        <p14:creationId xmlns:p14="http://schemas.microsoft.com/office/powerpoint/2010/main" val="2671319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5"/>
                                        </p:tgtEl>
                                        <p:attrNameLst>
                                          <p:attrName>style.visibility</p:attrName>
                                        </p:attrNameLst>
                                      </p:cBhvr>
                                      <p:to>
                                        <p:strVal val="visible"/>
                                      </p:to>
                                    </p:set>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33833"/>
                                        </p:tgtEl>
                                        <p:attrNameLst>
                                          <p:attrName>style.visibility</p:attrName>
                                        </p:attrNameLst>
                                      </p:cBhvr>
                                      <p:to>
                                        <p:strVal val="visible"/>
                                      </p:to>
                                    </p:set>
                                  </p:childTnLst>
                                </p:cTn>
                              </p:par>
                            </p:childTnLst>
                          </p:cTn>
                        </p:par>
                        <p:par>
                          <p:cTn id="30" fill="hold" nodeType="afterGroup">
                            <p:stCondLst>
                              <p:cond delay="1000"/>
                            </p:stCondLst>
                            <p:childTnLst>
                              <p:par>
                                <p:cTn id="31" presetID="1" presetClass="entr" presetSubtype="0" fill="hold" nodeType="afterEffect">
                                  <p:stCondLst>
                                    <p:cond delay="0"/>
                                  </p:stCondLst>
                                  <p:childTnLst>
                                    <p:set>
                                      <p:cBhvr>
                                        <p:cTn id="32" dur="1" fill="hold">
                                          <p:stCondLst>
                                            <p:cond delay="499"/>
                                          </p:stCondLst>
                                        </p:cTn>
                                        <p:tgtEl>
                                          <p:spTgt spid="3383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33835"/>
                                        </p:tgtEl>
                                        <p:attrNameLst>
                                          <p:attrName>style.visibility</p:attrName>
                                        </p:attrNameLst>
                                      </p:cBhvr>
                                      <p:to>
                                        <p:strVal val="visible"/>
                                      </p:to>
                                    </p:set>
                                  </p:childTnLst>
                                </p:cTn>
                              </p:par>
                            </p:childTnLst>
                          </p:cTn>
                        </p:par>
                        <p:par>
                          <p:cTn id="37" fill="hold" nodeType="afterGroup">
                            <p:stCondLst>
                              <p:cond delay="500"/>
                            </p:stCondLst>
                            <p:childTnLst>
                              <p:par>
                                <p:cTn id="38" presetID="1" presetClass="entr" presetSubtype="0" fill="hold" grpId="0" nodeType="afterEffect">
                                  <p:stCondLst>
                                    <p:cond delay="0"/>
                                  </p:stCondLst>
                                  <p:childTnLst>
                                    <p:set>
                                      <p:cBhvr>
                                        <p:cTn id="39" dur="1" fill="hold">
                                          <p:stCondLst>
                                            <p:cond delay="499"/>
                                          </p:stCondLst>
                                        </p:cTn>
                                        <p:tgtEl>
                                          <p:spTgt spid="3383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338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36" grpId="0" autoUpdateAnimBg="0"/>
      <p:bldP spid="33837"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0"/>
            <a:ext cx="4648200" cy="1219200"/>
          </a:xfrm>
        </p:spPr>
        <p:txBody>
          <a:bodyPr>
            <a:normAutofit fontScale="90000"/>
          </a:bodyPr>
          <a:lstStyle/>
          <a:p>
            <a:r>
              <a:rPr lang="en-US" dirty="0"/>
              <a:t>Phrases from a Thumbs-Up Review</a:t>
            </a:r>
          </a:p>
        </p:txBody>
      </p:sp>
      <p:graphicFrame>
        <p:nvGraphicFramePr>
          <p:cNvPr id="5" name="Table 4"/>
          <p:cNvGraphicFramePr>
            <a:graphicFrameLocks noGrp="1"/>
          </p:cNvGraphicFramePr>
          <p:nvPr/>
        </p:nvGraphicFramePr>
        <p:xfrm>
          <a:off x="190500" y="1767840"/>
          <a:ext cx="4800600" cy="3566160"/>
        </p:xfrm>
        <a:graphic>
          <a:graphicData uri="http://schemas.openxmlformats.org/drawingml/2006/table">
            <a:tbl>
              <a:tblPr firstRow="1" bandRow="1"/>
              <a:tblGrid>
                <a:gridCol w="2554514">
                  <a:extLst>
                    <a:ext uri="{9D8B030D-6E8A-4147-A177-3AD203B41FA5}">
                      <a16:colId xmlns:a16="http://schemas.microsoft.com/office/drawing/2014/main" val="20000"/>
                    </a:ext>
                  </a:extLst>
                </a:gridCol>
                <a:gridCol w="1103086">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5840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dirty="0"/>
                        <a:t>Phrase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dirty="0"/>
                        <a:t>POS tags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dirty="0"/>
                        <a:t>Polarity</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extLst>
                  <a:ext uri="{0D108BD9-81ED-4DB2-BD59-A6C34878D82A}">
                    <a16:rowId xmlns:a16="http://schemas.microsoft.com/office/drawing/2014/main" val="10000"/>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online</a:t>
                      </a:r>
                      <a:r>
                        <a:rPr lang="en-US" baseline="0" dirty="0"/>
                        <a:t> service</a:t>
                      </a:r>
                      <a:endParaRPr 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2.8</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1"/>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online experience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2.3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2"/>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direct deposit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1.3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3"/>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local branch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0.42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4"/>
                  </a:ext>
                </a:extLst>
              </a:tr>
              <a:tr h="26512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200" dirty="0"/>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US" sz="12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endParaRPr lang="en-US" sz="1200" dirty="0">
                        <a:latin typeface="Courier"/>
                        <a:cs typeface="Courier"/>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5"/>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low fees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0.33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6"/>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other</a:t>
                      </a:r>
                      <a:r>
                        <a:rPr lang="en-US" baseline="0" dirty="0"/>
                        <a:t> bank</a:t>
                      </a:r>
                      <a:endParaRPr lang="en-US"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-0.85</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8"/>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inconveniently</a:t>
                      </a:r>
                      <a:r>
                        <a:rPr lang="en-US" baseline="0" dirty="0"/>
                        <a:t> located</a:t>
                      </a:r>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-1.5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9"/>
                  </a:ext>
                </a:extLst>
              </a:tr>
              <a:tr h="35349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i="1" dirty="0"/>
                        <a:t>Average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0.32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10"/>
                  </a:ext>
                </a:extLst>
              </a:tr>
            </a:tbl>
          </a:graphicData>
        </a:graphic>
      </p:graphicFrame>
      <p:graphicFrame>
        <p:nvGraphicFramePr>
          <p:cNvPr id="4" name="Table 3"/>
          <p:cNvGraphicFramePr>
            <a:graphicFrameLocks noGrp="1"/>
          </p:cNvGraphicFramePr>
          <p:nvPr/>
        </p:nvGraphicFramePr>
        <p:xfrm>
          <a:off x="5219700" y="1767840"/>
          <a:ext cx="4876800" cy="3566160"/>
        </p:xfrm>
        <a:graphic>
          <a:graphicData uri="http://schemas.openxmlformats.org/drawingml/2006/table">
            <a:tbl>
              <a:tblPr firstRow="1" bandRow="1"/>
              <a:tblGrid>
                <a:gridCol w="2554514">
                  <a:extLst>
                    <a:ext uri="{9D8B030D-6E8A-4147-A177-3AD203B41FA5}">
                      <a16:colId xmlns:a16="http://schemas.microsoft.com/office/drawing/2014/main" val="20000"/>
                    </a:ext>
                  </a:extLst>
                </a:gridCol>
                <a:gridCol w="1103086">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5840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dirty="0"/>
                        <a:t>Phrase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dirty="0"/>
                        <a:t>POS tags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dirty="0"/>
                        <a:t>Polarity</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4001D"/>
                    </a:solidFill>
                  </a:tcPr>
                </a:tc>
                <a:extLst>
                  <a:ext uri="{0D108BD9-81ED-4DB2-BD59-A6C34878D82A}">
                    <a16:rowId xmlns:a16="http://schemas.microsoft.com/office/drawing/2014/main" val="10000"/>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direct deposits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5.8</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1"/>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online web</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1.9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2"/>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very handy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RB</a:t>
                      </a:r>
                      <a:r>
                        <a:rPr lang="en-US" baseline="0" dirty="0"/>
                        <a:t> JJ</a:t>
                      </a:r>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1.4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3"/>
                  </a:ext>
                </a:extLst>
              </a:tr>
              <a:tr h="26512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200" dirty="0"/>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US" sz="12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endParaRPr lang="en-US" sz="1200" dirty="0">
                        <a:latin typeface="Courier"/>
                        <a:cs typeface="Courier"/>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4"/>
                  </a:ext>
                </a:extLst>
              </a:tr>
              <a:tr h="26512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800" dirty="0"/>
                        <a:t>virtual</a:t>
                      </a:r>
                      <a:r>
                        <a:rPr lang="en-US" sz="1800" baseline="0" dirty="0"/>
                        <a:t> monopoly</a:t>
                      </a:r>
                      <a:endParaRPr lang="en-US"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800" dirty="0"/>
                        <a:t>JJ NN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1800" dirty="0">
                          <a:latin typeface="Courier"/>
                          <a:cs typeface="Courier"/>
                        </a:rPr>
                        <a:t>-2.0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5"/>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other problems</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NNS</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-2.8</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7"/>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low</a:t>
                      </a:r>
                      <a:r>
                        <a:rPr lang="en-US" baseline="0" dirty="0"/>
                        <a:t> funds</a:t>
                      </a:r>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-6.8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08"/>
                  </a:ext>
                </a:extLst>
              </a:tr>
              <a:tr h="35840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unethical</a:t>
                      </a:r>
                      <a:r>
                        <a:rPr lang="en-US" baseline="0" dirty="0"/>
                        <a:t> practices</a:t>
                      </a:r>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JJ NNS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-8.5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40000"/>
                      </a:srgbClr>
                    </a:solidFill>
                  </a:tcPr>
                </a:tc>
                <a:extLst>
                  <a:ext uri="{0D108BD9-81ED-4DB2-BD59-A6C34878D82A}">
                    <a16:rowId xmlns:a16="http://schemas.microsoft.com/office/drawing/2014/main" val="10009"/>
                  </a:ext>
                </a:extLst>
              </a:tr>
              <a:tr h="35349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i="1" dirty="0"/>
                        <a:t>Average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dirty="0">
                          <a:latin typeface="Courier"/>
                          <a:cs typeface="Courier"/>
                        </a:rPr>
                        <a:t>-1.2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4001D">
                        <a:tint val="20000"/>
                      </a:srgbClr>
                    </a:solidFill>
                  </a:tcPr>
                </a:tc>
                <a:extLst>
                  <a:ext uri="{0D108BD9-81ED-4DB2-BD59-A6C34878D82A}">
                    <a16:rowId xmlns:a16="http://schemas.microsoft.com/office/drawing/2014/main" val="10010"/>
                  </a:ext>
                </a:extLst>
              </a:tr>
            </a:tbl>
          </a:graphicData>
        </a:graphic>
      </p:graphicFrame>
      <p:sp>
        <p:nvSpPr>
          <p:cNvPr id="9" name="Title 1"/>
          <p:cNvSpPr txBox="1">
            <a:spLocks/>
          </p:cNvSpPr>
          <p:nvPr/>
        </p:nvSpPr>
        <p:spPr bwMode="auto">
          <a:xfrm>
            <a:off x="5219700" y="152400"/>
            <a:ext cx="48768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lvl1pPr algn="l" rtl="0" eaLnBrk="0" fontAlgn="base" hangingPunct="0">
              <a:spcBef>
                <a:spcPct val="0"/>
              </a:spcBef>
              <a:spcAft>
                <a:spcPct val="0"/>
              </a:spcAft>
              <a:defRPr sz="4000" b="1">
                <a:solidFill>
                  <a:srgbClr val="002060"/>
                </a:solidFill>
                <a:latin typeface="Minion" pitchFamily="18" charset="0"/>
                <a:ea typeface="MASTERPLAN" pitchFamily="2" charset="0"/>
                <a:cs typeface="Arial" pitchFamily="34" charset="0"/>
              </a:defRPr>
            </a:lvl1pPr>
            <a:lvl2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2pPr>
            <a:lvl3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3pPr>
            <a:lvl4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4pPr>
            <a:lvl5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5pPr>
            <a:lvl6pPr marL="457200" algn="l" rtl="0" fontAlgn="base">
              <a:spcBef>
                <a:spcPct val="0"/>
              </a:spcBef>
              <a:spcAft>
                <a:spcPct val="0"/>
              </a:spcAft>
              <a:defRPr sz="2800" b="1">
                <a:solidFill>
                  <a:schemeClr val="tx1"/>
                </a:solidFill>
                <a:latin typeface="Arial" charset="0"/>
              </a:defRPr>
            </a:lvl6pPr>
            <a:lvl7pPr marL="914400" algn="l" rtl="0" fontAlgn="base">
              <a:spcBef>
                <a:spcPct val="0"/>
              </a:spcBef>
              <a:spcAft>
                <a:spcPct val="0"/>
              </a:spcAft>
              <a:defRPr sz="2800" b="1">
                <a:solidFill>
                  <a:schemeClr val="tx1"/>
                </a:solidFill>
                <a:latin typeface="Arial" charset="0"/>
              </a:defRPr>
            </a:lvl7pPr>
            <a:lvl8pPr marL="1371600" algn="l" rtl="0" fontAlgn="base">
              <a:spcBef>
                <a:spcPct val="0"/>
              </a:spcBef>
              <a:spcAft>
                <a:spcPct val="0"/>
              </a:spcAft>
              <a:defRPr sz="2800" b="1">
                <a:solidFill>
                  <a:schemeClr val="tx1"/>
                </a:solidFill>
                <a:latin typeface="Arial" charset="0"/>
              </a:defRPr>
            </a:lvl8pPr>
            <a:lvl9pPr marL="1828800" algn="l" rtl="0" fontAlgn="base">
              <a:spcBef>
                <a:spcPct val="0"/>
              </a:spcBef>
              <a:spcAft>
                <a:spcPct val="0"/>
              </a:spcAft>
              <a:defRPr sz="2800" b="1">
                <a:solidFill>
                  <a:schemeClr val="tx1"/>
                </a:solidFill>
                <a:latin typeface="Arial" charset="0"/>
              </a:defRPr>
            </a:lvl9pPr>
          </a:lstStyle>
          <a:p>
            <a:r>
              <a:rPr lang="en-US" sz="3600" kern="0" dirty="0"/>
              <a:t>Phrases from a </a:t>
            </a:r>
          </a:p>
          <a:p>
            <a:r>
              <a:rPr lang="en-US" sz="3600" kern="0" dirty="0"/>
              <a:t>Thumbs-Down Review</a:t>
            </a:r>
          </a:p>
        </p:txBody>
      </p:sp>
    </p:spTree>
    <p:extLst>
      <p:ext uri="{BB962C8B-B14F-4D97-AF65-F5344CB8AC3E}">
        <p14:creationId xmlns:p14="http://schemas.microsoft.com/office/powerpoint/2010/main" val="3254688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of </a:t>
            </a:r>
            <a:r>
              <a:rPr lang="en-US" dirty="0" err="1"/>
              <a:t>Turney</a:t>
            </a:r>
            <a:r>
              <a:rPr lang="en-US" dirty="0"/>
              <a:t> Algorithm</a:t>
            </a:r>
          </a:p>
        </p:txBody>
      </p:sp>
      <p:sp>
        <p:nvSpPr>
          <p:cNvPr id="3" name="Content Placeholder 2"/>
          <p:cNvSpPr>
            <a:spLocks noGrp="1"/>
          </p:cNvSpPr>
          <p:nvPr>
            <p:ph idx="1"/>
          </p:nvPr>
        </p:nvSpPr>
        <p:spPr/>
        <p:txBody>
          <a:bodyPr>
            <a:normAutofit/>
          </a:bodyPr>
          <a:lstStyle/>
          <a:p>
            <a:r>
              <a:rPr lang="en-US" dirty="0"/>
              <a:t>410 reviews from </a:t>
            </a:r>
            <a:r>
              <a:rPr lang="en-US" dirty="0" err="1"/>
              <a:t>Epinions</a:t>
            </a:r>
            <a:r>
              <a:rPr lang="en-US" dirty="0"/>
              <a:t> (</a:t>
            </a:r>
            <a:r>
              <a:rPr lang="en-US" dirty="0">
                <a:hlinkClick r:id="rId3"/>
              </a:rPr>
              <a:t>http://www.epinions.com/</a:t>
            </a:r>
            <a:r>
              <a:rPr lang="en-US" dirty="0"/>
              <a:t> review website)</a:t>
            </a:r>
          </a:p>
          <a:p>
            <a:pPr lvl="1"/>
            <a:r>
              <a:rPr lang="en-US" dirty="0"/>
              <a:t>170 (41%) negative</a:t>
            </a:r>
          </a:p>
          <a:p>
            <a:pPr lvl="1"/>
            <a:r>
              <a:rPr lang="en-US" dirty="0"/>
              <a:t>240 (59%) positive</a:t>
            </a:r>
          </a:p>
          <a:p>
            <a:r>
              <a:rPr lang="en-US" dirty="0"/>
              <a:t>Majority class baseline: 59%</a:t>
            </a:r>
          </a:p>
          <a:p>
            <a:r>
              <a:rPr lang="en-US" dirty="0" err="1"/>
              <a:t>Turney</a:t>
            </a:r>
            <a:r>
              <a:rPr lang="en-US" dirty="0"/>
              <a:t> algorithm: 74%</a:t>
            </a:r>
          </a:p>
          <a:p>
            <a:endParaRPr lang="en-US" dirty="0"/>
          </a:p>
          <a:p>
            <a:r>
              <a:rPr lang="en-US" dirty="0"/>
              <a:t>Phrases rather than words</a:t>
            </a:r>
          </a:p>
          <a:p>
            <a:r>
              <a:rPr lang="en-US" dirty="0"/>
              <a:t>Semi-supervised algorithms like </a:t>
            </a:r>
            <a:r>
              <a:rPr lang="en-US" dirty="0" err="1"/>
              <a:t>Turney’s</a:t>
            </a:r>
            <a:r>
              <a:rPr lang="en-US" dirty="0"/>
              <a:t> help us learn domain-specific information</a:t>
            </a:r>
          </a:p>
        </p:txBody>
      </p:sp>
    </p:spTree>
    <p:extLst>
      <p:ext uri="{BB962C8B-B14F-4D97-AF65-F5344CB8AC3E}">
        <p14:creationId xmlns:p14="http://schemas.microsoft.com/office/powerpoint/2010/main" val="38014966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on Learning Lexicons</a:t>
            </a:r>
          </a:p>
        </p:txBody>
      </p:sp>
      <p:sp>
        <p:nvSpPr>
          <p:cNvPr id="3" name="Content Placeholder 2"/>
          <p:cNvSpPr>
            <a:spLocks noGrp="1"/>
          </p:cNvSpPr>
          <p:nvPr>
            <p:ph idx="1"/>
          </p:nvPr>
        </p:nvSpPr>
        <p:spPr/>
        <p:txBody>
          <a:bodyPr>
            <a:normAutofit/>
          </a:bodyPr>
          <a:lstStyle/>
          <a:p>
            <a:r>
              <a:rPr lang="en-US" sz="2800" dirty="0"/>
              <a:t>Advantages</a:t>
            </a:r>
          </a:p>
          <a:p>
            <a:pPr lvl="1"/>
            <a:r>
              <a:rPr lang="en-US" dirty="0"/>
              <a:t>Can be domain-specific</a:t>
            </a:r>
          </a:p>
          <a:p>
            <a:pPr lvl="1"/>
            <a:r>
              <a:rPr lang="en-US" dirty="0"/>
              <a:t>Can be more robust (more words)</a:t>
            </a:r>
          </a:p>
          <a:p>
            <a:r>
              <a:rPr lang="en-US" sz="2800" dirty="0"/>
              <a:t>Intuition</a:t>
            </a:r>
          </a:p>
          <a:p>
            <a:pPr lvl="1"/>
            <a:r>
              <a:rPr lang="en-US" dirty="0"/>
              <a:t>Start with a seed set of words (‘good’, ‘poor’)</a:t>
            </a:r>
          </a:p>
          <a:p>
            <a:pPr lvl="1"/>
            <a:r>
              <a:rPr lang="en-US" dirty="0"/>
              <a:t>Find other words that have similar polarity:</a:t>
            </a:r>
          </a:p>
          <a:p>
            <a:pPr lvl="2"/>
            <a:r>
              <a:rPr lang="en-US" dirty="0"/>
              <a:t>Using “and” and “but”</a:t>
            </a:r>
          </a:p>
          <a:p>
            <a:pPr lvl="2"/>
            <a:r>
              <a:rPr lang="en-US" dirty="0"/>
              <a:t>Using words that occur nearby in the same document (“poor” or “excellent”)</a:t>
            </a:r>
          </a:p>
          <a:p>
            <a:pPr lvl="2"/>
            <a:r>
              <a:rPr lang="en-US" dirty="0"/>
              <a:t>Using WordNet synonyms and antonyms</a:t>
            </a:r>
          </a:p>
        </p:txBody>
      </p:sp>
    </p:spTree>
    <p:extLst>
      <p:ext uri="{BB962C8B-B14F-4D97-AF65-F5344CB8AC3E}">
        <p14:creationId xmlns:p14="http://schemas.microsoft.com/office/powerpoint/2010/main" val="18255574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Take-</a:t>
            </a:r>
            <a:r>
              <a:rPr lang="en-IN" dirty="0" err="1"/>
              <a:t>aways</a:t>
            </a:r>
            <a:endParaRPr lang="en-US" dirty="0"/>
          </a:p>
        </p:txBody>
      </p:sp>
      <p:sp>
        <p:nvSpPr>
          <p:cNvPr id="3" name="Content Placeholder 2"/>
          <p:cNvSpPr>
            <a:spLocks noGrp="1"/>
          </p:cNvSpPr>
          <p:nvPr>
            <p:ph idx="1"/>
          </p:nvPr>
        </p:nvSpPr>
        <p:spPr/>
        <p:txBody>
          <a:bodyPr/>
          <a:lstStyle/>
          <a:p>
            <a:r>
              <a:rPr lang="en-IN" dirty="0"/>
              <a:t>Sentiment analysis is very useful for many web portals.</a:t>
            </a:r>
          </a:p>
          <a:p>
            <a:r>
              <a:rPr lang="en-IN" dirty="0"/>
              <a:t>Word-based classification works reasonably well.</a:t>
            </a:r>
          </a:p>
          <a:p>
            <a:r>
              <a:rPr lang="en-IN" dirty="0"/>
              <a:t>There are standard sentiment lexicons for word-based sentiment classification algorithms</a:t>
            </a:r>
          </a:p>
          <a:p>
            <a:r>
              <a:rPr lang="en-IN" dirty="0"/>
              <a:t>Using semi-supervised learning one can grow a small sentiment lexicon into larger ones.</a:t>
            </a:r>
          </a:p>
          <a:p>
            <a:r>
              <a:rPr lang="en-IN" dirty="0"/>
              <a:t>Sentiment analysis demo: </a:t>
            </a:r>
            <a:r>
              <a:rPr lang="en-IN" dirty="0">
                <a:hlinkClick r:id="rId3"/>
              </a:rPr>
              <a:t>http://nlp.stanford.edu:8080/sentiment/rntnDemo.html</a:t>
            </a:r>
            <a:r>
              <a:rPr lang="en-IN" dirty="0"/>
              <a:t> </a:t>
            </a:r>
          </a:p>
          <a:p>
            <a:endParaRPr lang="en-US" dirty="0"/>
          </a:p>
        </p:txBody>
      </p:sp>
    </p:spTree>
    <p:extLst>
      <p:ext uri="{BB962C8B-B14F-4D97-AF65-F5344CB8AC3E}">
        <p14:creationId xmlns:p14="http://schemas.microsoft.com/office/powerpoint/2010/main" val="1288105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Further Reading</a:t>
            </a:r>
            <a:endParaRPr lang="en-US" dirty="0"/>
          </a:p>
        </p:txBody>
      </p:sp>
      <p:sp>
        <p:nvSpPr>
          <p:cNvPr id="3" name="Content Placeholder 2"/>
          <p:cNvSpPr>
            <a:spLocks noGrp="1"/>
          </p:cNvSpPr>
          <p:nvPr>
            <p:ph idx="1"/>
          </p:nvPr>
        </p:nvSpPr>
        <p:spPr/>
        <p:txBody>
          <a:bodyPr/>
          <a:lstStyle/>
          <a:p>
            <a:r>
              <a:rPr lang="en-IN" dirty="0"/>
              <a:t>Book on Sentiment Analysis and Opinion Mining</a:t>
            </a:r>
          </a:p>
          <a:p>
            <a:pPr lvl="1"/>
            <a:r>
              <a:rPr lang="en-US" dirty="0">
                <a:hlinkClick r:id="rId3"/>
              </a:rPr>
              <a:t>https://www.cs.uic.edu/~liub/FBS/SentimentAnalysis-and-OpinionMining.pdf</a:t>
            </a:r>
            <a:endParaRPr lang="en-US" dirty="0"/>
          </a:p>
          <a:p>
            <a:r>
              <a:rPr lang="en-US" dirty="0"/>
              <a:t>Philip J. Stone, Dexter C </a:t>
            </a:r>
            <a:r>
              <a:rPr lang="en-US" dirty="0" err="1"/>
              <a:t>Dunphy</a:t>
            </a:r>
            <a:r>
              <a:rPr lang="en-US" dirty="0"/>
              <a:t>, Marshall S. Smith, Daniel M. Ogilvie. 1966. The General Inquirer: A Computer Approach to Content Analysis. MIT Press</a:t>
            </a:r>
          </a:p>
          <a:p>
            <a:r>
              <a:rPr lang="en-US" dirty="0" err="1">
                <a:solidFill>
                  <a:srgbClr val="28817A"/>
                </a:solidFill>
              </a:rPr>
              <a:t>Pennebaker</a:t>
            </a:r>
            <a:r>
              <a:rPr lang="en-US" dirty="0">
                <a:solidFill>
                  <a:srgbClr val="28817A"/>
                </a:solidFill>
              </a:rPr>
              <a:t>, J.W., Booth, R.J., &amp; Francis, M.E. (2007). Linguistic Inquiry and Word Count: LIWC 2007. Austin, TX</a:t>
            </a:r>
          </a:p>
          <a:p>
            <a:r>
              <a:rPr lang="en-US" dirty="0"/>
              <a:t>Theresa Wilson, </a:t>
            </a:r>
            <a:r>
              <a:rPr lang="en-US" dirty="0" err="1"/>
              <a:t>Janyce</a:t>
            </a:r>
            <a:r>
              <a:rPr lang="en-US" dirty="0"/>
              <a:t> Wiebe, and Paul Hoffmann (2005). Recognizing Contextual Polarity in </a:t>
            </a:r>
          </a:p>
          <a:p>
            <a:r>
              <a:rPr lang="en-US" dirty="0"/>
              <a:t>Phrase-Level Sentiment Analysis. Proc. of HLT-EMNLP-2005.</a:t>
            </a:r>
          </a:p>
          <a:p>
            <a:r>
              <a:rPr lang="en-US" dirty="0" err="1"/>
              <a:t>Riloff</a:t>
            </a:r>
            <a:r>
              <a:rPr lang="en-US" dirty="0"/>
              <a:t> and Wiebe (2003). Learning extraction patterns for subjective expressions. EMNLP-2003.</a:t>
            </a:r>
          </a:p>
          <a:p>
            <a:endParaRPr lang="en-US" dirty="0"/>
          </a:p>
          <a:p>
            <a:endParaRPr lang="en-US" dirty="0"/>
          </a:p>
          <a:p>
            <a:pPr lvl="1"/>
            <a:endParaRPr lang="en-US" dirty="0"/>
          </a:p>
        </p:txBody>
      </p:sp>
    </p:spTree>
    <p:extLst>
      <p:ext uri="{BB962C8B-B14F-4D97-AF65-F5344CB8AC3E}">
        <p14:creationId xmlns:p14="http://schemas.microsoft.com/office/powerpoint/2010/main" val="33583214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Further Reading</a:t>
            </a:r>
            <a:endParaRPr lang="en-US" dirty="0"/>
          </a:p>
        </p:txBody>
      </p:sp>
      <p:sp>
        <p:nvSpPr>
          <p:cNvPr id="3" name="Content Placeholder 2"/>
          <p:cNvSpPr>
            <a:spLocks noGrp="1"/>
          </p:cNvSpPr>
          <p:nvPr>
            <p:ph idx="1"/>
          </p:nvPr>
        </p:nvSpPr>
        <p:spPr/>
        <p:txBody>
          <a:bodyPr/>
          <a:lstStyle/>
          <a:p>
            <a:r>
              <a:rPr lang="en-US" sz="2000" dirty="0" err="1"/>
              <a:t>Minqing</a:t>
            </a:r>
            <a:r>
              <a:rPr lang="en-US" sz="2000" dirty="0"/>
              <a:t> Hu and Bing Liu. Mining and Summarizing Customer Reviews. ACM SIGKDD-2004.</a:t>
            </a:r>
          </a:p>
          <a:p>
            <a:r>
              <a:rPr lang="en-US" sz="2000" dirty="0"/>
              <a:t>Stefano </a:t>
            </a:r>
            <a:r>
              <a:rPr lang="en-US" sz="2000" dirty="0" err="1"/>
              <a:t>Baccianella</a:t>
            </a:r>
            <a:r>
              <a:rPr lang="en-US" sz="2000" dirty="0"/>
              <a:t>, Andrea </a:t>
            </a:r>
            <a:r>
              <a:rPr lang="en-US" sz="2000" dirty="0" err="1"/>
              <a:t>Esuli</a:t>
            </a:r>
            <a:r>
              <a:rPr lang="en-US" sz="2000" dirty="0"/>
              <a:t>, and Fabrizio </a:t>
            </a:r>
            <a:r>
              <a:rPr lang="en-US" sz="2000" dirty="0" err="1"/>
              <a:t>Sebastiani</a:t>
            </a:r>
            <a:r>
              <a:rPr lang="en-US" sz="2000" dirty="0"/>
              <a:t>. 2010 SENTIWORDNET 3.0: An Enhanced Lexical Resource for Sentiment Analysis and Opinion Mining. LREC-2010</a:t>
            </a:r>
          </a:p>
          <a:p>
            <a:r>
              <a:rPr lang="en-US" sz="2000" dirty="0"/>
              <a:t>Potts, Christopher. 2011. On the negativity of negation.  SALT  20, 636-659.</a:t>
            </a:r>
          </a:p>
          <a:p>
            <a:r>
              <a:rPr lang="en-US" sz="2000" dirty="0" err="1"/>
              <a:t>Vasileios</a:t>
            </a:r>
            <a:r>
              <a:rPr lang="en-US" sz="2000" dirty="0"/>
              <a:t> </a:t>
            </a:r>
            <a:r>
              <a:rPr lang="en-US" sz="2000" dirty="0" err="1"/>
              <a:t>Hatzivassiloglou</a:t>
            </a:r>
            <a:r>
              <a:rPr lang="en-US" sz="2000" dirty="0"/>
              <a:t> and Kathleen R. McKeown. 1997. Predicting the Semantic Orientation of Adjectives. ACL, 174–181</a:t>
            </a:r>
          </a:p>
          <a:p>
            <a:r>
              <a:rPr lang="en-US" sz="2000" dirty="0" err="1"/>
              <a:t>Turney</a:t>
            </a:r>
            <a:r>
              <a:rPr lang="en-US" sz="2000" dirty="0"/>
              <a:t> (2002):  Thumbs Up or Thumbs Down? Semantic Orientation Applied to Unsupervised Classification of Reviews</a:t>
            </a:r>
          </a:p>
          <a:p>
            <a:r>
              <a:rPr lang="en-US" sz="2000" dirty="0"/>
              <a:t>S.M. Kim and E. </a:t>
            </a:r>
            <a:r>
              <a:rPr lang="en-US" sz="2000" dirty="0" err="1"/>
              <a:t>Hovy</a:t>
            </a:r>
            <a:r>
              <a:rPr lang="en-US" sz="2000" dirty="0"/>
              <a:t>. 2004. Determining the sentiment of opinions. COLING 2004</a:t>
            </a:r>
          </a:p>
          <a:p>
            <a:r>
              <a:rPr lang="en-US" sz="2000" dirty="0"/>
              <a:t>M. Hu and B. Liu. Mining and summarizing customer reviews. In Proceedings of KDD, 2004</a:t>
            </a:r>
          </a:p>
          <a:p>
            <a:endParaRPr lang="en-US" sz="2000" dirty="0"/>
          </a:p>
        </p:txBody>
      </p:sp>
    </p:spTree>
    <p:extLst>
      <p:ext uri="{BB962C8B-B14F-4D97-AF65-F5344CB8AC3E}">
        <p14:creationId xmlns:p14="http://schemas.microsoft.com/office/powerpoint/2010/main" val="29024442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66.4"/>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27659</TotalTime>
  <Words>5216</Words>
  <Application>Microsoft Office PowerPoint</Application>
  <PresentationFormat>35mm Slides</PresentationFormat>
  <Paragraphs>815</Paragraphs>
  <Slides>85</Slides>
  <Notes>59</Notes>
  <HiddenSlides>0</HiddenSlides>
  <MMClips>0</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1</vt:i4>
      </vt:variant>
      <vt:variant>
        <vt:lpstr>Slide Titles</vt:lpstr>
      </vt:variant>
      <vt:variant>
        <vt:i4>85</vt:i4>
      </vt:variant>
    </vt:vector>
  </HeadingPairs>
  <TitlesOfParts>
    <vt:vector size="106" baseType="lpstr">
      <vt:lpstr>Andalus</vt:lpstr>
      <vt:lpstr>Arial</vt:lpstr>
      <vt:lpstr>Berlin Sans FB Demi</vt:lpstr>
      <vt:lpstr>Calibri</vt:lpstr>
      <vt:lpstr>Calibri (Headings)</vt:lpstr>
      <vt:lpstr>Cambria Math</vt:lpstr>
      <vt:lpstr>Century Schoolbook</vt:lpstr>
      <vt:lpstr>Courier</vt:lpstr>
      <vt:lpstr>Gill Sans Light</vt:lpstr>
      <vt:lpstr>Lucida Grande</vt:lpstr>
      <vt:lpstr>Lucida Sans</vt:lpstr>
      <vt:lpstr>Minion</vt:lpstr>
      <vt:lpstr>Palatino</vt:lpstr>
      <vt:lpstr>Quando</vt:lpstr>
      <vt:lpstr>Times</vt:lpstr>
      <vt:lpstr>Times New Roman</vt:lpstr>
      <vt:lpstr>Verdana</vt:lpstr>
      <vt:lpstr>Wingdings</vt:lpstr>
      <vt:lpstr>Zapf Dingbats</vt:lpstr>
      <vt:lpstr>Default Design</vt:lpstr>
      <vt:lpstr>Equation</vt:lpstr>
      <vt:lpstr>PowerPoint Presentation</vt:lpstr>
      <vt:lpstr>Agenda</vt:lpstr>
      <vt:lpstr>Is this spam?</vt:lpstr>
      <vt:lpstr>Who wrote which Federalist papers?</vt:lpstr>
      <vt:lpstr>Male or female author?</vt:lpstr>
      <vt:lpstr>Positive or negative movie review?</vt:lpstr>
      <vt:lpstr>What is the subject of this article?</vt:lpstr>
      <vt:lpstr>Text Classification</vt:lpstr>
      <vt:lpstr>Text Classification: definition</vt:lpstr>
      <vt:lpstr>Classification Methods: Hand-coded rules</vt:lpstr>
      <vt:lpstr>Classification Methods: Supervised ML</vt:lpstr>
      <vt:lpstr>Classification Methods: Supervised ML</vt:lpstr>
      <vt:lpstr>Text Classification and Naïve Bayes</vt:lpstr>
      <vt:lpstr>Naïve Bayes Intuition</vt:lpstr>
      <vt:lpstr>The bag of words representation</vt:lpstr>
      <vt:lpstr>The bag of words representation</vt:lpstr>
      <vt:lpstr>The bag of words representation:  using a subset of words</vt:lpstr>
      <vt:lpstr>The bag of words representation</vt:lpstr>
      <vt:lpstr>Bag of words for document classification</vt:lpstr>
      <vt:lpstr>Text Classification and Naïve Bayes</vt:lpstr>
      <vt:lpstr>Bayes’ Rule Applied to Documents and Classes</vt:lpstr>
      <vt:lpstr>Naïve Bayes Classifier (I)</vt:lpstr>
      <vt:lpstr>Naïve Bayes Classifier (II)</vt:lpstr>
      <vt:lpstr>Naïve Bayes Classifier (IV)</vt:lpstr>
      <vt:lpstr>Multinomial Naïve Bayes Independence Assumptions</vt:lpstr>
      <vt:lpstr>Multinomial Naïve Bayes Classifier</vt:lpstr>
      <vt:lpstr>Applying Multinomial Naive Bayes Classifiers to Text Classification</vt:lpstr>
      <vt:lpstr>Text Classification and Naïve Bayes</vt:lpstr>
      <vt:lpstr>Learning the Multinomial Naïve Bayes Model</vt:lpstr>
      <vt:lpstr>Parameter estimation</vt:lpstr>
      <vt:lpstr>Problem with Maximum Likelihood</vt:lpstr>
      <vt:lpstr>Laplace (add-1) smoothing for Naïve Bayes</vt:lpstr>
      <vt:lpstr>Multinomial Naïve Bayes: Learning</vt:lpstr>
      <vt:lpstr>PowerPoint Presentation</vt:lpstr>
      <vt:lpstr>Summary: Naive Bayes is Not So Naive</vt:lpstr>
      <vt:lpstr>Agenda</vt:lpstr>
      <vt:lpstr>Why Sentiment Analysis</vt:lpstr>
      <vt:lpstr>Positive or Negative Movie Review?</vt:lpstr>
      <vt:lpstr>Product Search</vt:lpstr>
      <vt:lpstr>Online opinions cover all kinds of topics</vt:lpstr>
      <vt:lpstr>Opinion Question Answering</vt:lpstr>
      <vt:lpstr>Sentiment Analysis</vt:lpstr>
      <vt:lpstr>Agenda</vt:lpstr>
      <vt:lpstr>IMDB data in the Pang and Lee database (2002)</vt:lpstr>
      <vt:lpstr>Word-based Classification Approach</vt:lpstr>
      <vt:lpstr>Sentiment Tokenization Issues</vt:lpstr>
      <vt:lpstr>Extracting Features for Sentiment Classification</vt:lpstr>
      <vt:lpstr>Naïve Bayes</vt:lpstr>
      <vt:lpstr>Binarized (Boolean feature) Multinomial Naïve Bayes</vt:lpstr>
      <vt:lpstr>Boolean Multinomial Naïve Bayes: Learning</vt:lpstr>
      <vt:lpstr>Boolean Multinomial Naïve Bayes on test doc d</vt:lpstr>
      <vt:lpstr>Normal vs. Boolean Multinomial NB</vt:lpstr>
      <vt:lpstr>Problems: What makes reviews hard to classify?</vt:lpstr>
      <vt:lpstr>Problems: What makes reviews hard to classify?</vt:lpstr>
      <vt:lpstr>Sample Review 1 (This, that and this)</vt:lpstr>
      <vt:lpstr>Sample Review 2 (Noise) </vt:lpstr>
      <vt:lpstr>Sample Review 3 (Alternating sentiments) </vt:lpstr>
      <vt:lpstr>Sample Review 4 (Subject-centric or not?)</vt:lpstr>
      <vt:lpstr>Agenda</vt:lpstr>
      <vt:lpstr>Sentiment Lexicons</vt:lpstr>
      <vt:lpstr>Analyzing the Polarity of each Word in IMDB</vt:lpstr>
      <vt:lpstr>Analyzing the Polarity of each Word in IMDB</vt:lpstr>
      <vt:lpstr>Other Sentiment Feature: Logical Negation</vt:lpstr>
      <vt:lpstr>Agenda</vt:lpstr>
      <vt:lpstr>Semi-supervised Learning of Lexicons</vt:lpstr>
      <vt:lpstr>Using “and” and “but”</vt:lpstr>
      <vt:lpstr>Using “and” and “but”: Step 2</vt:lpstr>
      <vt:lpstr>Using “and” and “but”</vt:lpstr>
      <vt:lpstr>WordNet</vt:lpstr>
      <vt:lpstr>WordNet</vt:lpstr>
      <vt:lpstr>WordNet relations</vt:lpstr>
      <vt:lpstr>          WordNet relations</vt:lpstr>
      <vt:lpstr>Using WordNet to Learn Polarity</vt:lpstr>
      <vt:lpstr>Sentiments are domain dependent and aspect dependent</vt:lpstr>
      <vt:lpstr>PowerPoint Presentation</vt:lpstr>
      <vt:lpstr>Turney Algorithm</vt:lpstr>
      <vt:lpstr>Extracting Phrases using Dependency Parse</vt:lpstr>
      <vt:lpstr>How to Measure Polarity of a Phrase?</vt:lpstr>
      <vt:lpstr>Classifying Opinions</vt:lpstr>
      <vt:lpstr>Phrases from a Thumbs-Up Review</vt:lpstr>
      <vt:lpstr>Results of Turney Algorithm</vt:lpstr>
      <vt:lpstr>Summary on Learning Lexicons</vt:lpstr>
      <vt:lpstr>Take-aways</vt:lpstr>
      <vt:lpstr>Further Reading</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 Gupta</dc:creator>
  <cp:lastModifiedBy>Manish Gupta (BING-IDC)</cp:lastModifiedBy>
  <cp:revision>1663</cp:revision>
  <dcterms:created xsi:type="dcterms:W3CDTF">2008-10-30T05:46:58Z</dcterms:created>
  <dcterms:modified xsi:type="dcterms:W3CDTF">2021-03-14T20:30:45Z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gmanish@microsoft.com</vt:lpwstr>
  </property>
  <property fmtid="{D5CDD505-2E9C-101B-9397-08002B2CF9AE}" pid="5" name="MSIP_Label_f42aa342-8706-4288-bd11-ebb85995028c_SetDate">
    <vt:lpwstr>2018-03-24T08:17:35.8484538Z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