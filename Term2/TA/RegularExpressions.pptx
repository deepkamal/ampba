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5"/>
  </p:notesMasterIdLst>
  <p:sldIdLst>
    <p:sldId id="256" r:id="rId2"/>
    <p:sldId id="403" r:id="rId3"/>
    <p:sldId id="404" r:id="rId4"/>
    <p:sldId id="405" r:id="rId5"/>
    <p:sldId id="447" r:id="rId6"/>
    <p:sldId id="448" r:id="rId7"/>
    <p:sldId id="406" r:id="rId8"/>
    <p:sldId id="407" r:id="rId9"/>
    <p:sldId id="408" r:id="rId10"/>
    <p:sldId id="409" r:id="rId11"/>
    <p:sldId id="410" r:id="rId12"/>
    <p:sldId id="411" r:id="rId13"/>
    <p:sldId id="412" r:id="rId14"/>
    <p:sldId id="413" r:id="rId15"/>
    <p:sldId id="414" r:id="rId16"/>
    <p:sldId id="415" r:id="rId17"/>
    <p:sldId id="417" r:id="rId18"/>
    <p:sldId id="450" r:id="rId19"/>
    <p:sldId id="416" r:id="rId20"/>
    <p:sldId id="449" r:id="rId21"/>
    <p:sldId id="418" r:id="rId22"/>
    <p:sldId id="419" r:id="rId23"/>
    <p:sldId id="420" r:id="rId24"/>
    <p:sldId id="421" r:id="rId25"/>
    <p:sldId id="422" r:id="rId26"/>
    <p:sldId id="423" r:id="rId27"/>
    <p:sldId id="424" r:id="rId28"/>
    <p:sldId id="425" r:id="rId29"/>
    <p:sldId id="426" r:id="rId30"/>
    <p:sldId id="427" r:id="rId31"/>
    <p:sldId id="428" r:id="rId32"/>
    <p:sldId id="429" r:id="rId33"/>
    <p:sldId id="430" r:id="rId34"/>
    <p:sldId id="431" r:id="rId35"/>
    <p:sldId id="432" r:id="rId36"/>
    <p:sldId id="433" r:id="rId37"/>
    <p:sldId id="434" r:id="rId38"/>
    <p:sldId id="435" r:id="rId39"/>
    <p:sldId id="436" r:id="rId40"/>
    <p:sldId id="437" r:id="rId41"/>
    <p:sldId id="438" r:id="rId42"/>
    <p:sldId id="402" r:id="rId43"/>
    <p:sldId id="258" r:id="rId4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27" autoAdjust="0"/>
    <p:restoredTop sz="94660"/>
  </p:normalViewPr>
  <p:slideViewPr>
    <p:cSldViewPr snapToGrid="0">
      <p:cViewPr varScale="1">
        <p:scale>
          <a:sx n="80" d="100"/>
          <a:sy n="80" d="100"/>
        </p:scale>
        <p:origin x="102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61B3AF3-6D4C-4829-8537-0B666B4443DC}" type="datetimeFigureOut">
              <a:rPr lang="en-US" smtClean="0"/>
              <a:t>Thu-10-May-18</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8CBFE46-9388-4BE3-ACD4-7007D3474334}" type="slidenum">
              <a:rPr lang="en-US" smtClean="0"/>
              <a:t>‹#›</a:t>
            </a:fld>
            <a:endParaRPr lang="en-US"/>
          </a:p>
        </p:txBody>
      </p:sp>
    </p:spTree>
    <p:extLst>
      <p:ext uri="{BB962C8B-B14F-4D97-AF65-F5344CB8AC3E}">
        <p14:creationId xmlns:p14="http://schemas.microsoft.com/office/powerpoint/2010/main" val="8494407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BFE46-9388-4BE3-ACD4-7007D3474334}" type="slidenum">
              <a:rPr lang="en-US" smtClean="0"/>
              <a:t>1</a:t>
            </a:fld>
            <a:endParaRPr lang="en-US"/>
          </a:p>
        </p:txBody>
      </p:sp>
    </p:spTree>
    <p:extLst>
      <p:ext uri="{BB962C8B-B14F-4D97-AF65-F5344CB8AC3E}">
        <p14:creationId xmlns:p14="http://schemas.microsoft.com/office/powerpoint/2010/main" val="424434150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B8CBFE46-9388-4BE3-ACD4-7007D3474334}" type="slidenum">
              <a:rPr lang="en-US" smtClean="0"/>
              <a:t>43</a:t>
            </a:fld>
            <a:endParaRPr lang="en-US"/>
          </a:p>
        </p:txBody>
      </p:sp>
    </p:spTree>
    <p:extLst>
      <p:ext uri="{BB962C8B-B14F-4D97-AF65-F5344CB8AC3E}">
        <p14:creationId xmlns:p14="http://schemas.microsoft.com/office/powerpoint/2010/main" val="40234062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956C7038-8572-4266-AE0D-D7172DC0A738}" type="datetimeFigureOut">
              <a:rPr lang="en-US" smtClean="0"/>
              <a:t>Thu-10-May-18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8830296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0" y="0"/>
            <a:ext cx="10515600" cy="1325563"/>
          </a:xfrm>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6C7038-8572-4266-AE0D-D7172DC0A738}" type="datetimeFigureOut">
              <a:rPr lang="en-US" smtClean="0"/>
              <a:t>Thu-10-May-18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29716151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956C7038-8572-4266-AE0D-D7172DC0A738}" type="datetimeFigureOut">
              <a:rPr lang="en-US" smtClean="0"/>
              <a:t>Thu-10-May-18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825227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56C7038-8572-4266-AE0D-D7172DC0A738}" type="datetimeFigureOut">
              <a:rPr lang="en-US" smtClean="0"/>
              <a:t>Thu-10-May-18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2582979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56C7038-8572-4266-AE0D-D7172DC0A738}" type="datetimeFigureOut">
              <a:rPr lang="en-US" smtClean="0"/>
              <a:t>Thu-10-May-18</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6149014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56C7038-8572-4266-AE0D-D7172DC0A738}" type="datetimeFigureOut">
              <a:rPr lang="en-US" smtClean="0"/>
              <a:t>Thu-10-May-18</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419164208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C7038-8572-4266-AE0D-D7172DC0A738}" type="datetimeFigureOut">
              <a:rPr lang="en-US" smtClean="0"/>
              <a:t>Thu-10-May-18</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276205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6C7038-8572-4266-AE0D-D7172DC0A738}" type="datetimeFigureOut">
              <a:rPr lang="en-US" smtClean="0"/>
              <a:t>Thu-10-May-18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11675391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956C7038-8572-4266-AE0D-D7172DC0A738}" type="datetimeFigureOut">
              <a:rPr lang="en-US" smtClean="0"/>
              <a:t>Thu-10-May-18</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340932219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6C7038-8572-4266-AE0D-D7172DC0A738}" type="datetimeFigureOut">
              <a:rPr lang="en-US" smtClean="0"/>
              <a:t>Thu-10-May-18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2094280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56C7038-8572-4266-AE0D-D7172DC0A738}" type="datetimeFigureOut">
              <a:rPr lang="en-US" smtClean="0"/>
              <a:t>Thu-10-May-18</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BF38553-2067-4AFC-9FB2-6C1845D381AF}" type="slidenum">
              <a:rPr lang="en-US" smtClean="0"/>
              <a:t>‹#›</a:t>
            </a:fld>
            <a:endParaRPr lang="en-US"/>
          </a:p>
        </p:txBody>
      </p:sp>
    </p:spTree>
    <p:extLst>
      <p:ext uri="{BB962C8B-B14F-4D97-AF65-F5344CB8AC3E}">
        <p14:creationId xmlns:p14="http://schemas.microsoft.com/office/powerpoint/2010/main" val="9440254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6C7038-8572-4266-AE0D-D7172DC0A738}" type="datetimeFigureOut">
              <a:rPr lang="en-US" smtClean="0"/>
              <a:t>Thu-10-May-18</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BF38553-2067-4AFC-9FB2-6C1845D381AF}" type="slidenum">
              <a:rPr lang="en-US" smtClean="0"/>
              <a:t>‹#›</a:t>
            </a:fld>
            <a:endParaRPr lang="en-US"/>
          </a:p>
        </p:txBody>
      </p:sp>
    </p:spTree>
    <p:extLst>
      <p:ext uri="{BB962C8B-B14F-4D97-AF65-F5344CB8AC3E}">
        <p14:creationId xmlns:p14="http://schemas.microsoft.com/office/powerpoint/2010/main" val="2875792328"/>
      </p:ext>
    </p:extLst>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2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7.png"/></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 Id="rId4" Type="http://schemas.openxmlformats.org/officeDocument/2006/relationships/image" Target="../media/image30.png"/></Relationships>
</file>

<file path=ppt/slides/_rels/slide2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 Id="rId4" Type="http://schemas.openxmlformats.org/officeDocument/2006/relationships/image" Target="../media/image33.png"/></Relationships>
</file>

<file path=ppt/slides/_rels/slide2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hyperlink" Target="http://pages.stern.nyu.edu/~sbp345/websys/python_dwd/Session%203%20(Regular%20Expressions).ipynb" TargetMode="External"/><Relationship Id="rId2" Type="http://schemas.openxmlformats.org/officeDocument/2006/relationships/hyperlink" Target="https://github.com/rexdwyer/Splitsville/blob/master/Splitsville.ipynb" TargetMode="Externa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hyperlink" Target="mailto:manishg.iitb@gmail.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hyperlink" Target="https://sites.google.com/view/manishg/" TargetMode="External"/><Relationship Id="rId4" Type="http://schemas.openxmlformats.org/officeDocument/2006/relationships/hyperlink" Target="https://www.linkedin.com/in/manishsgupta"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solidFill>
                  <a:srgbClr val="FF0000"/>
                </a:solidFill>
              </a:rPr>
              <a:t>Python for Data Science </a:t>
            </a:r>
            <a:br>
              <a:rPr lang="en-US" b="1" dirty="0">
                <a:solidFill>
                  <a:srgbClr val="FF0000"/>
                </a:solidFill>
              </a:rPr>
            </a:br>
            <a:r>
              <a:rPr lang="en-US" b="1">
                <a:solidFill>
                  <a:srgbClr val="FF0000"/>
                </a:solidFill>
              </a:rPr>
              <a:t>Regular Expressions</a:t>
            </a:r>
            <a:endParaRPr lang="en-US" b="1" dirty="0">
              <a:solidFill>
                <a:srgbClr val="FF0000"/>
              </a:solidFill>
            </a:endParaRPr>
          </a:p>
        </p:txBody>
      </p:sp>
      <p:sp>
        <p:nvSpPr>
          <p:cNvPr id="3" name="Subtitle 2"/>
          <p:cNvSpPr>
            <a:spLocks noGrp="1"/>
          </p:cNvSpPr>
          <p:nvPr>
            <p:ph type="subTitle" idx="1"/>
          </p:nvPr>
        </p:nvSpPr>
        <p:spPr>
          <a:xfrm>
            <a:off x="1524000" y="3879126"/>
            <a:ext cx="9144000" cy="1655762"/>
          </a:xfrm>
        </p:spPr>
        <p:txBody>
          <a:bodyPr>
            <a:normAutofit/>
          </a:bodyPr>
          <a:lstStyle/>
          <a:p>
            <a:r>
              <a:rPr lang="en-US" sz="4400" b="1" dirty="0">
                <a:solidFill>
                  <a:srgbClr val="00B0F0"/>
                </a:solidFill>
              </a:rPr>
              <a:t>Manish Gupta</a:t>
            </a:r>
          </a:p>
        </p:txBody>
      </p:sp>
      <p:sp>
        <p:nvSpPr>
          <p:cNvPr id="4" name="TextBox 3">
            <a:extLst>
              <a:ext uri="{FF2B5EF4-FFF2-40B4-BE49-F238E27FC236}">
                <a16:creationId xmlns:a16="http://schemas.microsoft.com/office/drawing/2014/main" id="{2E3FA92F-9DE0-4E67-97FC-036AC281EDA8}"/>
              </a:ext>
            </a:extLst>
          </p:cNvPr>
          <p:cNvSpPr txBox="1"/>
          <p:nvPr/>
        </p:nvSpPr>
        <p:spPr>
          <a:xfrm>
            <a:off x="0" y="6488668"/>
            <a:ext cx="7214604" cy="369332"/>
          </a:xfrm>
          <a:prstGeom prst="rect">
            <a:avLst/>
          </a:prstGeom>
          <a:noFill/>
        </p:spPr>
        <p:txBody>
          <a:bodyPr wrap="none" rtlCol="0">
            <a:spAutoFit/>
          </a:bodyPr>
          <a:lstStyle/>
          <a:p>
            <a:r>
              <a:rPr lang="en-US" dirty="0"/>
              <a:t>Credits: Content borrowed from multiple course presentations, and videos.</a:t>
            </a:r>
          </a:p>
        </p:txBody>
      </p:sp>
    </p:spTree>
    <p:extLst>
      <p:ext uri="{BB962C8B-B14F-4D97-AF65-F5344CB8AC3E}">
        <p14:creationId xmlns:p14="http://schemas.microsoft.com/office/powerpoint/2010/main" val="39703681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Regular expressions</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p:txBody>
          <a:bodyPr/>
          <a:lstStyle/>
          <a:p>
            <a:r>
              <a:rPr lang="en-US" dirty="0"/>
              <a:t>Regular expressions are text matching patterns described with a formal syntax. You'll often hear regular expressions referred to as 'regex' or '</a:t>
            </a:r>
            <a:r>
              <a:rPr lang="en-US" dirty="0" err="1"/>
              <a:t>regexp</a:t>
            </a:r>
            <a:r>
              <a:rPr lang="en-US" dirty="0"/>
              <a:t>' in conversation. Regular expressions can include a variety of rules, for finding repetition, to text-matching, and much more.</a:t>
            </a:r>
          </a:p>
          <a:p>
            <a:r>
              <a:rPr lang="en-US" dirty="0"/>
              <a:t>Python regex syntax is very close to Perl regex syntax.</a:t>
            </a:r>
          </a:p>
          <a:p>
            <a:r>
              <a:rPr lang="en-US" dirty="0"/>
              <a:t>re is the module name for Python regexes.</a:t>
            </a:r>
          </a:p>
        </p:txBody>
      </p:sp>
    </p:spTree>
    <p:extLst>
      <p:ext uri="{BB962C8B-B14F-4D97-AF65-F5344CB8AC3E}">
        <p14:creationId xmlns:p14="http://schemas.microsoft.com/office/powerpoint/2010/main" val="711070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Searching for Patterns in Text</a:t>
            </a:r>
            <a:endParaRPr lang="en-US" dirty="0"/>
          </a:p>
        </p:txBody>
      </p:sp>
      <p:pic>
        <p:nvPicPr>
          <p:cNvPr id="4" name="Content Placeholder 3">
            <a:extLst>
              <a:ext uri="{FF2B5EF4-FFF2-40B4-BE49-F238E27FC236}">
                <a16:creationId xmlns:a16="http://schemas.microsoft.com/office/drawing/2014/main" id="{6B19824D-4507-4A46-BAFB-C1364A7938FA}"/>
              </a:ext>
            </a:extLst>
          </p:cNvPr>
          <p:cNvPicPr>
            <a:picLocks noGrp="1" noChangeAspect="1"/>
          </p:cNvPicPr>
          <p:nvPr>
            <p:ph idx="1"/>
          </p:nvPr>
        </p:nvPicPr>
        <p:blipFill>
          <a:blip r:embed="rId2"/>
          <a:stretch>
            <a:fillRect/>
          </a:stretch>
        </p:blipFill>
        <p:spPr>
          <a:xfrm>
            <a:off x="1281829" y="1927298"/>
            <a:ext cx="8613733" cy="4701818"/>
          </a:xfrm>
          <a:prstGeom prst="rect">
            <a:avLst/>
          </a:prstGeom>
        </p:spPr>
      </p:pic>
      <p:sp>
        <p:nvSpPr>
          <p:cNvPr id="5" name="Rectangle 4">
            <a:extLst>
              <a:ext uri="{FF2B5EF4-FFF2-40B4-BE49-F238E27FC236}">
                <a16:creationId xmlns:a16="http://schemas.microsoft.com/office/drawing/2014/main" id="{55597C32-2F1A-4700-A726-13A7A3B692B3}"/>
              </a:ext>
            </a:extLst>
          </p:cNvPr>
          <p:cNvSpPr/>
          <p:nvPr/>
        </p:nvSpPr>
        <p:spPr>
          <a:xfrm>
            <a:off x="229643" y="1151062"/>
            <a:ext cx="11194094" cy="646331"/>
          </a:xfrm>
          <a:prstGeom prst="rect">
            <a:avLst/>
          </a:prstGeom>
        </p:spPr>
        <p:txBody>
          <a:bodyPr wrap="square">
            <a:spAutoFit/>
          </a:bodyPr>
          <a:lstStyle/>
          <a:p>
            <a:r>
              <a:rPr lang="en-US" dirty="0" err="1">
                <a:latin typeface="Helvetica Neue"/>
              </a:rPr>
              <a:t>re.search</a:t>
            </a:r>
            <a:r>
              <a:rPr lang="en-US" dirty="0">
                <a:latin typeface="Helvetica Neue"/>
              </a:rPr>
              <a:t>() takes the pattern, scans the text, and then returns a </a:t>
            </a:r>
            <a:r>
              <a:rPr lang="en-US" b="1" dirty="0">
                <a:latin typeface="Helvetica Neue"/>
              </a:rPr>
              <a:t>Match</a:t>
            </a:r>
            <a:r>
              <a:rPr lang="en-US" dirty="0">
                <a:latin typeface="Helvetica Neue"/>
              </a:rPr>
              <a:t> object. If no pattern is found, a </a:t>
            </a:r>
            <a:r>
              <a:rPr lang="en-US" b="1" dirty="0">
                <a:latin typeface="Helvetica Neue"/>
              </a:rPr>
              <a:t>None</a:t>
            </a:r>
            <a:r>
              <a:rPr lang="en-US" dirty="0">
                <a:latin typeface="Helvetica Neue"/>
              </a:rPr>
              <a:t> is returned. </a:t>
            </a:r>
            <a:endParaRPr lang="en-US" dirty="0"/>
          </a:p>
        </p:txBody>
      </p:sp>
    </p:spTree>
    <p:extLst>
      <p:ext uri="{BB962C8B-B14F-4D97-AF65-F5344CB8AC3E}">
        <p14:creationId xmlns:p14="http://schemas.microsoft.com/office/powerpoint/2010/main" val="21922883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dirty="0"/>
              <a:t>The match object, and IGNORECASE</a:t>
            </a:r>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a:xfrm>
            <a:off x="838199" y="1111641"/>
            <a:ext cx="10515600" cy="4351338"/>
          </a:xfrm>
        </p:spPr>
        <p:txBody>
          <a:bodyPr/>
          <a:lstStyle/>
          <a:p>
            <a:r>
              <a:rPr lang="en-US" dirty="0" err="1"/>
              <a:t>re.search</a:t>
            </a:r>
            <a:r>
              <a:rPr lang="en-US" dirty="0"/>
              <a:t>() returns a match object which also contains information about the start and end of the match.</a:t>
            </a:r>
          </a:p>
        </p:txBody>
      </p:sp>
      <p:pic>
        <p:nvPicPr>
          <p:cNvPr id="5" name="Picture 4">
            <a:extLst>
              <a:ext uri="{FF2B5EF4-FFF2-40B4-BE49-F238E27FC236}">
                <a16:creationId xmlns:a16="http://schemas.microsoft.com/office/drawing/2014/main" id="{7DF910E8-BCD6-4A51-A350-084C92106A99}"/>
              </a:ext>
            </a:extLst>
          </p:cNvPr>
          <p:cNvPicPr>
            <a:picLocks noChangeAspect="1"/>
          </p:cNvPicPr>
          <p:nvPr/>
        </p:nvPicPr>
        <p:blipFill>
          <a:blip r:embed="rId2"/>
          <a:stretch>
            <a:fillRect/>
          </a:stretch>
        </p:blipFill>
        <p:spPr>
          <a:xfrm>
            <a:off x="2166936" y="2181029"/>
            <a:ext cx="7858125" cy="4124325"/>
          </a:xfrm>
          <a:prstGeom prst="rect">
            <a:avLst/>
          </a:prstGeom>
        </p:spPr>
      </p:pic>
    </p:spTree>
    <p:extLst>
      <p:ext uri="{BB962C8B-B14F-4D97-AF65-F5344CB8AC3E}">
        <p14:creationId xmlns:p14="http://schemas.microsoft.com/office/powerpoint/2010/main" val="16656849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F98F2D-3DCF-4000-AB46-D43BD73303CF}"/>
              </a:ext>
            </a:extLst>
          </p:cNvPr>
          <p:cNvSpPr>
            <a:spLocks noGrp="1"/>
          </p:cNvSpPr>
          <p:nvPr>
            <p:ph type="title"/>
          </p:nvPr>
        </p:nvSpPr>
        <p:spPr/>
        <p:txBody>
          <a:bodyPr/>
          <a:lstStyle/>
          <a:p>
            <a:r>
              <a:rPr lang="en-US" dirty="0"/>
              <a:t>Groups()</a:t>
            </a:r>
          </a:p>
        </p:txBody>
      </p:sp>
      <p:sp>
        <p:nvSpPr>
          <p:cNvPr id="3" name="Content Placeholder 2">
            <a:extLst>
              <a:ext uri="{FF2B5EF4-FFF2-40B4-BE49-F238E27FC236}">
                <a16:creationId xmlns:a16="http://schemas.microsoft.com/office/drawing/2014/main" id="{7BD8D718-702D-4257-AE2D-713BFE27E5C5}"/>
              </a:ext>
            </a:extLst>
          </p:cNvPr>
          <p:cNvSpPr>
            <a:spLocks noGrp="1"/>
          </p:cNvSpPr>
          <p:nvPr>
            <p:ph idx="1"/>
          </p:nvPr>
        </p:nvSpPr>
        <p:spPr/>
        <p:txBody>
          <a:bodyPr/>
          <a:lstStyle/>
          <a:p>
            <a:r>
              <a:rPr lang="en-US" dirty="0"/>
              <a:t>We use </a:t>
            </a:r>
            <a:r>
              <a:rPr lang="en-US" i="1" dirty="0"/>
              <a:t>group(num)</a:t>
            </a:r>
            <a:r>
              <a:rPr lang="en-US" dirty="0"/>
              <a:t> or </a:t>
            </a:r>
            <a:r>
              <a:rPr lang="en-US" i="1" dirty="0"/>
              <a:t>groups() </a:t>
            </a:r>
            <a:r>
              <a:rPr lang="en-US" dirty="0"/>
              <a:t>function of </a:t>
            </a:r>
            <a:r>
              <a:rPr lang="en-US" b="1" dirty="0"/>
              <a:t>match</a:t>
            </a:r>
            <a:r>
              <a:rPr lang="en-US" dirty="0"/>
              <a:t> object to get matched expression.</a:t>
            </a:r>
          </a:p>
        </p:txBody>
      </p:sp>
      <p:pic>
        <p:nvPicPr>
          <p:cNvPr id="4" name="Picture 3">
            <a:extLst>
              <a:ext uri="{FF2B5EF4-FFF2-40B4-BE49-F238E27FC236}">
                <a16:creationId xmlns:a16="http://schemas.microsoft.com/office/drawing/2014/main" id="{8EE11075-C582-470B-B843-36CBF98ACB08}"/>
              </a:ext>
            </a:extLst>
          </p:cNvPr>
          <p:cNvPicPr>
            <a:picLocks noChangeAspect="1"/>
          </p:cNvPicPr>
          <p:nvPr/>
        </p:nvPicPr>
        <p:blipFill>
          <a:blip r:embed="rId2"/>
          <a:stretch>
            <a:fillRect/>
          </a:stretch>
        </p:blipFill>
        <p:spPr>
          <a:xfrm>
            <a:off x="2752725" y="2737915"/>
            <a:ext cx="6686550" cy="3286125"/>
          </a:xfrm>
          <a:prstGeom prst="rect">
            <a:avLst/>
          </a:prstGeom>
        </p:spPr>
      </p:pic>
    </p:spTree>
    <p:extLst>
      <p:ext uri="{BB962C8B-B14F-4D97-AF65-F5344CB8AC3E}">
        <p14:creationId xmlns:p14="http://schemas.microsoft.com/office/powerpoint/2010/main" val="6770246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2AE3CF-476C-4432-883B-4E4C84963147}"/>
              </a:ext>
            </a:extLst>
          </p:cNvPr>
          <p:cNvSpPr>
            <a:spLocks noGrp="1"/>
          </p:cNvSpPr>
          <p:nvPr>
            <p:ph type="title"/>
          </p:nvPr>
        </p:nvSpPr>
        <p:spPr/>
        <p:txBody>
          <a:bodyPr/>
          <a:lstStyle/>
          <a:p>
            <a:r>
              <a:rPr lang="en-US" dirty="0"/>
              <a:t>Regular expression flags</a:t>
            </a:r>
          </a:p>
        </p:txBody>
      </p:sp>
      <p:sp>
        <p:nvSpPr>
          <p:cNvPr id="3" name="Content Placeholder 2">
            <a:extLst>
              <a:ext uri="{FF2B5EF4-FFF2-40B4-BE49-F238E27FC236}">
                <a16:creationId xmlns:a16="http://schemas.microsoft.com/office/drawing/2014/main" id="{9CFC9384-F2E4-4C9C-864C-2A7887BB5151}"/>
              </a:ext>
            </a:extLst>
          </p:cNvPr>
          <p:cNvSpPr>
            <a:spLocks noGrp="1"/>
          </p:cNvSpPr>
          <p:nvPr>
            <p:ph idx="1"/>
          </p:nvPr>
        </p:nvSpPr>
        <p:spPr/>
        <p:txBody>
          <a:bodyPr>
            <a:normAutofit fontScale="77500" lnSpcReduction="20000"/>
          </a:bodyPr>
          <a:lstStyle/>
          <a:p>
            <a:r>
              <a:rPr lang="en-US" dirty="0" err="1"/>
              <a:t>re.DEBUG</a:t>
            </a:r>
            <a:r>
              <a:rPr lang="en-US" dirty="0"/>
              <a:t>: Display debug information about compiled expression.</a:t>
            </a:r>
          </a:p>
          <a:p>
            <a:r>
              <a:rPr lang="en-US" dirty="0" err="1"/>
              <a:t>re.I</a:t>
            </a:r>
            <a:r>
              <a:rPr lang="en-US" dirty="0"/>
              <a:t>, </a:t>
            </a:r>
            <a:r>
              <a:rPr lang="en-US" dirty="0" err="1"/>
              <a:t>re.IGNORECASE</a:t>
            </a:r>
            <a:r>
              <a:rPr lang="en-US" dirty="0"/>
              <a:t>: Perform case-insensitive matching</a:t>
            </a:r>
          </a:p>
          <a:p>
            <a:r>
              <a:rPr lang="en-US" dirty="0" err="1"/>
              <a:t>re.L</a:t>
            </a:r>
            <a:r>
              <a:rPr lang="en-US" dirty="0"/>
              <a:t>, </a:t>
            </a:r>
            <a:r>
              <a:rPr lang="en-US" dirty="0" err="1"/>
              <a:t>re.LOCALE</a:t>
            </a:r>
            <a:r>
              <a:rPr lang="en-US" dirty="0"/>
              <a:t>: Make \w, \W, \b, \B, \s and \S dependent on the current locale.</a:t>
            </a:r>
          </a:p>
          <a:p>
            <a:r>
              <a:rPr lang="en-US" dirty="0" err="1"/>
              <a:t>re.M</a:t>
            </a:r>
            <a:r>
              <a:rPr lang="en-US" dirty="0"/>
              <a:t>: </a:t>
            </a:r>
            <a:r>
              <a:rPr lang="en-US" dirty="0" err="1"/>
              <a:t>re.MULTILINE</a:t>
            </a:r>
            <a:r>
              <a:rPr lang="en-US" dirty="0"/>
              <a:t>: When specified, the pattern character '^' matches at the beginning of the string and at the beginning of each line (immediately following each newline); and the pattern character '$' matches at the end of the string and at the end of each line (immediately preceding each newline). </a:t>
            </a:r>
          </a:p>
          <a:p>
            <a:r>
              <a:rPr lang="en-US" dirty="0" err="1"/>
              <a:t>re.S</a:t>
            </a:r>
            <a:r>
              <a:rPr lang="en-US" dirty="0"/>
              <a:t>, </a:t>
            </a:r>
            <a:r>
              <a:rPr lang="en-US" dirty="0" err="1"/>
              <a:t>re.DOTALL</a:t>
            </a:r>
            <a:r>
              <a:rPr lang="en-US" dirty="0"/>
              <a:t>: Make the '.' special character match any character at all, including a newline; without this flag, '.' will match anything except a newline.</a:t>
            </a:r>
          </a:p>
          <a:p>
            <a:r>
              <a:rPr lang="en-US" dirty="0" err="1"/>
              <a:t>re.U</a:t>
            </a:r>
            <a:r>
              <a:rPr lang="en-US" dirty="0"/>
              <a:t>, </a:t>
            </a:r>
            <a:r>
              <a:rPr lang="en-US" dirty="0" err="1"/>
              <a:t>re.UNICODE</a:t>
            </a:r>
            <a:r>
              <a:rPr lang="en-US" dirty="0"/>
              <a:t>: Make the \w, \W, \b, \B, \d, \D, \s and \S sequences dependent on the Unicode character properties database. </a:t>
            </a:r>
          </a:p>
          <a:p>
            <a:r>
              <a:rPr lang="en-US" dirty="0" err="1"/>
              <a:t>re.X</a:t>
            </a:r>
            <a:r>
              <a:rPr lang="en-US" dirty="0"/>
              <a:t>, </a:t>
            </a:r>
            <a:r>
              <a:rPr lang="en-US" dirty="0" err="1"/>
              <a:t>re.VERBOSE</a:t>
            </a:r>
            <a:r>
              <a:rPr lang="en-US" dirty="0"/>
              <a:t>: Permits "cuter" regular expression syntax. It ignores whitespace (except inside a set [] or when escaped by a backslash) and treats unescaped # as a comment marker.</a:t>
            </a:r>
          </a:p>
        </p:txBody>
      </p:sp>
    </p:spTree>
    <p:extLst>
      <p:ext uri="{BB962C8B-B14F-4D97-AF65-F5344CB8AC3E}">
        <p14:creationId xmlns:p14="http://schemas.microsoft.com/office/powerpoint/2010/main" val="445802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dirty="0"/>
              <a:t>Split, </a:t>
            </a:r>
            <a:r>
              <a:rPr lang="en-US" dirty="0" err="1"/>
              <a:t>findall</a:t>
            </a:r>
            <a:r>
              <a:rPr lang="en-US" dirty="0"/>
              <a:t>, </a:t>
            </a:r>
            <a:r>
              <a:rPr lang="en-US" dirty="0" err="1"/>
              <a:t>finditer</a:t>
            </a:r>
            <a:endParaRPr lang="en-US" dirty="0"/>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a:xfrm>
            <a:off x="838200" y="1325561"/>
            <a:ext cx="10515600" cy="5325759"/>
          </a:xfrm>
        </p:spPr>
        <p:txBody>
          <a:bodyPr>
            <a:normAutofit fontScale="92500"/>
          </a:bodyPr>
          <a:lstStyle/>
          <a:p>
            <a:r>
              <a:rPr lang="en-US" dirty="0" err="1"/>
              <a:t>re.split</a:t>
            </a:r>
            <a:r>
              <a:rPr lang="en-US" dirty="0"/>
              <a:t>() returns a list with the term to split on removed and the terms in the list are a split up version of the string.</a:t>
            </a:r>
          </a:p>
          <a:p>
            <a:endParaRPr lang="en-US" dirty="0"/>
          </a:p>
          <a:p>
            <a:endParaRPr lang="en-US" dirty="0"/>
          </a:p>
          <a:p>
            <a:endParaRPr lang="en-US" dirty="0"/>
          </a:p>
          <a:p>
            <a:endParaRPr lang="en-US" dirty="0"/>
          </a:p>
          <a:p>
            <a:r>
              <a:rPr lang="en-US" dirty="0"/>
              <a:t>You can use </a:t>
            </a:r>
            <a:r>
              <a:rPr lang="en-US" dirty="0" err="1"/>
              <a:t>re.findall</a:t>
            </a:r>
            <a:r>
              <a:rPr lang="en-US" dirty="0"/>
              <a:t>() to find all the instances of a pattern in a string.</a:t>
            </a:r>
          </a:p>
          <a:p>
            <a:endParaRPr lang="en-US" dirty="0"/>
          </a:p>
          <a:p>
            <a:endParaRPr lang="en-US" dirty="0"/>
          </a:p>
          <a:p>
            <a:endParaRPr lang="en-US" dirty="0"/>
          </a:p>
          <a:p>
            <a:r>
              <a:rPr lang="en-US" b="1" dirty="0" err="1"/>
              <a:t>finditer</a:t>
            </a:r>
            <a:r>
              <a:rPr lang="en-US" dirty="0"/>
              <a:t> returns an iterator over all matches of the pattern in the string.</a:t>
            </a:r>
          </a:p>
        </p:txBody>
      </p:sp>
      <p:pic>
        <p:nvPicPr>
          <p:cNvPr id="4" name="Picture 3">
            <a:extLst>
              <a:ext uri="{FF2B5EF4-FFF2-40B4-BE49-F238E27FC236}">
                <a16:creationId xmlns:a16="http://schemas.microsoft.com/office/drawing/2014/main" id="{946360DF-1130-46C3-AAD6-DEEE09FCB600}"/>
              </a:ext>
            </a:extLst>
          </p:cNvPr>
          <p:cNvPicPr>
            <a:picLocks noChangeAspect="1"/>
          </p:cNvPicPr>
          <p:nvPr/>
        </p:nvPicPr>
        <p:blipFill>
          <a:blip r:embed="rId2"/>
          <a:stretch>
            <a:fillRect/>
          </a:stretch>
        </p:blipFill>
        <p:spPr>
          <a:xfrm>
            <a:off x="1314449" y="2116202"/>
            <a:ext cx="9563100" cy="1971675"/>
          </a:xfrm>
          <a:prstGeom prst="rect">
            <a:avLst/>
          </a:prstGeom>
        </p:spPr>
      </p:pic>
      <p:pic>
        <p:nvPicPr>
          <p:cNvPr id="6" name="Picture 5">
            <a:extLst>
              <a:ext uri="{FF2B5EF4-FFF2-40B4-BE49-F238E27FC236}">
                <a16:creationId xmlns:a16="http://schemas.microsoft.com/office/drawing/2014/main" id="{8D2687F6-EDD5-4F92-BF14-096BFF73249D}"/>
              </a:ext>
            </a:extLst>
          </p:cNvPr>
          <p:cNvPicPr>
            <a:picLocks noChangeAspect="1"/>
          </p:cNvPicPr>
          <p:nvPr/>
        </p:nvPicPr>
        <p:blipFill>
          <a:blip r:embed="rId3"/>
          <a:stretch>
            <a:fillRect/>
          </a:stretch>
        </p:blipFill>
        <p:spPr>
          <a:xfrm>
            <a:off x="2672414" y="4495800"/>
            <a:ext cx="6296025" cy="1524000"/>
          </a:xfrm>
          <a:prstGeom prst="rect">
            <a:avLst/>
          </a:prstGeom>
        </p:spPr>
      </p:pic>
    </p:spTree>
    <p:extLst>
      <p:ext uri="{BB962C8B-B14F-4D97-AF65-F5344CB8AC3E}">
        <p14:creationId xmlns:p14="http://schemas.microsoft.com/office/powerpoint/2010/main" val="12240576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Patterns Syntax</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a:xfrm>
            <a:off x="838200" y="1825625"/>
            <a:ext cx="10515600" cy="1761712"/>
          </a:xfrm>
        </p:spPr>
        <p:txBody>
          <a:bodyPr>
            <a:normAutofit fontScale="92500" lnSpcReduction="20000"/>
          </a:bodyPr>
          <a:lstStyle/>
          <a:p>
            <a:r>
              <a:rPr lang="en-US" dirty="0"/>
              <a:t>Regular expressions supports a huge variety of patterns to find where a single string occurred.</a:t>
            </a:r>
          </a:p>
          <a:p>
            <a:r>
              <a:rPr lang="en-US" dirty="0"/>
              <a:t>Since we will be testing multiple re syntax forms, let's create a function that will print out results given a list of various regular expressions and a phrase to parse.</a:t>
            </a:r>
          </a:p>
          <a:p>
            <a:endParaRPr lang="en-US" dirty="0"/>
          </a:p>
        </p:txBody>
      </p:sp>
      <p:pic>
        <p:nvPicPr>
          <p:cNvPr id="4" name="Picture 3">
            <a:extLst>
              <a:ext uri="{FF2B5EF4-FFF2-40B4-BE49-F238E27FC236}">
                <a16:creationId xmlns:a16="http://schemas.microsoft.com/office/drawing/2014/main" id="{D91437DB-61E2-4331-B50B-4E0E1BD8FAE3}"/>
              </a:ext>
            </a:extLst>
          </p:cNvPr>
          <p:cNvPicPr>
            <a:picLocks noChangeAspect="1"/>
          </p:cNvPicPr>
          <p:nvPr/>
        </p:nvPicPr>
        <p:blipFill>
          <a:blip r:embed="rId2"/>
          <a:stretch>
            <a:fillRect/>
          </a:stretch>
        </p:blipFill>
        <p:spPr>
          <a:xfrm>
            <a:off x="1814512" y="3587337"/>
            <a:ext cx="8562975" cy="2714625"/>
          </a:xfrm>
          <a:prstGeom prst="rect">
            <a:avLst/>
          </a:prstGeom>
        </p:spPr>
      </p:pic>
    </p:spTree>
    <p:extLst>
      <p:ext uri="{BB962C8B-B14F-4D97-AF65-F5344CB8AC3E}">
        <p14:creationId xmlns:p14="http://schemas.microsoft.com/office/powerpoint/2010/main" val="16027970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Repetition Syntax</a:t>
            </a:r>
            <a:endParaRPr lang="en-US" dirty="0"/>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p:txBody>
          <a:bodyPr>
            <a:normAutofit lnSpcReduction="10000"/>
          </a:bodyPr>
          <a:lstStyle/>
          <a:p>
            <a:r>
              <a:rPr lang="en-US" dirty="0"/>
              <a:t>A pattern followed by the meta-character * is repeated zero or more times. </a:t>
            </a:r>
          </a:p>
          <a:p>
            <a:r>
              <a:rPr lang="en-US" dirty="0"/>
              <a:t>Replace the * with + and the pattern must appear at least once. </a:t>
            </a:r>
          </a:p>
          <a:p>
            <a:r>
              <a:rPr lang="en-US" dirty="0"/>
              <a:t>Using ? means the pattern appears zero or one time. </a:t>
            </a:r>
          </a:p>
          <a:p>
            <a:r>
              <a:rPr lang="en-US" dirty="0"/>
              <a:t>For a specific number of occurrences, use {m} after the pattern, where m is replaced with the number of times the pattern should repeat. </a:t>
            </a:r>
          </a:p>
          <a:p>
            <a:r>
              <a:rPr lang="en-US" dirty="0"/>
              <a:t>Use {</a:t>
            </a:r>
            <a:r>
              <a:rPr lang="en-US" dirty="0" err="1"/>
              <a:t>m,n</a:t>
            </a:r>
            <a:r>
              <a:rPr lang="en-US" dirty="0"/>
              <a:t>} where m is the minimum number of repetitions and n is the maximum. Leaving out n ({m,}) means the value appears at least m times, with no maximum.</a:t>
            </a:r>
          </a:p>
        </p:txBody>
      </p:sp>
    </p:spTree>
    <p:extLst>
      <p:ext uri="{BB962C8B-B14F-4D97-AF65-F5344CB8AC3E}">
        <p14:creationId xmlns:p14="http://schemas.microsoft.com/office/powerpoint/2010/main" val="11955637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dirty="0"/>
              <a:t>Pattern Examples</a:t>
            </a:r>
          </a:p>
        </p:txBody>
      </p:sp>
      <p:pic>
        <p:nvPicPr>
          <p:cNvPr id="4" name="Content Placeholder 3">
            <a:extLst>
              <a:ext uri="{FF2B5EF4-FFF2-40B4-BE49-F238E27FC236}">
                <a16:creationId xmlns:a16="http://schemas.microsoft.com/office/drawing/2014/main" id="{FB2EDB2D-F595-406F-B598-9AB4F56B3206}"/>
              </a:ext>
            </a:extLst>
          </p:cNvPr>
          <p:cNvPicPr>
            <a:picLocks noGrp="1" noChangeAspect="1"/>
          </p:cNvPicPr>
          <p:nvPr>
            <p:ph idx="1"/>
          </p:nvPr>
        </p:nvPicPr>
        <p:blipFill>
          <a:blip r:embed="rId2"/>
          <a:stretch>
            <a:fillRect/>
          </a:stretch>
        </p:blipFill>
        <p:spPr>
          <a:xfrm>
            <a:off x="780789" y="1094198"/>
            <a:ext cx="10630422" cy="5588722"/>
          </a:xfrm>
          <a:prstGeom prst="rect">
            <a:avLst/>
          </a:prstGeom>
        </p:spPr>
      </p:pic>
    </p:spTree>
    <p:extLst>
      <p:ext uri="{BB962C8B-B14F-4D97-AF65-F5344CB8AC3E}">
        <p14:creationId xmlns:p14="http://schemas.microsoft.com/office/powerpoint/2010/main" val="15386894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b="1" dirty="0"/>
              <a:t>Character Sets</a:t>
            </a:r>
            <a:endParaRPr lang="en-US" dirty="0"/>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a:xfrm>
            <a:off x="838200" y="1325563"/>
            <a:ext cx="10515600" cy="1155570"/>
          </a:xfrm>
        </p:spPr>
        <p:txBody>
          <a:bodyPr>
            <a:normAutofit fontScale="85000" lnSpcReduction="10000"/>
          </a:bodyPr>
          <a:lstStyle/>
          <a:p>
            <a:r>
              <a:rPr lang="en-US" dirty="0"/>
              <a:t>Character sets are used when you wish to match any one of a group of characters at a point in the input. Brackets are used to construct character set inputs. For example: the input [ab] searches for occurrences of either a or b.</a:t>
            </a:r>
          </a:p>
        </p:txBody>
      </p:sp>
      <p:pic>
        <p:nvPicPr>
          <p:cNvPr id="4" name="Picture 3">
            <a:extLst>
              <a:ext uri="{FF2B5EF4-FFF2-40B4-BE49-F238E27FC236}">
                <a16:creationId xmlns:a16="http://schemas.microsoft.com/office/drawing/2014/main" id="{B9E2240A-A301-43F7-8EBB-9E88DFDFB62A}"/>
              </a:ext>
            </a:extLst>
          </p:cNvPr>
          <p:cNvPicPr>
            <a:picLocks noChangeAspect="1"/>
          </p:cNvPicPr>
          <p:nvPr/>
        </p:nvPicPr>
        <p:blipFill>
          <a:blip r:embed="rId2"/>
          <a:stretch>
            <a:fillRect/>
          </a:stretch>
        </p:blipFill>
        <p:spPr>
          <a:xfrm>
            <a:off x="771525" y="2481133"/>
            <a:ext cx="10582275" cy="3257550"/>
          </a:xfrm>
          <a:prstGeom prst="rect">
            <a:avLst/>
          </a:prstGeom>
        </p:spPr>
      </p:pic>
    </p:spTree>
    <p:extLst>
      <p:ext uri="{BB962C8B-B14F-4D97-AF65-F5344CB8AC3E}">
        <p14:creationId xmlns:p14="http://schemas.microsoft.com/office/powerpoint/2010/main" val="39748934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Exclusion</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p:txBody>
          <a:bodyPr/>
          <a:lstStyle/>
          <a:p>
            <a:r>
              <a:rPr lang="en-US" dirty="0"/>
              <a:t>We can use ^ to exclude terms by incorporating it into the bracket syntax notation. </a:t>
            </a:r>
          </a:p>
          <a:p>
            <a:r>
              <a:rPr lang="en-US" dirty="0"/>
              <a:t>Use [^!.? ] to check for matches that are not a !,.,?, or space. Add the + to check that the match appears at least once, this basically translates to finding the words.</a:t>
            </a:r>
          </a:p>
          <a:p>
            <a:endParaRPr lang="en-US" dirty="0"/>
          </a:p>
        </p:txBody>
      </p:sp>
      <p:pic>
        <p:nvPicPr>
          <p:cNvPr id="5" name="Picture 4">
            <a:extLst>
              <a:ext uri="{FF2B5EF4-FFF2-40B4-BE49-F238E27FC236}">
                <a16:creationId xmlns:a16="http://schemas.microsoft.com/office/drawing/2014/main" id="{36C0BB92-3864-4597-8AC8-1CCABD82D143}"/>
              </a:ext>
            </a:extLst>
          </p:cNvPr>
          <p:cNvPicPr>
            <a:picLocks noChangeAspect="1"/>
          </p:cNvPicPr>
          <p:nvPr/>
        </p:nvPicPr>
        <p:blipFill>
          <a:blip r:embed="rId2"/>
          <a:stretch>
            <a:fillRect/>
          </a:stretch>
        </p:blipFill>
        <p:spPr>
          <a:xfrm>
            <a:off x="781050" y="4161838"/>
            <a:ext cx="10629900" cy="1590675"/>
          </a:xfrm>
          <a:prstGeom prst="rect">
            <a:avLst/>
          </a:prstGeom>
        </p:spPr>
      </p:pic>
    </p:spTree>
    <p:extLst>
      <p:ext uri="{BB962C8B-B14F-4D97-AF65-F5344CB8AC3E}">
        <p14:creationId xmlns:p14="http://schemas.microsoft.com/office/powerpoint/2010/main" val="32779052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Character Ranges</a:t>
            </a:r>
            <a:endParaRPr lang="en-US" dirty="0"/>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a:xfrm>
            <a:off x="375781" y="1825625"/>
            <a:ext cx="3269293" cy="4351338"/>
          </a:xfrm>
        </p:spPr>
        <p:txBody>
          <a:bodyPr>
            <a:normAutofit fontScale="70000" lnSpcReduction="20000"/>
          </a:bodyPr>
          <a:lstStyle/>
          <a:p>
            <a:r>
              <a:rPr lang="en-US" dirty="0"/>
              <a:t>As character sets grow larger, typing every character that should (or should not) match could become very tedious. A more compact format using character ranges lets you define a character set to include all of the contiguous characters between a start and stop point. The format used is [start-end].</a:t>
            </a:r>
          </a:p>
          <a:p>
            <a:r>
              <a:rPr lang="en-US" dirty="0"/>
              <a:t>Common use cases are to search for a specific range of letters in the alphabet, such [a-f] would return matches with any instance of letters between a and f.</a:t>
            </a:r>
          </a:p>
          <a:p>
            <a:endParaRPr lang="en-US" dirty="0"/>
          </a:p>
        </p:txBody>
      </p:sp>
      <p:pic>
        <p:nvPicPr>
          <p:cNvPr id="4" name="Picture 3">
            <a:extLst>
              <a:ext uri="{FF2B5EF4-FFF2-40B4-BE49-F238E27FC236}">
                <a16:creationId xmlns:a16="http://schemas.microsoft.com/office/drawing/2014/main" id="{DC312D84-2261-4081-9226-7D4BFDD70B62}"/>
              </a:ext>
            </a:extLst>
          </p:cNvPr>
          <p:cNvPicPr>
            <a:picLocks noChangeAspect="1"/>
          </p:cNvPicPr>
          <p:nvPr/>
        </p:nvPicPr>
        <p:blipFill>
          <a:blip r:embed="rId2"/>
          <a:stretch>
            <a:fillRect/>
          </a:stretch>
        </p:blipFill>
        <p:spPr>
          <a:xfrm>
            <a:off x="3758638" y="2041742"/>
            <a:ext cx="8433362" cy="3744750"/>
          </a:xfrm>
          <a:prstGeom prst="rect">
            <a:avLst/>
          </a:prstGeom>
        </p:spPr>
      </p:pic>
    </p:spTree>
    <p:extLst>
      <p:ext uri="{BB962C8B-B14F-4D97-AF65-F5344CB8AC3E}">
        <p14:creationId xmlns:p14="http://schemas.microsoft.com/office/powerpoint/2010/main" val="39298008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b="1" dirty="0"/>
              <a:t>Escape Codes</a:t>
            </a:r>
            <a:endParaRPr lang="en-US" dirty="0"/>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a:xfrm>
            <a:off x="838200" y="1825625"/>
            <a:ext cx="5537548" cy="4351338"/>
          </a:xfrm>
        </p:spPr>
        <p:txBody>
          <a:bodyPr>
            <a:normAutofit fontScale="92500"/>
          </a:bodyPr>
          <a:lstStyle/>
          <a:p>
            <a:r>
              <a:rPr lang="en-US" dirty="0"/>
              <a:t>Escapes are indicated by prefixing the character with a backslash (\).</a:t>
            </a:r>
          </a:p>
          <a:p>
            <a:r>
              <a:rPr lang="en-US" dirty="0"/>
              <a:t>Unfortunately, a backslash must itself be escaped in normal Python strings, and that results in expressions that are difficult to read. </a:t>
            </a:r>
          </a:p>
          <a:p>
            <a:r>
              <a:rPr lang="en-US" dirty="0"/>
              <a:t>Using raw strings, created by prefixing the literal value with r, for creating regular expressions eliminates this problem and maintains readability.</a:t>
            </a:r>
          </a:p>
        </p:txBody>
      </p:sp>
      <p:pic>
        <p:nvPicPr>
          <p:cNvPr id="4" name="Picture 3">
            <a:extLst>
              <a:ext uri="{FF2B5EF4-FFF2-40B4-BE49-F238E27FC236}">
                <a16:creationId xmlns:a16="http://schemas.microsoft.com/office/drawing/2014/main" id="{E7D7A931-9136-4882-8BAF-90EE6D9E7D97}"/>
              </a:ext>
            </a:extLst>
          </p:cNvPr>
          <p:cNvPicPr>
            <a:picLocks noChangeAspect="1"/>
          </p:cNvPicPr>
          <p:nvPr/>
        </p:nvPicPr>
        <p:blipFill>
          <a:blip r:embed="rId2"/>
          <a:stretch>
            <a:fillRect/>
          </a:stretch>
        </p:blipFill>
        <p:spPr>
          <a:xfrm>
            <a:off x="6675524" y="2229764"/>
            <a:ext cx="5229225" cy="2962275"/>
          </a:xfrm>
          <a:prstGeom prst="rect">
            <a:avLst/>
          </a:prstGeom>
        </p:spPr>
      </p:pic>
    </p:spTree>
    <p:extLst>
      <p:ext uri="{BB962C8B-B14F-4D97-AF65-F5344CB8AC3E}">
        <p14:creationId xmlns:p14="http://schemas.microsoft.com/office/powerpoint/2010/main" val="128462051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dirty="0"/>
              <a:t>Escape Codes</a:t>
            </a:r>
          </a:p>
        </p:txBody>
      </p:sp>
      <p:pic>
        <p:nvPicPr>
          <p:cNvPr id="4" name="Content Placeholder 3">
            <a:extLst>
              <a:ext uri="{FF2B5EF4-FFF2-40B4-BE49-F238E27FC236}">
                <a16:creationId xmlns:a16="http://schemas.microsoft.com/office/drawing/2014/main" id="{E4502BAB-8564-487E-8F26-4E00E3F5C37D}"/>
              </a:ext>
            </a:extLst>
          </p:cNvPr>
          <p:cNvPicPr>
            <a:picLocks noGrp="1" noChangeAspect="1"/>
          </p:cNvPicPr>
          <p:nvPr>
            <p:ph idx="1"/>
          </p:nvPr>
        </p:nvPicPr>
        <p:blipFill>
          <a:blip r:embed="rId2"/>
          <a:stretch>
            <a:fillRect/>
          </a:stretch>
        </p:blipFill>
        <p:spPr>
          <a:xfrm>
            <a:off x="643002" y="1300989"/>
            <a:ext cx="10905996" cy="5400610"/>
          </a:xfrm>
          <a:prstGeom prst="rect">
            <a:avLst/>
          </a:prstGeom>
        </p:spPr>
      </p:pic>
    </p:spTree>
    <p:extLst>
      <p:ext uri="{BB962C8B-B14F-4D97-AF65-F5344CB8AC3E}">
        <p14:creationId xmlns:p14="http://schemas.microsoft.com/office/powerpoint/2010/main" val="65474065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Substitution</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a:xfrm>
            <a:off x="838199" y="1325563"/>
            <a:ext cx="10515600" cy="4351338"/>
          </a:xfrm>
        </p:spPr>
        <p:txBody>
          <a:bodyPr/>
          <a:lstStyle/>
          <a:p>
            <a:r>
              <a:rPr lang="en-US" dirty="0" err="1"/>
              <a:t>re.sub</a:t>
            </a:r>
            <a:r>
              <a:rPr lang="en-US" dirty="0"/>
              <a:t>(pattern, </a:t>
            </a:r>
            <a:r>
              <a:rPr lang="en-US" dirty="0" err="1"/>
              <a:t>repl</a:t>
            </a:r>
            <a:r>
              <a:rPr lang="en-US" dirty="0"/>
              <a:t>, string, max=0)</a:t>
            </a:r>
          </a:p>
          <a:p>
            <a:pPr lvl="1"/>
            <a:r>
              <a:rPr lang="en-US" dirty="0"/>
              <a:t>This method replaces all occurrences of the RE pattern in string with </a:t>
            </a:r>
            <a:r>
              <a:rPr lang="en-US" dirty="0" err="1"/>
              <a:t>repl</a:t>
            </a:r>
            <a:r>
              <a:rPr lang="en-US" dirty="0"/>
              <a:t>, substituting all occurrences unless max provided. This method returns modified string</a:t>
            </a:r>
          </a:p>
        </p:txBody>
      </p:sp>
      <p:pic>
        <p:nvPicPr>
          <p:cNvPr id="5" name="Picture 4">
            <a:extLst>
              <a:ext uri="{FF2B5EF4-FFF2-40B4-BE49-F238E27FC236}">
                <a16:creationId xmlns:a16="http://schemas.microsoft.com/office/drawing/2014/main" id="{C7A1D3FE-3006-4A7B-AF37-DF5DB0CC9C5F}"/>
              </a:ext>
            </a:extLst>
          </p:cNvPr>
          <p:cNvPicPr>
            <a:picLocks noChangeAspect="1"/>
          </p:cNvPicPr>
          <p:nvPr/>
        </p:nvPicPr>
        <p:blipFill>
          <a:blip r:embed="rId2"/>
          <a:stretch>
            <a:fillRect/>
          </a:stretch>
        </p:blipFill>
        <p:spPr>
          <a:xfrm>
            <a:off x="2767012" y="2948770"/>
            <a:ext cx="6657975" cy="3590925"/>
          </a:xfrm>
          <a:prstGeom prst="rect">
            <a:avLst/>
          </a:prstGeom>
        </p:spPr>
      </p:pic>
    </p:spTree>
    <p:extLst>
      <p:ext uri="{BB962C8B-B14F-4D97-AF65-F5344CB8AC3E}">
        <p14:creationId xmlns:p14="http://schemas.microsoft.com/office/powerpoint/2010/main" val="312737996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dirty="0"/>
              <a:t>Greedy vs non-greedy matching</a:t>
            </a:r>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p:txBody>
          <a:bodyPr/>
          <a:lstStyle/>
          <a:p>
            <a:r>
              <a:rPr lang="en-US" b="1" dirty="0"/>
              <a:t>&lt;.*&gt;    </a:t>
            </a:r>
            <a:r>
              <a:rPr lang="en-US" dirty="0"/>
              <a:t>Greedy repetition: matches "&lt;python&gt;</a:t>
            </a:r>
            <a:r>
              <a:rPr lang="en-US" dirty="0" err="1"/>
              <a:t>perl</a:t>
            </a:r>
            <a:r>
              <a:rPr lang="en-US" dirty="0"/>
              <a:t>&gt;“</a:t>
            </a:r>
          </a:p>
          <a:p>
            <a:r>
              <a:rPr lang="en-US" b="1" dirty="0"/>
              <a:t>&lt;.*?&gt;  </a:t>
            </a:r>
            <a:r>
              <a:rPr lang="en-US" dirty="0"/>
              <a:t>Nongreedy: matches "&lt;python&gt;" in "&lt;python&gt;</a:t>
            </a:r>
            <a:r>
              <a:rPr lang="en-US" dirty="0" err="1"/>
              <a:t>perl</a:t>
            </a:r>
            <a:r>
              <a:rPr lang="en-US" dirty="0"/>
              <a:t>&gt;“</a:t>
            </a:r>
          </a:p>
          <a:p>
            <a:endParaRPr lang="en-US" dirty="0"/>
          </a:p>
          <a:p>
            <a:endParaRPr lang="en-US" dirty="0"/>
          </a:p>
          <a:p>
            <a:endParaRPr lang="en-US" dirty="0"/>
          </a:p>
          <a:p>
            <a:r>
              <a:rPr lang="en-US" dirty="0"/>
              <a:t>R(?i)</a:t>
            </a:r>
            <a:r>
              <a:rPr lang="en-US" dirty="0" err="1"/>
              <a:t>uby</a:t>
            </a:r>
            <a:r>
              <a:rPr lang="en-US" dirty="0"/>
              <a:t> Case-insensitive while matching "</a:t>
            </a:r>
            <a:r>
              <a:rPr lang="en-US" dirty="0" err="1"/>
              <a:t>uby</a:t>
            </a:r>
            <a:r>
              <a:rPr lang="en-US" dirty="0"/>
              <a:t>“</a:t>
            </a:r>
          </a:p>
          <a:p>
            <a:r>
              <a:rPr lang="en-US" dirty="0"/>
              <a:t>R(?</a:t>
            </a:r>
            <a:r>
              <a:rPr lang="en-US" dirty="0" err="1"/>
              <a:t>i:uby</a:t>
            </a:r>
            <a:r>
              <a:rPr lang="en-US" dirty="0"/>
              <a:t>) Same as above</a:t>
            </a:r>
          </a:p>
          <a:p>
            <a:r>
              <a:rPr lang="en-US" dirty="0"/>
              <a:t>rub(?:</a:t>
            </a:r>
            <a:r>
              <a:rPr lang="en-US" dirty="0" err="1"/>
              <a:t>y|le</a:t>
            </a:r>
            <a:r>
              <a:rPr lang="en-US" dirty="0"/>
              <a:t>) Group only without creating \1 backreference</a:t>
            </a:r>
          </a:p>
        </p:txBody>
      </p:sp>
      <p:sp>
        <p:nvSpPr>
          <p:cNvPr id="4" name="Title 1">
            <a:extLst>
              <a:ext uri="{FF2B5EF4-FFF2-40B4-BE49-F238E27FC236}">
                <a16:creationId xmlns:a16="http://schemas.microsoft.com/office/drawing/2014/main" id="{08B52C7F-1D56-4E62-BA35-0D8884CA6717}"/>
              </a:ext>
            </a:extLst>
          </p:cNvPr>
          <p:cNvSpPr txBox="1">
            <a:spLocks/>
          </p:cNvSpPr>
          <p:nvPr/>
        </p:nvSpPr>
        <p:spPr>
          <a:xfrm>
            <a:off x="0" y="2870548"/>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Special Syntax with Parentheses</a:t>
            </a:r>
          </a:p>
        </p:txBody>
      </p:sp>
    </p:spTree>
    <p:extLst>
      <p:ext uri="{BB962C8B-B14F-4D97-AF65-F5344CB8AC3E}">
        <p14:creationId xmlns:p14="http://schemas.microsoft.com/office/powerpoint/2010/main" val="347974363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57117A-1D9F-4839-B3A3-924251D8526A}"/>
              </a:ext>
            </a:extLst>
          </p:cNvPr>
          <p:cNvSpPr>
            <a:spLocks noGrp="1"/>
          </p:cNvSpPr>
          <p:nvPr>
            <p:ph type="title"/>
          </p:nvPr>
        </p:nvSpPr>
        <p:spPr/>
        <p:txBody>
          <a:bodyPr/>
          <a:lstStyle/>
          <a:p>
            <a:r>
              <a:rPr lang="en-US" dirty="0"/>
              <a:t>Backreferences</a:t>
            </a:r>
          </a:p>
        </p:txBody>
      </p:sp>
      <p:sp>
        <p:nvSpPr>
          <p:cNvPr id="3" name="Content Placeholder 2">
            <a:extLst>
              <a:ext uri="{FF2B5EF4-FFF2-40B4-BE49-F238E27FC236}">
                <a16:creationId xmlns:a16="http://schemas.microsoft.com/office/drawing/2014/main" id="{5AAF13CA-1F9A-4845-942F-74F66D78C41F}"/>
              </a:ext>
            </a:extLst>
          </p:cNvPr>
          <p:cNvSpPr>
            <a:spLocks noGrp="1"/>
          </p:cNvSpPr>
          <p:nvPr>
            <p:ph idx="1"/>
          </p:nvPr>
        </p:nvSpPr>
        <p:spPr/>
        <p:txBody>
          <a:bodyPr/>
          <a:lstStyle/>
          <a:p>
            <a:r>
              <a:rPr lang="en-US" dirty="0"/>
              <a:t>This matches a previously matched group again −</a:t>
            </a:r>
          </a:p>
          <a:p>
            <a:pPr lvl="1"/>
            <a:r>
              <a:rPr lang="en-US" b="1" dirty="0"/>
              <a:t>([Pp])</a:t>
            </a:r>
            <a:r>
              <a:rPr lang="en-US" b="1" dirty="0" err="1"/>
              <a:t>ython</a:t>
            </a:r>
            <a:r>
              <a:rPr lang="en-US" b="1" dirty="0"/>
              <a:t>&amp;\1ails </a:t>
            </a:r>
            <a:r>
              <a:rPr lang="en-US" dirty="0"/>
              <a:t>Match </a:t>
            </a:r>
            <a:r>
              <a:rPr lang="en-US" dirty="0" err="1"/>
              <a:t>python&amp;pails</a:t>
            </a:r>
            <a:r>
              <a:rPr lang="en-US" dirty="0"/>
              <a:t> or </a:t>
            </a:r>
            <a:r>
              <a:rPr lang="en-US" dirty="0" err="1"/>
              <a:t>Python&amp;Pails</a:t>
            </a:r>
            <a:endParaRPr lang="en-US" dirty="0"/>
          </a:p>
          <a:p>
            <a:pPr lvl="1"/>
            <a:r>
              <a:rPr lang="en-US" b="1" dirty="0"/>
              <a:t>([‘”])([a-z])[^\1]*\2 </a:t>
            </a:r>
            <a:r>
              <a:rPr lang="en-US" dirty="0"/>
              <a:t>Single or double-quoted string. \1 matches whatever the 1st group matched. \2 matches whatever the 2nd group matched, etc.</a:t>
            </a:r>
          </a:p>
          <a:p>
            <a:pPr lvl="1"/>
            <a:endParaRPr lang="en-US" dirty="0"/>
          </a:p>
          <a:p>
            <a:pPr lvl="1"/>
            <a:endParaRPr lang="en-US" dirty="0"/>
          </a:p>
          <a:p>
            <a:pPr lvl="1"/>
            <a:endParaRPr lang="en-US" dirty="0"/>
          </a:p>
          <a:p>
            <a:r>
              <a:rPr lang="en-US" dirty="0"/>
              <a:t>Python(?=!) Match "Python", if followed by an exclamation point.</a:t>
            </a:r>
          </a:p>
          <a:p>
            <a:r>
              <a:rPr lang="en-US" dirty="0"/>
              <a:t>Python(?!!) Match "Python", if not followed by an exclamation point.</a:t>
            </a:r>
          </a:p>
        </p:txBody>
      </p:sp>
      <p:sp>
        <p:nvSpPr>
          <p:cNvPr id="4" name="Title 1">
            <a:extLst>
              <a:ext uri="{FF2B5EF4-FFF2-40B4-BE49-F238E27FC236}">
                <a16:creationId xmlns:a16="http://schemas.microsoft.com/office/drawing/2014/main" id="{1B34999A-7153-4E51-BE81-46C977E173D9}"/>
              </a:ext>
            </a:extLst>
          </p:cNvPr>
          <p:cNvSpPr txBox="1">
            <a:spLocks/>
          </p:cNvSpPr>
          <p:nvPr/>
        </p:nvSpPr>
        <p:spPr>
          <a:xfrm>
            <a:off x="0" y="3429000"/>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Anchors</a:t>
            </a:r>
          </a:p>
        </p:txBody>
      </p:sp>
    </p:spTree>
    <p:extLst>
      <p:ext uri="{BB962C8B-B14F-4D97-AF65-F5344CB8AC3E}">
        <p14:creationId xmlns:p14="http://schemas.microsoft.com/office/powerpoint/2010/main" val="38303699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dirty="0"/>
              <a:t>Regex patterns</a:t>
            </a:r>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p:txBody>
          <a:bodyPr>
            <a:normAutofit fontScale="62500" lnSpcReduction="20000"/>
          </a:bodyPr>
          <a:lstStyle/>
          <a:p>
            <a:r>
              <a:rPr lang="en-US" dirty="0"/>
              <a:t>^ Matches beginning of line.</a:t>
            </a:r>
          </a:p>
          <a:p>
            <a:r>
              <a:rPr lang="en-US" dirty="0"/>
              <a:t>$ Matches end of line.</a:t>
            </a:r>
          </a:p>
          <a:p>
            <a:r>
              <a:rPr lang="en-US" dirty="0"/>
              <a:t>. Matches any single character except newline. Using m option allows it to match newline as well.</a:t>
            </a:r>
          </a:p>
          <a:p>
            <a:r>
              <a:rPr lang="en-US" dirty="0"/>
              <a:t>[...] Matches any single character in brackets.</a:t>
            </a:r>
          </a:p>
          <a:p>
            <a:r>
              <a:rPr lang="en-US" dirty="0"/>
              <a:t>[^...] Matches any single character not in brackets</a:t>
            </a:r>
          </a:p>
          <a:p>
            <a:r>
              <a:rPr lang="en-US" dirty="0"/>
              <a:t>a| b Matches either a or b.</a:t>
            </a:r>
          </a:p>
          <a:p>
            <a:r>
              <a:rPr lang="en-US" dirty="0"/>
              <a:t>(re) Groups regular expressions and remembers matched text.</a:t>
            </a:r>
          </a:p>
          <a:p>
            <a:r>
              <a:rPr lang="en-US" dirty="0"/>
              <a:t>(?: re) Groups regular expressions without remembering matched text.</a:t>
            </a:r>
          </a:p>
          <a:p>
            <a:r>
              <a:rPr lang="en-US" dirty="0"/>
              <a:t>(?</a:t>
            </a:r>
            <a:r>
              <a:rPr lang="en-US" dirty="0" err="1"/>
              <a:t>imx</a:t>
            </a:r>
            <a:r>
              <a:rPr lang="en-US" dirty="0"/>
              <a:t>: re) Temporarily toggles on i, m, or x options within parentheses.</a:t>
            </a:r>
          </a:p>
          <a:p>
            <a:r>
              <a:rPr lang="en-US" dirty="0"/>
              <a:t>(?-</a:t>
            </a:r>
            <a:r>
              <a:rPr lang="en-US" dirty="0" err="1"/>
              <a:t>imx</a:t>
            </a:r>
            <a:r>
              <a:rPr lang="en-US" dirty="0"/>
              <a:t>: re) Temporarily toggles off i, m, or x options within parentheses.</a:t>
            </a:r>
          </a:p>
          <a:p>
            <a:r>
              <a:rPr lang="en-US" dirty="0"/>
              <a:t>(?</a:t>
            </a:r>
            <a:r>
              <a:rPr lang="en-US" dirty="0" err="1"/>
              <a:t>imx</a:t>
            </a:r>
            <a:r>
              <a:rPr lang="en-US" dirty="0"/>
              <a:t>) Temporarily toggles on i, m, or x options within a regular expression. If in parentheses, only that area is affected.</a:t>
            </a:r>
          </a:p>
          <a:p>
            <a:r>
              <a:rPr lang="en-US" dirty="0"/>
              <a:t>(?-</a:t>
            </a:r>
            <a:r>
              <a:rPr lang="en-US" dirty="0" err="1"/>
              <a:t>imx</a:t>
            </a:r>
            <a:r>
              <a:rPr lang="en-US" dirty="0"/>
              <a:t>) Temporarily toggles off i, m, or x options within a regular expression. If in parentheses, only that area is affected.</a:t>
            </a:r>
          </a:p>
        </p:txBody>
      </p:sp>
    </p:spTree>
    <p:extLst>
      <p:ext uri="{BB962C8B-B14F-4D97-AF65-F5344CB8AC3E}">
        <p14:creationId xmlns:p14="http://schemas.microsoft.com/office/powerpoint/2010/main" val="41677162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dirty="0"/>
              <a:t>Regex patterns</a:t>
            </a:r>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p:txBody>
          <a:bodyPr>
            <a:normAutofit fontScale="62500" lnSpcReduction="20000"/>
          </a:bodyPr>
          <a:lstStyle/>
          <a:p>
            <a:r>
              <a:rPr lang="en-US" dirty="0"/>
              <a:t>(?= re) Specifies position using a pattern. Doesn't have a range.</a:t>
            </a:r>
          </a:p>
          <a:p>
            <a:r>
              <a:rPr lang="en-US" dirty="0"/>
              <a:t>(?! re) Specifies position using pattern negation. Doesn't have a range.</a:t>
            </a:r>
          </a:p>
          <a:p>
            <a:r>
              <a:rPr lang="en-US" dirty="0"/>
              <a:t>(?&gt; re) Matches independent pattern without backtracking.</a:t>
            </a:r>
          </a:p>
          <a:p>
            <a:r>
              <a:rPr lang="en-US" dirty="0"/>
              <a:t>\A Matches beginning of string.</a:t>
            </a:r>
          </a:p>
          <a:p>
            <a:r>
              <a:rPr lang="en-US" dirty="0"/>
              <a:t>\Z Matches end of string. If a newline exists, it matches just before newline.</a:t>
            </a:r>
          </a:p>
          <a:p>
            <a:r>
              <a:rPr lang="en-US" dirty="0"/>
              <a:t>\z Matches end of string.</a:t>
            </a:r>
          </a:p>
          <a:p>
            <a:r>
              <a:rPr lang="en-US" dirty="0"/>
              <a:t>\G Matches point where last match finished.</a:t>
            </a:r>
          </a:p>
          <a:p>
            <a:r>
              <a:rPr lang="en-US" dirty="0"/>
              <a:t>\b Matches word boundaries when outside brackets. Matches backspace (0x08) when inside brackets.</a:t>
            </a:r>
          </a:p>
          <a:p>
            <a:r>
              <a:rPr lang="en-US" dirty="0"/>
              <a:t>\B Matches nonword boundaries.</a:t>
            </a:r>
          </a:p>
          <a:p>
            <a:r>
              <a:rPr lang="en-US" dirty="0"/>
              <a:t>\n, \t, etc. Matches newlines, carriage returns, tabs, etc.</a:t>
            </a:r>
          </a:p>
          <a:p>
            <a:r>
              <a:rPr lang="en-US" dirty="0"/>
              <a:t>\1...\9 Matches nth grouped subexpression.</a:t>
            </a:r>
          </a:p>
          <a:p>
            <a:r>
              <a:rPr lang="en-US" dirty="0"/>
              <a:t>\10 Matches nth grouped subexpression if it matched already. Otherwise refers to the octal representation of a character code.</a:t>
            </a:r>
          </a:p>
          <a:p>
            <a:r>
              <a:rPr lang="en-US" dirty="0"/>
              <a:t>(?#...) Comment.</a:t>
            </a:r>
          </a:p>
          <a:p>
            <a:endParaRPr lang="en-US" dirty="0"/>
          </a:p>
        </p:txBody>
      </p:sp>
    </p:spTree>
    <p:extLst>
      <p:ext uri="{BB962C8B-B14F-4D97-AF65-F5344CB8AC3E}">
        <p14:creationId xmlns:p14="http://schemas.microsoft.com/office/powerpoint/2010/main" val="199899026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dirty="0"/>
              <a:t>Capturing parts of the pattern match</a:t>
            </a:r>
          </a:p>
        </p:txBody>
      </p:sp>
      <p:pic>
        <p:nvPicPr>
          <p:cNvPr id="4" name="Content Placeholder 3">
            <a:extLst>
              <a:ext uri="{FF2B5EF4-FFF2-40B4-BE49-F238E27FC236}">
                <a16:creationId xmlns:a16="http://schemas.microsoft.com/office/drawing/2014/main" id="{4A5FDD13-8832-4D45-B9D5-F773B03576E3}"/>
              </a:ext>
            </a:extLst>
          </p:cNvPr>
          <p:cNvPicPr>
            <a:picLocks noGrp="1" noChangeAspect="1"/>
          </p:cNvPicPr>
          <p:nvPr>
            <p:ph idx="1"/>
          </p:nvPr>
        </p:nvPicPr>
        <p:blipFill>
          <a:blip r:embed="rId2"/>
          <a:stretch>
            <a:fillRect/>
          </a:stretch>
        </p:blipFill>
        <p:spPr>
          <a:xfrm>
            <a:off x="1999513" y="1825625"/>
            <a:ext cx="9411698" cy="4998610"/>
          </a:xfrm>
          <a:prstGeom prst="rect">
            <a:avLst/>
          </a:prstGeom>
        </p:spPr>
      </p:pic>
      <p:pic>
        <p:nvPicPr>
          <p:cNvPr id="6" name="Picture 5">
            <a:extLst>
              <a:ext uri="{FF2B5EF4-FFF2-40B4-BE49-F238E27FC236}">
                <a16:creationId xmlns:a16="http://schemas.microsoft.com/office/drawing/2014/main" id="{67B9102C-D0A8-46E6-980B-7629576121A5}"/>
              </a:ext>
            </a:extLst>
          </p:cNvPr>
          <p:cNvPicPr>
            <a:picLocks noChangeAspect="1"/>
          </p:cNvPicPr>
          <p:nvPr/>
        </p:nvPicPr>
        <p:blipFill rotWithShape="1">
          <a:blip r:embed="rId3"/>
          <a:srcRect t="1377" r="6708"/>
          <a:stretch/>
        </p:blipFill>
        <p:spPr>
          <a:xfrm>
            <a:off x="1999513" y="1127343"/>
            <a:ext cx="9411698" cy="701428"/>
          </a:xfrm>
          <a:prstGeom prst="rect">
            <a:avLst/>
          </a:prstGeom>
        </p:spPr>
      </p:pic>
    </p:spTree>
    <p:extLst>
      <p:ext uri="{BB962C8B-B14F-4D97-AF65-F5344CB8AC3E}">
        <p14:creationId xmlns:p14="http://schemas.microsoft.com/office/powerpoint/2010/main" val="336376777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Greedy and lazy matching</a:t>
            </a:r>
          </a:p>
        </p:txBody>
      </p:sp>
      <p:pic>
        <p:nvPicPr>
          <p:cNvPr id="4" name="Content Placeholder 3">
            <a:extLst>
              <a:ext uri="{FF2B5EF4-FFF2-40B4-BE49-F238E27FC236}">
                <a16:creationId xmlns:a16="http://schemas.microsoft.com/office/drawing/2014/main" id="{2CE1A368-3324-4121-84FF-25351C4027ED}"/>
              </a:ext>
            </a:extLst>
          </p:cNvPr>
          <p:cNvPicPr>
            <a:picLocks noGrp="1" noChangeAspect="1"/>
          </p:cNvPicPr>
          <p:nvPr>
            <p:ph idx="1"/>
          </p:nvPr>
        </p:nvPicPr>
        <p:blipFill>
          <a:blip r:embed="rId2"/>
          <a:stretch>
            <a:fillRect/>
          </a:stretch>
        </p:blipFill>
        <p:spPr>
          <a:xfrm>
            <a:off x="179930" y="1325563"/>
            <a:ext cx="7974514" cy="3402615"/>
          </a:xfrm>
          <a:prstGeom prst="rect">
            <a:avLst/>
          </a:prstGeom>
        </p:spPr>
      </p:pic>
      <p:pic>
        <p:nvPicPr>
          <p:cNvPr id="5" name="Picture 4">
            <a:extLst>
              <a:ext uri="{FF2B5EF4-FFF2-40B4-BE49-F238E27FC236}">
                <a16:creationId xmlns:a16="http://schemas.microsoft.com/office/drawing/2014/main" id="{5E4123FD-73CA-465D-B4E9-7D653C6EF253}"/>
              </a:ext>
            </a:extLst>
          </p:cNvPr>
          <p:cNvPicPr>
            <a:picLocks noChangeAspect="1"/>
          </p:cNvPicPr>
          <p:nvPr/>
        </p:nvPicPr>
        <p:blipFill>
          <a:blip r:embed="rId3"/>
          <a:stretch>
            <a:fillRect/>
          </a:stretch>
        </p:blipFill>
        <p:spPr>
          <a:xfrm>
            <a:off x="4494231" y="3530600"/>
            <a:ext cx="7374009" cy="2970408"/>
          </a:xfrm>
          <a:prstGeom prst="rect">
            <a:avLst/>
          </a:prstGeom>
        </p:spPr>
      </p:pic>
    </p:spTree>
    <p:extLst>
      <p:ext uri="{BB962C8B-B14F-4D97-AF65-F5344CB8AC3E}">
        <p14:creationId xmlns:p14="http://schemas.microsoft.com/office/powerpoint/2010/main" val="18663574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Capturing in the pattern for split</a:t>
            </a:r>
            <a:br>
              <a:rPr lang="en-US" b="1" dirty="0"/>
            </a:br>
            <a:endParaRPr lang="en-US" dirty="0"/>
          </a:p>
        </p:txBody>
      </p:sp>
      <p:pic>
        <p:nvPicPr>
          <p:cNvPr id="4" name="Content Placeholder 3">
            <a:extLst>
              <a:ext uri="{FF2B5EF4-FFF2-40B4-BE49-F238E27FC236}">
                <a16:creationId xmlns:a16="http://schemas.microsoft.com/office/drawing/2014/main" id="{D066A6E7-681A-4D50-B10E-A75957B73CB7}"/>
              </a:ext>
            </a:extLst>
          </p:cNvPr>
          <p:cNvPicPr>
            <a:picLocks noGrp="1" noChangeAspect="1"/>
          </p:cNvPicPr>
          <p:nvPr>
            <p:ph idx="1"/>
          </p:nvPr>
        </p:nvPicPr>
        <p:blipFill>
          <a:blip r:embed="rId2"/>
          <a:stretch>
            <a:fillRect/>
          </a:stretch>
        </p:blipFill>
        <p:spPr>
          <a:xfrm>
            <a:off x="125870" y="890338"/>
            <a:ext cx="10515600" cy="3820274"/>
          </a:xfrm>
          <a:prstGeom prst="rect">
            <a:avLst/>
          </a:prstGeom>
        </p:spPr>
      </p:pic>
      <p:pic>
        <p:nvPicPr>
          <p:cNvPr id="3" name="Picture 2">
            <a:extLst>
              <a:ext uri="{FF2B5EF4-FFF2-40B4-BE49-F238E27FC236}">
                <a16:creationId xmlns:a16="http://schemas.microsoft.com/office/drawing/2014/main" id="{622096EA-EAAE-4EE4-AAB2-1AACA2194ED7}"/>
              </a:ext>
            </a:extLst>
          </p:cNvPr>
          <p:cNvPicPr>
            <a:picLocks noChangeAspect="1"/>
          </p:cNvPicPr>
          <p:nvPr/>
        </p:nvPicPr>
        <p:blipFill>
          <a:blip r:embed="rId3"/>
          <a:stretch>
            <a:fillRect/>
          </a:stretch>
        </p:blipFill>
        <p:spPr>
          <a:xfrm>
            <a:off x="7141139" y="2800475"/>
            <a:ext cx="2328537" cy="4052111"/>
          </a:xfrm>
          <a:prstGeom prst="rect">
            <a:avLst/>
          </a:prstGeom>
        </p:spPr>
      </p:pic>
    </p:spTree>
    <p:extLst>
      <p:ext uri="{BB962C8B-B14F-4D97-AF65-F5344CB8AC3E}">
        <p14:creationId xmlns:p14="http://schemas.microsoft.com/office/powerpoint/2010/main" val="8014129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b="1" dirty="0"/>
              <a:t>split and zero-width assertions</a:t>
            </a:r>
            <a:endParaRPr lang="en-US" dirty="0"/>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a:xfrm>
            <a:off x="838200" y="1325563"/>
            <a:ext cx="8473184" cy="4110733"/>
          </a:xfrm>
        </p:spPr>
        <p:txBody>
          <a:bodyPr>
            <a:normAutofit fontScale="85000" lnSpcReduction="10000"/>
          </a:bodyPr>
          <a:lstStyle/>
          <a:p>
            <a:r>
              <a:rPr lang="en-US" dirty="0"/>
              <a:t>We want to split on word boundaries. </a:t>
            </a:r>
            <a:r>
              <a:rPr lang="en-US" b="1" dirty="0"/>
              <a:t>\b</a:t>
            </a:r>
            <a:r>
              <a:rPr lang="en-US" dirty="0"/>
              <a:t> is a zero-width assertion. It requires that certain characters be present, but it doesn't "consume" them.</a:t>
            </a:r>
          </a:p>
          <a:p>
            <a:endParaRPr lang="en-US" dirty="0"/>
          </a:p>
          <a:p>
            <a:endParaRPr lang="en-US" dirty="0"/>
          </a:p>
          <a:p>
            <a:endParaRPr lang="en-US" dirty="0"/>
          </a:p>
          <a:p>
            <a:endParaRPr lang="en-US" dirty="0"/>
          </a:p>
          <a:p>
            <a:r>
              <a:rPr lang="en-US" dirty="0"/>
              <a:t>The new </a:t>
            </a:r>
            <a:r>
              <a:rPr lang="en-US" b="1" dirty="0"/>
              <a:t>regex</a:t>
            </a:r>
            <a:r>
              <a:rPr lang="en-US" dirty="0"/>
              <a:t> module gets this right. To get the new behavior, we must add the "Version 1" option to the regular expression.</a:t>
            </a:r>
          </a:p>
          <a:p>
            <a:pPr lvl="1"/>
            <a:r>
              <a:rPr lang="en-US" dirty="0"/>
              <a:t>Split(</a:t>
            </a:r>
            <a:r>
              <a:rPr lang="en-US" dirty="0" err="1"/>
              <a:t>r’</a:t>
            </a:r>
            <a:r>
              <a:rPr lang="en-US" dirty="0"/>
              <a:t>(?V1)\</a:t>
            </a:r>
            <a:r>
              <a:rPr lang="en-US" dirty="0" err="1"/>
              <a:t>b’,t</a:t>
            </a:r>
            <a:r>
              <a:rPr lang="en-US" dirty="0"/>
              <a:t>)</a:t>
            </a:r>
          </a:p>
          <a:p>
            <a:r>
              <a:rPr lang="en-US" dirty="0"/>
              <a:t>We can make life a little easier by setting the version globally.</a:t>
            </a:r>
          </a:p>
          <a:p>
            <a:endParaRPr lang="en-US" dirty="0"/>
          </a:p>
        </p:txBody>
      </p:sp>
      <p:pic>
        <p:nvPicPr>
          <p:cNvPr id="5" name="Picture 4">
            <a:extLst>
              <a:ext uri="{FF2B5EF4-FFF2-40B4-BE49-F238E27FC236}">
                <a16:creationId xmlns:a16="http://schemas.microsoft.com/office/drawing/2014/main" id="{816E1885-8230-43B3-95A4-D5DA64C54929}"/>
              </a:ext>
            </a:extLst>
          </p:cNvPr>
          <p:cNvPicPr>
            <a:picLocks noChangeAspect="1"/>
          </p:cNvPicPr>
          <p:nvPr/>
        </p:nvPicPr>
        <p:blipFill>
          <a:blip r:embed="rId2"/>
          <a:stretch>
            <a:fillRect/>
          </a:stretch>
        </p:blipFill>
        <p:spPr>
          <a:xfrm>
            <a:off x="10267596" y="0"/>
            <a:ext cx="1677629" cy="6858000"/>
          </a:xfrm>
          <a:prstGeom prst="rect">
            <a:avLst/>
          </a:prstGeom>
        </p:spPr>
      </p:pic>
      <p:pic>
        <p:nvPicPr>
          <p:cNvPr id="6" name="Picture 5">
            <a:extLst>
              <a:ext uri="{FF2B5EF4-FFF2-40B4-BE49-F238E27FC236}">
                <a16:creationId xmlns:a16="http://schemas.microsoft.com/office/drawing/2014/main" id="{B06CCB82-76B0-4C61-9B76-F6CC4006B8E0}"/>
              </a:ext>
            </a:extLst>
          </p:cNvPr>
          <p:cNvPicPr>
            <a:picLocks noChangeAspect="1"/>
          </p:cNvPicPr>
          <p:nvPr/>
        </p:nvPicPr>
        <p:blipFill>
          <a:blip r:embed="rId3"/>
          <a:stretch>
            <a:fillRect/>
          </a:stretch>
        </p:blipFill>
        <p:spPr>
          <a:xfrm>
            <a:off x="2653388" y="5528370"/>
            <a:ext cx="4461395" cy="1118144"/>
          </a:xfrm>
          <a:prstGeom prst="rect">
            <a:avLst/>
          </a:prstGeom>
        </p:spPr>
      </p:pic>
      <p:pic>
        <p:nvPicPr>
          <p:cNvPr id="7" name="Picture 6">
            <a:extLst>
              <a:ext uri="{FF2B5EF4-FFF2-40B4-BE49-F238E27FC236}">
                <a16:creationId xmlns:a16="http://schemas.microsoft.com/office/drawing/2014/main" id="{96A03967-A887-456A-A9C2-032E3C8D16AC}"/>
              </a:ext>
            </a:extLst>
          </p:cNvPr>
          <p:cNvPicPr>
            <a:picLocks noChangeAspect="1"/>
          </p:cNvPicPr>
          <p:nvPr/>
        </p:nvPicPr>
        <p:blipFill>
          <a:blip r:embed="rId4"/>
          <a:stretch>
            <a:fillRect/>
          </a:stretch>
        </p:blipFill>
        <p:spPr>
          <a:xfrm>
            <a:off x="2204581" y="2291555"/>
            <a:ext cx="5703732" cy="1625951"/>
          </a:xfrm>
          <a:prstGeom prst="rect">
            <a:avLst/>
          </a:prstGeom>
        </p:spPr>
      </p:pic>
    </p:spTree>
    <p:extLst>
      <p:ext uri="{BB962C8B-B14F-4D97-AF65-F5344CB8AC3E}">
        <p14:creationId xmlns:p14="http://schemas.microsoft.com/office/powerpoint/2010/main" val="323538765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b="1" dirty="0"/>
              <a:t>\m</a:t>
            </a:r>
            <a:r>
              <a:rPr lang="en-US" dirty="0"/>
              <a:t> and </a:t>
            </a:r>
            <a:r>
              <a:rPr lang="en-US" b="1" dirty="0"/>
              <a:t>\M</a:t>
            </a:r>
            <a:r>
              <a:rPr lang="en-US" dirty="0"/>
              <a:t> are zero-width assertions that are true at the beginnings and ends of words</a:t>
            </a:r>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BC67F7B1-A10F-46F7-BF0A-6AC451874CEB}"/>
              </a:ext>
            </a:extLst>
          </p:cNvPr>
          <p:cNvPicPr>
            <a:picLocks noChangeAspect="1"/>
          </p:cNvPicPr>
          <p:nvPr/>
        </p:nvPicPr>
        <p:blipFill>
          <a:blip r:embed="rId2"/>
          <a:stretch>
            <a:fillRect/>
          </a:stretch>
        </p:blipFill>
        <p:spPr>
          <a:xfrm>
            <a:off x="3593926" y="1424259"/>
            <a:ext cx="1685925" cy="5229225"/>
          </a:xfrm>
          <a:prstGeom prst="rect">
            <a:avLst/>
          </a:prstGeom>
        </p:spPr>
      </p:pic>
      <p:pic>
        <p:nvPicPr>
          <p:cNvPr id="5" name="Picture 4">
            <a:extLst>
              <a:ext uri="{FF2B5EF4-FFF2-40B4-BE49-F238E27FC236}">
                <a16:creationId xmlns:a16="http://schemas.microsoft.com/office/drawing/2014/main" id="{31B21774-9EAD-462B-BDFA-FCAD807BB8FE}"/>
              </a:ext>
            </a:extLst>
          </p:cNvPr>
          <p:cNvPicPr>
            <a:picLocks noChangeAspect="1"/>
          </p:cNvPicPr>
          <p:nvPr/>
        </p:nvPicPr>
        <p:blipFill>
          <a:blip r:embed="rId3"/>
          <a:stretch>
            <a:fillRect/>
          </a:stretch>
        </p:blipFill>
        <p:spPr>
          <a:xfrm>
            <a:off x="5747554" y="1424259"/>
            <a:ext cx="1724025" cy="5257800"/>
          </a:xfrm>
          <a:prstGeom prst="rect">
            <a:avLst/>
          </a:prstGeom>
        </p:spPr>
      </p:pic>
    </p:spTree>
    <p:extLst>
      <p:ext uri="{BB962C8B-B14F-4D97-AF65-F5344CB8AC3E}">
        <p14:creationId xmlns:p14="http://schemas.microsoft.com/office/powerpoint/2010/main" val="270241029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b="1" dirty="0"/>
              <a:t>Look-arounds</a:t>
            </a:r>
            <a:endParaRPr lang="en-US" dirty="0"/>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a:xfrm>
            <a:off x="838200" y="1825625"/>
            <a:ext cx="5074085" cy="4351338"/>
          </a:xfrm>
        </p:spPr>
        <p:txBody>
          <a:bodyPr>
            <a:normAutofit fontScale="92500" lnSpcReduction="20000"/>
          </a:bodyPr>
          <a:lstStyle/>
          <a:p>
            <a:r>
              <a:rPr lang="en-US" dirty="0"/>
              <a:t>We can split on any 4-letter word.</a:t>
            </a:r>
          </a:p>
          <a:p>
            <a:r>
              <a:rPr lang="en-US" dirty="0"/>
              <a:t>But what if we want to split on any 4-letter word but </a:t>
            </a:r>
            <a:r>
              <a:rPr lang="en-US" b="1" dirty="0"/>
              <a:t>born</a:t>
            </a:r>
            <a:r>
              <a:rPr lang="en-US" dirty="0"/>
              <a:t>? We can use a look-ahead assertion. </a:t>
            </a:r>
          </a:p>
          <a:p>
            <a:r>
              <a:rPr lang="en-US" dirty="0"/>
              <a:t>Look-</a:t>
            </a:r>
            <a:r>
              <a:rPr lang="en-US" dirty="0" err="1"/>
              <a:t>aheads</a:t>
            </a:r>
            <a:r>
              <a:rPr lang="en-US" dirty="0"/>
              <a:t> and look-behinds come in two flavors: positive and negative. All four are zero-width assertions. They require certain characters to be present or absent, but don't consume the characters.</a:t>
            </a:r>
          </a:p>
          <a:p>
            <a:r>
              <a:rPr lang="en-US" dirty="0"/>
              <a:t>Look-behind negative is denoted by ?&lt;!</a:t>
            </a:r>
          </a:p>
        </p:txBody>
      </p:sp>
      <p:pic>
        <p:nvPicPr>
          <p:cNvPr id="4" name="Picture 3">
            <a:extLst>
              <a:ext uri="{FF2B5EF4-FFF2-40B4-BE49-F238E27FC236}">
                <a16:creationId xmlns:a16="http://schemas.microsoft.com/office/drawing/2014/main" id="{479080A8-DA3A-46EF-8FC3-74BA13E8BFEE}"/>
              </a:ext>
            </a:extLst>
          </p:cNvPr>
          <p:cNvPicPr>
            <a:picLocks noChangeAspect="1"/>
          </p:cNvPicPr>
          <p:nvPr/>
        </p:nvPicPr>
        <p:blipFill>
          <a:blip r:embed="rId2"/>
          <a:stretch>
            <a:fillRect/>
          </a:stretch>
        </p:blipFill>
        <p:spPr>
          <a:xfrm>
            <a:off x="6971909" y="479577"/>
            <a:ext cx="3333750" cy="1990725"/>
          </a:xfrm>
          <a:prstGeom prst="rect">
            <a:avLst/>
          </a:prstGeom>
        </p:spPr>
      </p:pic>
      <p:pic>
        <p:nvPicPr>
          <p:cNvPr id="5" name="Picture 4">
            <a:extLst>
              <a:ext uri="{FF2B5EF4-FFF2-40B4-BE49-F238E27FC236}">
                <a16:creationId xmlns:a16="http://schemas.microsoft.com/office/drawing/2014/main" id="{1F32DD2B-EA7F-4871-98F4-39F26A554E06}"/>
              </a:ext>
            </a:extLst>
          </p:cNvPr>
          <p:cNvPicPr>
            <a:picLocks noChangeAspect="1"/>
          </p:cNvPicPr>
          <p:nvPr/>
        </p:nvPicPr>
        <p:blipFill>
          <a:blip r:embed="rId3"/>
          <a:stretch>
            <a:fillRect/>
          </a:stretch>
        </p:blipFill>
        <p:spPr>
          <a:xfrm>
            <a:off x="6548959" y="2574098"/>
            <a:ext cx="4505325" cy="1924050"/>
          </a:xfrm>
          <a:prstGeom prst="rect">
            <a:avLst/>
          </a:prstGeom>
        </p:spPr>
      </p:pic>
      <p:pic>
        <p:nvPicPr>
          <p:cNvPr id="6" name="Picture 5">
            <a:extLst>
              <a:ext uri="{FF2B5EF4-FFF2-40B4-BE49-F238E27FC236}">
                <a16:creationId xmlns:a16="http://schemas.microsoft.com/office/drawing/2014/main" id="{CCDB49A1-11E9-4C9C-9FE4-7B93BA230126}"/>
              </a:ext>
            </a:extLst>
          </p:cNvPr>
          <p:cNvPicPr>
            <a:picLocks noChangeAspect="1"/>
          </p:cNvPicPr>
          <p:nvPr/>
        </p:nvPicPr>
        <p:blipFill>
          <a:blip r:embed="rId4"/>
          <a:stretch>
            <a:fillRect/>
          </a:stretch>
        </p:blipFill>
        <p:spPr>
          <a:xfrm>
            <a:off x="6472758" y="4643305"/>
            <a:ext cx="4657725" cy="1695450"/>
          </a:xfrm>
          <a:prstGeom prst="rect">
            <a:avLst/>
          </a:prstGeom>
        </p:spPr>
      </p:pic>
    </p:spTree>
    <p:extLst>
      <p:ext uri="{BB962C8B-B14F-4D97-AF65-F5344CB8AC3E}">
        <p14:creationId xmlns:p14="http://schemas.microsoft.com/office/powerpoint/2010/main" val="384370985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Look-arounds</a:t>
            </a:r>
            <a:endParaRPr lang="en-US" dirty="0"/>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E07D5E06-0476-4FCF-9952-DCE33AADE51A}"/>
              </a:ext>
            </a:extLst>
          </p:cNvPr>
          <p:cNvPicPr>
            <a:picLocks noChangeAspect="1"/>
          </p:cNvPicPr>
          <p:nvPr/>
        </p:nvPicPr>
        <p:blipFill>
          <a:blip r:embed="rId2"/>
          <a:stretch>
            <a:fillRect/>
          </a:stretch>
        </p:blipFill>
        <p:spPr>
          <a:xfrm>
            <a:off x="131849" y="1325563"/>
            <a:ext cx="5514975" cy="2466975"/>
          </a:xfrm>
          <a:prstGeom prst="rect">
            <a:avLst/>
          </a:prstGeom>
        </p:spPr>
      </p:pic>
      <p:pic>
        <p:nvPicPr>
          <p:cNvPr id="6" name="Picture 5">
            <a:extLst>
              <a:ext uri="{FF2B5EF4-FFF2-40B4-BE49-F238E27FC236}">
                <a16:creationId xmlns:a16="http://schemas.microsoft.com/office/drawing/2014/main" id="{229074EB-438A-42A3-B0A1-6C9D0EC2EACA}"/>
              </a:ext>
            </a:extLst>
          </p:cNvPr>
          <p:cNvPicPr>
            <a:picLocks noChangeAspect="1"/>
          </p:cNvPicPr>
          <p:nvPr/>
        </p:nvPicPr>
        <p:blipFill>
          <a:blip r:embed="rId3"/>
          <a:stretch>
            <a:fillRect/>
          </a:stretch>
        </p:blipFill>
        <p:spPr>
          <a:xfrm>
            <a:off x="5695949" y="3350712"/>
            <a:ext cx="6486525" cy="3467100"/>
          </a:xfrm>
          <a:prstGeom prst="rect">
            <a:avLst/>
          </a:prstGeom>
        </p:spPr>
      </p:pic>
      <p:pic>
        <p:nvPicPr>
          <p:cNvPr id="7" name="Picture 6">
            <a:extLst>
              <a:ext uri="{FF2B5EF4-FFF2-40B4-BE49-F238E27FC236}">
                <a16:creationId xmlns:a16="http://schemas.microsoft.com/office/drawing/2014/main" id="{6BCEF794-DCCE-4F34-9E74-F5928752FE74}"/>
              </a:ext>
            </a:extLst>
          </p:cNvPr>
          <p:cNvPicPr>
            <a:picLocks noChangeAspect="1"/>
          </p:cNvPicPr>
          <p:nvPr/>
        </p:nvPicPr>
        <p:blipFill>
          <a:blip r:embed="rId4"/>
          <a:stretch>
            <a:fillRect/>
          </a:stretch>
        </p:blipFill>
        <p:spPr>
          <a:xfrm>
            <a:off x="5695949" y="-1"/>
            <a:ext cx="5526002" cy="3350713"/>
          </a:xfrm>
          <a:prstGeom prst="rect">
            <a:avLst/>
          </a:prstGeom>
        </p:spPr>
      </p:pic>
    </p:spTree>
    <p:extLst>
      <p:ext uri="{BB962C8B-B14F-4D97-AF65-F5344CB8AC3E}">
        <p14:creationId xmlns:p14="http://schemas.microsoft.com/office/powerpoint/2010/main" val="22701989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b="1" dirty="0"/>
              <a:t>Look-arounds</a:t>
            </a:r>
            <a:endParaRPr lang="en-US" dirty="0"/>
          </a:p>
        </p:txBody>
      </p:sp>
      <p:pic>
        <p:nvPicPr>
          <p:cNvPr id="4" name="Picture 3">
            <a:extLst>
              <a:ext uri="{FF2B5EF4-FFF2-40B4-BE49-F238E27FC236}">
                <a16:creationId xmlns:a16="http://schemas.microsoft.com/office/drawing/2014/main" id="{7760EADD-C21B-4288-92B8-D0F98063C886}"/>
              </a:ext>
            </a:extLst>
          </p:cNvPr>
          <p:cNvPicPr>
            <a:picLocks noChangeAspect="1"/>
          </p:cNvPicPr>
          <p:nvPr/>
        </p:nvPicPr>
        <p:blipFill>
          <a:blip r:embed="rId2"/>
          <a:stretch>
            <a:fillRect/>
          </a:stretch>
        </p:blipFill>
        <p:spPr>
          <a:xfrm>
            <a:off x="0" y="973768"/>
            <a:ext cx="6343650" cy="3905250"/>
          </a:xfrm>
          <a:prstGeom prst="rect">
            <a:avLst/>
          </a:prstGeom>
        </p:spPr>
      </p:pic>
      <p:pic>
        <p:nvPicPr>
          <p:cNvPr id="5" name="Picture 4">
            <a:extLst>
              <a:ext uri="{FF2B5EF4-FFF2-40B4-BE49-F238E27FC236}">
                <a16:creationId xmlns:a16="http://schemas.microsoft.com/office/drawing/2014/main" id="{F8CDE4FD-3D34-47F8-BF0E-C9E922AA43F7}"/>
              </a:ext>
            </a:extLst>
          </p:cNvPr>
          <p:cNvPicPr>
            <a:picLocks noChangeAspect="1"/>
          </p:cNvPicPr>
          <p:nvPr/>
        </p:nvPicPr>
        <p:blipFill>
          <a:blip r:embed="rId3"/>
          <a:stretch>
            <a:fillRect/>
          </a:stretch>
        </p:blipFill>
        <p:spPr>
          <a:xfrm>
            <a:off x="6480784" y="973768"/>
            <a:ext cx="5543550" cy="4133850"/>
          </a:xfrm>
          <a:prstGeom prst="rect">
            <a:avLst/>
          </a:prstGeom>
        </p:spPr>
      </p:pic>
      <p:sp>
        <p:nvSpPr>
          <p:cNvPr id="8" name="Content Placeholder 7">
            <a:extLst>
              <a:ext uri="{FF2B5EF4-FFF2-40B4-BE49-F238E27FC236}">
                <a16:creationId xmlns:a16="http://schemas.microsoft.com/office/drawing/2014/main" id="{999FD2D5-C4EE-49A1-A5CB-43AA50F43210}"/>
              </a:ext>
            </a:extLst>
          </p:cNvPr>
          <p:cNvSpPr>
            <a:spLocks noGrp="1"/>
          </p:cNvSpPr>
          <p:nvPr>
            <p:ph idx="1"/>
          </p:nvPr>
        </p:nvSpPr>
        <p:spPr/>
        <p:txBody>
          <a:bodyPr/>
          <a:lstStyle/>
          <a:p>
            <a:endParaRPr lang="en-US"/>
          </a:p>
        </p:txBody>
      </p:sp>
      <p:pic>
        <p:nvPicPr>
          <p:cNvPr id="9" name="Picture 8">
            <a:extLst>
              <a:ext uri="{FF2B5EF4-FFF2-40B4-BE49-F238E27FC236}">
                <a16:creationId xmlns:a16="http://schemas.microsoft.com/office/drawing/2014/main" id="{ED0A5A62-52B5-41C6-B02D-8CF94BA4FC2F}"/>
              </a:ext>
            </a:extLst>
          </p:cNvPr>
          <p:cNvPicPr>
            <a:picLocks noChangeAspect="1"/>
          </p:cNvPicPr>
          <p:nvPr/>
        </p:nvPicPr>
        <p:blipFill>
          <a:blip r:embed="rId4"/>
          <a:stretch>
            <a:fillRect/>
          </a:stretch>
        </p:blipFill>
        <p:spPr>
          <a:xfrm>
            <a:off x="1271522" y="5130800"/>
            <a:ext cx="8972550" cy="1657350"/>
          </a:xfrm>
          <a:prstGeom prst="rect">
            <a:avLst/>
          </a:prstGeom>
        </p:spPr>
      </p:pic>
    </p:spTree>
    <p:extLst>
      <p:ext uri="{BB962C8B-B14F-4D97-AF65-F5344CB8AC3E}">
        <p14:creationId xmlns:p14="http://schemas.microsoft.com/office/powerpoint/2010/main" val="3866753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dirty="0"/>
              <a:t>Fun with DNA: Open reading frames</a:t>
            </a:r>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a:xfrm>
            <a:off x="838200" y="1437319"/>
            <a:ext cx="10515600" cy="4700434"/>
          </a:xfrm>
        </p:spPr>
        <p:txBody>
          <a:bodyPr>
            <a:normAutofit fontScale="85000" lnSpcReduction="20000"/>
          </a:bodyPr>
          <a:lstStyle/>
          <a:p>
            <a:r>
              <a:rPr lang="en-US" dirty="0"/>
              <a:t>DNA is a sequence of bases, A, C, G, or T. They are translated into proteins 3 bases at a time. Each 3-base sequence is called a </a:t>
            </a:r>
            <a:r>
              <a:rPr lang="en-US" b="1" dirty="0"/>
              <a:t>codon</a:t>
            </a:r>
            <a:r>
              <a:rPr lang="en-US" dirty="0"/>
              <a:t>. There is a special </a:t>
            </a:r>
            <a:r>
              <a:rPr lang="en-US" b="1" dirty="0"/>
              <a:t>start codon</a:t>
            </a:r>
            <a:r>
              <a:rPr lang="en-US" dirty="0"/>
              <a:t> ATG, and three </a:t>
            </a:r>
            <a:r>
              <a:rPr lang="en-US" b="1" dirty="0"/>
              <a:t>stop codons</a:t>
            </a:r>
            <a:r>
              <a:rPr lang="en-US" dirty="0"/>
              <a:t>, TGA, TAG, and TAA. The start and stop codons are highlighted below.</a:t>
            </a:r>
          </a:p>
          <a:p>
            <a:endParaRPr lang="en-US" dirty="0"/>
          </a:p>
          <a:p>
            <a:endParaRPr lang="en-US" dirty="0"/>
          </a:p>
          <a:p>
            <a:r>
              <a:rPr lang="en-US" dirty="0"/>
              <a:t>An </a:t>
            </a:r>
            <a:r>
              <a:rPr lang="en-US" b="1" dirty="0"/>
              <a:t>opening reading frame</a:t>
            </a:r>
            <a:r>
              <a:rPr lang="en-US" dirty="0"/>
              <a:t> or </a:t>
            </a:r>
            <a:r>
              <a:rPr lang="en-US" b="1" dirty="0"/>
              <a:t>ORF</a:t>
            </a:r>
            <a:r>
              <a:rPr lang="en-US" dirty="0"/>
              <a:t> consists of a start codon, followed by some more codons, and ending with a stop codon. (In real life, "some more" is usually hundreds or thousands.)</a:t>
            </a:r>
          </a:p>
          <a:p>
            <a:endParaRPr lang="en-US" dirty="0"/>
          </a:p>
          <a:p>
            <a:endParaRPr lang="en-US" dirty="0"/>
          </a:p>
          <a:p>
            <a:endParaRPr lang="en-US" dirty="0"/>
          </a:p>
          <a:p>
            <a:r>
              <a:rPr lang="en-US" dirty="0"/>
              <a:t>Actually, that's not quite right. The internal codons should not be stop codons. </a:t>
            </a:r>
          </a:p>
        </p:txBody>
      </p:sp>
      <p:pic>
        <p:nvPicPr>
          <p:cNvPr id="4" name="Picture 3">
            <a:extLst>
              <a:ext uri="{FF2B5EF4-FFF2-40B4-BE49-F238E27FC236}">
                <a16:creationId xmlns:a16="http://schemas.microsoft.com/office/drawing/2014/main" id="{275C58E6-AEC4-415A-AF6A-A65B035E0C6C}"/>
              </a:ext>
            </a:extLst>
          </p:cNvPr>
          <p:cNvPicPr>
            <a:picLocks noChangeAspect="1"/>
          </p:cNvPicPr>
          <p:nvPr/>
        </p:nvPicPr>
        <p:blipFill>
          <a:blip r:embed="rId2"/>
          <a:stretch>
            <a:fillRect/>
          </a:stretch>
        </p:blipFill>
        <p:spPr>
          <a:xfrm>
            <a:off x="3543300" y="2569249"/>
            <a:ext cx="5105400" cy="714375"/>
          </a:xfrm>
          <a:prstGeom prst="rect">
            <a:avLst/>
          </a:prstGeom>
        </p:spPr>
      </p:pic>
      <p:pic>
        <p:nvPicPr>
          <p:cNvPr id="5" name="Picture 4">
            <a:extLst>
              <a:ext uri="{FF2B5EF4-FFF2-40B4-BE49-F238E27FC236}">
                <a16:creationId xmlns:a16="http://schemas.microsoft.com/office/drawing/2014/main" id="{76963E2F-5A58-42DC-BBD9-2E3D8946B0E8}"/>
              </a:ext>
            </a:extLst>
          </p:cNvPr>
          <p:cNvPicPr>
            <a:picLocks noChangeAspect="1"/>
          </p:cNvPicPr>
          <p:nvPr/>
        </p:nvPicPr>
        <p:blipFill>
          <a:blip r:embed="rId3"/>
          <a:stretch>
            <a:fillRect/>
          </a:stretch>
        </p:blipFill>
        <p:spPr>
          <a:xfrm>
            <a:off x="2723107" y="4183290"/>
            <a:ext cx="7562850" cy="1104900"/>
          </a:xfrm>
          <a:prstGeom prst="rect">
            <a:avLst/>
          </a:prstGeom>
        </p:spPr>
      </p:pic>
    </p:spTree>
    <p:extLst>
      <p:ext uri="{BB962C8B-B14F-4D97-AF65-F5344CB8AC3E}">
        <p14:creationId xmlns:p14="http://schemas.microsoft.com/office/powerpoint/2010/main" val="397929344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Fun with DNA: Open reading frames</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p:txBody>
          <a:bodyPr/>
          <a:lstStyle/>
          <a:p>
            <a:r>
              <a:rPr lang="en-US" dirty="0"/>
              <a:t>We can handle that with a negative lookahead assertion.</a:t>
            </a:r>
          </a:p>
          <a:p>
            <a:endParaRPr lang="en-US" dirty="0"/>
          </a:p>
          <a:p>
            <a:endParaRPr lang="en-US" dirty="0"/>
          </a:p>
          <a:p>
            <a:endParaRPr lang="en-US" dirty="0"/>
          </a:p>
          <a:p>
            <a:r>
              <a:rPr lang="en-US" dirty="0"/>
              <a:t>We don't really want to capture the "some more codons" separately. In a minute that will get in the way. So we can use </a:t>
            </a:r>
            <a:r>
              <a:rPr lang="en-US" b="1" dirty="0"/>
              <a:t>(?:...)</a:t>
            </a:r>
            <a:r>
              <a:rPr lang="en-US" dirty="0"/>
              <a:t> to group without capturing</a:t>
            </a:r>
          </a:p>
          <a:p>
            <a:endParaRPr lang="en-US" dirty="0"/>
          </a:p>
        </p:txBody>
      </p:sp>
      <p:pic>
        <p:nvPicPr>
          <p:cNvPr id="4" name="Picture 3">
            <a:extLst>
              <a:ext uri="{FF2B5EF4-FFF2-40B4-BE49-F238E27FC236}">
                <a16:creationId xmlns:a16="http://schemas.microsoft.com/office/drawing/2014/main" id="{983391DE-3922-4611-8B04-5B0EC639EE08}"/>
              </a:ext>
            </a:extLst>
          </p:cNvPr>
          <p:cNvPicPr>
            <a:picLocks noChangeAspect="1"/>
          </p:cNvPicPr>
          <p:nvPr/>
        </p:nvPicPr>
        <p:blipFill>
          <a:blip r:embed="rId2"/>
          <a:stretch>
            <a:fillRect/>
          </a:stretch>
        </p:blipFill>
        <p:spPr>
          <a:xfrm>
            <a:off x="2519362" y="2574164"/>
            <a:ext cx="7153275" cy="1133475"/>
          </a:xfrm>
          <a:prstGeom prst="rect">
            <a:avLst/>
          </a:prstGeom>
        </p:spPr>
      </p:pic>
      <p:pic>
        <p:nvPicPr>
          <p:cNvPr id="5" name="Picture 4">
            <a:extLst>
              <a:ext uri="{FF2B5EF4-FFF2-40B4-BE49-F238E27FC236}">
                <a16:creationId xmlns:a16="http://schemas.microsoft.com/office/drawing/2014/main" id="{AB04B4EE-588D-43B8-93B4-0DE772D43DF9}"/>
              </a:ext>
            </a:extLst>
          </p:cNvPr>
          <p:cNvPicPr>
            <a:picLocks noChangeAspect="1"/>
          </p:cNvPicPr>
          <p:nvPr/>
        </p:nvPicPr>
        <p:blipFill>
          <a:blip r:embed="rId3"/>
          <a:stretch>
            <a:fillRect/>
          </a:stretch>
        </p:blipFill>
        <p:spPr>
          <a:xfrm>
            <a:off x="2038349" y="5278024"/>
            <a:ext cx="8115300" cy="1162050"/>
          </a:xfrm>
          <a:prstGeom prst="rect">
            <a:avLst/>
          </a:prstGeom>
        </p:spPr>
      </p:pic>
    </p:spTree>
    <p:extLst>
      <p:ext uri="{BB962C8B-B14F-4D97-AF65-F5344CB8AC3E}">
        <p14:creationId xmlns:p14="http://schemas.microsoft.com/office/powerpoint/2010/main" val="35190989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dirty="0"/>
              <a:t>Nested Sets</a:t>
            </a:r>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a:xfrm>
            <a:off x="287055" y="1687839"/>
            <a:ext cx="2781300" cy="4351338"/>
          </a:xfrm>
        </p:spPr>
        <p:txBody>
          <a:bodyPr>
            <a:normAutofit fontScale="92500" lnSpcReduction="10000"/>
          </a:bodyPr>
          <a:lstStyle/>
          <a:p>
            <a:pPr marL="0" indent="0">
              <a:buNone/>
            </a:pPr>
            <a:r>
              <a:rPr lang="en-US" dirty="0"/>
              <a:t>We have seen some character sets such as </a:t>
            </a:r>
            <a:r>
              <a:rPr lang="en-US" b="1" dirty="0"/>
              <a:t>[</a:t>
            </a:r>
            <a:r>
              <a:rPr lang="en-US" b="1" dirty="0" err="1"/>
              <a:t>aeiou</a:t>
            </a:r>
            <a:r>
              <a:rPr lang="en-US" b="1" dirty="0"/>
              <a:t>]</a:t>
            </a:r>
            <a:r>
              <a:rPr lang="en-US" dirty="0"/>
              <a:t> for all (lower-case) vowels. Suppose we want all lower-case consonants. One obvious way is to list them all. We might also be tempted to use set negation</a:t>
            </a:r>
          </a:p>
        </p:txBody>
      </p:sp>
      <p:pic>
        <p:nvPicPr>
          <p:cNvPr id="4" name="Picture 3">
            <a:extLst>
              <a:ext uri="{FF2B5EF4-FFF2-40B4-BE49-F238E27FC236}">
                <a16:creationId xmlns:a16="http://schemas.microsoft.com/office/drawing/2014/main" id="{95F34166-2A2D-46DC-A5CF-E9D18E4A5634}"/>
              </a:ext>
            </a:extLst>
          </p:cNvPr>
          <p:cNvPicPr>
            <a:picLocks noChangeAspect="1"/>
          </p:cNvPicPr>
          <p:nvPr/>
        </p:nvPicPr>
        <p:blipFill>
          <a:blip r:embed="rId2"/>
          <a:stretch>
            <a:fillRect/>
          </a:stretch>
        </p:blipFill>
        <p:spPr>
          <a:xfrm>
            <a:off x="3314700" y="1487019"/>
            <a:ext cx="2781300" cy="4752975"/>
          </a:xfrm>
          <a:prstGeom prst="rect">
            <a:avLst/>
          </a:prstGeom>
        </p:spPr>
      </p:pic>
      <p:sp>
        <p:nvSpPr>
          <p:cNvPr id="5" name="Content Placeholder 2">
            <a:extLst>
              <a:ext uri="{FF2B5EF4-FFF2-40B4-BE49-F238E27FC236}">
                <a16:creationId xmlns:a16="http://schemas.microsoft.com/office/drawing/2014/main" id="{3CD98077-9F58-4B42-B0AD-5C8EE2CF12AA}"/>
              </a:ext>
            </a:extLst>
          </p:cNvPr>
          <p:cNvSpPr txBox="1">
            <a:spLocks/>
          </p:cNvSpPr>
          <p:nvPr/>
        </p:nvSpPr>
        <p:spPr>
          <a:xfrm>
            <a:off x="3314700" y="284690"/>
            <a:ext cx="8695149" cy="756182"/>
          </a:xfrm>
          <a:prstGeom prst="rect">
            <a:avLst/>
          </a:prstGeom>
        </p:spPr>
        <p:txBody>
          <a:bodyPr vert="horz" lIns="91440" tIns="45720" rIns="91440" bIns="45720" rtlCol="0">
            <a:normAutofit fontScale="85000"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The problem is that we get not just consonants, but spaces, digits, etc. The new </a:t>
            </a:r>
            <a:r>
              <a:rPr lang="en-US" b="1" dirty="0"/>
              <a:t>regex</a:t>
            </a:r>
            <a:r>
              <a:rPr lang="en-US" dirty="0"/>
              <a:t> module allows us to do arithmetic on sets</a:t>
            </a:r>
          </a:p>
        </p:txBody>
      </p:sp>
      <p:pic>
        <p:nvPicPr>
          <p:cNvPr id="6" name="Picture 5">
            <a:extLst>
              <a:ext uri="{FF2B5EF4-FFF2-40B4-BE49-F238E27FC236}">
                <a16:creationId xmlns:a16="http://schemas.microsoft.com/office/drawing/2014/main" id="{2A5BCC23-CCAE-4384-BC5F-8CD33F2FACC8}"/>
              </a:ext>
            </a:extLst>
          </p:cNvPr>
          <p:cNvPicPr>
            <a:picLocks noChangeAspect="1"/>
          </p:cNvPicPr>
          <p:nvPr/>
        </p:nvPicPr>
        <p:blipFill>
          <a:blip r:embed="rId3"/>
          <a:stretch>
            <a:fillRect/>
          </a:stretch>
        </p:blipFill>
        <p:spPr>
          <a:xfrm>
            <a:off x="7628091" y="1053631"/>
            <a:ext cx="4362450" cy="5619750"/>
          </a:xfrm>
          <a:prstGeom prst="rect">
            <a:avLst/>
          </a:prstGeom>
        </p:spPr>
      </p:pic>
    </p:spTree>
    <p:extLst>
      <p:ext uri="{BB962C8B-B14F-4D97-AF65-F5344CB8AC3E}">
        <p14:creationId xmlns:p14="http://schemas.microsoft.com/office/powerpoint/2010/main" val="16628833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b="1" dirty="0"/>
              <a:t>Fuzzy matching</a:t>
            </a:r>
            <a:endParaRPr lang="en-US" dirty="0"/>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a:xfrm>
            <a:off x="838200" y="1177447"/>
            <a:ext cx="10515600" cy="4999516"/>
          </a:xfrm>
        </p:spPr>
        <p:txBody>
          <a:bodyPr>
            <a:normAutofit/>
          </a:bodyPr>
          <a:lstStyle/>
          <a:p>
            <a:r>
              <a:rPr lang="en-US" dirty="0"/>
              <a:t>With </a:t>
            </a:r>
            <a:r>
              <a:rPr lang="en-US" b="1" dirty="0"/>
              <a:t>regex</a:t>
            </a:r>
            <a:r>
              <a:rPr lang="en-US" dirty="0"/>
              <a:t>, you can specify that patterns need only be satisfied approximately. You can specify the number of insertions (</a:t>
            </a:r>
            <a:r>
              <a:rPr lang="en-US" b="1" dirty="0"/>
              <a:t>i</a:t>
            </a:r>
            <a:r>
              <a:rPr lang="en-US" dirty="0"/>
              <a:t>), number of deletions (</a:t>
            </a:r>
            <a:r>
              <a:rPr lang="en-US" b="1" dirty="0"/>
              <a:t>d</a:t>
            </a:r>
            <a:r>
              <a:rPr lang="en-US" dirty="0"/>
              <a:t>), and number of substitutions (</a:t>
            </a:r>
            <a:r>
              <a:rPr lang="en-US" b="1" dirty="0"/>
              <a:t>s</a:t>
            </a:r>
            <a:r>
              <a:rPr lang="en-US" dirty="0"/>
              <a:t>) as well as total number of errors (</a:t>
            </a:r>
            <a:r>
              <a:rPr lang="en-US" b="1" dirty="0"/>
              <a:t>e</a:t>
            </a:r>
            <a:r>
              <a:rPr lang="en-US" dirty="0"/>
              <a:t>). This example allows at most one insertion and at most one deletion for each pattern.</a:t>
            </a:r>
          </a:p>
          <a:p>
            <a:endParaRPr lang="en-US" dirty="0"/>
          </a:p>
          <a:p>
            <a:endParaRPr lang="en-US" dirty="0"/>
          </a:p>
          <a:p>
            <a:endParaRPr lang="en-US" dirty="0"/>
          </a:p>
          <a:p>
            <a:endParaRPr lang="en-US" dirty="0"/>
          </a:p>
          <a:p>
            <a:r>
              <a:rPr lang="en-US" dirty="0"/>
              <a:t>You can see that the match object reports the number of insertions, deletions, and substitutions as </a:t>
            </a:r>
            <a:r>
              <a:rPr lang="en-US" b="1" dirty="0" err="1"/>
              <a:t>fuzzy_counts</a:t>
            </a:r>
            <a:r>
              <a:rPr lang="en-US" dirty="0"/>
              <a:t>.</a:t>
            </a:r>
          </a:p>
        </p:txBody>
      </p:sp>
      <p:pic>
        <p:nvPicPr>
          <p:cNvPr id="4" name="Picture 3">
            <a:extLst>
              <a:ext uri="{FF2B5EF4-FFF2-40B4-BE49-F238E27FC236}">
                <a16:creationId xmlns:a16="http://schemas.microsoft.com/office/drawing/2014/main" id="{73C97546-FEDC-4EDC-B261-C2B3E429A7B7}"/>
              </a:ext>
            </a:extLst>
          </p:cNvPr>
          <p:cNvPicPr>
            <a:picLocks noChangeAspect="1"/>
          </p:cNvPicPr>
          <p:nvPr/>
        </p:nvPicPr>
        <p:blipFill>
          <a:blip r:embed="rId2"/>
          <a:stretch>
            <a:fillRect/>
          </a:stretch>
        </p:blipFill>
        <p:spPr>
          <a:xfrm>
            <a:off x="538185" y="3257484"/>
            <a:ext cx="11115629" cy="1727875"/>
          </a:xfrm>
          <a:prstGeom prst="rect">
            <a:avLst/>
          </a:prstGeom>
        </p:spPr>
      </p:pic>
    </p:spTree>
    <p:extLst>
      <p:ext uri="{BB962C8B-B14F-4D97-AF65-F5344CB8AC3E}">
        <p14:creationId xmlns:p14="http://schemas.microsoft.com/office/powerpoint/2010/main" val="337906074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b="1" dirty="0"/>
              <a:t>Fuzzy matching</a:t>
            </a:r>
            <a:endParaRPr lang="en-US" dirty="0"/>
          </a:p>
        </p:txBody>
      </p:sp>
      <p:pic>
        <p:nvPicPr>
          <p:cNvPr id="4" name="Content Placeholder 3">
            <a:extLst>
              <a:ext uri="{FF2B5EF4-FFF2-40B4-BE49-F238E27FC236}">
                <a16:creationId xmlns:a16="http://schemas.microsoft.com/office/drawing/2014/main" id="{FB07A942-E5F2-4A6C-8E43-1284171D1378}"/>
              </a:ext>
            </a:extLst>
          </p:cNvPr>
          <p:cNvPicPr>
            <a:picLocks noGrp="1" noChangeAspect="1"/>
          </p:cNvPicPr>
          <p:nvPr>
            <p:ph idx="1"/>
          </p:nvPr>
        </p:nvPicPr>
        <p:blipFill>
          <a:blip r:embed="rId2"/>
          <a:stretch>
            <a:fillRect/>
          </a:stretch>
        </p:blipFill>
        <p:spPr>
          <a:xfrm>
            <a:off x="1039660" y="1125930"/>
            <a:ext cx="10333973" cy="5630163"/>
          </a:xfrm>
          <a:prstGeom prst="rect">
            <a:avLst/>
          </a:prstGeom>
        </p:spPr>
      </p:pic>
    </p:spTree>
    <p:extLst>
      <p:ext uri="{BB962C8B-B14F-4D97-AF65-F5344CB8AC3E}">
        <p14:creationId xmlns:p14="http://schemas.microsoft.com/office/powerpoint/2010/main" val="10414936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a:t>Multiple Captures</a:t>
            </a:r>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p:txBody>
          <a:bodyPr/>
          <a:lstStyle/>
          <a:p>
            <a:r>
              <a:rPr lang="en-US" dirty="0"/>
              <a:t>You can obtain information on all the successful matches of a repeated capture group, not just the last one. Use captures instead of group.</a:t>
            </a:r>
          </a:p>
          <a:p>
            <a:endParaRPr lang="en-US" dirty="0"/>
          </a:p>
        </p:txBody>
      </p:sp>
      <p:pic>
        <p:nvPicPr>
          <p:cNvPr id="4" name="Picture 3">
            <a:extLst>
              <a:ext uri="{FF2B5EF4-FFF2-40B4-BE49-F238E27FC236}">
                <a16:creationId xmlns:a16="http://schemas.microsoft.com/office/drawing/2014/main" id="{150EA30F-D43B-4222-948E-E5687D816023}"/>
              </a:ext>
            </a:extLst>
          </p:cNvPr>
          <p:cNvPicPr>
            <a:picLocks noChangeAspect="1"/>
          </p:cNvPicPr>
          <p:nvPr/>
        </p:nvPicPr>
        <p:blipFill>
          <a:blip r:embed="rId2"/>
          <a:stretch>
            <a:fillRect/>
          </a:stretch>
        </p:blipFill>
        <p:spPr>
          <a:xfrm>
            <a:off x="745299" y="3072856"/>
            <a:ext cx="7620000" cy="2390775"/>
          </a:xfrm>
          <a:prstGeom prst="rect">
            <a:avLst/>
          </a:prstGeom>
        </p:spPr>
      </p:pic>
    </p:spTree>
    <p:extLst>
      <p:ext uri="{BB962C8B-B14F-4D97-AF65-F5344CB8AC3E}">
        <p14:creationId xmlns:p14="http://schemas.microsoft.com/office/powerpoint/2010/main" val="116000648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dirty="0"/>
              <a:t>Multiple Captures</a:t>
            </a:r>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p:txBody>
          <a:bodyPr/>
          <a:lstStyle/>
          <a:p>
            <a:r>
              <a:rPr lang="en-US" dirty="0"/>
              <a:t>We can also capture things by name.</a:t>
            </a:r>
          </a:p>
        </p:txBody>
      </p:sp>
      <p:pic>
        <p:nvPicPr>
          <p:cNvPr id="4" name="Picture 3">
            <a:extLst>
              <a:ext uri="{FF2B5EF4-FFF2-40B4-BE49-F238E27FC236}">
                <a16:creationId xmlns:a16="http://schemas.microsoft.com/office/drawing/2014/main" id="{85076B3A-FCD5-4D2E-A2EE-63C4596C8CB3}"/>
              </a:ext>
            </a:extLst>
          </p:cNvPr>
          <p:cNvPicPr>
            <a:picLocks noChangeAspect="1"/>
          </p:cNvPicPr>
          <p:nvPr/>
        </p:nvPicPr>
        <p:blipFill>
          <a:blip r:embed="rId2"/>
          <a:stretch>
            <a:fillRect/>
          </a:stretch>
        </p:blipFill>
        <p:spPr>
          <a:xfrm>
            <a:off x="1325671" y="2719388"/>
            <a:ext cx="8839200" cy="3457575"/>
          </a:xfrm>
          <a:prstGeom prst="rect">
            <a:avLst/>
          </a:prstGeom>
        </p:spPr>
      </p:pic>
    </p:spTree>
    <p:extLst>
      <p:ext uri="{BB962C8B-B14F-4D97-AF65-F5344CB8AC3E}">
        <p14:creationId xmlns:p14="http://schemas.microsoft.com/office/powerpoint/2010/main" val="393401517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dirty="0"/>
              <a:t>Reverse Searching</a:t>
            </a:r>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779C8E36-5A2D-454A-A5AD-10FF62BBB8CF}"/>
              </a:ext>
            </a:extLst>
          </p:cNvPr>
          <p:cNvPicPr>
            <a:picLocks noChangeAspect="1"/>
          </p:cNvPicPr>
          <p:nvPr/>
        </p:nvPicPr>
        <p:blipFill>
          <a:blip r:embed="rId2"/>
          <a:stretch>
            <a:fillRect/>
          </a:stretch>
        </p:blipFill>
        <p:spPr>
          <a:xfrm>
            <a:off x="4514963" y="95098"/>
            <a:ext cx="7508331" cy="1825625"/>
          </a:xfrm>
          <a:prstGeom prst="rect">
            <a:avLst/>
          </a:prstGeom>
        </p:spPr>
      </p:pic>
      <p:pic>
        <p:nvPicPr>
          <p:cNvPr id="5" name="Picture 4">
            <a:extLst>
              <a:ext uri="{FF2B5EF4-FFF2-40B4-BE49-F238E27FC236}">
                <a16:creationId xmlns:a16="http://schemas.microsoft.com/office/drawing/2014/main" id="{8126B11F-6105-4E45-A05A-4BB274D07223}"/>
              </a:ext>
            </a:extLst>
          </p:cNvPr>
          <p:cNvPicPr>
            <a:picLocks noChangeAspect="1"/>
          </p:cNvPicPr>
          <p:nvPr/>
        </p:nvPicPr>
        <p:blipFill>
          <a:blip r:embed="rId3"/>
          <a:stretch>
            <a:fillRect/>
          </a:stretch>
        </p:blipFill>
        <p:spPr>
          <a:xfrm>
            <a:off x="0" y="2015821"/>
            <a:ext cx="12192000" cy="4547133"/>
          </a:xfrm>
          <a:prstGeom prst="rect">
            <a:avLst/>
          </a:prstGeom>
        </p:spPr>
      </p:pic>
    </p:spTree>
    <p:extLst>
      <p:ext uri="{BB962C8B-B14F-4D97-AF65-F5344CB8AC3E}">
        <p14:creationId xmlns:p14="http://schemas.microsoft.com/office/powerpoint/2010/main" val="27447344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b="1" dirty="0"/>
              <a:t>POSIX Matching (Leftmost Longest)</a:t>
            </a:r>
            <a:endParaRPr lang="en-US" dirty="0"/>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a:xfrm>
            <a:off x="687887" y="1253331"/>
            <a:ext cx="10515600" cy="4351338"/>
          </a:xfrm>
        </p:spPr>
        <p:txBody>
          <a:bodyPr/>
          <a:lstStyle/>
          <a:p>
            <a:r>
              <a:rPr lang="en-US" dirty="0"/>
              <a:t>The default matching method for alternations is to match the first alternative that will match. The POSIX standard is to find the leftmost longest match. This can be turned on using the POSIX flag </a:t>
            </a:r>
            <a:r>
              <a:rPr lang="en-US" b="1" dirty="0"/>
              <a:t>(?p)</a:t>
            </a:r>
            <a:r>
              <a:rPr lang="en-US" dirty="0"/>
              <a:t>.</a:t>
            </a:r>
          </a:p>
        </p:txBody>
      </p:sp>
      <p:pic>
        <p:nvPicPr>
          <p:cNvPr id="4" name="Picture 3">
            <a:extLst>
              <a:ext uri="{FF2B5EF4-FFF2-40B4-BE49-F238E27FC236}">
                <a16:creationId xmlns:a16="http://schemas.microsoft.com/office/drawing/2014/main" id="{3DD37A3F-3866-4BFD-94DE-A8044A1CC148}"/>
              </a:ext>
            </a:extLst>
          </p:cNvPr>
          <p:cNvPicPr>
            <a:picLocks noChangeAspect="1"/>
          </p:cNvPicPr>
          <p:nvPr/>
        </p:nvPicPr>
        <p:blipFill>
          <a:blip r:embed="rId2"/>
          <a:stretch>
            <a:fillRect/>
          </a:stretch>
        </p:blipFill>
        <p:spPr>
          <a:xfrm>
            <a:off x="1116512" y="2708417"/>
            <a:ext cx="9658350" cy="2943225"/>
          </a:xfrm>
          <a:prstGeom prst="rect">
            <a:avLst/>
          </a:prstGeom>
        </p:spPr>
      </p:pic>
    </p:spTree>
    <p:extLst>
      <p:ext uri="{BB962C8B-B14F-4D97-AF65-F5344CB8AC3E}">
        <p14:creationId xmlns:p14="http://schemas.microsoft.com/office/powerpoint/2010/main" val="93335138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1205E-968F-486F-9861-2E6369C0350E}"/>
              </a:ext>
            </a:extLst>
          </p:cNvPr>
          <p:cNvSpPr>
            <a:spLocks noGrp="1"/>
          </p:cNvSpPr>
          <p:nvPr>
            <p:ph type="title"/>
          </p:nvPr>
        </p:nvSpPr>
        <p:spPr/>
        <p:txBody>
          <a:bodyPr/>
          <a:lstStyle/>
          <a:p>
            <a:r>
              <a:rPr lang="en-US" dirty="0" err="1"/>
              <a:t>fullmatch</a:t>
            </a:r>
            <a:endParaRPr lang="en-US" dirty="0"/>
          </a:p>
        </p:txBody>
      </p:sp>
      <p:sp>
        <p:nvSpPr>
          <p:cNvPr id="3" name="Content Placeholder 2">
            <a:extLst>
              <a:ext uri="{FF2B5EF4-FFF2-40B4-BE49-F238E27FC236}">
                <a16:creationId xmlns:a16="http://schemas.microsoft.com/office/drawing/2014/main" id="{93706C82-C43A-4B51-A7EB-DCE8A4F1FF20}"/>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9188EF90-DD7C-4788-849B-545C86298958}"/>
              </a:ext>
            </a:extLst>
          </p:cNvPr>
          <p:cNvPicPr>
            <a:picLocks noChangeAspect="1"/>
          </p:cNvPicPr>
          <p:nvPr/>
        </p:nvPicPr>
        <p:blipFill>
          <a:blip r:embed="rId2"/>
          <a:stretch>
            <a:fillRect/>
          </a:stretch>
        </p:blipFill>
        <p:spPr>
          <a:xfrm>
            <a:off x="2276475" y="1466850"/>
            <a:ext cx="7639050" cy="3924300"/>
          </a:xfrm>
          <a:prstGeom prst="rect">
            <a:avLst/>
          </a:prstGeom>
        </p:spPr>
      </p:pic>
    </p:spTree>
    <p:extLst>
      <p:ext uri="{BB962C8B-B14F-4D97-AF65-F5344CB8AC3E}">
        <p14:creationId xmlns:p14="http://schemas.microsoft.com/office/powerpoint/2010/main" val="249606743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FAA39B-4C5D-41CF-9521-6050FC273A64}"/>
              </a:ext>
            </a:extLst>
          </p:cNvPr>
          <p:cNvSpPr>
            <a:spLocks noGrp="1"/>
          </p:cNvSpPr>
          <p:nvPr>
            <p:ph type="title"/>
          </p:nvPr>
        </p:nvSpPr>
        <p:spPr/>
        <p:txBody>
          <a:bodyPr/>
          <a:lstStyle/>
          <a:p>
            <a:r>
              <a:rPr lang="en-US" b="1" dirty="0"/>
              <a:t>Partial matching</a:t>
            </a:r>
            <a:endParaRPr lang="en-US" dirty="0"/>
          </a:p>
        </p:txBody>
      </p:sp>
      <p:sp>
        <p:nvSpPr>
          <p:cNvPr id="3" name="Content Placeholder 2">
            <a:extLst>
              <a:ext uri="{FF2B5EF4-FFF2-40B4-BE49-F238E27FC236}">
                <a16:creationId xmlns:a16="http://schemas.microsoft.com/office/drawing/2014/main" id="{98213BBD-A400-457E-A6E7-A84E91D3008F}"/>
              </a:ext>
            </a:extLst>
          </p:cNvPr>
          <p:cNvSpPr>
            <a:spLocks noGrp="1"/>
          </p:cNvSpPr>
          <p:nvPr>
            <p:ph idx="1"/>
          </p:nvPr>
        </p:nvSpPr>
        <p:spPr>
          <a:xfrm>
            <a:off x="400833" y="1152395"/>
            <a:ext cx="10952967" cy="864296"/>
          </a:xfrm>
        </p:spPr>
        <p:txBody>
          <a:bodyPr>
            <a:normAutofit fontScale="85000" lnSpcReduction="20000"/>
          </a:bodyPr>
          <a:lstStyle/>
          <a:p>
            <a:r>
              <a:rPr lang="en-US" dirty="0"/>
              <a:t>Can the target string be extended to match the pattern? The optional </a:t>
            </a:r>
            <a:r>
              <a:rPr lang="en-US" b="1" dirty="0"/>
              <a:t>partial</a:t>
            </a:r>
            <a:r>
              <a:rPr lang="en-US" dirty="0"/>
              <a:t> argument to </a:t>
            </a:r>
            <a:r>
              <a:rPr lang="en-US" b="1" dirty="0"/>
              <a:t>match</a:t>
            </a:r>
            <a:r>
              <a:rPr lang="en-US" dirty="0"/>
              <a:t>, </a:t>
            </a:r>
            <a:r>
              <a:rPr lang="en-US" b="1" dirty="0"/>
              <a:t>search</a:t>
            </a:r>
            <a:r>
              <a:rPr lang="en-US" dirty="0"/>
              <a:t>, and </a:t>
            </a:r>
            <a:r>
              <a:rPr lang="en-US" b="1" dirty="0" err="1"/>
              <a:t>fullmatch</a:t>
            </a:r>
            <a:r>
              <a:rPr lang="en-US" dirty="0"/>
              <a:t> can answer this question. This could be useful if you are validating input from the terminal, for example.</a:t>
            </a:r>
          </a:p>
          <a:p>
            <a:endParaRPr lang="en-US" dirty="0"/>
          </a:p>
          <a:p>
            <a:endParaRPr lang="en-US" dirty="0"/>
          </a:p>
        </p:txBody>
      </p:sp>
      <p:pic>
        <p:nvPicPr>
          <p:cNvPr id="4" name="Picture 3">
            <a:extLst>
              <a:ext uri="{FF2B5EF4-FFF2-40B4-BE49-F238E27FC236}">
                <a16:creationId xmlns:a16="http://schemas.microsoft.com/office/drawing/2014/main" id="{D7237C29-B086-47E1-851A-4AA801016DE8}"/>
              </a:ext>
            </a:extLst>
          </p:cNvPr>
          <p:cNvPicPr>
            <a:picLocks noChangeAspect="1"/>
          </p:cNvPicPr>
          <p:nvPr/>
        </p:nvPicPr>
        <p:blipFill>
          <a:blip r:embed="rId2"/>
          <a:stretch>
            <a:fillRect/>
          </a:stretch>
        </p:blipFill>
        <p:spPr>
          <a:xfrm>
            <a:off x="1331542" y="2131120"/>
            <a:ext cx="9353550" cy="4324350"/>
          </a:xfrm>
          <a:prstGeom prst="rect">
            <a:avLst/>
          </a:prstGeom>
        </p:spPr>
      </p:pic>
    </p:spTree>
    <p:extLst>
      <p:ext uri="{BB962C8B-B14F-4D97-AF65-F5344CB8AC3E}">
        <p14:creationId xmlns:p14="http://schemas.microsoft.com/office/powerpoint/2010/main" val="123074190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E20886-45E6-4135-B828-CBE435AEE4C1}"/>
              </a:ext>
            </a:extLst>
          </p:cNvPr>
          <p:cNvSpPr>
            <a:spLocks noGrp="1"/>
          </p:cNvSpPr>
          <p:nvPr>
            <p:ph type="title"/>
          </p:nvPr>
        </p:nvSpPr>
        <p:spPr/>
        <p:txBody>
          <a:bodyPr/>
          <a:lstStyle/>
          <a:p>
            <a:r>
              <a:rPr lang="en-US" b="1" dirty="0"/>
              <a:t>Partial matching</a:t>
            </a:r>
            <a:endParaRPr lang="en-US" dirty="0"/>
          </a:p>
        </p:txBody>
      </p:sp>
      <p:sp>
        <p:nvSpPr>
          <p:cNvPr id="3" name="Content Placeholder 2">
            <a:extLst>
              <a:ext uri="{FF2B5EF4-FFF2-40B4-BE49-F238E27FC236}">
                <a16:creationId xmlns:a16="http://schemas.microsoft.com/office/drawing/2014/main" id="{0579B593-935D-4EBF-84E6-8E9FC84C405B}"/>
              </a:ext>
            </a:extLst>
          </p:cNvPr>
          <p:cNvSpPr>
            <a:spLocks noGrp="1"/>
          </p:cNvSpPr>
          <p:nvPr>
            <p:ph idx="1"/>
          </p:nvPr>
        </p:nvSpPr>
        <p:spPr/>
        <p:txBody>
          <a:bodyPr/>
          <a:lstStyle/>
          <a:p>
            <a:endParaRPr lang="en-US"/>
          </a:p>
        </p:txBody>
      </p:sp>
      <p:pic>
        <p:nvPicPr>
          <p:cNvPr id="4" name="Picture 3">
            <a:extLst>
              <a:ext uri="{FF2B5EF4-FFF2-40B4-BE49-F238E27FC236}">
                <a16:creationId xmlns:a16="http://schemas.microsoft.com/office/drawing/2014/main" id="{01703CE4-3164-4CA0-BF7B-AAEE0D04E891}"/>
              </a:ext>
            </a:extLst>
          </p:cNvPr>
          <p:cNvPicPr>
            <a:picLocks noChangeAspect="1"/>
          </p:cNvPicPr>
          <p:nvPr/>
        </p:nvPicPr>
        <p:blipFill>
          <a:blip r:embed="rId2"/>
          <a:stretch>
            <a:fillRect/>
          </a:stretch>
        </p:blipFill>
        <p:spPr>
          <a:xfrm>
            <a:off x="388460" y="1553096"/>
            <a:ext cx="11415079" cy="4083615"/>
          </a:xfrm>
          <a:prstGeom prst="rect">
            <a:avLst/>
          </a:prstGeom>
        </p:spPr>
      </p:pic>
    </p:spTree>
    <p:extLst>
      <p:ext uri="{BB962C8B-B14F-4D97-AF65-F5344CB8AC3E}">
        <p14:creationId xmlns:p14="http://schemas.microsoft.com/office/powerpoint/2010/main" val="360476502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3FBB0C-B7C7-435B-826D-D9C87EB35DE6}"/>
              </a:ext>
            </a:extLst>
          </p:cNvPr>
          <p:cNvSpPr>
            <a:spLocks noGrp="1"/>
          </p:cNvSpPr>
          <p:nvPr>
            <p:ph type="title"/>
          </p:nvPr>
        </p:nvSpPr>
        <p:spPr/>
        <p:txBody>
          <a:bodyPr/>
          <a:lstStyle/>
          <a:p>
            <a:r>
              <a:rPr lang="en-US" dirty="0"/>
              <a:t>Regex using grep</a:t>
            </a:r>
          </a:p>
        </p:txBody>
      </p:sp>
      <p:sp>
        <p:nvSpPr>
          <p:cNvPr id="3" name="Content Placeholder 2">
            <a:extLst>
              <a:ext uri="{FF2B5EF4-FFF2-40B4-BE49-F238E27FC236}">
                <a16:creationId xmlns:a16="http://schemas.microsoft.com/office/drawing/2014/main" id="{61CF8311-82B7-4E63-9786-04BA43356C13}"/>
              </a:ext>
            </a:extLst>
          </p:cNvPr>
          <p:cNvSpPr>
            <a:spLocks noGrp="1"/>
          </p:cNvSpPr>
          <p:nvPr>
            <p:ph idx="1"/>
          </p:nvPr>
        </p:nvSpPr>
        <p:spPr/>
        <p:txBody>
          <a:bodyPr/>
          <a:lstStyle/>
          <a:p>
            <a:r>
              <a:rPr lang="en-US" dirty="0"/>
              <a:t>Using regexes supported by the grep command in Linux.</a:t>
            </a:r>
          </a:p>
        </p:txBody>
      </p:sp>
      <p:pic>
        <p:nvPicPr>
          <p:cNvPr id="4" name="Picture 3">
            <a:extLst>
              <a:ext uri="{FF2B5EF4-FFF2-40B4-BE49-F238E27FC236}">
                <a16:creationId xmlns:a16="http://schemas.microsoft.com/office/drawing/2014/main" id="{441469B0-0517-45F9-930F-36863678A28B}"/>
              </a:ext>
            </a:extLst>
          </p:cNvPr>
          <p:cNvPicPr>
            <a:picLocks noChangeAspect="1"/>
          </p:cNvPicPr>
          <p:nvPr/>
        </p:nvPicPr>
        <p:blipFill>
          <a:blip r:embed="rId2"/>
          <a:stretch>
            <a:fillRect/>
          </a:stretch>
        </p:blipFill>
        <p:spPr>
          <a:xfrm>
            <a:off x="1343025" y="2721540"/>
            <a:ext cx="9505950" cy="3619500"/>
          </a:xfrm>
          <a:prstGeom prst="rect">
            <a:avLst/>
          </a:prstGeom>
        </p:spPr>
      </p:pic>
    </p:spTree>
    <p:extLst>
      <p:ext uri="{BB962C8B-B14F-4D97-AF65-F5344CB8AC3E}">
        <p14:creationId xmlns:p14="http://schemas.microsoft.com/office/powerpoint/2010/main" val="388709093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23DA70-042F-4448-ADD5-82FDC5DBFB18}"/>
              </a:ext>
            </a:extLst>
          </p:cNvPr>
          <p:cNvSpPr>
            <a:spLocks noGrp="1"/>
          </p:cNvSpPr>
          <p:nvPr>
            <p:ph type="title"/>
          </p:nvPr>
        </p:nvSpPr>
        <p:spPr/>
        <p:txBody>
          <a:bodyPr/>
          <a:lstStyle/>
          <a:p>
            <a:r>
              <a:rPr lang="en-US" dirty="0"/>
              <a:t>References</a:t>
            </a:r>
          </a:p>
        </p:txBody>
      </p:sp>
      <p:sp>
        <p:nvSpPr>
          <p:cNvPr id="3" name="Content Placeholder 2">
            <a:extLst>
              <a:ext uri="{FF2B5EF4-FFF2-40B4-BE49-F238E27FC236}">
                <a16:creationId xmlns:a16="http://schemas.microsoft.com/office/drawing/2014/main" id="{8FC9257A-2CBC-433E-A67D-BA6927C38D7B}"/>
              </a:ext>
            </a:extLst>
          </p:cNvPr>
          <p:cNvSpPr>
            <a:spLocks noGrp="1"/>
          </p:cNvSpPr>
          <p:nvPr>
            <p:ph idx="1"/>
          </p:nvPr>
        </p:nvSpPr>
        <p:spPr/>
        <p:txBody>
          <a:bodyPr>
            <a:normAutofit/>
          </a:bodyPr>
          <a:lstStyle/>
          <a:p>
            <a:r>
              <a:rPr lang="en-US" i="1" u="sng" dirty="0">
                <a:hlinkClick r:id="rId2"/>
              </a:rPr>
              <a:t>https://github.com/rexdwyer/Splitsville/blob/master/Splitsville.ipynb</a:t>
            </a:r>
            <a:endParaRPr lang="en-US" i="1" u="sng" dirty="0"/>
          </a:p>
          <a:p>
            <a:r>
              <a:rPr lang="en-US" i="1" u="sng" dirty="0">
                <a:hlinkClick r:id="rId3"/>
              </a:rPr>
              <a:t>http://pages.stern.nyu.edu/~sbp345/websys/python_dwd/Session%203%20(Regular%20Expressions).ipynb</a:t>
            </a:r>
            <a:r>
              <a:rPr lang="en-US" i="1" u="sng" dirty="0"/>
              <a:t> </a:t>
            </a:r>
          </a:p>
          <a:p>
            <a:endParaRPr lang="en-US" i="1" u="sng" dirty="0"/>
          </a:p>
          <a:p>
            <a:endParaRPr lang="en-US" dirty="0"/>
          </a:p>
        </p:txBody>
      </p:sp>
    </p:spTree>
    <p:extLst>
      <p:ext uri="{BB962C8B-B14F-4D97-AF65-F5344CB8AC3E}">
        <p14:creationId xmlns:p14="http://schemas.microsoft.com/office/powerpoint/2010/main" val="10978871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Content Placeholder 2"/>
          <p:cNvSpPr>
            <a:spLocks noGrp="1"/>
          </p:cNvSpPr>
          <p:nvPr>
            <p:ph idx="1"/>
          </p:nvPr>
        </p:nvSpPr>
        <p:spPr/>
        <p:txBody>
          <a:bodyPr/>
          <a:lstStyle/>
          <a:p>
            <a:r>
              <a:rPr lang="en-US" dirty="0"/>
              <a:t>Manish Gupta</a:t>
            </a:r>
          </a:p>
          <a:p>
            <a:r>
              <a:rPr lang="en-US" dirty="0"/>
              <a:t>Write to me at </a:t>
            </a:r>
            <a:r>
              <a:rPr lang="en-US" dirty="0">
                <a:hlinkClick r:id="rId3"/>
              </a:rPr>
              <a:t>manishg.iitb@gmail.com</a:t>
            </a:r>
            <a:endParaRPr lang="en-US" dirty="0"/>
          </a:p>
          <a:p>
            <a:r>
              <a:rPr lang="en-US" dirty="0"/>
              <a:t>Connect with me at </a:t>
            </a:r>
            <a:r>
              <a:rPr lang="en-US" dirty="0">
                <a:hlinkClick r:id="rId4"/>
              </a:rPr>
              <a:t>https://www.linkedin.com/in/manishsgupta</a:t>
            </a:r>
            <a:endParaRPr lang="en-US" dirty="0"/>
          </a:p>
          <a:p>
            <a:r>
              <a:rPr lang="en-US" dirty="0"/>
              <a:t>Stay up to date with my research at </a:t>
            </a:r>
            <a:r>
              <a:rPr lang="en-US" dirty="0">
                <a:hlinkClick r:id="rId5"/>
              </a:rPr>
              <a:t>https://sites.google.com/view/manishg/</a:t>
            </a:r>
            <a:r>
              <a:rPr lang="en-US" dirty="0"/>
              <a:t> </a:t>
            </a:r>
          </a:p>
        </p:txBody>
      </p:sp>
    </p:spTree>
    <p:extLst>
      <p:ext uri="{BB962C8B-B14F-4D97-AF65-F5344CB8AC3E}">
        <p14:creationId xmlns:p14="http://schemas.microsoft.com/office/powerpoint/2010/main" val="8933071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4663</TotalTime>
  <Words>1746</Words>
  <Application>Microsoft Office PowerPoint</Application>
  <PresentationFormat>Widescreen</PresentationFormat>
  <Paragraphs>174</Paragraphs>
  <Slides>43</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43</vt:i4>
      </vt:variant>
    </vt:vector>
  </HeadingPairs>
  <TitlesOfParts>
    <vt:vector size="48" baseType="lpstr">
      <vt:lpstr>Arial</vt:lpstr>
      <vt:lpstr>Calibri</vt:lpstr>
      <vt:lpstr>Calibri Light</vt:lpstr>
      <vt:lpstr>Helvetica Neue</vt:lpstr>
      <vt:lpstr>Office Theme</vt:lpstr>
      <vt:lpstr>Python for Data Science  Regular Expressions</vt:lpstr>
      <vt:lpstr>Regular expressions</vt:lpstr>
      <vt:lpstr>Searching for Patterns in Text</vt:lpstr>
      <vt:lpstr>The match object, and IGNORECASE</vt:lpstr>
      <vt:lpstr>Groups()</vt:lpstr>
      <vt:lpstr>Regular expression flags</vt:lpstr>
      <vt:lpstr>Split, findall, finditer</vt:lpstr>
      <vt:lpstr>Patterns Syntax</vt:lpstr>
      <vt:lpstr>Repetition Syntax</vt:lpstr>
      <vt:lpstr>Pattern Examples</vt:lpstr>
      <vt:lpstr>Character Sets</vt:lpstr>
      <vt:lpstr>Exclusion</vt:lpstr>
      <vt:lpstr>Character Ranges</vt:lpstr>
      <vt:lpstr>Escape Codes</vt:lpstr>
      <vt:lpstr>Escape Codes</vt:lpstr>
      <vt:lpstr>Substitution</vt:lpstr>
      <vt:lpstr>Greedy vs non-greedy matching</vt:lpstr>
      <vt:lpstr>Backreferences</vt:lpstr>
      <vt:lpstr>Regex patterns</vt:lpstr>
      <vt:lpstr>Regex patterns</vt:lpstr>
      <vt:lpstr>Capturing parts of the pattern match</vt:lpstr>
      <vt:lpstr>Greedy and lazy matching</vt:lpstr>
      <vt:lpstr>Capturing in the pattern for split </vt:lpstr>
      <vt:lpstr>split and zero-width assertions</vt:lpstr>
      <vt:lpstr>\m and \M are zero-width assertions that are true at the beginnings and ends of words</vt:lpstr>
      <vt:lpstr>Look-arounds</vt:lpstr>
      <vt:lpstr>Look-arounds</vt:lpstr>
      <vt:lpstr>Look-arounds</vt:lpstr>
      <vt:lpstr>Fun with DNA: Open reading frames</vt:lpstr>
      <vt:lpstr>Fun with DNA: Open reading frames</vt:lpstr>
      <vt:lpstr>Nested Sets</vt:lpstr>
      <vt:lpstr>Fuzzy matching</vt:lpstr>
      <vt:lpstr>Fuzzy matching</vt:lpstr>
      <vt:lpstr>Multiple Captures</vt:lpstr>
      <vt:lpstr>Multiple Captures</vt:lpstr>
      <vt:lpstr>Reverse Searching</vt:lpstr>
      <vt:lpstr>POSIX Matching (Leftmost Longest)</vt:lpstr>
      <vt:lpstr>fullmatch</vt:lpstr>
      <vt:lpstr>Partial matching</vt:lpstr>
      <vt:lpstr>Partial matching</vt:lpstr>
      <vt:lpstr>Regex using grep</vt:lpstr>
      <vt:lpstr>References</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End-to-end ML using Azure ML</dc:title>
  <dc:creator>Manish Gupta (BING-IDC)</dc:creator>
  <cp:lastModifiedBy>Manish Gupta (BING-IDC)</cp:lastModifiedBy>
  <cp:revision>272</cp:revision>
  <dcterms:created xsi:type="dcterms:W3CDTF">2017-02-09T04:08:46Z</dcterms:created>
  <dcterms:modified xsi:type="dcterms:W3CDTF">2018-05-11T20:42:03Z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f42aa342-8706-4288-bd11-ebb85995028c_Enabled">
    <vt:lpwstr>True</vt:lpwstr>
  </property>
  <property fmtid="{D5CDD505-2E9C-101B-9397-08002B2CF9AE}" pid="3" name="MSIP_Label_f42aa342-8706-4288-bd11-ebb85995028c_SiteId">
    <vt:lpwstr>72f988bf-86f1-41af-91ab-2d7cd011db47</vt:lpwstr>
  </property>
  <property fmtid="{D5CDD505-2E9C-101B-9397-08002B2CF9AE}" pid="4" name="MSIP_Label_f42aa342-8706-4288-bd11-ebb85995028c_Owner">
    <vt:lpwstr>gmanish@microsoft.com</vt:lpwstr>
  </property>
  <property fmtid="{D5CDD505-2E9C-101B-9397-08002B2CF9AE}" pid="5" name="MSIP_Label_f42aa342-8706-4288-bd11-ebb85995028c_SetDate">
    <vt:lpwstr>2018-03-05T05:41:21.5680578Z</vt:lpwstr>
  </property>
  <property fmtid="{D5CDD505-2E9C-101B-9397-08002B2CF9AE}" pid="6" name="MSIP_Label_f42aa342-8706-4288-bd11-ebb85995028c_Name">
    <vt:lpwstr>General</vt:lpwstr>
  </property>
  <property fmtid="{D5CDD505-2E9C-101B-9397-08002B2CF9AE}" pid="7" name="MSIP_Label_f42aa342-8706-4288-bd11-ebb85995028c_Application">
    <vt:lpwstr>Microsoft Azure Information Protection</vt:lpwstr>
  </property>
  <property fmtid="{D5CDD505-2E9C-101B-9397-08002B2CF9AE}" pid="8" name="MSIP_Label_f42aa342-8706-4288-bd11-ebb85995028c_Extended_MSFT_Method">
    <vt:lpwstr>Automatic</vt:lpwstr>
  </property>
  <property fmtid="{D5CDD505-2E9C-101B-9397-08002B2CF9AE}" pid="9" name="Sensitivity">
    <vt:lpwstr>General</vt:lpwstr>
  </property>
</Properties>
</file>