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6" r:id="rId2"/>
    <p:sldId id="414" r:id="rId3"/>
    <p:sldId id="325" r:id="rId4"/>
    <p:sldId id="326" r:id="rId5"/>
    <p:sldId id="327" r:id="rId6"/>
    <p:sldId id="329" r:id="rId7"/>
    <p:sldId id="411" r:id="rId8"/>
    <p:sldId id="415" r:id="rId9"/>
    <p:sldId id="333" r:id="rId10"/>
    <p:sldId id="335" r:id="rId11"/>
    <p:sldId id="336" r:id="rId12"/>
    <p:sldId id="338" r:id="rId13"/>
    <p:sldId id="342" r:id="rId14"/>
    <p:sldId id="409" r:id="rId15"/>
    <p:sldId id="416" r:id="rId16"/>
    <p:sldId id="339" r:id="rId17"/>
    <p:sldId id="340" r:id="rId18"/>
    <p:sldId id="417" r:id="rId19"/>
    <p:sldId id="263" r:id="rId20"/>
    <p:sldId id="264" r:id="rId21"/>
    <p:sldId id="265" r:id="rId22"/>
    <p:sldId id="266" r:id="rId23"/>
    <p:sldId id="267" r:id="rId24"/>
    <p:sldId id="269" r:id="rId25"/>
    <p:sldId id="418" r:id="rId26"/>
    <p:sldId id="421" r:id="rId27"/>
    <p:sldId id="271" r:id="rId28"/>
    <p:sldId id="273" r:id="rId29"/>
    <p:sldId id="274" r:id="rId30"/>
    <p:sldId id="275" r:id="rId31"/>
    <p:sldId id="276" r:id="rId32"/>
    <p:sldId id="277" r:id="rId33"/>
    <p:sldId id="422" r:id="rId34"/>
    <p:sldId id="423" r:id="rId35"/>
    <p:sldId id="424" r:id="rId36"/>
    <p:sldId id="425" r:id="rId37"/>
    <p:sldId id="426" r:id="rId38"/>
    <p:sldId id="427" r:id="rId39"/>
    <p:sldId id="280" r:id="rId40"/>
    <p:sldId id="281" r:id="rId41"/>
    <p:sldId id="282" r:id="rId42"/>
    <p:sldId id="283" r:id="rId43"/>
    <p:sldId id="285" r:id="rId44"/>
    <p:sldId id="408" r:id="rId45"/>
  </p:sldIdLst>
  <p:sldSz cx="10287000" cy="6858000" type="35mm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E78CE95-162B-40C8-A951-718D90E62CB7}">
          <p14:sldIdLst>
            <p14:sldId id="256"/>
            <p14:sldId id="414"/>
            <p14:sldId id="325"/>
            <p14:sldId id="326"/>
            <p14:sldId id="327"/>
            <p14:sldId id="329"/>
            <p14:sldId id="411"/>
            <p14:sldId id="415"/>
            <p14:sldId id="333"/>
            <p14:sldId id="335"/>
            <p14:sldId id="336"/>
            <p14:sldId id="338"/>
            <p14:sldId id="342"/>
            <p14:sldId id="409"/>
            <p14:sldId id="416"/>
            <p14:sldId id="339"/>
            <p14:sldId id="340"/>
            <p14:sldId id="417"/>
            <p14:sldId id="263"/>
            <p14:sldId id="264"/>
            <p14:sldId id="265"/>
            <p14:sldId id="266"/>
            <p14:sldId id="267"/>
            <p14:sldId id="269"/>
            <p14:sldId id="418"/>
            <p14:sldId id="421"/>
            <p14:sldId id="271"/>
            <p14:sldId id="273"/>
            <p14:sldId id="274"/>
            <p14:sldId id="275"/>
            <p14:sldId id="276"/>
            <p14:sldId id="277"/>
            <p14:sldId id="422"/>
            <p14:sldId id="423"/>
            <p14:sldId id="424"/>
            <p14:sldId id="425"/>
            <p14:sldId id="426"/>
            <p14:sldId id="427"/>
            <p14:sldId id="280"/>
            <p14:sldId id="281"/>
            <p14:sldId id="282"/>
            <p14:sldId id="283"/>
            <p14:sldId id="285"/>
            <p14:sldId id="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6600"/>
    <a:srgbClr val="FF3300"/>
    <a:srgbClr val="33CC33"/>
    <a:srgbClr val="66CCFF"/>
    <a:srgbClr val="346374"/>
    <a:srgbClr val="0077BD"/>
    <a:srgbClr val="003399"/>
    <a:srgbClr val="CC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86355" autoAdjust="0"/>
  </p:normalViewPr>
  <p:slideViewPr>
    <p:cSldViewPr>
      <p:cViewPr varScale="1">
        <p:scale>
          <a:sx n="98" d="100"/>
          <a:sy n="98" d="100"/>
        </p:scale>
        <p:origin x="1356" y="102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7263" y="720725"/>
            <a:ext cx="5400675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35648293-2628-4091-BED1-7FD9F75357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89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65E541-0C65-4668-97E0-BC8F9EF85E8B}" type="slidenum">
              <a:rPr lang="en-US" smtClean="0"/>
              <a:pPr eaLnBrk="1" hangingPunct="1"/>
              <a:t>1</a:t>
            </a:fld>
            <a:endParaRPr lang="en-US" dirty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72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86323-23FC-C745-A59E-E7A0F69F23C3}" type="slidenum">
              <a:rPr lang="en-US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5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24F83C-53AC-F24F-80E2-C55109AFC467}" type="slidenum">
              <a:rPr lang="en-US"/>
              <a:pPr/>
              <a:t>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8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BB694-CB85-1C42-BB21-6EC89F24E5E0}" type="slidenum">
              <a:rPr lang="en-US"/>
              <a:pPr/>
              <a:t>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71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4D6FAE-BAB2-4B44-B9CF-68A8BE4C6FBA}" type="slidenum">
              <a:rPr lang="en-US"/>
              <a:pPr/>
              <a:t>16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76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8F872B-19D4-8F46-BECB-09C895BA15F0}" type="slidenum">
              <a:rPr lang="en-US"/>
              <a:pPr/>
              <a:t>17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0AE166F-7709-4E0E-960F-B0025896A011}" type="slidenum">
              <a:rPr lang="en-US" sz="11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sz="1100">
              <a:latin typeface="Lucida Sans" panose="020B0602030504020204" pitchFamily="34" charset="0"/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685800"/>
            <a:ext cx="51419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5342" tIns="42671" rIns="85342" bIns="42671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6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28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ea typeface="ＭＳ Ｐゴシック" panose="020B0600070205080204" pitchFamily="34" charset="-128"/>
              </a:rPr>
              <a:t>Grep is line-oriented; IR is document oriented.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4A39E2D-C2EF-44F7-83FC-ED38FBCF79BA}" type="slidenum">
              <a:rPr lang="en-US" sz="11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sz="1100">
              <a:latin typeface="Lucida Sans" panose="020B0602030504020204" pitchFamily="34" charset="0"/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308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A28F-C7BF-400B-AC21-D5A873D0488F}" type="slidenum">
              <a:rPr lang="en-US" smtClean="0"/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8F7C6-D16E-4897-91BF-20FADE2D5CE6}" type="datetime8">
              <a:rPr lang="en-US" smtClean="0"/>
              <a:t>Sun-14-Mar-21 11:46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87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E83A0E8-0638-497B-A2E7-05408BF570D8}" type="datetime8">
              <a:rPr lang="en-US" smtClean="0"/>
              <a:t>Sun-14-Mar-21 11:46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70A28F-C7BF-400B-AC21-D5A873D048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47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1B868D-839F-42EE-A925-347894CA6F9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46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1B868D-839F-42EE-A925-347894CA6F9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2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00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rgbClr val="002060"/>
                </a:solidFill>
                <a:latin typeface="Minion" pitchFamily="18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Minion" pitchFamily="18" charset="0"/>
                <a:ea typeface="Verdana" pitchFamily="34" charset="0"/>
                <a:cs typeface="Verdana" pitchFamily="34" charset="0"/>
              </a:defRPr>
            </a:lvl1pPr>
            <a:lvl2pPr>
              <a:defRPr sz="2000">
                <a:latin typeface="Minion" pitchFamily="18" charset="0"/>
                <a:ea typeface="Verdana" pitchFamily="34" charset="0"/>
                <a:cs typeface="Verdana" pitchFamily="34" charset="0"/>
              </a:defRPr>
            </a:lvl2pPr>
            <a:lvl3pPr>
              <a:defRPr sz="1600">
                <a:latin typeface="Minion" pitchFamily="18" charset="0"/>
                <a:ea typeface="Verdana" pitchFamily="34" charset="0"/>
                <a:cs typeface="Verdana" pitchFamily="34" charset="0"/>
              </a:defRPr>
            </a:lvl3pPr>
            <a:lvl4pPr>
              <a:defRPr sz="1200">
                <a:latin typeface="Minion" pitchFamily="18" charset="0"/>
                <a:ea typeface="Verdana" pitchFamily="34" charset="0"/>
                <a:cs typeface="Verdana" pitchFamily="34" charset="0"/>
              </a:defRPr>
            </a:lvl4pPr>
            <a:lvl5pPr>
              <a:defRPr sz="1000">
                <a:latin typeface="Minion" pitchFamily="18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999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990600"/>
            <a:ext cx="92583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152401"/>
            <a:ext cx="82105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ASTERPLAN" pitchFamily="2" charset="0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dcs.qmul.ac.uk/~norman/BBNs/Chain_rule.htm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dcs.qmul.ac.uk/~norman/BBNs/Chain_rule.htm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xdwyer/Splitsville/blob/master/Splitsville.ipynb" TargetMode="External"/><Relationship Id="rId2" Type="http://schemas.openxmlformats.org/officeDocument/2006/relationships/hyperlink" Target="http://web.stanford.edu/class/cs276a/handouts/lecture12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ages.stern.nyu.edu/~sbp345/websys/python_dwd/Session%203%20(Regular%20Expressions)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9100" y="5562600"/>
            <a:ext cx="6295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Adapted from Dan </a:t>
            </a:r>
            <a:r>
              <a:rPr lang="en-IN" dirty="0" err="1"/>
              <a:t>Jurafsky’s</a:t>
            </a:r>
            <a:r>
              <a:rPr lang="en-IN" dirty="0"/>
              <a:t> course slides on </a:t>
            </a:r>
          </a:p>
          <a:p>
            <a:r>
              <a:rPr lang="en-IN" dirty="0"/>
              <a:t>https://web.stanford.edu/~jurafsky/NLPCourseraSlides.html </a:t>
            </a:r>
          </a:p>
          <a:p>
            <a:r>
              <a:rPr lang="en-US" dirty="0"/>
              <a:t>https://www.cse.iitb.ac.in/~nlp-ai/WSD.ppt</a:t>
            </a:r>
            <a:endParaRPr lang="en-IN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A9CA4-B0AB-4BE4-821E-E20D614CAB76}"/>
              </a:ext>
            </a:extLst>
          </p:cNvPr>
          <p:cNvSpPr txBox="1"/>
          <p:nvPr/>
        </p:nvSpPr>
        <p:spPr>
          <a:xfrm>
            <a:off x="2705100" y="290578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346374"/>
                </a:solidFill>
              </a:rPr>
              <a:t>Session 1</a:t>
            </a:r>
          </a:p>
          <a:p>
            <a:pPr algn="ctr"/>
            <a:r>
              <a:rPr lang="en-IN" sz="2800" b="1" dirty="0">
                <a:solidFill>
                  <a:srgbClr val="346374"/>
                </a:solidFill>
              </a:rPr>
              <a:t>Text Analytics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95600"/>
            <a:ext cx="9258300" cy="761999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7030A0"/>
                </a:solidFill>
              </a:rPr>
              <a:t>Tokenization</a:t>
            </a:r>
          </a:p>
        </p:txBody>
      </p:sp>
    </p:spTree>
    <p:extLst>
      <p:ext uri="{BB962C8B-B14F-4D97-AF65-F5344CB8AC3E}">
        <p14:creationId xmlns:p14="http://schemas.microsoft.com/office/powerpoint/2010/main" val="49610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Issues in English tokenization</a:t>
            </a:r>
          </a:p>
          <a:p>
            <a:pPr lvl="1"/>
            <a:r>
              <a:rPr lang="en-US" sz="1600" dirty="0">
                <a:latin typeface="Courier"/>
                <a:cs typeface="Courier"/>
              </a:rPr>
              <a:t>Finland’s capital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 </a:t>
            </a:r>
            <a:r>
              <a:rPr lang="en-US" sz="1600" i="1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Finland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Finlands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Finland’s </a:t>
            </a:r>
            <a:r>
              <a:rPr lang="en-US" sz="1600" dirty="0">
                <a:latin typeface="Calibri"/>
                <a:cs typeface="Calibri"/>
                <a:sym typeface="Symbol" charset="2"/>
              </a:rPr>
              <a:t> </a:t>
            </a:r>
            <a:r>
              <a:rPr lang="en-US" sz="1600" i="1" dirty="0">
                <a:latin typeface="Calibri"/>
                <a:cs typeface="Calibri"/>
                <a:sym typeface="Symbol" charset="2"/>
              </a:rPr>
              <a:t>?</a:t>
            </a:r>
            <a:endParaRPr lang="en-US" sz="1600" dirty="0">
              <a:latin typeface="Calibri"/>
              <a:cs typeface="Calibri"/>
              <a:sym typeface="Symbol" charset="2"/>
            </a:endParaRPr>
          </a:p>
          <a:p>
            <a:pPr lvl="1"/>
            <a:r>
              <a:rPr lang="en-US" sz="1600" dirty="0">
                <a:latin typeface="Courier"/>
                <a:cs typeface="Courier"/>
              </a:rPr>
              <a:t>what’re, I’m, isn’t 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</a:t>
            </a:r>
            <a:r>
              <a:rPr lang="en-US" sz="1600" i="1" dirty="0">
                <a:latin typeface="Courier"/>
                <a:cs typeface="Courier"/>
              </a:rPr>
              <a:t> 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What are, I am, is not</a:t>
            </a:r>
          </a:p>
          <a:p>
            <a:pPr lvl="1"/>
            <a:r>
              <a:rPr lang="en-US" sz="1600" dirty="0">
                <a:latin typeface="Courier"/>
                <a:cs typeface="Courier"/>
                <a:sym typeface="Symbol" charset="2"/>
              </a:rPr>
              <a:t>Hewlett-Packard        Hewlett Packard </a:t>
            </a:r>
            <a:r>
              <a:rPr lang="en-US" sz="1600" dirty="0">
                <a:cs typeface="Calibri"/>
                <a:sym typeface="Symbol" charset="2"/>
              </a:rPr>
              <a:t>?</a:t>
            </a:r>
            <a:endParaRPr lang="en-US" sz="1600" dirty="0">
              <a:latin typeface="Courier"/>
              <a:cs typeface="Courier"/>
              <a:sym typeface="Symbol" charset="2"/>
            </a:endParaRPr>
          </a:p>
          <a:p>
            <a:pPr lvl="1"/>
            <a:r>
              <a:rPr lang="en-US" sz="1600" dirty="0">
                <a:latin typeface="Courier"/>
                <a:cs typeface="Courier"/>
                <a:sym typeface="Symbol" charset="2"/>
              </a:rPr>
              <a:t>state-of-the-art       state of the art </a:t>
            </a:r>
            <a:r>
              <a:rPr lang="en-US" sz="1600" dirty="0">
                <a:latin typeface="Calibri"/>
                <a:cs typeface="Calibri"/>
                <a:sym typeface="Symbol" charset="2"/>
              </a:rPr>
              <a:t>?</a:t>
            </a:r>
          </a:p>
          <a:p>
            <a:pPr lvl="1"/>
            <a:r>
              <a:rPr lang="en-US" sz="1600" dirty="0">
                <a:latin typeface="Courier"/>
                <a:cs typeface="Courier"/>
                <a:sym typeface="Symbol" charset="2"/>
              </a:rPr>
              <a:t>Lowercase		  lower-case lowercase lower case </a:t>
            </a:r>
            <a:r>
              <a:rPr lang="en-US" sz="1600" dirty="0">
                <a:latin typeface="Calibri"/>
                <a:cs typeface="Calibri"/>
                <a:sym typeface="Symbol" charset="2"/>
              </a:rPr>
              <a:t>?</a:t>
            </a:r>
          </a:p>
          <a:p>
            <a:pPr lvl="1"/>
            <a:r>
              <a:rPr lang="en-US" sz="1600" dirty="0">
                <a:latin typeface="Courier"/>
                <a:cs typeface="Courier"/>
                <a:sym typeface="Symbol" charset="2"/>
              </a:rPr>
              <a:t>San Francisco	  </a:t>
            </a:r>
            <a:r>
              <a:rPr lang="en-US" sz="1800" dirty="0">
                <a:latin typeface="Calibri"/>
                <a:cs typeface="Calibri"/>
                <a:sym typeface="Symbol" charset="2"/>
              </a:rPr>
              <a:t>one token or two?</a:t>
            </a:r>
          </a:p>
          <a:p>
            <a:pPr lvl="1"/>
            <a:r>
              <a:rPr lang="en-US" sz="1600" dirty="0">
                <a:latin typeface="Calibri"/>
                <a:cs typeface="Calibri"/>
                <a:sym typeface="Symbol" charset="2"/>
              </a:rPr>
              <a:t>Acronyms: m.p.h., PhD.		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 </a:t>
            </a:r>
            <a:r>
              <a:rPr lang="en-US" sz="1600" dirty="0">
                <a:latin typeface="Calibri"/>
                <a:cs typeface="Calibri"/>
                <a:sym typeface="Symbol" charset="2"/>
              </a:rPr>
              <a:t>??</a:t>
            </a:r>
          </a:p>
          <a:p>
            <a:pPr eaLnBrk="1" hangingPunct="1"/>
            <a:r>
              <a:rPr lang="en-US" dirty="0"/>
              <a:t>French</a:t>
            </a:r>
          </a:p>
          <a:p>
            <a:pPr lvl="1" eaLnBrk="1" hangingPunct="1"/>
            <a:r>
              <a:rPr lang="en-US" b="1" i="1" dirty="0" err="1"/>
              <a:t>L'ensemble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 one token or two? </a:t>
            </a:r>
            <a:r>
              <a:rPr lang="en-US" b="1" i="1" dirty="0">
                <a:sym typeface="Symbol" charset="2"/>
              </a:rPr>
              <a:t>L </a:t>
            </a:r>
            <a:r>
              <a:rPr lang="en-US" dirty="0">
                <a:sym typeface="Symbol" charset="2"/>
              </a:rPr>
              <a:t>? </a:t>
            </a:r>
            <a:r>
              <a:rPr lang="en-US" b="1" i="1" dirty="0">
                <a:sym typeface="Symbol" charset="2"/>
              </a:rPr>
              <a:t>L’ </a:t>
            </a:r>
            <a:r>
              <a:rPr lang="en-US" dirty="0">
                <a:sym typeface="Symbol" charset="2"/>
              </a:rPr>
              <a:t>? </a:t>
            </a:r>
            <a:r>
              <a:rPr lang="en-US" b="1" i="1" dirty="0">
                <a:sym typeface="Symbol" charset="2"/>
              </a:rPr>
              <a:t>Le </a:t>
            </a:r>
            <a:r>
              <a:rPr lang="en-US" dirty="0">
                <a:sym typeface="Symbol" charset="2"/>
              </a:rPr>
              <a:t>?</a:t>
            </a:r>
          </a:p>
          <a:p>
            <a:pPr lvl="2" eaLnBrk="1" hangingPunct="1"/>
            <a:r>
              <a:rPr lang="fr-FR" dirty="0">
                <a:sym typeface="Symbol" charset="2"/>
              </a:rPr>
              <a:t>La - </a:t>
            </a:r>
            <a:r>
              <a:rPr lang="fr-FR" dirty="0" err="1">
                <a:sym typeface="Symbol" charset="2"/>
              </a:rPr>
              <a:t>feminine</a:t>
            </a:r>
            <a:r>
              <a:rPr lang="fr-FR" dirty="0">
                <a:sym typeface="Symbol" charset="2"/>
              </a:rPr>
              <a:t>, Le - masculine, L' - </a:t>
            </a:r>
            <a:r>
              <a:rPr lang="fr-FR" dirty="0" err="1">
                <a:sym typeface="Symbol" charset="2"/>
              </a:rPr>
              <a:t>starting</a:t>
            </a:r>
            <a:r>
              <a:rPr lang="fr-FR" dirty="0">
                <a:sym typeface="Symbol" charset="2"/>
              </a:rPr>
              <a:t> a </a:t>
            </a:r>
            <a:r>
              <a:rPr lang="fr-FR" dirty="0" err="1">
                <a:sym typeface="Symbol" charset="2"/>
              </a:rPr>
              <a:t>vowel</a:t>
            </a:r>
            <a:r>
              <a:rPr lang="fr-FR" dirty="0">
                <a:sym typeface="Symbol" charset="2"/>
              </a:rPr>
              <a:t>, Les - plural, Un - masculine a, Une - </a:t>
            </a:r>
            <a:r>
              <a:rPr lang="fr-FR" dirty="0" err="1">
                <a:sym typeface="Symbol" charset="2"/>
              </a:rPr>
              <a:t>feminine</a:t>
            </a:r>
            <a:r>
              <a:rPr lang="fr-FR" dirty="0">
                <a:sym typeface="Symbol" charset="2"/>
              </a:rPr>
              <a:t> a, Des - plural a </a:t>
            </a:r>
            <a:endParaRPr lang="en-US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German noun compounds are not segmented</a:t>
            </a:r>
          </a:p>
          <a:p>
            <a:pPr lvl="1" eaLnBrk="1" hangingPunct="1"/>
            <a:r>
              <a:rPr lang="en-US" b="1" i="1" dirty="0" err="1">
                <a:sym typeface="Symbol" charset="2"/>
              </a:rPr>
              <a:t>Lebensversicherungsgesellschaftsangestellter</a:t>
            </a:r>
            <a:endParaRPr lang="en-US" b="1" i="1" dirty="0">
              <a:sym typeface="Symbol" charset="2"/>
            </a:endParaRPr>
          </a:p>
          <a:p>
            <a:pPr lvl="1" eaLnBrk="1" hangingPunct="1"/>
            <a:r>
              <a:rPr lang="en-US" dirty="0">
                <a:sym typeface="Symbol" charset="2"/>
              </a:rPr>
              <a:t>‘life insurance company employee’</a:t>
            </a:r>
          </a:p>
          <a:p>
            <a:pPr lvl="1" eaLnBrk="1" hangingPunct="1"/>
            <a:r>
              <a:rPr lang="en-US" dirty="0">
                <a:sym typeface="Symbol" charset="2"/>
              </a:rPr>
              <a:t>German information retrieval needs </a:t>
            </a:r>
            <a:r>
              <a:rPr lang="en-US" b="1" dirty="0">
                <a:sym typeface="Symbol" charset="2"/>
              </a:rPr>
              <a:t>compound splitter</a:t>
            </a:r>
            <a:endParaRPr lang="en-US" dirty="0">
              <a:sym typeface="Symbol" charset="2"/>
            </a:endParaRPr>
          </a:p>
          <a:p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43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Tokenization: Language issues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1257300" y="1257300"/>
            <a:ext cx="8610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eaLnBrk="1" hangingPunct="1"/>
            <a:r>
              <a:rPr lang="en-US" dirty="0">
                <a:sym typeface="Symbol" charset="2"/>
              </a:rPr>
              <a:t>Chinese and Japanese no spaces between words:</a:t>
            </a:r>
          </a:p>
          <a:p>
            <a:pPr lvl="1" eaLnBrk="1" hangingPunct="1"/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莎拉波娃现在居住在美国东南部的佛罗里达。</a:t>
            </a:r>
            <a:endParaRPr lang="en-US" altLang="ja-JP" dirty="0">
              <a:latin typeface="华文黑体"/>
              <a:ea typeface="华文黑体"/>
              <a:cs typeface="华文黑体"/>
              <a:sym typeface="Symbol" charset="2"/>
            </a:endParaRPr>
          </a:p>
          <a:p>
            <a:pPr lvl="1" eaLnBrk="1" hangingPunct="1"/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莎拉波娃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现在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居住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美国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东南部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的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佛罗里达</a:t>
            </a:r>
          </a:p>
          <a:p>
            <a:pPr lvl="1" eaLnBrk="1" hangingPunct="1"/>
            <a:r>
              <a:rPr lang="en-US" dirty="0" err="1">
                <a:solidFill>
                  <a:srgbClr val="595959"/>
                </a:solidFill>
                <a:sym typeface="Symbol" charset="2"/>
              </a:rPr>
              <a:t>Sharapova</a:t>
            </a:r>
            <a:r>
              <a:rPr lang="en-US" dirty="0">
                <a:solidFill>
                  <a:srgbClr val="595959"/>
                </a:solidFill>
                <a:sym typeface="Symbol" charset="2"/>
              </a:rPr>
              <a:t> now     lives in       US       southeastern     Florida</a:t>
            </a:r>
          </a:p>
          <a:p>
            <a:pPr eaLnBrk="1" hangingPunct="1"/>
            <a:r>
              <a:rPr lang="en-US" dirty="0">
                <a:sym typeface="Symbol" charset="2"/>
              </a:rPr>
              <a:t>Further complicated in Japanese, with multiple alphabets intermingled</a:t>
            </a:r>
          </a:p>
          <a:p>
            <a:pPr lvl="1" eaLnBrk="1" hangingPunct="1"/>
            <a:r>
              <a:rPr lang="en-US" dirty="0">
                <a:sym typeface="Symbol" charset="2"/>
              </a:rPr>
              <a:t>Dates/amounts in multiple formats</a:t>
            </a:r>
          </a:p>
        </p:txBody>
      </p:sp>
      <p:sp>
        <p:nvSpPr>
          <p:cNvPr id="5" name="Text Box 1037"/>
          <p:cNvSpPr txBox="1">
            <a:spLocks noChangeArrowheads="1"/>
          </p:cNvSpPr>
          <p:nvPr/>
        </p:nvSpPr>
        <p:spPr bwMode="auto">
          <a:xfrm>
            <a:off x="419100" y="4095750"/>
            <a:ext cx="830727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55000"/>
              <a:buFont typeface="Wingdings" charset="2"/>
              <a:buNone/>
            </a:pPr>
            <a:r>
              <a:rPr lang="ja-JP" altLang="en-US" sz="2100" b="1" i="1" dirty="0"/>
              <a:t>フォーチュン</a:t>
            </a:r>
            <a:r>
              <a:rPr lang="en-US" altLang="ja-JP" sz="2100" b="1" i="1" dirty="0"/>
              <a:t>500</a:t>
            </a:r>
            <a:r>
              <a:rPr lang="ja-JP" altLang="en-US" sz="2100" b="1" i="1" dirty="0"/>
              <a:t>社は情報不足のため時間あた</a:t>
            </a:r>
            <a:r>
              <a:rPr lang="en-US" altLang="ja-JP" sz="2100" b="1" i="1" dirty="0"/>
              <a:t>$500K(</a:t>
            </a:r>
            <a:r>
              <a:rPr lang="ja-JP" altLang="en-US" sz="2100" b="1" i="1" dirty="0"/>
              <a:t>約</a:t>
            </a:r>
            <a:r>
              <a:rPr lang="en-US" altLang="ja-JP" sz="2100" b="1" i="1" dirty="0"/>
              <a:t>6,000</a:t>
            </a:r>
            <a:r>
              <a:rPr lang="ja-JP" altLang="en-US" sz="2100" b="1" i="1" dirty="0"/>
              <a:t>万円</a:t>
            </a:r>
            <a:r>
              <a:rPr lang="en-US" altLang="ja-JP" sz="2100" b="1" i="1" dirty="0"/>
              <a:t>)</a:t>
            </a:r>
            <a:endParaRPr lang="en-US" sz="2100" b="1" i="1" dirty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714501" y="4686300"/>
            <a:ext cx="5435601" cy="400050"/>
            <a:chOff x="422" y="3792"/>
            <a:chExt cx="3424" cy="336"/>
          </a:xfrm>
        </p:grpSpPr>
        <p:sp>
          <p:nvSpPr>
            <p:cNvPr id="16" name="Text Box 1028"/>
            <p:cNvSpPr txBox="1">
              <a:spLocks noChangeArrowheads="1"/>
            </p:cNvSpPr>
            <p:nvPr/>
          </p:nvSpPr>
          <p:spPr bwMode="auto">
            <a:xfrm>
              <a:off x="422" y="3792"/>
              <a:ext cx="72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9pPr>
            </a:lstStyle>
            <a:p>
              <a:r>
                <a:rPr lang="en-US" sz="2000" dirty="0">
                  <a:latin typeface="Calibri"/>
                  <a:cs typeface="Calibri"/>
                </a:rPr>
                <a:t>Katakana</a:t>
              </a:r>
            </a:p>
          </p:txBody>
        </p:sp>
        <p:sp>
          <p:nvSpPr>
            <p:cNvPr id="17" name="Text Box 1029"/>
            <p:cNvSpPr txBox="1">
              <a:spLocks noChangeArrowheads="1"/>
            </p:cNvSpPr>
            <p:nvPr/>
          </p:nvSpPr>
          <p:spPr bwMode="auto">
            <a:xfrm>
              <a:off x="1499" y="3792"/>
              <a:ext cx="703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9pPr>
            </a:lstStyle>
            <a:p>
              <a:r>
                <a:rPr lang="en-US" sz="2000">
                  <a:latin typeface="Calibri"/>
                  <a:cs typeface="Calibri"/>
                </a:rPr>
                <a:t>Hiragana</a:t>
              </a:r>
            </a:p>
          </p:txBody>
        </p:sp>
        <p:sp>
          <p:nvSpPr>
            <p:cNvPr id="18" name="Text Box 1030"/>
            <p:cNvSpPr txBox="1">
              <a:spLocks noChangeArrowheads="1"/>
            </p:cNvSpPr>
            <p:nvPr/>
          </p:nvSpPr>
          <p:spPr bwMode="auto">
            <a:xfrm>
              <a:off x="2603" y="3792"/>
              <a:ext cx="438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9pPr>
            </a:lstStyle>
            <a:p>
              <a:r>
                <a:rPr lang="en-US" sz="2000">
                  <a:latin typeface="Calibri"/>
                  <a:cs typeface="Calibri"/>
                </a:rPr>
                <a:t>Kanji</a:t>
              </a:r>
            </a:p>
          </p:txBody>
        </p:sp>
        <p:sp>
          <p:nvSpPr>
            <p:cNvPr id="19" name="Text Box 1031"/>
            <p:cNvSpPr txBox="1">
              <a:spLocks noChangeArrowheads="1"/>
            </p:cNvSpPr>
            <p:nvPr/>
          </p:nvSpPr>
          <p:spPr bwMode="auto">
            <a:xfrm>
              <a:off x="3275" y="3792"/>
              <a:ext cx="571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9pPr>
            </a:lstStyle>
            <a:p>
              <a:r>
                <a:rPr lang="en-US" sz="2000" dirty="0" err="1">
                  <a:latin typeface="Calibri"/>
                  <a:cs typeface="Calibri"/>
                </a:rPr>
                <a:t>Romaji</a:t>
              </a:r>
              <a:endParaRPr lang="en-US" sz="2000" dirty="0">
                <a:latin typeface="Calibri"/>
                <a:cs typeface="Calibri"/>
              </a:endParaRPr>
            </a:p>
          </p:txBody>
        </p:sp>
      </p:grp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2500" y="4057205"/>
            <a:ext cx="14478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/>
          </a:p>
        </p:txBody>
      </p:sp>
      <p:cxnSp>
        <p:nvCxnSpPr>
          <p:cNvPr id="8" name="AutoShape 1041"/>
          <p:cNvCxnSpPr>
            <a:cxnSpLocks noChangeShapeType="1"/>
            <a:stCxn id="16" idx="0"/>
            <a:endCxn id="7" idx="2"/>
          </p:cNvCxnSpPr>
          <p:nvPr/>
        </p:nvCxnSpPr>
        <p:spPr bwMode="auto">
          <a:xfrm flipH="1" flipV="1">
            <a:off x="1676400" y="4518870"/>
            <a:ext cx="611189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762500" y="4057205"/>
            <a:ext cx="5334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/>
          </a:p>
        </p:txBody>
      </p:sp>
      <p:cxnSp>
        <p:nvCxnSpPr>
          <p:cNvPr id="10" name="AutoShape 1045"/>
          <p:cNvCxnSpPr>
            <a:cxnSpLocks noChangeShapeType="1"/>
            <a:stCxn id="17" idx="0"/>
            <a:endCxn id="9" idx="2"/>
          </p:cNvCxnSpPr>
          <p:nvPr/>
        </p:nvCxnSpPr>
        <p:spPr bwMode="auto">
          <a:xfrm flipV="1">
            <a:off x="3982246" y="4518870"/>
            <a:ext cx="1046954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295900" y="4057205"/>
            <a:ext cx="5334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/>
          </a:p>
        </p:txBody>
      </p:sp>
      <p:cxnSp>
        <p:nvCxnSpPr>
          <p:cNvPr id="12" name="AutoShape 1047"/>
          <p:cNvCxnSpPr>
            <a:cxnSpLocks noChangeShapeType="1"/>
            <a:stCxn id="18" idx="0"/>
            <a:endCxn id="11" idx="2"/>
          </p:cNvCxnSpPr>
          <p:nvPr/>
        </p:nvCxnSpPr>
        <p:spPr bwMode="auto">
          <a:xfrm flipV="1">
            <a:off x="5524502" y="4518870"/>
            <a:ext cx="38098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972300" y="4026843"/>
            <a:ext cx="2286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/>
          </a:p>
        </p:txBody>
      </p:sp>
      <p:cxnSp>
        <p:nvCxnSpPr>
          <p:cNvPr id="14" name="AutoShape 1049"/>
          <p:cNvCxnSpPr>
            <a:cxnSpLocks noChangeShapeType="1"/>
            <a:stCxn id="19" idx="0"/>
            <a:endCxn id="13" idx="2"/>
          </p:cNvCxnSpPr>
          <p:nvPr/>
        </p:nvCxnSpPr>
        <p:spPr bwMode="auto">
          <a:xfrm flipV="1">
            <a:off x="6696871" y="4488508"/>
            <a:ext cx="389729" cy="19779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5" name="Text Box 1051"/>
          <p:cNvSpPr txBox="1">
            <a:spLocks noChangeArrowheads="1"/>
          </p:cNvSpPr>
          <p:nvPr/>
        </p:nvSpPr>
        <p:spPr bwMode="auto">
          <a:xfrm>
            <a:off x="1100138" y="5086350"/>
            <a:ext cx="62020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End-user can express query entirely in hiragana!</a:t>
            </a:r>
          </a:p>
        </p:txBody>
      </p:sp>
    </p:spTree>
    <p:extLst>
      <p:ext uri="{BB962C8B-B14F-4D97-AF65-F5344CB8AC3E}">
        <p14:creationId xmlns:p14="http://schemas.microsoft.com/office/powerpoint/2010/main" val="2072195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Tokenization in Chinese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</a:t>
            </a:r>
            <a:r>
              <a:rPr lang="en-US" b="1" dirty="0"/>
              <a:t>Word Segmentation</a:t>
            </a:r>
          </a:p>
          <a:p>
            <a:r>
              <a:rPr lang="en-US" dirty="0"/>
              <a:t>Chinese words are composed of characters</a:t>
            </a:r>
          </a:p>
          <a:p>
            <a:pPr lvl="1"/>
            <a:r>
              <a:rPr lang="en-US" dirty="0"/>
              <a:t>Characters are generally 1 syllable and 1 morpheme.</a:t>
            </a:r>
          </a:p>
          <a:p>
            <a:pPr lvl="1"/>
            <a:r>
              <a:rPr lang="en-US" dirty="0"/>
              <a:t>Average word is 2.4 characters long.</a:t>
            </a:r>
          </a:p>
          <a:p>
            <a:r>
              <a:rPr lang="en-US" dirty="0"/>
              <a:t>Standard baseline segmentation algorithm: </a:t>
            </a:r>
          </a:p>
          <a:p>
            <a:pPr lvl="1"/>
            <a:r>
              <a:rPr lang="en-US" dirty="0"/>
              <a:t>Maximum Matching  (also called Greedy)</a:t>
            </a:r>
          </a:p>
        </p:txBody>
      </p:sp>
    </p:spTree>
    <p:extLst>
      <p:ext uri="{BB962C8B-B14F-4D97-AF65-F5344CB8AC3E}">
        <p14:creationId xmlns:p14="http://schemas.microsoft.com/office/powerpoint/2010/main" val="112519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152400"/>
            <a:ext cx="9448800" cy="762431"/>
          </a:xfrm>
        </p:spPr>
        <p:txBody>
          <a:bodyPr/>
          <a:lstStyle/>
          <a:p>
            <a:r>
              <a:rPr lang="en-US" dirty="0"/>
              <a:t>Max-match segmentation illustration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150" dirty="0" err="1"/>
              <a:t>Thecatinthehat</a:t>
            </a:r>
            <a:endParaRPr lang="en-US" sz="3150" dirty="0"/>
          </a:p>
          <a:p>
            <a:r>
              <a:rPr lang="en-US" sz="3150" dirty="0" err="1"/>
              <a:t>Thetabledownthere</a:t>
            </a:r>
            <a:endParaRPr lang="en-US" sz="3150" dirty="0"/>
          </a:p>
          <a:p>
            <a:endParaRPr lang="en-US" dirty="0"/>
          </a:p>
          <a:p>
            <a:r>
              <a:rPr lang="en-US" dirty="0"/>
              <a:t>Doesn’t generally work in English!</a:t>
            </a:r>
          </a:p>
          <a:p>
            <a:endParaRPr lang="en-US" dirty="0"/>
          </a:p>
          <a:p>
            <a:r>
              <a:rPr lang="en-US" dirty="0"/>
              <a:t>But works astonishingly well in Chinese</a:t>
            </a:r>
          </a:p>
          <a:p>
            <a:pPr lvl="1" eaLnBrk="1" hangingPunct="1"/>
            <a:r>
              <a:rPr lang="ja-JP" altLang="en-US" dirty="0">
                <a:cs typeface="ＭＳ Ｐゴシック" charset="-128"/>
                <a:sym typeface="Symbol" charset="2"/>
              </a:rPr>
              <a:t>莎拉波娃现在居住在美国东南部的佛罗里达。</a:t>
            </a:r>
            <a:endParaRPr lang="en-US" altLang="ja-JP" dirty="0">
              <a:cs typeface="ＭＳ Ｐゴシック" charset="-128"/>
              <a:sym typeface="Symbol" charset="2"/>
            </a:endParaRPr>
          </a:p>
          <a:p>
            <a:pPr lvl="1" eaLnBrk="1" hangingPunct="1"/>
            <a:r>
              <a:rPr lang="ja-JP" altLang="en-US" dirty="0">
                <a:cs typeface="ＭＳ Ｐゴシック" charset="-128"/>
                <a:sym typeface="Symbol" charset="2"/>
              </a:rPr>
              <a:t>莎拉波娃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现在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居住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在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美国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东南部</a:t>
            </a:r>
            <a:r>
              <a:rPr lang="en-US" altLang="ja-JP" dirty="0">
                <a:cs typeface="ＭＳ Ｐゴシック" charset="-128"/>
                <a:sym typeface="Symbol" charset="2"/>
              </a:rPr>
              <a:t>     </a:t>
            </a:r>
            <a:r>
              <a:rPr lang="ja-JP" altLang="en-US" dirty="0">
                <a:cs typeface="ＭＳ Ｐゴシック" charset="-128"/>
                <a:sym typeface="Symbol" charset="2"/>
              </a:rPr>
              <a:t>的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佛罗里达</a:t>
            </a:r>
            <a:endParaRPr lang="en-US" altLang="ja-JP" sz="2700" dirty="0"/>
          </a:p>
          <a:p>
            <a:r>
              <a:rPr lang="en-US" dirty="0"/>
              <a:t>Modern probabilistic segmentation algorithms even better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72125" y="1657350"/>
            <a:ext cx="37719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50" dirty="0"/>
              <a:t>the table down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2125" y="1143000"/>
            <a:ext cx="33432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50" dirty="0"/>
              <a:t>the cat in the 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125" y="2171700"/>
            <a:ext cx="37719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50" dirty="0"/>
              <a:t>theta bled own there</a:t>
            </a:r>
          </a:p>
        </p:txBody>
      </p:sp>
    </p:spTree>
    <p:extLst>
      <p:ext uri="{BB962C8B-B14F-4D97-AF65-F5344CB8AC3E}">
        <p14:creationId xmlns:p14="http://schemas.microsoft.com/office/powerpoint/2010/main" val="384638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2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427038"/>
            <a:ext cx="8210550" cy="533400"/>
          </a:xfrm>
        </p:spPr>
        <p:txBody>
          <a:bodyPr/>
          <a:lstStyle/>
          <a:p>
            <a:r>
              <a:rPr lang="en-US" dirty="0"/>
              <a:t>Maximum Matching</a:t>
            </a:r>
            <a:br>
              <a:rPr lang="en-US" dirty="0"/>
            </a:br>
            <a:r>
              <a:rPr lang="en-US" dirty="0"/>
              <a:t>Word Segmentation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14350" y="1265237"/>
            <a:ext cx="9258300" cy="4525963"/>
          </a:xfrm>
        </p:spPr>
        <p:txBody>
          <a:bodyPr/>
          <a:lstStyle/>
          <a:p>
            <a:pPr marL="600075" indent="-600075"/>
            <a:r>
              <a:rPr lang="en-US" dirty="0"/>
              <a:t>Given a wordlist of Chinese, and a string.</a:t>
            </a:r>
          </a:p>
          <a:p>
            <a:pPr marL="600075" indent="-600075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Start a pointer at the beginning of the string</a:t>
            </a:r>
          </a:p>
          <a:p>
            <a:pPr marL="600075" indent="-600075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Find the longest word in dictionary that matches the string starting at pointer</a:t>
            </a:r>
          </a:p>
          <a:p>
            <a:pPr marL="600075" indent="-600075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Move the pointer over the word in string</a:t>
            </a:r>
          </a:p>
          <a:p>
            <a:pPr marL="600075" indent="-600075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Go to 2</a:t>
            </a:r>
          </a:p>
        </p:txBody>
      </p:sp>
    </p:spTree>
    <p:extLst>
      <p:ext uri="{BB962C8B-B14F-4D97-AF65-F5344CB8AC3E}">
        <p14:creationId xmlns:p14="http://schemas.microsoft.com/office/powerpoint/2010/main" val="394763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95600"/>
            <a:ext cx="9258300" cy="761999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7030A0"/>
                </a:solidFill>
              </a:rPr>
              <a:t>Lemmatization and Stemming</a:t>
            </a:r>
          </a:p>
        </p:txBody>
      </p:sp>
    </p:spTree>
    <p:extLst>
      <p:ext uri="{BB962C8B-B14F-4D97-AF65-F5344CB8AC3E}">
        <p14:creationId xmlns:p14="http://schemas.microsoft.com/office/powerpoint/2010/main" val="351202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Lemmatization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Reduce inflections or variant forms to base form</a:t>
            </a:r>
          </a:p>
          <a:p>
            <a:pPr lvl="1" eaLnBrk="1" hangingPunct="1">
              <a:spcBef>
                <a:spcPts val="563"/>
              </a:spcBef>
              <a:spcAft>
                <a:spcPts val="563"/>
              </a:spcAft>
            </a:pPr>
            <a:r>
              <a:rPr lang="en-US" sz="2700" i="1" dirty="0"/>
              <a:t>am, are,</a:t>
            </a:r>
            <a:r>
              <a:rPr lang="en-US" sz="2700" dirty="0"/>
              <a:t> </a:t>
            </a:r>
            <a:r>
              <a:rPr lang="en-US" sz="2700" i="1" dirty="0"/>
              <a:t>is </a:t>
            </a:r>
            <a:r>
              <a:rPr lang="en-US" sz="2700" dirty="0">
                <a:sym typeface="Symbol" charset="2"/>
              </a:rPr>
              <a:t></a:t>
            </a:r>
            <a:r>
              <a:rPr lang="en-US" sz="2700" dirty="0"/>
              <a:t> </a:t>
            </a:r>
            <a:r>
              <a:rPr lang="en-US" sz="2700" i="1" dirty="0"/>
              <a:t>be</a:t>
            </a:r>
            <a:endParaRPr lang="en-US" sz="2700" dirty="0"/>
          </a:p>
          <a:p>
            <a:pPr lvl="1" eaLnBrk="1" hangingPunct="1">
              <a:spcBef>
                <a:spcPts val="563"/>
              </a:spcBef>
              <a:spcAft>
                <a:spcPts val="563"/>
              </a:spcAft>
            </a:pPr>
            <a:r>
              <a:rPr lang="en-US" sz="2700" i="1" dirty="0"/>
              <a:t>car, cars, car's</a:t>
            </a:r>
            <a:r>
              <a:rPr lang="en-US" sz="2700" dirty="0"/>
              <a:t>, </a:t>
            </a:r>
            <a:r>
              <a:rPr lang="en-US" sz="2700" i="1" dirty="0"/>
              <a:t>cars'</a:t>
            </a:r>
            <a:r>
              <a:rPr lang="en-US" sz="2700" dirty="0"/>
              <a:t> </a:t>
            </a:r>
            <a:r>
              <a:rPr lang="en-US" sz="2700" dirty="0">
                <a:sym typeface="Symbol" charset="2"/>
              </a:rPr>
              <a:t></a:t>
            </a:r>
            <a:r>
              <a:rPr lang="en-US" sz="2700" dirty="0"/>
              <a:t> </a:t>
            </a:r>
            <a:r>
              <a:rPr lang="en-US" sz="2700" i="1" dirty="0"/>
              <a:t>car</a:t>
            </a:r>
          </a:p>
          <a:p>
            <a:pPr eaLnBrk="1" hangingPunct="1">
              <a:spcBef>
                <a:spcPts val="563"/>
              </a:spcBef>
              <a:spcAft>
                <a:spcPts val="563"/>
              </a:spcAft>
            </a:pPr>
            <a:r>
              <a:rPr lang="en-US" i="1" dirty="0"/>
              <a:t>the boy's cars are different colors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</a:t>
            </a:r>
            <a:r>
              <a:rPr lang="en-US" dirty="0"/>
              <a:t> </a:t>
            </a:r>
            <a:r>
              <a:rPr lang="en-US" i="1" dirty="0"/>
              <a:t>the boy car be different color</a:t>
            </a:r>
          </a:p>
          <a:p>
            <a:pPr eaLnBrk="1" hangingPunct="1">
              <a:spcBef>
                <a:spcPts val="563"/>
              </a:spcBef>
              <a:spcAft>
                <a:spcPts val="563"/>
              </a:spcAft>
            </a:pPr>
            <a:r>
              <a:rPr lang="en-US" dirty="0"/>
              <a:t>Lemmatization: have to find correct dictionary headword form</a:t>
            </a:r>
          </a:p>
          <a:p>
            <a:pPr>
              <a:lnSpc>
                <a:spcPct val="90000"/>
              </a:lnSpc>
            </a:pPr>
            <a:r>
              <a:rPr lang="en-US" dirty="0"/>
              <a:t>Machine translation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Spanish </a:t>
            </a:r>
            <a:r>
              <a:rPr lang="en-US" dirty="0" err="1">
                <a:solidFill>
                  <a:srgbClr val="A50021"/>
                </a:solidFill>
              </a:rPr>
              <a:t>quiero</a:t>
            </a:r>
            <a:r>
              <a:rPr lang="en-US" dirty="0"/>
              <a:t> (‘I want’), </a:t>
            </a:r>
            <a:r>
              <a:rPr lang="en-US" dirty="0" err="1">
                <a:solidFill>
                  <a:srgbClr val="A50021"/>
                </a:solidFill>
              </a:rPr>
              <a:t>quieres</a:t>
            </a:r>
            <a:r>
              <a:rPr lang="en-US" dirty="0"/>
              <a:t> (‘you want’) same lemma as </a:t>
            </a:r>
            <a:r>
              <a:rPr lang="en-US" dirty="0" err="1">
                <a:solidFill>
                  <a:srgbClr val="A50021"/>
                </a:solidFill>
              </a:rPr>
              <a:t>querer</a:t>
            </a:r>
            <a:r>
              <a:rPr lang="en-US" dirty="0"/>
              <a:t> ‘want’</a:t>
            </a:r>
          </a:p>
          <a:p>
            <a:pPr lvl="1">
              <a:spcBef>
                <a:spcPts val="563"/>
              </a:spcBef>
              <a:spcAft>
                <a:spcPts val="563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52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Stemming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Reduce terms to their stems in information retrieval</a:t>
            </a:r>
          </a:p>
          <a:p>
            <a:pPr eaLnBrk="1" hangingPunct="1"/>
            <a:r>
              <a:rPr lang="en-US" i="1" dirty="0"/>
              <a:t>Stemming</a:t>
            </a:r>
            <a:r>
              <a:rPr lang="en-US" dirty="0"/>
              <a:t> is crude chopping of affixes</a:t>
            </a:r>
          </a:p>
          <a:p>
            <a:pPr lvl="1" eaLnBrk="1" hangingPunct="1"/>
            <a:r>
              <a:rPr lang="en-US" dirty="0"/>
              <a:t>language dependent</a:t>
            </a:r>
          </a:p>
          <a:p>
            <a:pPr lvl="1" eaLnBrk="1" hangingPunct="1"/>
            <a:r>
              <a:rPr lang="en-US" dirty="0"/>
              <a:t>e.g., </a:t>
            </a:r>
            <a:r>
              <a:rPr lang="en-US" b="1" i="1" dirty="0"/>
              <a:t>automate(s), automatic, automation</a:t>
            </a:r>
            <a:r>
              <a:rPr lang="en-US" dirty="0"/>
              <a:t> all reduced to </a:t>
            </a:r>
            <a:r>
              <a:rPr lang="en-US" b="1" i="1" dirty="0"/>
              <a:t>automat</a:t>
            </a:r>
            <a:r>
              <a:rPr lang="en-US" dirty="0"/>
              <a:t>.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875110" y="194622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28625" y="4268285"/>
            <a:ext cx="4029075" cy="1546834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363" i="1" dirty="0">
                <a:solidFill>
                  <a:srgbClr val="404040"/>
                </a:solidFill>
                <a:latin typeface="Calibri"/>
                <a:cs typeface="Calibri"/>
              </a:rPr>
              <a:t>for example compressed </a:t>
            </a:r>
          </a:p>
          <a:p>
            <a:r>
              <a:rPr lang="en-US" sz="2363" i="1" dirty="0">
                <a:solidFill>
                  <a:srgbClr val="404040"/>
                </a:solidFill>
                <a:latin typeface="Calibri"/>
                <a:cs typeface="Calibri"/>
              </a:rPr>
              <a:t>and compression are both </a:t>
            </a:r>
          </a:p>
          <a:p>
            <a:r>
              <a:rPr lang="en-US" sz="2363" i="1" dirty="0">
                <a:solidFill>
                  <a:srgbClr val="404040"/>
                </a:solidFill>
                <a:latin typeface="Calibri"/>
                <a:cs typeface="Calibri"/>
              </a:rPr>
              <a:t>accepted as equivalent to </a:t>
            </a:r>
          </a:p>
          <a:p>
            <a:r>
              <a:rPr lang="en-US" sz="2363" i="1" dirty="0">
                <a:solidFill>
                  <a:srgbClr val="404040"/>
                </a:solidFill>
                <a:latin typeface="Calibri"/>
                <a:cs typeface="Calibri"/>
              </a:rPr>
              <a:t>compress</a:t>
            </a:r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5625705" y="4393406"/>
            <a:ext cx="4061222" cy="12858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lang="en-US" sz="2363" dirty="0" err="1">
                <a:solidFill>
                  <a:srgbClr val="404040"/>
                </a:solidFill>
                <a:latin typeface="Calibri"/>
                <a:cs typeface="Calibri"/>
              </a:rPr>
              <a:t>exampl</a:t>
            </a:r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 compress and</a:t>
            </a:r>
          </a:p>
          <a:p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compress </a:t>
            </a:r>
            <a:r>
              <a:rPr lang="en-US" sz="2363" dirty="0" err="1">
                <a:solidFill>
                  <a:srgbClr val="404040"/>
                </a:solidFill>
                <a:latin typeface="Calibri"/>
                <a:cs typeface="Calibri"/>
              </a:rPr>
              <a:t>ar</a:t>
            </a:r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 both accept</a:t>
            </a:r>
          </a:p>
          <a:p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lang="en-US" sz="2363" dirty="0" err="1">
                <a:solidFill>
                  <a:srgbClr val="404040"/>
                </a:solidFill>
                <a:latin typeface="Calibri"/>
                <a:cs typeface="Calibri"/>
              </a:rPr>
              <a:t>equival</a:t>
            </a:r>
            <a:r>
              <a:rPr lang="en-US" sz="2363" dirty="0">
                <a:solidFill>
                  <a:srgbClr val="404040"/>
                </a:solidFill>
                <a:latin typeface="Calibri"/>
                <a:cs typeface="Calibri"/>
              </a:rPr>
              <a:t> to compress</a:t>
            </a: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4972050" y="4843464"/>
            <a:ext cx="342900" cy="40987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5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/>
      <p:bldP spid="38918" grpId="0" animBg="1"/>
      <p:bldP spid="389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228600"/>
            <a:ext cx="8210550" cy="533400"/>
          </a:xfrm>
        </p:spPr>
        <p:txBody>
          <a:bodyPr/>
          <a:lstStyle/>
          <a:p>
            <a:pPr eaLnBrk="1" hangingPunct="1"/>
            <a:r>
              <a:rPr lang="en-US" dirty="0"/>
              <a:t>Porter’s algorithm</a:t>
            </a:r>
            <a:br>
              <a:rPr lang="en-US" dirty="0"/>
            </a:br>
            <a:r>
              <a:rPr lang="en-US" dirty="0"/>
              <a:t>The most common English stemmer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0500" y="1447800"/>
            <a:ext cx="55245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250" dirty="0"/>
              <a:t>   Step 1a</a:t>
            </a: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</a:rPr>
              <a:t>sses</a:t>
            </a:r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caresses  caress</a:t>
            </a: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</a:rPr>
              <a:t>ies</a:t>
            </a:r>
            <a:r>
              <a:rPr lang="en-US" sz="1800" dirty="0">
                <a:latin typeface="Courier"/>
                <a:cs typeface="Courier"/>
              </a:rPr>
              <a:t>  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i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ponies   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   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    caress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s     </a:t>
            </a:r>
            <a:r>
              <a:rPr lang="en-US" sz="1800" dirty="0">
                <a:sym typeface="Symbol" charset="2"/>
              </a:rPr>
              <a:t>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cats       cat</a:t>
            </a:r>
          </a:p>
          <a:p>
            <a:pPr marL="0" indent="0">
              <a:buNone/>
            </a:pPr>
            <a:r>
              <a:rPr lang="en-US" sz="2250" dirty="0">
                <a:latin typeface="Calibri"/>
                <a:cs typeface="Calibri"/>
                <a:sym typeface="Symbol" charset="2"/>
              </a:rPr>
              <a:t>  Step 1b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800" dirty="0">
                <a:sym typeface="Symbol" charset="2"/>
              </a:rPr>
              <a:t>ø    </a:t>
            </a:r>
          </a:p>
          <a:p>
            <a:pPr marL="51435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51435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sing       sing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ed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  </a:t>
            </a:r>
            <a:r>
              <a:rPr lang="en-US" sz="1800" dirty="0">
                <a:sym typeface="Symbol" charset="2"/>
              </a:rPr>
              <a:t>ø    </a:t>
            </a:r>
          </a:p>
          <a:p>
            <a:pPr marL="51435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plastered  plaster</a:t>
            </a:r>
          </a:p>
          <a:p>
            <a:pPr marL="514350" lvl="1" indent="0">
              <a:buNone/>
            </a:pPr>
            <a:r>
              <a:rPr lang="en-US" sz="2025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…</a:t>
            </a:r>
          </a:p>
          <a:p>
            <a:endParaRPr lang="en-US" sz="2475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14900" y="1507331"/>
            <a:ext cx="5486400" cy="3750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None/>
            </a:pPr>
            <a:r>
              <a:rPr lang="en-US" sz="2250" dirty="0"/>
              <a:t>   Step 2 (for long stems)</a:t>
            </a: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</a:rPr>
              <a:t>ational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 ate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relational relate</a:t>
            </a: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</a:rPr>
              <a:t>izer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ize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digitizer  digitize</a:t>
            </a:r>
          </a:p>
          <a:p>
            <a:pPr marL="514350" lvl="1" indent="0">
              <a:buNone/>
            </a:pPr>
            <a:r>
              <a:rPr lang="en-US" sz="1800" dirty="0" err="1">
                <a:latin typeface="Courier"/>
                <a:cs typeface="Courier"/>
                <a:sym typeface="Symbol" charset="2"/>
              </a:rPr>
              <a:t>ator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 ate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operator   operate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…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0" indent="0">
              <a:buNone/>
            </a:pPr>
            <a:r>
              <a:rPr lang="en-US" sz="2250" dirty="0">
                <a:latin typeface="Calibri"/>
                <a:cs typeface="Calibri"/>
                <a:sym typeface="Symbol" charset="2"/>
              </a:rPr>
              <a:t>    Step 3 (for longer stems)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al     </a:t>
            </a:r>
            <a:r>
              <a:rPr lang="en-US" sz="1800" dirty="0" err="1">
                <a:sym typeface="Symbol" charset="2"/>
              </a:rPr>
              <a:t>ø</a:t>
            </a:r>
            <a:r>
              <a:rPr lang="en-US" sz="1800" dirty="0">
                <a:sym typeface="Symbol" charset="2"/>
              </a:rPr>
              <a:t>  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revival    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able   </a:t>
            </a:r>
            <a:r>
              <a:rPr lang="en-US" sz="1800" dirty="0" err="1">
                <a:sym typeface="Symbol" charset="2"/>
              </a:rPr>
              <a:t>ø</a:t>
            </a:r>
            <a:r>
              <a:rPr lang="en-US" sz="1800" dirty="0">
                <a:sym typeface="Symbol" charset="2"/>
              </a:rPr>
              <a:t>  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adjustable  adjust</a:t>
            </a: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ate    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ø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activate   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…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endParaRPr lang="en-US" sz="2475" dirty="0">
              <a:latin typeface="Courier"/>
              <a:cs typeface="Courier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6092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81000"/>
            <a:ext cx="9753600" cy="533400"/>
          </a:xfrm>
        </p:spPr>
        <p:txBody>
          <a:bodyPr/>
          <a:lstStyle/>
          <a:p>
            <a:r>
              <a:rPr lang="en-US" dirty="0"/>
              <a:t>Viewing morphology in a corpus</a:t>
            </a:r>
            <a:br>
              <a:rPr lang="en-US" dirty="0"/>
            </a:br>
            <a:r>
              <a:rPr lang="en-US" dirty="0"/>
              <a:t>Why only strip –</a:t>
            </a:r>
            <a:r>
              <a:rPr lang="en-US" dirty="0" err="1"/>
              <a:t>ing</a:t>
            </a:r>
            <a:r>
              <a:rPr lang="en-US" dirty="0"/>
              <a:t> if there is a vowel?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676400"/>
            <a:ext cx="9258300" cy="3840163"/>
          </a:xfrm>
        </p:spPr>
        <p:txBody>
          <a:bodyPr/>
          <a:lstStyle/>
          <a:p>
            <a:pPr marL="514350" lvl="1" indent="0">
              <a:buNone/>
            </a:pPr>
            <a:r>
              <a:rPr lang="en-US" sz="18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8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8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800" dirty="0" err="1">
                <a:sym typeface="Symbol" charset="2"/>
              </a:rPr>
              <a:t>ø</a:t>
            </a:r>
            <a:r>
              <a:rPr lang="en-US" sz="1800" dirty="0">
                <a:sym typeface="Symbol" charset="2"/>
              </a:rPr>
              <a:t>   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51435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sing</a:t>
            </a:r>
          </a:p>
          <a:p>
            <a:pPr marL="514350" lvl="1" indent="0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41025" y="2857500"/>
            <a:ext cx="1539204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548 being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rgbClr val="A6A6A6"/>
                </a:solidFill>
                <a:latin typeface="Courier"/>
                <a:cs typeface="Courier"/>
              </a:rPr>
              <a:t>541 nothing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rgbClr val="A6A6A6"/>
                </a:solidFill>
                <a:latin typeface="Courier"/>
                <a:cs typeface="Courier"/>
              </a:rPr>
              <a:t>152 something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145 coming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rgbClr val="A6A6A6"/>
                </a:solidFill>
                <a:latin typeface="Courier"/>
                <a:cs typeface="Courier"/>
              </a:rPr>
              <a:t>130 morning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122 having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120 living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117 loving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116 Being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102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5001" y="2857500"/>
            <a:ext cx="1643399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1312 King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 548 being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rgbClr val="7CD7CF"/>
                </a:solidFill>
                <a:latin typeface="Courier"/>
                <a:cs typeface="Courier"/>
              </a:rPr>
              <a:t> </a:t>
            </a: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541 nothing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388 king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375 bring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358 thing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307 ring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152 something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latin typeface="Courier"/>
                <a:cs typeface="Courier"/>
              </a:rPr>
              <a:t> 145 coming</a:t>
            </a:r>
          </a:p>
          <a:p>
            <a:pPr>
              <a:lnSpc>
                <a:spcPct val="9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130 morning </a:t>
            </a:r>
          </a:p>
        </p:txBody>
      </p:sp>
    </p:spTree>
    <p:extLst>
      <p:ext uri="{BB962C8B-B14F-4D97-AF65-F5344CB8AC3E}">
        <p14:creationId xmlns:p14="http://schemas.microsoft.com/office/powerpoint/2010/main" val="405496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stemming</a:t>
            </a:r>
          </a:p>
        </p:txBody>
      </p:sp>
      <p:sp>
        <p:nvSpPr>
          <p:cNvPr id="906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Lack of domain-specificity and context can lead to occasional serious retrieval failures (which “stocking” is meant)</a:t>
            </a:r>
          </a:p>
          <a:p>
            <a:r>
              <a:rPr lang="en-US" sz="2000" dirty="0"/>
              <a:t>Stemmers are often difficult to understand and modify</a:t>
            </a:r>
          </a:p>
          <a:p>
            <a:r>
              <a:rPr lang="en-US" sz="2000" dirty="0"/>
              <a:t>Sometimes too aggressive in conflation </a:t>
            </a:r>
          </a:p>
          <a:p>
            <a:pPr lvl="1"/>
            <a:r>
              <a:rPr lang="en-US" sz="1800" dirty="0"/>
              <a:t>e.g., “policy”/“police”, “execute”/“executive”, “university”/“universe”, “organization”/“organ” are conflated by Porter</a:t>
            </a:r>
          </a:p>
          <a:p>
            <a:r>
              <a:rPr lang="en-US" sz="2000" dirty="0"/>
              <a:t>Miss good conflations</a:t>
            </a:r>
          </a:p>
          <a:p>
            <a:pPr lvl="1"/>
            <a:r>
              <a:rPr lang="en-US" sz="1800" dirty="0"/>
              <a:t>e.g., “European”/“Europe”, “matrices”/“matrix”, “machine”/“machinery” are not conflated by Porter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r>
              <a:rPr lang="en-US" sz="2000" dirty="0"/>
              <a:t>Produce stems that are not words and are often difficult for a user to interpret</a:t>
            </a:r>
          </a:p>
          <a:p>
            <a:pPr lvl="1"/>
            <a:r>
              <a:rPr lang="en-US" sz="1800" dirty="0"/>
              <a:t> e.g., with Porter, “iteration” produces “</a:t>
            </a:r>
            <a:r>
              <a:rPr lang="en-US" sz="1800" dirty="0" err="1"/>
              <a:t>iter</a:t>
            </a:r>
            <a:r>
              <a:rPr lang="en-US" sz="1800" dirty="0"/>
              <a:t>” and “general”  produces “</a:t>
            </a:r>
            <a:r>
              <a:rPr lang="en-US" sz="1800" dirty="0" err="1"/>
              <a:t>gener</a:t>
            </a:r>
            <a:r>
              <a:rPr lang="en-US" sz="1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9467917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52401"/>
            <a:ext cx="9067800" cy="533399"/>
          </a:xfrm>
        </p:spPr>
        <p:txBody>
          <a:bodyPr/>
          <a:lstStyle/>
          <a:p>
            <a:r>
              <a:rPr lang="en-IN" sz="4000"/>
              <a:t>Stemming </a:t>
            </a:r>
            <a:r>
              <a:rPr lang="en-IN" sz="4000" dirty="0"/>
              <a:t>vs lemmatization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Stemming:</a:t>
            </a:r>
          </a:p>
          <a:p>
            <a:pPr lvl="1"/>
            <a:r>
              <a:rPr lang="en-US" sz="2000" dirty="0"/>
              <a:t>crude heuristic process </a:t>
            </a:r>
          </a:p>
          <a:p>
            <a:pPr lvl="1"/>
            <a:r>
              <a:rPr lang="en-US" sz="2000" dirty="0"/>
              <a:t>chops off the ends of words in the hope of achieving this goal correctly most of the time.</a:t>
            </a:r>
          </a:p>
          <a:p>
            <a:r>
              <a:rPr lang="en-US" sz="2400" dirty="0"/>
              <a:t>Lemmatization:</a:t>
            </a:r>
          </a:p>
          <a:p>
            <a:pPr lvl="1"/>
            <a:r>
              <a:rPr lang="en-US" sz="2000" dirty="0"/>
              <a:t>does things properly with the use of a vocabulary and morphological analysis of words</a:t>
            </a:r>
          </a:p>
          <a:p>
            <a:pPr lvl="1"/>
            <a:r>
              <a:rPr lang="en-US" sz="2000" dirty="0"/>
              <a:t>normally aims to remove inflectional endings only</a:t>
            </a:r>
          </a:p>
          <a:p>
            <a:pPr lvl="1"/>
            <a:r>
              <a:rPr lang="en-US" sz="2000" dirty="0"/>
              <a:t>returns the base or dictionary form of a word, which is known as the lemma. </a:t>
            </a:r>
          </a:p>
          <a:p>
            <a:r>
              <a:rPr lang="en-US" sz="2400" dirty="0"/>
              <a:t>For the token “saw”</a:t>
            </a:r>
          </a:p>
          <a:p>
            <a:pPr lvl="1"/>
            <a:r>
              <a:rPr lang="en-US" sz="2000" dirty="0"/>
              <a:t>stemming might return just “s”</a:t>
            </a:r>
          </a:p>
          <a:p>
            <a:pPr lvl="1"/>
            <a:r>
              <a:rPr lang="en-US" sz="2000" dirty="0"/>
              <a:t>lemmatization would attempt to return either “see” or “saw” depending on whether the use of the token was as a verb or a noun.</a:t>
            </a:r>
          </a:p>
          <a:p>
            <a:endParaRPr lang="en-US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1363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95600"/>
            <a:ext cx="9258300" cy="761999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7030A0"/>
                </a:solidFill>
              </a:rPr>
              <a:t>Sentence Segmentation</a:t>
            </a:r>
          </a:p>
        </p:txBody>
      </p:sp>
    </p:spTree>
    <p:extLst>
      <p:ext uri="{BB962C8B-B14F-4D97-AF65-F5344CB8AC3E}">
        <p14:creationId xmlns:p14="http://schemas.microsoft.com/office/powerpoint/2010/main" val="1746959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Sentence Segmentation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!, ? are relatively unambiguous</a:t>
            </a:r>
          </a:p>
          <a:p>
            <a:r>
              <a:rPr lang="en-US" dirty="0"/>
              <a:t>Period “.” is quite ambiguous</a:t>
            </a:r>
          </a:p>
          <a:p>
            <a:pPr lvl="1"/>
            <a:r>
              <a:rPr lang="en-US" dirty="0"/>
              <a:t>Sentence boundary</a:t>
            </a:r>
          </a:p>
          <a:p>
            <a:pPr lvl="1"/>
            <a:r>
              <a:rPr lang="en-US" dirty="0"/>
              <a:t>Abbreviations like Inc. or Dr.</a:t>
            </a:r>
          </a:p>
          <a:p>
            <a:pPr lvl="1"/>
            <a:r>
              <a:rPr lang="en-US" dirty="0"/>
              <a:t>Numbers like .02% or 4.3</a:t>
            </a:r>
          </a:p>
          <a:p>
            <a:r>
              <a:rPr lang="en-US" dirty="0"/>
              <a:t>Build a binary classifier</a:t>
            </a:r>
          </a:p>
          <a:p>
            <a:pPr lvl="1"/>
            <a:r>
              <a:rPr lang="en-US" dirty="0"/>
              <a:t>Looks at a “.”</a:t>
            </a:r>
          </a:p>
          <a:p>
            <a:pPr lvl="1"/>
            <a:r>
              <a:rPr lang="en-US" dirty="0"/>
              <a:t>Decides </a:t>
            </a:r>
            <a:r>
              <a:rPr lang="en-US" dirty="0" err="1"/>
              <a:t>EndOfSentence</a:t>
            </a:r>
            <a:r>
              <a:rPr lang="en-US" dirty="0"/>
              <a:t>/</a:t>
            </a:r>
            <a:r>
              <a:rPr lang="en-US" dirty="0" err="1"/>
              <a:t>NotEndOfSentence</a:t>
            </a:r>
            <a:endParaRPr lang="en-US" dirty="0"/>
          </a:p>
          <a:p>
            <a:pPr lvl="1"/>
            <a:r>
              <a:rPr lang="en-US" dirty="0"/>
              <a:t>Classifiers: hand-written rules, regular expressions, or 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23495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152400"/>
            <a:ext cx="9677400" cy="68579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Determining if a Word is End-of-sentence: A Decision Tree</a:t>
            </a:r>
          </a:p>
        </p:txBody>
      </p:sp>
      <p:pic>
        <p:nvPicPr>
          <p:cNvPr id="4" name="Picture 3" descr="periodD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" y="1447800"/>
            <a:ext cx="5058070" cy="4172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566070" y="1371600"/>
            <a:ext cx="4400550" cy="31241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IN" sz="3150" dirty="0"/>
              <a:t>Other features</a:t>
            </a:r>
            <a:endParaRPr lang="en-US" sz="3150" dirty="0"/>
          </a:p>
          <a:p>
            <a:pPr lvl="1">
              <a:lnSpc>
                <a:spcPct val="90000"/>
              </a:lnSpc>
            </a:pPr>
            <a:r>
              <a:rPr lang="en-US" sz="2750" dirty="0"/>
              <a:t>Case of word with/after “.”: Upper, Lower, Cap, Number</a:t>
            </a:r>
          </a:p>
          <a:p>
            <a:pPr lvl="1">
              <a:lnSpc>
                <a:spcPct val="90000"/>
              </a:lnSpc>
            </a:pPr>
            <a:r>
              <a:rPr lang="en-US" sz="2700" dirty="0"/>
              <a:t>Length of word with “.”</a:t>
            </a:r>
          </a:p>
        </p:txBody>
      </p:sp>
    </p:spTree>
    <p:extLst>
      <p:ext uri="{BB962C8B-B14F-4D97-AF65-F5344CB8AC3E}">
        <p14:creationId xmlns:p14="http://schemas.microsoft.com/office/powerpoint/2010/main" val="418338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95600"/>
            <a:ext cx="9258300" cy="761999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7030A0"/>
                </a:solidFill>
              </a:rPr>
              <a:t>Bag of words, TFIDF</a:t>
            </a:r>
          </a:p>
        </p:txBody>
      </p:sp>
    </p:spTree>
    <p:extLst>
      <p:ext uri="{BB962C8B-B14F-4D97-AF65-F5344CB8AC3E}">
        <p14:creationId xmlns:p14="http://schemas.microsoft.com/office/powerpoint/2010/main" val="266414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The Classic Search Model</a:t>
            </a:r>
          </a:p>
        </p:txBody>
      </p:sp>
      <p:sp>
        <p:nvSpPr>
          <p:cNvPr id="9220" name="Line 3"/>
          <p:cNvSpPr>
            <a:spLocks noChangeShapeType="1"/>
          </p:cNvSpPr>
          <p:nvPr/>
        </p:nvSpPr>
        <p:spPr bwMode="auto">
          <a:xfrm>
            <a:off x="6759574" y="4791076"/>
            <a:ext cx="0" cy="2381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1" name="AutoShape 4"/>
          <p:cNvSpPr>
            <a:spLocks noChangeArrowheads="1"/>
          </p:cNvSpPr>
          <p:nvPr/>
        </p:nvSpPr>
        <p:spPr bwMode="auto">
          <a:xfrm>
            <a:off x="7013575" y="5172075"/>
            <a:ext cx="1617663" cy="639762"/>
          </a:xfrm>
          <a:prstGeom prst="flowChartMultidocument">
            <a:avLst/>
          </a:prstGeom>
          <a:solidFill>
            <a:srgbClr val="C6D9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Collection</a:t>
            </a: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3390900" y="1252538"/>
            <a:ext cx="1617663" cy="6397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User task</a:t>
            </a:r>
          </a:p>
        </p:txBody>
      </p:sp>
      <p:sp>
        <p:nvSpPr>
          <p:cNvPr id="9223" name="Oval 6"/>
          <p:cNvSpPr>
            <a:spLocks noChangeArrowheads="1"/>
          </p:cNvSpPr>
          <p:nvPr/>
        </p:nvSpPr>
        <p:spPr bwMode="auto">
          <a:xfrm>
            <a:off x="3390900" y="2333626"/>
            <a:ext cx="1617663" cy="638175"/>
          </a:xfrm>
          <a:prstGeom prst="ellipse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 Info need</a:t>
            </a:r>
            <a:br>
              <a:rPr lang="en-US" sz="1400" b="1">
                <a:latin typeface="Arial" panose="020B0604020202020204" pitchFamily="34" charset="0"/>
              </a:rPr>
            </a:br>
            <a:endParaRPr lang="en-US" sz="1400" b="1">
              <a:latin typeface="Arial" panose="020B0604020202020204" pitchFamily="34" charset="0"/>
            </a:endParaRPr>
          </a:p>
        </p:txBody>
      </p:sp>
      <p:sp>
        <p:nvSpPr>
          <p:cNvPr id="9224" name="AutoShape 7"/>
          <p:cNvSpPr>
            <a:spLocks noChangeArrowheads="1"/>
          </p:cNvSpPr>
          <p:nvPr/>
        </p:nvSpPr>
        <p:spPr bwMode="auto">
          <a:xfrm>
            <a:off x="3390900" y="3289300"/>
            <a:ext cx="1617663" cy="641350"/>
          </a:xfrm>
          <a:prstGeom prst="flowChartManualInput">
            <a:avLst/>
          </a:prstGeom>
          <a:solidFill>
            <a:srgbClr val="C6D9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Query</a:t>
            </a:r>
            <a:br>
              <a:rPr lang="en-US" sz="1400" b="1">
                <a:latin typeface="Arial" panose="020B0604020202020204" pitchFamily="34" charset="0"/>
              </a:rPr>
            </a:br>
            <a:endParaRPr lang="en-US" sz="1400" b="1">
              <a:latin typeface="Arial" panose="020B0604020202020204" pitchFamily="34" charset="0"/>
            </a:endParaRPr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4194173" y="1892301"/>
            <a:ext cx="1" cy="4699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1"/>
          <p:cNvSpPr>
            <a:spLocks noChangeShapeType="1"/>
          </p:cNvSpPr>
          <p:nvPr/>
        </p:nvSpPr>
        <p:spPr bwMode="auto">
          <a:xfrm>
            <a:off x="4194173" y="3001964"/>
            <a:ext cx="1" cy="39528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AutoShape 12"/>
          <p:cNvSpPr>
            <a:spLocks noChangeArrowheads="1"/>
          </p:cNvSpPr>
          <p:nvPr/>
        </p:nvSpPr>
        <p:spPr bwMode="auto">
          <a:xfrm>
            <a:off x="4686300" y="5080000"/>
            <a:ext cx="1617663" cy="639762"/>
          </a:xfrm>
          <a:prstGeom prst="flowChartTerminator">
            <a:avLst/>
          </a:prstGeom>
          <a:solidFill>
            <a:srgbClr val="C6D9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Results</a:t>
            </a:r>
            <a:br>
              <a:rPr lang="en-US" sz="1400" b="1">
                <a:latin typeface="Arial" panose="020B0604020202020204" pitchFamily="34" charset="0"/>
              </a:rPr>
            </a:br>
            <a:endParaRPr lang="en-US" sz="1400" b="1">
              <a:latin typeface="Arial" panose="020B0604020202020204" pitchFamily="34" charset="0"/>
            </a:endParaRPr>
          </a:p>
        </p:txBody>
      </p:sp>
      <p:sp>
        <p:nvSpPr>
          <p:cNvPr id="9228" name="AutoShape 13"/>
          <p:cNvSpPr>
            <a:spLocks noChangeArrowheads="1"/>
          </p:cNvSpPr>
          <p:nvPr/>
        </p:nvSpPr>
        <p:spPr bwMode="auto">
          <a:xfrm>
            <a:off x="4686300" y="4191000"/>
            <a:ext cx="1617663" cy="639762"/>
          </a:xfrm>
          <a:prstGeom prst="flowChartProcess">
            <a:avLst/>
          </a:prstGeom>
          <a:solidFill>
            <a:srgbClr val="C6D9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Search</a:t>
            </a:r>
          </a:p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engine</a:t>
            </a:r>
            <a:br>
              <a:rPr lang="en-US" sz="1400" b="1">
                <a:latin typeface="Arial" panose="020B0604020202020204" pitchFamily="34" charset="0"/>
              </a:rPr>
            </a:br>
            <a:endParaRPr lang="en-US" sz="1400" b="1">
              <a:latin typeface="Arial" panose="020B0604020202020204" pitchFamily="34" charset="0"/>
            </a:endParaRPr>
          </a:p>
        </p:txBody>
      </p:sp>
      <p:sp>
        <p:nvSpPr>
          <p:cNvPr id="9229" name="Oval 14"/>
          <p:cNvSpPr>
            <a:spLocks noChangeArrowheads="1"/>
          </p:cNvSpPr>
          <p:nvPr/>
        </p:nvSpPr>
        <p:spPr bwMode="auto">
          <a:xfrm>
            <a:off x="1709738" y="5080000"/>
            <a:ext cx="1722437" cy="639762"/>
          </a:xfrm>
          <a:prstGeom prst="ellipse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/>
            <a:r>
              <a:rPr lang="en-US" sz="1400" b="1">
                <a:latin typeface="Arial" panose="020B0604020202020204" pitchFamily="34" charset="0"/>
              </a:rPr>
              <a:t>Query</a:t>
            </a:r>
            <a:br>
              <a:rPr lang="en-US" sz="1400" b="1">
                <a:latin typeface="Arial" panose="020B0604020202020204" pitchFamily="34" charset="0"/>
              </a:rPr>
            </a:br>
            <a:r>
              <a:rPr lang="en-US" sz="1400" b="1">
                <a:latin typeface="Arial" panose="020B0604020202020204" pitchFamily="34" charset="0"/>
              </a:rPr>
              <a:t>refinement </a:t>
            </a:r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>
            <a:off x="4270375" y="3975101"/>
            <a:ext cx="1219200" cy="2047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 flipH="1" flipV="1">
            <a:off x="6292850" y="4565651"/>
            <a:ext cx="1482725" cy="606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 flipH="1">
            <a:off x="3432175" y="5389563"/>
            <a:ext cx="1254125" cy="111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8"/>
          <p:cNvSpPr>
            <a:spLocks noChangeShapeType="1"/>
          </p:cNvSpPr>
          <p:nvPr/>
        </p:nvSpPr>
        <p:spPr bwMode="auto">
          <a:xfrm flipV="1">
            <a:off x="2517774" y="3746500"/>
            <a:ext cx="0" cy="13335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Line 19"/>
          <p:cNvSpPr>
            <a:spLocks noChangeShapeType="1"/>
          </p:cNvSpPr>
          <p:nvPr/>
        </p:nvSpPr>
        <p:spPr bwMode="auto">
          <a:xfrm>
            <a:off x="2517774" y="3746500"/>
            <a:ext cx="8731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9235" name="Line 20"/>
          <p:cNvSpPr>
            <a:spLocks noChangeShapeType="1"/>
          </p:cNvSpPr>
          <p:nvPr/>
        </p:nvSpPr>
        <p:spPr bwMode="auto">
          <a:xfrm>
            <a:off x="5489574" y="4832351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0723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Query on Unstructured Data</a:t>
            </a:r>
          </a:p>
        </p:txBody>
      </p:sp>
      <p:sp>
        <p:nvSpPr>
          <p:cNvPr id="105475" name="Rectangle 1027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Which plays of Shakespeare contain the words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Brutus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i="1" dirty="0">
                <a:ea typeface="ＭＳ Ｐゴシック" charset="0"/>
                <a:cs typeface="ＭＳ Ｐゴシック" charset="0"/>
              </a:rPr>
              <a:t>AND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Caesar</a:t>
            </a:r>
            <a:r>
              <a:rPr lang="en-US" dirty="0">
                <a:ea typeface="ＭＳ Ｐゴシック" charset="0"/>
                <a:cs typeface="ＭＳ Ｐゴシック" charset="0"/>
              </a:rPr>
              <a:t>  but </a:t>
            </a:r>
            <a:r>
              <a:rPr lang="en-US" i="1" dirty="0">
                <a:ea typeface="ＭＳ Ｐゴシック" charset="0"/>
                <a:cs typeface="ＭＳ Ｐゴシック" charset="0"/>
              </a:rPr>
              <a:t>NOT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Calpurnia</a:t>
            </a:r>
            <a:r>
              <a:rPr lang="en-US" dirty="0">
                <a:ea typeface="ＭＳ Ｐゴシック" charset="0"/>
                <a:cs typeface="ＭＳ Ｐゴシック" charset="0"/>
              </a:rPr>
              <a:t>?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One could </a:t>
            </a:r>
            <a:r>
              <a:rPr lang="en-US" dirty="0" err="1">
                <a:latin typeface="Lucida Sans Typewriter" charset="0"/>
                <a:ea typeface="ＭＳ Ｐゴシック" charset="0"/>
                <a:cs typeface="Lucida Sans Typewriter" charset="0"/>
              </a:rPr>
              <a:t>grep</a:t>
            </a:r>
            <a:r>
              <a:rPr lang="en-US" dirty="0">
                <a:ea typeface="ＭＳ Ｐゴシック" charset="0"/>
                <a:cs typeface="ＭＳ Ｐゴシック" charset="0"/>
              </a:rPr>
              <a:t> all of Shakespeare’s plays for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Brutus</a:t>
            </a:r>
            <a:r>
              <a:rPr lang="en-US" dirty="0">
                <a:ea typeface="ＭＳ Ｐゴシック" charset="0"/>
                <a:cs typeface="ＭＳ Ｐゴシック" charset="0"/>
              </a:rPr>
              <a:t> and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Caesar,</a:t>
            </a:r>
            <a:r>
              <a:rPr lang="en-US" dirty="0">
                <a:ea typeface="ＭＳ Ｐゴシック" charset="0"/>
                <a:cs typeface="ＭＳ Ｐゴシック" charset="0"/>
              </a:rPr>
              <a:t> then strip out lines containing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Calpurnia</a:t>
            </a:r>
            <a:r>
              <a:rPr lang="en-US" dirty="0">
                <a:ea typeface="ＭＳ Ｐゴシック" charset="0"/>
                <a:cs typeface="ＭＳ Ｐゴシック" charset="0"/>
              </a:rPr>
              <a:t>?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Why is that not the answer?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Slow (for large corpora)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i="1" u="sng" dirty="0">
                <a:ea typeface="ＭＳ Ｐゴシック" charset="0"/>
              </a:rPr>
              <a:t>NOT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b="1" i="1" dirty="0">
                <a:ea typeface="ＭＳ Ｐゴシック" charset="0"/>
              </a:rPr>
              <a:t>Calpurnia</a:t>
            </a:r>
            <a:r>
              <a:rPr lang="en-US" dirty="0">
                <a:ea typeface="ＭＳ Ｐゴシック" charset="0"/>
              </a:rPr>
              <a:t> is non-trivial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Other operations (e.g., find the word </a:t>
            </a:r>
            <a:r>
              <a:rPr lang="en-US" b="1" i="1" dirty="0">
                <a:ea typeface="ＭＳ Ｐゴシック" charset="0"/>
              </a:rPr>
              <a:t>Romans </a:t>
            </a:r>
            <a:r>
              <a:rPr lang="en-US" dirty="0">
                <a:ea typeface="ＭＳ Ｐゴシック" charset="0"/>
              </a:rPr>
              <a:t>near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b="1" i="1" dirty="0">
                <a:ea typeface="ＭＳ Ｐゴシック" charset="0"/>
              </a:rPr>
              <a:t>countrymen</a:t>
            </a:r>
            <a:r>
              <a:rPr lang="en-US" dirty="0">
                <a:ea typeface="ＭＳ Ｐゴシック" charset="0"/>
              </a:rPr>
              <a:t>) not feasible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Ranked retrieval (best documents to return)</a:t>
            </a:r>
          </a:p>
        </p:txBody>
      </p:sp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125415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Term-Document Incidence Matrices</a:t>
            </a:r>
          </a:p>
        </p:txBody>
      </p:sp>
      <p:graphicFrame>
        <p:nvGraphicFramePr>
          <p:cNvPr id="13315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515938" y="1530350"/>
          <a:ext cx="9255125" cy="344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515416" imgH="3543418" progId="Excel.Sheet.8">
                  <p:embed/>
                </p:oleObj>
              </mc:Choice>
              <mc:Fallback>
                <p:oleObj name="Worksheet" r:id="rId2" imgW="9515416" imgH="3543418" progId="Excel.Sheet.8">
                  <p:embed/>
                  <p:pic>
                    <p:nvPicPr>
                      <p:cNvPr id="13315" name="Object 10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530350"/>
                        <a:ext cx="9255125" cy="344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6210300" y="4916487"/>
            <a:ext cx="2819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1 if </a:t>
            </a:r>
            <a:r>
              <a:rPr lang="en-US"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play</a:t>
            </a:r>
            <a:r>
              <a:rPr 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contains </a:t>
            </a:r>
            <a:r>
              <a:rPr lang="en-US" sz="2400">
                <a:solidFill>
                  <a:srgbClr val="990033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word</a:t>
            </a:r>
            <a:r>
              <a:rPr 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, 0 otherwise</a:t>
            </a: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 flipH="1" flipV="1">
            <a:off x="4838700" y="3081337"/>
            <a:ext cx="1371600" cy="1828800"/>
          </a:xfrm>
          <a:prstGeom prst="line">
            <a:avLst/>
          </a:prstGeom>
          <a:noFill/>
          <a:ln w="19050">
            <a:solidFill>
              <a:srgbClr val="0000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1333501" y="5062538"/>
            <a:ext cx="3978275" cy="7016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Brutus</a:t>
            </a:r>
            <a:r>
              <a:rPr lang="en-US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AND</a:t>
            </a:r>
            <a:r>
              <a:rPr lang="en-US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Caesar</a:t>
            </a:r>
            <a:r>
              <a:rPr lang="en-US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BUT</a:t>
            </a:r>
            <a:r>
              <a:rPr lang="en-US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NOT</a:t>
            </a:r>
            <a:r>
              <a:rPr lang="en-US" sz="20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b="1" i="1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Calpurnia</a:t>
            </a:r>
          </a:p>
        </p:txBody>
      </p:sp>
      <p:sp>
        <p:nvSpPr>
          <p:cNvPr id="13319" name="TextBox 6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1543453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Incidence Vectors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So we have a 0/1 vector for each term.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To answer query: take the vectors for </a:t>
            </a:r>
            <a:r>
              <a:rPr lang="en-US" b="1" i="1" dirty="0">
                <a:ea typeface="ＭＳ Ｐゴシック" panose="020B0600070205080204" pitchFamily="34" charset="-128"/>
              </a:rPr>
              <a:t>Brutus, Caesar</a:t>
            </a:r>
            <a:r>
              <a:rPr lang="en-US" dirty="0">
                <a:ea typeface="ＭＳ Ｐゴシック" panose="020B0600070205080204" pitchFamily="34" charset="-128"/>
              </a:rPr>
              <a:t> and </a:t>
            </a:r>
            <a:r>
              <a:rPr lang="en-US" b="1" i="1" dirty="0">
                <a:ea typeface="ＭＳ Ｐゴシック" panose="020B0600070205080204" pitchFamily="34" charset="-128"/>
              </a:rPr>
              <a:t>Calpurnia</a:t>
            </a:r>
            <a:r>
              <a:rPr lang="en-US" dirty="0">
                <a:ea typeface="ＭＳ Ｐゴシック" panose="020B0600070205080204" pitchFamily="34" charset="-128"/>
              </a:rPr>
              <a:t> (complemented) </a:t>
            </a:r>
            <a:r>
              <a:rPr 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  b</a:t>
            </a:r>
            <a:r>
              <a:rPr lang="en-US" dirty="0">
                <a:ea typeface="ＭＳ Ｐゴシック" panose="020B0600070205080204" pitchFamily="34" charset="-128"/>
              </a:rPr>
              <a:t>itwise </a:t>
            </a:r>
            <a:r>
              <a:rPr lang="en-US" i="1" dirty="0">
                <a:ea typeface="ＭＳ Ｐゴシック" panose="020B0600070205080204" pitchFamily="34" charset="-128"/>
              </a:rPr>
              <a:t>AND</a:t>
            </a:r>
            <a:r>
              <a:rPr lang="en-US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110100 </a:t>
            </a:r>
            <a:r>
              <a:rPr lang="en-US" i="1" dirty="0">
                <a:ea typeface="ＭＳ Ｐゴシック" panose="020B0600070205080204" pitchFamily="34" charset="-128"/>
              </a:rPr>
              <a:t>AND </a:t>
            </a:r>
            <a:r>
              <a:rPr lang="en-US" dirty="0">
                <a:ea typeface="ＭＳ Ｐゴシック" panose="020B0600070205080204" pitchFamily="34" charset="-128"/>
              </a:rPr>
              <a:t>110111 </a:t>
            </a:r>
            <a:r>
              <a:rPr lang="en-US" i="1" dirty="0">
                <a:ea typeface="ＭＳ Ｐゴシック" panose="020B0600070205080204" pitchFamily="34" charset="-128"/>
              </a:rPr>
              <a:t>AND </a:t>
            </a:r>
            <a:r>
              <a:rPr lang="en-US" dirty="0">
                <a:ea typeface="ＭＳ Ｐゴシック" panose="020B0600070205080204" pitchFamily="34" charset="-128"/>
              </a:rPr>
              <a:t>101111 = </a:t>
            </a:r>
            <a:r>
              <a:rPr lang="en-US" b="1" dirty="0">
                <a:ea typeface="ＭＳ Ｐゴシック" panose="020B0600070205080204" pitchFamily="34" charset="-128"/>
              </a:rPr>
              <a:t>100100</a:t>
            </a: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  <p:graphicFrame>
        <p:nvGraphicFramePr>
          <p:cNvPr id="14342" name="Object 1028"/>
          <p:cNvGraphicFramePr>
            <a:graphicFrameLocks noChangeAspect="1"/>
          </p:cNvGraphicFramePr>
          <p:nvPr/>
        </p:nvGraphicFramePr>
        <p:xfrm>
          <a:off x="1063047" y="3127375"/>
          <a:ext cx="7612641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888920" imgH="3355200" progId="Excel.Sheet.8">
                  <p:embed/>
                </p:oleObj>
              </mc:Choice>
              <mc:Fallback>
                <p:oleObj name="Worksheet" r:id="rId2" imgW="10888920" imgH="3355200" progId="Excel.Sheet.8">
                  <p:embed/>
                  <p:pic>
                    <p:nvPicPr>
                      <p:cNvPr id="1434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047" y="3127375"/>
                        <a:ext cx="7612641" cy="235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534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Bigger Collections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Consider </a:t>
            </a:r>
            <a:r>
              <a:rPr lang="en-US" i="1" dirty="0">
                <a:ea typeface="ＭＳ Ｐゴシック" panose="020B0600070205080204" pitchFamily="34" charset="-128"/>
              </a:rPr>
              <a:t>N </a:t>
            </a:r>
            <a:r>
              <a:rPr lang="en-US" dirty="0">
                <a:ea typeface="ＭＳ Ｐゴシック" panose="020B0600070205080204" pitchFamily="34" charset="-128"/>
              </a:rPr>
              <a:t>= 1 million documents, each with about 1000 words.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Avg 6 bytes/word including spaces/punctuation 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6GB of data in the documents.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Say there are </a:t>
            </a:r>
            <a:r>
              <a:rPr lang="en-US" i="1" dirty="0">
                <a:ea typeface="ＭＳ Ｐゴシック" panose="020B0600070205080204" pitchFamily="34" charset="-128"/>
              </a:rPr>
              <a:t>M </a:t>
            </a:r>
            <a:r>
              <a:rPr lang="en-US" dirty="0">
                <a:ea typeface="ＭＳ Ｐゴシック" panose="020B0600070205080204" pitchFamily="34" charset="-128"/>
              </a:rPr>
              <a:t>= 500K </a:t>
            </a:r>
            <a:r>
              <a:rPr lang="en-US" i="1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distinct</a:t>
            </a:r>
            <a:r>
              <a:rPr lang="en-US" dirty="0">
                <a:ea typeface="ＭＳ Ｐゴシック" panose="020B0600070205080204" pitchFamily="34" charset="-128"/>
              </a:rPr>
              <a:t> terms among these.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500K x 1M matrix has half-a-trillion 0’s and 1’s.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But it has no more than one billion 1’s.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matrix is extremely sparse.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What’s a better representation?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We only record the 1 positions.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186520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Inverted Index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For each term </a:t>
            </a:r>
            <a:r>
              <a:rPr lang="en-US" i="1" dirty="0">
                <a:ea typeface="ＭＳ Ｐゴシック" panose="020B0600070205080204" pitchFamily="34" charset="-128"/>
              </a:rPr>
              <a:t>t</a:t>
            </a:r>
            <a:r>
              <a:rPr lang="en-US" dirty="0">
                <a:ea typeface="ＭＳ Ｐゴシック" panose="020B0600070205080204" pitchFamily="34" charset="-128"/>
              </a:rPr>
              <a:t>, we must store a list of all documents that contain </a:t>
            </a:r>
            <a:r>
              <a:rPr lang="en-US" i="1" dirty="0">
                <a:ea typeface="ＭＳ Ｐゴシック" panose="020B0600070205080204" pitchFamily="34" charset="-128"/>
              </a:rPr>
              <a:t>t</a:t>
            </a:r>
            <a:r>
              <a:rPr lang="en-US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Identify each doc by a </a:t>
            </a:r>
            <a:r>
              <a:rPr lang="en-US" b="1" dirty="0" err="1">
                <a:ea typeface="ＭＳ Ｐゴシック" panose="020B0600070205080204" pitchFamily="34" charset="-128"/>
              </a:rPr>
              <a:t>docID</a:t>
            </a:r>
            <a:r>
              <a:rPr lang="en-US" dirty="0">
                <a:ea typeface="ＭＳ Ｐゴシック" panose="020B0600070205080204" pitchFamily="34" charset="-128"/>
              </a:rPr>
              <a:t>, a document serial number</a:t>
            </a:r>
          </a:p>
        </p:txBody>
      </p:sp>
      <p:sp>
        <p:nvSpPr>
          <p:cNvPr id="19462" name="TextBox 49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1.2</a:t>
            </a:r>
          </a:p>
        </p:txBody>
      </p:sp>
      <p:grpSp>
        <p:nvGrpSpPr>
          <p:cNvPr id="53" name="Group 54">
            <a:extLst>
              <a:ext uri="{FF2B5EF4-FFF2-40B4-BE49-F238E27FC236}">
                <a16:creationId xmlns:a16="http://schemas.microsoft.com/office/drawing/2014/main" id="{279280A2-F19B-471C-B721-E3714A287E11}"/>
              </a:ext>
            </a:extLst>
          </p:cNvPr>
          <p:cNvGrpSpPr>
            <a:grpSpLocks/>
          </p:cNvGrpSpPr>
          <p:nvPr/>
        </p:nvGrpSpPr>
        <p:grpSpPr bwMode="auto">
          <a:xfrm>
            <a:off x="876300" y="4519613"/>
            <a:ext cx="1341438" cy="1763713"/>
            <a:chOff x="192" y="2847"/>
            <a:chExt cx="845" cy="1111"/>
          </a:xfrm>
        </p:grpSpPr>
        <p:sp>
          <p:nvSpPr>
            <p:cNvPr id="54" name="AutoShape 46">
              <a:extLst>
                <a:ext uri="{FF2B5EF4-FFF2-40B4-BE49-F238E27FC236}">
                  <a16:creationId xmlns:a16="http://schemas.microsoft.com/office/drawing/2014/main" id="{2BE62FAB-94F6-4F70-9D89-308B0CC39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" y="2847"/>
              <a:ext cx="327" cy="271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55" name="Text Box 47">
              <a:extLst>
                <a:ext uri="{FF2B5EF4-FFF2-40B4-BE49-F238E27FC236}">
                  <a16:creationId xmlns:a16="http://schemas.microsoft.com/office/drawing/2014/main" id="{1D1F7B4C-6B38-45B0-80E5-7940F2002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3725"/>
              <a:ext cx="759" cy="23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i="1">
                  <a:latin typeface="Tahoma" charset="0"/>
                  <a:ea typeface="Arial Unicode MS" charset="0"/>
                  <a:cs typeface="+mn-cs"/>
                </a:rPr>
                <a:t>Dictionary</a:t>
              </a:r>
            </a:p>
          </p:txBody>
        </p:sp>
        <p:cxnSp>
          <p:nvCxnSpPr>
            <p:cNvPr id="56" name="AutoShape 48">
              <a:extLst>
                <a:ext uri="{FF2B5EF4-FFF2-40B4-BE49-F238E27FC236}">
                  <a16:creationId xmlns:a16="http://schemas.microsoft.com/office/drawing/2014/main" id="{3596F079-943C-48D4-99B3-01370F002720}"/>
                </a:ext>
              </a:extLst>
            </p:cNvPr>
            <p:cNvCxnSpPr>
              <a:cxnSpLocks noChangeShapeType="1"/>
              <a:stCxn id="55" idx="1"/>
              <a:endCxn id="54" idx="1"/>
            </p:cNvCxnSpPr>
            <p:nvPr/>
          </p:nvCxnSpPr>
          <p:spPr bwMode="auto">
            <a:xfrm rot="10800000">
              <a:off x="192" y="2982"/>
              <a:ext cx="86" cy="889"/>
            </a:xfrm>
            <a:prstGeom prst="curvedConnector3">
              <a:avLst>
                <a:gd name="adj1" fmla="val 26744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7" name="Group 53">
            <a:extLst>
              <a:ext uri="{FF2B5EF4-FFF2-40B4-BE49-F238E27FC236}">
                <a16:creationId xmlns:a16="http://schemas.microsoft.com/office/drawing/2014/main" id="{4DAEEA41-3580-4ADA-9FBB-4CB9A35952E4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5497517"/>
            <a:ext cx="1304925" cy="801688"/>
            <a:chOff x="3600" y="3601"/>
            <a:chExt cx="822" cy="505"/>
          </a:xfrm>
        </p:grpSpPr>
        <p:sp>
          <p:nvSpPr>
            <p:cNvPr id="58" name="AutoShape 51">
              <a:extLst>
                <a:ext uri="{FF2B5EF4-FFF2-40B4-BE49-F238E27FC236}">
                  <a16:creationId xmlns:a16="http://schemas.microsoft.com/office/drawing/2014/main" id="{CF398044-0768-40AD-B0ED-685CAFC75BF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924" y="3573"/>
              <a:ext cx="216" cy="271"/>
            </a:xfrm>
            <a:prstGeom prst="leftBrace">
              <a:avLst>
                <a:gd name="adj1" fmla="val 12963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59" name="Text Box 52">
              <a:extLst>
                <a:ext uri="{FF2B5EF4-FFF2-40B4-BE49-F238E27FC236}">
                  <a16:creationId xmlns:a16="http://schemas.microsoft.com/office/drawing/2014/main" id="{8105FD3C-F055-4513-BEB2-22BD63144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815"/>
              <a:ext cx="822" cy="291"/>
            </a:xfrm>
            <a:prstGeom prst="rect">
              <a:avLst/>
            </a:prstGeom>
            <a:solidFill>
              <a:srgbClr val="83A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 i="1">
                  <a:latin typeface="Tahoma" panose="020B060403050404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Postings</a:t>
              </a:r>
            </a:p>
          </p:txBody>
        </p:sp>
      </p:grpSp>
      <p:sp>
        <p:nvSpPr>
          <p:cNvPr id="60" name="Text Box 55">
            <a:extLst>
              <a:ext uri="{FF2B5EF4-FFF2-40B4-BE49-F238E27FC236}">
                <a16:creationId xmlns:a16="http://schemas.microsoft.com/office/drawing/2014/main" id="{CEFD36E6-ADED-4843-AF94-37240C8DE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830" y="2691113"/>
            <a:ext cx="2555508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400" dirty="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Sorted by </a:t>
            </a:r>
            <a:r>
              <a:rPr lang="en-US" sz="2400" dirty="0" err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docID</a:t>
            </a:r>
            <a:endParaRPr lang="en-US" sz="2400" dirty="0">
              <a:latin typeface="Lucida Sans" panose="020B0602030504020204" pitchFamily="34" charset="0"/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AE7F69B-EEA0-4891-A1A2-E57275D98248}"/>
              </a:ext>
            </a:extLst>
          </p:cNvPr>
          <p:cNvGrpSpPr>
            <a:grpSpLocks/>
          </p:cNvGrpSpPr>
          <p:nvPr/>
        </p:nvGrpSpPr>
        <p:grpSpPr bwMode="auto">
          <a:xfrm>
            <a:off x="8039100" y="3048000"/>
            <a:ext cx="1143000" cy="838200"/>
            <a:chOff x="7467600" y="3048000"/>
            <a:chExt cx="1143000" cy="838200"/>
          </a:xfrm>
        </p:grpSpPr>
        <p:sp>
          <p:nvSpPr>
            <p:cNvPr id="62" name="Rectangle 73">
              <a:extLst>
                <a:ext uri="{FF2B5EF4-FFF2-40B4-BE49-F238E27FC236}">
                  <a16:creationId xmlns:a16="http://schemas.microsoft.com/office/drawing/2014/main" id="{0F1F6108-10E1-4327-BE34-27B272DBE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48000"/>
              <a:ext cx="1143000" cy="4064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rgbClr val="000000"/>
                  </a:solidFill>
                  <a:ea typeface="Arial Unicode MS" charset="0"/>
                  <a:cs typeface="Arial Unicode MS" charset="0"/>
                </a:rPr>
                <a:t>Posting</a:t>
              </a:r>
            </a:p>
          </p:txBody>
        </p:sp>
        <p:sp>
          <p:nvSpPr>
            <p:cNvPr id="63" name="Line 75">
              <a:extLst>
                <a:ext uri="{FF2B5EF4-FFF2-40B4-BE49-F238E27FC236}">
                  <a16:creationId xmlns:a16="http://schemas.microsoft.com/office/drawing/2014/main" id="{7D2ED5CE-8CC6-41B3-9551-CCA047244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0" y="3505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4007BB-6B3F-471F-BA72-721A19B264B6}"/>
              </a:ext>
            </a:extLst>
          </p:cNvPr>
          <p:cNvGrpSpPr/>
          <p:nvPr/>
        </p:nvGrpSpPr>
        <p:grpSpPr>
          <a:xfrm>
            <a:off x="1404938" y="3781429"/>
            <a:ext cx="7854950" cy="1800463"/>
            <a:chOff x="952500" y="3557470"/>
            <a:chExt cx="7854950" cy="1800463"/>
          </a:xfrm>
        </p:grpSpPr>
        <p:sp>
          <p:nvSpPr>
            <p:cNvPr id="65" name="Text Box 4">
              <a:extLst>
                <a:ext uri="{FF2B5EF4-FFF2-40B4-BE49-F238E27FC236}">
                  <a16:creationId xmlns:a16="http://schemas.microsoft.com/office/drawing/2014/main" id="{6528C052-3974-42F0-91B6-A737C3DBD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" y="3733801"/>
              <a:ext cx="1176925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Brutus</a:t>
              </a:r>
            </a:p>
          </p:txBody>
        </p:sp>
        <p:sp>
          <p:nvSpPr>
            <p:cNvPr id="66" name="Text Box 5">
              <a:extLst>
                <a:ext uri="{FF2B5EF4-FFF2-40B4-BE49-F238E27FC236}">
                  <a16:creationId xmlns:a16="http://schemas.microsoft.com/office/drawing/2014/main" id="{CF6834EC-9F00-47C3-B3D0-29DDFBE08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" y="4791076"/>
              <a:ext cx="1603324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Calpurnia</a:t>
              </a:r>
            </a:p>
          </p:txBody>
        </p:sp>
        <p:sp>
          <p:nvSpPr>
            <p:cNvPr id="67" name="Text Box 6">
              <a:extLst>
                <a:ext uri="{FF2B5EF4-FFF2-40B4-BE49-F238E27FC236}">
                  <a16:creationId xmlns:a16="http://schemas.microsoft.com/office/drawing/2014/main" id="{351800A3-547E-4D08-83F4-31AF209F7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" y="4267201"/>
              <a:ext cx="1295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latin typeface="+mn-lt"/>
                </a:rPr>
                <a:t>Caesar</a:t>
              </a:r>
            </a:p>
          </p:txBody>
        </p:sp>
        <p:sp>
          <p:nvSpPr>
            <p:cNvPr id="68" name="AutoShape 7">
              <a:extLst>
                <a:ext uri="{FF2B5EF4-FFF2-40B4-BE49-F238E27FC236}">
                  <a16:creationId xmlns:a16="http://schemas.microsoft.com/office/drawing/2014/main" id="{8497F337-0ACB-4456-8BEA-17B833975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3557470"/>
              <a:ext cx="939801" cy="733663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69" name="AutoShape 8">
              <a:extLst>
                <a:ext uri="{FF2B5EF4-FFF2-40B4-BE49-F238E27FC236}">
                  <a16:creationId xmlns:a16="http://schemas.microsoft.com/office/drawing/2014/main" id="{23242B13-FC47-4517-A6DB-CC22CCE65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4090870"/>
              <a:ext cx="939801" cy="733663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0" name="Group 26">
              <a:extLst>
                <a:ext uri="{FF2B5EF4-FFF2-40B4-BE49-F238E27FC236}">
                  <a16:creationId xmlns:a16="http://schemas.microsoft.com/office/drawing/2014/main" id="{0C66B155-6DC6-43B7-891B-53D820F2C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4845056"/>
              <a:ext cx="4876800" cy="369888"/>
              <a:chOff x="2064" y="2428"/>
              <a:chExt cx="3072" cy="233"/>
            </a:xfrm>
          </p:grpSpPr>
          <p:sp>
            <p:nvSpPr>
              <p:cNvPr id="106" name="Rectangle 27">
                <a:extLst>
                  <a:ext uri="{FF2B5EF4-FFF2-40B4-BE49-F238E27FC236}">
                    <a16:creationId xmlns:a16="http://schemas.microsoft.com/office/drawing/2014/main" id="{48EF5E21-AB1E-4C21-99E4-416A233F9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28"/>
                <a:ext cx="3072" cy="2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7" name="Rectangle 28">
                <a:extLst>
                  <a:ext uri="{FF2B5EF4-FFF2-40B4-BE49-F238E27FC236}">
                    <a16:creationId xmlns:a16="http://schemas.microsoft.com/office/drawing/2014/main" id="{142FEA46-0C4A-4F8F-ACEA-670C486C8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28"/>
                <a:ext cx="2304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8" name="Rectangle 29">
                <a:extLst>
                  <a:ext uri="{FF2B5EF4-FFF2-40B4-BE49-F238E27FC236}">
                    <a16:creationId xmlns:a16="http://schemas.microsoft.com/office/drawing/2014/main" id="{F8BC72E6-716D-44A1-ABD2-0AF3CE811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28"/>
                <a:ext cx="1536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9" name="Rectangle 30">
                <a:extLst>
                  <a:ext uri="{FF2B5EF4-FFF2-40B4-BE49-F238E27FC236}">
                    <a16:creationId xmlns:a16="http://schemas.microsoft.com/office/drawing/2014/main" id="{BC267ED0-B735-49ED-92E9-50067BABB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28"/>
                <a:ext cx="7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0" name="Line 31">
                <a:extLst>
                  <a:ext uri="{FF2B5EF4-FFF2-40B4-BE49-F238E27FC236}">
                    <a16:creationId xmlns:a16="http://schemas.microsoft.com/office/drawing/2014/main" id="{1BDB20C6-05DF-4544-8335-FFE0698B1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1" name="Group 51">
              <a:extLst>
                <a:ext uri="{FF2B5EF4-FFF2-40B4-BE49-F238E27FC236}">
                  <a16:creationId xmlns:a16="http://schemas.microsoft.com/office/drawing/2014/main" id="{5AFE257A-01AE-4E26-AA4B-87751C735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4267201"/>
              <a:ext cx="4959350" cy="461963"/>
              <a:chOff x="2064" y="2688"/>
              <a:chExt cx="3124" cy="291"/>
            </a:xfrm>
          </p:grpSpPr>
          <p:grpSp>
            <p:nvGrpSpPr>
              <p:cNvPr id="92" name="Group 20">
                <a:extLst>
                  <a:ext uri="{FF2B5EF4-FFF2-40B4-BE49-F238E27FC236}">
                    <a16:creationId xmlns:a16="http://schemas.microsoft.com/office/drawing/2014/main" id="{80B2597A-1C1B-413F-964C-5234D1F8D5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2716"/>
                <a:ext cx="3072" cy="233"/>
                <a:chOff x="2064" y="2428"/>
                <a:chExt cx="3072" cy="233"/>
              </a:xfrm>
            </p:grpSpPr>
            <p:sp>
              <p:nvSpPr>
                <p:cNvPr id="101" name="Rectangle 21">
                  <a:extLst>
                    <a:ext uri="{FF2B5EF4-FFF2-40B4-BE49-F238E27FC236}">
                      <a16:creationId xmlns:a16="http://schemas.microsoft.com/office/drawing/2014/main" id="{4EEED19A-2AC2-4ACD-B662-3971FCC58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428"/>
                  <a:ext cx="3072" cy="2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02" name="Rectangle 22">
                  <a:extLst>
                    <a:ext uri="{FF2B5EF4-FFF2-40B4-BE49-F238E27FC236}">
                      <a16:creationId xmlns:a16="http://schemas.microsoft.com/office/drawing/2014/main" id="{CE91F7DF-244B-4E1C-B828-33FEA8675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428"/>
                  <a:ext cx="2304" cy="23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03" name="Rectangle 23">
                  <a:extLst>
                    <a:ext uri="{FF2B5EF4-FFF2-40B4-BE49-F238E27FC236}">
                      <a16:creationId xmlns:a16="http://schemas.microsoft.com/office/drawing/2014/main" id="{E8F64511-85B3-4BF1-AC12-AE783765DC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2" y="2428"/>
                  <a:ext cx="1536" cy="23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04" name="Rectangle 24">
                  <a:extLst>
                    <a:ext uri="{FF2B5EF4-FFF2-40B4-BE49-F238E27FC236}">
                      <a16:creationId xmlns:a16="http://schemas.microsoft.com/office/drawing/2014/main" id="{577F80CA-FE82-4221-81F6-AD7F38423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428"/>
                  <a:ext cx="768" cy="23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05" name="Line 25">
                  <a:extLst>
                    <a:ext uri="{FF2B5EF4-FFF2-40B4-BE49-F238E27FC236}">
                      <a16:creationId xmlns:a16="http://schemas.microsoft.com/office/drawing/2014/main" id="{5D3027AD-84A4-45C2-8D1A-4CFC4E491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3" name="Text Box 32">
                <a:extLst>
                  <a:ext uri="{FF2B5EF4-FFF2-40B4-BE49-F238E27FC236}">
                    <a16:creationId xmlns:a16="http://schemas.microsoft.com/office/drawing/2014/main" id="{F71CC961-C43E-46D8-B00E-E61207C7D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1</a:t>
                </a:r>
              </a:p>
            </p:txBody>
          </p:sp>
          <p:sp>
            <p:nvSpPr>
              <p:cNvPr id="94" name="Text Box 33">
                <a:extLst>
                  <a:ext uri="{FF2B5EF4-FFF2-40B4-BE49-F238E27FC236}">
                    <a16:creationId xmlns:a16="http://schemas.microsoft.com/office/drawing/2014/main" id="{F3BBF7EE-CF4C-4C50-BBDD-04878F2608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2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2</a:t>
                </a:r>
              </a:p>
            </p:txBody>
          </p:sp>
          <p:sp>
            <p:nvSpPr>
              <p:cNvPr id="95" name="Text Box 34">
                <a:extLst>
                  <a:ext uri="{FF2B5EF4-FFF2-40B4-BE49-F238E27FC236}">
                    <a16:creationId xmlns:a16="http://schemas.microsoft.com/office/drawing/2014/main" id="{FE7D900A-28D8-4F90-BD4B-0C99DF0113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4</a:t>
                </a:r>
              </a:p>
            </p:txBody>
          </p:sp>
          <p:sp>
            <p:nvSpPr>
              <p:cNvPr id="96" name="Text Box 35">
                <a:extLst>
                  <a:ext uri="{FF2B5EF4-FFF2-40B4-BE49-F238E27FC236}">
                    <a16:creationId xmlns:a16="http://schemas.microsoft.com/office/drawing/2014/main" id="{C7E99603-007B-4DBB-9CB6-FD137AE2E0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5</a:t>
                </a:r>
              </a:p>
            </p:txBody>
          </p:sp>
          <p:sp>
            <p:nvSpPr>
              <p:cNvPr id="97" name="Text Box 36">
                <a:extLst>
                  <a:ext uri="{FF2B5EF4-FFF2-40B4-BE49-F238E27FC236}">
                    <a16:creationId xmlns:a16="http://schemas.microsoft.com/office/drawing/2014/main" id="{FEC07F81-2F11-481E-9D1B-7AB378F7EE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6</a:t>
                </a:r>
              </a:p>
            </p:txBody>
          </p:sp>
          <p:sp>
            <p:nvSpPr>
              <p:cNvPr id="98" name="Text Box 37">
                <a:extLst>
                  <a:ext uri="{FF2B5EF4-FFF2-40B4-BE49-F238E27FC236}">
                    <a16:creationId xmlns:a16="http://schemas.microsoft.com/office/drawing/2014/main" id="{C1E83411-9C8A-40CB-9362-CA3DC9180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9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16</a:t>
                </a:r>
              </a:p>
            </p:txBody>
          </p:sp>
          <p:sp>
            <p:nvSpPr>
              <p:cNvPr id="99" name="Text Box 38">
                <a:extLst>
                  <a:ext uri="{FF2B5EF4-FFF2-40B4-BE49-F238E27FC236}">
                    <a16:creationId xmlns:a16="http://schemas.microsoft.com/office/drawing/2014/main" id="{1E021EEC-49F6-42F0-8E26-466FCAB80A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57</a:t>
                </a:r>
              </a:p>
            </p:txBody>
          </p:sp>
          <p:sp>
            <p:nvSpPr>
              <p:cNvPr id="100" name="Text Box 39">
                <a:extLst>
                  <a:ext uri="{FF2B5EF4-FFF2-40B4-BE49-F238E27FC236}">
                    <a16:creationId xmlns:a16="http://schemas.microsoft.com/office/drawing/2014/main" id="{7EA39FA2-D390-4A4A-AEC9-7A9848830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688"/>
                <a:ext cx="4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sz="2400">
                    <a:latin typeface="Lucida Sans" panose="020B0602030504020204" pitchFamily="34" charset="0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132</a:t>
                </a:r>
              </a:p>
            </p:txBody>
          </p:sp>
        </p:grpSp>
        <p:grpSp>
          <p:nvGrpSpPr>
            <p:cNvPr id="72" name="Group 19">
              <a:extLst>
                <a:ext uri="{FF2B5EF4-FFF2-40B4-BE49-F238E27FC236}">
                  <a16:creationId xmlns:a16="http://schemas.microsoft.com/office/drawing/2014/main" id="{A355B8F0-623A-4CFB-9B04-4115D400E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3778251"/>
              <a:ext cx="4876800" cy="369888"/>
              <a:chOff x="2064" y="2428"/>
              <a:chExt cx="3072" cy="233"/>
            </a:xfrm>
          </p:grpSpPr>
          <p:sp>
            <p:nvSpPr>
              <p:cNvPr id="87" name="Rectangle 11">
                <a:extLst>
                  <a:ext uri="{FF2B5EF4-FFF2-40B4-BE49-F238E27FC236}">
                    <a16:creationId xmlns:a16="http://schemas.microsoft.com/office/drawing/2014/main" id="{AE3C0ED1-DE51-48B8-B595-338957814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28"/>
                <a:ext cx="3072" cy="2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8" name="Rectangle 13">
                <a:extLst>
                  <a:ext uri="{FF2B5EF4-FFF2-40B4-BE49-F238E27FC236}">
                    <a16:creationId xmlns:a16="http://schemas.microsoft.com/office/drawing/2014/main" id="{FCBD2681-11BD-4743-91D2-6F99CFE6C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28"/>
                <a:ext cx="2304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9" name="Rectangle 15">
                <a:extLst>
                  <a:ext uri="{FF2B5EF4-FFF2-40B4-BE49-F238E27FC236}">
                    <a16:creationId xmlns:a16="http://schemas.microsoft.com/office/drawing/2014/main" id="{B2F6121E-964F-4784-9FD7-5AA717796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28"/>
                <a:ext cx="1536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90" name="Rectangle 16">
                <a:extLst>
                  <a:ext uri="{FF2B5EF4-FFF2-40B4-BE49-F238E27FC236}">
                    <a16:creationId xmlns:a16="http://schemas.microsoft.com/office/drawing/2014/main" id="{1AF797C8-337C-4127-9E81-B7B6AB677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28"/>
                <a:ext cx="7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91" name="Line 18">
                <a:extLst>
                  <a:ext uri="{FF2B5EF4-FFF2-40B4-BE49-F238E27FC236}">
                    <a16:creationId xmlns:a16="http://schemas.microsoft.com/office/drawing/2014/main" id="{A42B22AA-E600-4DFF-9FDC-C9B984A04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3" name="Text Box 40">
              <a:extLst>
                <a:ext uri="{FF2B5EF4-FFF2-40B4-BE49-F238E27FC236}">
                  <a16:creationId xmlns:a16="http://schemas.microsoft.com/office/drawing/2014/main" id="{93157D27-E5CA-4697-AB13-739BB04E9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500" y="3733801"/>
              <a:ext cx="3794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</a:t>
              </a:r>
            </a:p>
          </p:txBody>
        </p:sp>
        <p:sp>
          <p:nvSpPr>
            <p:cNvPr id="74" name="Text Box 41">
              <a:extLst>
                <a:ext uri="{FF2B5EF4-FFF2-40B4-BE49-F238E27FC236}">
                  <a16:creationId xmlns:a16="http://schemas.microsoft.com/office/drawing/2014/main" id="{D4D424F2-DB47-40C7-A2D3-69CBA3397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888" y="3733801"/>
              <a:ext cx="3794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2</a:t>
              </a:r>
            </a:p>
          </p:txBody>
        </p:sp>
        <p:sp>
          <p:nvSpPr>
            <p:cNvPr id="75" name="Text Box 42">
              <a:extLst>
                <a:ext uri="{FF2B5EF4-FFF2-40B4-BE49-F238E27FC236}">
                  <a16:creationId xmlns:a16="http://schemas.microsoft.com/office/drawing/2014/main" id="{387A2AA5-E4B3-44A8-A558-EB2C58DD6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3733801"/>
              <a:ext cx="3794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4</a:t>
              </a:r>
            </a:p>
          </p:txBody>
        </p:sp>
        <p:sp>
          <p:nvSpPr>
            <p:cNvPr id="76" name="Text Box 43">
              <a:extLst>
                <a:ext uri="{FF2B5EF4-FFF2-40B4-BE49-F238E27FC236}">
                  <a16:creationId xmlns:a16="http://schemas.microsoft.com/office/drawing/2014/main" id="{ECBE0E87-6B2A-4662-B2F0-734DF56D7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3100" y="3733801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11</a:t>
              </a:r>
            </a:p>
          </p:txBody>
        </p:sp>
        <p:sp>
          <p:nvSpPr>
            <p:cNvPr id="77" name="Text Box 44">
              <a:extLst>
                <a:ext uri="{FF2B5EF4-FFF2-40B4-BE49-F238E27FC236}">
                  <a16:creationId xmlns:a16="http://schemas.microsoft.com/office/drawing/2014/main" id="{A07DCAB4-3232-4F05-8A75-9A0969240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9688" y="3733801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31</a:t>
              </a:r>
            </a:p>
          </p:txBody>
        </p:sp>
        <p:sp>
          <p:nvSpPr>
            <p:cNvPr id="78" name="Text Box 45">
              <a:extLst>
                <a:ext uri="{FF2B5EF4-FFF2-40B4-BE49-F238E27FC236}">
                  <a16:creationId xmlns:a16="http://schemas.microsoft.com/office/drawing/2014/main" id="{6C63AFB5-A0CA-4719-A28B-207585AC3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9288" y="3733801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45</a:t>
              </a:r>
            </a:p>
          </p:txBody>
        </p:sp>
        <p:sp>
          <p:nvSpPr>
            <p:cNvPr id="79" name="Text Box 46">
              <a:extLst>
                <a:ext uri="{FF2B5EF4-FFF2-40B4-BE49-F238E27FC236}">
                  <a16:creationId xmlns:a16="http://schemas.microsoft.com/office/drawing/2014/main" id="{408169B7-9A0B-4573-BE6E-D7C569D7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9500" y="3733801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173</a:t>
              </a:r>
            </a:p>
          </p:txBody>
        </p:sp>
        <p:sp>
          <p:nvSpPr>
            <p:cNvPr id="80" name="Text Box 47">
              <a:extLst>
                <a:ext uri="{FF2B5EF4-FFF2-40B4-BE49-F238E27FC236}">
                  <a16:creationId xmlns:a16="http://schemas.microsoft.com/office/drawing/2014/main" id="{54B274A8-AFEF-4CB7-A320-6DBDBD9DA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7363" y="3733801"/>
              <a:ext cx="184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1" name="Text Box 48">
              <a:extLst>
                <a:ext uri="{FF2B5EF4-FFF2-40B4-BE49-F238E27FC236}">
                  <a16:creationId xmlns:a16="http://schemas.microsoft.com/office/drawing/2014/main" id="{AB35B0A2-CDEE-4063-95E8-534EA7789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947" y="4800601"/>
              <a:ext cx="5842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 dirty="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2</a:t>
              </a:r>
            </a:p>
          </p:txBody>
        </p:sp>
        <p:sp>
          <p:nvSpPr>
            <p:cNvPr id="82" name="AutoShape 49">
              <a:extLst>
                <a:ext uri="{FF2B5EF4-FFF2-40B4-BE49-F238E27FC236}">
                  <a16:creationId xmlns:a16="http://schemas.microsoft.com/office/drawing/2014/main" id="{613FC439-F7E1-41CD-8083-B5A648CCE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4624270"/>
              <a:ext cx="939801" cy="733663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83" name="Text Box 50">
              <a:extLst>
                <a:ext uri="{FF2B5EF4-FFF2-40B4-BE49-F238E27FC236}">
                  <a16:creationId xmlns:a16="http://schemas.microsoft.com/office/drawing/2014/main" id="{19688447-5EA8-415B-B2F4-5356EA1A1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225" y="4800601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31</a:t>
              </a:r>
            </a:p>
          </p:txBody>
        </p:sp>
        <p:sp>
          <p:nvSpPr>
            <p:cNvPr id="84" name="Text Box 46">
              <a:extLst>
                <a:ext uri="{FF2B5EF4-FFF2-40B4-BE49-F238E27FC236}">
                  <a16:creationId xmlns:a16="http://schemas.microsoft.com/office/drawing/2014/main" id="{722F0538-B79A-4A92-9E13-50C769F14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100" y="3733801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174</a:t>
              </a:r>
            </a:p>
          </p:txBody>
        </p:sp>
        <p:sp>
          <p:nvSpPr>
            <p:cNvPr id="85" name="Text Box 50">
              <a:extLst>
                <a:ext uri="{FF2B5EF4-FFF2-40B4-BE49-F238E27FC236}">
                  <a16:creationId xmlns:a16="http://schemas.microsoft.com/office/drawing/2014/main" id="{7C71F6B3-8467-472C-9FEA-2236AF29F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425" y="4800601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54</a:t>
              </a:r>
            </a:p>
          </p:txBody>
        </p:sp>
        <p:sp>
          <p:nvSpPr>
            <p:cNvPr id="86" name="Text Box 50">
              <a:extLst>
                <a:ext uri="{FF2B5EF4-FFF2-40B4-BE49-F238E27FC236}">
                  <a16:creationId xmlns:a16="http://schemas.microsoft.com/office/drawing/2014/main" id="{F63AD7D6-7564-49B6-89EF-930C22B47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0700" y="4800601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2400">
                  <a:latin typeface="Lucida Sans" panose="020B0602030504020204" pitchFamily="34" charset="0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056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6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Ranked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Thus far, our queries have all been Boolean.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Documents either match or don’t.</a:t>
            </a:r>
          </a:p>
          <a:p>
            <a:r>
              <a:rPr lang="en-US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Good for expert users with precise understanding of their needs and the collection.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Also good for applications: Applications can easily consume 1000s of results.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Not good for the majority of users.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Most users are incapable of writing Boolean queries.</a:t>
            </a:r>
          </a:p>
          <a:p>
            <a:pPr lvl="1"/>
            <a:r>
              <a:rPr lang="en-US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Most users don’t want to wade through 1000s of results.</a:t>
            </a:r>
          </a:p>
          <a:p>
            <a:pPr lvl="2"/>
            <a:r>
              <a:rPr lang="en-US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This is particularly true of web search.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81915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1183525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152401"/>
            <a:ext cx="9753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Binary Term-Document Incidence Matrix</a:t>
            </a:r>
          </a:p>
        </p:txBody>
      </p:sp>
      <p:graphicFrame>
        <p:nvGraphicFramePr>
          <p:cNvPr id="2050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514350" y="1552575"/>
          <a:ext cx="9258300" cy="340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91852" imgH="3596678" progId="Excel.Sheet.8">
                  <p:embed/>
                </p:oleObj>
              </mc:Choice>
              <mc:Fallback>
                <p:oleObj name="Worksheet" r:id="rId2" imgW="9791852" imgH="3596678" progId="Excel.Sheet.8">
                  <p:embed/>
                  <p:pic>
                    <p:nvPicPr>
                      <p:cNvPr id="205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1552575"/>
                        <a:ext cx="9258300" cy="3402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Box 6"/>
          <p:cNvSpPr txBox="1">
            <a:spLocks noChangeArrowheads="1"/>
          </p:cNvSpPr>
          <p:nvPr/>
        </p:nvSpPr>
        <p:spPr bwMode="auto">
          <a:xfrm>
            <a:off x="647700" y="5329238"/>
            <a:ext cx="9094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dirty="0"/>
              <a:t>Each document is represented by a binary vector ∈ {0,1}</a:t>
            </a:r>
            <a:r>
              <a:rPr lang="en-US" baseline="30000" dirty="0"/>
              <a:t>|V|</a:t>
            </a:r>
          </a:p>
        </p:txBody>
      </p:sp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752745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Term-Document Count Matrices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Consider the number of occurrences of a term in a document</a:t>
            </a:r>
          </a:p>
          <a:p>
            <a:pPr lvl="1" eaLnBrk="1" hangingPunct="1"/>
            <a:r>
              <a:rPr lang="en-US" dirty="0">
                <a:ea typeface="ＭＳ Ｐゴシック" panose="020B0600070205080204" pitchFamily="34" charset="-128"/>
              </a:rPr>
              <a:t>Each document is a count vector in </a:t>
            </a:r>
            <a:r>
              <a:rPr lang="en-US" dirty="0" err="1">
                <a:latin typeface="Lucida Sans Unicode" panose="020B0602030504020204" pitchFamily="34" charset="0"/>
                <a:ea typeface="ＭＳ Ｐゴシック" panose="020B0600070205080204" pitchFamily="34" charset="-128"/>
              </a:rPr>
              <a:t>ℕ</a:t>
            </a:r>
            <a:r>
              <a:rPr lang="en-US" baseline="30000" dirty="0" err="1">
                <a:ea typeface="ＭＳ Ｐゴシック" panose="020B0600070205080204" pitchFamily="34" charset="-128"/>
              </a:rPr>
              <a:t>v</a:t>
            </a:r>
            <a:r>
              <a:rPr lang="en-US" dirty="0">
                <a:ea typeface="ＭＳ Ｐゴシック" panose="020B0600070205080204" pitchFamily="34" charset="-128"/>
              </a:rPr>
              <a:t>: a column below 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47701" y="3352800"/>
          <a:ext cx="8932863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91700" imgH="2926080" progId="Excel.Sheet.8">
                  <p:embed/>
                </p:oleObj>
              </mc:Choice>
              <mc:Fallback>
                <p:oleObj name="Worksheet" r:id="rId2" imgW="9791700" imgH="2926080" progId="Excel.Sheet.8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1" y="3352800"/>
                        <a:ext cx="8932863" cy="271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924300" y="3397250"/>
            <a:ext cx="1371600" cy="2667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390900" y="1447800"/>
            <a:ext cx="1295400" cy="28956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9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3059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Term Frequency TF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en-US" dirty="0">
                    <a:ea typeface="ＭＳ Ｐゴシック" panose="020B0600070205080204" pitchFamily="34" charset="-128"/>
                  </a:rPr>
                  <a:t>The term frequency </a:t>
                </a:r>
                <a:r>
                  <a:rPr lang="en-US" dirty="0" err="1">
                    <a:ea typeface="ＭＳ Ｐゴシック" panose="020B0600070205080204" pitchFamily="34" charset="-128"/>
                  </a:rPr>
                  <a:t>tf</a:t>
                </a:r>
                <a:r>
                  <a:rPr lang="en-US" i="1" baseline="-25000" dirty="0" err="1">
                    <a:ea typeface="ＭＳ Ｐゴシック" panose="020B0600070205080204" pitchFamily="34" charset="-128"/>
                  </a:rPr>
                  <a:t>t,d</a:t>
                </a:r>
                <a:r>
                  <a:rPr lang="en-US" dirty="0">
                    <a:ea typeface="ＭＳ Ｐゴシック" panose="020B0600070205080204" pitchFamily="34" charset="-128"/>
                  </a:rPr>
                  <a:t> of term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t</a:t>
                </a:r>
                <a:r>
                  <a:rPr lang="en-US" dirty="0">
                    <a:ea typeface="ＭＳ Ｐゴシック" panose="020B0600070205080204" pitchFamily="34" charset="-128"/>
                  </a:rPr>
                  <a:t> in document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d</a:t>
                </a:r>
                <a:r>
                  <a:rPr lang="en-US" dirty="0">
                    <a:ea typeface="ＭＳ Ｐゴシック" panose="020B0600070205080204" pitchFamily="34" charset="-128"/>
                  </a:rPr>
                  <a:t> is defined as the number of times that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t </a:t>
                </a:r>
                <a:r>
                  <a:rPr lang="en-US" dirty="0">
                    <a:ea typeface="ＭＳ Ｐゴシック" panose="020B0600070205080204" pitchFamily="34" charset="-128"/>
                  </a:rPr>
                  <a:t>occurs in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d</a:t>
                </a:r>
                <a:r>
                  <a:rPr lang="en-US" dirty="0">
                    <a:ea typeface="ＭＳ Ｐゴシック" panose="020B0600070205080204" pitchFamily="34" charset="-128"/>
                  </a:rPr>
                  <a:t>.</a:t>
                </a:r>
              </a:p>
              <a:p>
                <a:pPr eaLnBrk="1" hangingPunct="1"/>
                <a:r>
                  <a:rPr lang="en-US" dirty="0">
                    <a:solidFill>
                      <a:srgbClr val="C00000"/>
                    </a:solidFill>
                    <a:ea typeface="ＭＳ Ｐゴシック" panose="020B0600070205080204" pitchFamily="34" charset="-128"/>
                  </a:rPr>
                  <a:t>Relevance does not increase proportionally with term frequency.</a:t>
                </a:r>
              </a:p>
              <a:p>
                <a:pPr eaLnBrk="1" hangingPunct="1"/>
                <a:r>
                  <a:rPr lang="en-US" dirty="0">
                    <a:solidFill>
                      <a:srgbClr val="C00000"/>
                    </a:solidFill>
                    <a:ea typeface="ＭＳ Ｐゴシック" panose="020B0600070205080204" pitchFamily="34" charset="-128"/>
                  </a:rPr>
                  <a:t>So use log frequency weighting</a:t>
                </a:r>
              </a:p>
              <a:p>
                <a:r>
                  <a:rPr lang="en-US" dirty="0">
                    <a:ea typeface="ＭＳ Ｐゴシック" panose="020B0600070205080204" pitchFamily="34" charset="-128"/>
                  </a:rPr>
                  <a:t>The log frequency weight of term t in 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𝑡𝑑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>
                    <a:ea typeface="ＭＳ Ｐゴシック" panose="020B0600070205080204" pitchFamily="34" charset="-128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&gt;0</m:t>
                    </m:r>
                  </m:oMath>
                </a14:m>
                <a:r>
                  <a:rPr lang="en-US" dirty="0">
                    <a:ea typeface="ＭＳ Ｐゴシック" panose="020B0600070205080204" pitchFamily="34" charset="-128"/>
                  </a:rPr>
                  <a:t>; else it is 0.</a:t>
                </a:r>
              </a:p>
              <a:p>
                <a:r>
                  <a:rPr lang="en-US" dirty="0">
                    <a:ea typeface="ＭＳ Ｐゴシック" panose="020B0600070205080204" pitchFamily="34" charset="-128"/>
                  </a:rPr>
                  <a:t>Score for a document-query pair: sum over terms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t</a:t>
                </a:r>
                <a:r>
                  <a:rPr lang="en-US" dirty="0">
                    <a:ea typeface="ＭＳ Ｐゴシック" panose="020B0600070205080204" pitchFamily="34" charset="-128"/>
                  </a:rPr>
                  <a:t> in both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q</a:t>
                </a:r>
                <a:r>
                  <a:rPr lang="en-US" dirty="0">
                    <a:ea typeface="ＭＳ Ｐゴシック" panose="020B0600070205080204" pitchFamily="34" charset="-128"/>
                  </a:rPr>
                  <a:t> and </a:t>
                </a:r>
                <a:r>
                  <a:rPr lang="en-US" i="1" dirty="0">
                    <a:ea typeface="ＭＳ Ｐゴシック" panose="020B0600070205080204" pitchFamily="34" charset="-128"/>
                  </a:rPr>
                  <a:t>d</a:t>
                </a:r>
                <a:endParaRPr lang="en-US" dirty="0">
                  <a:ea typeface="ＭＳ Ｐゴシック" panose="020B0600070205080204" pitchFamily="34" charset="-128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𝑠𝑐𝑜𝑟𝑒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𝑑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(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𝑡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𝑡𝑑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dirty="0">
                  <a:ea typeface="ＭＳ Ｐゴシック" panose="020B0600070205080204" pitchFamily="34" charset="-128"/>
                </a:endParaRPr>
              </a:p>
              <a:p>
                <a:endParaRPr lang="en-US" dirty="0">
                  <a:ea typeface="ＭＳ Ｐゴシック" panose="020B0600070205080204" pitchFamily="34" charset="-128"/>
                </a:endParaRPr>
              </a:p>
              <a:p>
                <a:endParaRPr lang="en-US" dirty="0">
                  <a:ea typeface="ＭＳ Ｐゴシック" panose="020B0600070205080204" pitchFamily="34" charset="-128"/>
                </a:endParaRPr>
              </a:p>
              <a:p>
                <a:pPr eaLnBrk="1" hangingPunct="1"/>
                <a:endParaRPr lang="en-US" dirty="0">
                  <a:solidFill>
                    <a:srgbClr val="C00000"/>
                  </a:solidFill>
                  <a:ea typeface="ＭＳ Ｐゴシック" panose="020B0600070205080204" pitchFamily="34" charset="-128"/>
                </a:endParaRPr>
              </a:p>
              <a:p>
                <a:pPr eaLnBrk="1" hangingPunct="1"/>
                <a:endParaRPr lang="en-US" dirty="0">
                  <a:solidFill>
                    <a:srgbClr val="C00000"/>
                  </a:solidFill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6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614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Inverse Document Frequency IDF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a typeface="ＭＳ Ｐゴシック" panose="020B0600070205080204" pitchFamily="34" charset="-128"/>
                  </a:rPr>
                  <a:t>Frequent terms are less informative than rare terms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ea typeface="ＭＳ Ｐゴシック" panose="020B0600070205080204" pitchFamily="34" charset="-128"/>
                  </a:rPr>
                  <a:t> is the </a:t>
                </a:r>
                <a:r>
                  <a:rPr lang="en-US" u="sng" dirty="0">
                    <a:ea typeface="ＭＳ Ｐゴシック" panose="020B0600070205080204" pitchFamily="34" charset="-128"/>
                  </a:rPr>
                  <a:t>document </a:t>
                </a:r>
                <a:r>
                  <a:rPr lang="en-US" dirty="0">
                    <a:ea typeface="ＭＳ Ｐゴシック" panose="020B0600070205080204" pitchFamily="34" charset="-128"/>
                  </a:rPr>
                  <a:t>frequency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𝑡</m:t>
                    </m:r>
                  </m:oMath>
                </a14:m>
                <a:r>
                  <a:rPr lang="en-US" dirty="0">
                    <a:ea typeface="ＭＳ Ｐゴシック" panose="020B0600070205080204" pitchFamily="34" charset="-128"/>
                  </a:rPr>
                  <a:t>: the number of documents that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𝑡</m:t>
                    </m:r>
                  </m:oMath>
                </a14:m>
                <a:endParaRPr lang="en-US" dirty="0">
                  <a:ea typeface="ＭＳ Ｐゴシック" panose="020B0600070205080204" pitchFamily="34" charset="-128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𝑁</m:t>
                    </m:r>
                  </m:oMath>
                </a14:m>
                <a:endParaRPr lang="en-US" dirty="0">
                  <a:ea typeface="ＭＳ Ｐゴシック" panose="020B0600070205080204" pitchFamily="34" charset="-128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𝑖𝑑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ＭＳ Ｐゴシック" panose="020B0600070205080204" pitchFamily="34" charset="-128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ＭＳ Ｐゴシック" panose="020B0600070205080204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ＭＳ Ｐゴシック" panose="020B0600070205080204" pitchFamily="34" charset="-128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ＭＳ Ｐゴシック" panose="020B0600070205080204" pitchFamily="34" charset="-128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>
                  <a:ea typeface="ＭＳ Ｐゴシック" panose="020B0600070205080204" pitchFamily="34" charset="-128"/>
                </a:endParaRPr>
              </a:p>
              <a:p>
                <a:r>
                  <a:rPr lang="en-US" dirty="0">
                    <a:ea typeface="ＭＳ Ｐゴシック" panose="020B0600070205080204" pitchFamily="34" charset="-128"/>
                  </a:rPr>
                  <a:t>IDF has no effect on ranking one term queries</a:t>
                </a:r>
              </a:p>
              <a:p>
                <a:pPr lvl="1"/>
                <a:r>
                  <a:rPr lang="en-US" dirty="0">
                    <a:ea typeface="ＭＳ Ｐゴシック" panose="020B0600070205080204" pitchFamily="34" charset="-128"/>
                  </a:rPr>
                  <a:t>IDF affects the ranking of documents for queries with at least two terms</a:t>
                </a:r>
              </a:p>
              <a:p>
                <a:pPr lvl="1"/>
                <a:r>
                  <a:rPr lang="en-US" dirty="0">
                    <a:ea typeface="ＭＳ Ｐゴシック" panose="020B0600070205080204" pitchFamily="34" charset="-128"/>
                  </a:rPr>
                  <a:t>For the query </a:t>
                </a:r>
                <a:r>
                  <a:rPr lang="en-US" dirty="0">
                    <a:solidFill>
                      <a:srgbClr val="357E69"/>
                    </a:solidFill>
                    <a:ea typeface="ＭＳ Ｐゴシック" panose="020B0600070205080204" pitchFamily="34" charset="-128"/>
                  </a:rPr>
                  <a:t>capricious person</a:t>
                </a:r>
                <a:r>
                  <a:rPr lang="en-US" dirty="0">
                    <a:ea typeface="ＭＳ Ｐゴシック" panose="020B0600070205080204" pitchFamily="34" charset="-128"/>
                  </a:rPr>
                  <a:t>, IDF weighting makes occurrences of </a:t>
                </a:r>
                <a:r>
                  <a:rPr lang="en-US" dirty="0">
                    <a:solidFill>
                      <a:srgbClr val="357E69"/>
                    </a:solidFill>
                    <a:ea typeface="ＭＳ Ｐゴシック" panose="020B0600070205080204" pitchFamily="34" charset="-128"/>
                  </a:rPr>
                  <a:t>capricious</a:t>
                </a:r>
                <a:r>
                  <a:rPr lang="en-US" dirty="0">
                    <a:ea typeface="ＭＳ Ｐゴシック" panose="020B0600070205080204" pitchFamily="34" charset="-128"/>
                  </a:rPr>
                  <a:t> count for much more in the final document ranking than occurrences of </a:t>
                </a:r>
                <a:r>
                  <a:rPr lang="en-US" dirty="0">
                    <a:solidFill>
                      <a:srgbClr val="357E69"/>
                    </a:solidFill>
                    <a:ea typeface="ＭＳ Ｐゴシック" panose="020B0600070205080204" pitchFamily="34" charset="-128"/>
                  </a:rPr>
                  <a:t>person</a:t>
                </a:r>
                <a:r>
                  <a:rPr lang="en-US" dirty="0">
                    <a:ea typeface="ＭＳ Ｐゴシック" panose="020B0600070205080204" pitchFamily="34" charset="-128"/>
                  </a:rPr>
                  <a:t>.</a:t>
                </a:r>
              </a:p>
              <a:p>
                <a:endParaRPr lang="en-US" dirty="0">
                  <a:ea typeface="ＭＳ Ｐゴシック" panose="020B0600070205080204" pitchFamily="34" charset="-128"/>
                </a:endParaRPr>
              </a:p>
              <a:p>
                <a:endParaRPr lang="en-US" dirty="0">
                  <a:solidFill>
                    <a:srgbClr val="C00000"/>
                  </a:solidFill>
                  <a:ea typeface="ＭＳ Ｐゴシック" panose="020B0600070205080204" pitchFamily="34" charset="-128"/>
                </a:endParaRPr>
              </a:p>
              <a:p>
                <a:endParaRPr lang="en-US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7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TextBox 4"/>
          <p:cNvSpPr txBox="1">
            <a:spLocks noChangeArrowheads="1"/>
          </p:cNvSpPr>
          <p:nvPr/>
        </p:nvSpPr>
        <p:spPr bwMode="auto">
          <a:xfrm>
            <a:off x="81915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6.2.1</a:t>
            </a:r>
          </a:p>
        </p:txBody>
      </p:sp>
    </p:spTree>
    <p:extLst>
      <p:ext uri="{BB962C8B-B14F-4D97-AF65-F5344CB8AC3E}">
        <p14:creationId xmlns:p14="http://schemas.microsoft.com/office/powerpoint/2010/main" val="3660234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TF-IDF Weighting</a:t>
            </a:r>
          </a:p>
        </p:txBody>
      </p:sp>
      <p:sp>
        <p:nvSpPr>
          <p:cNvPr id="614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The </a:t>
            </a:r>
            <a:r>
              <a:rPr lang="en-US" dirty="0" err="1">
                <a:ea typeface="ＭＳ Ｐゴシック" panose="020B0600070205080204" pitchFamily="34" charset="-128"/>
              </a:rPr>
              <a:t>tf-idf</a:t>
            </a:r>
            <a:r>
              <a:rPr lang="en-US" dirty="0">
                <a:ea typeface="ＭＳ Ｐゴシック" panose="020B0600070205080204" pitchFamily="34" charset="-128"/>
              </a:rPr>
              <a:t> weight of a term is the product of its </a:t>
            </a:r>
            <a:r>
              <a:rPr lang="en-US" dirty="0" err="1">
                <a:ea typeface="ＭＳ Ｐゴシック" panose="020B0600070205080204" pitchFamily="34" charset="-128"/>
              </a:rPr>
              <a:t>tf</a:t>
            </a:r>
            <a:r>
              <a:rPr lang="en-US" dirty="0">
                <a:ea typeface="ＭＳ Ｐゴシック" panose="020B0600070205080204" pitchFamily="34" charset="-128"/>
              </a:rPr>
              <a:t> weight and its </a:t>
            </a:r>
            <a:r>
              <a:rPr lang="en-US" dirty="0" err="1">
                <a:ea typeface="ＭＳ Ｐゴシック" panose="020B0600070205080204" pitchFamily="34" charset="-128"/>
              </a:rPr>
              <a:t>idf</a:t>
            </a:r>
            <a:r>
              <a:rPr lang="en-US" dirty="0">
                <a:ea typeface="ＭＳ Ｐゴシック" panose="020B0600070205080204" pitchFamily="34" charset="-128"/>
              </a:rPr>
              <a:t> weight.</a:t>
            </a:r>
          </a:p>
          <a:p>
            <a:pPr eaLnBrk="1" hangingPunct="1"/>
            <a:endParaRPr lang="en-US" dirty="0">
              <a:ea typeface="ＭＳ Ｐゴシック" panose="020B0600070205080204" pitchFamily="34" charset="-128"/>
            </a:endParaRPr>
          </a:p>
          <a:p>
            <a:r>
              <a:rPr lang="en-US" dirty="0">
                <a:ea typeface="ＭＳ Ｐゴシック" panose="020B0600070205080204" pitchFamily="34" charset="-128"/>
              </a:rPr>
              <a:t>Score for a document given a query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  <a:p>
            <a:r>
              <a:rPr lang="en-US" dirty="0">
                <a:ea typeface="ＭＳ Ｐゴシック" panose="020B0600070205080204" pitchFamily="34" charset="-128"/>
              </a:rPr>
              <a:t>There are many variants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How “</a:t>
            </a:r>
            <a:r>
              <a:rPr lang="en-US" dirty="0" err="1">
                <a:ea typeface="ＭＳ Ｐゴシック" panose="020B0600070205080204" pitchFamily="34" charset="-128"/>
              </a:rPr>
              <a:t>tf</a:t>
            </a:r>
            <a:r>
              <a:rPr lang="en-US" dirty="0">
                <a:ea typeface="ＭＳ Ｐゴシック" panose="020B0600070205080204" pitchFamily="34" charset="-128"/>
              </a:rPr>
              <a:t>” is computed (with/without logs)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Whether the terms in the query are also weighted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…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999179"/>
              </p:ext>
            </p:extLst>
          </p:nvPr>
        </p:nvGraphicFramePr>
        <p:xfrm>
          <a:off x="2019299" y="1572421"/>
          <a:ext cx="6429375" cy="718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73040" imgH="253800" progId="Equation.3">
                  <p:embed/>
                </p:oleObj>
              </mc:Choice>
              <mc:Fallback>
                <p:oleObj name="Equation" r:id="rId3" imgW="2273040" imgH="253800" progId="Equation.3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299" y="1572421"/>
                        <a:ext cx="6429375" cy="718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81915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6.2.2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722563" y="2667000"/>
          <a:ext cx="4089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279360" progId="Equation.3">
                  <p:embed/>
                </p:oleObj>
              </mc:Choice>
              <mc:Fallback>
                <p:oleObj name="Equation" r:id="rId5" imgW="1765080" imgH="27936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2667000"/>
                        <a:ext cx="4089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837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Binary → Count → Weight Matrix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71500" y="1828801"/>
          <a:ext cx="8947150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76460" imgH="2926080" progId="Excel.Sheet.8">
                  <p:embed/>
                </p:oleObj>
              </mc:Choice>
              <mc:Fallback>
                <p:oleObj name="Worksheet" r:id="rId2" imgW="9776460" imgH="2926080" progId="Excel.Sheet.8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828801"/>
                        <a:ext cx="8947150" cy="267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Box 8"/>
          <p:cNvSpPr txBox="1">
            <a:spLocks noChangeArrowheads="1"/>
          </p:cNvSpPr>
          <p:nvPr/>
        </p:nvSpPr>
        <p:spPr bwMode="auto">
          <a:xfrm>
            <a:off x="1181100" y="5334001"/>
            <a:ext cx="800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/>
              <a:t>Each document is now represented by a real-valued vector of tf-idf weights ∈ </a:t>
            </a:r>
            <a:r>
              <a:rPr lang="en-US">
                <a:latin typeface="Palatino Linotype" panose="02040502050505030304" pitchFamily="18" charset="0"/>
              </a:rPr>
              <a:t>R</a:t>
            </a:r>
            <a:r>
              <a:rPr lang="en-US" baseline="30000"/>
              <a:t>|V|</a:t>
            </a:r>
          </a:p>
        </p:txBody>
      </p:sp>
      <p:sp>
        <p:nvSpPr>
          <p:cNvPr id="9221" name="TextBox 4"/>
          <p:cNvSpPr txBox="1">
            <a:spLocks noChangeArrowheads="1"/>
          </p:cNvSpPr>
          <p:nvPr/>
        </p:nvSpPr>
        <p:spPr bwMode="auto">
          <a:xfrm>
            <a:off x="81915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2568325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in Vector Space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both query and document as vectors in the |V|-dimensional space</a:t>
            </a:r>
          </a:p>
          <a:p>
            <a:r>
              <a:rPr lang="en-US" dirty="0"/>
              <a:t>Use cosine similarity as the similarity measure</a:t>
            </a:r>
          </a:p>
          <a:p>
            <a:pPr lvl="1"/>
            <a:r>
              <a:rPr lang="en-US" dirty="0"/>
              <a:t>Incorporates length normalization automatically (longer </a:t>
            </a:r>
            <a:r>
              <a:rPr lang="en-US" dirty="0" err="1"/>
              <a:t>vs</a:t>
            </a:r>
            <a:r>
              <a:rPr lang="en-US" dirty="0"/>
              <a:t> shorter documents)</a:t>
            </a:r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lvl="1"/>
            <a:endParaRPr lang="en-US" dirty="0"/>
          </a:p>
          <a:p>
            <a:r>
              <a:rPr lang="en-US" i="1" dirty="0">
                <a:solidFill>
                  <a:srgbClr val="0000FF"/>
                </a:solidFill>
              </a:rPr>
              <a:t>q</a:t>
            </a:r>
            <a:r>
              <a:rPr lang="en-US" i="1" baseline="-25000" dirty="0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is the </a:t>
            </a:r>
            <a:r>
              <a:rPr lang="en-US" dirty="0" err="1">
                <a:solidFill>
                  <a:srgbClr val="0000FF"/>
                </a:solidFill>
              </a:rPr>
              <a:t>tf-idf</a:t>
            </a:r>
            <a:r>
              <a:rPr lang="en-US" dirty="0">
                <a:solidFill>
                  <a:srgbClr val="0000FF"/>
                </a:solidFill>
              </a:rPr>
              <a:t> weight of term </a:t>
            </a:r>
            <a:r>
              <a:rPr lang="en-US" i="1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in the query</a:t>
            </a:r>
          </a:p>
          <a:p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i="1" baseline="-25000" dirty="0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is the </a:t>
            </a:r>
            <a:r>
              <a:rPr lang="en-US" dirty="0" err="1">
                <a:solidFill>
                  <a:srgbClr val="0000FF"/>
                </a:solidFill>
              </a:rPr>
              <a:t>tf-idf</a:t>
            </a:r>
            <a:r>
              <a:rPr lang="en-US" dirty="0">
                <a:solidFill>
                  <a:srgbClr val="0000FF"/>
                </a:solidFill>
              </a:rPr>
              <a:t> weight of term </a:t>
            </a:r>
            <a:r>
              <a:rPr lang="en-US" i="1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in the document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/>
        </p:nvGraphicFramePr>
        <p:xfrm>
          <a:off x="2238376" y="2584450"/>
          <a:ext cx="509746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8840" imgH="622080" progId="Equation.3">
                  <p:embed/>
                </p:oleObj>
              </mc:Choice>
              <mc:Fallback>
                <p:oleObj name="Equation" r:id="rId2" imgW="2958840" imgH="622080" progId="Equation.3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6" y="2584450"/>
                        <a:ext cx="509746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5011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895600"/>
            <a:ext cx="9258300" cy="761999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7030A0"/>
                </a:solidFill>
              </a:rPr>
              <a:t>N-gram models</a:t>
            </a:r>
          </a:p>
        </p:txBody>
      </p:sp>
    </p:spTree>
    <p:extLst>
      <p:ext uri="{BB962C8B-B14F-4D97-AF65-F5344CB8AC3E}">
        <p14:creationId xmlns:p14="http://schemas.microsoft.com/office/powerpoint/2010/main" val="3592412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Word Prediction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a NY Times story...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Stocks ...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Stocks plunged this ….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Stocks plunged this morning, despite a cut in interest rates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Stocks plunged this morning, despite a cut in interest rates by the Federal Reserve, as Wall ...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Stocks plunged this morning, despite a cut in interest rates by the Federal Reserve, as Wall Street began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6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6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990600"/>
            <a:ext cx="7772400" cy="5410200"/>
          </a:xfrm>
        </p:spPr>
        <p:txBody>
          <a:bodyPr/>
          <a:lstStyle/>
          <a:p>
            <a:pPr lvl="1"/>
            <a:r>
              <a:rPr lang="en-US" sz="3100" dirty="0">
                <a:solidFill>
                  <a:schemeClr val="hlink"/>
                </a:solidFill>
              </a:rPr>
              <a:t>Stocks plunged this morning, despite a cut in interest rates by the Federal Reserve, as Wall Street began trading for the first time since last …</a:t>
            </a:r>
          </a:p>
          <a:p>
            <a:pPr lvl="1"/>
            <a:r>
              <a:rPr lang="en-US" sz="3100" dirty="0">
                <a:solidFill>
                  <a:schemeClr val="hlink"/>
                </a:solidFill>
              </a:rPr>
              <a:t>Stocks plunged this morning, despite a cut in interest rates by the Federal Reserve, as Wall Street began trading for the first time since last Tuesday's terrorist attacks.</a:t>
            </a:r>
            <a:endParaRPr lang="en-US" sz="31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152401"/>
            <a:ext cx="8210550" cy="533400"/>
          </a:xfrm>
        </p:spPr>
        <p:txBody>
          <a:bodyPr/>
          <a:lstStyle/>
          <a:p>
            <a:r>
              <a:rPr lang="en-US" dirty="0"/>
              <a:t>Next Word Prediction</a:t>
            </a:r>
          </a:p>
        </p:txBody>
      </p:sp>
    </p:spTree>
    <p:extLst>
      <p:ext uri="{BB962C8B-B14F-4D97-AF65-F5344CB8AC3E}">
        <p14:creationId xmlns:p14="http://schemas.microsoft.com/office/powerpoint/2010/main" val="181735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Word Prediction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Clearly, at least some of us have the ability to predict future words in an utterance.</a:t>
            </a:r>
          </a:p>
          <a:p>
            <a:r>
              <a:rPr lang="en-US" sz="2400" dirty="0"/>
              <a:t>How?</a:t>
            </a:r>
          </a:p>
          <a:p>
            <a:pPr lvl="1"/>
            <a:r>
              <a:rPr lang="en-US" sz="2400" dirty="0"/>
              <a:t>Domain knowledge: </a:t>
            </a:r>
            <a:r>
              <a:rPr lang="en-US" sz="2400" dirty="0">
                <a:solidFill>
                  <a:schemeClr val="hlink"/>
                </a:solidFill>
              </a:rPr>
              <a:t>red blood vs. red hat</a:t>
            </a:r>
          </a:p>
          <a:p>
            <a:pPr lvl="1"/>
            <a:r>
              <a:rPr lang="en-US" sz="2400" dirty="0"/>
              <a:t>Syntactic knowledge: </a:t>
            </a:r>
            <a:r>
              <a:rPr lang="en-US" sz="2400" dirty="0">
                <a:solidFill>
                  <a:schemeClr val="hlink"/>
                </a:solidFill>
              </a:rPr>
              <a:t>the…&lt;</a:t>
            </a:r>
            <a:r>
              <a:rPr lang="en-US" sz="2400" dirty="0" err="1">
                <a:solidFill>
                  <a:schemeClr val="hlink"/>
                </a:solidFill>
              </a:rPr>
              <a:t>adj|noun</a:t>
            </a:r>
            <a:r>
              <a:rPr lang="en-US" sz="2400" dirty="0">
                <a:solidFill>
                  <a:schemeClr val="hlink"/>
                </a:solidFill>
              </a:rPr>
              <a:t>&gt;</a:t>
            </a:r>
          </a:p>
          <a:p>
            <a:pPr lvl="1"/>
            <a:r>
              <a:rPr lang="en-US" sz="2400" dirty="0"/>
              <a:t>Lexical knowledge: baked </a:t>
            </a:r>
            <a:r>
              <a:rPr lang="en-US" sz="2400" dirty="0">
                <a:solidFill>
                  <a:schemeClr val="hlink"/>
                </a:solidFill>
              </a:rPr>
              <a:t>&lt;potato vs. chicken&gt;</a:t>
            </a:r>
            <a:endParaRPr lang="en-IN" sz="2400" dirty="0"/>
          </a:p>
          <a:p>
            <a:r>
              <a:rPr lang="en-US" sz="2800" dirty="0"/>
              <a:t>A useful part of the knowledge needed to allow </a:t>
            </a:r>
            <a:r>
              <a:rPr lang="en-US" sz="2800" dirty="0">
                <a:solidFill>
                  <a:schemeClr val="accent2"/>
                </a:solidFill>
              </a:rPr>
              <a:t>Word Prediction</a:t>
            </a:r>
            <a:r>
              <a:rPr lang="en-US" sz="2800" dirty="0"/>
              <a:t> can be captured using simple statistical techniques</a:t>
            </a:r>
          </a:p>
          <a:p>
            <a:r>
              <a:rPr lang="en-US" sz="2800" dirty="0"/>
              <a:t>In particular, we'll be interested in the notion of the </a:t>
            </a:r>
            <a:r>
              <a:rPr lang="en-US" sz="2800" dirty="0">
                <a:solidFill>
                  <a:schemeClr val="accent2"/>
                </a:solidFill>
              </a:rPr>
              <a:t>probability</a:t>
            </a:r>
            <a:r>
              <a:rPr lang="en-US" sz="2800" dirty="0"/>
              <a:t> of a sequence (of letters, words,…)</a:t>
            </a:r>
          </a:p>
          <a:p>
            <a:endParaRPr lang="en-US" sz="2800" dirty="0"/>
          </a:p>
          <a:p>
            <a:endParaRPr lang="en-US" sz="2800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887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Applications of word prediction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Minion"/>
              </a:rPr>
              <a:t>Why do we want to predict a word, given some preceding words?</a:t>
            </a:r>
          </a:p>
          <a:p>
            <a:pPr lvl="1"/>
            <a:r>
              <a:rPr lang="en-US" sz="1600" dirty="0">
                <a:latin typeface="Minion"/>
              </a:rPr>
              <a:t>Rank the likelihood of sequences containing various alternative hypotheses</a:t>
            </a:r>
          </a:p>
          <a:p>
            <a:pPr lvl="1"/>
            <a:r>
              <a:rPr lang="en-US" sz="1600" dirty="0">
                <a:latin typeface="Minion"/>
              </a:rPr>
              <a:t>Assess the likelihood/goodness of a sentence</a:t>
            </a:r>
          </a:p>
          <a:p>
            <a:r>
              <a:rPr lang="en-US" sz="2000" dirty="0">
                <a:latin typeface="Minion"/>
              </a:rPr>
              <a:t>Spelling checkers</a:t>
            </a:r>
          </a:p>
          <a:p>
            <a:pPr lvl="1"/>
            <a:r>
              <a:rPr lang="en-US" sz="1600" dirty="0">
                <a:latin typeface="Minion"/>
              </a:rPr>
              <a:t>They are leaving in about fifteen </a:t>
            </a:r>
            <a:r>
              <a:rPr lang="en-US" sz="1600" b="1" dirty="0">
                <a:latin typeface="Minion"/>
              </a:rPr>
              <a:t>minuets</a:t>
            </a:r>
            <a:r>
              <a:rPr lang="en-US" sz="1600" dirty="0">
                <a:latin typeface="Minion"/>
              </a:rPr>
              <a:t> to go to her house</a:t>
            </a:r>
          </a:p>
          <a:p>
            <a:pPr lvl="1"/>
            <a:r>
              <a:rPr lang="en-US" sz="1600" dirty="0">
                <a:latin typeface="Minion"/>
              </a:rPr>
              <a:t>The study was conducted mainly </a:t>
            </a:r>
            <a:r>
              <a:rPr lang="en-US" sz="1600" b="1" dirty="0">
                <a:latin typeface="Minion"/>
              </a:rPr>
              <a:t>be</a:t>
            </a:r>
            <a:r>
              <a:rPr lang="en-US" sz="1600" dirty="0">
                <a:latin typeface="Minion"/>
              </a:rPr>
              <a:t> John Black.</a:t>
            </a:r>
          </a:p>
          <a:p>
            <a:pPr lvl="1"/>
            <a:r>
              <a:rPr lang="en-US" sz="1600" dirty="0">
                <a:latin typeface="Minion"/>
              </a:rPr>
              <a:t>I need to </a:t>
            </a:r>
            <a:r>
              <a:rPr lang="en-US" sz="1600" b="1" dirty="0">
                <a:latin typeface="Minion"/>
              </a:rPr>
              <a:t>notified</a:t>
            </a:r>
            <a:r>
              <a:rPr lang="en-US" sz="1600" dirty="0">
                <a:latin typeface="Minion"/>
              </a:rPr>
              <a:t> the bank of this problem.</a:t>
            </a:r>
          </a:p>
          <a:p>
            <a:r>
              <a:rPr lang="en-US" sz="2000" dirty="0">
                <a:latin typeface="Minion"/>
              </a:rPr>
              <a:t>Mobile phone texting</a:t>
            </a:r>
          </a:p>
          <a:p>
            <a:pPr lvl="1"/>
            <a:r>
              <a:rPr lang="en-US" sz="1600" dirty="0">
                <a:latin typeface="Minion"/>
              </a:rPr>
              <a:t>He is trying to </a:t>
            </a:r>
            <a:r>
              <a:rPr lang="en-US" sz="1600" b="1" dirty="0">
                <a:latin typeface="Minion"/>
              </a:rPr>
              <a:t>fine</a:t>
            </a:r>
            <a:r>
              <a:rPr lang="en-US" sz="1600" dirty="0">
                <a:latin typeface="Minion"/>
              </a:rPr>
              <a:t> out.</a:t>
            </a:r>
          </a:p>
          <a:p>
            <a:pPr lvl="1"/>
            <a:r>
              <a:rPr lang="en-US" sz="1600" dirty="0">
                <a:latin typeface="Minion"/>
              </a:rPr>
              <a:t>Hopefully, all </a:t>
            </a:r>
            <a:r>
              <a:rPr lang="en-US" sz="1600" b="1" dirty="0">
                <a:latin typeface="Minion"/>
              </a:rPr>
              <a:t>with</a:t>
            </a:r>
            <a:r>
              <a:rPr lang="en-US" sz="1600" dirty="0">
                <a:latin typeface="Minion"/>
              </a:rPr>
              <a:t> continue smoothly in my absence.</a:t>
            </a:r>
          </a:p>
          <a:p>
            <a:r>
              <a:rPr lang="en-US" sz="2000" dirty="0">
                <a:latin typeface="Minion"/>
              </a:rPr>
              <a:t>Speech recognition</a:t>
            </a:r>
          </a:p>
          <a:p>
            <a:pPr lvl="1"/>
            <a:r>
              <a:rPr lang="en-US" sz="1600" dirty="0">
                <a:latin typeface="Minion"/>
              </a:rPr>
              <a:t>Theatre owners say </a:t>
            </a:r>
            <a:r>
              <a:rPr lang="en-US" sz="1600" b="1" dirty="0">
                <a:latin typeface="Minion"/>
              </a:rPr>
              <a:t>popcorn/unicorn</a:t>
            </a:r>
            <a:r>
              <a:rPr lang="en-US" sz="1600" dirty="0">
                <a:latin typeface="Minion"/>
              </a:rPr>
              <a:t> sales have doubled...</a:t>
            </a:r>
          </a:p>
          <a:p>
            <a:r>
              <a:rPr lang="en-US" sz="2000" dirty="0">
                <a:latin typeface="Minion"/>
              </a:rPr>
              <a:t>Handwriting recognition</a:t>
            </a:r>
          </a:p>
          <a:p>
            <a:r>
              <a:rPr lang="en-US" sz="2000" dirty="0">
                <a:latin typeface="Minion"/>
              </a:rPr>
              <a:t>Disabled users</a:t>
            </a:r>
          </a:p>
          <a:p>
            <a:r>
              <a:rPr lang="en-US" sz="2000" dirty="0">
                <a:latin typeface="Minion"/>
              </a:rPr>
              <a:t>Machine Translation</a:t>
            </a:r>
          </a:p>
          <a:p>
            <a:endParaRPr lang="en-US" sz="2000" dirty="0">
              <a:latin typeface="Minion"/>
            </a:endParaRPr>
          </a:p>
          <a:p>
            <a:endParaRPr lang="en-US" sz="2000" dirty="0">
              <a:latin typeface="Minion"/>
            </a:endParaRPr>
          </a:p>
        </p:txBody>
      </p:sp>
    </p:spTree>
    <p:extLst>
      <p:ext uri="{BB962C8B-B14F-4D97-AF65-F5344CB8AC3E}">
        <p14:creationId xmlns:p14="http://schemas.microsoft.com/office/powerpoint/2010/main" val="4117232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52401"/>
            <a:ext cx="9448800" cy="533400"/>
          </a:xfrm>
        </p:spPr>
        <p:txBody>
          <a:bodyPr/>
          <a:lstStyle/>
          <a:p>
            <a:r>
              <a:rPr lang="en-IN" dirty="0"/>
              <a:t>How to do next word prediction?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Use the previous N-1 words in a sequence to predict the next word</a:t>
            </a:r>
          </a:p>
          <a:p>
            <a:r>
              <a:rPr lang="en-US" sz="2400" dirty="0"/>
              <a:t>Language Model (LM)</a:t>
            </a:r>
          </a:p>
          <a:p>
            <a:pPr lvl="1"/>
            <a:r>
              <a:rPr lang="en-US" sz="2400" dirty="0"/>
              <a:t>unigrams, bigrams, trigrams,…</a:t>
            </a:r>
          </a:p>
          <a:p>
            <a:r>
              <a:rPr lang="en-US" sz="2400" dirty="0"/>
              <a:t>How do we </a:t>
            </a:r>
            <a:r>
              <a:rPr lang="en-US" sz="2400" dirty="0">
                <a:solidFill>
                  <a:srgbClr val="FF0000"/>
                </a:solidFill>
              </a:rPr>
              <a:t>train </a:t>
            </a:r>
            <a:r>
              <a:rPr lang="en-US" sz="2400" dirty="0"/>
              <a:t>these models?</a:t>
            </a:r>
          </a:p>
          <a:p>
            <a:pPr lvl="1"/>
            <a:r>
              <a:rPr lang="en-US" sz="2400" dirty="0"/>
              <a:t>Very large corpora</a:t>
            </a:r>
          </a:p>
          <a:p>
            <a:pPr lvl="1"/>
            <a:r>
              <a:rPr lang="en-US" sz="2400" dirty="0"/>
              <a:t>Corpora are online collections of text and speech</a:t>
            </a:r>
          </a:p>
          <a:p>
            <a:pPr lvl="2"/>
            <a:r>
              <a:rPr lang="en-US" sz="2000" dirty="0"/>
              <a:t>Wall Street Journal</a:t>
            </a:r>
          </a:p>
          <a:p>
            <a:pPr lvl="2"/>
            <a:r>
              <a:rPr lang="en-US" sz="2000" dirty="0"/>
              <a:t>Newswire</a:t>
            </a:r>
          </a:p>
          <a:p>
            <a:pPr lvl="2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7012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N-grams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Assume a language has T word types in its lexicon, how likely is word </a:t>
            </a:r>
            <a:r>
              <a:rPr lang="en-US" sz="2400" dirty="0">
                <a:solidFill>
                  <a:srgbClr val="0066FF"/>
                </a:solidFill>
              </a:rPr>
              <a:t>x</a:t>
            </a:r>
            <a:r>
              <a:rPr lang="en-US" sz="2400" dirty="0"/>
              <a:t> to follow word </a:t>
            </a:r>
            <a:r>
              <a:rPr lang="en-US" sz="2400" dirty="0">
                <a:solidFill>
                  <a:srgbClr val="0066FF"/>
                </a:solidFill>
              </a:rPr>
              <a:t>y</a:t>
            </a:r>
            <a:r>
              <a:rPr lang="en-US" sz="2400" dirty="0"/>
              <a:t>?</a:t>
            </a:r>
          </a:p>
          <a:p>
            <a:pPr lvl="1"/>
            <a:r>
              <a:rPr lang="en-US" sz="2400" dirty="0"/>
              <a:t>Simplest model of word probability: 1/T</a:t>
            </a:r>
          </a:p>
          <a:p>
            <a:pPr lvl="1"/>
            <a:r>
              <a:rPr lang="en-US" sz="2400" dirty="0">
                <a:solidFill>
                  <a:srgbClr val="0066FF"/>
                </a:solidFill>
              </a:rPr>
              <a:t>Alternative 1</a:t>
            </a:r>
            <a:r>
              <a:rPr lang="en-US" sz="2400" dirty="0"/>
              <a:t>: estimate likelihood of </a:t>
            </a:r>
            <a:r>
              <a:rPr lang="en-US" sz="2400" dirty="0">
                <a:solidFill>
                  <a:srgbClr val="0066FF"/>
                </a:solidFill>
              </a:rPr>
              <a:t>x</a:t>
            </a:r>
            <a:r>
              <a:rPr lang="en-US" sz="2400" dirty="0"/>
              <a:t> occurring in new text based on its general frequency of occurrence estimated from a corpus (</a:t>
            </a:r>
            <a:r>
              <a:rPr lang="en-US" sz="2400" dirty="0">
                <a:solidFill>
                  <a:srgbClr val="FF0000"/>
                </a:solidFill>
              </a:rPr>
              <a:t>unigram</a:t>
            </a:r>
            <a:r>
              <a:rPr lang="en-US" sz="2400" dirty="0"/>
              <a:t> probability)</a:t>
            </a:r>
          </a:p>
          <a:p>
            <a:pPr lvl="2">
              <a:buFontTx/>
              <a:buNone/>
            </a:pPr>
            <a:r>
              <a:rPr lang="en-US" sz="2400" dirty="0">
                <a:solidFill>
                  <a:schemeClr val="hlink"/>
                </a:solidFill>
              </a:rPr>
              <a:t>popcorn</a:t>
            </a:r>
            <a:r>
              <a:rPr lang="en-US" sz="2400" dirty="0"/>
              <a:t> is more likely to occur than </a:t>
            </a:r>
            <a:r>
              <a:rPr lang="en-US" sz="2400" dirty="0">
                <a:solidFill>
                  <a:schemeClr val="hlink"/>
                </a:solidFill>
              </a:rPr>
              <a:t>unicorn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0066FF"/>
                </a:solidFill>
              </a:rPr>
              <a:t>Alternative 2</a:t>
            </a:r>
            <a:r>
              <a:rPr lang="en-US" sz="2400" dirty="0"/>
              <a:t>: condition the likelihood of </a:t>
            </a:r>
            <a:r>
              <a:rPr lang="en-US" sz="2400" dirty="0">
                <a:solidFill>
                  <a:srgbClr val="0066FF"/>
                </a:solidFill>
              </a:rPr>
              <a:t>x</a:t>
            </a:r>
            <a:r>
              <a:rPr lang="en-US" sz="2400" dirty="0"/>
              <a:t> occurring in the context of previous words (</a:t>
            </a:r>
            <a:r>
              <a:rPr lang="en-US" sz="2400" dirty="0">
                <a:solidFill>
                  <a:srgbClr val="0066FF"/>
                </a:solidFill>
              </a:rPr>
              <a:t>bigrams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66FF"/>
                </a:solidFill>
              </a:rPr>
              <a:t>trigrams</a:t>
            </a:r>
            <a:r>
              <a:rPr lang="en-US" sz="2400" dirty="0"/>
              <a:t>,…)</a:t>
            </a:r>
          </a:p>
          <a:p>
            <a:pPr lvl="2">
              <a:buFontTx/>
              <a:buNone/>
            </a:pPr>
            <a:r>
              <a:rPr lang="en-US" sz="2400" dirty="0">
                <a:solidFill>
                  <a:schemeClr val="hlink"/>
                </a:solidFill>
              </a:rPr>
              <a:t>mythical unicorn</a:t>
            </a:r>
            <a:r>
              <a:rPr lang="en-US" sz="2400" dirty="0"/>
              <a:t> is more likely than </a:t>
            </a:r>
            <a:r>
              <a:rPr lang="en-US" sz="2400" dirty="0">
                <a:solidFill>
                  <a:schemeClr val="hlink"/>
                </a:solidFill>
              </a:rPr>
              <a:t>mythical popcorn</a:t>
            </a:r>
          </a:p>
          <a:p>
            <a:pPr lvl="1"/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54252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Prob</a:t>
            </a:r>
            <a:r>
              <a:rPr lang="en-IN" dirty="0"/>
              <a:t> of a word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By the </a:t>
                </a:r>
                <a:r>
                  <a:rPr lang="en-US" sz="2400" dirty="0">
                    <a:hlinkClick r:id="rId2"/>
                  </a:rPr>
                  <a:t>Chain Rule</a:t>
                </a:r>
                <a:r>
                  <a:rPr lang="en-US" sz="2400" dirty="0"/>
                  <a:t> we can decompose a joint probability, e.g. P(w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,w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,w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) as follows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∏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r>
                  <a:rPr lang="en-US" sz="2400" dirty="0"/>
                  <a:t>Compute the product of component conditional probabilities</a:t>
                </a:r>
              </a:p>
              <a:p>
                <a:pPr lvl="1"/>
                <a:r>
                  <a:rPr lang="en-US" sz="2400" dirty="0"/>
                  <a:t>P(</a:t>
                </a:r>
                <a:r>
                  <a:rPr lang="en-US" sz="2400" dirty="0">
                    <a:solidFill>
                      <a:schemeClr val="hlink"/>
                    </a:solidFill>
                  </a:rPr>
                  <a:t>the mythical unicorn</a:t>
                </a:r>
                <a:r>
                  <a:rPr lang="en-US" sz="2400" dirty="0"/>
                  <a:t>) = P(</a:t>
                </a:r>
                <a:r>
                  <a:rPr lang="en-US" sz="2400" dirty="0">
                    <a:solidFill>
                      <a:schemeClr val="hlink"/>
                    </a:solidFill>
                  </a:rPr>
                  <a:t>the</a:t>
                </a:r>
                <a:r>
                  <a:rPr lang="en-US" sz="2400" dirty="0"/>
                  <a:t>) * P(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mythical</a:t>
                </a:r>
                <a:r>
                  <a:rPr lang="en-US" sz="2400" dirty="0" err="1"/>
                  <a:t>|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the</a:t>
                </a:r>
                <a:r>
                  <a:rPr lang="en-US" sz="2400" dirty="0"/>
                  <a:t>) * P(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unicorn</a:t>
                </a:r>
                <a:r>
                  <a:rPr lang="en-US" sz="2400" dirty="0" err="1"/>
                  <a:t>|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the</a:t>
                </a:r>
                <a:r>
                  <a:rPr lang="en-US" sz="2400" dirty="0">
                    <a:solidFill>
                      <a:schemeClr val="hlink"/>
                    </a:solidFill>
                  </a:rPr>
                  <a:t> mythical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But…the </a:t>
                </a:r>
                <a:r>
                  <a:rPr lang="en-US" sz="2400" i="1" dirty="0"/>
                  <a:t>longer</a:t>
                </a:r>
                <a:r>
                  <a:rPr lang="en-US" sz="2400" dirty="0"/>
                  <a:t> the sequence, the </a:t>
                </a:r>
                <a:r>
                  <a:rPr lang="en-US" sz="2400" i="1" dirty="0"/>
                  <a:t>less likely</a:t>
                </a:r>
                <a:r>
                  <a:rPr lang="en-US" sz="2400" dirty="0"/>
                  <a:t> we are to find it in a training corpus </a:t>
                </a:r>
              </a:p>
              <a:p>
                <a:pPr lvl="2">
                  <a:buFontTx/>
                  <a:buNone/>
                </a:pPr>
                <a:r>
                  <a:rPr lang="en-US" sz="2400" dirty="0"/>
                  <a:t>P(</a:t>
                </a:r>
                <a:r>
                  <a:rPr lang="en-US" sz="2400" dirty="0">
                    <a:solidFill>
                      <a:schemeClr val="hlink"/>
                    </a:solidFill>
                  </a:rPr>
                  <a:t>Most biologists and folklore specialists believe that in fact the mythical unicorn horns derived from the narwhal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What can we do?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53" t="-1348" b="-4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3202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Bigram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Approximate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by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E.g., P(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unicorn</a:t>
                </a:r>
                <a:r>
                  <a:rPr lang="en-US" sz="2400" dirty="0" err="1"/>
                  <a:t>|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the</a:t>
                </a:r>
                <a:r>
                  <a:rPr lang="en-US" sz="2400" dirty="0">
                    <a:solidFill>
                      <a:schemeClr val="hlink"/>
                    </a:solidFill>
                  </a:rPr>
                  <a:t> mythical</a:t>
                </a:r>
                <a:r>
                  <a:rPr lang="en-US" sz="2400" dirty="0"/>
                  <a:t>) by P(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unicorn</a:t>
                </a:r>
                <a:r>
                  <a:rPr lang="en-US" sz="2400" dirty="0" err="1"/>
                  <a:t>|</a:t>
                </a:r>
                <a:r>
                  <a:rPr lang="en-US" sz="2400" dirty="0" err="1">
                    <a:solidFill>
                      <a:schemeClr val="hlink"/>
                    </a:solidFill>
                  </a:rPr>
                  <a:t>mythical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Markov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assumption</a:t>
                </a:r>
                <a:r>
                  <a:rPr lang="en-US" sz="2400" dirty="0"/>
                  <a:t>:  the probability of a word depends only on the probability of a limited history</a:t>
                </a:r>
              </a:p>
              <a:p>
                <a:r>
                  <a:rPr lang="en-US" sz="2400" b="1" i="1" dirty="0"/>
                  <a:t>Generalization: the probability of a word depends only on the probability of the n previous words</a:t>
                </a:r>
              </a:p>
              <a:p>
                <a:pPr lvl="1"/>
                <a:r>
                  <a:rPr lang="en-US" sz="2400" dirty="0"/>
                  <a:t>trigrams, 4-grams, 5-grams,…</a:t>
                </a:r>
              </a:p>
              <a:p>
                <a:pPr lvl="1"/>
                <a:r>
                  <a:rPr lang="en-US" sz="2400" dirty="0"/>
                  <a:t>the higher n is, the more data needed to train</a:t>
                </a:r>
              </a:p>
              <a:p>
                <a:pPr lvl="1"/>
                <a:r>
                  <a:rPr lang="en-US" sz="2400" dirty="0" err="1">
                    <a:solidFill>
                      <a:schemeClr val="accent2"/>
                    </a:solidFill>
                  </a:rPr>
                  <a:t>backoff</a:t>
                </a:r>
                <a:r>
                  <a:rPr lang="en-US" sz="2400" dirty="0"/>
                  <a:t> models…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3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225px-AAMarkov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12" y="3505200"/>
            <a:ext cx="1475075" cy="1920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46092" y="5300246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/>
                <a:cs typeface="Calibri"/>
              </a:rPr>
              <a:t>Andrei Markov</a:t>
            </a:r>
          </a:p>
        </p:txBody>
      </p:sp>
    </p:spTree>
    <p:extLst>
      <p:ext uri="{BB962C8B-B14F-4D97-AF65-F5344CB8AC3E}">
        <p14:creationId xmlns:p14="http://schemas.microsoft.com/office/powerpoint/2010/main" val="3022815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n-grams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For N-gram models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ym typeface="Symbol" pitchFamily="18" charset="2"/>
                  </a:rPr>
                  <a:t> </a:t>
                </a:r>
              </a:p>
              <a:p>
                <a:pPr lvl="2"/>
                <a:r>
                  <a:rPr lang="en-US" sz="2400" dirty="0">
                    <a:sym typeface="Symbol" pitchFamily="18" charset="2"/>
                  </a:rPr>
                  <a:t>E.g. for bigrams,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𝑃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8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8−1</m:t>
                            </m:r>
                          </m:sup>
                        </m:sSubSup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≈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8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|</m:t>
                    </m:r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8−2+1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8−1</m:t>
                        </m:r>
                      </m:sup>
                    </m:sSubSup>
                    <m:r>
                      <a:rPr lang="en-IN" sz="24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sz="2400" dirty="0">
                  <a:sym typeface="Symbol" pitchFamily="18" charset="2"/>
                </a:endParaRPr>
              </a:p>
              <a:p>
                <a:pPr lvl="1"/>
                <a:r>
                  <a:rPr lang="en-US" sz="2400" dirty="0"/>
                  <a:t>By the </a:t>
                </a:r>
                <a:r>
                  <a:rPr lang="en-US" sz="2400" dirty="0">
                    <a:hlinkClick r:id="rId2"/>
                  </a:rPr>
                  <a:t>Chain Rule</a:t>
                </a:r>
                <a:r>
                  <a:rPr lang="en-US" sz="2400" dirty="0"/>
                  <a:t> we can decompose a joint probability, e.g. P(w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,w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,w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) as follows</a:t>
                </a:r>
              </a:p>
              <a:p>
                <a:pPr lvl="2"/>
                <a:r>
                  <a:rPr lang="en-US" sz="2000" dirty="0"/>
                  <a:t>P(w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,w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, ...,</a:t>
                </a:r>
                <a:r>
                  <a:rPr lang="en-US" sz="2000" dirty="0" err="1"/>
                  <a:t>w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) = P(w</a:t>
                </a:r>
                <a:r>
                  <a:rPr lang="en-US" sz="2000" baseline="-25000" dirty="0"/>
                  <a:t>n</a:t>
                </a:r>
                <a:r>
                  <a:rPr lang="en-US" sz="2000" dirty="0"/>
                  <a:t>|w</a:t>
                </a:r>
                <a:r>
                  <a:rPr lang="en-US" sz="2000" baseline="-25000" dirty="0"/>
                  <a:t>n-1</a:t>
                </a:r>
                <a:r>
                  <a:rPr lang="en-US" sz="2000" dirty="0"/>
                  <a:t>,w</a:t>
                </a:r>
                <a:r>
                  <a:rPr lang="en-US" sz="2000" baseline="-25000" dirty="0"/>
                  <a:t>n-2</a:t>
                </a:r>
                <a:r>
                  <a:rPr lang="en-US" sz="2000" dirty="0"/>
                  <a:t>,...,w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) P(w</a:t>
                </a:r>
                <a:r>
                  <a:rPr lang="en-US" sz="2000" baseline="-25000" dirty="0"/>
                  <a:t>n-1</a:t>
                </a:r>
                <a:r>
                  <a:rPr lang="en-US" sz="2000" dirty="0"/>
                  <a:t>|w</a:t>
                </a:r>
                <a:r>
                  <a:rPr lang="en-US" sz="2000" baseline="-25000" dirty="0"/>
                  <a:t>n-2</a:t>
                </a:r>
                <a:r>
                  <a:rPr lang="en-US" sz="2000" dirty="0"/>
                  <a:t>, ...,w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) … P(w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|w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) P(w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)</a:t>
                </a:r>
              </a:p>
              <a:p>
                <a:pPr lvl="1"/>
                <a:r>
                  <a:rPr lang="en-IN" sz="2000" dirty="0"/>
                  <a:t>Hence,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∏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endParaRPr lang="en-IN" sz="2000" dirty="0"/>
              </a:p>
              <a:p>
                <a:pPr lvl="1"/>
                <a:r>
                  <a:rPr lang="en-US" sz="2000" dirty="0"/>
                  <a:t>For bigrams then, the probability of a sequence is just the product of the conditional probabilities of its bigrams</a:t>
                </a:r>
              </a:p>
              <a:p>
                <a:pPr lvl="2"/>
                <a:r>
                  <a:rPr lang="en-US" sz="1600" dirty="0"/>
                  <a:t>E.g., P(</a:t>
                </a:r>
                <a:r>
                  <a:rPr lang="en-US" sz="1600" dirty="0" err="1">
                    <a:solidFill>
                      <a:schemeClr val="hlink"/>
                    </a:solidFill>
                  </a:rPr>
                  <a:t>the,mythical,unicorn</a:t>
                </a:r>
                <a:r>
                  <a:rPr lang="en-US" sz="1600" dirty="0"/>
                  <a:t>) = P(</a:t>
                </a:r>
                <a:r>
                  <a:rPr lang="en-US" sz="1600" dirty="0" err="1">
                    <a:solidFill>
                      <a:schemeClr val="hlink"/>
                    </a:solidFill>
                  </a:rPr>
                  <a:t>unicorn</a:t>
                </a:r>
                <a:r>
                  <a:rPr lang="en-US" sz="1600" dirty="0" err="1"/>
                  <a:t>|</a:t>
                </a:r>
                <a:r>
                  <a:rPr lang="en-US" sz="1600" dirty="0" err="1">
                    <a:solidFill>
                      <a:schemeClr val="hlink"/>
                    </a:solidFill>
                  </a:rPr>
                  <a:t>mythical</a:t>
                </a:r>
                <a:r>
                  <a:rPr lang="en-US" sz="1600" dirty="0"/>
                  <a:t>) P(</a:t>
                </a:r>
                <a:r>
                  <a:rPr lang="en-US" sz="1600" dirty="0" err="1">
                    <a:solidFill>
                      <a:schemeClr val="hlink"/>
                    </a:solidFill>
                  </a:rPr>
                  <a:t>mythical</a:t>
                </a:r>
                <a:r>
                  <a:rPr lang="en-US" sz="1600" dirty="0" err="1"/>
                  <a:t>|</a:t>
                </a:r>
                <a:r>
                  <a:rPr lang="en-US" sz="1600" dirty="0" err="1">
                    <a:solidFill>
                      <a:schemeClr val="hlink"/>
                    </a:solidFill>
                  </a:rPr>
                  <a:t>the</a:t>
                </a:r>
                <a:r>
                  <a:rPr lang="en-US" sz="1600" dirty="0"/>
                  <a:t>) P(</a:t>
                </a:r>
                <a:r>
                  <a:rPr lang="en-US" sz="1600" dirty="0">
                    <a:solidFill>
                      <a:schemeClr val="hlink"/>
                    </a:solidFill>
                  </a:rPr>
                  <a:t>the|&lt;start&gt;</a:t>
                </a:r>
                <a:r>
                  <a:rPr lang="en-US" sz="1600" dirty="0"/>
                  <a:t>)</a:t>
                </a:r>
              </a:p>
              <a:p>
                <a:endParaRPr lang="en-US" dirty="0"/>
              </a:p>
              <a:p>
                <a:pPr lvl="1"/>
                <a:endParaRPr lang="en-IN" sz="2000" dirty="0"/>
              </a:p>
              <a:p>
                <a:pPr lvl="1"/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53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642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Bigram Probabilities </a:t>
            </a:r>
            <a:endParaRPr lang="en-IN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42900" y="990600"/>
            <a:ext cx="6629400" cy="2286000"/>
            <a:chOff x="685800" y="1056"/>
            <a:chExt cx="7772400" cy="2784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515100" y="349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.001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4572000" y="349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British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628900" y="349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.03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85800" y="349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today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6515100" y="314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.007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572000" y="314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dessert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628900" y="314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85800" y="314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Indian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6515100" y="279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.01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572000" y="279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tomorrow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628900" y="279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85800" y="279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a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515100" y="2448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.02</a:t>
              </a: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572000" y="2448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Mexican</a:t>
              </a: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628900" y="2448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85800" y="2448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at</a:t>
              </a: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515100" y="2100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.02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572000" y="2100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Chinese</a:t>
              </a: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628900" y="2100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.05</a:t>
              </a: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85800" y="2100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dinner</a:t>
              </a: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6515100" y="175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.02</a:t>
              </a: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4572000" y="175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in</a:t>
              </a: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2628900" y="175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.06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685800" y="1752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lunch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6515100" y="140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.03</a:t>
              </a: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4572000" y="140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breakfast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628900" y="140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.06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85800" y="1404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some</a:t>
              </a: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6515100" y="105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.03</a:t>
              </a: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4572000" y="105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Eat Thai</a:t>
              </a: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628900" y="105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/>
                <a:t>.16</a:t>
              </a: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685800" y="1056"/>
              <a:ext cx="19431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/>
                <a:t>Eat on</a:t>
              </a: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685800" y="1056"/>
              <a:ext cx="7772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685800" y="1404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685800" y="1752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685800" y="2100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685800" y="2448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685800" y="2796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685800" y="3144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685800" y="3492"/>
              <a:ext cx="777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>
              <a:off x="685800" y="3840"/>
              <a:ext cx="7772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685800" y="1056"/>
              <a:ext cx="0" cy="278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262890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>
              <a:off x="457200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>
              <a:off x="651510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>
              <a:off x="8458200" y="1056"/>
              <a:ext cx="0" cy="278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2"/>
          <p:cNvGrpSpPr>
            <a:grpSpLocks/>
          </p:cNvGrpSpPr>
          <p:nvPr/>
        </p:nvGrpSpPr>
        <p:grpSpPr bwMode="auto">
          <a:xfrm>
            <a:off x="2819400" y="3505200"/>
            <a:ext cx="5562600" cy="3124200"/>
            <a:chOff x="432" y="1056"/>
            <a:chExt cx="4896" cy="3091"/>
          </a:xfrm>
        </p:grpSpPr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4104" y="3648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.01</a:t>
              </a:r>
            </a:p>
          </p:txBody>
        </p:sp>
        <p:sp>
          <p:nvSpPr>
            <p:cNvPr id="53" name="Rectangle 4"/>
            <p:cNvSpPr>
              <a:spLocks noChangeArrowheads="1"/>
            </p:cNvSpPr>
            <p:nvPr/>
          </p:nvSpPr>
          <p:spPr bwMode="auto">
            <a:xfrm>
              <a:off x="2400" y="3648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British lunch</a:t>
              </a:r>
            </a:p>
          </p:txBody>
        </p:sp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1656" y="3648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.05</a:t>
              </a:r>
            </a:p>
          </p:txBody>
        </p:sp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432" y="3648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Want a</a:t>
              </a:r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4104" y="3352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.01</a:t>
              </a:r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2400" y="3352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British cuisine</a:t>
              </a:r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1656" y="3352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.65</a:t>
              </a:r>
            </a:p>
          </p:txBody>
        </p:sp>
        <p:sp>
          <p:nvSpPr>
            <p:cNvPr id="59" name="Rectangle 10"/>
            <p:cNvSpPr>
              <a:spLocks noChangeArrowheads="1"/>
            </p:cNvSpPr>
            <p:nvPr/>
          </p:nvSpPr>
          <p:spPr bwMode="auto">
            <a:xfrm>
              <a:off x="432" y="3352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Want to</a:t>
              </a:r>
            </a:p>
          </p:txBody>
        </p:sp>
        <p:sp>
          <p:nvSpPr>
            <p:cNvPr id="60" name="Rectangle 11"/>
            <p:cNvSpPr>
              <a:spLocks noChangeArrowheads="1"/>
            </p:cNvSpPr>
            <p:nvPr/>
          </p:nvSpPr>
          <p:spPr bwMode="auto">
            <a:xfrm>
              <a:off x="4104" y="3065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.15</a:t>
              </a:r>
            </a:p>
          </p:txBody>
        </p:sp>
        <p:sp>
          <p:nvSpPr>
            <p:cNvPr id="61" name="Rectangle 12"/>
            <p:cNvSpPr>
              <a:spLocks noChangeArrowheads="1"/>
            </p:cNvSpPr>
            <p:nvPr/>
          </p:nvSpPr>
          <p:spPr bwMode="auto">
            <a:xfrm>
              <a:off x="2400" y="3065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British restaurant</a:t>
              </a:r>
            </a:p>
          </p:txBody>
        </p:sp>
        <p:sp>
          <p:nvSpPr>
            <p:cNvPr id="62" name="Rectangle 13"/>
            <p:cNvSpPr>
              <a:spLocks noChangeArrowheads="1"/>
            </p:cNvSpPr>
            <p:nvPr/>
          </p:nvSpPr>
          <p:spPr bwMode="auto">
            <a:xfrm>
              <a:off x="1656" y="3065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432" y="3065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I have</a:t>
              </a:r>
            </a:p>
          </p:txBody>
        </p:sp>
        <p:sp>
          <p:nvSpPr>
            <p:cNvPr id="64" name="Rectangle 15"/>
            <p:cNvSpPr>
              <a:spLocks noChangeArrowheads="1"/>
            </p:cNvSpPr>
            <p:nvPr/>
          </p:nvSpPr>
          <p:spPr bwMode="auto">
            <a:xfrm>
              <a:off x="4104" y="2778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.60</a:t>
              </a:r>
            </a:p>
          </p:txBody>
        </p:sp>
        <p:sp>
          <p:nvSpPr>
            <p:cNvPr id="65" name="Rectangle 16"/>
            <p:cNvSpPr>
              <a:spLocks noChangeArrowheads="1"/>
            </p:cNvSpPr>
            <p:nvPr/>
          </p:nvSpPr>
          <p:spPr bwMode="auto">
            <a:xfrm>
              <a:off x="2400" y="2778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British food</a:t>
              </a:r>
            </a:p>
          </p:txBody>
        </p:sp>
        <p:sp>
          <p:nvSpPr>
            <p:cNvPr id="66" name="Rectangle 17"/>
            <p:cNvSpPr>
              <a:spLocks noChangeArrowheads="1"/>
            </p:cNvSpPr>
            <p:nvPr/>
          </p:nvSpPr>
          <p:spPr bwMode="auto">
            <a:xfrm>
              <a:off x="1656" y="2778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.08</a:t>
              </a: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432" y="2778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I don’t</a:t>
              </a:r>
            </a:p>
          </p:txBody>
        </p:sp>
        <p:sp>
          <p:nvSpPr>
            <p:cNvPr id="68" name="Rectangle 19"/>
            <p:cNvSpPr>
              <a:spLocks noChangeArrowheads="1"/>
            </p:cNvSpPr>
            <p:nvPr/>
          </p:nvSpPr>
          <p:spPr bwMode="auto">
            <a:xfrm>
              <a:off x="4104" y="2491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.02</a:t>
              </a:r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2400" y="2491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To be</a:t>
              </a:r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1656" y="2491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.29</a:t>
              </a:r>
            </a:p>
          </p:txBody>
        </p:sp>
        <p:sp>
          <p:nvSpPr>
            <p:cNvPr id="71" name="Rectangle 22"/>
            <p:cNvSpPr>
              <a:spLocks noChangeArrowheads="1"/>
            </p:cNvSpPr>
            <p:nvPr/>
          </p:nvSpPr>
          <p:spPr bwMode="auto">
            <a:xfrm>
              <a:off x="432" y="2491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I would</a:t>
              </a:r>
            </a:p>
          </p:txBody>
        </p:sp>
        <p:sp>
          <p:nvSpPr>
            <p:cNvPr id="72" name="Rectangle 23"/>
            <p:cNvSpPr>
              <a:spLocks noChangeArrowheads="1"/>
            </p:cNvSpPr>
            <p:nvPr/>
          </p:nvSpPr>
          <p:spPr bwMode="auto">
            <a:xfrm>
              <a:off x="4104" y="2204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.09</a:t>
              </a:r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2400" y="2204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To spend</a:t>
              </a:r>
            </a:p>
          </p:txBody>
        </p:sp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1656" y="2204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.32</a:t>
              </a:r>
            </a:p>
          </p:txBody>
        </p:sp>
        <p:sp>
          <p:nvSpPr>
            <p:cNvPr id="75" name="Rectangle 26"/>
            <p:cNvSpPr>
              <a:spLocks noChangeArrowheads="1"/>
            </p:cNvSpPr>
            <p:nvPr/>
          </p:nvSpPr>
          <p:spPr bwMode="auto">
            <a:xfrm>
              <a:off x="432" y="2204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I want</a:t>
              </a:r>
            </a:p>
          </p:txBody>
        </p:sp>
        <p:sp>
          <p:nvSpPr>
            <p:cNvPr id="76" name="Rectangle 27"/>
            <p:cNvSpPr>
              <a:spLocks noChangeArrowheads="1"/>
            </p:cNvSpPr>
            <p:nvPr/>
          </p:nvSpPr>
          <p:spPr bwMode="auto">
            <a:xfrm>
              <a:off x="4104" y="1917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.14</a:t>
              </a:r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2400" y="1917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To have</a:t>
              </a:r>
            </a:p>
          </p:txBody>
        </p:sp>
        <p:sp>
          <p:nvSpPr>
            <p:cNvPr id="78" name="Rectangle 29"/>
            <p:cNvSpPr>
              <a:spLocks noChangeArrowheads="1"/>
            </p:cNvSpPr>
            <p:nvPr/>
          </p:nvSpPr>
          <p:spPr bwMode="auto">
            <a:xfrm>
              <a:off x="1656" y="1917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.02</a:t>
              </a:r>
            </a:p>
          </p:txBody>
        </p:sp>
        <p:sp>
          <p:nvSpPr>
            <p:cNvPr id="79" name="Rectangle 30"/>
            <p:cNvSpPr>
              <a:spLocks noChangeArrowheads="1"/>
            </p:cNvSpPr>
            <p:nvPr/>
          </p:nvSpPr>
          <p:spPr bwMode="auto">
            <a:xfrm>
              <a:off x="432" y="1917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&lt;start&gt; I’m</a:t>
              </a:r>
            </a:p>
          </p:txBody>
        </p:sp>
        <p:sp>
          <p:nvSpPr>
            <p:cNvPr id="80" name="Rectangle 31"/>
            <p:cNvSpPr>
              <a:spLocks noChangeArrowheads="1"/>
            </p:cNvSpPr>
            <p:nvPr/>
          </p:nvSpPr>
          <p:spPr bwMode="auto">
            <a:xfrm>
              <a:off x="4104" y="1630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.26</a:t>
              </a:r>
            </a:p>
          </p:txBody>
        </p:sp>
        <p:sp>
          <p:nvSpPr>
            <p:cNvPr id="81" name="Rectangle 32"/>
            <p:cNvSpPr>
              <a:spLocks noChangeArrowheads="1"/>
            </p:cNvSpPr>
            <p:nvPr/>
          </p:nvSpPr>
          <p:spPr bwMode="auto">
            <a:xfrm>
              <a:off x="2400" y="1630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To eat</a:t>
              </a:r>
            </a:p>
          </p:txBody>
        </p:sp>
        <p:sp>
          <p:nvSpPr>
            <p:cNvPr id="82" name="Rectangle 33"/>
            <p:cNvSpPr>
              <a:spLocks noChangeArrowheads="1"/>
            </p:cNvSpPr>
            <p:nvPr/>
          </p:nvSpPr>
          <p:spPr bwMode="auto">
            <a:xfrm>
              <a:off x="1656" y="1630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83" name="Rectangle 34"/>
            <p:cNvSpPr>
              <a:spLocks noChangeArrowheads="1"/>
            </p:cNvSpPr>
            <p:nvPr/>
          </p:nvSpPr>
          <p:spPr bwMode="auto">
            <a:xfrm>
              <a:off x="432" y="1630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&lt;start&gt; Tell</a:t>
              </a:r>
            </a:p>
          </p:txBody>
        </p:sp>
        <p:sp>
          <p:nvSpPr>
            <p:cNvPr id="84" name="Rectangle 35"/>
            <p:cNvSpPr>
              <a:spLocks noChangeArrowheads="1"/>
            </p:cNvSpPr>
            <p:nvPr/>
          </p:nvSpPr>
          <p:spPr bwMode="auto">
            <a:xfrm>
              <a:off x="4104" y="1343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.01</a:t>
              </a:r>
            </a:p>
          </p:txBody>
        </p:sp>
        <p:sp>
          <p:nvSpPr>
            <p:cNvPr id="85" name="Rectangle 36"/>
            <p:cNvSpPr>
              <a:spLocks noChangeArrowheads="1"/>
            </p:cNvSpPr>
            <p:nvPr/>
          </p:nvSpPr>
          <p:spPr bwMode="auto">
            <a:xfrm>
              <a:off x="2400" y="1343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Want Thai</a:t>
              </a:r>
            </a:p>
          </p:txBody>
        </p:sp>
        <p:sp>
          <p:nvSpPr>
            <p:cNvPr id="86" name="Rectangle 37"/>
            <p:cNvSpPr>
              <a:spLocks noChangeArrowheads="1"/>
            </p:cNvSpPr>
            <p:nvPr/>
          </p:nvSpPr>
          <p:spPr bwMode="auto">
            <a:xfrm>
              <a:off x="1656" y="1343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.06</a:t>
              </a:r>
            </a:p>
          </p:txBody>
        </p:sp>
        <p:sp>
          <p:nvSpPr>
            <p:cNvPr id="87" name="Rectangle 38"/>
            <p:cNvSpPr>
              <a:spLocks noChangeArrowheads="1"/>
            </p:cNvSpPr>
            <p:nvPr/>
          </p:nvSpPr>
          <p:spPr bwMode="auto">
            <a:xfrm>
              <a:off x="432" y="1343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&lt;start&gt; I’d</a:t>
              </a:r>
            </a:p>
          </p:txBody>
        </p:sp>
        <p:sp>
          <p:nvSpPr>
            <p:cNvPr id="88" name="Rectangle 39"/>
            <p:cNvSpPr>
              <a:spLocks noChangeArrowheads="1"/>
            </p:cNvSpPr>
            <p:nvPr/>
          </p:nvSpPr>
          <p:spPr bwMode="auto">
            <a:xfrm>
              <a:off x="4104" y="1056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.04</a:t>
              </a:r>
            </a:p>
          </p:txBody>
        </p:sp>
        <p:sp>
          <p:nvSpPr>
            <p:cNvPr id="89" name="Rectangle 40"/>
            <p:cNvSpPr>
              <a:spLocks noChangeArrowheads="1"/>
            </p:cNvSpPr>
            <p:nvPr/>
          </p:nvSpPr>
          <p:spPr bwMode="auto">
            <a:xfrm>
              <a:off x="2400" y="1056"/>
              <a:ext cx="170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Want some</a:t>
              </a:r>
            </a:p>
          </p:txBody>
        </p:sp>
        <p:sp>
          <p:nvSpPr>
            <p:cNvPr id="90" name="Rectangle 41"/>
            <p:cNvSpPr>
              <a:spLocks noChangeArrowheads="1"/>
            </p:cNvSpPr>
            <p:nvPr/>
          </p:nvSpPr>
          <p:spPr bwMode="auto">
            <a:xfrm>
              <a:off x="1656" y="1056"/>
              <a:ext cx="74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.25</a:t>
              </a:r>
            </a:p>
          </p:txBody>
        </p:sp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32" y="1056"/>
              <a:ext cx="1224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&lt;start&gt; I</a:t>
              </a:r>
            </a:p>
          </p:txBody>
        </p:sp>
        <p:sp>
          <p:nvSpPr>
            <p:cNvPr id="92" name="Line 43"/>
            <p:cNvSpPr>
              <a:spLocks noChangeShapeType="1"/>
            </p:cNvSpPr>
            <p:nvPr/>
          </p:nvSpPr>
          <p:spPr bwMode="auto">
            <a:xfrm>
              <a:off x="432" y="1056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3" name="Line 44"/>
            <p:cNvSpPr>
              <a:spLocks noChangeShapeType="1"/>
            </p:cNvSpPr>
            <p:nvPr/>
          </p:nvSpPr>
          <p:spPr bwMode="auto">
            <a:xfrm>
              <a:off x="432" y="1343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4" name="Line 45"/>
            <p:cNvSpPr>
              <a:spLocks noChangeShapeType="1"/>
            </p:cNvSpPr>
            <p:nvPr/>
          </p:nvSpPr>
          <p:spPr bwMode="auto">
            <a:xfrm>
              <a:off x="432" y="1630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5" name="Line 46"/>
            <p:cNvSpPr>
              <a:spLocks noChangeShapeType="1"/>
            </p:cNvSpPr>
            <p:nvPr/>
          </p:nvSpPr>
          <p:spPr bwMode="auto">
            <a:xfrm>
              <a:off x="432" y="1917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6" name="Line 47"/>
            <p:cNvSpPr>
              <a:spLocks noChangeShapeType="1"/>
            </p:cNvSpPr>
            <p:nvPr/>
          </p:nvSpPr>
          <p:spPr bwMode="auto">
            <a:xfrm>
              <a:off x="432" y="2204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7" name="Line 48"/>
            <p:cNvSpPr>
              <a:spLocks noChangeShapeType="1"/>
            </p:cNvSpPr>
            <p:nvPr/>
          </p:nvSpPr>
          <p:spPr bwMode="auto">
            <a:xfrm>
              <a:off x="432" y="2491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8" name="Line 49"/>
            <p:cNvSpPr>
              <a:spLocks noChangeShapeType="1"/>
            </p:cNvSpPr>
            <p:nvPr/>
          </p:nvSpPr>
          <p:spPr bwMode="auto">
            <a:xfrm>
              <a:off x="432" y="2778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99" name="Line 50"/>
            <p:cNvSpPr>
              <a:spLocks noChangeShapeType="1"/>
            </p:cNvSpPr>
            <p:nvPr/>
          </p:nvSpPr>
          <p:spPr bwMode="auto">
            <a:xfrm>
              <a:off x="432" y="3065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0" name="Line 51"/>
            <p:cNvSpPr>
              <a:spLocks noChangeShapeType="1"/>
            </p:cNvSpPr>
            <p:nvPr/>
          </p:nvSpPr>
          <p:spPr bwMode="auto">
            <a:xfrm>
              <a:off x="432" y="3352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1" name="Line 52"/>
            <p:cNvSpPr>
              <a:spLocks noChangeShapeType="1"/>
            </p:cNvSpPr>
            <p:nvPr/>
          </p:nvSpPr>
          <p:spPr bwMode="auto">
            <a:xfrm>
              <a:off x="432" y="3648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2" name="Line 53"/>
            <p:cNvSpPr>
              <a:spLocks noChangeShapeType="1"/>
            </p:cNvSpPr>
            <p:nvPr/>
          </p:nvSpPr>
          <p:spPr bwMode="auto">
            <a:xfrm>
              <a:off x="432" y="3935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3" name="Line 54"/>
            <p:cNvSpPr>
              <a:spLocks noChangeShapeType="1"/>
            </p:cNvSpPr>
            <p:nvPr/>
          </p:nvSpPr>
          <p:spPr bwMode="auto">
            <a:xfrm>
              <a:off x="432" y="1056"/>
              <a:ext cx="0" cy="287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4" name="Line 55"/>
            <p:cNvSpPr>
              <a:spLocks noChangeShapeType="1"/>
            </p:cNvSpPr>
            <p:nvPr/>
          </p:nvSpPr>
          <p:spPr bwMode="auto">
            <a:xfrm>
              <a:off x="1656" y="1056"/>
              <a:ext cx="0" cy="28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5" name="Line 56"/>
            <p:cNvSpPr>
              <a:spLocks noChangeShapeType="1"/>
            </p:cNvSpPr>
            <p:nvPr/>
          </p:nvSpPr>
          <p:spPr bwMode="auto">
            <a:xfrm>
              <a:off x="2400" y="1056"/>
              <a:ext cx="0" cy="28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6" name="Line 57"/>
            <p:cNvSpPr>
              <a:spLocks noChangeShapeType="1"/>
            </p:cNvSpPr>
            <p:nvPr/>
          </p:nvSpPr>
          <p:spPr bwMode="auto">
            <a:xfrm>
              <a:off x="4104" y="1056"/>
              <a:ext cx="0" cy="28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07" name="Line 58"/>
            <p:cNvSpPr>
              <a:spLocks noChangeShapeType="1"/>
            </p:cNvSpPr>
            <p:nvPr/>
          </p:nvSpPr>
          <p:spPr bwMode="auto">
            <a:xfrm>
              <a:off x="5328" y="1056"/>
              <a:ext cx="0" cy="287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2757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Books</a:t>
            </a:r>
          </a:p>
          <a:p>
            <a:pPr lvl="1"/>
            <a:r>
              <a:rPr lang="en-US" dirty="0"/>
              <a:t>Foundations of Statistical Natural Language Processing: Christopher D. Manning, </a:t>
            </a:r>
            <a:r>
              <a:rPr lang="en-US" dirty="0" err="1"/>
              <a:t>Hinrich</a:t>
            </a:r>
            <a:r>
              <a:rPr lang="en-US" dirty="0"/>
              <a:t> </a:t>
            </a:r>
            <a:r>
              <a:rPr lang="en-US" dirty="0" err="1"/>
              <a:t>Schütze</a:t>
            </a:r>
            <a:endParaRPr lang="en-US" dirty="0"/>
          </a:p>
          <a:p>
            <a:pPr lvl="1"/>
            <a:r>
              <a:rPr lang="en-US" dirty="0"/>
              <a:t>Speech and Language Processing, 2nd Edition: Daniel </a:t>
            </a:r>
            <a:r>
              <a:rPr lang="en-US" dirty="0" err="1"/>
              <a:t>Jurafsky</a:t>
            </a:r>
            <a:r>
              <a:rPr lang="en-US" dirty="0"/>
              <a:t>, James H. Martin</a:t>
            </a:r>
          </a:p>
          <a:p>
            <a:r>
              <a:rPr lang="en-IN" sz="2400" dirty="0" err="1"/>
              <a:t>ChengXiang</a:t>
            </a:r>
            <a:r>
              <a:rPr lang="en-IN" sz="2400" dirty="0"/>
              <a:t> </a:t>
            </a:r>
            <a:r>
              <a:rPr lang="en-IN" sz="2400" dirty="0" err="1"/>
              <a:t>Zhai</a:t>
            </a:r>
            <a:r>
              <a:rPr lang="en-IN" sz="2400" dirty="0"/>
              <a:t>. Statistical Language Models for Information Retrieval. Synthesis Lectures on Human Language Technologies. 2008. Morgan &amp; Claypool Publishers.</a:t>
            </a:r>
          </a:p>
          <a:p>
            <a:r>
              <a:rPr lang="en-IN" sz="2400" dirty="0">
                <a:hlinkClick r:id="rId2"/>
              </a:rPr>
              <a:t>http://web.stanford.edu/class/cs276a/handouts/lecture12.pdf</a:t>
            </a:r>
            <a:endParaRPr lang="en-IN" sz="2400" dirty="0"/>
          </a:p>
          <a:p>
            <a:r>
              <a:rPr lang="en-US" i="1" u="sng" dirty="0">
                <a:hlinkClick r:id="rId3"/>
              </a:rPr>
              <a:t>https://github.com/rexdwyer/Splitsville/blob/master/Splitsville.ipynb</a:t>
            </a:r>
            <a:endParaRPr lang="en-US" i="1" u="sng" dirty="0"/>
          </a:p>
          <a:p>
            <a:r>
              <a:rPr lang="en-US" i="1" u="sng" dirty="0">
                <a:hlinkClick r:id="rId4"/>
              </a:rPr>
              <a:t>http://pages.stern.nyu.edu/~sbp345/websys/python_dwd/Session%203%20(Regular%20Expressions).ipynb</a:t>
            </a:r>
            <a:r>
              <a:rPr lang="en-US" i="1" u="sng" dirty="0"/>
              <a:t> </a:t>
            </a:r>
          </a:p>
          <a:p>
            <a:endParaRPr lang="en-US" i="1" u="sng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572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31308</TotalTime>
  <Words>2979</Words>
  <Application>Microsoft Office PowerPoint</Application>
  <PresentationFormat>35mm Slides</PresentationFormat>
  <Paragraphs>470</Paragraphs>
  <Slides>44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63" baseType="lpstr">
      <vt:lpstr>Andalus</vt:lpstr>
      <vt:lpstr>Arial</vt:lpstr>
      <vt:lpstr>Calibri</vt:lpstr>
      <vt:lpstr>Cambria Math</vt:lpstr>
      <vt:lpstr>Courier</vt:lpstr>
      <vt:lpstr>Courier New</vt:lpstr>
      <vt:lpstr>Lucida Sans</vt:lpstr>
      <vt:lpstr>Lucida Sans Typewriter</vt:lpstr>
      <vt:lpstr>Lucida Sans Unicode</vt:lpstr>
      <vt:lpstr>Minion</vt:lpstr>
      <vt:lpstr>Palatino Linotype</vt:lpstr>
      <vt:lpstr>Tahoma</vt:lpstr>
      <vt:lpstr>Times</vt:lpstr>
      <vt:lpstr>Verdana</vt:lpstr>
      <vt:lpstr>Wingdings</vt:lpstr>
      <vt:lpstr>华文黑体</vt:lpstr>
      <vt:lpstr>Default Design</vt:lpstr>
      <vt:lpstr>Worksheet</vt:lpstr>
      <vt:lpstr>Equation</vt:lpstr>
      <vt:lpstr>PowerPoint Presentation</vt:lpstr>
      <vt:lpstr>PowerPoint Presentation</vt:lpstr>
      <vt:lpstr>Tokenization</vt:lpstr>
      <vt:lpstr>Tokenization: Language issues</vt:lpstr>
      <vt:lpstr>Word Tokenization in Chinese</vt:lpstr>
      <vt:lpstr>Max-match segmentation illustration</vt:lpstr>
      <vt:lpstr>Maximum Matching Word Segmentation Algorithm</vt:lpstr>
      <vt:lpstr>PowerPoint Presentation</vt:lpstr>
      <vt:lpstr>Lemmatization</vt:lpstr>
      <vt:lpstr>Stemming</vt:lpstr>
      <vt:lpstr>Porter’s algorithm The most common English stemmer</vt:lpstr>
      <vt:lpstr>Viewing morphology in a corpus Why only strip –ing if there is a vowel?</vt:lpstr>
      <vt:lpstr>Problems with stemming</vt:lpstr>
      <vt:lpstr>Stemming vs lemmatization</vt:lpstr>
      <vt:lpstr>PowerPoint Presentation</vt:lpstr>
      <vt:lpstr>Sentence Segmentation</vt:lpstr>
      <vt:lpstr>Determining if a Word is End-of-sentence: A Decision Tree</vt:lpstr>
      <vt:lpstr>PowerPoint Presentation</vt:lpstr>
      <vt:lpstr>The Classic Search Model</vt:lpstr>
      <vt:lpstr>Query on Unstructured Data</vt:lpstr>
      <vt:lpstr>Term-Document Incidence Matrices</vt:lpstr>
      <vt:lpstr>Incidence Vectors</vt:lpstr>
      <vt:lpstr>Bigger Collections</vt:lpstr>
      <vt:lpstr>Inverted Index</vt:lpstr>
      <vt:lpstr>Ranked Retrieval</vt:lpstr>
      <vt:lpstr>Binary Term-Document Incidence Matrix</vt:lpstr>
      <vt:lpstr>Term-Document Count Matrices</vt:lpstr>
      <vt:lpstr>Term Frequency TF</vt:lpstr>
      <vt:lpstr>Inverse Document Frequency IDF</vt:lpstr>
      <vt:lpstr>TF-IDF Weighting</vt:lpstr>
      <vt:lpstr>Binary → Count → Weight Matrix</vt:lpstr>
      <vt:lpstr>Ranking in Vector Space Model</vt:lpstr>
      <vt:lpstr>PowerPoint Presentation</vt:lpstr>
      <vt:lpstr>Next Word Prediction</vt:lpstr>
      <vt:lpstr>Next Word Prediction</vt:lpstr>
      <vt:lpstr>Human Word Prediction</vt:lpstr>
      <vt:lpstr>Applications of word prediction</vt:lpstr>
      <vt:lpstr>How to do next word prediction?</vt:lpstr>
      <vt:lpstr>N-grams</vt:lpstr>
      <vt:lpstr>Prob of a word sequence</vt:lpstr>
      <vt:lpstr>Bigram Model</vt:lpstr>
      <vt:lpstr>Using n-grams</vt:lpstr>
      <vt:lpstr>Sample Bigram Probabilities </vt:lpstr>
      <vt:lpstr>Further Reading</vt:lpstr>
    </vt:vector>
  </TitlesOfParts>
  <Company>Prithvi Information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Sridhar Pappu</dc:creator>
  <cp:lastModifiedBy>Manish Gupta (BING-IDC)</cp:lastModifiedBy>
  <cp:revision>1724</cp:revision>
  <dcterms:created xsi:type="dcterms:W3CDTF">2008-10-30T05:46:58Z</dcterms:created>
  <dcterms:modified xsi:type="dcterms:W3CDTF">2021-03-14T18:19:44Z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gmanish@microsoft.com</vt:lpwstr>
  </property>
  <property fmtid="{D5CDD505-2E9C-101B-9397-08002B2CF9AE}" pid="5" name="MSIP_Label_f42aa342-8706-4288-bd11-ebb85995028c_SetDate">
    <vt:lpwstr>2018-09-26T09:40:44.3506011Z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