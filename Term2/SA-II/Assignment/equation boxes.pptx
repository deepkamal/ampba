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93"/>
    <p:restoredTop sz="96327"/>
  </p:normalViewPr>
  <p:slideViewPr>
    <p:cSldViewPr snapToGrid="0" snapToObjects="1">
      <p:cViewPr varScale="1">
        <p:scale>
          <a:sx n="178" d="100"/>
          <a:sy n="178" d="100"/>
        </p:scale>
        <p:origin x="20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A671E-7FC9-2746-8050-D0733EB50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10DB1F-CDCF-3942-9EBA-2D8509733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3BF47-0F68-A44D-915B-45DC88EB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0AEF-EF51-8140-AF9B-233A50559D24}" type="datetimeFigureOut">
              <a:rPr lang="en-US" smtClean="0"/>
              <a:t>4/19/21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A6949-9858-1E4D-A975-7ED576476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A7DFD-3D63-8342-8094-F085A948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DDF7-1D9E-3042-A490-83903438B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26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BDAC-0E7C-A446-8FF4-24DE305AD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D4555-F0AE-EF40-BD31-8CDA36DE0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B2415-3568-0342-A8CA-10A3FE879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0AEF-EF51-8140-AF9B-233A50559D24}" type="datetimeFigureOut">
              <a:rPr lang="en-US" smtClean="0"/>
              <a:t>4/19/21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D56D4-5217-4647-AE71-CE840C8C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E9F5E-CC12-044D-9F67-FCA648D5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DDF7-1D9E-3042-A490-83903438B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0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8955-EFB1-074C-BDF7-344103886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B5536-AD93-D449-883C-E9818FF97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9CC33-B975-4D4B-98F0-AD5FFF076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0AEF-EF51-8140-AF9B-233A50559D24}" type="datetimeFigureOut">
              <a:rPr lang="en-US" smtClean="0"/>
              <a:t>4/19/21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D052D-48D2-F34A-9254-BE5FF8A1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66B19-30FE-7C42-A350-A97AD6F4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DDF7-1D9E-3042-A490-83903438B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65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3A98E-C8F3-B240-9D9B-D3BB8056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563C9-AC7D-7749-8307-121B152FD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FF13-7640-0047-B183-214CE2EE5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78F0C-04AA-1546-8AA2-021C8544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0AEF-EF51-8140-AF9B-233A50559D24}" type="datetimeFigureOut">
              <a:rPr lang="en-US" smtClean="0"/>
              <a:t>4/19/21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E6CFD-9A6F-F546-B3E8-EDBAA20EB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B402C-C36D-2C49-8A34-7ED47981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DDF7-1D9E-3042-A490-83903438B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5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AD39-2DD7-B445-8DCC-96E4ED86C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963B6-7A55-DA43-AF62-4B493B560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991AC-4696-BD4B-AC0B-F8458732D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F7D267-E167-2042-9EE6-1806716E4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93BD4-EC7A-444A-B30C-559FB49AA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6F0982-79EC-1D41-836F-32A0F29A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0AEF-EF51-8140-AF9B-233A50559D24}" type="datetimeFigureOut">
              <a:rPr lang="en-US" smtClean="0"/>
              <a:t>4/19/21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231A8-76DA-AD4E-882E-5DB3401E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CF100-6452-CE47-94F2-AB8BB9C2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DDF7-1D9E-3042-A490-83903438B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27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9C66-21B8-354E-AF03-291CDA21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CC7BB5-6E4B-2645-87F7-CD21552E6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0AEF-EF51-8140-AF9B-233A50559D24}" type="datetimeFigureOut">
              <a:rPr lang="en-US" smtClean="0"/>
              <a:t>4/19/21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7199B-9A94-9042-8154-45FFB38D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4C3964-5CCA-B345-A0CB-D92FE1151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DDF7-1D9E-3042-A490-83903438B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4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AF7D1E-8A40-D749-9656-048A4D1F6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0AEF-EF51-8140-AF9B-233A50559D24}" type="datetimeFigureOut">
              <a:rPr lang="en-US" smtClean="0"/>
              <a:t>4/19/21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8B01D8-F486-2D48-9773-89DF1CFB9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59F5D-502C-4B43-B55F-19546B7A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DDF7-1D9E-3042-A490-83903438B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69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7FD65-A924-FF4D-9BC4-6E1FAC2FB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B3694-615A-A843-A2BB-87702299E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12CF2-4915-344E-9EBB-7455FEFEC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05C5A-FCFB-5F47-944F-7A85CD7D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0AEF-EF51-8140-AF9B-233A50559D24}" type="datetimeFigureOut">
              <a:rPr lang="en-US" smtClean="0"/>
              <a:t>4/19/21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F89AC-A379-1E4D-8BF4-716936CA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9954E-BA54-F643-9C20-335EDB8B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DDF7-1D9E-3042-A490-83903438B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0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DDC2D-73D5-1A4F-8233-5D25A95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286DC4-DAF8-2947-B246-3AF8CF2FC6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4BE4A-7BEF-EA4B-853B-3439ADD83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83488-C9E2-0C41-BA73-3532FB96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0AEF-EF51-8140-AF9B-233A50559D24}" type="datetimeFigureOut">
              <a:rPr lang="en-US" smtClean="0"/>
              <a:t>4/19/21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1C014-4D98-8543-BA7F-A16671A89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E1B4E-A6A4-884B-B1D8-2B4A6F3D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DDF7-1D9E-3042-A490-83903438B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6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C7620-4CFC-A94D-868D-95AE0AD3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1CF67-125B-A349-9204-3BBA4AC02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27A74-3237-7844-B51F-1919B0B2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0AEF-EF51-8140-AF9B-233A50559D24}" type="datetimeFigureOut">
              <a:rPr lang="en-US" smtClean="0"/>
              <a:t>4/19/21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D721C-0244-FA45-8B9C-F169C759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4E2CE-699E-5143-9F6D-FB05C1D8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DDF7-1D9E-3042-A490-83903438B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1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87E396-F38C-6C4A-8C9F-AADC30079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F02C1-9BB9-1E43-BF6B-B56CE79DD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987C7-7251-C54B-8C34-47FECFD96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0AEF-EF51-8140-AF9B-233A50559D24}" type="datetimeFigureOut">
              <a:rPr lang="en-US" smtClean="0"/>
              <a:t>4/19/21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CB6C2-A40F-E146-984C-039C1948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49F1C-12F1-704F-A26D-4D6DD2A2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DDF7-1D9E-3042-A490-83903438B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22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2FBA73-5EE8-1444-A3B4-1F2D20EB1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2D209-698E-0F41-9D84-3A1A48DC8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E72DE-F67B-4941-8B58-EB8AD1E0B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40AEF-EF51-8140-AF9B-233A50559D24}" type="datetimeFigureOut">
              <a:rPr lang="en-US" smtClean="0"/>
              <a:t>4/19/21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0F0D7-3C19-E44C-870D-27FFC4B00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65985-9852-284D-92A9-BF3D13108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CDDF7-1D9E-3042-A490-83903438B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5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9D4C4362-97FC-3749-9F2E-847CBF9EBC0F}"/>
                  </a:ext>
                </a:extLst>
              </p:cNvPr>
              <p:cNvSpPr/>
              <p:nvPr/>
            </p:nvSpPr>
            <p:spPr>
              <a:xfrm>
                <a:off x="365126" y="566529"/>
                <a:ext cx="1352464" cy="947945"/>
              </a:xfrm>
              <a:prstGeom prst="roundRect">
                <a:avLst/>
              </a:prstGeom>
              <a:effectLst>
                <a:softEdge rad="0"/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IN" sz="600" dirty="0"/>
                  <a:t>Significance: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60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600">
                        <a:latin typeface="Cambria Math" panose="02040503050406030204" pitchFamily="18" charset="0"/>
                      </a:rPr>
                      <m:t>= 0.05</m:t>
                    </m:r>
                  </m:oMath>
                </a14:m>
                <a:br>
                  <a:rPr lang="en-IN" sz="600" dirty="0">
                    <a:latin typeface="Cambria Math" panose="02040503050406030204" pitchFamily="18" charset="0"/>
                  </a:rPr>
                </a:br>
                <a:r>
                  <a:rPr lang="en-IN" sz="600" dirty="0">
                    <a:latin typeface="Cambria Math" panose="02040503050406030204" pitchFamily="18" charset="0"/>
                  </a:rPr>
                  <a:t>Sample Mean: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IN" sz="6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en-IN" sz="600">
                        <a:latin typeface="Cambria Math" panose="02040503050406030204" pitchFamily="18" charset="0"/>
                      </a:rPr>
                      <m:t>=163862.1251</m:t>
                    </m:r>
                  </m:oMath>
                </a14:m>
                <a:br>
                  <a:rPr lang="en-IN" sz="600" dirty="0">
                    <a:latin typeface="Cambria Math" panose="02040503050406030204" pitchFamily="18" charset="0"/>
                  </a:rPr>
                </a:br>
                <a:r>
                  <a:rPr lang="en-IN" sz="600" dirty="0">
                    <a:latin typeface="Cambria Math" panose="02040503050406030204" pitchFamily="18" charset="0"/>
                  </a:rPr>
                  <a:t>Sample Sigma: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60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IN" sz="600">
                        <a:latin typeface="Cambria Math" panose="02040503050406030204" pitchFamily="18" charset="0"/>
                      </a:rPr>
                      <m:t>=67651.5589</m:t>
                    </m:r>
                  </m:oMath>
                </a14:m>
                <a:br>
                  <a:rPr lang="en-IN" sz="600" dirty="0">
                    <a:latin typeface="Cambria Math" panose="02040503050406030204" pitchFamily="18" charset="0"/>
                  </a:rPr>
                </a:br>
                <a:r>
                  <a:rPr lang="en-IN" sz="600" dirty="0">
                    <a:latin typeface="Cambria Math" panose="02040503050406030204" pitchFamily="18" charset="0"/>
                  </a:rPr>
                  <a:t>Sample Size: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60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60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IN" sz="600">
                        <a:latin typeface="Cambria Math" panose="02040503050406030204" pitchFamily="18" charset="0"/>
                      </a:rPr>
                      <m:t>=1047</m:t>
                    </m:r>
                  </m:oMath>
                </a14:m>
                <a:endParaRPr lang="en-IN" sz="600" dirty="0">
                  <a:latin typeface="Cambria Math" panose="02040503050406030204" pitchFamily="18" charset="0"/>
                </a:endParaRPr>
              </a:p>
              <a:p>
                <a:r>
                  <a:rPr lang="en-IN" sz="600" dirty="0">
                    <a:latin typeface="Cambria Math" panose="02040503050406030204" pitchFamily="18" charset="0"/>
                  </a:rPr>
                  <a:t>t-stat:</a:t>
                </a:r>
                <a:endParaRPr lang="en-US" sz="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IN" sz="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6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IN" sz="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60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</m:d>
                      <m:r>
                        <m:rPr>
                          <m:lit/>
                        </m:rPr>
                        <a:rPr lang="en-IN" sz="600">
                          <a:latin typeface="Cambria Math" panose="02040503050406030204" pitchFamily="18" charset="0"/>
                        </a:rPr>
                        <m:t>/</m:t>
                      </m:r>
                      <m:d>
                        <m:dPr>
                          <m:ctrlPr>
                            <a:rPr lang="en-IN" sz="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60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IN" sz="60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IN" sz="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sz="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60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IN" sz="60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rad>
                        </m:e>
                      </m:d>
                    </m:oMath>
                  </m:oMathPara>
                </a14:m>
                <a:endParaRPr lang="en-IN" sz="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9D4C4362-97FC-3749-9F2E-847CBF9EBC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26" y="566529"/>
                <a:ext cx="1352464" cy="94794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Arrow 4">
            <a:extLst>
              <a:ext uri="{FF2B5EF4-FFF2-40B4-BE49-F238E27FC236}">
                <a16:creationId xmlns:a16="http://schemas.microsoft.com/office/drawing/2014/main" id="{E480362B-2D4E-2146-9855-1F5856FB0E12}"/>
              </a:ext>
            </a:extLst>
          </p:cNvPr>
          <p:cNvSpPr/>
          <p:nvPr/>
        </p:nvSpPr>
        <p:spPr>
          <a:xfrm>
            <a:off x="1818861" y="4015407"/>
            <a:ext cx="894522" cy="42738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t-stats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C2127F-631D-BC48-A47F-40BC7F32ADBA}"/>
              </a:ext>
            </a:extLst>
          </p:cNvPr>
          <p:cNvSpPr/>
          <p:nvPr/>
        </p:nvSpPr>
        <p:spPr>
          <a:xfrm>
            <a:off x="665922" y="1577461"/>
            <a:ext cx="1051667" cy="916282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softEdge rad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500" i="1" dirty="0"/>
              <a:t>Conducting right sided hypothesis testing with the given data. Using t-statistic as we do not know the population standard deviation.</a:t>
            </a:r>
          </a:p>
          <a:p>
            <a:endParaRPr lang="en-IN" sz="500" dirty="0"/>
          </a:p>
          <a:p>
            <a:r>
              <a:rPr lang="en-IN" sz="500" dirty="0"/>
              <a:t>t_score  =  6.6301</a:t>
            </a:r>
          </a:p>
          <a:p>
            <a:endParaRPr lang="en-IN" sz="500" dirty="0"/>
          </a:p>
          <a:p>
            <a:r>
              <a:rPr lang="en-IN" sz="500" dirty="0"/>
              <a:t>p = 0.000000000027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1AE46865-FE5B-AB4A-ACA7-17E6005AA5DC}"/>
                  </a:ext>
                </a:extLst>
              </p:cNvPr>
              <p:cNvSpPr/>
              <p:nvPr/>
            </p:nvSpPr>
            <p:spPr>
              <a:xfrm>
                <a:off x="1826883" y="555649"/>
                <a:ext cx="1243342" cy="916282"/>
              </a:xfrm>
              <a:prstGeom prst="roundRect">
                <a:avLst/>
              </a:prstGeom>
              <a:effectLst>
                <a:softEdge rad="0"/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IN" sz="600" dirty="0"/>
                  <a:t>Significance: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60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600">
                        <a:latin typeface="Cambria Math" panose="02040503050406030204" pitchFamily="18" charset="0"/>
                      </a:rPr>
                      <m:t>= 0.05</m:t>
                    </m:r>
                  </m:oMath>
                </a14:m>
                <a:br>
                  <a:rPr lang="en-IN" sz="600" dirty="0"/>
                </a:br>
                <a:r>
                  <a:rPr lang="en-IN" sz="600" dirty="0"/>
                  <a:t>Sample Mean: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IN" sz="6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en-IN" sz="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600">
                        <a:latin typeface="Cambria Math" panose="02040503050406030204" pitchFamily="18" charset="0"/>
                      </a:rPr>
                      <m:t>1800</m:t>
                    </m:r>
                  </m:oMath>
                </a14:m>
                <a:br>
                  <a:rPr lang="en-IN" sz="600" dirty="0"/>
                </a:br>
                <a:r>
                  <a:rPr lang="en-IN" sz="600" dirty="0"/>
                  <a:t>Sample Sigma: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60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IN" sz="600">
                        <a:latin typeface="Cambria Math" panose="02040503050406030204" pitchFamily="18" charset="0"/>
                      </a:rPr>
                      <m:t>=641.4609</m:t>
                    </m:r>
                  </m:oMath>
                </a14:m>
                <a:br>
                  <a:rPr lang="en-IN" sz="600" dirty="0"/>
                </a:br>
                <a:r>
                  <a:rPr lang="en-IN" sz="600" dirty="0"/>
                  <a:t>Sample Size: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60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60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IN" sz="600">
                        <a:latin typeface="Cambria Math" panose="02040503050406030204" pitchFamily="18" charset="0"/>
                      </a:rPr>
                      <m:t>=1047</m:t>
                    </m:r>
                  </m:oMath>
                </a14:m>
                <a:endParaRPr lang="en-IN" sz="600" dirty="0"/>
              </a:p>
              <a:p>
                <a:r>
                  <a:rPr lang="en-IN" sz="600" dirty="0"/>
                  <a:t>t-stat:</a:t>
                </a:r>
                <a:endParaRPr lang="en-US" sz="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IN" sz="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6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IN" sz="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60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</m:d>
                      <m:r>
                        <m:rPr>
                          <m:lit/>
                        </m:rPr>
                        <a:rPr lang="en-IN" sz="600">
                          <a:latin typeface="Cambria Math" panose="02040503050406030204" pitchFamily="18" charset="0"/>
                        </a:rPr>
                        <m:t>/</m:t>
                      </m:r>
                      <m:d>
                        <m:dPr>
                          <m:ctrlPr>
                            <a:rPr lang="en-IN" sz="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IN" sz="60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IN" sz="60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IN" sz="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sz="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60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IN" sz="60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rad>
                        </m:e>
                      </m:d>
                    </m:oMath>
                  </m:oMathPara>
                </a14:m>
                <a:endParaRPr lang="en-IN" sz="600" dirty="0"/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1AE46865-FE5B-AB4A-ACA7-17E6005AA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883" y="555649"/>
                <a:ext cx="1243342" cy="91628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4110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BB8BC-6C52-D64C-9222-3BFFBD60A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505" y="104702"/>
            <a:ext cx="4327694" cy="6072261"/>
          </a:xfrm>
        </p:spPr>
        <p:txBody>
          <a:bodyPr>
            <a:normAutofit fontScale="92500" lnSpcReduction="10000"/>
          </a:bodyPr>
          <a:lstStyle/>
          <a:p>
            <a:r>
              <a:rPr lang="cy-GB" sz="1600" dirty="0"/>
              <a:t># Prediction Interval --------------- Reference: https://online.stat.psu.edu/stat501/lesson/3/3.3</a:t>
            </a:r>
          </a:p>
          <a:p>
            <a:r>
              <a:rPr lang="cy-GB" sz="1600" dirty="0"/>
              <a:t>x=data["Advertising Expense"]</a:t>
            </a:r>
          </a:p>
          <a:p>
            <a:r>
              <a:rPr lang="cy-GB" sz="1600" dirty="0"/>
              <a:t>x_mean=data["Advertising Expense"].mean()</a:t>
            </a:r>
          </a:p>
          <a:p>
            <a:r>
              <a:rPr lang="cy-GB" sz="1600" dirty="0"/>
              <a:t>y=data["Revenue - Total"]</a:t>
            </a:r>
          </a:p>
          <a:p>
            <a:r>
              <a:rPr lang="cy-GB" sz="1600" dirty="0"/>
              <a:t>n=data["Advertising Expense"].count()</a:t>
            </a:r>
          </a:p>
          <a:p>
            <a:br>
              <a:rPr lang="cy-GB" sz="1600" dirty="0"/>
            </a:br>
            <a:r>
              <a:rPr lang="cy-GB" sz="1600" dirty="0"/>
              <a:t>#calculate standard error of the mean </a:t>
            </a:r>
          </a:p>
          <a:p>
            <a:r>
              <a:rPr lang="cy-GB" sz="1600" dirty="0"/>
              <a:t>s=st.sem(y)</a:t>
            </a:r>
          </a:p>
          <a:p>
            <a:r>
              <a:rPr lang="cy-GB" sz="1600" dirty="0"/>
              <a:t>SSx=sum((x-x_mean)**2)</a:t>
            </a:r>
          </a:p>
          <a:p>
            <a:r>
              <a:rPr lang="cy-GB" sz="1600" dirty="0"/>
              <a:t>t</a:t>
            </a:r>
            <a:r>
              <a:rPr lang="el-GR" sz="1600" dirty="0"/>
              <a:t>α</a:t>
            </a:r>
            <a:r>
              <a:rPr lang="cy-GB" sz="1600" dirty="0"/>
              <a:t>by2 =2.069</a:t>
            </a:r>
          </a:p>
          <a:p>
            <a:r>
              <a:rPr lang="el-GR" sz="1600" dirty="0"/>
              <a:t>α = 0.025 #95% </a:t>
            </a:r>
            <a:r>
              <a:rPr lang="cy-GB" sz="1600" dirty="0"/>
              <a:t>prediction interval</a:t>
            </a:r>
          </a:p>
          <a:p>
            <a:r>
              <a:rPr lang="cy-GB" sz="1600" dirty="0"/>
              <a:t>df=n-1</a:t>
            </a:r>
          </a:p>
          <a:p>
            <a:r>
              <a:rPr lang="cy-GB" sz="1600" dirty="0"/>
              <a:t>x1=1500</a:t>
            </a:r>
          </a:p>
          <a:p>
            <a:r>
              <a:rPr lang="el-GR" sz="1600" dirty="0"/>
              <a:t>β0=</a:t>
            </a:r>
            <a:r>
              <a:rPr lang="cy-GB" sz="1600" dirty="0"/>
              <a:t>intercept</a:t>
            </a:r>
          </a:p>
          <a:p>
            <a:r>
              <a:rPr lang="el-GR" sz="1600" dirty="0"/>
              <a:t>β1=</a:t>
            </a:r>
            <a:r>
              <a:rPr lang="cy-GB" sz="1600" dirty="0"/>
              <a:t>slope</a:t>
            </a:r>
          </a:p>
          <a:p>
            <a:r>
              <a:rPr lang="cy-GB" sz="1600" dirty="0"/>
              <a:t>ŷ=round((</a:t>
            </a:r>
            <a:r>
              <a:rPr lang="el-GR" sz="1600" dirty="0"/>
              <a:t>β0+β1*</a:t>
            </a:r>
            <a:r>
              <a:rPr lang="cy-GB" sz="1600" dirty="0"/>
              <a:t>x1),2)</a:t>
            </a:r>
          </a:p>
          <a:p>
            <a:r>
              <a:rPr lang="cy-GB" sz="1600" dirty="0"/>
              <a:t>u_interval=ŷ+(t</a:t>
            </a:r>
            <a:r>
              <a:rPr lang="el-GR" sz="1600" dirty="0"/>
              <a:t>α</a:t>
            </a:r>
            <a:r>
              <a:rPr lang="cy-GB" sz="1600" dirty="0"/>
              <a:t>by2*s*math.sqrt(1+(1/n)+((x1-x_mean)**2)/SSx))</a:t>
            </a:r>
          </a:p>
          <a:p>
            <a:r>
              <a:rPr lang="cy-GB" sz="1600" dirty="0"/>
              <a:t>l_interval=ŷ-(t</a:t>
            </a:r>
            <a:r>
              <a:rPr lang="el-GR" sz="1600" dirty="0"/>
              <a:t>α</a:t>
            </a:r>
            <a:r>
              <a:rPr lang="cy-GB" sz="1600" dirty="0"/>
              <a:t>by2*s*math.sqrt(1+(1/n)+((x1-x_mean)**2)/SSx))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A5166F2-402B-D542-BA43-17C1E04C72D4}"/>
              </a:ext>
            </a:extLst>
          </p:cNvPr>
          <p:cNvSpPr/>
          <p:nvPr/>
        </p:nvSpPr>
        <p:spPr>
          <a:xfrm>
            <a:off x="5015793" y="2395937"/>
            <a:ext cx="3131930" cy="2066125"/>
          </a:xfrm>
          <a:prstGeom prst="roundRect">
            <a:avLst/>
          </a:prstGeom>
          <a:effectLst>
            <a:softEdge rad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6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183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19922</TotalTime>
  <Words>270</Words>
  <Application>Microsoft Macintosh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Deepkamal Singh</dc:creator>
  <cp:lastModifiedBy>Deepkamal Singh</cp:lastModifiedBy>
  <cp:revision>15</cp:revision>
  <dcterms:created xsi:type="dcterms:W3CDTF">2021-04-01T16:23:04Z</dcterms:created>
  <dcterms:modified xsi:type="dcterms:W3CDTF">2021-04-20T13:53:33Z</dcterms:modified>
</cp:coreProperties>
</file>