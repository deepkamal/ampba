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71" r:id="rId4"/>
    <p:sldId id="272" r:id="rId5"/>
    <p:sldId id="277" r:id="rId6"/>
    <p:sldId id="278" r:id="rId7"/>
    <p:sldId id="273" r:id="rId8"/>
    <p:sldId id="280" r:id="rId9"/>
    <p:sldId id="279" r:id="rId10"/>
    <p:sldId id="291" r:id="rId11"/>
    <p:sldId id="269" r:id="rId12"/>
    <p:sldId id="258" r:id="rId13"/>
    <p:sldId id="276" r:id="rId14"/>
    <p:sldId id="260" r:id="rId15"/>
    <p:sldId id="261" r:id="rId16"/>
    <p:sldId id="262" r:id="rId17"/>
    <p:sldId id="263" r:id="rId18"/>
    <p:sldId id="264" r:id="rId19"/>
    <p:sldId id="265" r:id="rId20"/>
    <p:sldId id="266" r:id="rId21"/>
    <p:sldId id="267" r:id="rId22"/>
    <p:sldId id="268" r:id="rId23"/>
    <p:sldId id="283" r:id="rId24"/>
    <p:sldId id="284" r:id="rId25"/>
    <p:sldId id="285" r:id="rId26"/>
    <p:sldId id="286" r:id="rId27"/>
    <p:sldId id="287" r:id="rId28"/>
    <p:sldId id="288" r:id="rId29"/>
    <p:sldId id="289" r:id="rId30"/>
    <p:sldId id="290" r:id="rId31"/>
    <p:sldId id="270" r:id="rId32"/>
    <p:sldId id="281" r:id="rId33"/>
    <p:sldId id="282" r:id="rId34"/>
  </p:sldIdLst>
  <p:sldSz cx="12192000" cy="6858000"/>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805"/>
    <p:restoredTop sz="94694"/>
  </p:normalViewPr>
  <p:slideViewPr>
    <p:cSldViewPr snapToGrid="0" snapToObjects="1">
      <p:cViewPr varScale="1">
        <p:scale>
          <a:sx n="104" d="100"/>
          <a:sy n="104" d="100"/>
        </p:scale>
        <p:origin x="560" y="2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9-08-18T09:13:23.541"/>
    </inkml:context>
    <inkml:brush xml:id="br0">
      <inkml:brushProperty name="width" value="0.05" units="cm"/>
      <inkml:brushProperty name="height" value="0.05" units="cm"/>
    </inkml:brush>
  </inkml:definitions>
  <inkml:trace contextRef="#ctx0" brushRef="#br0">1 1 24575,'46'0'0,"34"42"0,13-6 0,-38-1 0,0 5 0,-3 1 0,-2 0 0,22 21 0,-27-22 0,-2-2 0,6 5 0,-1-3 0,-11-12 0,-2 0 0,3 4 0,-9-4 0,2-3 0,-9-2 0,-9-11 0,7 9 0,-8-14 0,3 3 0,-4-5 0,4 1 0,-3 5 0,19 9 0,-10-5 0,7 6 0,-11-9 0,-6-1 0,5 0 0,6 9 0,-3-6 0,14 36 0,5-1 0,-8 0 0,6-1 0,-18-35 0,-4 5 0,4 1 0,-7-6 0,25 22 0,-19-13 0,18 8 0,-18-7 0,0-6 0,0 0 0,4 4 0,-9-9 0,9 4 0,13 11 0,-6-11 0,6 10 0,-10-13 0,-4-1 0,35 31 0,-27-17 0,32 29 0,-29-23 0,3 1 0,3-9 0,9 14 0,-6-12 0,2 4 0,7 6 0,24 20 0,1 0 0,-28-19 0,1-1-309,31 19 0,-8-3 309,-27-13 0,29 9 0,-20-8 0,7 8 0,-4-4 0,-3-5 0,0 0-382,6 2 0,5 3 1,-9-5 381,12 15 0,-18-21 0,1 14 0,-2 4 0,5 1-371,-3-2 1,1 1 370,14 12 280,-9-8 0,3 4-280,-6-7 0,-2-1 0,1 0 0,-4-4 1134,6 2-1134,-47-40 0,3-3 0,-3 4 810,11 8-810,15 13 0,4 6 0,3 2 0,20 12 0,-16-8 0,1-1 0,15 11 0,-4 2 0,7 7 0,-12-17 0,1 1 0,-15-11 0,2 2 0,11 9 0,5 4 0,-7-5 0,16 17 0,-18-17 0,-5-5 0,-16-16 0,-5-5 0,-3-3 0,-6-10 0,-8-1 0,1-10 0,-12 4 0,7-9 0,-7 9 0,7-9 0,-7 9 0,8-9 0,4 13 0,13 14 0,30 26 0,-4 0 0,20 17 0,-13-18 0,3 10 0,-8 8 0,7-6 0,-7 7 0,-5-15 0,2 1 0,18 15 0,-2-2 0,-2-1 0,-5-3 0,3-10 0,-3-2 0,-14-3 0,34 28 0,-48-45 0,7 16 0,-23-28 0,4-1 0,-9-2 0,3-3 0,2 15 0,7 0 0,7 9 0,27 10 0,-16-11 0,32 22 0,-39-29 0,20 11 0,-35-21 0,9 3 0,-12-5 0,5 0 0,27 15 0,-19-4 0,42 17 0,-43-18 0,16 8 0,-23-21 0,-5 7 0,2-13 0,-3 3 0,5-4 0,-1 0 0,1 0 0,1 0 0,-1 0 0,6 0 0,0 0 0,6 0 0,-5 5 0,9 6 0,-13 1 0,7 3 0,-9-9 0,-1-1 0,1-1 0,-1-2 0,0 2 0,0-4 0,0 0 0,1 0 0,0 5 0,12-4 0,-9 4 0,8 0 0,-11-4 0,15 9 0,-11-9 0,34 9 0,-33-9 0,29 4 0,-32-5 0,18 0 0,-14 4 0,5-3 0,-7 8 0,1-3 0,-3 5 0,12 0 0,-11 0 0,6 0 0,-14 0 0,-1-1 0,-5 0 0,5 0 0,-4 0 0,3-1 0,-4 1 0,0 0 0,4-1 0,1-4 0,5-1 0,-1-4 0,2 0 0,6 6 0,2-4 0,17 13 0,-14-12 0,16 6 0,-25-9 0,6 0 0,3 0 0,-9 0 0,9 0 0,-11 0 0,0 0 0,0 0 0,0 0 0,21 0 0,-9 0 0,11 0 0,-9 0 0,-13 0 0,25 0 0,-10-5 0,5 4 0,-2-10 0,-13 10 0,9-11 0,22 5 0,-16-7 0,50-6 0,-48 11 0,48-21 0,-50 20 0,58-29 0,-54 22 0,28-6 0,1-1 0,-24 6 0,20-6 0,-2 1 0,-25 7 0,41-21 0,-45 27 0,37-24 0,-35 23 0,26-15 0,-21 12 0,9-1 0,-9 0 0,7 0 0,-7 1 0,9-2 0,0 8 0,23-12 0,-26 11 0,32-16 0,-45 11 0,45-17 0,-32 7 0,17 0 0,2-1 0,-4-1 0,8 1 0,-2 2 0,-19 6 0,31-4 0,-43 9 0,3 5 0,-11-1 0,-3-3 0,-10 5 0,14-5 0,-6-1 0,58-5 0,-47 0 0,51-9 0,-50-9 0,6 3 0,9-1 0,1 4 0,0 5 0,16-7 0,1 0 0,-10 1 0,6 1 0,-5 2 0,-35 14 0,12-4 0,-21 10 0,3-7 0,-5 12 0,18-30 0,-5 14 0,14-13 0,0 0 0,-8 15 0,2-8 0,-8 12 0,-11 1 0,16-1 0,-7 0 0,50-22 0,-26 8 0,4 5 0,0-1 0,2-9 0,13 3 0,0-2 0,-12-5 0,7 4 0,-5 1 0,-31 10 0,12 2 0,-20 8 0,-3 8 0,16-2 0,-8-2 0,20 4 0,9-10 0,-9 5 0,23-5 0,-40 5 0,21-3 0,-35 5 0,6-6 0,-15-4 0,0 3 0,0-4 0,0 5 0,0 0 0,0 1 0,0 0 0,0 0 0,-4 4 0,-2 2 0,-4 4 0,-1 0 0,-10 14 0,8-5 0,-26 29 0,24-22 0,-32 29 0,25-28 0,-25 22 0,25-24 0,-13 13 0,22-15 0,-12 6 0,-11 9 0,0-6 0,-13 14 0,5-11 0,9-5 0,-43 12 0,32-15 0,-13 4 0,0-1 0,11-2 0,-19 3 0,-3 1 0,9 5 0,-2-6 0,-15 3 0,10-1 0,20-2 0,1 0-464,-44 13 1,2-3 463,15-4 0,-8 1 0,12-11 0,10 2 0,-1 1 0,-22 3 0,2 4 0,1-1 0,10-6 0,-2 4 0,2 0 0,13-4 0,-17 5 0,-4-1 0,-7-3 0,23-3 0,-10 3 0,8-3 0,12-6 0,3 1-346,-31 13 1,3 0 345,4-6 0,-10 7 0,13-2 0,4-4 0,0 1 0,-9 8 0,-7-3 0,3-1 0,22-8 447,5-1 0,2 0-447,9-2 0,-7 3 0,28-11 724,5 7-724,9-6 0,-8 11 0,7-7 0,-21 10 0,7-3 0,-27 17 0,9-5 0,-38 31 0,34-28 0,-6 2 0,0-1 0,12-4 0,-13 0 0,0-1 0,16-7 0,-41 15 0,51-30 0,-10 8 0,22-15 0,1 4 0,1-5 0,-1 0 0,1 0 0,1 0 0,-1 0 0,1 0 0,0 0 0,-1 0 0,1 0 0,-7 0 0,5 0 0,-6 0 0,-5 0 0,7 0 0,-14 0 0,-11 0 0,8 0 0,-38 0 0,37 0 0,-33 0 0,35 0 0,-28 0 0,28 0 0,-17 0 0,21 0 0,-33-12 0,26 9 0,-57-26 0,62 19 0,-31-18 0,48 20 0,1-7 0,6 10 0,5-11 0,0 5 0,0-16 0,0 13 0,0-15 0,0 16 0,0-5 0,10 7 0,-3 4 0,9 2 0,6 5 0,-1 0 0,13 0 0,-14 0 0,11 0 0,-18 0 0,23 0 0,-22 0 0,22 0 0,-23 0 0,8 0 0,-11 0 0,0 0 0,-5 5 0,3-4 0,-7 9 0,8-8 0,-3 2 0,4 1 0,1-3 0,0 7 0,-1-7 0,1 2 0,-1-4 0,1 5 0,20 1 0,12 13 0,2-5 0,34 18 0,-46-16 0,35 15 0,-46-23 0,22 3 0,-22-11 0,17 0 0,-19 0 0,0 0 0,-18 0 0,-30-7 0,-17-7 0,-16-3 0,3-5 0,0 1 0,18 5 0,-6-4 0,8 1 0,-4-1 0,1-1 0,-37-18 0,33 13 0,-44-16 0,29 6 0,8 7 0,-4-1 0,-5-14 0,18 23 0,1-10 0,2 0 0,15 13 0,-17-22 0,31 27 0,1 2 0,4 1 0,-3 9 0,8-9 0,-8 9 0,3-8 0,-5 3 0,1-4 0,-13-7 0,9 4 0,-19-14 0,19 13 0,-29-23 0,26 15 0,-16-11 0,21 19 0,5 0 0,-2 13 0,8-7 0,-8 6 0,3-6 0,-5 7 0,6-8 0,-12 8 0,9-9 0,-19-6 0,18 2 0,-28-36 0,32 32 0,-22-21 0,26 23 0,-9 8 0,9-7 0,-9 14 0,9 0 0,-3 11 0,4 1 0,0-1 0,0-5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19-08-18T09:13:46.773"/>
    </inkml:context>
    <inkml:brush xml:id="br0">
      <inkml:brushProperty name="width" value="0.05" units="cm"/>
      <inkml:brushProperty name="height" value="0.05" units="cm"/>
      <inkml:brushProperty name="color" value="#E71224"/>
    </inkml:brush>
  </inkml:definitions>
  <inkml:trace contextRef="#ctx0" brushRef="#br0">1 2946 24575,'48'-23'0,"0"0"0,12-4 0,5-5 0,0-4 0,4-6 0,2-1-1684,6 2 0,1-1 0,7-5 1684,-10 4 0,6-4 0,3-3 0,-2 1 0,-5 3-1068,-4 3 0,-5 3 0,1 0 1,5-3 1067,5-3 0,8-3 0,1-1 0,-4 2 0,-10 4 0,0-4 0,-8 4 0,1 1 377,8 1 1,3 1 0,5-5-378,-12 2 0,7-5 0,1-2 0,-1 1 0,-5 6 0,14-2 0,-6 4 0,6-5-549,-14 3 1,6-6-1,2-2 1,-4 3-1,-8 7 549,-1 4 0,-7 6 0,5-6 0,-3-1 0,7-5 0,1-3 0,-1 2 0,-7 4 0,8-3 0,-7 4 0,5-2 0,4-1 0,6-3 0,-2 1 0,-10 4 253,6-7 1,-7 7-254,-8 12 0,1 0 1854,25-22 0,1-3-1854,-9 10 0,-4 3 0,-14 4 0,-5 3 0,20-9 194,-67 42 1,-1 2 0,-5 3 0</inkml:trace>
  <inkml:trace contextRef="#ctx0" brushRef="#br0" timeOffset="1354">1454 3320 24575,'83'-34'0,"-33"19"0,10-3 0,2-7 0,13-7 0,6-4 0,1 0 0,-6 3-2458,-4 1 0,-3 3 1,0 0-1,8-4 2340,-4 3 1,4-3-1,3-1 1,4-1-1,4 0 1,3-1 117,-10 6 0,5-2 0,5-1 0,2 0 0,1 0 0,-1 1 0,-3 0 0,-5 2 0,-6 2-509,15-6 0,-9 3 0,-3 1 0,3-1 0,10-2 509,-17 7 0,7-2 0,5 0 0,3-2 0,0 1 0,-1 0 0,-2 0 0,-6 1 0,-7 2 0,15-7 0,-6 0 0,-4 1 0,-6 3 0,-2 3 603,8 0 1,-7 5 0,9-4-604,4-6 0,14-5 0,2-3 0,-8 4 0,-17 7 0,-7 6 0,-4 0 0,1-4 0,12-6 0,-3 1 0,-15 6 0,19-8 0,-25 1 0,-3 3 0,-4 9 0,2-11 0,-24 23 4007,-10 2-4007,0 0 6547,-1 4-6547,2-4 0,-9 6 0,-5 0 0</inkml:trace>
  <inkml:trace contextRef="#ctx0" brushRef="#br0" timeOffset="2605">3569 4682 24575,'79'0'0,"-5"-15"0,16-10 0,-1 1 0,-9 7 0,-1 0 0,8-2-1967,-6 0 1,10-2 0,2-1 0,0 0 0,-7 1 1836,-3 2 0,-5 0 1,0 1-1,2 0 130,14-3 0,3 0 0,1 1 0,-1 0 0,-1 2 0,1 0 0,0 1 0,-2-1 0,-4-2 0,-2 0 0,2-1 0,4 2 0,-16 5 0,4 1 0,3 1 0,0-1 0,-3 0 0,-3-2 0,18-7 0,-5-1 0,-1-2 0,3 2 0,-12 5 0,1 1 0,2 0 0,-1-2 0,-2-3-277,2-5 0,1-4 0,-2-1 0,-4 0 0,-7 3 277,0 1 0,-7 2 0,9-6 0,1-3 0,14-7 0,5-5 0,-1 1 0,-9 3 0,-16 7 0,4-3 0,-3-2 0,-8 4 0,13-9 0,8-4 0,-2 0 0,-8 5 0,-16 8 1036,-3 3 1,-3 0-1037,26-18 0,12-7 0,-17 11 0,-7 4 0,-17 12 0,-7 6 0,-22 18 4564,11-7-4564,-15 14 5098,25-9-5098,-18-3 0,0 5 0,-10-4 0</inkml:trace>
  <inkml:trace contextRef="#ctx0" brushRef="#br0" timeOffset="5150">7227 6465 24575,'63'-19'0,"-11"-10"0,9-10 0,1 2 0,4 6 0,1 3 0,5-5-908,-2-4 1,3-5-1,3-1 1,2 3 907,5 1 0,3 3 0,0 1 0,-4 1-1238,5-2 0,-4 2 0,3-2 1238,-7 1 0,3-1 0,0 0 0,-6 4 0,-4 3 0,-3 4 0,-1-3 93,0-3 1,0-3-1,5-3-93,6-1 0,6-3 0,1-1 0,-5 3 0,-3-1 0,-4 3 0,10-7 0,-5 3 0,11-7 0,6-4 0,-1 1 0,-7 3 0,-12 7 0,-4 2 0,-10 6 0,9-5 0,1-1 0,12-6 0,5-4 0,-1 1 0,-8 3 0,-15 7 0,5-8 0,-3 2 0,3 2 0,12-6 0,-1 1 0,-13 6 0,-8-1 0,-1 2 0,23-9 0,11-4 0,-12 8 0,-25 13 0,-3 4 0,29-16 0,-8 5 0,-19 8 0,-33 17 343,21-6 1,-33 14 0,11 1 0</inkml:trace>
  <inkml:trace contextRef="#ctx0" brushRef="#br0" timeOffset="6416">9768 7377 24575,'43'-33'0,"1"0"0,11-2 0,11-4 0,4-2 0,-3 0 0,11-12 0,-2-2 0,9-2-1171,-10 11 1,5-1-1,5-2 1,5-1 0,3-2 1170,-15 9 0,5-3 0,3-1 0,3-1 0,-1 0 0,0 1 0,-4 1 0,-4 3 0,1-1 0,-5 3 0,-2 1 0,0 0 0,4-2 0,7-3 0,-10 6 0,6-3 0,5-3 0,3-1 0,1 0 0,-1 0 0,-2 1 0,-5 2 0,-6 4 0,-9 3-777,23-13 0,-12 6 0,-4 2 0,3-1 777,10-4 0,3-1 0,-2 2 0,-6 1 12,4-1 0,-6 1 0,-9 6-12,-13 6 0,-2 2 0,31-13 0,-9 2 0,-29 8 2118,-18 22-2118,5-12 4118,-18 11-4118,1 4 2688,-3-7-2688,-6 14 0,8-16 0,-11 14 0,4-9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8-18T09:14:43.602"/>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6441 3680,'-96'0,"45"-12,-1-2,2 7,0-3,-8-17,-1-3,5 14,-8-3,-14-13,-16-10,-3-3,8 4,2 2,5 2,-7-5,7 2,-7-4,-3-3,-1 0,2-1,0 0,0-2,0 1,2-1,5 3,2-1,4 2,1 0,-4-2,1 2,-2-1,-2-2,1 2,3 1,-6-3,2 2,3 0,2 2,-6-6,4 1,-4-1,11 6,-3-1,-2-1,1 1,-4-1,-2-1,2 1,7 4,8 3,6 4,-9-4,-10-4,-14-6,-4-2,6 4,14 7,-3-2,-2 1,14 6,-15-6,-7-4,1 0,7 3,14 8,-9-7,2-1,4 2,-13-7,-5-3,6 2,16 6,3-2,4-1,-16-9,-9-7,10 4,13 0,7 3,1 11,4 0,13 1,4 4,-10-4,19 12,0 1,11 19,6 49,7-21,1 30,3-36</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19-08-18T09:14:45.436"/>
    </inkml:context>
    <inkml:brush xml:id="br0">
      <inkml:brushProperty name="width" value="0.3" units="cm"/>
      <inkml:brushProperty name="height" value="0.6" units="cm"/>
      <inkml:brushProperty name="color" value="#FFFC00"/>
      <inkml:brushProperty name="tip" value="rectangle"/>
      <inkml:brushProperty name="rasterOp" value="maskPen"/>
    </inkml:brush>
  </inkml:definitions>
  <inkml:trace contextRef="#ctx0" brushRef="#br0">5124 2345,'-95'0,"22"-8,-2-6,3-5,-2-2,10 4,-4 1,-5-6,-2-5,-6-5,-1-2,3 3,-7 0,3 1,-5-3,5-1,-5-4,0 0,5 2,-5-3,4 3,1-3,-5-4,0-1,0 0,2 5,1 1,-1-2,18 4,0-2,0 0,0 1,-2 4,0 0,-1 1,3 0,-17-12,2 0,2 1,8 8,1 1,1-1,-1-2,0-1,6 4,3 4,-1 0,-8-8,-6-5,9 6,18 14,1 0,-34-20,-7-7,17 7,-1-4,4 3,-4 2,1-1,-3-3,-5-6,14 8,-10-12,-1 9,35 20,1 3,-13 2,-8-3,46 25,12 4,1 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C8438-24F0-EC4F-B840-CD01EFD32C91}"/>
              </a:ext>
            </a:extLst>
          </p:cNvPr>
          <p:cNvSpPr>
            <a:spLocks noGrp="1"/>
          </p:cNvSpPr>
          <p:nvPr>
            <p:ph type="ctrTitle"/>
          </p:nvPr>
        </p:nvSpPr>
        <p:spPr>
          <a:xfrm>
            <a:off x="1524000" y="1122363"/>
            <a:ext cx="9144000" cy="2387600"/>
          </a:xfrm>
        </p:spPr>
        <p:txBody>
          <a:bodyPr anchor="b"/>
          <a:lstStyle>
            <a:lvl1pPr algn="ctr">
              <a:defRPr sz="6000" baseline="0">
                <a:solidFill>
                  <a:srgbClr val="C00000"/>
                </a:solidFill>
                <a:latin typeface="Arial" panose="020B0604020202020204" pitchFamily="34" charset="0"/>
                <a:cs typeface="Arial" panose="020B0604020202020204" pitchFamily="34" charset="0"/>
              </a:defRPr>
            </a:lvl1pPr>
          </a:lstStyle>
          <a:p>
            <a:r>
              <a:rPr lang="en-GB" dirty="0"/>
              <a:t>Click to edit Master title style</a:t>
            </a:r>
            <a:endParaRPr lang="en-US" dirty="0"/>
          </a:p>
        </p:txBody>
      </p:sp>
      <p:sp>
        <p:nvSpPr>
          <p:cNvPr id="3" name="Subtitle 2">
            <a:extLst>
              <a:ext uri="{FF2B5EF4-FFF2-40B4-BE49-F238E27FC236}">
                <a16:creationId xmlns:a16="http://schemas.microsoft.com/office/drawing/2014/main" id="{9D073BF1-AE75-0849-BCA3-4F4C15B6FDB5}"/>
              </a:ext>
            </a:extLst>
          </p:cNvPr>
          <p:cNvSpPr>
            <a:spLocks noGrp="1"/>
          </p:cNvSpPr>
          <p:nvPr>
            <p:ph type="subTitle" idx="1"/>
          </p:nvPr>
        </p:nvSpPr>
        <p:spPr>
          <a:xfrm>
            <a:off x="1524000" y="3602038"/>
            <a:ext cx="9144000" cy="1655762"/>
          </a:xfrm>
        </p:spPr>
        <p:txBody>
          <a:bodyPr/>
          <a:lstStyle>
            <a:lvl1pPr marL="0" indent="0" algn="ctr">
              <a:buNone/>
              <a:defRPr sz="2400" baseline="0">
                <a:solidFill>
                  <a:srgbClr val="C00000"/>
                </a:solidFill>
                <a:latin typeface="Arial" panose="020B0604020202020204" pitchFamily="34" charset="0"/>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dirty="0"/>
              <a:t>Click to edit Master subtitle style</a:t>
            </a:r>
            <a:endParaRPr lang="en-US" dirty="0"/>
          </a:p>
        </p:txBody>
      </p:sp>
      <p:sp>
        <p:nvSpPr>
          <p:cNvPr id="4" name="Date Placeholder 3">
            <a:extLst>
              <a:ext uri="{FF2B5EF4-FFF2-40B4-BE49-F238E27FC236}">
                <a16:creationId xmlns:a16="http://schemas.microsoft.com/office/drawing/2014/main" id="{830C0300-2A1C-254B-9F83-D6CF7784050B}"/>
              </a:ext>
            </a:extLst>
          </p:cNvPr>
          <p:cNvSpPr>
            <a:spLocks noGrp="1"/>
          </p:cNvSpPr>
          <p:nvPr>
            <p:ph type="dt" sz="half" idx="10"/>
          </p:nvPr>
        </p:nvSpPr>
        <p:spPr/>
        <p:txBody>
          <a:bodyPr/>
          <a:lstStyle/>
          <a:p>
            <a:fld id="{DA0DEA1A-5A96-3840-81C1-6AB523504B20}" type="datetimeFigureOut">
              <a:rPr lang="en-US" smtClean="0"/>
              <a:t>3/27/21</a:t>
            </a:fld>
            <a:endParaRPr lang="en-US"/>
          </a:p>
        </p:txBody>
      </p:sp>
      <p:sp>
        <p:nvSpPr>
          <p:cNvPr id="5" name="Footer Placeholder 4">
            <a:extLst>
              <a:ext uri="{FF2B5EF4-FFF2-40B4-BE49-F238E27FC236}">
                <a16:creationId xmlns:a16="http://schemas.microsoft.com/office/drawing/2014/main" id="{9CE1CADD-4088-8748-A423-717FF7E451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575A09-88F0-0E4C-9AF2-2758D9FE63C0}"/>
              </a:ext>
            </a:extLst>
          </p:cNvPr>
          <p:cNvSpPr>
            <a:spLocks noGrp="1"/>
          </p:cNvSpPr>
          <p:nvPr>
            <p:ph type="sldNum" sz="quarter" idx="12"/>
          </p:nvPr>
        </p:nvSpPr>
        <p:spPr/>
        <p:txBody>
          <a:bodyPr/>
          <a:lstStyle/>
          <a:p>
            <a:fld id="{11C8E06C-3633-034D-83DC-ADCDEE513C09}" type="slidenum">
              <a:rPr lang="en-US" smtClean="0"/>
              <a:t>‹#›</a:t>
            </a:fld>
            <a:endParaRPr lang="en-US"/>
          </a:p>
        </p:txBody>
      </p:sp>
    </p:spTree>
    <p:extLst>
      <p:ext uri="{BB962C8B-B14F-4D97-AF65-F5344CB8AC3E}">
        <p14:creationId xmlns:p14="http://schemas.microsoft.com/office/powerpoint/2010/main" val="18719994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E43FC7-EDCE-B94F-9367-C2DECA199BC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322A3C9A-826E-194F-BC33-B0134366436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46A4EFA-9641-CC48-8049-B2BF6D2D3A9E}"/>
              </a:ext>
            </a:extLst>
          </p:cNvPr>
          <p:cNvSpPr>
            <a:spLocks noGrp="1"/>
          </p:cNvSpPr>
          <p:nvPr>
            <p:ph type="dt" sz="half" idx="10"/>
          </p:nvPr>
        </p:nvSpPr>
        <p:spPr/>
        <p:txBody>
          <a:bodyPr/>
          <a:lstStyle/>
          <a:p>
            <a:fld id="{DA0DEA1A-5A96-3840-81C1-6AB523504B20}" type="datetimeFigureOut">
              <a:rPr lang="en-US" smtClean="0"/>
              <a:t>3/27/21</a:t>
            </a:fld>
            <a:endParaRPr lang="en-US"/>
          </a:p>
        </p:txBody>
      </p:sp>
      <p:sp>
        <p:nvSpPr>
          <p:cNvPr id="5" name="Footer Placeholder 4">
            <a:extLst>
              <a:ext uri="{FF2B5EF4-FFF2-40B4-BE49-F238E27FC236}">
                <a16:creationId xmlns:a16="http://schemas.microsoft.com/office/drawing/2014/main" id="{FC75081E-1B9A-9747-9C8B-B5D00397C59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0ABE8B3-1590-A94F-A80E-1DA59591ECC5}"/>
              </a:ext>
            </a:extLst>
          </p:cNvPr>
          <p:cNvSpPr>
            <a:spLocks noGrp="1"/>
          </p:cNvSpPr>
          <p:nvPr>
            <p:ph type="sldNum" sz="quarter" idx="12"/>
          </p:nvPr>
        </p:nvSpPr>
        <p:spPr/>
        <p:txBody>
          <a:bodyPr/>
          <a:lstStyle/>
          <a:p>
            <a:fld id="{11C8E06C-3633-034D-83DC-ADCDEE513C09}" type="slidenum">
              <a:rPr lang="en-US" smtClean="0"/>
              <a:t>‹#›</a:t>
            </a:fld>
            <a:endParaRPr lang="en-US"/>
          </a:p>
        </p:txBody>
      </p:sp>
    </p:spTree>
    <p:extLst>
      <p:ext uri="{BB962C8B-B14F-4D97-AF65-F5344CB8AC3E}">
        <p14:creationId xmlns:p14="http://schemas.microsoft.com/office/powerpoint/2010/main" val="42498785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1E20E8-807B-834C-AEFF-DBAD52964AB5}"/>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21685DCE-91A6-B346-89D7-67AB5C3D5F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4DB30167-1B0F-1B45-A526-23EE16A02724}"/>
              </a:ext>
            </a:extLst>
          </p:cNvPr>
          <p:cNvSpPr>
            <a:spLocks noGrp="1"/>
          </p:cNvSpPr>
          <p:nvPr>
            <p:ph type="dt" sz="half" idx="10"/>
          </p:nvPr>
        </p:nvSpPr>
        <p:spPr/>
        <p:txBody>
          <a:bodyPr/>
          <a:lstStyle/>
          <a:p>
            <a:fld id="{DA0DEA1A-5A96-3840-81C1-6AB523504B20}" type="datetimeFigureOut">
              <a:rPr lang="en-US" smtClean="0"/>
              <a:t>3/27/21</a:t>
            </a:fld>
            <a:endParaRPr lang="en-US"/>
          </a:p>
        </p:txBody>
      </p:sp>
      <p:sp>
        <p:nvSpPr>
          <p:cNvPr id="5" name="Footer Placeholder 4">
            <a:extLst>
              <a:ext uri="{FF2B5EF4-FFF2-40B4-BE49-F238E27FC236}">
                <a16:creationId xmlns:a16="http://schemas.microsoft.com/office/drawing/2014/main" id="{BE557EE2-22BF-2E45-9458-511AC97C914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C16B0D-D7F4-0348-9DA1-BE030139F5EE}"/>
              </a:ext>
            </a:extLst>
          </p:cNvPr>
          <p:cNvSpPr>
            <a:spLocks noGrp="1"/>
          </p:cNvSpPr>
          <p:nvPr>
            <p:ph type="sldNum" sz="quarter" idx="12"/>
          </p:nvPr>
        </p:nvSpPr>
        <p:spPr/>
        <p:txBody>
          <a:bodyPr/>
          <a:lstStyle/>
          <a:p>
            <a:fld id="{11C8E06C-3633-034D-83DC-ADCDEE513C09}" type="slidenum">
              <a:rPr lang="en-US" smtClean="0"/>
              <a:t>‹#›</a:t>
            </a:fld>
            <a:endParaRPr lang="en-US"/>
          </a:p>
        </p:txBody>
      </p:sp>
    </p:spTree>
    <p:extLst>
      <p:ext uri="{BB962C8B-B14F-4D97-AF65-F5344CB8AC3E}">
        <p14:creationId xmlns:p14="http://schemas.microsoft.com/office/powerpoint/2010/main" val="14929047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CFF21A-9256-6345-8A7C-AFE64427B741}"/>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DF655054-9FAA-634A-8301-62DF20C535A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A50AE1FA-9D14-774A-BE03-94259935CBCA}"/>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A8B4C5E0-25E8-534A-AE79-2B21C6807D56}"/>
              </a:ext>
            </a:extLst>
          </p:cNvPr>
          <p:cNvSpPr>
            <a:spLocks noGrp="1"/>
          </p:cNvSpPr>
          <p:nvPr>
            <p:ph type="dt" sz="half" idx="10"/>
          </p:nvPr>
        </p:nvSpPr>
        <p:spPr/>
        <p:txBody>
          <a:bodyPr/>
          <a:lstStyle/>
          <a:p>
            <a:fld id="{DA0DEA1A-5A96-3840-81C1-6AB523504B20}" type="datetimeFigureOut">
              <a:rPr lang="en-US" smtClean="0"/>
              <a:t>3/27/21</a:t>
            </a:fld>
            <a:endParaRPr lang="en-US"/>
          </a:p>
        </p:txBody>
      </p:sp>
      <p:sp>
        <p:nvSpPr>
          <p:cNvPr id="6" name="Footer Placeholder 5">
            <a:extLst>
              <a:ext uri="{FF2B5EF4-FFF2-40B4-BE49-F238E27FC236}">
                <a16:creationId xmlns:a16="http://schemas.microsoft.com/office/drawing/2014/main" id="{B03FE23F-72DE-9D44-8B49-32F861D150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72A0B19-1873-5640-B963-B9656492CA13}"/>
              </a:ext>
            </a:extLst>
          </p:cNvPr>
          <p:cNvSpPr>
            <a:spLocks noGrp="1"/>
          </p:cNvSpPr>
          <p:nvPr>
            <p:ph type="sldNum" sz="quarter" idx="12"/>
          </p:nvPr>
        </p:nvSpPr>
        <p:spPr/>
        <p:txBody>
          <a:bodyPr/>
          <a:lstStyle/>
          <a:p>
            <a:fld id="{11C8E06C-3633-034D-83DC-ADCDEE513C09}" type="slidenum">
              <a:rPr lang="en-US" smtClean="0"/>
              <a:t>‹#›</a:t>
            </a:fld>
            <a:endParaRPr lang="en-US"/>
          </a:p>
        </p:txBody>
      </p:sp>
    </p:spTree>
    <p:extLst>
      <p:ext uri="{BB962C8B-B14F-4D97-AF65-F5344CB8AC3E}">
        <p14:creationId xmlns:p14="http://schemas.microsoft.com/office/powerpoint/2010/main" val="317746471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E1C06A-3DB0-A349-A3A5-E049AAC53753}"/>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AE3E87BC-BBE5-0140-A07E-88A29E0259A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F9D43434-AD6E-814B-A7EC-7B6B2A9F62F7}"/>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84572FA6-BA06-0F49-9991-79DF2BC8632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C9851983-7EA7-0845-A065-1C2A011E46CE}"/>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9D0DFE34-A4FD-794E-AB4D-FAEACA3609B6}"/>
              </a:ext>
            </a:extLst>
          </p:cNvPr>
          <p:cNvSpPr>
            <a:spLocks noGrp="1"/>
          </p:cNvSpPr>
          <p:nvPr>
            <p:ph type="dt" sz="half" idx="10"/>
          </p:nvPr>
        </p:nvSpPr>
        <p:spPr/>
        <p:txBody>
          <a:bodyPr/>
          <a:lstStyle/>
          <a:p>
            <a:fld id="{DA0DEA1A-5A96-3840-81C1-6AB523504B20}" type="datetimeFigureOut">
              <a:rPr lang="en-US" smtClean="0"/>
              <a:t>3/27/21</a:t>
            </a:fld>
            <a:endParaRPr lang="en-US"/>
          </a:p>
        </p:txBody>
      </p:sp>
      <p:sp>
        <p:nvSpPr>
          <p:cNvPr id="8" name="Footer Placeholder 7">
            <a:extLst>
              <a:ext uri="{FF2B5EF4-FFF2-40B4-BE49-F238E27FC236}">
                <a16:creationId xmlns:a16="http://schemas.microsoft.com/office/drawing/2014/main" id="{1988BA5F-D169-9446-8BE4-0324077220F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4BD7217-3254-8047-83B0-1C21B4E26BA2}"/>
              </a:ext>
            </a:extLst>
          </p:cNvPr>
          <p:cNvSpPr>
            <a:spLocks noGrp="1"/>
          </p:cNvSpPr>
          <p:nvPr>
            <p:ph type="sldNum" sz="quarter" idx="12"/>
          </p:nvPr>
        </p:nvSpPr>
        <p:spPr/>
        <p:txBody>
          <a:bodyPr/>
          <a:lstStyle/>
          <a:p>
            <a:fld id="{11C8E06C-3633-034D-83DC-ADCDEE513C09}" type="slidenum">
              <a:rPr lang="en-US" smtClean="0"/>
              <a:t>‹#›</a:t>
            </a:fld>
            <a:endParaRPr lang="en-US"/>
          </a:p>
        </p:txBody>
      </p:sp>
    </p:spTree>
    <p:extLst>
      <p:ext uri="{BB962C8B-B14F-4D97-AF65-F5344CB8AC3E}">
        <p14:creationId xmlns:p14="http://schemas.microsoft.com/office/powerpoint/2010/main" val="23406081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AF41E8-FD53-B042-AF21-C085FB343090}"/>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46604B44-0456-1F4A-A88A-163BB0244563}"/>
              </a:ext>
            </a:extLst>
          </p:cNvPr>
          <p:cNvSpPr>
            <a:spLocks noGrp="1"/>
          </p:cNvSpPr>
          <p:nvPr>
            <p:ph type="dt" sz="half" idx="10"/>
          </p:nvPr>
        </p:nvSpPr>
        <p:spPr/>
        <p:txBody>
          <a:bodyPr/>
          <a:lstStyle/>
          <a:p>
            <a:fld id="{DA0DEA1A-5A96-3840-81C1-6AB523504B20}" type="datetimeFigureOut">
              <a:rPr lang="en-US" smtClean="0"/>
              <a:t>3/27/21</a:t>
            </a:fld>
            <a:endParaRPr lang="en-US"/>
          </a:p>
        </p:txBody>
      </p:sp>
      <p:sp>
        <p:nvSpPr>
          <p:cNvPr id="4" name="Footer Placeholder 3">
            <a:extLst>
              <a:ext uri="{FF2B5EF4-FFF2-40B4-BE49-F238E27FC236}">
                <a16:creationId xmlns:a16="http://schemas.microsoft.com/office/drawing/2014/main" id="{10538E7F-1B4F-9542-92AA-C55DF95CFEE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8FF2FA8-8936-1943-82BB-826F6619D4FF}"/>
              </a:ext>
            </a:extLst>
          </p:cNvPr>
          <p:cNvSpPr>
            <a:spLocks noGrp="1"/>
          </p:cNvSpPr>
          <p:nvPr>
            <p:ph type="sldNum" sz="quarter" idx="12"/>
          </p:nvPr>
        </p:nvSpPr>
        <p:spPr/>
        <p:txBody>
          <a:bodyPr/>
          <a:lstStyle/>
          <a:p>
            <a:fld id="{11C8E06C-3633-034D-83DC-ADCDEE513C09}" type="slidenum">
              <a:rPr lang="en-US" smtClean="0"/>
              <a:t>‹#›</a:t>
            </a:fld>
            <a:endParaRPr lang="en-US"/>
          </a:p>
        </p:txBody>
      </p:sp>
    </p:spTree>
    <p:extLst>
      <p:ext uri="{BB962C8B-B14F-4D97-AF65-F5344CB8AC3E}">
        <p14:creationId xmlns:p14="http://schemas.microsoft.com/office/powerpoint/2010/main" val="32255990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B81947E-CF7A-7D42-825C-6DF99AC4C1DA}"/>
              </a:ext>
            </a:extLst>
          </p:cNvPr>
          <p:cNvSpPr>
            <a:spLocks noGrp="1"/>
          </p:cNvSpPr>
          <p:nvPr>
            <p:ph type="dt" sz="half" idx="10"/>
          </p:nvPr>
        </p:nvSpPr>
        <p:spPr/>
        <p:txBody>
          <a:bodyPr/>
          <a:lstStyle/>
          <a:p>
            <a:fld id="{DA0DEA1A-5A96-3840-81C1-6AB523504B20}" type="datetimeFigureOut">
              <a:rPr lang="en-US" smtClean="0"/>
              <a:t>3/27/21</a:t>
            </a:fld>
            <a:endParaRPr lang="en-US"/>
          </a:p>
        </p:txBody>
      </p:sp>
      <p:sp>
        <p:nvSpPr>
          <p:cNvPr id="3" name="Footer Placeholder 2">
            <a:extLst>
              <a:ext uri="{FF2B5EF4-FFF2-40B4-BE49-F238E27FC236}">
                <a16:creationId xmlns:a16="http://schemas.microsoft.com/office/drawing/2014/main" id="{33C2E638-0418-4742-AD34-E4CDE9597D1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6BBE9F1-C719-624C-A770-4237E7BE0585}"/>
              </a:ext>
            </a:extLst>
          </p:cNvPr>
          <p:cNvSpPr>
            <a:spLocks noGrp="1"/>
          </p:cNvSpPr>
          <p:nvPr>
            <p:ph type="sldNum" sz="quarter" idx="12"/>
          </p:nvPr>
        </p:nvSpPr>
        <p:spPr/>
        <p:txBody>
          <a:bodyPr/>
          <a:lstStyle/>
          <a:p>
            <a:fld id="{11C8E06C-3633-034D-83DC-ADCDEE513C09}" type="slidenum">
              <a:rPr lang="en-US" smtClean="0"/>
              <a:t>‹#›</a:t>
            </a:fld>
            <a:endParaRPr lang="en-US"/>
          </a:p>
        </p:txBody>
      </p:sp>
    </p:spTree>
    <p:extLst>
      <p:ext uri="{BB962C8B-B14F-4D97-AF65-F5344CB8AC3E}">
        <p14:creationId xmlns:p14="http://schemas.microsoft.com/office/powerpoint/2010/main" val="40068088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E4E1F-9822-024F-8668-E5D126C5936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C0D3C081-FB81-7D49-86CA-5E95E64799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CF2B21EB-2D1C-1043-8EC9-A57237C80F3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ACA3DE75-245D-8243-8BEB-5BDD2283C1CB}"/>
              </a:ext>
            </a:extLst>
          </p:cNvPr>
          <p:cNvSpPr>
            <a:spLocks noGrp="1"/>
          </p:cNvSpPr>
          <p:nvPr>
            <p:ph type="dt" sz="half" idx="10"/>
          </p:nvPr>
        </p:nvSpPr>
        <p:spPr/>
        <p:txBody>
          <a:bodyPr/>
          <a:lstStyle/>
          <a:p>
            <a:fld id="{DA0DEA1A-5A96-3840-81C1-6AB523504B20}" type="datetimeFigureOut">
              <a:rPr lang="en-US" smtClean="0"/>
              <a:t>3/27/21</a:t>
            </a:fld>
            <a:endParaRPr lang="en-US"/>
          </a:p>
        </p:txBody>
      </p:sp>
      <p:sp>
        <p:nvSpPr>
          <p:cNvPr id="6" name="Footer Placeholder 5">
            <a:extLst>
              <a:ext uri="{FF2B5EF4-FFF2-40B4-BE49-F238E27FC236}">
                <a16:creationId xmlns:a16="http://schemas.microsoft.com/office/drawing/2014/main" id="{D7852E1D-E766-1349-B044-8C11F5CAC0F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E12AB85-A275-EB4E-8496-E783DA361C67}"/>
              </a:ext>
            </a:extLst>
          </p:cNvPr>
          <p:cNvSpPr>
            <a:spLocks noGrp="1"/>
          </p:cNvSpPr>
          <p:nvPr>
            <p:ph type="sldNum" sz="quarter" idx="12"/>
          </p:nvPr>
        </p:nvSpPr>
        <p:spPr/>
        <p:txBody>
          <a:bodyPr/>
          <a:lstStyle/>
          <a:p>
            <a:fld id="{11C8E06C-3633-034D-83DC-ADCDEE513C09}" type="slidenum">
              <a:rPr lang="en-US" smtClean="0"/>
              <a:t>‹#›</a:t>
            </a:fld>
            <a:endParaRPr lang="en-US"/>
          </a:p>
        </p:txBody>
      </p:sp>
    </p:spTree>
    <p:extLst>
      <p:ext uri="{BB962C8B-B14F-4D97-AF65-F5344CB8AC3E}">
        <p14:creationId xmlns:p14="http://schemas.microsoft.com/office/powerpoint/2010/main" val="28778790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BA54B5-018C-E745-AD23-C84030F4FD0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7258147B-4423-0F49-BC1A-DC027F54B30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ACA140-9625-A545-BC75-FA81283C24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9411CF1F-E747-DE4E-94CD-B6B691EC4102}"/>
              </a:ext>
            </a:extLst>
          </p:cNvPr>
          <p:cNvSpPr>
            <a:spLocks noGrp="1"/>
          </p:cNvSpPr>
          <p:nvPr>
            <p:ph type="dt" sz="half" idx="10"/>
          </p:nvPr>
        </p:nvSpPr>
        <p:spPr/>
        <p:txBody>
          <a:bodyPr/>
          <a:lstStyle/>
          <a:p>
            <a:fld id="{DA0DEA1A-5A96-3840-81C1-6AB523504B20}" type="datetimeFigureOut">
              <a:rPr lang="en-US" smtClean="0"/>
              <a:t>3/27/21</a:t>
            </a:fld>
            <a:endParaRPr lang="en-US"/>
          </a:p>
        </p:txBody>
      </p:sp>
      <p:sp>
        <p:nvSpPr>
          <p:cNvPr id="6" name="Footer Placeholder 5">
            <a:extLst>
              <a:ext uri="{FF2B5EF4-FFF2-40B4-BE49-F238E27FC236}">
                <a16:creationId xmlns:a16="http://schemas.microsoft.com/office/drawing/2014/main" id="{D4ADB3A8-0B9A-2746-8293-F22755F6AE9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0D7B76A-1078-7A45-BC60-9D75EE067E6B}"/>
              </a:ext>
            </a:extLst>
          </p:cNvPr>
          <p:cNvSpPr>
            <a:spLocks noGrp="1"/>
          </p:cNvSpPr>
          <p:nvPr>
            <p:ph type="sldNum" sz="quarter" idx="12"/>
          </p:nvPr>
        </p:nvSpPr>
        <p:spPr/>
        <p:txBody>
          <a:bodyPr/>
          <a:lstStyle/>
          <a:p>
            <a:fld id="{11C8E06C-3633-034D-83DC-ADCDEE513C09}" type="slidenum">
              <a:rPr lang="en-US" smtClean="0"/>
              <a:t>‹#›</a:t>
            </a:fld>
            <a:endParaRPr lang="en-US"/>
          </a:p>
        </p:txBody>
      </p:sp>
    </p:spTree>
    <p:extLst>
      <p:ext uri="{BB962C8B-B14F-4D97-AF65-F5344CB8AC3E}">
        <p14:creationId xmlns:p14="http://schemas.microsoft.com/office/powerpoint/2010/main" val="152273306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9D38BB-037B-374D-8251-B719ECBD4A9D}"/>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D8B7F555-5695-2C4E-B5F8-D032CCE53418}"/>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BCD404F-272C-8B4C-8630-8A8308E05190}"/>
              </a:ext>
            </a:extLst>
          </p:cNvPr>
          <p:cNvSpPr>
            <a:spLocks noGrp="1"/>
          </p:cNvSpPr>
          <p:nvPr>
            <p:ph type="dt" sz="half" idx="10"/>
          </p:nvPr>
        </p:nvSpPr>
        <p:spPr/>
        <p:txBody>
          <a:bodyPr/>
          <a:lstStyle/>
          <a:p>
            <a:fld id="{DA0DEA1A-5A96-3840-81C1-6AB523504B20}" type="datetimeFigureOut">
              <a:rPr lang="en-US" smtClean="0"/>
              <a:t>3/27/21</a:t>
            </a:fld>
            <a:endParaRPr lang="en-US"/>
          </a:p>
        </p:txBody>
      </p:sp>
      <p:sp>
        <p:nvSpPr>
          <p:cNvPr id="5" name="Footer Placeholder 4">
            <a:extLst>
              <a:ext uri="{FF2B5EF4-FFF2-40B4-BE49-F238E27FC236}">
                <a16:creationId xmlns:a16="http://schemas.microsoft.com/office/drawing/2014/main" id="{6E98D6F3-1A47-0B46-A817-00C621D129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4D4CF1-E5A4-CA47-992E-2A7DB447AAA8}"/>
              </a:ext>
            </a:extLst>
          </p:cNvPr>
          <p:cNvSpPr>
            <a:spLocks noGrp="1"/>
          </p:cNvSpPr>
          <p:nvPr>
            <p:ph type="sldNum" sz="quarter" idx="12"/>
          </p:nvPr>
        </p:nvSpPr>
        <p:spPr/>
        <p:txBody>
          <a:bodyPr/>
          <a:lstStyle/>
          <a:p>
            <a:fld id="{11C8E06C-3633-034D-83DC-ADCDEE513C09}" type="slidenum">
              <a:rPr lang="en-US" smtClean="0"/>
              <a:t>‹#›</a:t>
            </a:fld>
            <a:endParaRPr lang="en-US"/>
          </a:p>
        </p:txBody>
      </p:sp>
    </p:spTree>
    <p:extLst>
      <p:ext uri="{BB962C8B-B14F-4D97-AF65-F5344CB8AC3E}">
        <p14:creationId xmlns:p14="http://schemas.microsoft.com/office/powerpoint/2010/main" val="17662998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669C062-CE3B-C843-B5FC-11C0EF582664}"/>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95C6B59D-2BAE-0944-972D-4D2BCF29A5C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20E4CB1F-C468-BC49-8F66-9C4EC2276AB2}"/>
              </a:ext>
            </a:extLst>
          </p:cNvPr>
          <p:cNvSpPr>
            <a:spLocks noGrp="1"/>
          </p:cNvSpPr>
          <p:nvPr>
            <p:ph type="dt" sz="half" idx="10"/>
          </p:nvPr>
        </p:nvSpPr>
        <p:spPr/>
        <p:txBody>
          <a:bodyPr/>
          <a:lstStyle/>
          <a:p>
            <a:fld id="{DA0DEA1A-5A96-3840-81C1-6AB523504B20}" type="datetimeFigureOut">
              <a:rPr lang="en-US" smtClean="0"/>
              <a:t>3/27/21</a:t>
            </a:fld>
            <a:endParaRPr lang="en-US"/>
          </a:p>
        </p:txBody>
      </p:sp>
      <p:sp>
        <p:nvSpPr>
          <p:cNvPr id="5" name="Footer Placeholder 4">
            <a:extLst>
              <a:ext uri="{FF2B5EF4-FFF2-40B4-BE49-F238E27FC236}">
                <a16:creationId xmlns:a16="http://schemas.microsoft.com/office/drawing/2014/main" id="{C5BE1FEF-5C95-B94B-A5D6-F927768925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9305D9F-BA8D-9249-ABF1-A97771284582}"/>
              </a:ext>
            </a:extLst>
          </p:cNvPr>
          <p:cNvSpPr>
            <a:spLocks noGrp="1"/>
          </p:cNvSpPr>
          <p:nvPr>
            <p:ph type="sldNum" sz="quarter" idx="12"/>
          </p:nvPr>
        </p:nvSpPr>
        <p:spPr/>
        <p:txBody>
          <a:bodyPr/>
          <a:lstStyle/>
          <a:p>
            <a:fld id="{11C8E06C-3633-034D-83DC-ADCDEE513C09}" type="slidenum">
              <a:rPr lang="en-US" smtClean="0"/>
              <a:t>‹#›</a:t>
            </a:fld>
            <a:endParaRPr lang="en-US"/>
          </a:p>
        </p:txBody>
      </p:sp>
    </p:spTree>
    <p:extLst>
      <p:ext uri="{BB962C8B-B14F-4D97-AF65-F5344CB8AC3E}">
        <p14:creationId xmlns:p14="http://schemas.microsoft.com/office/powerpoint/2010/main" val="992633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8B49FF9-7EAB-AC44-AD98-C1C96E4E5C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dirty="0"/>
              <a:t>Click to edit Master title style</a:t>
            </a:r>
            <a:endParaRPr lang="en-US" dirty="0"/>
          </a:p>
        </p:txBody>
      </p:sp>
      <p:sp>
        <p:nvSpPr>
          <p:cNvPr id="3" name="Text Placeholder 2">
            <a:extLst>
              <a:ext uri="{FF2B5EF4-FFF2-40B4-BE49-F238E27FC236}">
                <a16:creationId xmlns:a16="http://schemas.microsoft.com/office/drawing/2014/main" id="{EFB24CC9-2C84-C343-9F2F-CA99F66BB76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4" name="Date Placeholder 3">
            <a:extLst>
              <a:ext uri="{FF2B5EF4-FFF2-40B4-BE49-F238E27FC236}">
                <a16:creationId xmlns:a16="http://schemas.microsoft.com/office/drawing/2014/main" id="{BB944A1E-26E6-7843-A86D-105A9716B29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A0DEA1A-5A96-3840-81C1-6AB523504B20}" type="datetimeFigureOut">
              <a:rPr lang="en-US" smtClean="0"/>
              <a:t>3/27/21</a:t>
            </a:fld>
            <a:endParaRPr lang="en-US"/>
          </a:p>
        </p:txBody>
      </p:sp>
      <p:sp>
        <p:nvSpPr>
          <p:cNvPr id="5" name="Footer Placeholder 4">
            <a:extLst>
              <a:ext uri="{FF2B5EF4-FFF2-40B4-BE49-F238E27FC236}">
                <a16:creationId xmlns:a16="http://schemas.microsoft.com/office/drawing/2014/main" id="{9753B4DA-4D8C-324F-BC44-45F05C6D745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F065A8A2-CCDC-184E-B059-EE25C9DB231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1C8E06C-3633-034D-83DC-ADCDEE513C09}" type="slidenum">
              <a:rPr lang="en-US" smtClean="0"/>
              <a:t>‹#›</a:t>
            </a:fld>
            <a:endParaRPr lang="en-US"/>
          </a:p>
        </p:txBody>
      </p:sp>
    </p:spTree>
    <p:extLst>
      <p:ext uri="{BB962C8B-B14F-4D97-AF65-F5344CB8AC3E}">
        <p14:creationId xmlns:p14="http://schemas.microsoft.com/office/powerpoint/2010/main" val="32265773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rgbClr val="C00000"/>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8" Type="http://schemas.openxmlformats.org/officeDocument/2006/relationships/customXml" Target="../ink/ink4.xml"/><Relationship Id="rId3" Type="http://schemas.openxmlformats.org/officeDocument/2006/relationships/image" Target="../media/image1.png"/><Relationship Id="rId7" Type="http://schemas.openxmlformats.org/officeDocument/2006/relationships/image" Target="../media/image3.png"/><Relationship Id="rId2" Type="http://schemas.openxmlformats.org/officeDocument/2006/relationships/customXml" Target="../ink/ink1.xml"/><Relationship Id="rId1" Type="http://schemas.openxmlformats.org/officeDocument/2006/relationships/slideLayout" Target="../slideLayouts/slideLayout2.xml"/><Relationship Id="rId6" Type="http://schemas.openxmlformats.org/officeDocument/2006/relationships/customXml" Target="../ink/ink3.xml"/><Relationship Id="rId5" Type="http://schemas.openxmlformats.org/officeDocument/2006/relationships/image" Target="../media/image2.png"/><Relationship Id="rId4" Type="http://schemas.openxmlformats.org/officeDocument/2006/relationships/customXml" Target="../ink/ink2.xml"/><Relationship Id="rId9"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C815D-DB89-7044-AF80-F75CFF7B95A6}"/>
              </a:ext>
            </a:extLst>
          </p:cNvPr>
          <p:cNvSpPr>
            <a:spLocks noGrp="1"/>
          </p:cNvSpPr>
          <p:nvPr>
            <p:ph type="ctrTitle"/>
          </p:nvPr>
        </p:nvSpPr>
        <p:spPr/>
        <p:txBody>
          <a:bodyPr>
            <a:normAutofit/>
          </a:bodyPr>
          <a:lstStyle/>
          <a:p>
            <a:r>
              <a:rPr lang="en-US" sz="4800" dirty="0"/>
              <a:t>Optimization : Tutorial-1</a:t>
            </a:r>
          </a:p>
        </p:txBody>
      </p:sp>
      <p:sp>
        <p:nvSpPr>
          <p:cNvPr id="3" name="Subtitle 2">
            <a:extLst>
              <a:ext uri="{FF2B5EF4-FFF2-40B4-BE49-F238E27FC236}">
                <a16:creationId xmlns:a16="http://schemas.microsoft.com/office/drawing/2014/main" id="{8ABD2EA1-DE08-E44B-96DA-581F288EC710}"/>
              </a:ext>
            </a:extLst>
          </p:cNvPr>
          <p:cNvSpPr>
            <a:spLocks noGrp="1"/>
          </p:cNvSpPr>
          <p:nvPr>
            <p:ph type="subTitle" idx="1"/>
          </p:nvPr>
        </p:nvSpPr>
        <p:spPr>
          <a:xfrm>
            <a:off x="1524000" y="4079875"/>
            <a:ext cx="9144000" cy="1655762"/>
          </a:xfrm>
        </p:spPr>
        <p:txBody>
          <a:bodyPr/>
          <a:lstStyle/>
          <a:p>
            <a:r>
              <a:rPr lang="en-US" dirty="0"/>
              <a:t>Abhishek Rishabh</a:t>
            </a:r>
          </a:p>
          <a:p>
            <a:r>
              <a:rPr lang="en-US" dirty="0"/>
              <a:t>March 2021</a:t>
            </a:r>
          </a:p>
          <a:p>
            <a:r>
              <a:rPr lang="en-US" dirty="0"/>
              <a:t>ISB</a:t>
            </a:r>
          </a:p>
        </p:txBody>
      </p:sp>
    </p:spTree>
    <p:extLst>
      <p:ext uri="{BB962C8B-B14F-4D97-AF65-F5344CB8AC3E}">
        <p14:creationId xmlns:p14="http://schemas.microsoft.com/office/powerpoint/2010/main" val="1564273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D9B2-E2E2-CA40-BEE4-C5FD5E7A538F}"/>
              </a:ext>
            </a:extLst>
          </p:cNvPr>
          <p:cNvSpPr>
            <a:spLocks noGrp="1"/>
          </p:cNvSpPr>
          <p:nvPr>
            <p:ph type="title"/>
          </p:nvPr>
        </p:nvSpPr>
        <p:spPr/>
        <p:txBody>
          <a:bodyPr/>
          <a:lstStyle/>
          <a:p>
            <a:r>
              <a:rPr lang="en-US" dirty="0"/>
              <a:t>Contents for Today</a:t>
            </a:r>
          </a:p>
        </p:txBody>
      </p:sp>
      <p:sp>
        <p:nvSpPr>
          <p:cNvPr id="3" name="Content Placeholder 2">
            <a:extLst>
              <a:ext uri="{FF2B5EF4-FFF2-40B4-BE49-F238E27FC236}">
                <a16:creationId xmlns:a16="http://schemas.microsoft.com/office/drawing/2014/main" id="{EEBB8932-B204-0B40-987B-BC03197C4901}"/>
              </a:ext>
            </a:extLst>
          </p:cNvPr>
          <p:cNvSpPr>
            <a:spLocks noGrp="1"/>
          </p:cNvSpPr>
          <p:nvPr>
            <p:ph idx="1"/>
          </p:nvPr>
        </p:nvSpPr>
        <p:spPr/>
        <p:txBody>
          <a:bodyPr/>
          <a:lstStyle/>
          <a:p>
            <a:pPr>
              <a:lnSpc>
                <a:spcPct val="150000"/>
              </a:lnSpc>
            </a:pPr>
            <a:r>
              <a:rPr lang="en-US" dirty="0"/>
              <a:t>Model Formulation and Graphical solution</a:t>
            </a:r>
          </a:p>
          <a:p>
            <a:pPr lvl="1">
              <a:lnSpc>
                <a:spcPct val="150000"/>
              </a:lnSpc>
            </a:pPr>
            <a:r>
              <a:rPr lang="en-US" dirty="0"/>
              <a:t>Maximization </a:t>
            </a:r>
          </a:p>
          <a:p>
            <a:pPr lvl="1">
              <a:lnSpc>
                <a:spcPct val="150000"/>
              </a:lnSpc>
            </a:pPr>
            <a:r>
              <a:rPr lang="en-US" dirty="0"/>
              <a:t>Minimization</a:t>
            </a:r>
          </a:p>
          <a:p>
            <a:pPr>
              <a:lnSpc>
                <a:spcPct val="150000"/>
              </a:lnSpc>
            </a:pPr>
            <a:r>
              <a:rPr lang="en-US" dirty="0"/>
              <a:t>Excel model setup, solving and interpretation</a:t>
            </a:r>
          </a:p>
          <a:p>
            <a:pPr>
              <a:lnSpc>
                <a:spcPct val="150000"/>
              </a:lnSpc>
            </a:pPr>
            <a:r>
              <a:rPr lang="en-US" dirty="0"/>
              <a:t>Transportation Problem</a:t>
            </a:r>
          </a:p>
        </p:txBody>
      </p:sp>
    </p:spTree>
    <p:extLst>
      <p:ext uri="{BB962C8B-B14F-4D97-AF65-F5344CB8AC3E}">
        <p14:creationId xmlns:p14="http://schemas.microsoft.com/office/powerpoint/2010/main" val="37621540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C815D-DB89-7044-AF80-F75CFF7B95A6}"/>
              </a:ext>
            </a:extLst>
          </p:cNvPr>
          <p:cNvSpPr>
            <a:spLocks noGrp="1"/>
          </p:cNvSpPr>
          <p:nvPr>
            <p:ph type="ctrTitle"/>
          </p:nvPr>
        </p:nvSpPr>
        <p:spPr/>
        <p:txBody>
          <a:bodyPr>
            <a:normAutofit/>
          </a:bodyPr>
          <a:lstStyle/>
          <a:p>
            <a:r>
              <a:rPr lang="en-US" sz="4800" dirty="0"/>
              <a:t>Model Formulation</a:t>
            </a:r>
          </a:p>
        </p:txBody>
      </p:sp>
    </p:spTree>
    <p:extLst>
      <p:ext uri="{BB962C8B-B14F-4D97-AF65-F5344CB8AC3E}">
        <p14:creationId xmlns:p14="http://schemas.microsoft.com/office/powerpoint/2010/main" val="23763130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D9B2-E2E2-CA40-BEE4-C5FD5E7A538F}"/>
              </a:ext>
            </a:extLst>
          </p:cNvPr>
          <p:cNvSpPr>
            <a:spLocks noGrp="1"/>
          </p:cNvSpPr>
          <p:nvPr>
            <p:ph type="title"/>
          </p:nvPr>
        </p:nvSpPr>
        <p:spPr/>
        <p:txBody>
          <a:bodyPr/>
          <a:lstStyle/>
          <a:p>
            <a:r>
              <a:rPr lang="en-US" dirty="0"/>
              <a:t>Exercise 1</a:t>
            </a:r>
          </a:p>
        </p:txBody>
      </p:sp>
      <p:sp>
        <p:nvSpPr>
          <p:cNvPr id="3" name="Content Placeholder 2">
            <a:extLst>
              <a:ext uri="{FF2B5EF4-FFF2-40B4-BE49-F238E27FC236}">
                <a16:creationId xmlns:a16="http://schemas.microsoft.com/office/drawing/2014/main" id="{EEBB8932-B204-0B40-987B-BC03197C4901}"/>
              </a:ext>
            </a:extLst>
          </p:cNvPr>
          <p:cNvSpPr>
            <a:spLocks noGrp="1"/>
          </p:cNvSpPr>
          <p:nvPr>
            <p:ph idx="1"/>
          </p:nvPr>
        </p:nvSpPr>
        <p:spPr/>
        <p:txBody>
          <a:bodyPr>
            <a:noAutofit/>
          </a:bodyPr>
          <a:lstStyle/>
          <a:p>
            <a:pPr>
              <a:lnSpc>
                <a:spcPct val="150000"/>
              </a:lnSpc>
            </a:pPr>
            <a:r>
              <a:rPr lang="en-US" sz="1800" dirty="0"/>
              <a:t>The Apex Television Company has to decide on the number of 27- and 20-inch sets to be produced at one of its factories. Market research indicates that at most 40 of the 27-inch sets and 10 of the 20-inch sets can be sold per month. The maximum number of work-hours available is 500 per month. A 27-inch set requires 20 work-hours and a 20-inch set requires 10 work-hours. Each 27-inch set sold produces a profit of $120 and each 20-inch set produces a profit of $80. A wholesaler has agreed to purchase all the television sets produced if the numbers do not exceed the maxima indicated by the market research.</a:t>
            </a:r>
            <a:endParaRPr lang="en-IN" sz="1800" dirty="0"/>
          </a:p>
          <a:p>
            <a:pPr>
              <a:lnSpc>
                <a:spcPct val="150000"/>
              </a:lnSpc>
            </a:pPr>
            <a:r>
              <a:rPr lang="en-US" sz="1800" dirty="0"/>
              <a:t>(a) Formulate a linear programming model for this problem.</a:t>
            </a:r>
            <a:endParaRPr lang="en-IN" sz="1800" dirty="0"/>
          </a:p>
          <a:p>
            <a:pPr>
              <a:lnSpc>
                <a:spcPct val="150000"/>
              </a:lnSpc>
            </a:pPr>
            <a:r>
              <a:rPr lang="en-US" sz="1800" dirty="0"/>
              <a:t>(b) Use the graphical method to solve this model.</a:t>
            </a:r>
            <a:endParaRPr lang="en-IN" sz="1800" dirty="0"/>
          </a:p>
          <a:p>
            <a:pPr>
              <a:lnSpc>
                <a:spcPct val="150000"/>
              </a:lnSpc>
            </a:pPr>
            <a:endParaRPr lang="en-IN" sz="1800" dirty="0"/>
          </a:p>
        </p:txBody>
      </p:sp>
    </p:spTree>
    <p:extLst>
      <p:ext uri="{BB962C8B-B14F-4D97-AF65-F5344CB8AC3E}">
        <p14:creationId xmlns:p14="http://schemas.microsoft.com/office/powerpoint/2010/main" val="3721403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D9B2-E2E2-CA40-BEE4-C5FD5E7A538F}"/>
              </a:ext>
            </a:extLst>
          </p:cNvPr>
          <p:cNvSpPr>
            <a:spLocks noGrp="1"/>
          </p:cNvSpPr>
          <p:nvPr>
            <p:ph type="title"/>
          </p:nvPr>
        </p:nvSpPr>
        <p:spPr/>
        <p:txBody>
          <a:bodyPr/>
          <a:lstStyle/>
          <a:p>
            <a:r>
              <a:rPr lang="en-US" dirty="0"/>
              <a:t>Exercise 1- solution</a:t>
            </a:r>
          </a:p>
        </p:txBody>
      </p:sp>
      <p:sp>
        <p:nvSpPr>
          <p:cNvPr id="3" name="Content Placeholder 2">
            <a:extLst>
              <a:ext uri="{FF2B5EF4-FFF2-40B4-BE49-F238E27FC236}">
                <a16:creationId xmlns:a16="http://schemas.microsoft.com/office/drawing/2014/main" id="{EEBB8932-B204-0B40-987B-BC03197C4901}"/>
              </a:ext>
            </a:extLst>
          </p:cNvPr>
          <p:cNvSpPr>
            <a:spLocks noGrp="1"/>
          </p:cNvSpPr>
          <p:nvPr>
            <p:ph idx="1"/>
          </p:nvPr>
        </p:nvSpPr>
        <p:spPr/>
        <p:txBody>
          <a:bodyPr>
            <a:noAutofit/>
          </a:bodyPr>
          <a:lstStyle/>
          <a:p>
            <a:pPr>
              <a:lnSpc>
                <a:spcPct val="150000"/>
              </a:lnSpc>
            </a:pPr>
            <a:r>
              <a:rPr lang="en-IN" sz="1800" dirty="0"/>
              <a:t>X1 = no of 27 inch TVs</a:t>
            </a:r>
          </a:p>
          <a:p>
            <a:pPr>
              <a:lnSpc>
                <a:spcPct val="150000"/>
              </a:lnSpc>
            </a:pPr>
            <a:r>
              <a:rPr lang="en-IN" sz="1800" dirty="0"/>
              <a:t>X2 = no of 20 inch TVs</a:t>
            </a:r>
          </a:p>
          <a:p>
            <a:pPr>
              <a:lnSpc>
                <a:spcPct val="150000"/>
              </a:lnSpc>
            </a:pPr>
            <a:r>
              <a:rPr lang="en-IN" sz="1800" dirty="0" err="1"/>
              <a:t>Obj</a:t>
            </a:r>
            <a:r>
              <a:rPr lang="en-IN" sz="1800" dirty="0"/>
              <a:t> function Max Z= 120*X1 + 80*X2</a:t>
            </a:r>
          </a:p>
          <a:p>
            <a:pPr>
              <a:lnSpc>
                <a:spcPct val="150000"/>
              </a:lnSpc>
            </a:pPr>
            <a:r>
              <a:rPr lang="en-IN" sz="1800" dirty="0"/>
              <a:t>X1&lt;=40 and X2&lt;=10</a:t>
            </a:r>
          </a:p>
          <a:p>
            <a:pPr>
              <a:lnSpc>
                <a:spcPct val="150000"/>
              </a:lnSpc>
            </a:pPr>
            <a:r>
              <a:rPr lang="en-IN" sz="1800" dirty="0"/>
              <a:t>20*X1+10*X2&lt;=500 ; X1&gt;=0, X2&gt;=0</a:t>
            </a:r>
          </a:p>
        </p:txBody>
      </p:sp>
    </p:spTree>
    <p:extLst>
      <p:ext uri="{BB962C8B-B14F-4D97-AF65-F5344CB8AC3E}">
        <p14:creationId xmlns:p14="http://schemas.microsoft.com/office/powerpoint/2010/main" val="4436276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D9B2-E2E2-CA40-BEE4-C5FD5E7A538F}"/>
              </a:ext>
            </a:extLst>
          </p:cNvPr>
          <p:cNvSpPr>
            <a:spLocks noGrp="1"/>
          </p:cNvSpPr>
          <p:nvPr>
            <p:ph type="title"/>
          </p:nvPr>
        </p:nvSpPr>
        <p:spPr/>
        <p:txBody>
          <a:bodyPr/>
          <a:lstStyle/>
          <a:p>
            <a:r>
              <a:rPr lang="en-US" dirty="0"/>
              <a:t>Exercise 1- solution</a:t>
            </a:r>
          </a:p>
        </p:txBody>
      </p:sp>
      <p:cxnSp>
        <p:nvCxnSpPr>
          <p:cNvPr id="5" name="Straight Connector 4">
            <a:extLst>
              <a:ext uri="{FF2B5EF4-FFF2-40B4-BE49-F238E27FC236}">
                <a16:creationId xmlns:a16="http://schemas.microsoft.com/office/drawing/2014/main" id="{E7B4D7B0-60B9-E742-B253-60364192FC60}"/>
              </a:ext>
            </a:extLst>
          </p:cNvPr>
          <p:cNvCxnSpPr/>
          <p:nvPr/>
        </p:nvCxnSpPr>
        <p:spPr>
          <a:xfrm>
            <a:off x="2002971" y="1959429"/>
            <a:ext cx="0" cy="354148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6BED812D-493D-5A46-88A2-3FB1B11D2B78}"/>
              </a:ext>
            </a:extLst>
          </p:cNvPr>
          <p:cNvCxnSpPr/>
          <p:nvPr/>
        </p:nvCxnSpPr>
        <p:spPr>
          <a:xfrm>
            <a:off x="2032000" y="5486400"/>
            <a:ext cx="5399314"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3E35CF74-2CCB-624B-A7E0-794715F1C11B}"/>
              </a:ext>
            </a:extLst>
          </p:cNvPr>
          <p:cNvSpPr txBox="1"/>
          <p:nvPr/>
        </p:nvSpPr>
        <p:spPr>
          <a:xfrm>
            <a:off x="711200" y="1690688"/>
            <a:ext cx="943429" cy="369332"/>
          </a:xfrm>
          <a:prstGeom prst="rect">
            <a:avLst/>
          </a:prstGeom>
          <a:noFill/>
        </p:spPr>
        <p:txBody>
          <a:bodyPr wrap="square" rtlCol="0">
            <a:spAutoFit/>
          </a:bodyPr>
          <a:lstStyle/>
          <a:p>
            <a:r>
              <a:rPr lang="en-US" dirty="0"/>
              <a:t>x2</a:t>
            </a:r>
          </a:p>
        </p:txBody>
      </p:sp>
      <p:sp>
        <p:nvSpPr>
          <p:cNvPr id="9" name="TextBox 8">
            <a:extLst>
              <a:ext uri="{FF2B5EF4-FFF2-40B4-BE49-F238E27FC236}">
                <a16:creationId xmlns:a16="http://schemas.microsoft.com/office/drawing/2014/main" id="{ED14C52D-4364-C247-85FF-59845BAA4199}"/>
              </a:ext>
            </a:extLst>
          </p:cNvPr>
          <p:cNvSpPr txBox="1"/>
          <p:nvPr/>
        </p:nvSpPr>
        <p:spPr>
          <a:xfrm>
            <a:off x="6799942" y="5834517"/>
            <a:ext cx="943429" cy="369332"/>
          </a:xfrm>
          <a:prstGeom prst="rect">
            <a:avLst/>
          </a:prstGeom>
          <a:noFill/>
        </p:spPr>
        <p:txBody>
          <a:bodyPr wrap="square" rtlCol="0">
            <a:spAutoFit/>
          </a:bodyPr>
          <a:lstStyle/>
          <a:p>
            <a:r>
              <a:rPr lang="en-US" dirty="0"/>
              <a:t>x1</a:t>
            </a:r>
          </a:p>
        </p:txBody>
      </p:sp>
      <p:cxnSp>
        <p:nvCxnSpPr>
          <p:cNvPr id="11" name="Straight Connector 10">
            <a:extLst>
              <a:ext uri="{FF2B5EF4-FFF2-40B4-BE49-F238E27FC236}">
                <a16:creationId xmlns:a16="http://schemas.microsoft.com/office/drawing/2014/main" id="{EE607DE7-AED9-7B40-B904-08872182C7B9}"/>
              </a:ext>
            </a:extLst>
          </p:cNvPr>
          <p:cNvCxnSpPr/>
          <p:nvPr/>
        </p:nvCxnSpPr>
        <p:spPr>
          <a:xfrm>
            <a:off x="6487886" y="1875354"/>
            <a:ext cx="0" cy="3756189"/>
          </a:xfrm>
          <a:prstGeom prst="line">
            <a:avLst/>
          </a:prstGeom>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8B6AD1DA-9C3F-B24E-B8A0-8E1CCE553E40}"/>
              </a:ext>
            </a:extLst>
          </p:cNvPr>
          <p:cNvSpPr txBox="1"/>
          <p:nvPr/>
        </p:nvSpPr>
        <p:spPr>
          <a:xfrm>
            <a:off x="6255656" y="5609432"/>
            <a:ext cx="1219200" cy="369332"/>
          </a:xfrm>
          <a:prstGeom prst="rect">
            <a:avLst/>
          </a:prstGeom>
          <a:noFill/>
        </p:spPr>
        <p:txBody>
          <a:bodyPr wrap="square" rtlCol="0">
            <a:spAutoFit/>
          </a:bodyPr>
          <a:lstStyle/>
          <a:p>
            <a:r>
              <a:rPr lang="en-US" dirty="0"/>
              <a:t>40</a:t>
            </a:r>
          </a:p>
        </p:txBody>
      </p:sp>
      <p:cxnSp>
        <p:nvCxnSpPr>
          <p:cNvPr id="14" name="Straight Arrow Connector 13">
            <a:extLst>
              <a:ext uri="{FF2B5EF4-FFF2-40B4-BE49-F238E27FC236}">
                <a16:creationId xmlns:a16="http://schemas.microsoft.com/office/drawing/2014/main" id="{412A42AF-09C3-C343-9162-CCB1070D0E31}"/>
              </a:ext>
            </a:extLst>
          </p:cNvPr>
          <p:cNvCxnSpPr/>
          <p:nvPr/>
        </p:nvCxnSpPr>
        <p:spPr>
          <a:xfrm flipH="1">
            <a:off x="5921829" y="1538514"/>
            <a:ext cx="566057"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22D90D67-FCDE-3D47-9387-491C75A43B79}"/>
              </a:ext>
            </a:extLst>
          </p:cNvPr>
          <p:cNvCxnSpPr/>
          <p:nvPr/>
        </p:nvCxnSpPr>
        <p:spPr>
          <a:xfrm>
            <a:off x="2032000" y="4557486"/>
            <a:ext cx="5834743"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A6C8B921-5A52-904F-8079-31CA1E54A75D}"/>
              </a:ext>
            </a:extLst>
          </p:cNvPr>
          <p:cNvSpPr txBox="1"/>
          <p:nvPr/>
        </p:nvSpPr>
        <p:spPr>
          <a:xfrm>
            <a:off x="1445098" y="4387164"/>
            <a:ext cx="1219200" cy="369332"/>
          </a:xfrm>
          <a:prstGeom prst="rect">
            <a:avLst/>
          </a:prstGeom>
          <a:noFill/>
        </p:spPr>
        <p:txBody>
          <a:bodyPr wrap="square" rtlCol="0">
            <a:spAutoFit/>
          </a:bodyPr>
          <a:lstStyle/>
          <a:p>
            <a:r>
              <a:rPr lang="en-US" dirty="0"/>
              <a:t>10</a:t>
            </a:r>
          </a:p>
        </p:txBody>
      </p:sp>
      <p:cxnSp>
        <p:nvCxnSpPr>
          <p:cNvPr id="18" name="Straight Arrow Connector 17">
            <a:extLst>
              <a:ext uri="{FF2B5EF4-FFF2-40B4-BE49-F238E27FC236}">
                <a16:creationId xmlns:a16="http://schemas.microsoft.com/office/drawing/2014/main" id="{ED6154CC-4813-C647-8167-76AA05A43427}"/>
              </a:ext>
            </a:extLst>
          </p:cNvPr>
          <p:cNvCxnSpPr>
            <a:cxnSpLocks/>
          </p:cNvCxnSpPr>
          <p:nvPr/>
        </p:nvCxnSpPr>
        <p:spPr>
          <a:xfrm>
            <a:off x="7329713" y="4571830"/>
            <a:ext cx="1" cy="34108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0" name="Rectangle 19">
            <a:extLst>
              <a:ext uri="{FF2B5EF4-FFF2-40B4-BE49-F238E27FC236}">
                <a16:creationId xmlns:a16="http://schemas.microsoft.com/office/drawing/2014/main" id="{0935F046-2CD1-9C4C-A43C-59BD78F292E0}"/>
              </a:ext>
            </a:extLst>
          </p:cNvPr>
          <p:cNvSpPr/>
          <p:nvPr/>
        </p:nvSpPr>
        <p:spPr>
          <a:xfrm>
            <a:off x="8118893" y="1271061"/>
            <a:ext cx="2055371" cy="923330"/>
          </a:xfrm>
          <a:prstGeom prst="rect">
            <a:avLst/>
          </a:prstGeom>
        </p:spPr>
        <p:txBody>
          <a:bodyPr wrap="none">
            <a:spAutoFit/>
          </a:bodyPr>
          <a:lstStyle/>
          <a:p>
            <a:r>
              <a:rPr lang="en-IN" dirty="0"/>
              <a:t>20*X1+10*X2&lt;=500</a:t>
            </a:r>
          </a:p>
          <a:p>
            <a:endParaRPr lang="en-IN" dirty="0"/>
          </a:p>
          <a:p>
            <a:r>
              <a:rPr lang="en-IN" dirty="0"/>
              <a:t>X1/25+x2/50=1 </a:t>
            </a:r>
            <a:endParaRPr lang="en-US" dirty="0"/>
          </a:p>
        </p:txBody>
      </p:sp>
      <p:cxnSp>
        <p:nvCxnSpPr>
          <p:cNvPr id="22" name="Straight Connector 21">
            <a:extLst>
              <a:ext uri="{FF2B5EF4-FFF2-40B4-BE49-F238E27FC236}">
                <a16:creationId xmlns:a16="http://schemas.microsoft.com/office/drawing/2014/main" id="{DD159127-4DA6-4546-9922-EA1164BB29E5}"/>
              </a:ext>
            </a:extLst>
          </p:cNvPr>
          <p:cNvCxnSpPr/>
          <p:nvPr/>
        </p:nvCxnSpPr>
        <p:spPr>
          <a:xfrm>
            <a:off x="1988457" y="2570089"/>
            <a:ext cx="2930825" cy="2930825"/>
          </a:xfrm>
          <a:prstGeom prst="line">
            <a:avLst/>
          </a:prstGeom>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17CF90F4-D9FE-5147-9620-DAB5269E60BA}"/>
              </a:ext>
            </a:extLst>
          </p:cNvPr>
          <p:cNvSpPr txBox="1"/>
          <p:nvPr/>
        </p:nvSpPr>
        <p:spPr>
          <a:xfrm>
            <a:off x="4624650" y="5609432"/>
            <a:ext cx="1219200" cy="369332"/>
          </a:xfrm>
          <a:prstGeom prst="rect">
            <a:avLst/>
          </a:prstGeom>
          <a:noFill/>
        </p:spPr>
        <p:txBody>
          <a:bodyPr wrap="square" rtlCol="0">
            <a:spAutoFit/>
          </a:bodyPr>
          <a:lstStyle/>
          <a:p>
            <a:r>
              <a:rPr lang="en-US" dirty="0"/>
              <a:t>25</a:t>
            </a:r>
          </a:p>
        </p:txBody>
      </p:sp>
      <p:sp>
        <p:nvSpPr>
          <p:cNvPr id="24" name="TextBox 23">
            <a:extLst>
              <a:ext uri="{FF2B5EF4-FFF2-40B4-BE49-F238E27FC236}">
                <a16:creationId xmlns:a16="http://schemas.microsoft.com/office/drawing/2014/main" id="{EF3B4C2A-45D7-9946-B37A-6328C757352C}"/>
              </a:ext>
            </a:extLst>
          </p:cNvPr>
          <p:cNvSpPr txBox="1"/>
          <p:nvPr/>
        </p:nvSpPr>
        <p:spPr>
          <a:xfrm>
            <a:off x="1416069" y="2434936"/>
            <a:ext cx="615931" cy="369332"/>
          </a:xfrm>
          <a:prstGeom prst="rect">
            <a:avLst/>
          </a:prstGeom>
          <a:noFill/>
        </p:spPr>
        <p:txBody>
          <a:bodyPr wrap="square" rtlCol="0">
            <a:spAutoFit/>
          </a:bodyPr>
          <a:lstStyle/>
          <a:p>
            <a:r>
              <a:rPr lang="en-US" dirty="0"/>
              <a:t>50</a:t>
            </a:r>
          </a:p>
        </p:txBody>
      </p:sp>
      <p:cxnSp>
        <p:nvCxnSpPr>
          <p:cNvPr id="26" name="Straight Connector 25">
            <a:extLst>
              <a:ext uri="{FF2B5EF4-FFF2-40B4-BE49-F238E27FC236}">
                <a16:creationId xmlns:a16="http://schemas.microsoft.com/office/drawing/2014/main" id="{04AAC97A-23E4-3542-B462-26F1C388A11B}"/>
              </a:ext>
            </a:extLst>
          </p:cNvPr>
          <p:cNvCxnSpPr>
            <a:endCxn id="17" idx="3"/>
          </p:cNvCxnSpPr>
          <p:nvPr/>
        </p:nvCxnSpPr>
        <p:spPr>
          <a:xfrm flipV="1">
            <a:off x="2054698" y="4571830"/>
            <a:ext cx="609600" cy="341086"/>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3A76FF92-25B5-6541-9228-E8CCEBE05992}"/>
              </a:ext>
            </a:extLst>
          </p:cNvPr>
          <p:cNvCxnSpPr>
            <a:cxnSpLocks/>
          </p:cNvCxnSpPr>
          <p:nvPr/>
        </p:nvCxnSpPr>
        <p:spPr>
          <a:xfrm flipV="1">
            <a:off x="2054698" y="4571830"/>
            <a:ext cx="1516878" cy="7721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962E15DB-BA8D-A048-9658-4FF500BD1F81}"/>
              </a:ext>
            </a:extLst>
          </p:cNvPr>
          <p:cNvCxnSpPr>
            <a:cxnSpLocks/>
          </p:cNvCxnSpPr>
          <p:nvPr/>
        </p:nvCxnSpPr>
        <p:spPr>
          <a:xfrm flipV="1">
            <a:off x="2589874" y="4697051"/>
            <a:ext cx="1516878" cy="772188"/>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873B674-A05A-5746-BBC6-15DFFF03073B}"/>
              </a:ext>
            </a:extLst>
          </p:cNvPr>
          <p:cNvCxnSpPr>
            <a:cxnSpLocks/>
          </p:cNvCxnSpPr>
          <p:nvPr/>
        </p:nvCxnSpPr>
        <p:spPr>
          <a:xfrm flipV="1">
            <a:off x="3501504" y="5072467"/>
            <a:ext cx="923762" cy="442790"/>
          </a:xfrm>
          <a:prstGeom prst="line">
            <a:avLst/>
          </a:prstGeom>
          <a:ln>
            <a:solidFill>
              <a:srgbClr val="FF0000"/>
            </a:solidFill>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EBFF3026-6708-8347-9DBC-FC54F0B4F682}"/>
              </a:ext>
            </a:extLst>
          </p:cNvPr>
          <p:cNvSpPr txBox="1"/>
          <p:nvPr/>
        </p:nvSpPr>
        <p:spPr>
          <a:xfrm>
            <a:off x="2546331" y="4810755"/>
            <a:ext cx="1025245" cy="369332"/>
          </a:xfrm>
          <a:prstGeom prst="rect">
            <a:avLst/>
          </a:prstGeom>
          <a:noFill/>
        </p:spPr>
        <p:txBody>
          <a:bodyPr wrap="square" rtlCol="0">
            <a:spAutoFit/>
          </a:bodyPr>
          <a:lstStyle/>
          <a:p>
            <a:r>
              <a:rPr lang="en-US" dirty="0"/>
              <a:t>FS</a:t>
            </a:r>
          </a:p>
        </p:txBody>
      </p:sp>
      <p:sp>
        <p:nvSpPr>
          <p:cNvPr id="34" name="Oval 33">
            <a:extLst>
              <a:ext uri="{FF2B5EF4-FFF2-40B4-BE49-F238E27FC236}">
                <a16:creationId xmlns:a16="http://schemas.microsoft.com/office/drawing/2014/main" id="{4A195EEB-E4CD-304C-9DC3-90D1834842AB}"/>
              </a:ext>
            </a:extLst>
          </p:cNvPr>
          <p:cNvSpPr/>
          <p:nvPr/>
        </p:nvSpPr>
        <p:spPr>
          <a:xfrm>
            <a:off x="3948871" y="4499430"/>
            <a:ext cx="143367" cy="1395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6CC85CB1-1BBA-7B48-B7BB-2948D8D238AE}"/>
              </a:ext>
            </a:extLst>
          </p:cNvPr>
          <p:cNvSpPr/>
          <p:nvPr/>
        </p:nvSpPr>
        <p:spPr>
          <a:xfrm>
            <a:off x="4739898" y="5363027"/>
            <a:ext cx="143367" cy="1395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Oval 35">
            <a:extLst>
              <a:ext uri="{FF2B5EF4-FFF2-40B4-BE49-F238E27FC236}">
                <a16:creationId xmlns:a16="http://schemas.microsoft.com/office/drawing/2014/main" id="{8F582AFF-FC17-EF49-9A7A-B6C3AFE63F2F}"/>
              </a:ext>
            </a:extLst>
          </p:cNvPr>
          <p:cNvSpPr/>
          <p:nvPr/>
        </p:nvSpPr>
        <p:spPr>
          <a:xfrm>
            <a:off x="1953157" y="4492176"/>
            <a:ext cx="143367" cy="1395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Oval 36">
            <a:extLst>
              <a:ext uri="{FF2B5EF4-FFF2-40B4-BE49-F238E27FC236}">
                <a16:creationId xmlns:a16="http://schemas.microsoft.com/office/drawing/2014/main" id="{395741EA-D101-2441-8077-89D449CC9CDA}"/>
              </a:ext>
            </a:extLst>
          </p:cNvPr>
          <p:cNvSpPr/>
          <p:nvPr/>
        </p:nvSpPr>
        <p:spPr>
          <a:xfrm>
            <a:off x="1967671" y="5406572"/>
            <a:ext cx="143367" cy="13956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C713973C-72B7-4E4E-939C-E501A6BA8269}"/>
              </a:ext>
            </a:extLst>
          </p:cNvPr>
          <p:cNvSpPr txBox="1"/>
          <p:nvPr/>
        </p:nvSpPr>
        <p:spPr>
          <a:xfrm>
            <a:off x="3993532" y="4120274"/>
            <a:ext cx="1498137" cy="369332"/>
          </a:xfrm>
          <a:prstGeom prst="rect">
            <a:avLst/>
          </a:prstGeom>
          <a:noFill/>
        </p:spPr>
        <p:txBody>
          <a:bodyPr wrap="square" rtlCol="0">
            <a:spAutoFit/>
          </a:bodyPr>
          <a:lstStyle/>
          <a:p>
            <a:r>
              <a:rPr lang="en-US" b="1" dirty="0">
                <a:solidFill>
                  <a:srgbClr val="00B050"/>
                </a:solidFill>
              </a:rPr>
              <a:t>20,10,3200</a:t>
            </a:r>
          </a:p>
        </p:txBody>
      </p:sp>
      <p:sp>
        <p:nvSpPr>
          <p:cNvPr id="39" name="TextBox 38">
            <a:extLst>
              <a:ext uri="{FF2B5EF4-FFF2-40B4-BE49-F238E27FC236}">
                <a16:creationId xmlns:a16="http://schemas.microsoft.com/office/drawing/2014/main" id="{8D03ED8E-08DF-5D48-8D3A-B8EEAB02B1D6}"/>
              </a:ext>
            </a:extLst>
          </p:cNvPr>
          <p:cNvSpPr txBox="1"/>
          <p:nvPr/>
        </p:nvSpPr>
        <p:spPr>
          <a:xfrm>
            <a:off x="4670949" y="4969528"/>
            <a:ext cx="1498137" cy="369332"/>
          </a:xfrm>
          <a:prstGeom prst="rect">
            <a:avLst/>
          </a:prstGeom>
          <a:noFill/>
        </p:spPr>
        <p:txBody>
          <a:bodyPr wrap="square" rtlCol="0">
            <a:spAutoFit/>
          </a:bodyPr>
          <a:lstStyle/>
          <a:p>
            <a:r>
              <a:rPr lang="en-US" b="1" dirty="0"/>
              <a:t>25,0,3000</a:t>
            </a:r>
          </a:p>
        </p:txBody>
      </p:sp>
      <p:sp>
        <p:nvSpPr>
          <p:cNvPr id="40" name="TextBox 39">
            <a:extLst>
              <a:ext uri="{FF2B5EF4-FFF2-40B4-BE49-F238E27FC236}">
                <a16:creationId xmlns:a16="http://schemas.microsoft.com/office/drawing/2014/main" id="{8314FB96-4F1B-604B-9F54-E1B4140FC13C}"/>
              </a:ext>
            </a:extLst>
          </p:cNvPr>
          <p:cNvSpPr txBox="1"/>
          <p:nvPr/>
        </p:nvSpPr>
        <p:spPr>
          <a:xfrm>
            <a:off x="838006" y="4114264"/>
            <a:ext cx="1498137" cy="369332"/>
          </a:xfrm>
          <a:prstGeom prst="rect">
            <a:avLst/>
          </a:prstGeom>
          <a:noFill/>
        </p:spPr>
        <p:txBody>
          <a:bodyPr wrap="square" rtlCol="0">
            <a:spAutoFit/>
          </a:bodyPr>
          <a:lstStyle/>
          <a:p>
            <a:r>
              <a:rPr lang="en-US" b="1" dirty="0"/>
              <a:t>0,10,800</a:t>
            </a:r>
          </a:p>
        </p:txBody>
      </p:sp>
      <p:sp>
        <p:nvSpPr>
          <p:cNvPr id="41" name="TextBox 40">
            <a:extLst>
              <a:ext uri="{FF2B5EF4-FFF2-40B4-BE49-F238E27FC236}">
                <a16:creationId xmlns:a16="http://schemas.microsoft.com/office/drawing/2014/main" id="{33ED09B2-1DBA-064F-AFB8-8076E637C970}"/>
              </a:ext>
            </a:extLst>
          </p:cNvPr>
          <p:cNvSpPr txBox="1"/>
          <p:nvPr/>
        </p:nvSpPr>
        <p:spPr>
          <a:xfrm>
            <a:off x="1091737" y="5630898"/>
            <a:ext cx="1498137" cy="369332"/>
          </a:xfrm>
          <a:prstGeom prst="rect">
            <a:avLst/>
          </a:prstGeom>
          <a:noFill/>
        </p:spPr>
        <p:txBody>
          <a:bodyPr wrap="square" rtlCol="0">
            <a:spAutoFit/>
          </a:bodyPr>
          <a:lstStyle/>
          <a:p>
            <a:r>
              <a:rPr lang="en-US" b="1" dirty="0"/>
              <a:t>0,0,0</a:t>
            </a:r>
          </a:p>
        </p:txBody>
      </p:sp>
    </p:spTree>
    <p:extLst>
      <p:ext uri="{BB962C8B-B14F-4D97-AF65-F5344CB8AC3E}">
        <p14:creationId xmlns:p14="http://schemas.microsoft.com/office/powerpoint/2010/main" val="16778358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4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3"/>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39"/>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38"/>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34"/>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3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35"/>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33"/>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7"/>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29"/>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3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7" grpId="0"/>
      <p:bldP spid="23" grpId="0"/>
      <p:bldP spid="24" grpId="0"/>
      <p:bldP spid="33" grpId="0"/>
      <p:bldP spid="34" grpId="0" animBg="1"/>
      <p:bldP spid="35" grpId="0" animBg="1"/>
      <p:bldP spid="36" grpId="0" animBg="1"/>
      <p:bldP spid="38" grpId="0"/>
      <p:bldP spid="39" grpId="0"/>
      <p:bldP spid="40" grpId="0"/>
      <p:bldP spid="41"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D9B2-E2E2-CA40-BEE4-C5FD5E7A538F}"/>
              </a:ext>
            </a:extLst>
          </p:cNvPr>
          <p:cNvSpPr>
            <a:spLocks noGrp="1"/>
          </p:cNvSpPr>
          <p:nvPr>
            <p:ph type="title"/>
          </p:nvPr>
        </p:nvSpPr>
        <p:spPr/>
        <p:txBody>
          <a:bodyPr/>
          <a:lstStyle/>
          <a:p>
            <a:r>
              <a:rPr lang="en-US" dirty="0"/>
              <a:t>Exercise 2</a:t>
            </a:r>
          </a:p>
        </p:txBody>
      </p:sp>
      <p:sp>
        <p:nvSpPr>
          <p:cNvPr id="3" name="Content Placeholder 2">
            <a:extLst>
              <a:ext uri="{FF2B5EF4-FFF2-40B4-BE49-F238E27FC236}">
                <a16:creationId xmlns:a16="http://schemas.microsoft.com/office/drawing/2014/main" id="{EEBB8932-B204-0B40-987B-BC03197C4901}"/>
              </a:ext>
            </a:extLst>
          </p:cNvPr>
          <p:cNvSpPr>
            <a:spLocks noGrp="1"/>
          </p:cNvSpPr>
          <p:nvPr>
            <p:ph idx="1"/>
          </p:nvPr>
        </p:nvSpPr>
        <p:spPr/>
        <p:txBody>
          <a:bodyPr>
            <a:noAutofit/>
          </a:bodyPr>
          <a:lstStyle/>
          <a:p>
            <a:pPr>
              <a:lnSpc>
                <a:spcPct val="100000"/>
              </a:lnSpc>
            </a:pPr>
            <a:r>
              <a:rPr lang="en-US" sz="1600" dirty="0"/>
              <a:t>Dwight is an elementary school teacher who also raises pigs for supplemental income. He is trying to decide what to feed his pigs. He is considering using a combination of pig feeds available from local suppliers. He would like to feed the pigs at minimum cost while also making sure each pig receives an adequate supply of calories and vitamins. The cost, calorie content, and vitamin content of each feed are given in the table below.</a:t>
            </a:r>
            <a:endParaRPr lang="en-IN" sz="1600" dirty="0"/>
          </a:p>
          <a:p>
            <a:pPr>
              <a:lnSpc>
                <a:spcPct val="100000"/>
              </a:lnSpc>
            </a:pPr>
            <a:endParaRPr lang="en-IN" sz="1600" dirty="0"/>
          </a:p>
          <a:p>
            <a:pPr>
              <a:lnSpc>
                <a:spcPct val="100000"/>
              </a:lnSpc>
            </a:pPr>
            <a:endParaRPr lang="en-IN" sz="1600" dirty="0"/>
          </a:p>
          <a:p>
            <a:pPr>
              <a:lnSpc>
                <a:spcPct val="100000"/>
              </a:lnSpc>
            </a:pPr>
            <a:endParaRPr lang="en-IN" sz="1600" dirty="0"/>
          </a:p>
          <a:p>
            <a:pPr>
              <a:lnSpc>
                <a:spcPct val="100000"/>
              </a:lnSpc>
            </a:pPr>
            <a:endParaRPr lang="en-IN" sz="1600" dirty="0"/>
          </a:p>
          <a:p>
            <a:r>
              <a:rPr lang="en-US" sz="1600" dirty="0"/>
              <a:t>Each pig requires at least 8,000 calories per day and at least 700 units of vitamins. A further constraint is that no more than one-third of the diet (by weight) can consist of Feed Type A, since it contains an ingredient which is toxic if consumed in too large a quantity.</a:t>
            </a:r>
            <a:endParaRPr lang="en-IN" sz="1600" dirty="0"/>
          </a:p>
          <a:p>
            <a:r>
              <a:rPr lang="en-US" sz="1600" dirty="0"/>
              <a:t>(a) Formulate a linear programming model for this problem.</a:t>
            </a:r>
            <a:endParaRPr lang="en-IN" sz="1600" dirty="0"/>
          </a:p>
          <a:p>
            <a:r>
              <a:rPr lang="en-US" sz="1600" dirty="0"/>
              <a:t>(b) Use the graphical method to solve this model. What is the resulting daily cost per pig?</a:t>
            </a:r>
            <a:endParaRPr lang="en-IN" sz="1600" dirty="0"/>
          </a:p>
          <a:p>
            <a:pPr>
              <a:lnSpc>
                <a:spcPct val="100000"/>
              </a:lnSpc>
            </a:pPr>
            <a:endParaRPr lang="en-IN" sz="1600" dirty="0"/>
          </a:p>
        </p:txBody>
      </p:sp>
      <p:graphicFrame>
        <p:nvGraphicFramePr>
          <p:cNvPr id="6" name="Table 5">
            <a:extLst>
              <a:ext uri="{FF2B5EF4-FFF2-40B4-BE49-F238E27FC236}">
                <a16:creationId xmlns:a16="http://schemas.microsoft.com/office/drawing/2014/main" id="{28198BEB-E4BC-2A4F-BD7E-0A66C16AC555}"/>
              </a:ext>
            </a:extLst>
          </p:cNvPr>
          <p:cNvGraphicFramePr>
            <a:graphicFrameLocks noGrp="1"/>
          </p:cNvGraphicFramePr>
          <p:nvPr>
            <p:extLst>
              <p:ext uri="{D42A27DB-BD31-4B8C-83A1-F6EECF244321}">
                <p14:modId xmlns:p14="http://schemas.microsoft.com/office/powerpoint/2010/main" val="2755110251"/>
              </p:ext>
            </p:extLst>
          </p:nvPr>
        </p:nvGraphicFramePr>
        <p:xfrm>
          <a:off x="3410543" y="3068405"/>
          <a:ext cx="4795305" cy="1135460"/>
        </p:xfrm>
        <a:graphic>
          <a:graphicData uri="http://schemas.openxmlformats.org/drawingml/2006/table">
            <a:tbl>
              <a:tblPr>
                <a:tableStyleId>{5C22544A-7EE6-4342-B048-85BDC9FD1C3A}</a:tableStyleId>
              </a:tblPr>
              <a:tblGrid>
                <a:gridCol w="2148716">
                  <a:extLst>
                    <a:ext uri="{9D8B030D-6E8A-4147-A177-3AD203B41FA5}">
                      <a16:colId xmlns:a16="http://schemas.microsoft.com/office/drawing/2014/main" val="134438625"/>
                    </a:ext>
                  </a:extLst>
                </a:gridCol>
                <a:gridCol w="1336396">
                  <a:extLst>
                    <a:ext uri="{9D8B030D-6E8A-4147-A177-3AD203B41FA5}">
                      <a16:colId xmlns:a16="http://schemas.microsoft.com/office/drawing/2014/main" val="702219248"/>
                    </a:ext>
                  </a:extLst>
                </a:gridCol>
                <a:gridCol w="1310193">
                  <a:extLst>
                    <a:ext uri="{9D8B030D-6E8A-4147-A177-3AD203B41FA5}">
                      <a16:colId xmlns:a16="http://schemas.microsoft.com/office/drawing/2014/main" val="2325948041"/>
                    </a:ext>
                  </a:extLst>
                </a:gridCol>
              </a:tblGrid>
              <a:tr h="283865">
                <a:tc>
                  <a:txBody>
                    <a:bodyPr/>
                    <a:lstStyle/>
                    <a:p>
                      <a:pPr algn="just">
                        <a:lnSpc>
                          <a:spcPct val="115000"/>
                        </a:lnSpc>
                        <a:spcAft>
                          <a:spcPts val="1000"/>
                        </a:spcAft>
                      </a:pPr>
                      <a:r>
                        <a:rPr lang="en-US" sz="1400" b="1" dirty="0">
                          <a:effectLst/>
                        </a:rPr>
                        <a:t>Contents</a:t>
                      </a:r>
                      <a:endParaRPr lang="en-IN"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400" b="1" dirty="0">
                          <a:effectLst/>
                        </a:rPr>
                        <a:t>Feed Type A</a:t>
                      </a:r>
                      <a:endParaRPr lang="en-IN"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400" b="1" dirty="0">
                          <a:effectLst/>
                        </a:rPr>
                        <a:t>Feed Type B</a:t>
                      </a:r>
                      <a:endParaRPr lang="en-IN" sz="1400" b="1"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197850227"/>
                  </a:ext>
                </a:extLst>
              </a:tr>
              <a:tr h="283865">
                <a:tc>
                  <a:txBody>
                    <a:bodyPr/>
                    <a:lstStyle/>
                    <a:p>
                      <a:pPr algn="just">
                        <a:lnSpc>
                          <a:spcPct val="115000"/>
                        </a:lnSpc>
                        <a:spcAft>
                          <a:spcPts val="1000"/>
                        </a:spcAft>
                      </a:pPr>
                      <a:r>
                        <a:rPr lang="en-US" sz="1400" dirty="0">
                          <a:effectLst/>
                        </a:rPr>
                        <a:t>Calories (per pound)</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400" dirty="0">
                          <a:effectLst/>
                        </a:rPr>
                        <a:t>800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400" dirty="0">
                          <a:effectLst/>
                        </a:rPr>
                        <a:t>1,000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12630536"/>
                  </a:ext>
                </a:extLst>
              </a:tr>
              <a:tr h="283865">
                <a:tc>
                  <a:txBody>
                    <a:bodyPr/>
                    <a:lstStyle/>
                    <a:p>
                      <a:pPr algn="just">
                        <a:lnSpc>
                          <a:spcPct val="115000"/>
                        </a:lnSpc>
                        <a:spcAft>
                          <a:spcPts val="1000"/>
                        </a:spcAft>
                      </a:pPr>
                      <a:r>
                        <a:rPr lang="en-US" sz="1400" dirty="0">
                          <a:effectLst/>
                        </a:rPr>
                        <a:t>Vitamins (per pound)</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400" dirty="0">
                          <a:effectLst/>
                        </a:rPr>
                        <a:t>140 units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400" dirty="0">
                          <a:effectLst/>
                        </a:rPr>
                        <a:t>70 units</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565406371"/>
                  </a:ext>
                </a:extLst>
              </a:tr>
              <a:tr h="283865">
                <a:tc>
                  <a:txBody>
                    <a:bodyPr/>
                    <a:lstStyle/>
                    <a:p>
                      <a:pPr algn="just">
                        <a:lnSpc>
                          <a:spcPct val="115000"/>
                        </a:lnSpc>
                        <a:spcAft>
                          <a:spcPts val="1000"/>
                        </a:spcAft>
                      </a:pPr>
                      <a:r>
                        <a:rPr lang="en-US" sz="1400">
                          <a:effectLst/>
                        </a:rPr>
                        <a:t>Cost (per pound)</a:t>
                      </a:r>
                      <a:endParaRPr lang="en-IN" sz="14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400" dirty="0">
                          <a:effectLst/>
                        </a:rPr>
                        <a:t>$0.40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just">
                        <a:lnSpc>
                          <a:spcPct val="115000"/>
                        </a:lnSpc>
                        <a:spcAft>
                          <a:spcPts val="1000"/>
                        </a:spcAft>
                      </a:pPr>
                      <a:r>
                        <a:rPr lang="en-US" sz="1400" dirty="0">
                          <a:effectLst/>
                        </a:rPr>
                        <a:t>$0.80</a:t>
                      </a:r>
                      <a:endParaRPr lang="en-IN" sz="14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6372279"/>
                  </a:ext>
                </a:extLst>
              </a:tr>
            </a:tbl>
          </a:graphicData>
        </a:graphic>
      </p:graphicFrame>
    </p:spTree>
    <p:extLst>
      <p:ext uri="{BB962C8B-B14F-4D97-AF65-F5344CB8AC3E}">
        <p14:creationId xmlns:p14="http://schemas.microsoft.com/office/powerpoint/2010/main" val="37562350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D9B2-E2E2-CA40-BEE4-C5FD5E7A538F}"/>
              </a:ext>
            </a:extLst>
          </p:cNvPr>
          <p:cNvSpPr>
            <a:spLocks noGrp="1"/>
          </p:cNvSpPr>
          <p:nvPr>
            <p:ph type="title"/>
          </p:nvPr>
        </p:nvSpPr>
        <p:spPr/>
        <p:txBody>
          <a:bodyPr/>
          <a:lstStyle/>
          <a:p>
            <a:r>
              <a:rPr lang="en-US" dirty="0"/>
              <a:t>Exercise 2- solution</a:t>
            </a:r>
          </a:p>
        </p:txBody>
      </p:sp>
      <p:sp>
        <p:nvSpPr>
          <p:cNvPr id="3" name="Content Placeholder 2">
            <a:extLst>
              <a:ext uri="{FF2B5EF4-FFF2-40B4-BE49-F238E27FC236}">
                <a16:creationId xmlns:a16="http://schemas.microsoft.com/office/drawing/2014/main" id="{EEBB8932-B204-0B40-987B-BC03197C4901}"/>
              </a:ext>
            </a:extLst>
          </p:cNvPr>
          <p:cNvSpPr>
            <a:spLocks noGrp="1"/>
          </p:cNvSpPr>
          <p:nvPr>
            <p:ph idx="1"/>
          </p:nvPr>
        </p:nvSpPr>
        <p:spPr/>
        <p:txBody>
          <a:bodyPr>
            <a:noAutofit/>
          </a:bodyPr>
          <a:lstStyle/>
          <a:p>
            <a:pPr>
              <a:lnSpc>
                <a:spcPct val="150000"/>
              </a:lnSpc>
            </a:pPr>
            <a:r>
              <a:rPr lang="en-IN" sz="1800" dirty="0"/>
              <a:t>A = qty of feed A</a:t>
            </a:r>
          </a:p>
          <a:p>
            <a:pPr>
              <a:lnSpc>
                <a:spcPct val="150000"/>
              </a:lnSpc>
            </a:pPr>
            <a:r>
              <a:rPr lang="en-IN" sz="1800" dirty="0"/>
              <a:t>B = qty of feed B</a:t>
            </a:r>
          </a:p>
          <a:p>
            <a:pPr>
              <a:lnSpc>
                <a:spcPct val="150000"/>
              </a:lnSpc>
            </a:pPr>
            <a:r>
              <a:rPr lang="en-IN" sz="1800" dirty="0" err="1"/>
              <a:t>Obj</a:t>
            </a:r>
            <a:r>
              <a:rPr lang="en-IN" sz="1800" dirty="0"/>
              <a:t> </a:t>
            </a:r>
            <a:r>
              <a:rPr lang="en-IN" sz="1800" dirty="0" err="1"/>
              <a:t>fn</a:t>
            </a:r>
            <a:r>
              <a:rPr lang="en-IN" sz="1800" dirty="0"/>
              <a:t> Min Z=0.4*A+0.8*B</a:t>
            </a:r>
          </a:p>
          <a:p>
            <a:pPr>
              <a:lnSpc>
                <a:spcPct val="150000"/>
              </a:lnSpc>
            </a:pPr>
            <a:r>
              <a:rPr lang="en-IN" sz="1800" dirty="0"/>
              <a:t>800*A+1000*B&gt;=8000</a:t>
            </a:r>
          </a:p>
          <a:p>
            <a:pPr>
              <a:lnSpc>
                <a:spcPct val="150000"/>
              </a:lnSpc>
            </a:pPr>
            <a:r>
              <a:rPr lang="en-IN" sz="1800" dirty="0"/>
              <a:t> 140*A+70*B&gt;=700</a:t>
            </a:r>
          </a:p>
          <a:p>
            <a:pPr>
              <a:lnSpc>
                <a:spcPct val="150000"/>
              </a:lnSpc>
            </a:pPr>
            <a:r>
              <a:rPr lang="en-IN" sz="1800" dirty="0"/>
              <a:t>A&lt;=1/3(A+B) =&gt;2A/3-B/3&lt;=0</a:t>
            </a:r>
          </a:p>
          <a:p>
            <a:pPr>
              <a:lnSpc>
                <a:spcPct val="150000"/>
              </a:lnSpc>
            </a:pPr>
            <a:r>
              <a:rPr lang="en-IN" sz="1800" dirty="0"/>
              <a:t>A&gt;=0, B&gt;=0</a:t>
            </a:r>
          </a:p>
          <a:p>
            <a:pPr>
              <a:lnSpc>
                <a:spcPct val="150000"/>
              </a:lnSpc>
            </a:pPr>
            <a:endParaRPr lang="en-IN" sz="1800" dirty="0"/>
          </a:p>
        </p:txBody>
      </p:sp>
    </p:spTree>
    <p:extLst>
      <p:ext uri="{BB962C8B-B14F-4D97-AF65-F5344CB8AC3E}">
        <p14:creationId xmlns:p14="http://schemas.microsoft.com/office/powerpoint/2010/main" val="41358532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D9B2-E2E2-CA40-BEE4-C5FD5E7A538F}"/>
              </a:ext>
            </a:extLst>
          </p:cNvPr>
          <p:cNvSpPr>
            <a:spLocks noGrp="1"/>
          </p:cNvSpPr>
          <p:nvPr>
            <p:ph type="title"/>
          </p:nvPr>
        </p:nvSpPr>
        <p:spPr/>
        <p:txBody>
          <a:bodyPr/>
          <a:lstStyle/>
          <a:p>
            <a:r>
              <a:rPr lang="en-US" dirty="0"/>
              <a:t>Exercise 2- solution</a:t>
            </a:r>
          </a:p>
        </p:txBody>
      </p:sp>
      <p:cxnSp>
        <p:nvCxnSpPr>
          <p:cNvPr id="31" name="Straight Connector 30">
            <a:extLst>
              <a:ext uri="{FF2B5EF4-FFF2-40B4-BE49-F238E27FC236}">
                <a16:creationId xmlns:a16="http://schemas.microsoft.com/office/drawing/2014/main" id="{DA5C8133-4555-FE47-BBA4-0DD87FBB499F}"/>
              </a:ext>
            </a:extLst>
          </p:cNvPr>
          <p:cNvCxnSpPr/>
          <p:nvPr/>
        </p:nvCxnSpPr>
        <p:spPr>
          <a:xfrm>
            <a:off x="2002971" y="1959429"/>
            <a:ext cx="0" cy="354148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6C4CB07-7A3F-8946-93B7-9A29F65D68AC}"/>
              </a:ext>
            </a:extLst>
          </p:cNvPr>
          <p:cNvCxnSpPr/>
          <p:nvPr/>
        </p:nvCxnSpPr>
        <p:spPr>
          <a:xfrm>
            <a:off x="2032000" y="5486400"/>
            <a:ext cx="5399314"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0E9571C1-76C4-F74C-9A92-1AF0B3901B12}"/>
              </a:ext>
            </a:extLst>
          </p:cNvPr>
          <p:cNvSpPr txBox="1"/>
          <p:nvPr/>
        </p:nvSpPr>
        <p:spPr>
          <a:xfrm>
            <a:off x="711200" y="1690688"/>
            <a:ext cx="943429" cy="369332"/>
          </a:xfrm>
          <a:prstGeom prst="rect">
            <a:avLst/>
          </a:prstGeom>
          <a:noFill/>
        </p:spPr>
        <p:txBody>
          <a:bodyPr wrap="square" rtlCol="0">
            <a:spAutoFit/>
          </a:bodyPr>
          <a:lstStyle/>
          <a:p>
            <a:r>
              <a:rPr lang="en-US" dirty="0"/>
              <a:t>B</a:t>
            </a:r>
          </a:p>
        </p:txBody>
      </p:sp>
      <p:sp>
        <p:nvSpPr>
          <p:cNvPr id="43" name="TextBox 42">
            <a:extLst>
              <a:ext uri="{FF2B5EF4-FFF2-40B4-BE49-F238E27FC236}">
                <a16:creationId xmlns:a16="http://schemas.microsoft.com/office/drawing/2014/main" id="{8BAB079A-63B5-A049-9909-17D0F37003B3}"/>
              </a:ext>
            </a:extLst>
          </p:cNvPr>
          <p:cNvSpPr txBox="1"/>
          <p:nvPr/>
        </p:nvSpPr>
        <p:spPr>
          <a:xfrm>
            <a:off x="6959599" y="5805488"/>
            <a:ext cx="943429" cy="369332"/>
          </a:xfrm>
          <a:prstGeom prst="rect">
            <a:avLst/>
          </a:prstGeom>
          <a:noFill/>
        </p:spPr>
        <p:txBody>
          <a:bodyPr wrap="square" rtlCol="0">
            <a:spAutoFit/>
          </a:bodyPr>
          <a:lstStyle/>
          <a:p>
            <a:r>
              <a:rPr lang="en-US" dirty="0"/>
              <a:t>A</a:t>
            </a:r>
          </a:p>
        </p:txBody>
      </p:sp>
      <p:cxnSp>
        <p:nvCxnSpPr>
          <p:cNvPr id="4" name="Straight Connector 3">
            <a:extLst>
              <a:ext uri="{FF2B5EF4-FFF2-40B4-BE49-F238E27FC236}">
                <a16:creationId xmlns:a16="http://schemas.microsoft.com/office/drawing/2014/main" id="{CF2C74DB-6FFD-0443-8DF7-99579855ED09}"/>
              </a:ext>
            </a:extLst>
          </p:cNvPr>
          <p:cNvCxnSpPr>
            <a:cxnSpLocks/>
          </p:cNvCxnSpPr>
          <p:nvPr/>
        </p:nvCxnSpPr>
        <p:spPr>
          <a:xfrm>
            <a:off x="2032000" y="3135086"/>
            <a:ext cx="5036457" cy="23235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D9F2573-513B-6949-A440-336D4713BBBF}"/>
              </a:ext>
            </a:extLst>
          </p:cNvPr>
          <p:cNvCxnSpPr>
            <a:cxnSpLocks/>
          </p:cNvCxnSpPr>
          <p:nvPr/>
        </p:nvCxnSpPr>
        <p:spPr>
          <a:xfrm>
            <a:off x="1973943" y="2118030"/>
            <a:ext cx="3730171" cy="3340624"/>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ADEB5F7B-97C7-3C4E-B181-E5AC51968239}"/>
              </a:ext>
            </a:extLst>
          </p:cNvPr>
          <p:cNvSpPr/>
          <p:nvPr/>
        </p:nvSpPr>
        <p:spPr>
          <a:xfrm>
            <a:off x="8458872" y="1827584"/>
            <a:ext cx="2008883" cy="464871"/>
          </a:xfrm>
          <a:prstGeom prst="rect">
            <a:avLst/>
          </a:prstGeom>
        </p:spPr>
        <p:txBody>
          <a:bodyPr wrap="none">
            <a:spAutoFit/>
          </a:bodyPr>
          <a:lstStyle/>
          <a:p>
            <a:pPr>
              <a:lnSpc>
                <a:spcPct val="150000"/>
              </a:lnSpc>
            </a:pPr>
            <a:r>
              <a:rPr lang="en-IN" dirty="0">
                <a:solidFill>
                  <a:srgbClr val="C00000"/>
                </a:solidFill>
              </a:rPr>
              <a:t> 140*A+70*B&gt;=700</a:t>
            </a:r>
          </a:p>
        </p:txBody>
      </p:sp>
      <p:sp>
        <p:nvSpPr>
          <p:cNvPr id="21" name="Rectangle 20">
            <a:extLst>
              <a:ext uri="{FF2B5EF4-FFF2-40B4-BE49-F238E27FC236}">
                <a16:creationId xmlns:a16="http://schemas.microsoft.com/office/drawing/2014/main" id="{189E9233-0BFA-CC4E-9FB3-53E1B9AA5112}"/>
              </a:ext>
            </a:extLst>
          </p:cNvPr>
          <p:cNvSpPr/>
          <p:nvPr/>
        </p:nvSpPr>
        <p:spPr>
          <a:xfrm>
            <a:off x="8458872" y="2583130"/>
            <a:ext cx="2307042" cy="464871"/>
          </a:xfrm>
          <a:prstGeom prst="rect">
            <a:avLst/>
          </a:prstGeom>
        </p:spPr>
        <p:txBody>
          <a:bodyPr wrap="none">
            <a:spAutoFit/>
          </a:bodyPr>
          <a:lstStyle/>
          <a:p>
            <a:pPr>
              <a:lnSpc>
                <a:spcPct val="150000"/>
              </a:lnSpc>
            </a:pPr>
            <a:r>
              <a:rPr lang="en-IN" dirty="0"/>
              <a:t>800*A+1000*B&gt;=8000</a:t>
            </a:r>
          </a:p>
        </p:txBody>
      </p:sp>
      <p:sp>
        <p:nvSpPr>
          <p:cNvPr id="25" name="TextBox 24">
            <a:extLst>
              <a:ext uri="{FF2B5EF4-FFF2-40B4-BE49-F238E27FC236}">
                <a16:creationId xmlns:a16="http://schemas.microsoft.com/office/drawing/2014/main" id="{7AD8F5D3-23D7-DB45-84D8-7E30EB4D4C6E}"/>
              </a:ext>
            </a:extLst>
          </p:cNvPr>
          <p:cNvSpPr txBox="1"/>
          <p:nvPr/>
        </p:nvSpPr>
        <p:spPr>
          <a:xfrm>
            <a:off x="6850742" y="5514147"/>
            <a:ext cx="725716" cy="372899"/>
          </a:xfrm>
          <a:prstGeom prst="rect">
            <a:avLst/>
          </a:prstGeom>
          <a:noFill/>
        </p:spPr>
        <p:txBody>
          <a:bodyPr wrap="square" rtlCol="0">
            <a:spAutoFit/>
          </a:bodyPr>
          <a:lstStyle/>
          <a:p>
            <a:r>
              <a:rPr lang="en-US" dirty="0"/>
              <a:t>10,0</a:t>
            </a:r>
          </a:p>
        </p:txBody>
      </p:sp>
      <p:sp>
        <p:nvSpPr>
          <p:cNvPr id="45" name="TextBox 44">
            <a:extLst>
              <a:ext uri="{FF2B5EF4-FFF2-40B4-BE49-F238E27FC236}">
                <a16:creationId xmlns:a16="http://schemas.microsoft.com/office/drawing/2014/main" id="{C67EC563-526D-1749-96FB-7FFA1C890A22}"/>
              </a:ext>
            </a:extLst>
          </p:cNvPr>
          <p:cNvSpPr txBox="1"/>
          <p:nvPr/>
        </p:nvSpPr>
        <p:spPr>
          <a:xfrm>
            <a:off x="1291770" y="2948636"/>
            <a:ext cx="725716" cy="372899"/>
          </a:xfrm>
          <a:prstGeom prst="rect">
            <a:avLst/>
          </a:prstGeom>
          <a:noFill/>
        </p:spPr>
        <p:txBody>
          <a:bodyPr wrap="square" rtlCol="0">
            <a:spAutoFit/>
          </a:bodyPr>
          <a:lstStyle/>
          <a:p>
            <a:r>
              <a:rPr lang="en-US" dirty="0"/>
              <a:t>0,8</a:t>
            </a:r>
          </a:p>
        </p:txBody>
      </p:sp>
      <p:sp>
        <p:nvSpPr>
          <p:cNvPr id="46" name="TextBox 45">
            <a:extLst>
              <a:ext uri="{FF2B5EF4-FFF2-40B4-BE49-F238E27FC236}">
                <a16:creationId xmlns:a16="http://schemas.microsoft.com/office/drawing/2014/main" id="{89B48DDB-6A57-6D4F-B269-45E28C920640}"/>
              </a:ext>
            </a:extLst>
          </p:cNvPr>
          <p:cNvSpPr txBox="1"/>
          <p:nvPr/>
        </p:nvSpPr>
        <p:spPr>
          <a:xfrm>
            <a:off x="996011" y="2032171"/>
            <a:ext cx="1091092" cy="369332"/>
          </a:xfrm>
          <a:prstGeom prst="rect">
            <a:avLst/>
          </a:prstGeom>
          <a:noFill/>
        </p:spPr>
        <p:txBody>
          <a:bodyPr wrap="square" rtlCol="0">
            <a:spAutoFit/>
          </a:bodyPr>
          <a:lstStyle/>
          <a:p>
            <a:r>
              <a:rPr lang="en-US" dirty="0"/>
              <a:t>0,10,8</a:t>
            </a:r>
          </a:p>
        </p:txBody>
      </p:sp>
      <p:sp>
        <p:nvSpPr>
          <p:cNvPr id="47" name="TextBox 46">
            <a:extLst>
              <a:ext uri="{FF2B5EF4-FFF2-40B4-BE49-F238E27FC236}">
                <a16:creationId xmlns:a16="http://schemas.microsoft.com/office/drawing/2014/main" id="{1EC0AFEB-5720-AA45-844D-087A0F098382}"/>
              </a:ext>
            </a:extLst>
          </p:cNvPr>
          <p:cNvSpPr txBox="1"/>
          <p:nvPr/>
        </p:nvSpPr>
        <p:spPr>
          <a:xfrm>
            <a:off x="5338305" y="5599979"/>
            <a:ext cx="725716" cy="372899"/>
          </a:xfrm>
          <a:prstGeom prst="rect">
            <a:avLst/>
          </a:prstGeom>
          <a:noFill/>
        </p:spPr>
        <p:txBody>
          <a:bodyPr wrap="square" rtlCol="0">
            <a:spAutoFit/>
          </a:bodyPr>
          <a:lstStyle/>
          <a:p>
            <a:r>
              <a:rPr lang="en-US" dirty="0"/>
              <a:t>5,0</a:t>
            </a:r>
          </a:p>
        </p:txBody>
      </p:sp>
      <p:sp>
        <p:nvSpPr>
          <p:cNvPr id="28" name="Oval 27">
            <a:extLst>
              <a:ext uri="{FF2B5EF4-FFF2-40B4-BE49-F238E27FC236}">
                <a16:creationId xmlns:a16="http://schemas.microsoft.com/office/drawing/2014/main" id="{984DCD68-F277-8E49-B627-A7561A0F64F0}"/>
              </a:ext>
            </a:extLst>
          </p:cNvPr>
          <p:cNvSpPr/>
          <p:nvPr/>
        </p:nvSpPr>
        <p:spPr>
          <a:xfrm>
            <a:off x="4122057" y="4034971"/>
            <a:ext cx="246743" cy="246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809DAA21-2789-A14B-89D9-794FE07CC850}"/>
              </a:ext>
            </a:extLst>
          </p:cNvPr>
          <p:cNvSpPr txBox="1"/>
          <p:nvPr/>
        </p:nvSpPr>
        <p:spPr>
          <a:xfrm>
            <a:off x="4383314" y="3665639"/>
            <a:ext cx="1007007" cy="369332"/>
          </a:xfrm>
          <a:prstGeom prst="rect">
            <a:avLst/>
          </a:prstGeom>
          <a:noFill/>
        </p:spPr>
        <p:txBody>
          <a:bodyPr wrap="none" rtlCol="0">
            <a:spAutoFit/>
          </a:bodyPr>
          <a:lstStyle/>
          <a:p>
            <a:r>
              <a:rPr lang="en-US" dirty="0"/>
              <a:t>5/3,20/3</a:t>
            </a:r>
          </a:p>
        </p:txBody>
      </p:sp>
      <p:cxnSp>
        <p:nvCxnSpPr>
          <p:cNvPr id="53" name="Straight Connector 52">
            <a:extLst>
              <a:ext uri="{FF2B5EF4-FFF2-40B4-BE49-F238E27FC236}">
                <a16:creationId xmlns:a16="http://schemas.microsoft.com/office/drawing/2014/main" id="{D8E27B8A-6187-8849-BB4A-81173B0338AE}"/>
              </a:ext>
            </a:extLst>
          </p:cNvPr>
          <p:cNvCxnSpPr>
            <a:cxnSpLocks/>
          </p:cNvCxnSpPr>
          <p:nvPr/>
        </p:nvCxnSpPr>
        <p:spPr>
          <a:xfrm flipV="1">
            <a:off x="2032000" y="3556000"/>
            <a:ext cx="4180114" cy="1930400"/>
          </a:xfrm>
          <a:prstGeom prst="line">
            <a:avLst/>
          </a:prstGeom>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FB9541D0-EA99-9544-9203-93ED9AE72FD5}"/>
              </a:ext>
            </a:extLst>
          </p:cNvPr>
          <p:cNvSpPr txBox="1"/>
          <p:nvPr/>
        </p:nvSpPr>
        <p:spPr>
          <a:xfrm>
            <a:off x="4383314" y="1827584"/>
            <a:ext cx="1161143" cy="369332"/>
          </a:xfrm>
          <a:prstGeom prst="rect">
            <a:avLst/>
          </a:prstGeom>
          <a:noFill/>
        </p:spPr>
        <p:txBody>
          <a:bodyPr wrap="square" rtlCol="0">
            <a:spAutoFit/>
          </a:bodyPr>
          <a:lstStyle/>
          <a:p>
            <a:r>
              <a:rPr lang="en-US" dirty="0"/>
              <a:t>FS</a:t>
            </a:r>
          </a:p>
        </p:txBody>
      </p:sp>
      <p:sp>
        <p:nvSpPr>
          <p:cNvPr id="70" name="Oval 69">
            <a:extLst>
              <a:ext uri="{FF2B5EF4-FFF2-40B4-BE49-F238E27FC236}">
                <a16:creationId xmlns:a16="http://schemas.microsoft.com/office/drawing/2014/main" id="{44951ED3-A7B1-B14D-BDFA-6C8B82A01853}"/>
              </a:ext>
            </a:extLst>
          </p:cNvPr>
          <p:cNvSpPr/>
          <p:nvPr/>
        </p:nvSpPr>
        <p:spPr>
          <a:xfrm>
            <a:off x="1898017" y="2032170"/>
            <a:ext cx="206152" cy="19095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2C931BA1-43E8-8F44-922F-AA92295481CB}"/>
              </a:ext>
            </a:extLst>
          </p:cNvPr>
          <p:cNvSpPr/>
          <p:nvPr/>
        </p:nvSpPr>
        <p:spPr>
          <a:xfrm>
            <a:off x="4560152" y="4174780"/>
            <a:ext cx="206152" cy="19095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744EE931-1E0C-2642-844D-DBE9AB6E9EAE}"/>
              </a:ext>
            </a:extLst>
          </p:cNvPr>
          <p:cNvSpPr txBox="1"/>
          <p:nvPr/>
        </p:nvSpPr>
        <p:spPr>
          <a:xfrm>
            <a:off x="4904026" y="4173834"/>
            <a:ext cx="725716" cy="923330"/>
          </a:xfrm>
          <a:prstGeom prst="rect">
            <a:avLst/>
          </a:prstGeom>
          <a:noFill/>
        </p:spPr>
        <p:txBody>
          <a:bodyPr wrap="square" rtlCol="0">
            <a:spAutoFit/>
          </a:bodyPr>
          <a:lstStyle/>
          <a:p>
            <a:r>
              <a:rPr lang="en-US" dirty="0"/>
              <a:t>20/7,40/7,5.71</a:t>
            </a:r>
          </a:p>
        </p:txBody>
      </p:sp>
      <p:sp>
        <p:nvSpPr>
          <p:cNvPr id="73" name="Rectangle 72">
            <a:extLst>
              <a:ext uri="{FF2B5EF4-FFF2-40B4-BE49-F238E27FC236}">
                <a16:creationId xmlns:a16="http://schemas.microsoft.com/office/drawing/2014/main" id="{EF8329B1-D62B-8B42-8331-CF7B5997D416}"/>
              </a:ext>
            </a:extLst>
          </p:cNvPr>
          <p:cNvSpPr/>
          <p:nvPr/>
        </p:nvSpPr>
        <p:spPr>
          <a:xfrm>
            <a:off x="8665658" y="3385434"/>
            <a:ext cx="1595309" cy="464871"/>
          </a:xfrm>
          <a:prstGeom prst="rect">
            <a:avLst/>
          </a:prstGeom>
        </p:spPr>
        <p:txBody>
          <a:bodyPr wrap="none">
            <a:spAutoFit/>
          </a:bodyPr>
          <a:lstStyle/>
          <a:p>
            <a:pPr>
              <a:lnSpc>
                <a:spcPct val="150000"/>
              </a:lnSpc>
            </a:pPr>
            <a:r>
              <a:rPr lang="en-IN" dirty="0"/>
              <a:t>Z=0.4*A+0.8*B</a:t>
            </a:r>
          </a:p>
        </p:txBody>
      </p:sp>
      <p:sp>
        <p:nvSpPr>
          <p:cNvPr id="74" name="Rectangle 73">
            <a:extLst>
              <a:ext uri="{FF2B5EF4-FFF2-40B4-BE49-F238E27FC236}">
                <a16:creationId xmlns:a16="http://schemas.microsoft.com/office/drawing/2014/main" id="{576BFEFA-08E7-5A44-8EA3-D185A5799826}"/>
              </a:ext>
            </a:extLst>
          </p:cNvPr>
          <p:cNvSpPr/>
          <p:nvPr/>
        </p:nvSpPr>
        <p:spPr>
          <a:xfrm>
            <a:off x="8629372" y="4060348"/>
            <a:ext cx="3047886" cy="1711366"/>
          </a:xfrm>
          <a:prstGeom prst="rect">
            <a:avLst/>
          </a:prstGeom>
        </p:spPr>
        <p:txBody>
          <a:bodyPr wrap="none">
            <a:spAutoFit/>
          </a:bodyPr>
          <a:lstStyle/>
          <a:p>
            <a:pPr>
              <a:lnSpc>
                <a:spcPct val="150000"/>
              </a:lnSpc>
            </a:pPr>
            <a:r>
              <a:rPr lang="en-IN" dirty="0"/>
              <a:t>At 3 points we have values as </a:t>
            </a:r>
          </a:p>
          <a:p>
            <a:pPr>
              <a:lnSpc>
                <a:spcPct val="150000"/>
              </a:lnSpc>
            </a:pPr>
            <a:r>
              <a:rPr lang="en-IN" dirty="0"/>
              <a:t>8,6,5.71</a:t>
            </a:r>
          </a:p>
          <a:p>
            <a:pPr>
              <a:lnSpc>
                <a:spcPct val="150000"/>
              </a:lnSpc>
            </a:pPr>
            <a:r>
              <a:rPr lang="en-IN" dirty="0"/>
              <a:t>Therefore the optimal value is </a:t>
            </a:r>
          </a:p>
          <a:p>
            <a:pPr>
              <a:lnSpc>
                <a:spcPct val="150000"/>
              </a:lnSpc>
            </a:pPr>
            <a:r>
              <a:rPr lang="en-IN" dirty="0"/>
              <a:t>5.71 @ (20/7,40/7)</a:t>
            </a:r>
          </a:p>
        </p:txBody>
      </p:sp>
    </p:spTree>
    <p:extLst>
      <p:ext uri="{BB962C8B-B14F-4D97-AF65-F5344CB8AC3E}">
        <p14:creationId xmlns:p14="http://schemas.microsoft.com/office/powerpoint/2010/main" val="41470659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46"/>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4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2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4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7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43"/>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69"/>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3" grpId="0"/>
      <p:bldP spid="25" grpId="0"/>
      <p:bldP spid="45" grpId="0"/>
      <p:bldP spid="46" grpId="0"/>
      <p:bldP spid="47" grpId="0"/>
      <p:bldP spid="28" grpId="0" animBg="1"/>
      <p:bldP spid="48" grpId="0"/>
      <p:bldP spid="69" grpId="0"/>
      <p:bldP spid="71" grpId="0" animBg="1"/>
      <p:bldP spid="72" grpId="0"/>
      <p:bldP spid="7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D9B2-E2E2-CA40-BEE4-C5FD5E7A538F}"/>
              </a:ext>
            </a:extLst>
          </p:cNvPr>
          <p:cNvSpPr>
            <a:spLocks noGrp="1"/>
          </p:cNvSpPr>
          <p:nvPr>
            <p:ph type="title"/>
          </p:nvPr>
        </p:nvSpPr>
        <p:spPr/>
        <p:txBody>
          <a:bodyPr/>
          <a:lstStyle/>
          <a:p>
            <a:r>
              <a:rPr lang="en-US" dirty="0"/>
              <a:t>Exercise 2- solution</a:t>
            </a:r>
          </a:p>
        </p:txBody>
      </p:sp>
      <p:cxnSp>
        <p:nvCxnSpPr>
          <p:cNvPr id="31" name="Straight Connector 30">
            <a:extLst>
              <a:ext uri="{FF2B5EF4-FFF2-40B4-BE49-F238E27FC236}">
                <a16:creationId xmlns:a16="http://schemas.microsoft.com/office/drawing/2014/main" id="{DA5C8133-4555-FE47-BBA4-0DD87FBB499F}"/>
              </a:ext>
            </a:extLst>
          </p:cNvPr>
          <p:cNvCxnSpPr/>
          <p:nvPr/>
        </p:nvCxnSpPr>
        <p:spPr>
          <a:xfrm>
            <a:off x="2002971" y="1959429"/>
            <a:ext cx="0" cy="3541485"/>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36C4CB07-7A3F-8946-93B7-9A29F65D68AC}"/>
              </a:ext>
            </a:extLst>
          </p:cNvPr>
          <p:cNvCxnSpPr/>
          <p:nvPr/>
        </p:nvCxnSpPr>
        <p:spPr>
          <a:xfrm>
            <a:off x="2032000" y="5486400"/>
            <a:ext cx="5399314"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0E9571C1-76C4-F74C-9A92-1AF0B3901B12}"/>
              </a:ext>
            </a:extLst>
          </p:cNvPr>
          <p:cNvSpPr txBox="1"/>
          <p:nvPr/>
        </p:nvSpPr>
        <p:spPr>
          <a:xfrm>
            <a:off x="711200" y="1690688"/>
            <a:ext cx="943429" cy="369332"/>
          </a:xfrm>
          <a:prstGeom prst="rect">
            <a:avLst/>
          </a:prstGeom>
          <a:noFill/>
        </p:spPr>
        <p:txBody>
          <a:bodyPr wrap="square" rtlCol="0">
            <a:spAutoFit/>
          </a:bodyPr>
          <a:lstStyle/>
          <a:p>
            <a:r>
              <a:rPr lang="en-US" dirty="0"/>
              <a:t>B</a:t>
            </a:r>
          </a:p>
        </p:txBody>
      </p:sp>
      <p:sp>
        <p:nvSpPr>
          <p:cNvPr id="43" name="TextBox 42">
            <a:extLst>
              <a:ext uri="{FF2B5EF4-FFF2-40B4-BE49-F238E27FC236}">
                <a16:creationId xmlns:a16="http://schemas.microsoft.com/office/drawing/2014/main" id="{8BAB079A-63B5-A049-9909-17D0F37003B3}"/>
              </a:ext>
            </a:extLst>
          </p:cNvPr>
          <p:cNvSpPr txBox="1"/>
          <p:nvPr/>
        </p:nvSpPr>
        <p:spPr>
          <a:xfrm>
            <a:off x="6959599" y="5805488"/>
            <a:ext cx="943429" cy="369332"/>
          </a:xfrm>
          <a:prstGeom prst="rect">
            <a:avLst/>
          </a:prstGeom>
          <a:noFill/>
        </p:spPr>
        <p:txBody>
          <a:bodyPr wrap="square" rtlCol="0">
            <a:spAutoFit/>
          </a:bodyPr>
          <a:lstStyle/>
          <a:p>
            <a:r>
              <a:rPr lang="en-US" dirty="0"/>
              <a:t>A</a:t>
            </a:r>
          </a:p>
        </p:txBody>
      </p:sp>
      <p:cxnSp>
        <p:nvCxnSpPr>
          <p:cNvPr id="4" name="Straight Connector 3">
            <a:extLst>
              <a:ext uri="{FF2B5EF4-FFF2-40B4-BE49-F238E27FC236}">
                <a16:creationId xmlns:a16="http://schemas.microsoft.com/office/drawing/2014/main" id="{CF2C74DB-6FFD-0443-8DF7-99579855ED09}"/>
              </a:ext>
            </a:extLst>
          </p:cNvPr>
          <p:cNvCxnSpPr>
            <a:cxnSpLocks/>
          </p:cNvCxnSpPr>
          <p:nvPr/>
        </p:nvCxnSpPr>
        <p:spPr>
          <a:xfrm>
            <a:off x="2032000" y="3135086"/>
            <a:ext cx="5036457" cy="232356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FD9F2573-513B-6949-A440-336D4713BBBF}"/>
              </a:ext>
            </a:extLst>
          </p:cNvPr>
          <p:cNvCxnSpPr>
            <a:cxnSpLocks/>
          </p:cNvCxnSpPr>
          <p:nvPr/>
        </p:nvCxnSpPr>
        <p:spPr>
          <a:xfrm>
            <a:off x="1973943" y="2118030"/>
            <a:ext cx="3730171" cy="3340624"/>
          </a:xfrm>
          <a:prstGeom prst="line">
            <a:avLst/>
          </a:prstGeom>
          <a:ln>
            <a:solidFill>
              <a:srgbClr val="C00000"/>
            </a:solidFill>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a16="http://schemas.microsoft.com/office/drawing/2014/main" id="{ADEB5F7B-97C7-3C4E-B181-E5AC51968239}"/>
              </a:ext>
            </a:extLst>
          </p:cNvPr>
          <p:cNvSpPr/>
          <p:nvPr/>
        </p:nvSpPr>
        <p:spPr>
          <a:xfrm>
            <a:off x="8458872" y="1827584"/>
            <a:ext cx="2008883" cy="464871"/>
          </a:xfrm>
          <a:prstGeom prst="rect">
            <a:avLst/>
          </a:prstGeom>
        </p:spPr>
        <p:txBody>
          <a:bodyPr wrap="none">
            <a:spAutoFit/>
          </a:bodyPr>
          <a:lstStyle/>
          <a:p>
            <a:pPr>
              <a:lnSpc>
                <a:spcPct val="150000"/>
              </a:lnSpc>
            </a:pPr>
            <a:r>
              <a:rPr lang="en-IN" dirty="0">
                <a:solidFill>
                  <a:srgbClr val="C00000"/>
                </a:solidFill>
              </a:rPr>
              <a:t> 140*A+70*B&gt;=700</a:t>
            </a:r>
          </a:p>
        </p:txBody>
      </p:sp>
      <p:sp>
        <p:nvSpPr>
          <p:cNvPr id="21" name="Rectangle 20">
            <a:extLst>
              <a:ext uri="{FF2B5EF4-FFF2-40B4-BE49-F238E27FC236}">
                <a16:creationId xmlns:a16="http://schemas.microsoft.com/office/drawing/2014/main" id="{189E9233-0BFA-CC4E-9FB3-53E1B9AA5112}"/>
              </a:ext>
            </a:extLst>
          </p:cNvPr>
          <p:cNvSpPr/>
          <p:nvPr/>
        </p:nvSpPr>
        <p:spPr>
          <a:xfrm>
            <a:off x="8458872" y="2583130"/>
            <a:ext cx="2307042" cy="464871"/>
          </a:xfrm>
          <a:prstGeom prst="rect">
            <a:avLst/>
          </a:prstGeom>
        </p:spPr>
        <p:txBody>
          <a:bodyPr wrap="none">
            <a:spAutoFit/>
          </a:bodyPr>
          <a:lstStyle/>
          <a:p>
            <a:pPr>
              <a:lnSpc>
                <a:spcPct val="150000"/>
              </a:lnSpc>
            </a:pPr>
            <a:r>
              <a:rPr lang="en-IN" dirty="0"/>
              <a:t>800*A+1000*B&gt;=8000</a:t>
            </a:r>
          </a:p>
        </p:txBody>
      </p:sp>
      <p:sp>
        <p:nvSpPr>
          <p:cNvPr id="25" name="TextBox 24">
            <a:extLst>
              <a:ext uri="{FF2B5EF4-FFF2-40B4-BE49-F238E27FC236}">
                <a16:creationId xmlns:a16="http://schemas.microsoft.com/office/drawing/2014/main" id="{7AD8F5D3-23D7-DB45-84D8-7E30EB4D4C6E}"/>
              </a:ext>
            </a:extLst>
          </p:cNvPr>
          <p:cNvSpPr txBox="1"/>
          <p:nvPr/>
        </p:nvSpPr>
        <p:spPr>
          <a:xfrm>
            <a:off x="6850742" y="5514147"/>
            <a:ext cx="725716" cy="372899"/>
          </a:xfrm>
          <a:prstGeom prst="rect">
            <a:avLst/>
          </a:prstGeom>
          <a:noFill/>
        </p:spPr>
        <p:txBody>
          <a:bodyPr wrap="square" rtlCol="0">
            <a:spAutoFit/>
          </a:bodyPr>
          <a:lstStyle/>
          <a:p>
            <a:r>
              <a:rPr lang="en-US" dirty="0"/>
              <a:t>10,0</a:t>
            </a:r>
          </a:p>
        </p:txBody>
      </p:sp>
      <p:sp>
        <p:nvSpPr>
          <p:cNvPr id="45" name="TextBox 44">
            <a:extLst>
              <a:ext uri="{FF2B5EF4-FFF2-40B4-BE49-F238E27FC236}">
                <a16:creationId xmlns:a16="http://schemas.microsoft.com/office/drawing/2014/main" id="{C67EC563-526D-1749-96FB-7FFA1C890A22}"/>
              </a:ext>
            </a:extLst>
          </p:cNvPr>
          <p:cNvSpPr txBox="1"/>
          <p:nvPr/>
        </p:nvSpPr>
        <p:spPr>
          <a:xfrm>
            <a:off x="1291770" y="2948636"/>
            <a:ext cx="725716" cy="372899"/>
          </a:xfrm>
          <a:prstGeom prst="rect">
            <a:avLst/>
          </a:prstGeom>
          <a:noFill/>
        </p:spPr>
        <p:txBody>
          <a:bodyPr wrap="square" rtlCol="0">
            <a:spAutoFit/>
          </a:bodyPr>
          <a:lstStyle/>
          <a:p>
            <a:r>
              <a:rPr lang="en-US" dirty="0"/>
              <a:t>0,8</a:t>
            </a:r>
          </a:p>
        </p:txBody>
      </p:sp>
      <p:sp>
        <p:nvSpPr>
          <p:cNvPr id="46" name="TextBox 45">
            <a:extLst>
              <a:ext uri="{FF2B5EF4-FFF2-40B4-BE49-F238E27FC236}">
                <a16:creationId xmlns:a16="http://schemas.microsoft.com/office/drawing/2014/main" id="{89B48DDB-6A57-6D4F-B269-45E28C920640}"/>
              </a:ext>
            </a:extLst>
          </p:cNvPr>
          <p:cNvSpPr txBox="1"/>
          <p:nvPr/>
        </p:nvSpPr>
        <p:spPr>
          <a:xfrm>
            <a:off x="996011" y="2032171"/>
            <a:ext cx="1091092" cy="369332"/>
          </a:xfrm>
          <a:prstGeom prst="rect">
            <a:avLst/>
          </a:prstGeom>
          <a:noFill/>
        </p:spPr>
        <p:txBody>
          <a:bodyPr wrap="square" rtlCol="0">
            <a:spAutoFit/>
          </a:bodyPr>
          <a:lstStyle/>
          <a:p>
            <a:r>
              <a:rPr lang="en-US" dirty="0"/>
              <a:t>0,10,8</a:t>
            </a:r>
          </a:p>
        </p:txBody>
      </p:sp>
      <p:sp>
        <p:nvSpPr>
          <p:cNvPr id="47" name="TextBox 46">
            <a:extLst>
              <a:ext uri="{FF2B5EF4-FFF2-40B4-BE49-F238E27FC236}">
                <a16:creationId xmlns:a16="http://schemas.microsoft.com/office/drawing/2014/main" id="{1EC0AFEB-5720-AA45-844D-087A0F098382}"/>
              </a:ext>
            </a:extLst>
          </p:cNvPr>
          <p:cNvSpPr txBox="1"/>
          <p:nvPr/>
        </p:nvSpPr>
        <p:spPr>
          <a:xfrm>
            <a:off x="5338305" y="5599979"/>
            <a:ext cx="725716" cy="372899"/>
          </a:xfrm>
          <a:prstGeom prst="rect">
            <a:avLst/>
          </a:prstGeom>
          <a:noFill/>
        </p:spPr>
        <p:txBody>
          <a:bodyPr wrap="square" rtlCol="0">
            <a:spAutoFit/>
          </a:bodyPr>
          <a:lstStyle/>
          <a:p>
            <a:r>
              <a:rPr lang="en-US" dirty="0"/>
              <a:t>5,0</a:t>
            </a:r>
          </a:p>
        </p:txBody>
      </p:sp>
      <p:sp>
        <p:nvSpPr>
          <p:cNvPr id="28" name="Oval 27">
            <a:extLst>
              <a:ext uri="{FF2B5EF4-FFF2-40B4-BE49-F238E27FC236}">
                <a16:creationId xmlns:a16="http://schemas.microsoft.com/office/drawing/2014/main" id="{984DCD68-F277-8E49-B627-A7561A0F64F0}"/>
              </a:ext>
            </a:extLst>
          </p:cNvPr>
          <p:cNvSpPr/>
          <p:nvPr/>
        </p:nvSpPr>
        <p:spPr>
          <a:xfrm>
            <a:off x="4122057" y="4034971"/>
            <a:ext cx="246743" cy="2467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Box 47">
            <a:extLst>
              <a:ext uri="{FF2B5EF4-FFF2-40B4-BE49-F238E27FC236}">
                <a16:creationId xmlns:a16="http://schemas.microsoft.com/office/drawing/2014/main" id="{809DAA21-2789-A14B-89D9-794FE07CC850}"/>
              </a:ext>
            </a:extLst>
          </p:cNvPr>
          <p:cNvSpPr txBox="1"/>
          <p:nvPr/>
        </p:nvSpPr>
        <p:spPr>
          <a:xfrm>
            <a:off x="4383314" y="3665639"/>
            <a:ext cx="1007007" cy="369332"/>
          </a:xfrm>
          <a:prstGeom prst="rect">
            <a:avLst/>
          </a:prstGeom>
          <a:noFill/>
        </p:spPr>
        <p:txBody>
          <a:bodyPr wrap="none" rtlCol="0">
            <a:spAutoFit/>
          </a:bodyPr>
          <a:lstStyle/>
          <a:p>
            <a:r>
              <a:rPr lang="en-US" dirty="0"/>
              <a:t>5/3,20/3</a:t>
            </a:r>
          </a:p>
        </p:txBody>
      </p:sp>
      <p:cxnSp>
        <p:nvCxnSpPr>
          <p:cNvPr id="53" name="Straight Connector 52">
            <a:extLst>
              <a:ext uri="{FF2B5EF4-FFF2-40B4-BE49-F238E27FC236}">
                <a16:creationId xmlns:a16="http://schemas.microsoft.com/office/drawing/2014/main" id="{D8E27B8A-6187-8849-BB4A-81173B0338AE}"/>
              </a:ext>
            </a:extLst>
          </p:cNvPr>
          <p:cNvCxnSpPr>
            <a:cxnSpLocks/>
          </p:cNvCxnSpPr>
          <p:nvPr/>
        </p:nvCxnSpPr>
        <p:spPr>
          <a:xfrm flipV="1">
            <a:off x="2032000" y="3556000"/>
            <a:ext cx="4180114" cy="193040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p14="http://schemas.microsoft.com/office/powerpoint/2010/main" Requires="p14">
          <p:contentPart p14:bwMode="auto" r:id="rId2">
            <p14:nvContentPartPr>
              <p14:cNvPr id="57" name="Ink 56">
                <a:extLst>
                  <a:ext uri="{FF2B5EF4-FFF2-40B4-BE49-F238E27FC236}">
                    <a16:creationId xmlns:a16="http://schemas.microsoft.com/office/drawing/2014/main" id="{7D1F1DF2-8E0E-FC45-BE1A-41F837E205F5}"/>
                  </a:ext>
                </a:extLst>
              </p14:cNvPr>
              <p14:cNvContentPartPr/>
              <p14:nvPr/>
            </p14:nvContentPartPr>
            <p14:xfrm>
              <a:off x="1997171" y="2145897"/>
              <a:ext cx="4282560" cy="2147040"/>
            </p14:xfrm>
          </p:contentPart>
        </mc:Choice>
        <mc:Fallback>
          <p:pic>
            <p:nvPicPr>
              <p:cNvPr id="57" name="Ink 56">
                <a:extLst>
                  <a:ext uri="{FF2B5EF4-FFF2-40B4-BE49-F238E27FC236}">
                    <a16:creationId xmlns:a16="http://schemas.microsoft.com/office/drawing/2014/main" id="{7D1F1DF2-8E0E-FC45-BE1A-41F837E205F5}"/>
                  </a:ext>
                </a:extLst>
              </p:cNvPr>
              <p:cNvPicPr/>
              <p:nvPr/>
            </p:nvPicPr>
            <p:blipFill>
              <a:blip r:embed="rId3"/>
              <a:stretch>
                <a:fillRect/>
              </a:stretch>
            </p:blipFill>
            <p:spPr>
              <a:xfrm>
                <a:off x="1988171" y="2136897"/>
                <a:ext cx="4300200" cy="216468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66" name="Ink 65">
                <a:extLst>
                  <a:ext uri="{FF2B5EF4-FFF2-40B4-BE49-F238E27FC236}">
                    <a16:creationId xmlns:a16="http://schemas.microsoft.com/office/drawing/2014/main" id="{B97BC2D2-BC16-9A49-9872-FA965622C09D}"/>
                  </a:ext>
                </a:extLst>
              </p14:cNvPr>
              <p14:cNvContentPartPr/>
              <p14:nvPr/>
            </p14:nvContentPartPr>
            <p14:xfrm>
              <a:off x="2190851" y="1012977"/>
              <a:ext cx="5090040" cy="2656080"/>
            </p14:xfrm>
          </p:contentPart>
        </mc:Choice>
        <mc:Fallback>
          <p:pic>
            <p:nvPicPr>
              <p:cNvPr id="66" name="Ink 65">
                <a:extLst>
                  <a:ext uri="{FF2B5EF4-FFF2-40B4-BE49-F238E27FC236}">
                    <a16:creationId xmlns:a16="http://schemas.microsoft.com/office/drawing/2014/main" id="{B97BC2D2-BC16-9A49-9872-FA965622C09D}"/>
                  </a:ext>
                </a:extLst>
              </p:cNvPr>
              <p:cNvPicPr/>
              <p:nvPr/>
            </p:nvPicPr>
            <p:blipFill>
              <a:blip r:embed="rId5"/>
              <a:stretch>
                <a:fillRect/>
              </a:stretch>
            </p:blipFill>
            <p:spPr>
              <a:xfrm>
                <a:off x="2181850" y="1003976"/>
                <a:ext cx="5107681" cy="2673722"/>
              </a:xfrm>
              <a:prstGeom prst="rect">
                <a:avLst/>
              </a:prstGeom>
            </p:spPr>
          </p:pic>
        </mc:Fallback>
      </mc:AlternateContent>
      <mc:AlternateContent xmlns:mc="http://schemas.openxmlformats.org/markup-compatibility/2006">
        <mc:Choice xmlns:p14="http://schemas.microsoft.com/office/powerpoint/2010/main" Requires="p14">
          <p:contentPart p14:bwMode="auto" r:id="rId6">
            <p14:nvContentPartPr>
              <p14:cNvPr id="67" name="Ink 66">
                <a:extLst>
                  <a:ext uri="{FF2B5EF4-FFF2-40B4-BE49-F238E27FC236}">
                    <a16:creationId xmlns:a16="http://schemas.microsoft.com/office/drawing/2014/main" id="{C5E67767-BEE9-F147-AE78-A264992874E0}"/>
                  </a:ext>
                </a:extLst>
              </p14:cNvPr>
              <p14:cNvContentPartPr/>
              <p14:nvPr/>
            </p14:nvContentPartPr>
            <p14:xfrm>
              <a:off x="3462371" y="2324097"/>
              <a:ext cx="2319120" cy="1325160"/>
            </p14:xfrm>
          </p:contentPart>
        </mc:Choice>
        <mc:Fallback>
          <p:pic>
            <p:nvPicPr>
              <p:cNvPr id="67" name="Ink 66">
                <a:extLst>
                  <a:ext uri="{FF2B5EF4-FFF2-40B4-BE49-F238E27FC236}">
                    <a16:creationId xmlns:a16="http://schemas.microsoft.com/office/drawing/2014/main" id="{C5E67767-BEE9-F147-AE78-A264992874E0}"/>
                  </a:ext>
                </a:extLst>
              </p:cNvPr>
              <p:cNvPicPr/>
              <p:nvPr/>
            </p:nvPicPr>
            <p:blipFill>
              <a:blip r:embed="rId7"/>
              <a:stretch>
                <a:fillRect/>
              </a:stretch>
            </p:blipFill>
            <p:spPr>
              <a:xfrm>
                <a:off x="3408371" y="2216097"/>
                <a:ext cx="2426760" cy="1540800"/>
              </a:xfrm>
              <a:prstGeom prst="rect">
                <a:avLst/>
              </a:prstGeom>
            </p:spPr>
          </p:pic>
        </mc:Fallback>
      </mc:AlternateContent>
      <mc:AlternateContent xmlns:mc="http://schemas.openxmlformats.org/markup-compatibility/2006">
        <mc:Choice xmlns:p14="http://schemas.microsoft.com/office/powerpoint/2010/main" Requires="p14">
          <p:contentPart p14:bwMode="auto" r:id="rId8">
            <p14:nvContentPartPr>
              <p14:cNvPr id="68" name="Ink 67">
                <a:extLst>
                  <a:ext uri="{FF2B5EF4-FFF2-40B4-BE49-F238E27FC236}">
                    <a16:creationId xmlns:a16="http://schemas.microsoft.com/office/drawing/2014/main" id="{1990DD7C-6FEE-094B-9811-996A9DCA009E}"/>
                  </a:ext>
                </a:extLst>
              </p14:cNvPr>
              <p14:cNvContentPartPr/>
              <p14:nvPr/>
            </p14:nvContentPartPr>
            <p14:xfrm>
              <a:off x="3389651" y="2945097"/>
              <a:ext cx="1844640" cy="844560"/>
            </p14:xfrm>
          </p:contentPart>
        </mc:Choice>
        <mc:Fallback>
          <p:pic>
            <p:nvPicPr>
              <p:cNvPr id="68" name="Ink 67">
                <a:extLst>
                  <a:ext uri="{FF2B5EF4-FFF2-40B4-BE49-F238E27FC236}">
                    <a16:creationId xmlns:a16="http://schemas.microsoft.com/office/drawing/2014/main" id="{1990DD7C-6FEE-094B-9811-996A9DCA009E}"/>
                  </a:ext>
                </a:extLst>
              </p:cNvPr>
              <p:cNvPicPr/>
              <p:nvPr/>
            </p:nvPicPr>
            <p:blipFill>
              <a:blip r:embed="rId9"/>
              <a:stretch>
                <a:fillRect/>
              </a:stretch>
            </p:blipFill>
            <p:spPr>
              <a:xfrm>
                <a:off x="3335651" y="2837097"/>
                <a:ext cx="1952280" cy="1060200"/>
              </a:xfrm>
              <a:prstGeom prst="rect">
                <a:avLst/>
              </a:prstGeom>
            </p:spPr>
          </p:pic>
        </mc:Fallback>
      </mc:AlternateContent>
      <p:sp>
        <p:nvSpPr>
          <p:cNvPr id="69" name="TextBox 68">
            <a:extLst>
              <a:ext uri="{FF2B5EF4-FFF2-40B4-BE49-F238E27FC236}">
                <a16:creationId xmlns:a16="http://schemas.microsoft.com/office/drawing/2014/main" id="{FB9541D0-EA99-9544-9203-93ED9AE72FD5}"/>
              </a:ext>
            </a:extLst>
          </p:cNvPr>
          <p:cNvSpPr txBox="1"/>
          <p:nvPr/>
        </p:nvSpPr>
        <p:spPr>
          <a:xfrm>
            <a:off x="4383314" y="1827584"/>
            <a:ext cx="1161143" cy="369332"/>
          </a:xfrm>
          <a:prstGeom prst="rect">
            <a:avLst/>
          </a:prstGeom>
          <a:noFill/>
        </p:spPr>
        <p:txBody>
          <a:bodyPr wrap="square" rtlCol="0">
            <a:spAutoFit/>
          </a:bodyPr>
          <a:lstStyle/>
          <a:p>
            <a:r>
              <a:rPr lang="en-US" dirty="0"/>
              <a:t>FS</a:t>
            </a:r>
          </a:p>
        </p:txBody>
      </p:sp>
      <p:sp>
        <p:nvSpPr>
          <p:cNvPr id="70" name="Oval 69">
            <a:extLst>
              <a:ext uri="{FF2B5EF4-FFF2-40B4-BE49-F238E27FC236}">
                <a16:creationId xmlns:a16="http://schemas.microsoft.com/office/drawing/2014/main" id="{44951ED3-A7B1-B14D-BDFA-6C8B82A01853}"/>
              </a:ext>
            </a:extLst>
          </p:cNvPr>
          <p:cNvSpPr/>
          <p:nvPr/>
        </p:nvSpPr>
        <p:spPr>
          <a:xfrm>
            <a:off x="1898017" y="2032170"/>
            <a:ext cx="206152" cy="19095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1" name="Oval 70">
            <a:extLst>
              <a:ext uri="{FF2B5EF4-FFF2-40B4-BE49-F238E27FC236}">
                <a16:creationId xmlns:a16="http://schemas.microsoft.com/office/drawing/2014/main" id="{2C931BA1-43E8-8F44-922F-AA92295481CB}"/>
              </a:ext>
            </a:extLst>
          </p:cNvPr>
          <p:cNvSpPr/>
          <p:nvPr/>
        </p:nvSpPr>
        <p:spPr>
          <a:xfrm>
            <a:off x="4560152" y="4174780"/>
            <a:ext cx="206152" cy="19095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2" name="TextBox 71">
            <a:extLst>
              <a:ext uri="{FF2B5EF4-FFF2-40B4-BE49-F238E27FC236}">
                <a16:creationId xmlns:a16="http://schemas.microsoft.com/office/drawing/2014/main" id="{744EE931-1E0C-2642-844D-DBE9AB6E9EAE}"/>
              </a:ext>
            </a:extLst>
          </p:cNvPr>
          <p:cNvSpPr txBox="1"/>
          <p:nvPr/>
        </p:nvSpPr>
        <p:spPr>
          <a:xfrm>
            <a:off x="4904026" y="4173834"/>
            <a:ext cx="725716" cy="923330"/>
          </a:xfrm>
          <a:prstGeom prst="rect">
            <a:avLst/>
          </a:prstGeom>
          <a:noFill/>
        </p:spPr>
        <p:txBody>
          <a:bodyPr wrap="square" rtlCol="0">
            <a:spAutoFit/>
          </a:bodyPr>
          <a:lstStyle/>
          <a:p>
            <a:r>
              <a:rPr lang="en-US" dirty="0"/>
              <a:t>20/7,40/7,5.71</a:t>
            </a:r>
          </a:p>
        </p:txBody>
      </p:sp>
      <p:sp>
        <p:nvSpPr>
          <p:cNvPr id="73" name="Rectangle 72">
            <a:extLst>
              <a:ext uri="{FF2B5EF4-FFF2-40B4-BE49-F238E27FC236}">
                <a16:creationId xmlns:a16="http://schemas.microsoft.com/office/drawing/2014/main" id="{EF8329B1-D62B-8B42-8331-CF7B5997D416}"/>
              </a:ext>
            </a:extLst>
          </p:cNvPr>
          <p:cNvSpPr/>
          <p:nvPr/>
        </p:nvSpPr>
        <p:spPr>
          <a:xfrm>
            <a:off x="8665658" y="3385434"/>
            <a:ext cx="1595309" cy="464871"/>
          </a:xfrm>
          <a:prstGeom prst="rect">
            <a:avLst/>
          </a:prstGeom>
        </p:spPr>
        <p:txBody>
          <a:bodyPr wrap="none">
            <a:spAutoFit/>
          </a:bodyPr>
          <a:lstStyle/>
          <a:p>
            <a:pPr>
              <a:lnSpc>
                <a:spcPct val="150000"/>
              </a:lnSpc>
            </a:pPr>
            <a:r>
              <a:rPr lang="en-IN" dirty="0"/>
              <a:t>Z=0.4*A+0.8*B</a:t>
            </a:r>
          </a:p>
        </p:txBody>
      </p:sp>
      <p:sp>
        <p:nvSpPr>
          <p:cNvPr id="74" name="Rectangle 73">
            <a:extLst>
              <a:ext uri="{FF2B5EF4-FFF2-40B4-BE49-F238E27FC236}">
                <a16:creationId xmlns:a16="http://schemas.microsoft.com/office/drawing/2014/main" id="{576BFEFA-08E7-5A44-8EA3-D185A5799826}"/>
              </a:ext>
            </a:extLst>
          </p:cNvPr>
          <p:cNvSpPr/>
          <p:nvPr/>
        </p:nvSpPr>
        <p:spPr>
          <a:xfrm>
            <a:off x="8629372" y="4060348"/>
            <a:ext cx="3047886" cy="1711366"/>
          </a:xfrm>
          <a:prstGeom prst="rect">
            <a:avLst/>
          </a:prstGeom>
        </p:spPr>
        <p:txBody>
          <a:bodyPr wrap="none">
            <a:spAutoFit/>
          </a:bodyPr>
          <a:lstStyle/>
          <a:p>
            <a:pPr>
              <a:lnSpc>
                <a:spcPct val="150000"/>
              </a:lnSpc>
            </a:pPr>
            <a:r>
              <a:rPr lang="en-IN" dirty="0"/>
              <a:t>At 3 points we have values as </a:t>
            </a:r>
          </a:p>
          <a:p>
            <a:pPr>
              <a:lnSpc>
                <a:spcPct val="150000"/>
              </a:lnSpc>
            </a:pPr>
            <a:r>
              <a:rPr lang="en-IN" dirty="0"/>
              <a:t>8,6,5.71</a:t>
            </a:r>
          </a:p>
          <a:p>
            <a:pPr>
              <a:lnSpc>
                <a:spcPct val="150000"/>
              </a:lnSpc>
            </a:pPr>
            <a:r>
              <a:rPr lang="en-IN" dirty="0"/>
              <a:t>Therefore the optimal value is </a:t>
            </a:r>
          </a:p>
          <a:p>
            <a:pPr>
              <a:lnSpc>
                <a:spcPct val="150000"/>
              </a:lnSpc>
            </a:pPr>
            <a:r>
              <a:rPr lang="en-IN" dirty="0"/>
              <a:t>5.71 @ (20/7,40/7)</a:t>
            </a:r>
          </a:p>
        </p:txBody>
      </p:sp>
    </p:spTree>
    <p:extLst>
      <p:ext uri="{BB962C8B-B14F-4D97-AF65-F5344CB8AC3E}">
        <p14:creationId xmlns:p14="http://schemas.microsoft.com/office/powerpoint/2010/main" val="425561759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C815D-DB89-7044-AF80-F75CFF7B95A6}"/>
              </a:ext>
            </a:extLst>
          </p:cNvPr>
          <p:cNvSpPr>
            <a:spLocks noGrp="1"/>
          </p:cNvSpPr>
          <p:nvPr>
            <p:ph type="ctrTitle"/>
          </p:nvPr>
        </p:nvSpPr>
        <p:spPr/>
        <p:txBody>
          <a:bodyPr>
            <a:normAutofit/>
          </a:bodyPr>
          <a:lstStyle/>
          <a:p>
            <a:r>
              <a:rPr lang="en-US" sz="4800" dirty="0"/>
              <a:t>Excel Exercise</a:t>
            </a:r>
          </a:p>
        </p:txBody>
      </p:sp>
    </p:spTree>
    <p:extLst>
      <p:ext uri="{BB962C8B-B14F-4D97-AF65-F5344CB8AC3E}">
        <p14:creationId xmlns:p14="http://schemas.microsoft.com/office/powerpoint/2010/main" val="37359695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D9B2-E2E2-CA40-BEE4-C5FD5E7A538F}"/>
              </a:ext>
            </a:extLst>
          </p:cNvPr>
          <p:cNvSpPr>
            <a:spLocks noGrp="1"/>
          </p:cNvSpPr>
          <p:nvPr>
            <p:ph type="title"/>
          </p:nvPr>
        </p:nvSpPr>
        <p:spPr/>
        <p:txBody>
          <a:bodyPr/>
          <a:lstStyle/>
          <a:p>
            <a:r>
              <a:rPr lang="en-US" dirty="0"/>
              <a:t>Excel Exercise Interpretation</a:t>
            </a:r>
          </a:p>
        </p:txBody>
      </p:sp>
      <p:sp>
        <p:nvSpPr>
          <p:cNvPr id="3" name="Content Placeholder 2">
            <a:extLst>
              <a:ext uri="{FF2B5EF4-FFF2-40B4-BE49-F238E27FC236}">
                <a16:creationId xmlns:a16="http://schemas.microsoft.com/office/drawing/2014/main" id="{EEBB8932-B204-0B40-987B-BC03197C4901}"/>
              </a:ext>
            </a:extLst>
          </p:cNvPr>
          <p:cNvSpPr>
            <a:spLocks noGrp="1"/>
          </p:cNvSpPr>
          <p:nvPr>
            <p:ph idx="1"/>
          </p:nvPr>
        </p:nvSpPr>
        <p:spPr/>
        <p:txBody>
          <a:bodyPr>
            <a:noAutofit/>
          </a:bodyPr>
          <a:lstStyle/>
          <a:p>
            <a:pPr>
              <a:lnSpc>
                <a:spcPct val="160000"/>
              </a:lnSpc>
            </a:pPr>
            <a:r>
              <a:rPr lang="en-IN" sz="2400" dirty="0"/>
              <a:t>Use excel to solve the following. </a:t>
            </a:r>
          </a:p>
          <a:p>
            <a:pPr>
              <a:lnSpc>
                <a:spcPct val="160000"/>
              </a:lnSpc>
            </a:pPr>
            <a:r>
              <a:rPr lang="en-IN" sz="2400" dirty="0"/>
              <a:t>Max 50A + 60B + 55C </a:t>
            </a:r>
          </a:p>
          <a:p>
            <a:pPr>
              <a:lnSpc>
                <a:spcPct val="160000"/>
              </a:lnSpc>
            </a:pPr>
            <a:r>
              <a:rPr lang="en-IN" sz="2400" dirty="0" err="1"/>
              <a:t>s.t.</a:t>
            </a:r>
            <a:r>
              <a:rPr lang="en-IN" sz="2400" dirty="0"/>
              <a:t> A + B + C ≤ 100 </a:t>
            </a:r>
          </a:p>
          <a:p>
            <a:pPr>
              <a:lnSpc>
                <a:spcPct val="160000"/>
              </a:lnSpc>
            </a:pPr>
            <a:r>
              <a:rPr lang="en-IN" sz="2400" dirty="0"/>
              <a:t>2A + 3B + 2C ≤ 300 </a:t>
            </a:r>
          </a:p>
          <a:p>
            <a:pPr>
              <a:lnSpc>
                <a:spcPct val="160000"/>
              </a:lnSpc>
            </a:pPr>
            <a:r>
              <a:rPr lang="en-IN" sz="2400" dirty="0"/>
              <a:t>2A + 3B + 2C ≥ 250 </a:t>
            </a:r>
          </a:p>
          <a:p>
            <a:pPr>
              <a:lnSpc>
                <a:spcPct val="160000"/>
              </a:lnSpc>
            </a:pPr>
            <a:r>
              <a:rPr lang="en-IN" sz="2400" dirty="0"/>
              <a:t>A + 2C ≥ 60</a:t>
            </a:r>
          </a:p>
        </p:txBody>
      </p:sp>
    </p:spTree>
    <p:extLst>
      <p:ext uri="{BB962C8B-B14F-4D97-AF65-F5344CB8AC3E}">
        <p14:creationId xmlns:p14="http://schemas.microsoft.com/office/powerpoint/2010/main" val="349088521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D9B2-E2E2-CA40-BEE4-C5FD5E7A538F}"/>
              </a:ext>
            </a:extLst>
          </p:cNvPr>
          <p:cNvSpPr>
            <a:spLocks noGrp="1"/>
          </p:cNvSpPr>
          <p:nvPr>
            <p:ph type="title"/>
          </p:nvPr>
        </p:nvSpPr>
        <p:spPr/>
        <p:txBody>
          <a:bodyPr/>
          <a:lstStyle/>
          <a:p>
            <a:r>
              <a:rPr lang="en-US" dirty="0"/>
              <a:t>Excel Exercise Interpretation</a:t>
            </a:r>
          </a:p>
        </p:txBody>
      </p:sp>
      <p:sp>
        <p:nvSpPr>
          <p:cNvPr id="3" name="Content Placeholder 2">
            <a:extLst>
              <a:ext uri="{FF2B5EF4-FFF2-40B4-BE49-F238E27FC236}">
                <a16:creationId xmlns:a16="http://schemas.microsoft.com/office/drawing/2014/main" id="{EEBB8932-B204-0B40-987B-BC03197C4901}"/>
              </a:ext>
            </a:extLst>
          </p:cNvPr>
          <p:cNvSpPr>
            <a:spLocks noGrp="1"/>
          </p:cNvSpPr>
          <p:nvPr>
            <p:ph idx="1"/>
          </p:nvPr>
        </p:nvSpPr>
        <p:spPr/>
        <p:txBody>
          <a:bodyPr>
            <a:noAutofit/>
          </a:bodyPr>
          <a:lstStyle/>
          <a:p>
            <a:pPr>
              <a:lnSpc>
                <a:spcPct val="160000"/>
              </a:lnSpc>
            </a:pPr>
            <a:r>
              <a:rPr lang="en-IN" sz="1600" dirty="0"/>
              <a:t>State the optimal solution </a:t>
            </a:r>
          </a:p>
          <a:p>
            <a:pPr>
              <a:lnSpc>
                <a:spcPct val="160000"/>
              </a:lnSpc>
            </a:pPr>
            <a:r>
              <a:rPr lang="en-IN" sz="1600" dirty="0"/>
              <a:t>What is the optimal objective function value?</a:t>
            </a:r>
          </a:p>
          <a:p>
            <a:pPr>
              <a:lnSpc>
                <a:spcPct val="160000"/>
              </a:lnSpc>
            </a:pPr>
            <a:r>
              <a:rPr lang="en-IN" sz="1600" dirty="0"/>
              <a:t>What would happen to the optimal solution if a) the unit profit on B decreases by 20? b) the unit profit on C decreases to 45? c) the unit profits on A &amp; C change to 53 (Simultaneous Changes-100% Rule)? </a:t>
            </a:r>
          </a:p>
          <a:p>
            <a:pPr>
              <a:lnSpc>
                <a:spcPct val="160000"/>
              </a:lnSpc>
            </a:pPr>
            <a:r>
              <a:rPr lang="en-IN" sz="1600" dirty="0"/>
              <a:t>Interpret the reduced cost for A </a:t>
            </a:r>
          </a:p>
          <a:p>
            <a:pPr>
              <a:lnSpc>
                <a:spcPct val="160000"/>
              </a:lnSpc>
            </a:pPr>
            <a:r>
              <a:rPr lang="en-IN" sz="1600" dirty="0"/>
              <a:t>What would happen to the objective function if a) the RHS of constraint 1 increases by 5? b) the RHS of constraint 2 decreases to 250? c) the RHS of constraint 4 changes to 44? </a:t>
            </a:r>
          </a:p>
          <a:p>
            <a:pPr>
              <a:lnSpc>
                <a:spcPct val="160000"/>
              </a:lnSpc>
            </a:pPr>
            <a:r>
              <a:rPr lang="en-IN" sz="1600" dirty="0"/>
              <a:t>Which constraints are binding? </a:t>
            </a:r>
          </a:p>
          <a:p>
            <a:pPr>
              <a:lnSpc>
                <a:spcPct val="160000"/>
              </a:lnSpc>
            </a:pPr>
            <a:r>
              <a:rPr lang="en-IN" sz="1600" dirty="0"/>
              <a:t>What are the slack/surplus values?</a:t>
            </a:r>
          </a:p>
        </p:txBody>
      </p:sp>
    </p:spTree>
    <p:extLst>
      <p:ext uri="{BB962C8B-B14F-4D97-AF65-F5344CB8AC3E}">
        <p14:creationId xmlns:p14="http://schemas.microsoft.com/office/powerpoint/2010/main" val="28270850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D9B2-E2E2-CA40-BEE4-C5FD5E7A538F}"/>
              </a:ext>
            </a:extLst>
          </p:cNvPr>
          <p:cNvSpPr>
            <a:spLocks noGrp="1"/>
          </p:cNvSpPr>
          <p:nvPr>
            <p:ph type="title"/>
          </p:nvPr>
        </p:nvSpPr>
        <p:spPr/>
        <p:txBody>
          <a:bodyPr/>
          <a:lstStyle/>
          <a:p>
            <a:r>
              <a:rPr lang="en-US" dirty="0"/>
              <a:t>Excel Exercise Interpretation</a:t>
            </a:r>
          </a:p>
        </p:txBody>
      </p:sp>
      <p:sp>
        <p:nvSpPr>
          <p:cNvPr id="3" name="Content Placeholder 2">
            <a:extLst>
              <a:ext uri="{FF2B5EF4-FFF2-40B4-BE49-F238E27FC236}">
                <a16:creationId xmlns:a16="http://schemas.microsoft.com/office/drawing/2014/main" id="{EEBB8932-B204-0B40-987B-BC03197C4901}"/>
              </a:ext>
            </a:extLst>
          </p:cNvPr>
          <p:cNvSpPr>
            <a:spLocks noGrp="1"/>
          </p:cNvSpPr>
          <p:nvPr>
            <p:ph idx="1"/>
          </p:nvPr>
        </p:nvSpPr>
        <p:spPr/>
        <p:txBody>
          <a:bodyPr>
            <a:noAutofit/>
          </a:bodyPr>
          <a:lstStyle/>
          <a:p>
            <a:pPr>
              <a:lnSpc>
                <a:spcPct val="160000"/>
              </a:lnSpc>
            </a:pPr>
            <a:r>
              <a:rPr lang="en-IN" sz="1600" dirty="0"/>
              <a:t>State the optimal solution </a:t>
            </a:r>
          </a:p>
          <a:p>
            <a:pPr>
              <a:lnSpc>
                <a:spcPct val="160000"/>
              </a:lnSpc>
            </a:pPr>
            <a:endParaRPr lang="en-IN" sz="1600" dirty="0"/>
          </a:p>
        </p:txBody>
      </p:sp>
      <p:graphicFrame>
        <p:nvGraphicFramePr>
          <p:cNvPr id="4" name="Table 3">
            <a:extLst>
              <a:ext uri="{FF2B5EF4-FFF2-40B4-BE49-F238E27FC236}">
                <a16:creationId xmlns:a16="http://schemas.microsoft.com/office/drawing/2014/main" id="{178660BC-393B-594B-8F53-A5BD89E60112}"/>
              </a:ext>
            </a:extLst>
          </p:cNvPr>
          <p:cNvGraphicFramePr>
            <a:graphicFrameLocks noGrp="1"/>
          </p:cNvGraphicFramePr>
          <p:nvPr>
            <p:extLst>
              <p:ext uri="{D42A27DB-BD31-4B8C-83A1-F6EECF244321}">
                <p14:modId xmlns:p14="http://schemas.microsoft.com/office/powerpoint/2010/main" val="1492212429"/>
              </p:ext>
            </p:extLst>
          </p:nvPr>
        </p:nvGraphicFramePr>
        <p:xfrm>
          <a:off x="1508166" y="2862746"/>
          <a:ext cx="8585860" cy="2516775"/>
        </p:xfrm>
        <a:graphic>
          <a:graphicData uri="http://schemas.openxmlformats.org/drawingml/2006/table">
            <a:tbl>
              <a:tblPr>
                <a:tableStyleId>{5C22544A-7EE6-4342-B048-85BDC9FD1C3A}</a:tableStyleId>
              </a:tblPr>
              <a:tblGrid>
                <a:gridCol w="285360">
                  <a:extLst>
                    <a:ext uri="{9D8B030D-6E8A-4147-A177-3AD203B41FA5}">
                      <a16:colId xmlns:a16="http://schemas.microsoft.com/office/drawing/2014/main" val="239312780"/>
                    </a:ext>
                  </a:extLst>
                </a:gridCol>
                <a:gridCol w="735931">
                  <a:extLst>
                    <a:ext uri="{9D8B030D-6E8A-4147-A177-3AD203B41FA5}">
                      <a16:colId xmlns:a16="http://schemas.microsoft.com/office/drawing/2014/main" val="4052559793"/>
                    </a:ext>
                  </a:extLst>
                </a:gridCol>
                <a:gridCol w="2087641">
                  <a:extLst>
                    <a:ext uri="{9D8B030D-6E8A-4147-A177-3AD203B41FA5}">
                      <a16:colId xmlns:a16="http://schemas.microsoft.com/office/drawing/2014/main" val="222496331"/>
                    </a:ext>
                  </a:extLst>
                </a:gridCol>
                <a:gridCol w="705894">
                  <a:extLst>
                    <a:ext uri="{9D8B030D-6E8A-4147-A177-3AD203B41FA5}">
                      <a16:colId xmlns:a16="http://schemas.microsoft.com/office/drawing/2014/main" val="1370437940"/>
                    </a:ext>
                  </a:extLst>
                </a:gridCol>
                <a:gridCol w="981240">
                  <a:extLst>
                    <a:ext uri="{9D8B030D-6E8A-4147-A177-3AD203B41FA5}">
                      <a16:colId xmlns:a16="http://schemas.microsoft.com/office/drawing/2014/main" val="2958351115"/>
                    </a:ext>
                  </a:extLst>
                </a:gridCol>
                <a:gridCol w="1201520">
                  <a:extLst>
                    <a:ext uri="{9D8B030D-6E8A-4147-A177-3AD203B41FA5}">
                      <a16:colId xmlns:a16="http://schemas.microsoft.com/office/drawing/2014/main" val="3532013125"/>
                    </a:ext>
                  </a:extLst>
                </a:gridCol>
                <a:gridCol w="1126425">
                  <a:extLst>
                    <a:ext uri="{9D8B030D-6E8A-4147-A177-3AD203B41FA5}">
                      <a16:colId xmlns:a16="http://schemas.microsoft.com/office/drawing/2014/main" val="2245695538"/>
                    </a:ext>
                  </a:extLst>
                </a:gridCol>
                <a:gridCol w="1461849">
                  <a:extLst>
                    <a:ext uri="{9D8B030D-6E8A-4147-A177-3AD203B41FA5}">
                      <a16:colId xmlns:a16="http://schemas.microsoft.com/office/drawing/2014/main" val="4084059250"/>
                    </a:ext>
                  </a:extLst>
                </a:gridCol>
              </a:tblGrid>
              <a:tr h="432173">
                <a:tc gridSpan="3">
                  <a:txBody>
                    <a:bodyPr/>
                    <a:lstStyle/>
                    <a:p>
                      <a:pPr algn="l" fontAlgn="b"/>
                      <a:r>
                        <a:rPr lang="en-IN" sz="1800" u="none" strike="noStrike">
                          <a:effectLst/>
                        </a:rPr>
                        <a:t>Variable Cells</a:t>
                      </a:r>
                      <a:endParaRPr lang="en-IN" sz="18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24534228"/>
                  </a:ext>
                </a:extLst>
              </a:tr>
              <a:tr h="406752">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 </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 </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Final</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Reduced</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Objective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Allowable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Allowable</a:t>
                      </a:r>
                      <a:endParaRPr lang="en-IN" sz="1800" b="1" i="0" u="none" strike="noStrike">
                        <a:solidFill>
                          <a:srgbClr val="00008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544500914"/>
                  </a:ext>
                </a:extLst>
              </a:tr>
              <a:tr h="432173">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Cell</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dirty="0">
                          <a:effectLst/>
                        </a:rPr>
                        <a:t>Name</a:t>
                      </a:r>
                      <a:endParaRPr lang="en-IN" sz="1800" b="1" i="0" u="none" strike="noStrike" dirty="0">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Value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Cost</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Coefficient</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Increase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Decrease</a:t>
                      </a:r>
                      <a:endParaRPr lang="en-IN" sz="1800" b="1" i="0" u="none" strike="noStrike">
                        <a:solidFill>
                          <a:srgbClr val="00008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31832736"/>
                  </a:ext>
                </a:extLst>
              </a:tr>
              <a:tr h="406752">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$B$6</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Number to make  A</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-7.5</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50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7.5</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1E+30</a:t>
                      </a:r>
                      <a:endParaRPr lang="en-IN"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20744956"/>
                  </a:ext>
                </a:extLst>
              </a:tr>
              <a:tr h="406752">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$C$6</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Number to make  B</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70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60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1E+30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5</a:t>
                      </a:r>
                      <a:endParaRPr lang="en-IN"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93484697"/>
                  </a:ext>
                </a:extLst>
              </a:tr>
              <a:tr h="432173">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$D$6</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dirty="0">
                          <a:effectLst/>
                        </a:rPr>
                        <a:t>Number to make  C</a:t>
                      </a:r>
                      <a:endParaRPr lang="en-IN"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dirty="0">
                          <a:effectLst/>
                        </a:rPr>
                        <a:t>30</a:t>
                      </a:r>
                      <a:endParaRPr lang="en-IN"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55</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5</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dirty="0">
                          <a:effectLst/>
                        </a:rPr>
                        <a:t>15</a:t>
                      </a:r>
                      <a:endParaRPr lang="en-IN"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25839841"/>
                  </a:ext>
                </a:extLst>
              </a:tr>
            </a:tbl>
          </a:graphicData>
        </a:graphic>
      </p:graphicFrame>
      <p:sp>
        <p:nvSpPr>
          <p:cNvPr id="5" name="Oval 4">
            <a:extLst>
              <a:ext uri="{FF2B5EF4-FFF2-40B4-BE49-F238E27FC236}">
                <a16:creationId xmlns:a16="http://schemas.microsoft.com/office/drawing/2014/main" id="{4C0886BF-A74F-8144-843A-0B3A14CA68DE}"/>
              </a:ext>
            </a:extLst>
          </p:cNvPr>
          <p:cNvSpPr/>
          <p:nvPr/>
        </p:nvSpPr>
        <p:spPr>
          <a:xfrm>
            <a:off x="4631377" y="2996888"/>
            <a:ext cx="795645" cy="2655766"/>
          </a:xfrm>
          <a:prstGeom prst="ellipse">
            <a:avLst/>
          </a:prstGeom>
          <a:noFill/>
          <a:ln w="285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6591761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D9B2-E2E2-CA40-BEE4-C5FD5E7A538F}"/>
              </a:ext>
            </a:extLst>
          </p:cNvPr>
          <p:cNvSpPr>
            <a:spLocks noGrp="1"/>
          </p:cNvSpPr>
          <p:nvPr>
            <p:ph type="title"/>
          </p:nvPr>
        </p:nvSpPr>
        <p:spPr/>
        <p:txBody>
          <a:bodyPr/>
          <a:lstStyle/>
          <a:p>
            <a:r>
              <a:rPr lang="en-US" dirty="0"/>
              <a:t>Excel Exercise Interpretation</a:t>
            </a:r>
          </a:p>
        </p:txBody>
      </p:sp>
      <p:sp>
        <p:nvSpPr>
          <p:cNvPr id="3" name="Content Placeholder 2">
            <a:extLst>
              <a:ext uri="{FF2B5EF4-FFF2-40B4-BE49-F238E27FC236}">
                <a16:creationId xmlns:a16="http://schemas.microsoft.com/office/drawing/2014/main" id="{EEBB8932-B204-0B40-987B-BC03197C4901}"/>
              </a:ext>
            </a:extLst>
          </p:cNvPr>
          <p:cNvSpPr>
            <a:spLocks noGrp="1"/>
          </p:cNvSpPr>
          <p:nvPr>
            <p:ph idx="1"/>
          </p:nvPr>
        </p:nvSpPr>
        <p:spPr/>
        <p:txBody>
          <a:bodyPr>
            <a:noAutofit/>
          </a:bodyPr>
          <a:lstStyle/>
          <a:p>
            <a:pPr>
              <a:lnSpc>
                <a:spcPct val="160000"/>
              </a:lnSpc>
            </a:pPr>
            <a:r>
              <a:rPr lang="en-IN" sz="1600" dirty="0"/>
              <a:t>What would happen to the optimal solution if a) the unit profit on B decreases by 20?</a:t>
            </a:r>
          </a:p>
          <a:p>
            <a:pPr>
              <a:lnSpc>
                <a:spcPct val="160000"/>
              </a:lnSpc>
            </a:pPr>
            <a:r>
              <a:rPr lang="en-IN" sz="1600" dirty="0"/>
              <a:t>Upper limit for B is Inf, lower limit 65</a:t>
            </a:r>
          </a:p>
          <a:p>
            <a:pPr>
              <a:lnSpc>
                <a:spcPct val="160000"/>
              </a:lnSpc>
            </a:pPr>
            <a:r>
              <a:rPr lang="en-IN" sz="1600" dirty="0"/>
              <a:t>Current </a:t>
            </a:r>
            <a:r>
              <a:rPr lang="en-IN" sz="1600" dirty="0" err="1"/>
              <a:t>coef</a:t>
            </a:r>
            <a:r>
              <a:rPr lang="en-IN" sz="1600" dirty="0"/>
              <a:t>=60, decreased </a:t>
            </a:r>
            <a:r>
              <a:rPr lang="en-IN" sz="1600" dirty="0" err="1"/>
              <a:t>coef</a:t>
            </a:r>
            <a:r>
              <a:rPr lang="en-IN" sz="1600" dirty="0"/>
              <a:t> =60-20=40 =&gt; 40&lt;55 =&gt; optimal solution will change. </a:t>
            </a:r>
          </a:p>
        </p:txBody>
      </p:sp>
      <p:graphicFrame>
        <p:nvGraphicFramePr>
          <p:cNvPr id="4" name="Table 3">
            <a:extLst>
              <a:ext uri="{FF2B5EF4-FFF2-40B4-BE49-F238E27FC236}">
                <a16:creationId xmlns:a16="http://schemas.microsoft.com/office/drawing/2014/main" id="{178660BC-393B-594B-8F53-A5BD89E60112}"/>
              </a:ext>
            </a:extLst>
          </p:cNvPr>
          <p:cNvGraphicFramePr>
            <a:graphicFrameLocks noGrp="1"/>
          </p:cNvGraphicFramePr>
          <p:nvPr>
            <p:extLst>
              <p:ext uri="{D42A27DB-BD31-4B8C-83A1-F6EECF244321}">
                <p14:modId xmlns:p14="http://schemas.microsoft.com/office/powerpoint/2010/main" val="2340350129"/>
              </p:ext>
            </p:extLst>
          </p:nvPr>
        </p:nvGraphicFramePr>
        <p:xfrm>
          <a:off x="1389413" y="3795125"/>
          <a:ext cx="8585860" cy="2516775"/>
        </p:xfrm>
        <a:graphic>
          <a:graphicData uri="http://schemas.openxmlformats.org/drawingml/2006/table">
            <a:tbl>
              <a:tblPr>
                <a:tableStyleId>{5C22544A-7EE6-4342-B048-85BDC9FD1C3A}</a:tableStyleId>
              </a:tblPr>
              <a:tblGrid>
                <a:gridCol w="285360">
                  <a:extLst>
                    <a:ext uri="{9D8B030D-6E8A-4147-A177-3AD203B41FA5}">
                      <a16:colId xmlns:a16="http://schemas.microsoft.com/office/drawing/2014/main" val="239312780"/>
                    </a:ext>
                  </a:extLst>
                </a:gridCol>
                <a:gridCol w="735931">
                  <a:extLst>
                    <a:ext uri="{9D8B030D-6E8A-4147-A177-3AD203B41FA5}">
                      <a16:colId xmlns:a16="http://schemas.microsoft.com/office/drawing/2014/main" val="4052559793"/>
                    </a:ext>
                  </a:extLst>
                </a:gridCol>
                <a:gridCol w="2087641">
                  <a:extLst>
                    <a:ext uri="{9D8B030D-6E8A-4147-A177-3AD203B41FA5}">
                      <a16:colId xmlns:a16="http://schemas.microsoft.com/office/drawing/2014/main" val="222496331"/>
                    </a:ext>
                  </a:extLst>
                </a:gridCol>
                <a:gridCol w="705894">
                  <a:extLst>
                    <a:ext uri="{9D8B030D-6E8A-4147-A177-3AD203B41FA5}">
                      <a16:colId xmlns:a16="http://schemas.microsoft.com/office/drawing/2014/main" val="1370437940"/>
                    </a:ext>
                  </a:extLst>
                </a:gridCol>
                <a:gridCol w="981240">
                  <a:extLst>
                    <a:ext uri="{9D8B030D-6E8A-4147-A177-3AD203B41FA5}">
                      <a16:colId xmlns:a16="http://schemas.microsoft.com/office/drawing/2014/main" val="2958351115"/>
                    </a:ext>
                  </a:extLst>
                </a:gridCol>
                <a:gridCol w="1201520">
                  <a:extLst>
                    <a:ext uri="{9D8B030D-6E8A-4147-A177-3AD203B41FA5}">
                      <a16:colId xmlns:a16="http://schemas.microsoft.com/office/drawing/2014/main" val="3532013125"/>
                    </a:ext>
                  </a:extLst>
                </a:gridCol>
                <a:gridCol w="1126425">
                  <a:extLst>
                    <a:ext uri="{9D8B030D-6E8A-4147-A177-3AD203B41FA5}">
                      <a16:colId xmlns:a16="http://schemas.microsoft.com/office/drawing/2014/main" val="2245695538"/>
                    </a:ext>
                  </a:extLst>
                </a:gridCol>
                <a:gridCol w="1461849">
                  <a:extLst>
                    <a:ext uri="{9D8B030D-6E8A-4147-A177-3AD203B41FA5}">
                      <a16:colId xmlns:a16="http://schemas.microsoft.com/office/drawing/2014/main" val="4084059250"/>
                    </a:ext>
                  </a:extLst>
                </a:gridCol>
              </a:tblGrid>
              <a:tr h="432173">
                <a:tc gridSpan="3">
                  <a:txBody>
                    <a:bodyPr/>
                    <a:lstStyle/>
                    <a:p>
                      <a:pPr algn="l" fontAlgn="b"/>
                      <a:r>
                        <a:rPr lang="en-IN" sz="1800" u="none" strike="noStrike">
                          <a:effectLst/>
                        </a:rPr>
                        <a:t>Variable Cells</a:t>
                      </a:r>
                      <a:endParaRPr lang="en-IN" sz="18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24534228"/>
                  </a:ext>
                </a:extLst>
              </a:tr>
              <a:tr h="406752">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 </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 </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Final</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Reduced</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Objective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Allowable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Allowable</a:t>
                      </a:r>
                      <a:endParaRPr lang="en-IN" sz="1800" b="1" i="0" u="none" strike="noStrike">
                        <a:solidFill>
                          <a:srgbClr val="00008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544500914"/>
                  </a:ext>
                </a:extLst>
              </a:tr>
              <a:tr h="432173">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Cell</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dirty="0">
                          <a:effectLst/>
                        </a:rPr>
                        <a:t>Name</a:t>
                      </a:r>
                      <a:endParaRPr lang="en-IN" sz="1800" b="1" i="0" u="none" strike="noStrike" dirty="0">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Value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Cost</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Coefficient</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Increase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Decrease</a:t>
                      </a:r>
                      <a:endParaRPr lang="en-IN" sz="1800" b="1" i="0" u="none" strike="noStrike">
                        <a:solidFill>
                          <a:srgbClr val="00008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31832736"/>
                  </a:ext>
                </a:extLst>
              </a:tr>
              <a:tr h="406752">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$B$6</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Number to make  A</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-7.5</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50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7.5</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1E+30</a:t>
                      </a:r>
                      <a:endParaRPr lang="en-IN"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20744956"/>
                  </a:ext>
                </a:extLst>
              </a:tr>
              <a:tr h="406752">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$C$6</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Number to make  B</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70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60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1E+30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5</a:t>
                      </a:r>
                      <a:endParaRPr lang="en-IN"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93484697"/>
                  </a:ext>
                </a:extLst>
              </a:tr>
              <a:tr h="432173">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$D$6</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dirty="0">
                          <a:effectLst/>
                        </a:rPr>
                        <a:t>Number to make  C</a:t>
                      </a:r>
                      <a:endParaRPr lang="en-IN"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dirty="0">
                          <a:effectLst/>
                        </a:rPr>
                        <a:t>30</a:t>
                      </a:r>
                      <a:endParaRPr lang="en-IN"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55</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5</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dirty="0">
                          <a:effectLst/>
                        </a:rPr>
                        <a:t>15</a:t>
                      </a:r>
                      <a:endParaRPr lang="en-IN"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25839841"/>
                  </a:ext>
                </a:extLst>
              </a:tr>
            </a:tbl>
          </a:graphicData>
        </a:graphic>
      </p:graphicFrame>
    </p:spTree>
    <p:extLst>
      <p:ext uri="{BB962C8B-B14F-4D97-AF65-F5344CB8AC3E}">
        <p14:creationId xmlns:p14="http://schemas.microsoft.com/office/powerpoint/2010/main" val="298064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D9B2-E2E2-CA40-BEE4-C5FD5E7A538F}"/>
              </a:ext>
            </a:extLst>
          </p:cNvPr>
          <p:cNvSpPr>
            <a:spLocks noGrp="1"/>
          </p:cNvSpPr>
          <p:nvPr>
            <p:ph type="title"/>
          </p:nvPr>
        </p:nvSpPr>
        <p:spPr/>
        <p:txBody>
          <a:bodyPr/>
          <a:lstStyle/>
          <a:p>
            <a:r>
              <a:rPr lang="en-US" dirty="0"/>
              <a:t>Excel Exercise Interpretation</a:t>
            </a:r>
          </a:p>
        </p:txBody>
      </p:sp>
      <p:sp>
        <p:nvSpPr>
          <p:cNvPr id="3" name="Content Placeholder 2">
            <a:extLst>
              <a:ext uri="{FF2B5EF4-FFF2-40B4-BE49-F238E27FC236}">
                <a16:creationId xmlns:a16="http://schemas.microsoft.com/office/drawing/2014/main" id="{EEBB8932-B204-0B40-987B-BC03197C4901}"/>
              </a:ext>
            </a:extLst>
          </p:cNvPr>
          <p:cNvSpPr>
            <a:spLocks noGrp="1"/>
          </p:cNvSpPr>
          <p:nvPr>
            <p:ph idx="1"/>
          </p:nvPr>
        </p:nvSpPr>
        <p:spPr/>
        <p:txBody>
          <a:bodyPr>
            <a:noAutofit/>
          </a:bodyPr>
          <a:lstStyle/>
          <a:p>
            <a:pPr>
              <a:lnSpc>
                <a:spcPct val="160000"/>
              </a:lnSpc>
            </a:pPr>
            <a:r>
              <a:rPr lang="en-IN" sz="1600" dirty="0"/>
              <a:t>What would happen to the optimal solution if a ) the unit profit on C decreases to 45? </a:t>
            </a:r>
          </a:p>
          <a:p>
            <a:pPr>
              <a:lnSpc>
                <a:spcPct val="160000"/>
              </a:lnSpc>
            </a:pPr>
            <a:r>
              <a:rPr lang="en-IN" sz="1600" dirty="0"/>
              <a:t>Upper limit for C is 60, lower limit 40</a:t>
            </a:r>
          </a:p>
          <a:p>
            <a:pPr>
              <a:lnSpc>
                <a:spcPct val="160000"/>
              </a:lnSpc>
            </a:pPr>
            <a:r>
              <a:rPr lang="en-IN" sz="1600" dirty="0"/>
              <a:t>Current </a:t>
            </a:r>
            <a:r>
              <a:rPr lang="en-IN" sz="1600" dirty="0" err="1"/>
              <a:t>coef</a:t>
            </a:r>
            <a:r>
              <a:rPr lang="en-IN" sz="1600" dirty="0"/>
              <a:t>=55, decreased </a:t>
            </a:r>
            <a:r>
              <a:rPr lang="en-IN" sz="1600" dirty="0" err="1"/>
              <a:t>coef</a:t>
            </a:r>
            <a:r>
              <a:rPr lang="en-IN" sz="1600" dirty="0"/>
              <a:t> =45 =&gt; 40&lt;45&lt;60 &lt; =&gt; optimal solution will </a:t>
            </a:r>
            <a:r>
              <a:rPr lang="en-IN" sz="1600" b="1" dirty="0"/>
              <a:t>NOT</a:t>
            </a:r>
            <a:r>
              <a:rPr lang="en-IN" sz="1600" dirty="0"/>
              <a:t> change. </a:t>
            </a:r>
          </a:p>
        </p:txBody>
      </p:sp>
      <p:graphicFrame>
        <p:nvGraphicFramePr>
          <p:cNvPr id="4" name="Table 3">
            <a:extLst>
              <a:ext uri="{FF2B5EF4-FFF2-40B4-BE49-F238E27FC236}">
                <a16:creationId xmlns:a16="http://schemas.microsoft.com/office/drawing/2014/main" id="{178660BC-393B-594B-8F53-A5BD89E60112}"/>
              </a:ext>
            </a:extLst>
          </p:cNvPr>
          <p:cNvGraphicFramePr>
            <a:graphicFrameLocks noGrp="1"/>
          </p:cNvGraphicFramePr>
          <p:nvPr/>
        </p:nvGraphicFramePr>
        <p:xfrm>
          <a:off x="1389413" y="3795125"/>
          <a:ext cx="8585860" cy="2516775"/>
        </p:xfrm>
        <a:graphic>
          <a:graphicData uri="http://schemas.openxmlformats.org/drawingml/2006/table">
            <a:tbl>
              <a:tblPr>
                <a:tableStyleId>{5C22544A-7EE6-4342-B048-85BDC9FD1C3A}</a:tableStyleId>
              </a:tblPr>
              <a:tblGrid>
                <a:gridCol w="285360">
                  <a:extLst>
                    <a:ext uri="{9D8B030D-6E8A-4147-A177-3AD203B41FA5}">
                      <a16:colId xmlns:a16="http://schemas.microsoft.com/office/drawing/2014/main" val="239312780"/>
                    </a:ext>
                  </a:extLst>
                </a:gridCol>
                <a:gridCol w="735931">
                  <a:extLst>
                    <a:ext uri="{9D8B030D-6E8A-4147-A177-3AD203B41FA5}">
                      <a16:colId xmlns:a16="http://schemas.microsoft.com/office/drawing/2014/main" val="4052559793"/>
                    </a:ext>
                  </a:extLst>
                </a:gridCol>
                <a:gridCol w="2087641">
                  <a:extLst>
                    <a:ext uri="{9D8B030D-6E8A-4147-A177-3AD203B41FA5}">
                      <a16:colId xmlns:a16="http://schemas.microsoft.com/office/drawing/2014/main" val="222496331"/>
                    </a:ext>
                  </a:extLst>
                </a:gridCol>
                <a:gridCol w="705894">
                  <a:extLst>
                    <a:ext uri="{9D8B030D-6E8A-4147-A177-3AD203B41FA5}">
                      <a16:colId xmlns:a16="http://schemas.microsoft.com/office/drawing/2014/main" val="1370437940"/>
                    </a:ext>
                  </a:extLst>
                </a:gridCol>
                <a:gridCol w="981240">
                  <a:extLst>
                    <a:ext uri="{9D8B030D-6E8A-4147-A177-3AD203B41FA5}">
                      <a16:colId xmlns:a16="http://schemas.microsoft.com/office/drawing/2014/main" val="2958351115"/>
                    </a:ext>
                  </a:extLst>
                </a:gridCol>
                <a:gridCol w="1201520">
                  <a:extLst>
                    <a:ext uri="{9D8B030D-6E8A-4147-A177-3AD203B41FA5}">
                      <a16:colId xmlns:a16="http://schemas.microsoft.com/office/drawing/2014/main" val="3532013125"/>
                    </a:ext>
                  </a:extLst>
                </a:gridCol>
                <a:gridCol w="1126425">
                  <a:extLst>
                    <a:ext uri="{9D8B030D-6E8A-4147-A177-3AD203B41FA5}">
                      <a16:colId xmlns:a16="http://schemas.microsoft.com/office/drawing/2014/main" val="2245695538"/>
                    </a:ext>
                  </a:extLst>
                </a:gridCol>
                <a:gridCol w="1461849">
                  <a:extLst>
                    <a:ext uri="{9D8B030D-6E8A-4147-A177-3AD203B41FA5}">
                      <a16:colId xmlns:a16="http://schemas.microsoft.com/office/drawing/2014/main" val="4084059250"/>
                    </a:ext>
                  </a:extLst>
                </a:gridCol>
              </a:tblGrid>
              <a:tr h="432173">
                <a:tc gridSpan="3">
                  <a:txBody>
                    <a:bodyPr/>
                    <a:lstStyle/>
                    <a:p>
                      <a:pPr algn="l" fontAlgn="b"/>
                      <a:r>
                        <a:rPr lang="en-IN" sz="1800" u="none" strike="noStrike">
                          <a:effectLst/>
                        </a:rPr>
                        <a:t>Variable Cells</a:t>
                      </a:r>
                      <a:endParaRPr lang="en-IN" sz="18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24534228"/>
                  </a:ext>
                </a:extLst>
              </a:tr>
              <a:tr h="406752">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 </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 </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Final</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Reduced</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Objective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Allowable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Allowable</a:t>
                      </a:r>
                      <a:endParaRPr lang="en-IN" sz="1800" b="1" i="0" u="none" strike="noStrike">
                        <a:solidFill>
                          <a:srgbClr val="00008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544500914"/>
                  </a:ext>
                </a:extLst>
              </a:tr>
              <a:tr h="432173">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Cell</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dirty="0">
                          <a:effectLst/>
                        </a:rPr>
                        <a:t>Name</a:t>
                      </a:r>
                      <a:endParaRPr lang="en-IN" sz="1800" b="1" i="0" u="none" strike="noStrike" dirty="0">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Value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Cost</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Coefficient</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Increase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Decrease</a:t>
                      </a:r>
                      <a:endParaRPr lang="en-IN" sz="1800" b="1" i="0" u="none" strike="noStrike">
                        <a:solidFill>
                          <a:srgbClr val="00008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31832736"/>
                  </a:ext>
                </a:extLst>
              </a:tr>
              <a:tr h="406752">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$B$6</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Number to make  A</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-7.5</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50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7.5</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1E+30</a:t>
                      </a:r>
                      <a:endParaRPr lang="en-IN"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20744956"/>
                  </a:ext>
                </a:extLst>
              </a:tr>
              <a:tr h="406752">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$C$6</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Number to make  B</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70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60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1E+30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5</a:t>
                      </a:r>
                      <a:endParaRPr lang="en-IN"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93484697"/>
                  </a:ext>
                </a:extLst>
              </a:tr>
              <a:tr h="432173">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$D$6</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dirty="0">
                          <a:effectLst/>
                        </a:rPr>
                        <a:t>Number to make  C</a:t>
                      </a:r>
                      <a:endParaRPr lang="en-IN"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dirty="0">
                          <a:effectLst/>
                        </a:rPr>
                        <a:t>30</a:t>
                      </a:r>
                      <a:endParaRPr lang="en-IN"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55</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5</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dirty="0">
                          <a:effectLst/>
                        </a:rPr>
                        <a:t>15</a:t>
                      </a:r>
                      <a:endParaRPr lang="en-IN"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25839841"/>
                  </a:ext>
                </a:extLst>
              </a:tr>
            </a:tbl>
          </a:graphicData>
        </a:graphic>
      </p:graphicFrame>
    </p:spTree>
    <p:extLst>
      <p:ext uri="{BB962C8B-B14F-4D97-AF65-F5344CB8AC3E}">
        <p14:creationId xmlns:p14="http://schemas.microsoft.com/office/powerpoint/2010/main" val="132993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D9B2-E2E2-CA40-BEE4-C5FD5E7A538F}"/>
              </a:ext>
            </a:extLst>
          </p:cNvPr>
          <p:cNvSpPr>
            <a:spLocks noGrp="1"/>
          </p:cNvSpPr>
          <p:nvPr>
            <p:ph type="title"/>
          </p:nvPr>
        </p:nvSpPr>
        <p:spPr/>
        <p:txBody>
          <a:bodyPr/>
          <a:lstStyle/>
          <a:p>
            <a:r>
              <a:rPr lang="en-US" dirty="0"/>
              <a:t>Excel Exercise Interpretation</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EBB8932-B204-0B40-987B-BC03197C4901}"/>
                  </a:ext>
                </a:extLst>
              </p:cNvPr>
              <p:cNvSpPr>
                <a:spLocks noGrp="1"/>
              </p:cNvSpPr>
              <p:nvPr>
                <p:ph idx="1"/>
              </p:nvPr>
            </p:nvSpPr>
            <p:spPr/>
            <p:txBody>
              <a:bodyPr>
                <a:noAutofit/>
              </a:bodyPr>
              <a:lstStyle/>
              <a:p>
                <a:pPr>
                  <a:lnSpc>
                    <a:spcPct val="160000"/>
                  </a:lnSpc>
                </a:pPr>
                <a:r>
                  <a:rPr lang="en-IN" sz="1600" dirty="0"/>
                  <a:t>What would happen to the optimal solution if a the unit profits on A &amp; C change to 53 ? </a:t>
                </a:r>
              </a:p>
              <a:p>
                <a:pPr>
                  <a:lnSpc>
                    <a:spcPct val="160000"/>
                  </a:lnSpc>
                </a:pPr>
                <a14:m>
                  <m:oMath xmlns:m="http://schemas.openxmlformats.org/officeDocument/2006/math">
                    <m:r>
                      <a:rPr lang="en-US" sz="1600" b="0" i="1" smtClean="0">
                        <a:latin typeface="Cambria Math" panose="02040503050406030204" pitchFamily="18" charset="0"/>
                      </a:rPr>
                      <m:t>∑</m:t>
                    </m:r>
                    <m:d>
                      <m:dPr>
                        <m:ctrlPr>
                          <a:rPr lang="en-US" sz="1600" b="0" i="1" smtClean="0">
                            <a:latin typeface="Cambria Math" panose="02040503050406030204" pitchFamily="18" charset="0"/>
                          </a:rPr>
                        </m:ctrlPr>
                      </m:dPr>
                      <m:e>
                        <m:f>
                          <m:fPr>
                            <m:ctrlPr>
                              <a:rPr lang="en-US" sz="1600" b="0" i="1" smtClean="0">
                                <a:latin typeface="Cambria Math" panose="02040503050406030204" pitchFamily="18" charset="0"/>
                              </a:rPr>
                            </m:ctrlPr>
                          </m:fPr>
                          <m:num>
                            <m:r>
                              <a:rPr lang="en-US" sz="1600" b="0" i="1" smtClean="0">
                                <a:latin typeface="Cambria Math" panose="02040503050406030204" pitchFamily="18" charset="0"/>
                              </a:rPr>
                              <m:t>𝑃𝑟𝑜𝑝𝑜𝑠𝑒𝑑</m:t>
                            </m:r>
                          </m:num>
                          <m:den>
                            <m:r>
                              <a:rPr lang="en-US" sz="1600" b="0" i="1" smtClean="0">
                                <a:latin typeface="Cambria Math" panose="02040503050406030204" pitchFamily="18" charset="0"/>
                              </a:rPr>
                              <m:t>𝐴𝑙𝑙𝑜𝑤𝑒𝑑</m:t>
                            </m:r>
                          </m:den>
                        </m:f>
                      </m:e>
                    </m:d>
                    <m:r>
                      <a:rPr lang="en-US" sz="1600" b="0" i="1" smtClean="0">
                        <a:latin typeface="Cambria Math" panose="02040503050406030204" pitchFamily="18" charset="0"/>
                      </a:rPr>
                      <m:t>&lt;100%</m:t>
                    </m:r>
                  </m:oMath>
                </a14:m>
                <a:r>
                  <a:rPr lang="en-IN" sz="1600" dirty="0"/>
                  <a:t> =&gt; optimal </a:t>
                </a:r>
                <a:r>
                  <a:rPr lang="en-IN" sz="1600" dirty="0" err="1"/>
                  <a:t>soln</a:t>
                </a:r>
                <a:r>
                  <a:rPr lang="en-IN" sz="1600" dirty="0"/>
                  <a:t> doesn’t change. </a:t>
                </a:r>
              </a:p>
              <a:p>
                <a:pPr>
                  <a:lnSpc>
                    <a:spcPct val="160000"/>
                  </a:lnSpc>
                </a:pPr>
                <a:r>
                  <a:rPr lang="en-IN" sz="1600" dirty="0"/>
                  <a:t>-Inf&lt;A&lt;57.5 and 40&lt;C&lt;60 =&gt; For A (53-50)/7.5=3/7.5=0.4</a:t>
                </a:r>
              </a:p>
              <a:p>
                <a:pPr>
                  <a:lnSpc>
                    <a:spcPct val="160000"/>
                  </a:lnSpc>
                </a:pPr>
                <a:r>
                  <a:rPr lang="en-IN" sz="1600" dirty="0"/>
                  <a:t>For C (55-53)/15=0.133 ; Sum of ration 0.4+0.133 &lt;100% =&gt; optimal </a:t>
                </a:r>
                <a:r>
                  <a:rPr lang="en-IN" sz="1600" dirty="0" err="1"/>
                  <a:t>soln</a:t>
                </a:r>
                <a:r>
                  <a:rPr lang="en-IN" sz="1600" dirty="0"/>
                  <a:t> does not change. </a:t>
                </a:r>
              </a:p>
            </p:txBody>
          </p:sp>
        </mc:Choice>
        <mc:Fallback>
          <p:sp>
            <p:nvSpPr>
              <p:cNvPr id="3" name="Content Placeholder 2">
                <a:extLst>
                  <a:ext uri="{FF2B5EF4-FFF2-40B4-BE49-F238E27FC236}">
                    <a16:creationId xmlns:a16="http://schemas.microsoft.com/office/drawing/2014/main" id="{EEBB8932-B204-0B40-987B-BC03197C4901}"/>
                  </a:ext>
                </a:extLst>
              </p:cNvPr>
              <p:cNvSpPr>
                <a:spLocks noGrp="1" noRot="1" noChangeAspect="1" noMove="1" noResize="1" noEditPoints="1" noAdjustHandles="1" noChangeArrowheads="1" noChangeShapeType="1" noTextEdit="1"/>
              </p:cNvSpPr>
              <p:nvPr>
                <p:ph idx="1"/>
              </p:nvPr>
            </p:nvSpPr>
            <p:spPr>
              <a:blipFill>
                <a:blip r:embed="rId2"/>
                <a:stretch>
                  <a:fillRect l="-362"/>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178660BC-393B-594B-8F53-A5BD89E60112}"/>
              </a:ext>
            </a:extLst>
          </p:cNvPr>
          <p:cNvGraphicFramePr>
            <a:graphicFrameLocks noGrp="1"/>
          </p:cNvGraphicFramePr>
          <p:nvPr>
            <p:extLst>
              <p:ext uri="{D42A27DB-BD31-4B8C-83A1-F6EECF244321}">
                <p14:modId xmlns:p14="http://schemas.microsoft.com/office/powerpoint/2010/main" val="835417170"/>
              </p:ext>
            </p:extLst>
          </p:nvPr>
        </p:nvGraphicFramePr>
        <p:xfrm>
          <a:off x="1448789" y="4341225"/>
          <a:ext cx="8585860" cy="2516775"/>
        </p:xfrm>
        <a:graphic>
          <a:graphicData uri="http://schemas.openxmlformats.org/drawingml/2006/table">
            <a:tbl>
              <a:tblPr>
                <a:tableStyleId>{5C22544A-7EE6-4342-B048-85BDC9FD1C3A}</a:tableStyleId>
              </a:tblPr>
              <a:tblGrid>
                <a:gridCol w="285360">
                  <a:extLst>
                    <a:ext uri="{9D8B030D-6E8A-4147-A177-3AD203B41FA5}">
                      <a16:colId xmlns:a16="http://schemas.microsoft.com/office/drawing/2014/main" val="239312780"/>
                    </a:ext>
                  </a:extLst>
                </a:gridCol>
                <a:gridCol w="735931">
                  <a:extLst>
                    <a:ext uri="{9D8B030D-6E8A-4147-A177-3AD203B41FA5}">
                      <a16:colId xmlns:a16="http://schemas.microsoft.com/office/drawing/2014/main" val="4052559793"/>
                    </a:ext>
                  </a:extLst>
                </a:gridCol>
                <a:gridCol w="2087641">
                  <a:extLst>
                    <a:ext uri="{9D8B030D-6E8A-4147-A177-3AD203B41FA5}">
                      <a16:colId xmlns:a16="http://schemas.microsoft.com/office/drawing/2014/main" val="222496331"/>
                    </a:ext>
                  </a:extLst>
                </a:gridCol>
                <a:gridCol w="705894">
                  <a:extLst>
                    <a:ext uri="{9D8B030D-6E8A-4147-A177-3AD203B41FA5}">
                      <a16:colId xmlns:a16="http://schemas.microsoft.com/office/drawing/2014/main" val="1370437940"/>
                    </a:ext>
                  </a:extLst>
                </a:gridCol>
                <a:gridCol w="981240">
                  <a:extLst>
                    <a:ext uri="{9D8B030D-6E8A-4147-A177-3AD203B41FA5}">
                      <a16:colId xmlns:a16="http://schemas.microsoft.com/office/drawing/2014/main" val="2958351115"/>
                    </a:ext>
                  </a:extLst>
                </a:gridCol>
                <a:gridCol w="1201520">
                  <a:extLst>
                    <a:ext uri="{9D8B030D-6E8A-4147-A177-3AD203B41FA5}">
                      <a16:colId xmlns:a16="http://schemas.microsoft.com/office/drawing/2014/main" val="3532013125"/>
                    </a:ext>
                  </a:extLst>
                </a:gridCol>
                <a:gridCol w="1126425">
                  <a:extLst>
                    <a:ext uri="{9D8B030D-6E8A-4147-A177-3AD203B41FA5}">
                      <a16:colId xmlns:a16="http://schemas.microsoft.com/office/drawing/2014/main" val="2245695538"/>
                    </a:ext>
                  </a:extLst>
                </a:gridCol>
                <a:gridCol w="1461849">
                  <a:extLst>
                    <a:ext uri="{9D8B030D-6E8A-4147-A177-3AD203B41FA5}">
                      <a16:colId xmlns:a16="http://schemas.microsoft.com/office/drawing/2014/main" val="4084059250"/>
                    </a:ext>
                  </a:extLst>
                </a:gridCol>
              </a:tblGrid>
              <a:tr h="432173">
                <a:tc gridSpan="3">
                  <a:txBody>
                    <a:bodyPr/>
                    <a:lstStyle/>
                    <a:p>
                      <a:pPr algn="l" fontAlgn="b"/>
                      <a:r>
                        <a:rPr lang="en-IN" sz="1800" u="none" strike="noStrike">
                          <a:effectLst/>
                        </a:rPr>
                        <a:t>Variable Cells</a:t>
                      </a:r>
                      <a:endParaRPr lang="en-IN" sz="18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24534228"/>
                  </a:ext>
                </a:extLst>
              </a:tr>
              <a:tr h="406752">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 </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 </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Final</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Reduced</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Objective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Allowable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Allowable</a:t>
                      </a:r>
                      <a:endParaRPr lang="en-IN" sz="1800" b="1" i="0" u="none" strike="noStrike">
                        <a:solidFill>
                          <a:srgbClr val="00008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544500914"/>
                  </a:ext>
                </a:extLst>
              </a:tr>
              <a:tr h="432173">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Cell</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dirty="0">
                          <a:effectLst/>
                        </a:rPr>
                        <a:t>Name</a:t>
                      </a:r>
                      <a:endParaRPr lang="en-IN" sz="1800" b="1" i="0" u="none" strike="noStrike" dirty="0">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Value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Cost</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Coefficient</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Increase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Decrease</a:t>
                      </a:r>
                      <a:endParaRPr lang="en-IN" sz="1800" b="1" i="0" u="none" strike="noStrike">
                        <a:solidFill>
                          <a:srgbClr val="00008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31832736"/>
                  </a:ext>
                </a:extLst>
              </a:tr>
              <a:tr h="406752">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$B$6</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Number to make  A</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-7.5</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50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7.5</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1E+30</a:t>
                      </a:r>
                      <a:endParaRPr lang="en-IN"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20744956"/>
                  </a:ext>
                </a:extLst>
              </a:tr>
              <a:tr h="406752">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$C$6</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Number to make  B</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70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60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1E+30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5</a:t>
                      </a:r>
                      <a:endParaRPr lang="en-IN"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93484697"/>
                  </a:ext>
                </a:extLst>
              </a:tr>
              <a:tr h="432173">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$D$6</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dirty="0">
                          <a:effectLst/>
                        </a:rPr>
                        <a:t>Number to make  C</a:t>
                      </a:r>
                      <a:endParaRPr lang="en-IN"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dirty="0">
                          <a:effectLst/>
                        </a:rPr>
                        <a:t>30</a:t>
                      </a:r>
                      <a:endParaRPr lang="en-IN"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dirty="0">
                          <a:effectLst/>
                        </a:rPr>
                        <a:t>0</a:t>
                      </a:r>
                      <a:endParaRPr lang="en-IN"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55</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5</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dirty="0">
                          <a:effectLst/>
                        </a:rPr>
                        <a:t>15</a:t>
                      </a:r>
                      <a:endParaRPr lang="en-IN"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25839841"/>
                  </a:ext>
                </a:extLst>
              </a:tr>
            </a:tbl>
          </a:graphicData>
        </a:graphic>
      </p:graphicFrame>
    </p:spTree>
    <p:extLst>
      <p:ext uri="{BB962C8B-B14F-4D97-AF65-F5344CB8AC3E}">
        <p14:creationId xmlns:p14="http://schemas.microsoft.com/office/powerpoint/2010/main" val="653645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D9B2-E2E2-CA40-BEE4-C5FD5E7A538F}"/>
              </a:ext>
            </a:extLst>
          </p:cNvPr>
          <p:cNvSpPr>
            <a:spLocks noGrp="1"/>
          </p:cNvSpPr>
          <p:nvPr>
            <p:ph type="title"/>
          </p:nvPr>
        </p:nvSpPr>
        <p:spPr/>
        <p:txBody>
          <a:bodyPr/>
          <a:lstStyle/>
          <a:p>
            <a:r>
              <a:rPr lang="en-US" dirty="0"/>
              <a:t>Excel Exercise Interpretation</a:t>
            </a:r>
          </a:p>
        </p:txBody>
      </p:sp>
      <p:sp>
        <p:nvSpPr>
          <p:cNvPr id="3" name="Content Placeholder 2">
            <a:extLst>
              <a:ext uri="{FF2B5EF4-FFF2-40B4-BE49-F238E27FC236}">
                <a16:creationId xmlns:a16="http://schemas.microsoft.com/office/drawing/2014/main" id="{EEBB8932-B204-0B40-987B-BC03197C4901}"/>
              </a:ext>
            </a:extLst>
          </p:cNvPr>
          <p:cNvSpPr>
            <a:spLocks noGrp="1"/>
          </p:cNvSpPr>
          <p:nvPr>
            <p:ph idx="1"/>
          </p:nvPr>
        </p:nvSpPr>
        <p:spPr/>
        <p:txBody>
          <a:bodyPr>
            <a:noAutofit/>
          </a:bodyPr>
          <a:lstStyle/>
          <a:p>
            <a:pPr>
              <a:lnSpc>
                <a:spcPct val="160000"/>
              </a:lnSpc>
            </a:pPr>
            <a:r>
              <a:rPr lang="en-IN" sz="1600" dirty="0"/>
              <a:t>Interpret the reduced cost for A </a:t>
            </a:r>
          </a:p>
          <a:p>
            <a:pPr>
              <a:lnSpc>
                <a:spcPct val="160000"/>
              </a:lnSpc>
            </a:pPr>
            <a:r>
              <a:rPr lang="en-IN" sz="1600" dirty="0"/>
              <a:t>Amount by which profit will be reduced if we include 1 unit of A. </a:t>
            </a:r>
          </a:p>
        </p:txBody>
      </p:sp>
      <p:graphicFrame>
        <p:nvGraphicFramePr>
          <p:cNvPr id="4" name="Table 3">
            <a:extLst>
              <a:ext uri="{FF2B5EF4-FFF2-40B4-BE49-F238E27FC236}">
                <a16:creationId xmlns:a16="http://schemas.microsoft.com/office/drawing/2014/main" id="{178660BC-393B-594B-8F53-A5BD89E60112}"/>
              </a:ext>
            </a:extLst>
          </p:cNvPr>
          <p:cNvGraphicFramePr>
            <a:graphicFrameLocks noGrp="1"/>
          </p:cNvGraphicFramePr>
          <p:nvPr/>
        </p:nvGraphicFramePr>
        <p:xfrm>
          <a:off x="1448789" y="4341225"/>
          <a:ext cx="8585860" cy="2516775"/>
        </p:xfrm>
        <a:graphic>
          <a:graphicData uri="http://schemas.openxmlformats.org/drawingml/2006/table">
            <a:tbl>
              <a:tblPr>
                <a:tableStyleId>{5C22544A-7EE6-4342-B048-85BDC9FD1C3A}</a:tableStyleId>
              </a:tblPr>
              <a:tblGrid>
                <a:gridCol w="285360">
                  <a:extLst>
                    <a:ext uri="{9D8B030D-6E8A-4147-A177-3AD203B41FA5}">
                      <a16:colId xmlns:a16="http://schemas.microsoft.com/office/drawing/2014/main" val="239312780"/>
                    </a:ext>
                  </a:extLst>
                </a:gridCol>
                <a:gridCol w="735931">
                  <a:extLst>
                    <a:ext uri="{9D8B030D-6E8A-4147-A177-3AD203B41FA5}">
                      <a16:colId xmlns:a16="http://schemas.microsoft.com/office/drawing/2014/main" val="4052559793"/>
                    </a:ext>
                  </a:extLst>
                </a:gridCol>
                <a:gridCol w="2087641">
                  <a:extLst>
                    <a:ext uri="{9D8B030D-6E8A-4147-A177-3AD203B41FA5}">
                      <a16:colId xmlns:a16="http://schemas.microsoft.com/office/drawing/2014/main" val="222496331"/>
                    </a:ext>
                  </a:extLst>
                </a:gridCol>
                <a:gridCol w="705894">
                  <a:extLst>
                    <a:ext uri="{9D8B030D-6E8A-4147-A177-3AD203B41FA5}">
                      <a16:colId xmlns:a16="http://schemas.microsoft.com/office/drawing/2014/main" val="1370437940"/>
                    </a:ext>
                  </a:extLst>
                </a:gridCol>
                <a:gridCol w="981240">
                  <a:extLst>
                    <a:ext uri="{9D8B030D-6E8A-4147-A177-3AD203B41FA5}">
                      <a16:colId xmlns:a16="http://schemas.microsoft.com/office/drawing/2014/main" val="2958351115"/>
                    </a:ext>
                  </a:extLst>
                </a:gridCol>
                <a:gridCol w="1201520">
                  <a:extLst>
                    <a:ext uri="{9D8B030D-6E8A-4147-A177-3AD203B41FA5}">
                      <a16:colId xmlns:a16="http://schemas.microsoft.com/office/drawing/2014/main" val="3532013125"/>
                    </a:ext>
                  </a:extLst>
                </a:gridCol>
                <a:gridCol w="1126425">
                  <a:extLst>
                    <a:ext uri="{9D8B030D-6E8A-4147-A177-3AD203B41FA5}">
                      <a16:colId xmlns:a16="http://schemas.microsoft.com/office/drawing/2014/main" val="2245695538"/>
                    </a:ext>
                  </a:extLst>
                </a:gridCol>
                <a:gridCol w="1461849">
                  <a:extLst>
                    <a:ext uri="{9D8B030D-6E8A-4147-A177-3AD203B41FA5}">
                      <a16:colId xmlns:a16="http://schemas.microsoft.com/office/drawing/2014/main" val="4084059250"/>
                    </a:ext>
                  </a:extLst>
                </a:gridCol>
              </a:tblGrid>
              <a:tr h="432173">
                <a:tc gridSpan="3">
                  <a:txBody>
                    <a:bodyPr/>
                    <a:lstStyle/>
                    <a:p>
                      <a:pPr algn="l" fontAlgn="b"/>
                      <a:r>
                        <a:rPr lang="en-IN" sz="1800" u="none" strike="noStrike">
                          <a:effectLst/>
                        </a:rPr>
                        <a:t>Variable Cells</a:t>
                      </a:r>
                      <a:endParaRPr lang="en-IN" sz="1800" b="0" i="0" u="none" strike="noStrike">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924534228"/>
                  </a:ext>
                </a:extLst>
              </a:tr>
              <a:tr h="406752">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 </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 </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Final</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Reduced</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Objective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Allowable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Allowable</a:t>
                      </a:r>
                      <a:endParaRPr lang="en-IN" sz="1800" b="1" i="0" u="none" strike="noStrike">
                        <a:solidFill>
                          <a:srgbClr val="00008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544500914"/>
                  </a:ext>
                </a:extLst>
              </a:tr>
              <a:tr h="432173">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Cell</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dirty="0">
                          <a:effectLst/>
                        </a:rPr>
                        <a:t>Name</a:t>
                      </a:r>
                      <a:endParaRPr lang="en-IN" sz="1800" b="1" i="0" u="none" strike="noStrike" dirty="0">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Value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Cost</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Coefficient</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Increase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Decrease</a:t>
                      </a:r>
                      <a:endParaRPr lang="en-IN" sz="1800" b="1" i="0" u="none" strike="noStrike">
                        <a:solidFill>
                          <a:srgbClr val="00008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31832736"/>
                  </a:ext>
                </a:extLst>
              </a:tr>
              <a:tr h="406752">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$B$6</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Number to make  A</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-7.5</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50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7.5</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1E+30</a:t>
                      </a:r>
                      <a:endParaRPr lang="en-IN"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520744956"/>
                  </a:ext>
                </a:extLst>
              </a:tr>
              <a:tr h="406752">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$C$6</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Number to make  B</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70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60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1E+30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5</a:t>
                      </a:r>
                      <a:endParaRPr lang="en-IN"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93484697"/>
                  </a:ext>
                </a:extLst>
              </a:tr>
              <a:tr h="432173">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$D$6</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dirty="0">
                          <a:effectLst/>
                        </a:rPr>
                        <a:t>Number to make  C</a:t>
                      </a:r>
                      <a:endParaRPr lang="en-IN"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dirty="0">
                          <a:effectLst/>
                        </a:rPr>
                        <a:t>30</a:t>
                      </a:r>
                      <a:endParaRPr lang="en-IN"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dirty="0">
                          <a:effectLst/>
                        </a:rPr>
                        <a:t>0</a:t>
                      </a:r>
                      <a:endParaRPr lang="en-IN"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55</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5</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dirty="0">
                          <a:effectLst/>
                        </a:rPr>
                        <a:t>15</a:t>
                      </a:r>
                      <a:endParaRPr lang="en-IN"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225839841"/>
                  </a:ext>
                </a:extLst>
              </a:tr>
            </a:tbl>
          </a:graphicData>
        </a:graphic>
      </p:graphicFrame>
    </p:spTree>
    <p:extLst>
      <p:ext uri="{BB962C8B-B14F-4D97-AF65-F5344CB8AC3E}">
        <p14:creationId xmlns:p14="http://schemas.microsoft.com/office/powerpoint/2010/main" val="2528626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D9B2-E2E2-CA40-BEE4-C5FD5E7A538F}"/>
              </a:ext>
            </a:extLst>
          </p:cNvPr>
          <p:cNvSpPr>
            <a:spLocks noGrp="1"/>
          </p:cNvSpPr>
          <p:nvPr>
            <p:ph type="title"/>
          </p:nvPr>
        </p:nvSpPr>
        <p:spPr/>
        <p:txBody>
          <a:bodyPr/>
          <a:lstStyle/>
          <a:p>
            <a:r>
              <a:rPr lang="en-US" dirty="0"/>
              <a:t>Excel Exercise Interpretation</a:t>
            </a:r>
          </a:p>
        </p:txBody>
      </p:sp>
      <p:sp>
        <p:nvSpPr>
          <p:cNvPr id="3" name="Content Placeholder 2">
            <a:extLst>
              <a:ext uri="{FF2B5EF4-FFF2-40B4-BE49-F238E27FC236}">
                <a16:creationId xmlns:a16="http://schemas.microsoft.com/office/drawing/2014/main" id="{EEBB8932-B204-0B40-987B-BC03197C4901}"/>
              </a:ext>
            </a:extLst>
          </p:cNvPr>
          <p:cNvSpPr>
            <a:spLocks noGrp="1"/>
          </p:cNvSpPr>
          <p:nvPr>
            <p:ph idx="1"/>
          </p:nvPr>
        </p:nvSpPr>
        <p:spPr/>
        <p:txBody>
          <a:bodyPr>
            <a:noAutofit/>
          </a:bodyPr>
          <a:lstStyle/>
          <a:p>
            <a:pPr>
              <a:lnSpc>
                <a:spcPct val="160000"/>
              </a:lnSpc>
            </a:pPr>
            <a:r>
              <a:rPr lang="en-IN" sz="1600" dirty="0"/>
              <a:t>See constraint 1. </a:t>
            </a:r>
          </a:p>
          <a:p>
            <a:pPr>
              <a:lnSpc>
                <a:spcPct val="160000"/>
              </a:lnSpc>
            </a:pPr>
            <a:r>
              <a:rPr lang="en-IN" sz="1600" dirty="0"/>
              <a:t>Shadow price remains unchanged for constraint for the RHS range of 100-6.667 and 100+10 </a:t>
            </a:r>
          </a:p>
          <a:p>
            <a:pPr>
              <a:lnSpc>
                <a:spcPct val="160000"/>
              </a:lnSpc>
            </a:pPr>
            <a:r>
              <a:rPr lang="en-IN" sz="1600" dirty="0"/>
              <a:t>Shadow price means – change in optimal profit per unit increase in RHS of that constraint. </a:t>
            </a:r>
          </a:p>
          <a:p>
            <a:pPr>
              <a:lnSpc>
                <a:spcPct val="160000"/>
              </a:lnSpc>
            </a:pPr>
            <a:r>
              <a:rPr lang="en-IN" sz="1600" dirty="0"/>
              <a:t>What if RHS of constraint 1 is changed by 5? </a:t>
            </a:r>
          </a:p>
          <a:p>
            <a:pPr>
              <a:lnSpc>
                <a:spcPct val="160000"/>
              </a:lnSpc>
            </a:pPr>
            <a:r>
              <a:rPr lang="en-IN" sz="1600" dirty="0"/>
              <a:t>Within allowable region. (Why?) Therefore the profit changes by 5*60=300. New profit -&gt; 5850+300=6150.</a:t>
            </a:r>
          </a:p>
          <a:p>
            <a:pPr>
              <a:lnSpc>
                <a:spcPct val="160000"/>
              </a:lnSpc>
            </a:pPr>
            <a:endParaRPr lang="en-IN" sz="1600" dirty="0"/>
          </a:p>
        </p:txBody>
      </p:sp>
      <p:graphicFrame>
        <p:nvGraphicFramePr>
          <p:cNvPr id="5" name="Table 4">
            <a:extLst>
              <a:ext uri="{FF2B5EF4-FFF2-40B4-BE49-F238E27FC236}">
                <a16:creationId xmlns:a16="http://schemas.microsoft.com/office/drawing/2014/main" id="{822BB437-407A-334B-9390-27BC764895E5}"/>
              </a:ext>
            </a:extLst>
          </p:cNvPr>
          <p:cNvGraphicFramePr>
            <a:graphicFrameLocks noGrp="1"/>
          </p:cNvGraphicFramePr>
          <p:nvPr>
            <p:extLst>
              <p:ext uri="{D42A27DB-BD31-4B8C-83A1-F6EECF244321}">
                <p14:modId xmlns:p14="http://schemas.microsoft.com/office/powerpoint/2010/main" val="823654389"/>
              </p:ext>
            </p:extLst>
          </p:nvPr>
        </p:nvGraphicFramePr>
        <p:xfrm>
          <a:off x="660400" y="4536373"/>
          <a:ext cx="10312399" cy="2232561"/>
        </p:xfrm>
        <a:graphic>
          <a:graphicData uri="http://schemas.openxmlformats.org/drawingml/2006/table">
            <a:tbl>
              <a:tblPr>
                <a:tableStyleId>{5C22544A-7EE6-4342-B048-85BDC9FD1C3A}</a:tableStyleId>
              </a:tblPr>
              <a:tblGrid>
                <a:gridCol w="342744">
                  <a:extLst>
                    <a:ext uri="{9D8B030D-6E8A-4147-A177-3AD203B41FA5}">
                      <a16:colId xmlns:a16="http://schemas.microsoft.com/office/drawing/2014/main" val="3438946739"/>
                    </a:ext>
                  </a:extLst>
                </a:gridCol>
                <a:gridCol w="883921">
                  <a:extLst>
                    <a:ext uri="{9D8B030D-6E8A-4147-A177-3AD203B41FA5}">
                      <a16:colId xmlns:a16="http://schemas.microsoft.com/office/drawing/2014/main" val="2368786327"/>
                    </a:ext>
                  </a:extLst>
                </a:gridCol>
                <a:gridCol w="2507447">
                  <a:extLst>
                    <a:ext uri="{9D8B030D-6E8A-4147-A177-3AD203B41FA5}">
                      <a16:colId xmlns:a16="http://schemas.microsoft.com/office/drawing/2014/main" val="462473231"/>
                    </a:ext>
                  </a:extLst>
                </a:gridCol>
                <a:gridCol w="847842">
                  <a:extLst>
                    <a:ext uri="{9D8B030D-6E8A-4147-A177-3AD203B41FA5}">
                      <a16:colId xmlns:a16="http://schemas.microsoft.com/office/drawing/2014/main" val="3872081926"/>
                    </a:ext>
                  </a:extLst>
                </a:gridCol>
                <a:gridCol w="1178559">
                  <a:extLst>
                    <a:ext uri="{9D8B030D-6E8A-4147-A177-3AD203B41FA5}">
                      <a16:colId xmlns:a16="http://schemas.microsoft.com/office/drawing/2014/main" val="2939284316"/>
                    </a:ext>
                  </a:extLst>
                </a:gridCol>
                <a:gridCol w="1443135">
                  <a:extLst>
                    <a:ext uri="{9D8B030D-6E8A-4147-A177-3AD203B41FA5}">
                      <a16:colId xmlns:a16="http://schemas.microsoft.com/office/drawing/2014/main" val="4187680163"/>
                    </a:ext>
                  </a:extLst>
                </a:gridCol>
                <a:gridCol w="1352938">
                  <a:extLst>
                    <a:ext uri="{9D8B030D-6E8A-4147-A177-3AD203B41FA5}">
                      <a16:colId xmlns:a16="http://schemas.microsoft.com/office/drawing/2014/main" val="3740219960"/>
                    </a:ext>
                  </a:extLst>
                </a:gridCol>
                <a:gridCol w="1755813">
                  <a:extLst>
                    <a:ext uri="{9D8B030D-6E8A-4147-A177-3AD203B41FA5}">
                      <a16:colId xmlns:a16="http://schemas.microsoft.com/office/drawing/2014/main" val="1486420919"/>
                    </a:ext>
                  </a:extLst>
                </a:gridCol>
              </a:tblGrid>
              <a:tr h="330031">
                <a:tc gridSpan="3">
                  <a:txBody>
                    <a:bodyPr/>
                    <a:lstStyle/>
                    <a:p>
                      <a:pPr algn="l" fontAlgn="b"/>
                      <a:r>
                        <a:rPr lang="en-IN" sz="1800" u="none" strike="noStrike" dirty="0">
                          <a:effectLst/>
                        </a:rPr>
                        <a:t>Constraints</a:t>
                      </a:r>
                      <a:endParaRPr lang="en-IN" sz="1800" b="0"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45440194"/>
                  </a:ext>
                </a:extLst>
              </a:tr>
              <a:tr h="310617">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 </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 </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Final</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b="1" u="none" strike="noStrike" dirty="0">
                          <a:effectLst/>
                        </a:rPr>
                        <a:t>Shadow</a:t>
                      </a:r>
                      <a:endParaRPr lang="en-IN" sz="1800" b="1" i="0" u="none" strike="noStrike" dirty="0">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Constraint</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Allowable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Allowable</a:t>
                      </a:r>
                      <a:endParaRPr lang="en-IN" sz="1800" b="1" i="0" u="none" strike="noStrike">
                        <a:solidFill>
                          <a:srgbClr val="00008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86067411"/>
                  </a:ext>
                </a:extLst>
              </a:tr>
              <a:tr h="330031">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Cell</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Name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Value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b="1" u="none" strike="noStrike" dirty="0">
                          <a:effectLst/>
                        </a:rPr>
                        <a:t>Price</a:t>
                      </a:r>
                      <a:endParaRPr lang="en-IN" sz="1800" b="1" i="0" u="none" strike="noStrike" dirty="0">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R.H. Side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Increase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Decrease</a:t>
                      </a:r>
                      <a:endParaRPr lang="en-IN" sz="1800" b="1" i="0" u="none" strike="noStrike">
                        <a:solidFill>
                          <a:srgbClr val="00008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720027219"/>
                  </a:ext>
                </a:extLst>
              </a:tr>
              <a:tr h="310617">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$E$11</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Constraint 3 Used</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270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b="1" u="none" strike="noStrike" dirty="0">
                          <a:effectLst/>
                        </a:rPr>
                        <a:t>0</a:t>
                      </a:r>
                      <a:endParaRPr lang="en-IN"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250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20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1E+30</a:t>
                      </a:r>
                      <a:endParaRPr lang="en-IN"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21700763"/>
                  </a:ext>
                </a:extLst>
              </a:tr>
              <a:tr h="310617">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$E$12</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Constraint 4 Used</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60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b="1" u="none" strike="noStrike" dirty="0">
                          <a:effectLst/>
                        </a:rPr>
                        <a:t>-2.5</a:t>
                      </a:r>
                      <a:endParaRPr lang="en-IN"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60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40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60</a:t>
                      </a:r>
                      <a:endParaRPr lang="en-IN"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665532616"/>
                  </a:ext>
                </a:extLst>
              </a:tr>
              <a:tr h="310617">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$E$9</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b="1" u="none" strike="noStrike" dirty="0">
                          <a:effectLst/>
                        </a:rPr>
                        <a:t>Constraint 1 Used</a:t>
                      </a:r>
                      <a:endParaRPr lang="en-IN"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100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b="1" u="none" strike="noStrike" dirty="0">
                          <a:effectLst/>
                        </a:rPr>
                        <a:t>60</a:t>
                      </a:r>
                      <a:endParaRPr lang="en-IN"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100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10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6.666666667</a:t>
                      </a:r>
                      <a:endParaRPr lang="en-IN"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43754916"/>
                  </a:ext>
                </a:extLst>
              </a:tr>
              <a:tr h="330031">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$E$10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Constraint 2 Used</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270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b="1" u="none" strike="noStrike" dirty="0">
                          <a:effectLst/>
                        </a:rPr>
                        <a:t>0</a:t>
                      </a:r>
                      <a:endParaRPr lang="en-IN"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300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1E+30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dirty="0">
                          <a:effectLst/>
                        </a:rPr>
                        <a:t>30</a:t>
                      </a:r>
                      <a:endParaRPr lang="en-IN"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61245245"/>
                  </a:ext>
                </a:extLst>
              </a:tr>
            </a:tbl>
          </a:graphicData>
        </a:graphic>
      </p:graphicFrame>
    </p:spTree>
    <p:extLst>
      <p:ext uri="{BB962C8B-B14F-4D97-AF65-F5344CB8AC3E}">
        <p14:creationId xmlns:p14="http://schemas.microsoft.com/office/powerpoint/2010/main" val="21428916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D9B2-E2E2-CA40-BEE4-C5FD5E7A538F}"/>
              </a:ext>
            </a:extLst>
          </p:cNvPr>
          <p:cNvSpPr>
            <a:spLocks noGrp="1"/>
          </p:cNvSpPr>
          <p:nvPr>
            <p:ph type="title"/>
          </p:nvPr>
        </p:nvSpPr>
        <p:spPr/>
        <p:txBody>
          <a:bodyPr/>
          <a:lstStyle/>
          <a:p>
            <a:r>
              <a:rPr lang="en-US" dirty="0"/>
              <a:t>Excel Exercise Interpretation</a:t>
            </a:r>
          </a:p>
        </p:txBody>
      </p:sp>
      <p:sp>
        <p:nvSpPr>
          <p:cNvPr id="3" name="Content Placeholder 2">
            <a:extLst>
              <a:ext uri="{FF2B5EF4-FFF2-40B4-BE49-F238E27FC236}">
                <a16:creationId xmlns:a16="http://schemas.microsoft.com/office/drawing/2014/main" id="{EEBB8932-B204-0B40-987B-BC03197C4901}"/>
              </a:ext>
            </a:extLst>
          </p:cNvPr>
          <p:cNvSpPr>
            <a:spLocks noGrp="1"/>
          </p:cNvSpPr>
          <p:nvPr>
            <p:ph idx="1"/>
          </p:nvPr>
        </p:nvSpPr>
        <p:spPr/>
        <p:txBody>
          <a:bodyPr>
            <a:noAutofit/>
          </a:bodyPr>
          <a:lstStyle/>
          <a:p>
            <a:pPr>
              <a:lnSpc>
                <a:spcPct val="160000"/>
              </a:lnSpc>
            </a:pPr>
            <a:r>
              <a:rPr lang="en-IN" sz="1600" dirty="0"/>
              <a:t>See constraint 2. </a:t>
            </a:r>
          </a:p>
          <a:p>
            <a:pPr>
              <a:lnSpc>
                <a:spcPct val="160000"/>
              </a:lnSpc>
            </a:pPr>
            <a:r>
              <a:rPr lang="en-IN" sz="1600" dirty="0"/>
              <a:t>What if RHS of constraint 2 decreases to 250? </a:t>
            </a:r>
          </a:p>
          <a:p>
            <a:pPr>
              <a:lnSpc>
                <a:spcPct val="160000"/>
              </a:lnSpc>
            </a:pPr>
            <a:r>
              <a:rPr lang="en-IN" sz="1600" dirty="0"/>
              <a:t>Proposed decrease 300-250=50. Outside allowable zone. </a:t>
            </a:r>
          </a:p>
          <a:p>
            <a:pPr>
              <a:lnSpc>
                <a:spcPct val="160000"/>
              </a:lnSpc>
            </a:pPr>
            <a:r>
              <a:rPr lang="en-IN" sz="1600" dirty="0"/>
              <a:t>We can’t say anything. We need to resolve the model. </a:t>
            </a:r>
          </a:p>
          <a:p>
            <a:pPr>
              <a:lnSpc>
                <a:spcPct val="160000"/>
              </a:lnSpc>
            </a:pPr>
            <a:endParaRPr lang="en-IN" sz="1600" dirty="0"/>
          </a:p>
        </p:txBody>
      </p:sp>
      <p:graphicFrame>
        <p:nvGraphicFramePr>
          <p:cNvPr id="5" name="Table 4">
            <a:extLst>
              <a:ext uri="{FF2B5EF4-FFF2-40B4-BE49-F238E27FC236}">
                <a16:creationId xmlns:a16="http://schemas.microsoft.com/office/drawing/2014/main" id="{822BB437-407A-334B-9390-27BC764895E5}"/>
              </a:ext>
            </a:extLst>
          </p:cNvPr>
          <p:cNvGraphicFramePr>
            <a:graphicFrameLocks noGrp="1"/>
          </p:cNvGraphicFramePr>
          <p:nvPr>
            <p:extLst>
              <p:ext uri="{D42A27DB-BD31-4B8C-83A1-F6EECF244321}">
                <p14:modId xmlns:p14="http://schemas.microsoft.com/office/powerpoint/2010/main" val="824715484"/>
              </p:ext>
            </p:extLst>
          </p:nvPr>
        </p:nvGraphicFramePr>
        <p:xfrm>
          <a:off x="660400" y="4536373"/>
          <a:ext cx="10312399" cy="2232561"/>
        </p:xfrm>
        <a:graphic>
          <a:graphicData uri="http://schemas.openxmlformats.org/drawingml/2006/table">
            <a:tbl>
              <a:tblPr>
                <a:tableStyleId>{5C22544A-7EE6-4342-B048-85BDC9FD1C3A}</a:tableStyleId>
              </a:tblPr>
              <a:tblGrid>
                <a:gridCol w="342744">
                  <a:extLst>
                    <a:ext uri="{9D8B030D-6E8A-4147-A177-3AD203B41FA5}">
                      <a16:colId xmlns:a16="http://schemas.microsoft.com/office/drawing/2014/main" val="3438946739"/>
                    </a:ext>
                  </a:extLst>
                </a:gridCol>
                <a:gridCol w="883921">
                  <a:extLst>
                    <a:ext uri="{9D8B030D-6E8A-4147-A177-3AD203B41FA5}">
                      <a16:colId xmlns:a16="http://schemas.microsoft.com/office/drawing/2014/main" val="2368786327"/>
                    </a:ext>
                  </a:extLst>
                </a:gridCol>
                <a:gridCol w="2507447">
                  <a:extLst>
                    <a:ext uri="{9D8B030D-6E8A-4147-A177-3AD203B41FA5}">
                      <a16:colId xmlns:a16="http://schemas.microsoft.com/office/drawing/2014/main" val="462473231"/>
                    </a:ext>
                  </a:extLst>
                </a:gridCol>
                <a:gridCol w="847842">
                  <a:extLst>
                    <a:ext uri="{9D8B030D-6E8A-4147-A177-3AD203B41FA5}">
                      <a16:colId xmlns:a16="http://schemas.microsoft.com/office/drawing/2014/main" val="3872081926"/>
                    </a:ext>
                  </a:extLst>
                </a:gridCol>
                <a:gridCol w="1178559">
                  <a:extLst>
                    <a:ext uri="{9D8B030D-6E8A-4147-A177-3AD203B41FA5}">
                      <a16:colId xmlns:a16="http://schemas.microsoft.com/office/drawing/2014/main" val="2939284316"/>
                    </a:ext>
                  </a:extLst>
                </a:gridCol>
                <a:gridCol w="1443135">
                  <a:extLst>
                    <a:ext uri="{9D8B030D-6E8A-4147-A177-3AD203B41FA5}">
                      <a16:colId xmlns:a16="http://schemas.microsoft.com/office/drawing/2014/main" val="4187680163"/>
                    </a:ext>
                  </a:extLst>
                </a:gridCol>
                <a:gridCol w="1352938">
                  <a:extLst>
                    <a:ext uri="{9D8B030D-6E8A-4147-A177-3AD203B41FA5}">
                      <a16:colId xmlns:a16="http://schemas.microsoft.com/office/drawing/2014/main" val="3740219960"/>
                    </a:ext>
                  </a:extLst>
                </a:gridCol>
                <a:gridCol w="1755813">
                  <a:extLst>
                    <a:ext uri="{9D8B030D-6E8A-4147-A177-3AD203B41FA5}">
                      <a16:colId xmlns:a16="http://schemas.microsoft.com/office/drawing/2014/main" val="1486420919"/>
                    </a:ext>
                  </a:extLst>
                </a:gridCol>
              </a:tblGrid>
              <a:tr h="330031">
                <a:tc gridSpan="3">
                  <a:txBody>
                    <a:bodyPr/>
                    <a:lstStyle/>
                    <a:p>
                      <a:pPr algn="l" fontAlgn="b"/>
                      <a:r>
                        <a:rPr lang="en-IN" sz="1800" u="none" strike="noStrike" dirty="0">
                          <a:effectLst/>
                        </a:rPr>
                        <a:t>Constraints</a:t>
                      </a:r>
                      <a:endParaRPr lang="en-IN" sz="1800" b="0"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45440194"/>
                  </a:ext>
                </a:extLst>
              </a:tr>
              <a:tr h="310617">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 </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 </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Final</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b="1" u="none" strike="noStrike">
                          <a:effectLst/>
                        </a:rPr>
                        <a:t>Shadow</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Constraint</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Allowable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Allowable</a:t>
                      </a:r>
                      <a:endParaRPr lang="en-IN" sz="1800" b="1" i="0" u="none" strike="noStrike">
                        <a:solidFill>
                          <a:srgbClr val="00008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86067411"/>
                  </a:ext>
                </a:extLst>
              </a:tr>
              <a:tr h="330031">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Cell</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Name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Value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b="1" u="none" strike="noStrike">
                          <a:effectLst/>
                        </a:rPr>
                        <a:t>Price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R.H. Side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Increase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Decrease</a:t>
                      </a:r>
                      <a:endParaRPr lang="en-IN" sz="1800" b="1" i="0" u="none" strike="noStrike">
                        <a:solidFill>
                          <a:srgbClr val="00008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720027219"/>
                  </a:ext>
                </a:extLst>
              </a:tr>
              <a:tr h="310617">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$E$11</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Constraint 3 Used</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270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b="1" u="none" strike="noStrike">
                          <a:effectLst/>
                        </a:rPr>
                        <a:t>0</a:t>
                      </a:r>
                      <a:endParaRPr lang="en-IN" sz="18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250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20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1E+30</a:t>
                      </a:r>
                      <a:endParaRPr lang="en-IN"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21700763"/>
                  </a:ext>
                </a:extLst>
              </a:tr>
              <a:tr h="310617">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$E$12</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Constraint 4 Used</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60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b="1" u="none" strike="noStrike">
                          <a:effectLst/>
                        </a:rPr>
                        <a:t>-2.5</a:t>
                      </a:r>
                      <a:endParaRPr lang="en-IN" sz="18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60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40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60</a:t>
                      </a:r>
                      <a:endParaRPr lang="en-IN"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665532616"/>
                  </a:ext>
                </a:extLst>
              </a:tr>
              <a:tr h="310617">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$E$9</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Constraint 1 Used</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100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b="1" u="none" strike="noStrike">
                          <a:effectLst/>
                        </a:rPr>
                        <a:t>60</a:t>
                      </a:r>
                      <a:endParaRPr lang="en-IN" sz="18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100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10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6.666666667</a:t>
                      </a:r>
                      <a:endParaRPr lang="en-IN"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43754916"/>
                  </a:ext>
                </a:extLst>
              </a:tr>
              <a:tr h="330031">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$E$10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b="1" u="none" strike="noStrike" dirty="0">
                          <a:effectLst/>
                        </a:rPr>
                        <a:t>Constraint 2 Used</a:t>
                      </a:r>
                      <a:endParaRPr lang="en-IN"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270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b="1" u="none" strike="noStrike" dirty="0">
                          <a:effectLst/>
                        </a:rPr>
                        <a:t>0</a:t>
                      </a:r>
                      <a:endParaRPr lang="en-IN"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300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1E+30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dirty="0">
                          <a:effectLst/>
                        </a:rPr>
                        <a:t>30</a:t>
                      </a:r>
                      <a:endParaRPr lang="en-IN"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61245245"/>
                  </a:ext>
                </a:extLst>
              </a:tr>
            </a:tbl>
          </a:graphicData>
        </a:graphic>
      </p:graphicFrame>
    </p:spTree>
    <p:extLst>
      <p:ext uri="{BB962C8B-B14F-4D97-AF65-F5344CB8AC3E}">
        <p14:creationId xmlns:p14="http://schemas.microsoft.com/office/powerpoint/2010/main" val="4696224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D9B2-E2E2-CA40-BEE4-C5FD5E7A538F}"/>
              </a:ext>
            </a:extLst>
          </p:cNvPr>
          <p:cNvSpPr>
            <a:spLocks noGrp="1"/>
          </p:cNvSpPr>
          <p:nvPr>
            <p:ph type="title"/>
          </p:nvPr>
        </p:nvSpPr>
        <p:spPr/>
        <p:txBody>
          <a:bodyPr/>
          <a:lstStyle/>
          <a:p>
            <a:r>
              <a:rPr lang="en-US" dirty="0"/>
              <a:t>Excel Exercise Interpretation</a:t>
            </a:r>
          </a:p>
        </p:txBody>
      </p:sp>
      <p:sp>
        <p:nvSpPr>
          <p:cNvPr id="3" name="Content Placeholder 2">
            <a:extLst>
              <a:ext uri="{FF2B5EF4-FFF2-40B4-BE49-F238E27FC236}">
                <a16:creationId xmlns:a16="http://schemas.microsoft.com/office/drawing/2014/main" id="{EEBB8932-B204-0B40-987B-BC03197C4901}"/>
              </a:ext>
            </a:extLst>
          </p:cNvPr>
          <p:cNvSpPr>
            <a:spLocks noGrp="1"/>
          </p:cNvSpPr>
          <p:nvPr>
            <p:ph idx="1"/>
          </p:nvPr>
        </p:nvSpPr>
        <p:spPr/>
        <p:txBody>
          <a:bodyPr>
            <a:noAutofit/>
          </a:bodyPr>
          <a:lstStyle/>
          <a:p>
            <a:pPr>
              <a:lnSpc>
                <a:spcPct val="160000"/>
              </a:lnSpc>
            </a:pPr>
            <a:r>
              <a:rPr lang="en-IN" sz="1600" dirty="0"/>
              <a:t>See constraint 4. </a:t>
            </a:r>
          </a:p>
          <a:p>
            <a:pPr>
              <a:lnSpc>
                <a:spcPct val="160000"/>
              </a:lnSpc>
            </a:pPr>
            <a:r>
              <a:rPr lang="en-IN" sz="1600" dirty="0"/>
              <a:t>What if RHS of constraint 4 changes to 44? </a:t>
            </a:r>
          </a:p>
          <a:p>
            <a:pPr>
              <a:lnSpc>
                <a:spcPct val="160000"/>
              </a:lnSpc>
            </a:pPr>
            <a:r>
              <a:rPr lang="en-IN" sz="1600" dirty="0"/>
              <a:t>Proposed decrease 60-44=16. inside allowable zone. (Why?)</a:t>
            </a:r>
          </a:p>
          <a:p>
            <a:pPr>
              <a:lnSpc>
                <a:spcPct val="160000"/>
              </a:lnSpc>
            </a:pPr>
            <a:r>
              <a:rPr lang="en-IN" sz="1600" dirty="0"/>
              <a:t>Shadow price can be used =&gt; -16*-2.5=40=&gt; profit increases by 40.</a:t>
            </a:r>
          </a:p>
          <a:p>
            <a:pPr>
              <a:lnSpc>
                <a:spcPct val="160000"/>
              </a:lnSpc>
            </a:pPr>
            <a:endParaRPr lang="en-IN" sz="1600" dirty="0"/>
          </a:p>
        </p:txBody>
      </p:sp>
      <p:graphicFrame>
        <p:nvGraphicFramePr>
          <p:cNvPr id="5" name="Table 4">
            <a:extLst>
              <a:ext uri="{FF2B5EF4-FFF2-40B4-BE49-F238E27FC236}">
                <a16:creationId xmlns:a16="http://schemas.microsoft.com/office/drawing/2014/main" id="{822BB437-407A-334B-9390-27BC764895E5}"/>
              </a:ext>
            </a:extLst>
          </p:cNvPr>
          <p:cNvGraphicFramePr>
            <a:graphicFrameLocks noGrp="1"/>
          </p:cNvGraphicFramePr>
          <p:nvPr>
            <p:extLst>
              <p:ext uri="{D42A27DB-BD31-4B8C-83A1-F6EECF244321}">
                <p14:modId xmlns:p14="http://schemas.microsoft.com/office/powerpoint/2010/main" val="4070822840"/>
              </p:ext>
            </p:extLst>
          </p:nvPr>
        </p:nvGraphicFramePr>
        <p:xfrm>
          <a:off x="660400" y="4536373"/>
          <a:ext cx="10312399" cy="2232561"/>
        </p:xfrm>
        <a:graphic>
          <a:graphicData uri="http://schemas.openxmlformats.org/drawingml/2006/table">
            <a:tbl>
              <a:tblPr>
                <a:tableStyleId>{5C22544A-7EE6-4342-B048-85BDC9FD1C3A}</a:tableStyleId>
              </a:tblPr>
              <a:tblGrid>
                <a:gridCol w="342744">
                  <a:extLst>
                    <a:ext uri="{9D8B030D-6E8A-4147-A177-3AD203B41FA5}">
                      <a16:colId xmlns:a16="http://schemas.microsoft.com/office/drawing/2014/main" val="3438946739"/>
                    </a:ext>
                  </a:extLst>
                </a:gridCol>
                <a:gridCol w="883921">
                  <a:extLst>
                    <a:ext uri="{9D8B030D-6E8A-4147-A177-3AD203B41FA5}">
                      <a16:colId xmlns:a16="http://schemas.microsoft.com/office/drawing/2014/main" val="2368786327"/>
                    </a:ext>
                  </a:extLst>
                </a:gridCol>
                <a:gridCol w="2507447">
                  <a:extLst>
                    <a:ext uri="{9D8B030D-6E8A-4147-A177-3AD203B41FA5}">
                      <a16:colId xmlns:a16="http://schemas.microsoft.com/office/drawing/2014/main" val="462473231"/>
                    </a:ext>
                  </a:extLst>
                </a:gridCol>
                <a:gridCol w="847842">
                  <a:extLst>
                    <a:ext uri="{9D8B030D-6E8A-4147-A177-3AD203B41FA5}">
                      <a16:colId xmlns:a16="http://schemas.microsoft.com/office/drawing/2014/main" val="3872081926"/>
                    </a:ext>
                  </a:extLst>
                </a:gridCol>
                <a:gridCol w="1178559">
                  <a:extLst>
                    <a:ext uri="{9D8B030D-6E8A-4147-A177-3AD203B41FA5}">
                      <a16:colId xmlns:a16="http://schemas.microsoft.com/office/drawing/2014/main" val="2939284316"/>
                    </a:ext>
                  </a:extLst>
                </a:gridCol>
                <a:gridCol w="1443135">
                  <a:extLst>
                    <a:ext uri="{9D8B030D-6E8A-4147-A177-3AD203B41FA5}">
                      <a16:colId xmlns:a16="http://schemas.microsoft.com/office/drawing/2014/main" val="4187680163"/>
                    </a:ext>
                  </a:extLst>
                </a:gridCol>
                <a:gridCol w="1352938">
                  <a:extLst>
                    <a:ext uri="{9D8B030D-6E8A-4147-A177-3AD203B41FA5}">
                      <a16:colId xmlns:a16="http://schemas.microsoft.com/office/drawing/2014/main" val="3740219960"/>
                    </a:ext>
                  </a:extLst>
                </a:gridCol>
                <a:gridCol w="1755813">
                  <a:extLst>
                    <a:ext uri="{9D8B030D-6E8A-4147-A177-3AD203B41FA5}">
                      <a16:colId xmlns:a16="http://schemas.microsoft.com/office/drawing/2014/main" val="1486420919"/>
                    </a:ext>
                  </a:extLst>
                </a:gridCol>
              </a:tblGrid>
              <a:tr h="330031">
                <a:tc gridSpan="3">
                  <a:txBody>
                    <a:bodyPr/>
                    <a:lstStyle/>
                    <a:p>
                      <a:pPr algn="l" fontAlgn="b"/>
                      <a:r>
                        <a:rPr lang="en-IN" sz="1800" u="none" strike="noStrike" dirty="0">
                          <a:effectLst/>
                        </a:rPr>
                        <a:t>Constraints</a:t>
                      </a:r>
                      <a:endParaRPr lang="en-IN" sz="1800" b="0"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45440194"/>
                  </a:ext>
                </a:extLst>
              </a:tr>
              <a:tr h="310617">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 </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 </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Final</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b="1" u="none" strike="noStrike">
                          <a:effectLst/>
                        </a:rPr>
                        <a:t>Shadow</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Constraint</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Allowable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Allowable</a:t>
                      </a:r>
                      <a:endParaRPr lang="en-IN" sz="1800" b="1" i="0" u="none" strike="noStrike">
                        <a:solidFill>
                          <a:srgbClr val="00008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86067411"/>
                  </a:ext>
                </a:extLst>
              </a:tr>
              <a:tr h="330031">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Cell</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Name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Value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b="1" u="none" strike="noStrike">
                          <a:effectLst/>
                        </a:rPr>
                        <a:t>Price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R.H. Side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Increase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Decrease</a:t>
                      </a:r>
                      <a:endParaRPr lang="en-IN" sz="1800" b="1" i="0" u="none" strike="noStrike">
                        <a:solidFill>
                          <a:srgbClr val="00008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720027219"/>
                  </a:ext>
                </a:extLst>
              </a:tr>
              <a:tr h="310617">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$E$11</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Constraint 3 Used</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270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b="1" u="none" strike="noStrike">
                          <a:effectLst/>
                        </a:rPr>
                        <a:t>0</a:t>
                      </a:r>
                      <a:endParaRPr lang="en-IN" sz="18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250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20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1E+30</a:t>
                      </a:r>
                      <a:endParaRPr lang="en-IN"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21700763"/>
                  </a:ext>
                </a:extLst>
              </a:tr>
              <a:tr h="310617">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$E$12</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b="1" u="none" strike="noStrike" dirty="0">
                          <a:effectLst/>
                        </a:rPr>
                        <a:t>Constraint 4 Used</a:t>
                      </a:r>
                      <a:endParaRPr lang="en-IN"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60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b="1" u="none" strike="noStrike">
                          <a:effectLst/>
                        </a:rPr>
                        <a:t>-2.5</a:t>
                      </a:r>
                      <a:endParaRPr lang="en-IN" sz="18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60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40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60</a:t>
                      </a:r>
                      <a:endParaRPr lang="en-IN"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665532616"/>
                  </a:ext>
                </a:extLst>
              </a:tr>
              <a:tr h="310617">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$E$9</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Constraint 1 Used</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100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b="1" u="none" strike="noStrike">
                          <a:effectLst/>
                        </a:rPr>
                        <a:t>60</a:t>
                      </a:r>
                      <a:endParaRPr lang="en-IN" sz="1800" b="1"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100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10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6.666666667</a:t>
                      </a:r>
                      <a:endParaRPr lang="en-IN"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43754916"/>
                  </a:ext>
                </a:extLst>
              </a:tr>
              <a:tr h="330031">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$E$10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Constraint 2 Used</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270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b="1" u="none" strike="noStrike" dirty="0">
                          <a:effectLst/>
                        </a:rPr>
                        <a:t>0</a:t>
                      </a:r>
                      <a:endParaRPr lang="en-IN" sz="1800" b="1"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300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1E+30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dirty="0">
                          <a:effectLst/>
                        </a:rPr>
                        <a:t>30</a:t>
                      </a:r>
                      <a:endParaRPr lang="en-IN"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61245245"/>
                  </a:ext>
                </a:extLst>
              </a:tr>
            </a:tbl>
          </a:graphicData>
        </a:graphic>
      </p:graphicFrame>
    </p:spTree>
    <p:extLst>
      <p:ext uri="{BB962C8B-B14F-4D97-AF65-F5344CB8AC3E}">
        <p14:creationId xmlns:p14="http://schemas.microsoft.com/office/powerpoint/2010/main" val="460375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D9B2-E2E2-CA40-BEE4-C5FD5E7A538F}"/>
              </a:ext>
            </a:extLst>
          </p:cNvPr>
          <p:cNvSpPr>
            <a:spLocks noGrp="1"/>
          </p:cNvSpPr>
          <p:nvPr>
            <p:ph type="title"/>
          </p:nvPr>
        </p:nvSpPr>
        <p:spPr/>
        <p:txBody>
          <a:bodyPr/>
          <a:lstStyle/>
          <a:p>
            <a:r>
              <a:rPr lang="en-US" dirty="0"/>
              <a:t>Excel Exercise Interpretation</a:t>
            </a:r>
          </a:p>
        </p:txBody>
      </p:sp>
      <p:sp>
        <p:nvSpPr>
          <p:cNvPr id="3" name="Content Placeholder 2">
            <a:extLst>
              <a:ext uri="{FF2B5EF4-FFF2-40B4-BE49-F238E27FC236}">
                <a16:creationId xmlns:a16="http://schemas.microsoft.com/office/drawing/2014/main" id="{EEBB8932-B204-0B40-987B-BC03197C4901}"/>
              </a:ext>
            </a:extLst>
          </p:cNvPr>
          <p:cNvSpPr>
            <a:spLocks noGrp="1"/>
          </p:cNvSpPr>
          <p:nvPr>
            <p:ph idx="1"/>
          </p:nvPr>
        </p:nvSpPr>
        <p:spPr/>
        <p:txBody>
          <a:bodyPr>
            <a:noAutofit/>
          </a:bodyPr>
          <a:lstStyle/>
          <a:p>
            <a:pPr>
              <a:lnSpc>
                <a:spcPct val="160000"/>
              </a:lnSpc>
            </a:pPr>
            <a:r>
              <a:rPr lang="en-IN" sz="1600" dirty="0"/>
              <a:t>Binding vs Non Binding Constraints</a:t>
            </a:r>
          </a:p>
          <a:p>
            <a:pPr>
              <a:lnSpc>
                <a:spcPct val="160000"/>
              </a:lnSpc>
            </a:pPr>
            <a:endParaRPr lang="en-IN" sz="1600" dirty="0"/>
          </a:p>
        </p:txBody>
      </p:sp>
      <p:graphicFrame>
        <p:nvGraphicFramePr>
          <p:cNvPr id="5" name="Table 4">
            <a:extLst>
              <a:ext uri="{FF2B5EF4-FFF2-40B4-BE49-F238E27FC236}">
                <a16:creationId xmlns:a16="http://schemas.microsoft.com/office/drawing/2014/main" id="{822BB437-407A-334B-9390-27BC764895E5}"/>
              </a:ext>
            </a:extLst>
          </p:cNvPr>
          <p:cNvGraphicFramePr>
            <a:graphicFrameLocks noGrp="1"/>
          </p:cNvGraphicFramePr>
          <p:nvPr/>
        </p:nvGraphicFramePr>
        <p:xfrm>
          <a:off x="660400" y="4536373"/>
          <a:ext cx="10312399" cy="2232561"/>
        </p:xfrm>
        <a:graphic>
          <a:graphicData uri="http://schemas.openxmlformats.org/drawingml/2006/table">
            <a:tbl>
              <a:tblPr>
                <a:tableStyleId>{5C22544A-7EE6-4342-B048-85BDC9FD1C3A}</a:tableStyleId>
              </a:tblPr>
              <a:tblGrid>
                <a:gridCol w="342744">
                  <a:extLst>
                    <a:ext uri="{9D8B030D-6E8A-4147-A177-3AD203B41FA5}">
                      <a16:colId xmlns:a16="http://schemas.microsoft.com/office/drawing/2014/main" val="3438946739"/>
                    </a:ext>
                  </a:extLst>
                </a:gridCol>
                <a:gridCol w="883921">
                  <a:extLst>
                    <a:ext uri="{9D8B030D-6E8A-4147-A177-3AD203B41FA5}">
                      <a16:colId xmlns:a16="http://schemas.microsoft.com/office/drawing/2014/main" val="2368786327"/>
                    </a:ext>
                  </a:extLst>
                </a:gridCol>
                <a:gridCol w="2507447">
                  <a:extLst>
                    <a:ext uri="{9D8B030D-6E8A-4147-A177-3AD203B41FA5}">
                      <a16:colId xmlns:a16="http://schemas.microsoft.com/office/drawing/2014/main" val="462473231"/>
                    </a:ext>
                  </a:extLst>
                </a:gridCol>
                <a:gridCol w="847842">
                  <a:extLst>
                    <a:ext uri="{9D8B030D-6E8A-4147-A177-3AD203B41FA5}">
                      <a16:colId xmlns:a16="http://schemas.microsoft.com/office/drawing/2014/main" val="3872081926"/>
                    </a:ext>
                  </a:extLst>
                </a:gridCol>
                <a:gridCol w="1178559">
                  <a:extLst>
                    <a:ext uri="{9D8B030D-6E8A-4147-A177-3AD203B41FA5}">
                      <a16:colId xmlns:a16="http://schemas.microsoft.com/office/drawing/2014/main" val="2939284316"/>
                    </a:ext>
                  </a:extLst>
                </a:gridCol>
                <a:gridCol w="1443135">
                  <a:extLst>
                    <a:ext uri="{9D8B030D-6E8A-4147-A177-3AD203B41FA5}">
                      <a16:colId xmlns:a16="http://schemas.microsoft.com/office/drawing/2014/main" val="4187680163"/>
                    </a:ext>
                  </a:extLst>
                </a:gridCol>
                <a:gridCol w="1352938">
                  <a:extLst>
                    <a:ext uri="{9D8B030D-6E8A-4147-A177-3AD203B41FA5}">
                      <a16:colId xmlns:a16="http://schemas.microsoft.com/office/drawing/2014/main" val="3740219960"/>
                    </a:ext>
                  </a:extLst>
                </a:gridCol>
                <a:gridCol w="1755813">
                  <a:extLst>
                    <a:ext uri="{9D8B030D-6E8A-4147-A177-3AD203B41FA5}">
                      <a16:colId xmlns:a16="http://schemas.microsoft.com/office/drawing/2014/main" val="1486420919"/>
                    </a:ext>
                  </a:extLst>
                </a:gridCol>
              </a:tblGrid>
              <a:tr h="330031">
                <a:tc gridSpan="3">
                  <a:txBody>
                    <a:bodyPr/>
                    <a:lstStyle/>
                    <a:p>
                      <a:pPr algn="l" fontAlgn="b"/>
                      <a:r>
                        <a:rPr lang="en-IN" sz="1800" u="none" strike="noStrike" dirty="0">
                          <a:effectLst/>
                        </a:rPr>
                        <a:t>Constraints</a:t>
                      </a:r>
                      <a:endParaRPr lang="en-IN" sz="1800" b="0" i="0" u="none" strike="noStrike" dirty="0">
                        <a:solidFill>
                          <a:srgbClr val="000000"/>
                        </a:solidFill>
                        <a:effectLst/>
                        <a:latin typeface="Calibri" panose="020F0502020204030204" pitchFamily="34" charset="0"/>
                      </a:endParaRPr>
                    </a:p>
                  </a:txBody>
                  <a:tcPr marL="9525" marR="9525" marT="9525" marB="0" anchor="b"/>
                </a:tc>
                <a:tc hMerge="1">
                  <a:txBody>
                    <a:bodyPr/>
                    <a:lstStyle/>
                    <a:p>
                      <a:endParaRPr lang="en-US"/>
                    </a:p>
                  </a:txBody>
                  <a:tcPr/>
                </a:tc>
                <a:tc hMerge="1">
                  <a:txBody>
                    <a:bodyPr/>
                    <a:lstStyle/>
                    <a:p>
                      <a:endParaRPr lang="en-US"/>
                    </a:p>
                  </a:txBody>
                  <a:tcPr/>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endParaRPr lang="en-IN"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45440194"/>
                  </a:ext>
                </a:extLst>
              </a:tr>
              <a:tr h="310617">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 </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 </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Final</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Shadow</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Constraint</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Allowable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Allowable</a:t>
                      </a:r>
                      <a:endParaRPr lang="en-IN" sz="1800" b="1" i="0" u="none" strike="noStrike">
                        <a:solidFill>
                          <a:srgbClr val="00008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2686067411"/>
                  </a:ext>
                </a:extLst>
              </a:tr>
              <a:tr h="330031">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Cell</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Name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Value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Price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R.H. Side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Increase</a:t>
                      </a:r>
                      <a:endParaRPr lang="en-IN" sz="1800" b="1" i="0" u="none" strike="noStrike">
                        <a:solidFill>
                          <a:srgbClr val="000080"/>
                        </a:solidFill>
                        <a:effectLst/>
                        <a:latin typeface="Calibri" panose="020F0502020204030204" pitchFamily="34" charset="0"/>
                      </a:endParaRPr>
                    </a:p>
                  </a:txBody>
                  <a:tcPr marL="9525" marR="9525" marT="9525" marB="0" anchor="b"/>
                </a:tc>
                <a:tc>
                  <a:txBody>
                    <a:bodyPr/>
                    <a:lstStyle/>
                    <a:p>
                      <a:pPr algn="ctr" fontAlgn="b"/>
                      <a:r>
                        <a:rPr lang="en-IN" sz="1800" u="none" strike="noStrike">
                          <a:effectLst/>
                        </a:rPr>
                        <a:t>Decrease</a:t>
                      </a:r>
                      <a:endParaRPr lang="en-IN" sz="1800" b="1" i="0" u="none" strike="noStrike">
                        <a:solidFill>
                          <a:srgbClr val="00008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720027219"/>
                  </a:ext>
                </a:extLst>
              </a:tr>
              <a:tr h="310617">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$E$11</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Constraint 3 Used</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dirty="0">
                          <a:effectLst/>
                        </a:rPr>
                        <a:t>270</a:t>
                      </a:r>
                      <a:endParaRPr lang="en-IN"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dirty="0">
                          <a:effectLst/>
                        </a:rPr>
                        <a:t>0</a:t>
                      </a:r>
                      <a:endParaRPr lang="en-IN"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dirty="0">
                          <a:effectLst/>
                        </a:rPr>
                        <a:t>250</a:t>
                      </a:r>
                      <a:endParaRPr lang="en-IN"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20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1E+30</a:t>
                      </a:r>
                      <a:endParaRPr lang="en-IN"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021700763"/>
                  </a:ext>
                </a:extLst>
              </a:tr>
              <a:tr h="310617">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$E$12</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Constraint 4 Used</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dirty="0">
                          <a:effectLst/>
                        </a:rPr>
                        <a:t>60</a:t>
                      </a:r>
                      <a:endParaRPr lang="en-IN"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-2.5</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dirty="0">
                          <a:effectLst/>
                        </a:rPr>
                        <a:t>60</a:t>
                      </a:r>
                      <a:endParaRPr lang="en-IN"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40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60</a:t>
                      </a:r>
                      <a:endParaRPr lang="en-IN"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3665532616"/>
                  </a:ext>
                </a:extLst>
              </a:tr>
              <a:tr h="310617">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$E$9</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Constraint 1 Used</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100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60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dirty="0">
                          <a:effectLst/>
                        </a:rPr>
                        <a:t>100</a:t>
                      </a:r>
                      <a:endParaRPr lang="en-IN" sz="1800" b="0" i="0" u="none" strike="noStrike" dirty="0">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10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6.666666667</a:t>
                      </a:r>
                      <a:endParaRPr lang="en-IN" sz="1800" b="0" i="0" u="none" strike="noStrike">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443754916"/>
                  </a:ext>
                </a:extLst>
              </a:tr>
              <a:tr h="330031">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$E$10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l" fontAlgn="b"/>
                      <a:r>
                        <a:rPr lang="en-IN" sz="1800" u="none" strike="noStrike">
                          <a:effectLst/>
                        </a:rPr>
                        <a:t>Constraint 2 Used</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270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300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a:effectLst/>
                        </a:rPr>
                        <a:t>1E+30</a:t>
                      </a:r>
                      <a:endParaRPr lang="en-IN" sz="1800" b="0" i="0" u="none" strike="noStrike">
                        <a:solidFill>
                          <a:srgbClr val="000000"/>
                        </a:solidFill>
                        <a:effectLst/>
                        <a:latin typeface="Calibri" panose="020F0502020204030204" pitchFamily="34" charset="0"/>
                      </a:endParaRPr>
                    </a:p>
                  </a:txBody>
                  <a:tcPr marL="9525" marR="9525" marT="9525" marB="0" anchor="b"/>
                </a:tc>
                <a:tc>
                  <a:txBody>
                    <a:bodyPr/>
                    <a:lstStyle/>
                    <a:p>
                      <a:pPr algn="r" fontAlgn="b"/>
                      <a:r>
                        <a:rPr lang="en-IN" sz="1800" u="none" strike="noStrike" dirty="0">
                          <a:effectLst/>
                        </a:rPr>
                        <a:t>30</a:t>
                      </a:r>
                      <a:endParaRPr lang="en-IN" sz="1800" b="0" i="0" u="none" strike="noStrike" dirty="0">
                        <a:solidFill>
                          <a:srgbClr val="000000"/>
                        </a:solidFill>
                        <a:effectLst/>
                        <a:latin typeface="Calibri" panose="020F0502020204030204" pitchFamily="34" charset="0"/>
                      </a:endParaRPr>
                    </a:p>
                  </a:txBody>
                  <a:tcPr marL="9525" marR="9525" marT="9525" marB="0" anchor="b"/>
                </a:tc>
                <a:extLst>
                  <a:ext uri="{0D108BD9-81ED-4DB2-BD59-A6C34878D82A}">
                    <a16:rowId xmlns:a16="http://schemas.microsoft.com/office/drawing/2014/main" val="1661245245"/>
                  </a:ext>
                </a:extLst>
              </a:tr>
            </a:tbl>
          </a:graphicData>
        </a:graphic>
      </p:graphicFrame>
    </p:spTree>
    <p:extLst>
      <p:ext uri="{BB962C8B-B14F-4D97-AF65-F5344CB8AC3E}">
        <p14:creationId xmlns:p14="http://schemas.microsoft.com/office/powerpoint/2010/main" val="34502839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D9B2-E2E2-CA40-BEE4-C5FD5E7A538F}"/>
              </a:ext>
            </a:extLst>
          </p:cNvPr>
          <p:cNvSpPr>
            <a:spLocks noGrp="1"/>
          </p:cNvSpPr>
          <p:nvPr>
            <p:ph type="title"/>
          </p:nvPr>
        </p:nvSpPr>
        <p:spPr/>
        <p:txBody>
          <a:bodyPr/>
          <a:lstStyle/>
          <a:p>
            <a:r>
              <a:rPr lang="en-US" dirty="0"/>
              <a:t>Transportation Problem</a:t>
            </a:r>
          </a:p>
        </p:txBody>
      </p:sp>
      <p:sp>
        <p:nvSpPr>
          <p:cNvPr id="3" name="Content Placeholder 2">
            <a:extLst>
              <a:ext uri="{FF2B5EF4-FFF2-40B4-BE49-F238E27FC236}">
                <a16:creationId xmlns:a16="http://schemas.microsoft.com/office/drawing/2014/main" id="{EEBB8932-B204-0B40-987B-BC03197C4901}"/>
              </a:ext>
            </a:extLst>
          </p:cNvPr>
          <p:cNvSpPr>
            <a:spLocks noGrp="1"/>
          </p:cNvSpPr>
          <p:nvPr>
            <p:ph idx="1"/>
          </p:nvPr>
        </p:nvSpPr>
        <p:spPr/>
        <p:txBody>
          <a:bodyPr>
            <a:noAutofit/>
          </a:bodyPr>
          <a:lstStyle/>
          <a:p>
            <a:pPr>
              <a:lnSpc>
                <a:spcPct val="160000"/>
              </a:lnSpc>
            </a:pPr>
            <a:r>
              <a:rPr lang="en-US" altLang="en-US" sz="2400" dirty="0"/>
              <a:t>The </a:t>
            </a:r>
            <a:r>
              <a:rPr lang="en-US" altLang="en-US" sz="2400" u="sng" dirty="0"/>
              <a:t>transportation problem</a:t>
            </a:r>
            <a:r>
              <a:rPr lang="en-US" altLang="en-US" sz="2400" dirty="0"/>
              <a:t> seeks to minimize the total shipping costs of transporting goods from </a:t>
            </a:r>
            <a:r>
              <a:rPr lang="en-US" altLang="en-US" sz="2400" i="1" dirty="0"/>
              <a:t>m</a:t>
            </a:r>
            <a:r>
              <a:rPr lang="en-US" altLang="en-US" sz="2400" dirty="0"/>
              <a:t> origins or sources (each with a supply </a:t>
            </a:r>
            <a:r>
              <a:rPr lang="en-US" altLang="en-US" sz="2400" i="1" dirty="0" err="1"/>
              <a:t>s</a:t>
            </a:r>
            <a:r>
              <a:rPr lang="en-US" altLang="en-US" sz="2400" i="1" baseline="-25000" dirty="0" err="1"/>
              <a:t>i</a:t>
            </a:r>
            <a:r>
              <a:rPr lang="en-US" altLang="en-US" sz="2400" dirty="0"/>
              <a:t>) to </a:t>
            </a:r>
            <a:r>
              <a:rPr lang="en-US" altLang="en-US" sz="2400" i="1" dirty="0"/>
              <a:t>n</a:t>
            </a:r>
            <a:r>
              <a:rPr lang="en-US" altLang="en-US" sz="2400" dirty="0"/>
              <a:t> destinations (each with a demand </a:t>
            </a:r>
            <a:r>
              <a:rPr lang="en-US" altLang="en-US" sz="2400" i="1" dirty="0" err="1"/>
              <a:t>d</a:t>
            </a:r>
            <a:r>
              <a:rPr lang="en-US" altLang="en-US" sz="2400" i="1" baseline="-25000" dirty="0" err="1"/>
              <a:t>j</a:t>
            </a:r>
            <a:r>
              <a:rPr lang="en-US" altLang="en-US" sz="2400" dirty="0"/>
              <a:t>), when the unit shipping cost from source, </a:t>
            </a:r>
            <a:r>
              <a:rPr lang="en-US" altLang="en-US" sz="2400" i="1" dirty="0" err="1"/>
              <a:t>i</a:t>
            </a:r>
            <a:r>
              <a:rPr lang="en-US" altLang="en-US" sz="2400" dirty="0"/>
              <a:t>, to a destination, </a:t>
            </a:r>
            <a:r>
              <a:rPr lang="en-US" altLang="en-US" sz="2400" i="1" dirty="0"/>
              <a:t>j</a:t>
            </a:r>
            <a:r>
              <a:rPr lang="en-US" altLang="en-US" sz="2400" dirty="0"/>
              <a:t>, is </a:t>
            </a:r>
            <a:r>
              <a:rPr lang="en-US" altLang="en-US" sz="2400" i="1" dirty="0" err="1"/>
              <a:t>c</a:t>
            </a:r>
            <a:r>
              <a:rPr lang="en-US" altLang="en-US" sz="2400" i="1" baseline="-25000" dirty="0" err="1"/>
              <a:t>ij</a:t>
            </a:r>
            <a:r>
              <a:rPr lang="en-US" altLang="en-US" sz="2400" dirty="0"/>
              <a:t>.</a:t>
            </a:r>
          </a:p>
          <a:p>
            <a:pPr>
              <a:lnSpc>
                <a:spcPct val="160000"/>
              </a:lnSpc>
            </a:pPr>
            <a:endParaRPr lang="en-IN" sz="2400" dirty="0"/>
          </a:p>
        </p:txBody>
      </p:sp>
    </p:spTree>
    <p:extLst>
      <p:ext uri="{BB962C8B-B14F-4D97-AF65-F5344CB8AC3E}">
        <p14:creationId xmlns:p14="http://schemas.microsoft.com/office/powerpoint/2010/main" val="37837984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D9B2-E2E2-CA40-BEE4-C5FD5E7A538F}"/>
              </a:ext>
            </a:extLst>
          </p:cNvPr>
          <p:cNvSpPr>
            <a:spLocks noGrp="1"/>
          </p:cNvSpPr>
          <p:nvPr>
            <p:ph type="title"/>
          </p:nvPr>
        </p:nvSpPr>
        <p:spPr/>
        <p:txBody>
          <a:bodyPr/>
          <a:lstStyle/>
          <a:p>
            <a:r>
              <a:rPr lang="en-US" dirty="0"/>
              <a:t>Transportation Problem – Network Representation</a:t>
            </a:r>
          </a:p>
        </p:txBody>
      </p:sp>
      <p:pic>
        <p:nvPicPr>
          <p:cNvPr id="33" name="Content Placeholder 32" descr="A close up of a logo&#10;&#10;Description automatically generated">
            <a:extLst>
              <a:ext uri="{FF2B5EF4-FFF2-40B4-BE49-F238E27FC236}">
                <a16:creationId xmlns:a16="http://schemas.microsoft.com/office/drawing/2014/main" id="{8FBA0AE0-40B3-0E43-839C-EED7C87D8DD0}"/>
              </a:ext>
            </a:extLst>
          </p:cNvPr>
          <p:cNvPicPr>
            <a:picLocks noGrp="1" noChangeAspect="1"/>
          </p:cNvPicPr>
          <p:nvPr>
            <p:ph idx="1"/>
          </p:nvPr>
        </p:nvPicPr>
        <p:blipFill>
          <a:blip r:embed="rId2"/>
          <a:stretch>
            <a:fillRect/>
          </a:stretch>
        </p:blipFill>
        <p:spPr>
          <a:xfrm>
            <a:off x="3210139" y="1825625"/>
            <a:ext cx="5771722" cy="4351338"/>
          </a:xfrm>
        </p:spPr>
      </p:pic>
    </p:spTree>
    <p:extLst>
      <p:ext uri="{BB962C8B-B14F-4D97-AF65-F5344CB8AC3E}">
        <p14:creationId xmlns:p14="http://schemas.microsoft.com/office/powerpoint/2010/main" val="1848314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D9B2-E2E2-CA40-BEE4-C5FD5E7A538F}"/>
              </a:ext>
            </a:extLst>
          </p:cNvPr>
          <p:cNvSpPr>
            <a:spLocks noGrp="1"/>
          </p:cNvSpPr>
          <p:nvPr>
            <p:ph type="title"/>
          </p:nvPr>
        </p:nvSpPr>
        <p:spPr/>
        <p:txBody>
          <a:bodyPr/>
          <a:lstStyle/>
          <a:p>
            <a:r>
              <a:rPr lang="en-US" dirty="0"/>
              <a:t>Transportation Problem – Example 1</a:t>
            </a:r>
          </a:p>
        </p:txBody>
      </p:sp>
      <p:sp>
        <p:nvSpPr>
          <p:cNvPr id="4" name="Content Placeholder 3">
            <a:extLst>
              <a:ext uri="{FF2B5EF4-FFF2-40B4-BE49-F238E27FC236}">
                <a16:creationId xmlns:a16="http://schemas.microsoft.com/office/drawing/2014/main" id="{214E884D-802D-A240-9E89-63FEE186A78A}"/>
              </a:ext>
            </a:extLst>
          </p:cNvPr>
          <p:cNvSpPr>
            <a:spLocks noGrp="1"/>
          </p:cNvSpPr>
          <p:nvPr>
            <p:ph idx="1"/>
          </p:nvPr>
        </p:nvSpPr>
        <p:spPr/>
        <p:txBody>
          <a:bodyPr>
            <a:normAutofit fontScale="92500" lnSpcReduction="20000"/>
          </a:bodyPr>
          <a:lstStyle/>
          <a:p>
            <a:pPr>
              <a:lnSpc>
                <a:spcPct val="150000"/>
              </a:lnSpc>
            </a:pPr>
            <a:r>
              <a:rPr lang="en-US" dirty="0"/>
              <a:t>Let England, France, and Spain be the three sources, where their supplies are the millions of acres of land that are available for growing these crops. Let Wales, Brighton, and Oakley be the three destinations, where their demands are the millions of acres of land that are needed to fulfill the world demand for these respective crops. The unit cost (in millions of dollars) is the labor cost per million acres, so the number of hours of labor needed is multiplied by the cost per hour. The parameter table is as follows. </a:t>
            </a:r>
            <a:endParaRPr lang="en-IN" dirty="0"/>
          </a:p>
          <a:p>
            <a:endParaRPr lang="en-US" dirty="0"/>
          </a:p>
        </p:txBody>
      </p:sp>
    </p:spTree>
    <p:extLst>
      <p:ext uri="{BB962C8B-B14F-4D97-AF65-F5344CB8AC3E}">
        <p14:creationId xmlns:p14="http://schemas.microsoft.com/office/powerpoint/2010/main" val="24952569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D9B2-E2E2-CA40-BEE4-C5FD5E7A538F}"/>
              </a:ext>
            </a:extLst>
          </p:cNvPr>
          <p:cNvSpPr>
            <a:spLocks noGrp="1"/>
          </p:cNvSpPr>
          <p:nvPr>
            <p:ph type="title"/>
          </p:nvPr>
        </p:nvSpPr>
        <p:spPr/>
        <p:txBody>
          <a:bodyPr/>
          <a:lstStyle/>
          <a:p>
            <a:r>
              <a:rPr lang="en-US" dirty="0"/>
              <a:t>Transportation Problem – Example 1</a:t>
            </a:r>
          </a:p>
        </p:txBody>
      </p:sp>
      <p:graphicFrame>
        <p:nvGraphicFramePr>
          <p:cNvPr id="3" name="Content Placeholder 2">
            <a:extLst>
              <a:ext uri="{FF2B5EF4-FFF2-40B4-BE49-F238E27FC236}">
                <a16:creationId xmlns:a16="http://schemas.microsoft.com/office/drawing/2014/main" id="{BA34FDB9-E89C-154C-B1D3-B741A94FF383}"/>
              </a:ext>
            </a:extLst>
          </p:cNvPr>
          <p:cNvGraphicFramePr>
            <a:graphicFrameLocks noGrp="1"/>
          </p:cNvGraphicFramePr>
          <p:nvPr>
            <p:ph idx="1"/>
            <p:extLst>
              <p:ext uri="{D42A27DB-BD31-4B8C-83A1-F6EECF244321}">
                <p14:modId xmlns:p14="http://schemas.microsoft.com/office/powerpoint/2010/main" val="1676069254"/>
              </p:ext>
            </p:extLst>
          </p:nvPr>
        </p:nvGraphicFramePr>
        <p:xfrm>
          <a:off x="1790262" y="1941252"/>
          <a:ext cx="8790651" cy="4138911"/>
        </p:xfrm>
        <a:graphic>
          <a:graphicData uri="http://schemas.openxmlformats.org/drawingml/2006/table">
            <a:tbl>
              <a:tblPr>
                <a:tableStyleId>{5C22544A-7EE6-4342-B048-85BDC9FD1C3A}</a:tableStyleId>
              </a:tblPr>
              <a:tblGrid>
                <a:gridCol w="1511197">
                  <a:extLst>
                    <a:ext uri="{9D8B030D-6E8A-4147-A177-3AD203B41FA5}">
                      <a16:colId xmlns:a16="http://schemas.microsoft.com/office/drawing/2014/main" val="1203044852"/>
                    </a:ext>
                  </a:extLst>
                </a:gridCol>
                <a:gridCol w="1489593">
                  <a:extLst>
                    <a:ext uri="{9D8B030D-6E8A-4147-A177-3AD203B41FA5}">
                      <a16:colId xmlns:a16="http://schemas.microsoft.com/office/drawing/2014/main" val="1859621360"/>
                    </a:ext>
                  </a:extLst>
                </a:gridCol>
                <a:gridCol w="1267072">
                  <a:extLst>
                    <a:ext uri="{9D8B030D-6E8A-4147-A177-3AD203B41FA5}">
                      <a16:colId xmlns:a16="http://schemas.microsoft.com/office/drawing/2014/main" val="1361132926"/>
                    </a:ext>
                  </a:extLst>
                </a:gridCol>
                <a:gridCol w="1940036">
                  <a:extLst>
                    <a:ext uri="{9D8B030D-6E8A-4147-A177-3AD203B41FA5}">
                      <a16:colId xmlns:a16="http://schemas.microsoft.com/office/drawing/2014/main" val="3345411333"/>
                    </a:ext>
                  </a:extLst>
                </a:gridCol>
                <a:gridCol w="1267072">
                  <a:extLst>
                    <a:ext uri="{9D8B030D-6E8A-4147-A177-3AD203B41FA5}">
                      <a16:colId xmlns:a16="http://schemas.microsoft.com/office/drawing/2014/main" val="3717800506"/>
                    </a:ext>
                  </a:extLst>
                </a:gridCol>
                <a:gridCol w="1315681">
                  <a:extLst>
                    <a:ext uri="{9D8B030D-6E8A-4147-A177-3AD203B41FA5}">
                      <a16:colId xmlns:a16="http://schemas.microsoft.com/office/drawing/2014/main" val="2659101916"/>
                    </a:ext>
                  </a:extLst>
                </a:gridCol>
              </a:tblGrid>
              <a:tr h="591273">
                <a:tc>
                  <a:txBody>
                    <a:bodyPr/>
                    <a:lstStyle/>
                    <a:p>
                      <a:pPr algn="just">
                        <a:lnSpc>
                          <a:spcPct val="115000"/>
                        </a:lnSpc>
                        <a:spcAft>
                          <a:spcPts val="1000"/>
                        </a:spcAft>
                      </a:pPr>
                      <a:r>
                        <a:rPr lang="en-US" sz="2000" dirty="0">
                          <a:effectLst/>
                          <a:latin typeface="Arial" panose="020B0604020202020204" pitchFamily="34" charset="0"/>
                          <a:cs typeface="Arial" panose="020B0604020202020204" pitchFamily="34" charset="0"/>
                        </a:rPr>
                        <a:t> </a:t>
                      </a:r>
                      <a:endParaRPr lang="en-IN"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en-US" sz="2000" dirty="0">
                          <a:effectLst/>
                          <a:latin typeface="Arial" panose="020B0604020202020204" pitchFamily="34" charset="0"/>
                          <a:cs typeface="Arial" panose="020B0604020202020204" pitchFamily="34" charset="0"/>
                        </a:rPr>
                        <a:t> </a:t>
                      </a:r>
                      <a:endParaRPr lang="en-IN"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gridSpan="3">
                  <a:txBody>
                    <a:bodyPr/>
                    <a:lstStyle/>
                    <a:p>
                      <a:pPr algn="just">
                        <a:lnSpc>
                          <a:spcPct val="115000"/>
                        </a:lnSpc>
                        <a:spcAft>
                          <a:spcPts val="1000"/>
                        </a:spcAft>
                      </a:pPr>
                      <a:r>
                        <a:rPr lang="en-US" sz="2000" dirty="0">
                          <a:effectLst/>
                          <a:latin typeface="Arial" panose="020B0604020202020204" pitchFamily="34" charset="0"/>
                          <a:cs typeface="Arial" panose="020B0604020202020204" pitchFamily="34" charset="0"/>
                        </a:rPr>
                        <a:t>Unit Cost ($ million)</a:t>
                      </a:r>
                      <a:endParaRPr lang="en-IN"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hMerge="1">
                  <a:txBody>
                    <a:bodyPr/>
                    <a:lstStyle/>
                    <a:p>
                      <a:endParaRPr lang="en-US"/>
                    </a:p>
                  </a:txBody>
                  <a:tcPr/>
                </a:tc>
                <a:tc hMerge="1">
                  <a:txBody>
                    <a:bodyPr/>
                    <a:lstStyle/>
                    <a:p>
                      <a:endParaRPr lang="en-US"/>
                    </a:p>
                  </a:txBody>
                  <a:tcPr/>
                </a:tc>
                <a:tc>
                  <a:txBody>
                    <a:bodyPr/>
                    <a:lstStyle/>
                    <a:p>
                      <a:pPr algn="just">
                        <a:lnSpc>
                          <a:spcPct val="115000"/>
                        </a:lnSpc>
                        <a:spcAft>
                          <a:spcPts val="1000"/>
                        </a:spcAft>
                      </a:pPr>
                      <a:r>
                        <a:rPr lang="en-US" sz="2000">
                          <a:effectLst/>
                          <a:latin typeface="Arial" panose="020B0604020202020204" pitchFamily="34" charset="0"/>
                          <a:cs typeface="Arial" panose="020B0604020202020204" pitchFamily="34" charset="0"/>
                        </a:rPr>
                        <a:t> </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735094552"/>
                  </a:ext>
                </a:extLst>
              </a:tr>
              <a:tr h="591273">
                <a:tc>
                  <a:txBody>
                    <a:bodyPr/>
                    <a:lstStyle/>
                    <a:p>
                      <a:pPr algn="just">
                        <a:lnSpc>
                          <a:spcPct val="115000"/>
                        </a:lnSpc>
                        <a:spcAft>
                          <a:spcPts val="1000"/>
                        </a:spcAft>
                      </a:pPr>
                      <a:r>
                        <a:rPr lang="en-US" sz="2000" dirty="0">
                          <a:effectLst/>
                          <a:latin typeface="Arial" panose="020B0604020202020204" pitchFamily="34" charset="0"/>
                          <a:cs typeface="Arial" panose="020B0604020202020204" pitchFamily="34" charset="0"/>
                        </a:rPr>
                        <a:t> </a:t>
                      </a:r>
                      <a:endParaRPr lang="en-IN"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en-US" sz="2000" dirty="0">
                          <a:effectLst/>
                          <a:latin typeface="Arial" panose="020B0604020202020204" pitchFamily="34" charset="0"/>
                          <a:cs typeface="Arial" panose="020B0604020202020204" pitchFamily="34" charset="0"/>
                        </a:rPr>
                        <a:t> </a:t>
                      </a:r>
                      <a:endParaRPr lang="en-IN"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en-US" sz="2000" dirty="0">
                          <a:effectLst/>
                          <a:latin typeface="Arial" panose="020B0604020202020204" pitchFamily="34" charset="0"/>
                          <a:cs typeface="Arial" panose="020B0604020202020204" pitchFamily="34" charset="0"/>
                        </a:rPr>
                        <a:t> </a:t>
                      </a:r>
                      <a:endParaRPr lang="en-IN"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en-US" sz="2000">
                          <a:effectLst/>
                          <a:latin typeface="Arial" panose="020B0604020202020204" pitchFamily="34" charset="0"/>
                          <a:cs typeface="Arial" panose="020B0604020202020204" pitchFamily="34" charset="0"/>
                        </a:rPr>
                        <a:t>Destination</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en-US" sz="2000">
                          <a:effectLst/>
                          <a:latin typeface="Arial" panose="020B0604020202020204" pitchFamily="34" charset="0"/>
                          <a:cs typeface="Arial" panose="020B0604020202020204" pitchFamily="34" charset="0"/>
                        </a:rPr>
                        <a:t> </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en-US" sz="2000">
                          <a:effectLst/>
                          <a:latin typeface="Arial" panose="020B0604020202020204" pitchFamily="34" charset="0"/>
                          <a:cs typeface="Arial" panose="020B0604020202020204" pitchFamily="34" charset="0"/>
                        </a:rPr>
                        <a:t> </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3788714456"/>
                  </a:ext>
                </a:extLst>
              </a:tr>
              <a:tr h="591273">
                <a:tc>
                  <a:txBody>
                    <a:bodyPr/>
                    <a:lstStyle/>
                    <a:p>
                      <a:pPr algn="just">
                        <a:lnSpc>
                          <a:spcPct val="115000"/>
                        </a:lnSpc>
                        <a:spcAft>
                          <a:spcPts val="1000"/>
                        </a:spcAft>
                      </a:pPr>
                      <a:r>
                        <a:rPr lang="en-US" sz="2000">
                          <a:effectLst/>
                          <a:latin typeface="Arial" panose="020B0604020202020204" pitchFamily="34" charset="0"/>
                          <a:cs typeface="Arial" panose="020B0604020202020204" pitchFamily="34" charset="0"/>
                        </a:rPr>
                        <a:t> </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en-US" sz="2000" dirty="0">
                          <a:effectLst/>
                          <a:latin typeface="Arial" panose="020B0604020202020204" pitchFamily="34" charset="0"/>
                          <a:cs typeface="Arial" panose="020B0604020202020204" pitchFamily="34" charset="0"/>
                        </a:rPr>
                        <a:t> </a:t>
                      </a:r>
                      <a:endParaRPr lang="en-IN"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en-US" sz="2000" b="1" dirty="0">
                          <a:effectLst/>
                          <a:latin typeface="Arial" panose="020B0604020202020204" pitchFamily="34" charset="0"/>
                          <a:cs typeface="Arial" panose="020B0604020202020204" pitchFamily="34" charset="0"/>
                        </a:rPr>
                        <a:t>Wales</a:t>
                      </a:r>
                      <a:endParaRPr lang="en-IN" sz="2000" b="1"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en-US" sz="2000" b="1" dirty="0">
                          <a:effectLst/>
                          <a:latin typeface="Arial" panose="020B0604020202020204" pitchFamily="34" charset="0"/>
                          <a:cs typeface="Arial" panose="020B0604020202020204" pitchFamily="34" charset="0"/>
                        </a:rPr>
                        <a:t>Brighton</a:t>
                      </a:r>
                      <a:endParaRPr lang="en-IN" sz="2000" b="1"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en-US" sz="2000" b="1" dirty="0">
                          <a:effectLst/>
                          <a:latin typeface="Arial" panose="020B0604020202020204" pitchFamily="34" charset="0"/>
                          <a:cs typeface="Arial" panose="020B0604020202020204" pitchFamily="34" charset="0"/>
                        </a:rPr>
                        <a:t>Oakley</a:t>
                      </a:r>
                      <a:endParaRPr lang="en-IN" sz="2000" b="1"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en-US" sz="2000">
                          <a:effectLst/>
                          <a:latin typeface="Arial" panose="020B0604020202020204" pitchFamily="34" charset="0"/>
                          <a:cs typeface="Arial" panose="020B0604020202020204" pitchFamily="34" charset="0"/>
                        </a:rPr>
                        <a:t>Supply</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936529531"/>
                  </a:ext>
                </a:extLst>
              </a:tr>
              <a:tr h="591273">
                <a:tc>
                  <a:txBody>
                    <a:bodyPr/>
                    <a:lstStyle/>
                    <a:p>
                      <a:pPr algn="just">
                        <a:lnSpc>
                          <a:spcPct val="115000"/>
                        </a:lnSpc>
                        <a:spcAft>
                          <a:spcPts val="1000"/>
                        </a:spcAft>
                      </a:pPr>
                      <a:r>
                        <a:rPr lang="en-US" sz="2000">
                          <a:effectLst/>
                          <a:latin typeface="Arial" panose="020B0604020202020204" pitchFamily="34" charset="0"/>
                          <a:cs typeface="Arial" panose="020B0604020202020204" pitchFamily="34" charset="0"/>
                        </a:rPr>
                        <a:t> </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en-US" sz="2000" b="1" dirty="0">
                          <a:effectLst/>
                          <a:latin typeface="Arial" panose="020B0604020202020204" pitchFamily="34" charset="0"/>
                          <a:cs typeface="Arial" panose="020B0604020202020204" pitchFamily="34" charset="0"/>
                        </a:rPr>
                        <a:t>England</a:t>
                      </a:r>
                      <a:endParaRPr lang="en-IN" sz="2000" b="1"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en-US" sz="2000" dirty="0">
                          <a:effectLst/>
                          <a:latin typeface="Arial" panose="020B0604020202020204" pitchFamily="34" charset="0"/>
                          <a:cs typeface="Arial" panose="020B0604020202020204" pitchFamily="34" charset="0"/>
                        </a:rPr>
                        <a:t>162</a:t>
                      </a:r>
                      <a:endParaRPr lang="en-IN"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solidFill>
                      <a:schemeClr val="accent1">
                        <a:lumMod val="60000"/>
                        <a:lumOff val="40000"/>
                      </a:schemeClr>
                    </a:solidFill>
                  </a:tcPr>
                </a:tc>
                <a:tc>
                  <a:txBody>
                    <a:bodyPr/>
                    <a:lstStyle/>
                    <a:p>
                      <a:pPr algn="just">
                        <a:lnSpc>
                          <a:spcPct val="115000"/>
                        </a:lnSpc>
                        <a:spcAft>
                          <a:spcPts val="1000"/>
                        </a:spcAft>
                      </a:pPr>
                      <a:r>
                        <a:rPr lang="en-US" sz="2000" dirty="0">
                          <a:effectLst/>
                          <a:latin typeface="Arial" panose="020B0604020202020204" pitchFamily="34" charset="0"/>
                          <a:cs typeface="Arial" panose="020B0604020202020204" pitchFamily="34" charset="0"/>
                        </a:rPr>
                        <a:t>121.5</a:t>
                      </a:r>
                      <a:endParaRPr lang="en-IN"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solidFill>
                      <a:schemeClr val="accent1">
                        <a:lumMod val="60000"/>
                        <a:lumOff val="40000"/>
                      </a:schemeClr>
                    </a:solidFill>
                  </a:tcPr>
                </a:tc>
                <a:tc>
                  <a:txBody>
                    <a:bodyPr/>
                    <a:lstStyle/>
                    <a:p>
                      <a:pPr algn="just">
                        <a:lnSpc>
                          <a:spcPct val="115000"/>
                        </a:lnSpc>
                        <a:spcAft>
                          <a:spcPts val="1000"/>
                        </a:spcAft>
                      </a:pPr>
                      <a:r>
                        <a:rPr lang="en-US" sz="2000" dirty="0">
                          <a:effectLst/>
                          <a:latin typeface="Arial" panose="020B0604020202020204" pitchFamily="34" charset="0"/>
                          <a:cs typeface="Arial" panose="020B0604020202020204" pitchFamily="34" charset="0"/>
                        </a:rPr>
                        <a:t>82.8</a:t>
                      </a:r>
                      <a:endParaRPr lang="en-IN"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solidFill>
                      <a:schemeClr val="accent1">
                        <a:lumMod val="60000"/>
                        <a:lumOff val="40000"/>
                      </a:schemeClr>
                    </a:solidFill>
                  </a:tcPr>
                </a:tc>
                <a:tc>
                  <a:txBody>
                    <a:bodyPr/>
                    <a:lstStyle/>
                    <a:p>
                      <a:pPr algn="just">
                        <a:lnSpc>
                          <a:spcPct val="115000"/>
                        </a:lnSpc>
                        <a:spcAft>
                          <a:spcPts val="1000"/>
                        </a:spcAft>
                      </a:pPr>
                      <a:r>
                        <a:rPr lang="en-US" sz="2000">
                          <a:effectLst/>
                          <a:latin typeface="Arial" panose="020B0604020202020204" pitchFamily="34" charset="0"/>
                          <a:cs typeface="Arial" panose="020B0604020202020204" pitchFamily="34" charset="0"/>
                        </a:rPr>
                        <a:t>70</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713300320"/>
                  </a:ext>
                </a:extLst>
              </a:tr>
              <a:tr h="591273">
                <a:tc>
                  <a:txBody>
                    <a:bodyPr/>
                    <a:lstStyle/>
                    <a:p>
                      <a:pPr algn="just">
                        <a:lnSpc>
                          <a:spcPct val="115000"/>
                        </a:lnSpc>
                        <a:spcAft>
                          <a:spcPts val="1000"/>
                        </a:spcAft>
                      </a:pPr>
                      <a:r>
                        <a:rPr lang="en-US" sz="2000">
                          <a:effectLst/>
                          <a:latin typeface="Arial" panose="020B0604020202020204" pitchFamily="34" charset="0"/>
                          <a:cs typeface="Arial" panose="020B0604020202020204" pitchFamily="34" charset="0"/>
                        </a:rPr>
                        <a:t>Source</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en-US" sz="2000" b="1" dirty="0">
                          <a:effectLst/>
                          <a:latin typeface="Arial" panose="020B0604020202020204" pitchFamily="34" charset="0"/>
                          <a:cs typeface="Arial" panose="020B0604020202020204" pitchFamily="34" charset="0"/>
                        </a:rPr>
                        <a:t>France</a:t>
                      </a:r>
                      <a:endParaRPr lang="en-IN" sz="2000" b="1"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en-US" sz="2000" dirty="0">
                          <a:effectLst/>
                          <a:latin typeface="Arial" panose="020B0604020202020204" pitchFamily="34" charset="0"/>
                          <a:cs typeface="Arial" panose="020B0604020202020204" pitchFamily="34" charset="0"/>
                        </a:rPr>
                        <a:t>93.6</a:t>
                      </a:r>
                      <a:endParaRPr lang="en-IN"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solidFill>
                      <a:schemeClr val="accent1">
                        <a:lumMod val="60000"/>
                        <a:lumOff val="40000"/>
                      </a:schemeClr>
                    </a:solidFill>
                  </a:tcPr>
                </a:tc>
                <a:tc>
                  <a:txBody>
                    <a:bodyPr/>
                    <a:lstStyle/>
                    <a:p>
                      <a:pPr algn="just">
                        <a:lnSpc>
                          <a:spcPct val="115000"/>
                        </a:lnSpc>
                        <a:spcAft>
                          <a:spcPts val="1000"/>
                        </a:spcAft>
                      </a:pPr>
                      <a:r>
                        <a:rPr lang="en-US" sz="2000" dirty="0">
                          <a:effectLst/>
                          <a:latin typeface="Arial" panose="020B0604020202020204" pitchFamily="34" charset="0"/>
                          <a:cs typeface="Arial" panose="020B0604020202020204" pitchFamily="34" charset="0"/>
                        </a:rPr>
                        <a:t>108</a:t>
                      </a:r>
                      <a:endParaRPr lang="en-IN"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solidFill>
                      <a:schemeClr val="accent1">
                        <a:lumMod val="60000"/>
                        <a:lumOff val="40000"/>
                      </a:schemeClr>
                    </a:solidFill>
                  </a:tcPr>
                </a:tc>
                <a:tc>
                  <a:txBody>
                    <a:bodyPr/>
                    <a:lstStyle/>
                    <a:p>
                      <a:pPr algn="just">
                        <a:lnSpc>
                          <a:spcPct val="115000"/>
                        </a:lnSpc>
                        <a:spcAft>
                          <a:spcPts val="1000"/>
                        </a:spcAft>
                      </a:pPr>
                      <a:r>
                        <a:rPr lang="en-US" sz="2000" dirty="0">
                          <a:effectLst/>
                          <a:latin typeface="Arial" panose="020B0604020202020204" pitchFamily="34" charset="0"/>
                          <a:cs typeface="Arial" panose="020B0604020202020204" pitchFamily="34" charset="0"/>
                        </a:rPr>
                        <a:t>75</a:t>
                      </a:r>
                      <a:endParaRPr lang="en-IN"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solidFill>
                      <a:schemeClr val="accent1">
                        <a:lumMod val="60000"/>
                        <a:lumOff val="40000"/>
                      </a:schemeClr>
                    </a:solidFill>
                  </a:tcPr>
                </a:tc>
                <a:tc>
                  <a:txBody>
                    <a:bodyPr/>
                    <a:lstStyle/>
                    <a:p>
                      <a:pPr algn="just">
                        <a:lnSpc>
                          <a:spcPct val="115000"/>
                        </a:lnSpc>
                        <a:spcAft>
                          <a:spcPts val="1000"/>
                        </a:spcAft>
                      </a:pPr>
                      <a:r>
                        <a:rPr lang="en-US" sz="2000">
                          <a:effectLst/>
                          <a:latin typeface="Arial" panose="020B0604020202020204" pitchFamily="34" charset="0"/>
                          <a:cs typeface="Arial" panose="020B0604020202020204" pitchFamily="34" charset="0"/>
                        </a:rPr>
                        <a:t>110</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556854725"/>
                  </a:ext>
                </a:extLst>
              </a:tr>
              <a:tr h="591273">
                <a:tc>
                  <a:txBody>
                    <a:bodyPr/>
                    <a:lstStyle/>
                    <a:p>
                      <a:pPr algn="just">
                        <a:lnSpc>
                          <a:spcPct val="115000"/>
                        </a:lnSpc>
                        <a:spcAft>
                          <a:spcPts val="1000"/>
                        </a:spcAft>
                      </a:pPr>
                      <a:r>
                        <a:rPr lang="en-US" sz="2000">
                          <a:effectLst/>
                          <a:latin typeface="Arial" panose="020B0604020202020204" pitchFamily="34" charset="0"/>
                          <a:cs typeface="Arial" panose="020B0604020202020204" pitchFamily="34" charset="0"/>
                        </a:rPr>
                        <a:t> </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en-US" sz="2000" b="1" dirty="0">
                          <a:effectLst/>
                          <a:latin typeface="Arial" panose="020B0604020202020204" pitchFamily="34" charset="0"/>
                          <a:cs typeface="Arial" panose="020B0604020202020204" pitchFamily="34" charset="0"/>
                        </a:rPr>
                        <a:t>Spain</a:t>
                      </a:r>
                      <a:endParaRPr lang="en-IN" sz="2000" b="1"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en-US" sz="2000">
                          <a:effectLst/>
                          <a:latin typeface="Arial" panose="020B0604020202020204" pitchFamily="34" charset="0"/>
                          <a:cs typeface="Arial" panose="020B0604020202020204" pitchFamily="34" charset="0"/>
                        </a:rPr>
                        <a:t>158.4</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solidFill>
                      <a:schemeClr val="accent1">
                        <a:lumMod val="60000"/>
                        <a:lumOff val="40000"/>
                      </a:schemeClr>
                    </a:solidFill>
                  </a:tcPr>
                </a:tc>
                <a:tc>
                  <a:txBody>
                    <a:bodyPr/>
                    <a:lstStyle/>
                    <a:p>
                      <a:pPr algn="just">
                        <a:lnSpc>
                          <a:spcPct val="115000"/>
                        </a:lnSpc>
                        <a:spcAft>
                          <a:spcPts val="1000"/>
                        </a:spcAft>
                      </a:pPr>
                      <a:r>
                        <a:rPr lang="en-US" sz="2000" dirty="0">
                          <a:effectLst/>
                          <a:latin typeface="Arial" panose="020B0604020202020204" pitchFamily="34" charset="0"/>
                          <a:cs typeface="Arial" panose="020B0604020202020204" pitchFamily="34" charset="0"/>
                        </a:rPr>
                        <a:t>100.8</a:t>
                      </a:r>
                      <a:endParaRPr lang="en-IN"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solidFill>
                      <a:schemeClr val="accent1">
                        <a:lumMod val="60000"/>
                        <a:lumOff val="40000"/>
                      </a:schemeClr>
                    </a:solidFill>
                  </a:tcPr>
                </a:tc>
                <a:tc>
                  <a:txBody>
                    <a:bodyPr/>
                    <a:lstStyle/>
                    <a:p>
                      <a:pPr algn="just">
                        <a:lnSpc>
                          <a:spcPct val="115000"/>
                        </a:lnSpc>
                        <a:spcAft>
                          <a:spcPts val="1000"/>
                        </a:spcAft>
                      </a:pPr>
                      <a:r>
                        <a:rPr lang="en-US" sz="2000" dirty="0">
                          <a:effectLst/>
                          <a:latin typeface="Arial" panose="020B0604020202020204" pitchFamily="34" charset="0"/>
                          <a:cs typeface="Arial" panose="020B0604020202020204" pitchFamily="34" charset="0"/>
                        </a:rPr>
                        <a:t>100.8</a:t>
                      </a:r>
                      <a:endParaRPr lang="en-IN"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solidFill>
                      <a:schemeClr val="accent1">
                        <a:lumMod val="60000"/>
                        <a:lumOff val="40000"/>
                      </a:schemeClr>
                    </a:solidFill>
                  </a:tcPr>
                </a:tc>
                <a:tc>
                  <a:txBody>
                    <a:bodyPr/>
                    <a:lstStyle/>
                    <a:p>
                      <a:pPr algn="just">
                        <a:lnSpc>
                          <a:spcPct val="115000"/>
                        </a:lnSpc>
                        <a:spcAft>
                          <a:spcPts val="1000"/>
                        </a:spcAft>
                      </a:pPr>
                      <a:r>
                        <a:rPr lang="en-US" sz="2000">
                          <a:effectLst/>
                          <a:latin typeface="Arial" panose="020B0604020202020204" pitchFamily="34" charset="0"/>
                          <a:cs typeface="Arial" panose="020B0604020202020204" pitchFamily="34" charset="0"/>
                        </a:rPr>
                        <a:t>80</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889301381"/>
                  </a:ext>
                </a:extLst>
              </a:tr>
              <a:tr h="591273">
                <a:tc>
                  <a:txBody>
                    <a:bodyPr/>
                    <a:lstStyle/>
                    <a:p>
                      <a:pPr algn="just">
                        <a:lnSpc>
                          <a:spcPct val="115000"/>
                        </a:lnSpc>
                        <a:spcAft>
                          <a:spcPts val="1000"/>
                        </a:spcAft>
                      </a:pPr>
                      <a:r>
                        <a:rPr lang="en-US" sz="2000">
                          <a:effectLst/>
                          <a:latin typeface="Arial" panose="020B0604020202020204" pitchFamily="34" charset="0"/>
                          <a:cs typeface="Arial" panose="020B0604020202020204" pitchFamily="34" charset="0"/>
                        </a:rPr>
                        <a:t>Demand</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en-US" sz="2000" dirty="0">
                          <a:effectLst/>
                          <a:latin typeface="Arial" panose="020B0604020202020204" pitchFamily="34" charset="0"/>
                          <a:cs typeface="Arial" panose="020B0604020202020204" pitchFamily="34" charset="0"/>
                        </a:rPr>
                        <a:t> </a:t>
                      </a:r>
                      <a:endParaRPr lang="en-IN"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en-US" sz="2000">
                          <a:effectLst/>
                          <a:latin typeface="Arial" panose="020B0604020202020204" pitchFamily="34" charset="0"/>
                          <a:cs typeface="Arial" panose="020B0604020202020204" pitchFamily="34" charset="0"/>
                        </a:rPr>
                        <a:t>125</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en-US" sz="2000">
                          <a:effectLst/>
                          <a:latin typeface="Arial" panose="020B0604020202020204" pitchFamily="34" charset="0"/>
                          <a:cs typeface="Arial" panose="020B0604020202020204" pitchFamily="34" charset="0"/>
                        </a:rPr>
                        <a:t>60</a:t>
                      </a:r>
                      <a:endParaRPr lang="en-IN" sz="200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en-US" sz="2000" dirty="0">
                          <a:effectLst/>
                          <a:latin typeface="Arial" panose="020B0604020202020204" pitchFamily="34" charset="0"/>
                          <a:cs typeface="Arial" panose="020B0604020202020204" pitchFamily="34" charset="0"/>
                        </a:rPr>
                        <a:t>75</a:t>
                      </a:r>
                      <a:endParaRPr lang="en-IN"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tc>
                  <a:txBody>
                    <a:bodyPr/>
                    <a:lstStyle/>
                    <a:p>
                      <a:pPr algn="just">
                        <a:lnSpc>
                          <a:spcPct val="115000"/>
                        </a:lnSpc>
                        <a:spcAft>
                          <a:spcPts val="1000"/>
                        </a:spcAft>
                      </a:pPr>
                      <a:r>
                        <a:rPr lang="en-US" sz="2000" dirty="0">
                          <a:effectLst/>
                          <a:latin typeface="Arial" panose="020B0604020202020204" pitchFamily="34" charset="0"/>
                          <a:cs typeface="Arial" panose="020B0604020202020204" pitchFamily="34" charset="0"/>
                        </a:rPr>
                        <a:t> </a:t>
                      </a:r>
                      <a:endParaRPr lang="en-IN" sz="2000" dirty="0">
                        <a:effectLst/>
                        <a:latin typeface="Arial" panose="020B0604020202020204" pitchFamily="34" charset="0"/>
                        <a:ea typeface="Calibri" panose="020F0502020204030204" pitchFamily="34" charset="0"/>
                        <a:cs typeface="Arial" panose="020B0604020202020204" pitchFamily="34" charset="0"/>
                      </a:endParaRPr>
                    </a:p>
                  </a:txBody>
                  <a:tcPr marL="68580" marR="68580" marT="0" marB="0" anchor="ctr"/>
                </a:tc>
                <a:extLst>
                  <a:ext uri="{0D108BD9-81ED-4DB2-BD59-A6C34878D82A}">
                    <a16:rowId xmlns:a16="http://schemas.microsoft.com/office/drawing/2014/main" val="1764613102"/>
                  </a:ext>
                </a:extLst>
              </a:tr>
            </a:tbl>
          </a:graphicData>
        </a:graphic>
      </p:graphicFrame>
    </p:spTree>
    <p:extLst>
      <p:ext uri="{BB962C8B-B14F-4D97-AF65-F5344CB8AC3E}">
        <p14:creationId xmlns:p14="http://schemas.microsoft.com/office/powerpoint/2010/main" val="3581172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D9B2-E2E2-CA40-BEE4-C5FD5E7A538F}"/>
              </a:ext>
            </a:extLst>
          </p:cNvPr>
          <p:cNvSpPr>
            <a:spLocks noGrp="1"/>
          </p:cNvSpPr>
          <p:nvPr>
            <p:ph type="title"/>
          </p:nvPr>
        </p:nvSpPr>
        <p:spPr/>
        <p:txBody>
          <a:bodyPr/>
          <a:lstStyle/>
          <a:p>
            <a:r>
              <a:rPr lang="en-US" dirty="0"/>
              <a:t>Transportation Problem – Example 1</a:t>
            </a:r>
          </a:p>
        </p:txBody>
      </p:sp>
      <p:sp>
        <p:nvSpPr>
          <p:cNvPr id="5" name="Content Placeholder 4">
            <a:extLst>
              <a:ext uri="{FF2B5EF4-FFF2-40B4-BE49-F238E27FC236}">
                <a16:creationId xmlns:a16="http://schemas.microsoft.com/office/drawing/2014/main" id="{C3042457-15B3-0341-BF19-9E1383031D1E}"/>
              </a:ext>
            </a:extLst>
          </p:cNvPr>
          <p:cNvSpPr>
            <a:spLocks noGrp="1"/>
          </p:cNvSpPr>
          <p:nvPr>
            <p:ph idx="1"/>
          </p:nvPr>
        </p:nvSpPr>
        <p:spPr/>
        <p:txBody>
          <a:bodyPr/>
          <a:lstStyle/>
          <a:p>
            <a:r>
              <a:rPr lang="en-US" dirty="0"/>
              <a:t>Draw the network representation.</a:t>
            </a:r>
          </a:p>
          <a:p>
            <a:endParaRPr lang="en-US" dirty="0"/>
          </a:p>
          <a:p>
            <a:r>
              <a:rPr lang="en-US" dirty="0"/>
              <a:t>Formulate it as a LP.</a:t>
            </a:r>
          </a:p>
        </p:txBody>
      </p:sp>
    </p:spTree>
    <p:extLst>
      <p:ext uri="{BB962C8B-B14F-4D97-AF65-F5344CB8AC3E}">
        <p14:creationId xmlns:p14="http://schemas.microsoft.com/office/powerpoint/2010/main" val="297020331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D9B2-E2E2-CA40-BEE4-C5FD5E7A538F}"/>
              </a:ext>
            </a:extLst>
          </p:cNvPr>
          <p:cNvSpPr>
            <a:spLocks noGrp="1"/>
          </p:cNvSpPr>
          <p:nvPr>
            <p:ph type="title"/>
          </p:nvPr>
        </p:nvSpPr>
        <p:spPr/>
        <p:txBody>
          <a:bodyPr/>
          <a:lstStyle/>
          <a:p>
            <a:r>
              <a:rPr lang="en-US" dirty="0"/>
              <a:t>Transportation Problem – Example 2</a:t>
            </a:r>
          </a:p>
        </p:txBody>
      </p:sp>
      <p:sp>
        <p:nvSpPr>
          <p:cNvPr id="5" name="Content Placeholder 4">
            <a:extLst>
              <a:ext uri="{FF2B5EF4-FFF2-40B4-BE49-F238E27FC236}">
                <a16:creationId xmlns:a16="http://schemas.microsoft.com/office/drawing/2014/main" id="{C3042457-15B3-0341-BF19-9E1383031D1E}"/>
              </a:ext>
            </a:extLst>
          </p:cNvPr>
          <p:cNvSpPr>
            <a:spLocks noGrp="1"/>
          </p:cNvSpPr>
          <p:nvPr>
            <p:ph idx="1"/>
          </p:nvPr>
        </p:nvSpPr>
        <p:spPr/>
        <p:txBody>
          <a:bodyPr>
            <a:normAutofit fontScale="92500"/>
          </a:bodyPr>
          <a:lstStyle/>
          <a:p>
            <a:pPr>
              <a:lnSpc>
                <a:spcPct val="150000"/>
              </a:lnSpc>
            </a:pPr>
            <a:r>
              <a:rPr lang="en-US" dirty="0"/>
              <a:t>Apple wants to manufacture iPhone locally in India. Apple launched four manufacturing facilities in India recently. F1, F2, F3 and F4 respectively. Also, Apple recognized Mumbai, Delhi, Hyderabad and Bangalore as its main markets. Below is a table which gives the transportation costs. Find out which factory should send how many iPhones to each market so that the total cost is minimal? Remember demand in each market should be met.</a:t>
            </a:r>
          </a:p>
        </p:txBody>
      </p:sp>
    </p:spTree>
    <p:extLst>
      <p:ext uri="{BB962C8B-B14F-4D97-AF65-F5344CB8AC3E}">
        <p14:creationId xmlns:p14="http://schemas.microsoft.com/office/powerpoint/2010/main" val="25795415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D9B2-E2E2-CA40-BEE4-C5FD5E7A538F}"/>
              </a:ext>
            </a:extLst>
          </p:cNvPr>
          <p:cNvSpPr>
            <a:spLocks noGrp="1"/>
          </p:cNvSpPr>
          <p:nvPr>
            <p:ph type="title"/>
          </p:nvPr>
        </p:nvSpPr>
        <p:spPr/>
        <p:txBody>
          <a:bodyPr/>
          <a:lstStyle/>
          <a:p>
            <a:r>
              <a:rPr lang="en-US" dirty="0"/>
              <a:t>Transportation Problem – Example 2</a:t>
            </a:r>
          </a:p>
        </p:txBody>
      </p:sp>
      <p:graphicFrame>
        <p:nvGraphicFramePr>
          <p:cNvPr id="3" name="Content Placeholder 2">
            <a:extLst>
              <a:ext uri="{FF2B5EF4-FFF2-40B4-BE49-F238E27FC236}">
                <a16:creationId xmlns:a16="http://schemas.microsoft.com/office/drawing/2014/main" id="{6F2EC41F-372D-C541-A701-8DC7B0C5A27C}"/>
              </a:ext>
            </a:extLst>
          </p:cNvPr>
          <p:cNvGraphicFramePr>
            <a:graphicFrameLocks noGrp="1"/>
          </p:cNvGraphicFramePr>
          <p:nvPr>
            <p:ph idx="1"/>
            <p:extLst>
              <p:ext uri="{D42A27DB-BD31-4B8C-83A1-F6EECF244321}">
                <p14:modId xmlns:p14="http://schemas.microsoft.com/office/powerpoint/2010/main" val="3505462931"/>
              </p:ext>
            </p:extLst>
          </p:nvPr>
        </p:nvGraphicFramePr>
        <p:xfrm>
          <a:off x="1348838" y="2336139"/>
          <a:ext cx="9315204" cy="3221388"/>
        </p:xfrm>
        <a:graphic>
          <a:graphicData uri="http://schemas.openxmlformats.org/drawingml/2006/table">
            <a:tbl>
              <a:tblPr firstRow="1" bandRow="1">
                <a:tableStyleId>{5C22544A-7EE6-4342-B048-85BDC9FD1C3A}</a:tableStyleId>
              </a:tblPr>
              <a:tblGrid>
                <a:gridCol w="1552534">
                  <a:extLst>
                    <a:ext uri="{9D8B030D-6E8A-4147-A177-3AD203B41FA5}">
                      <a16:colId xmlns:a16="http://schemas.microsoft.com/office/drawing/2014/main" val="992382025"/>
                    </a:ext>
                  </a:extLst>
                </a:gridCol>
                <a:gridCol w="1552534">
                  <a:extLst>
                    <a:ext uri="{9D8B030D-6E8A-4147-A177-3AD203B41FA5}">
                      <a16:colId xmlns:a16="http://schemas.microsoft.com/office/drawing/2014/main" val="3280833960"/>
                    </a:ext>
                  </a:extLst>
                </a:gridCol>
                <a:gridCol w="1552534">
                  <a:extLst>
                    <a:ext uri="{9D8B030D-6E8A-4147-A177-3AD203B41FA5}">
                      <a16:colId xmlns:a16="http://schemas.microsoft.com/office/drawing/2014/main" val="2446733954"/>
                    </a:ext>
                  </a:extLst>
                </a:gridCol>
                <a:gridCol w="1552534">
                  <a:extLst>
                    <a:ext uri="{9D8B030D-6E8A-4147-A177-3AD203B41FA5}">
                      <a16:colId xmlns:a16="http://schemas.microsoft.com/office/drawing/2014/main" val="2656436682"/>
                    </a:ext>
                  </a:extLst>
                </a:gridCol>
                <a:gridCol w="1552534">
                  <a:extLst>
                    <a:ext uri="{9D8B030D-6E8A-4147-A177-3AD203B41FA5}">
                      <a16:colId xmlns:a16="http://schemas.microsoft.com/office/drawing/2014/main" val="1140223770"/>
                    </a:ext>
                  </a:extLst>
                </a:gridCol>
                <a:gridCol w="1552534">
                  <a:extLst>
                    <a:ext uri="{9D8B030D-6E8A-4147-A177-3AD203B41FA5}">
                      <a16:colId xmlns:a16="http://schemas.microsoft.com/office/drawing/2014/main" val="3343333834"/>
                    </a:ext>
                  </a:extLst>
                </a:gridCol>
              </a:tblGrid>
              <a:tr h="536898">
                <a:tc>
                  <a:txBody>
                    <a:bodyPr/>
                    <a:lstStyle/>
                    <a:p>
                      <a:pPr algn="ctr"/>
                      <a:endParaRPr lang="en-US" sz="2000" dirty="0">
                        <a:latin typeface="Arial" panose="020B0604020202020204" pitchFamily="34" charset="0"/>
                        <a:cs typeface="Arial" panose="020B0604020202020204" pitchFamily="34" charset="0"/>
                      </a:endParaRPr>
                    </a:p>
                  </a:txBody>
                  <a:tcPr/>
                </a:tc>
                <a:tc>
                  <a:txBody>
                    <a:bodyPr/>
                    <a:lstStyle/>
                    <a:p>
                      <a:pPr algn="ctr"/>
                      <a:r>
                        <a:rPr lang="en-US" sz="2000" dirty="0">
                          <a:latin typeface="Arial" panose="020B0604020202020204" pitchFamily="34" charset="0"/>
                          <a:cs typeface="Arial" panose="020B0604020202020204" pitchFamily="34" charset="0"/>
                        </a:rPr>
                        <a:t>Mumbai</a:t>
                      </a:r>
                    </a:p>
                  </a:txBody>
                  <a:tcPr/>
                </a:tc>
                <a:tc>
                  <a:txBody>
                    <a:bodyPr/>
                    <a:lstStyle/>
                    <a:p>
                      <a:pPr algn="ctr"/>
                      <a:r>
                        <a:rPr lang="en-US" sz="2000" dirty="0">
                          <a:latin typeface="Arial" panose="020B0604020202020204" pitchFamily="34" charset="0"/>
                          <a:cs typeface="Arial" panose="020B0604020202020204" pitchFamily="34" charset="0"/>
                        </a:rPr>
                        <a:t>Delhi</a:t>
                      </a:r>
                    </a:p>
                  </a:txBody>
                  <a:tcPr/>
                </a:tc>
                <a:tc>
                  <a:txBody>
                    <a:bodyPr/>
                    <a:lstStyle/>
                    <a:p>
                      <a:pPr algn="ctr"/>
                      <a:r>
                        <a:rPr lang="en-US" sz="2000" dirty="0">
                          <a:latin typeface="Arial" panose="020B0604020202020204" pitchFamily="34" charset="0"/>
                          <a:cs typeface="Arial" panose="020B0604020202020204" pitchFamily="34" charset="0"/>
                        </a:rPr>
                        <a:t>Hyderabad</a:t>
                      </a:r>
                    </a:p>
                  </a:txBody>
                  <a:tcPr/>
                </a:tc>
                <a:tc>
                  <a:txBody>
                    <a:bodyPr/>
                    <a:lstStyle/>
                    <a:p>
                      <a:pPr algn="ctr"/>
                      <a:r>
                        <a:rPr lang="en-US" sz="2000" dirty="0">
                          <a:latin typeface="Arial" panose="020B0604020202020204" pitchFamily="34" charset="0"/>
                          <a:cs typeface="Arial" panose="020B0604020202020204" pitchFamily="34" charset="0"/>
                        </a:rPr>
                        <a:t>Bangalore</a:t>
                      </a:r>
                    </a:p>
                  </a:txBody>
                  <a:tcPr/>
                </a:tc>
                <a:tc>
                  <a:txBody>
                    <a:bodyPr/>
                    <a:lstStyle/>
                    <a:p>
                      <a:pPr algn="ctr"/>
                      <a:r>
                        <a:rPr lang="en-US" sz="2000" dirty="0">
                          <a:latin typeface="Arial" panose="020B0604020202020204" pitchFamily="34" charset="0"/>
                          <a:cs typeface="Arial" panose="020B0604020202020204" pitchFamily="34" charset="0"/>
                        </a:rPr>
                        <a:t>Capacity</a:t>
                      </a:r>
                    </a:p>
                  </a:txBody>
                  <a:tcPr/>
                </a:tc>
                <a:extLst>
                  <a:ext uri="{0D108BD9-81ED-4DB2-BD59-A6C34878D82A}">
                    <a16:rowId xmlns:a16="http://schemas.microsoft.com/office/drawing/2014/main" val="2745541532"/>
                  </a:ext>
                </a:extLst>
              </a:tr>
              <a:tr h="536898">
                <a:tc>
                  <a:txBody>
                    <a:bodyPr/>
                    <a:lstStyle/>
                    <a:p>
                      <a:pPr algn="ctr"/>
                      <a:r>
                        <a:rPr lang="en-US" sz="2000" dirty="0">
                          <a:latin typeface="Arial" panose="020B0604020202020204" pitchFamily="34" charset="0"/>
                          <a:cs typeface="Arial" panose="020B0604020202020204" pitchFamily="34" charset="0"/>
                        </a:rPr>
                        <a:t>F1</a:t>
                      </a:r>
                    </a:p>
                  </a:txBody>
                  <a:tcPr/>
                </a:tc>
                <a:tc>
                  <a:txBody>
                    <a:bodyPr/>
                    <a:lstStyle/>
                    <a:p>
                      <a:pPr algn="ctr"/>
                      <a:r>
                        <a:rPr lang="en-US" sz="2000" dirty="0">
                          <a:latin typeface="Arial" panose="020B0604020202020204" pitchFamily="34" charset="0"/>
                          <a:cs typeface="Arial" panose="020B0604020202020204" pitchFamily="34" charset="0"/>
                        </a:rPr>
                        <a:t>50</a:t>
                      </a:r>
                    </a:p>
                  </a:txBody>
                  <a:tcPr/>
                </a:tc>
                <a:tc>
                  <a:txBody>
                    <a:bodyPr/>
                    <a:lstStyle/>
                    <a:p>
                      <a:pPr algn="ctr"/>
                      <a:r>
                        <a:rPr lang="en-US" sz="2000" dirty="0">
                          <a:latin typeface="Arial" panose="020B0604020202020204" pitchFamily="34" charset="0"/>
                          <a:cs typeface="Arial" panose="020B0604020202020204" pitchFamily="34" charset="0"/>
                        </a:rPr>
                        <a:t>40</a:t>
                      </a:r>
                    </a:p>
                  </a:txBody>
                  <a:tcPr/>
                </a:tc>
                <a:tc>
                  <a:txBody>
                    <a:bodyPr/>
                    <a:lstStyle/>
                    <a:p>
                      <a:pPr algn="ctr"/>
                      <a:r>
                        <a:rPr lang="en-US" sz="2000" dirty="0">
                          <a:latin typeface="Arial" panose="020B0604020202020204" pitchFamily="34" charset="0"/>
                          <a:cs typeface="Arial" panose="020B0604020202020204" pitchFamily="34" charset="0"/>
                        </a:rPr>
                        <a:t>60</a:t>
                      </a:r>
                    </a:p>
                  </a:txBody>
                  <a:tcPr/>
                </a:tc>
                <a:tc>
                  <a:txBody>
                    <a:bodyPr/>
                    <a:lstStyle/>
                    <a:p>
                      <a:pPr algn="ctr"/>
                      <a:r>
                        <a:rPr lang="en-US" sz="2000" dirty="0">
                          <a:latin typeface="Arial" panose="020B0604020202020204" pitchFamily="34" charset="0"/>
                          <a:cs typeface="Arial" panose="020B0604020202020204" pitchFamily="34" charset="0"/>
                        </a:rPr>
                        <a:t>30</a:t>
                      </a:r>
                    </a:p>
                  </a:txBody>
                  <a:tcPr/>
                </a:tc>
                <a:tc>
                  <a:txBody>
                    <a:bodyPr/>
                    <a:lstStyle/>
                    <a:p>
                      <a:pPr algn="ctr"/>
                      <a:r>
                        <a:rPr lang="en-US" sz="2000" dirty="0">
                          <a:latin typeface="Arial" panose="020B0604020202020204" pitchFamily="34" charset="0"/>
                          <a:cs typeface="Arial" panose="020B0604020202020204" pitchFamily="34" charset="0"/>
                        </a:rPr>
                        <a:t>2500</a:t>
                      </a:r>
                    </a:p>
                  </a:txBody>
                  <a:tcPr/>
                </a:tc>
                <a:extLst>
                  <a:ext uri="{0D108BD9-81ED-4DB2-BD59-A6C34878D82A}">
                    <a16:rowId xmlns:a16="http://schemas.microsoft.com/office/drawing/2014/main" val="469284332"/>
                  </a:ext>
                </a:extLst>
              </a:tr>
              <a:tr h="536898">
                <a:tc>
                  <a:txBody>
                    <a:bodyPr/>
                    <a:lstStyle/>
                    <a:p>
                      <a:pPr algn="ctr"/>
                      <a:r>
                        <a:rPr lang="en-US" sz="2000" dirty="0">
                          <a:latin typeface="Arial" panose="020B0604020202020204" pitchFamily="34" charset="0"/>
                          <a:cs typeface="Arial" panose="020B0604020202020204" pitchFamily="34" charset="0"/>
                        </a:rPr>
                        <a:t>F2</a:t>
                      </a:r>
                    </a:p>
                  </a:txBody>
                  <a:tcPr/>
                </a:tc>
                <a:tc>
                  <a:txBody>
                    <a:bodyPr/>
                    <a:lstStyle/>
                    <a:p>
                      <a:pPr algn="ctr"/>
                      <a:r>
                        <a:rPr lang="en-US" sz="2000" dirty="0">
                          <a:latin typeface="Arial" panose="020B0604020202020204" pitchFamily="34" charset="0"/>
                          <a:cs typeface="Arial" panose="020B0604020202020204" pitchFamily="34" charset="0"/>
                        </a:rPr>
                        <a:t>70</a:t>
                      </a:r>
                    </a:p>
                  </a:txBody>
                  <a:tcPr/>
                </a:tc>
                <a:tc>
                  <a:txBody>
                    <a:bodyPr/>
                    <a:lstStyle/>
                    <a:p>
                      <a:pPr algn="ctr"/>
                      <a:r>
                        <a:rPr lang="en-US" sz="2000" dirty="0">
                          <a:latin typeface="Arial" panose="020B0604020202020204" pitchFamily="34" charset="0"/>
                          <a:cs typeface="Arial" panose="020B0604020202020204" pitchFamily="34" charset="0"/>
                        </a:rPr>
                        <a:t>80</a:t>
                      </a:r>
                    </a:p>
                  </a:txBody>
                  <a:tcPr/>
                </a:tc>
                <a:tc>
                  <a:txBody>
                    <a:bodyPr/>
                    <a:lstStyle/>
                    <a:p>
                      <a:pPr algn="ctr"/>
                      <a:r>
                        <a:rPr lang="en-US" sz="2000" dirty="0">
                          <a:latin typeface="Arial" panose="020B0604020202020204" pitchFamily="34" charset="0"/>
                          <a:cs typeface="Arial" panose="020B0604020202020204" pitchFamily="34" charset="0"/>
                        </a:rPr>
                        <a:t>80</a:t>
                      </a:r>
                    </a:p>
                  </a:txBody>
                  <a:tcPr/>
                </a:tc>
                <a:tc>
                  <a:txBody>
                    <a:bodyPr/>
                    <a:lstStyle/>
                    <a:p>
                      <a:pPr algn="ctr"/>
                      <a:r>
                        <a:rPr lang="en-US" sz="2000" dirty="0">
                          <a:latin typeface="Arial" panose="020B0604020202020204" pitchFamily="34" charset="0"/>
                          <a:cs typeface="Arial" panose="020B0604020202020204" pitchFamily="34" charset="0"/>
                        </a:rPr>
                        <a:t>10</a:t>
                      </a:r>
                    </a:p>
                  </a:txBody>
                  <a:tcPr/>
                </a:tc>
                <a:tc>
                  <a:txBody>
                    <a:bodyPr/>
                    <a:lstStyle/>
                    <a:p>
                      <a:pPr algn="ctr"/>
                      <a:r>
                        <a:rPr lang="en-US" sz="2000" dirty="0">
                          <a:latin typeface="Arial" panose="020B0604020202020204" pitchFamily="34" charset="0"/>
                          <a:cs typeface="Arial" panose="020B0604020202020204" pitchFamily="34" charset="0"/>
                        </a:rPr>
                        <a:t>3000</a:t>
                      </a:r>
                    </a:p>
                  </a:txBody>
                  <a:tcPr/>
                </a:tc>
                <a:extLst>
                  <a:ext uri="{0D108BD9-81ED-4DB2-BD59-A6C34878D82A}">
                    <a16:rowId xmlns:a16="http://schemas.microsoft.com/office/drawing/2014/main" val="2440187384"/>
                  </a:ext>
                </a:extLst>
              </a:tr>
              <a:tr h="536898">
                <a:tc>
                  <a:txBody>
                    <a:bodyPr/>
                    <a:lstStyle/>
                    <a:p>
                      <a:pPr algn="ctr"/>
                      <a:r>
                        <a:rPr lang="en-US" sz="2000" dirty="0">
                          <a:latin typeface="Arial" panose="020B0604020202020204" pitchFamily="34" charset="0"/>
                          <a:cs typeface="Arial" panose="020B0604020202020204" pitchFamily="34" charset="0"/>
                        </a:rPr>
                        <a:t>F3</a:t>
                      </a:r>
                    </a:p>
                  </a:txBody>
                  <a:tcPr/>
                </a:tc>
                <a:tc>
                  <a:txBody>
                    <a:bodyPr/>
                    <a:lstStyle/>
                    <a:p>
                      <a:pPr algn="ctr"/>
                      <a:r>
                        <a:rPr lang="en-US" sz="2000" dirty="0">
                          <a:latin typeface="Arial" panose="020B0604020202020204" pitchFamily="34" charset="0"/>
                          <a:cs typeface="Arial" panose="020B0604020202020204" pitchFamily="34" charset="0"/>
                        </a:rPr>
                        <a:t>40</a:t>
                      </a:r>
                    </a:p>
                  </a:txBody>
                  <a:tcPr/>
                </a:tc>
                <a:tc>
                  <a:txBody>
                    <a:bodyPr/>
                    <a:lstStyle/>
                    <a:p>
                      <a:pPr algn="ctr"/>
                      <a:r>
                        <a:rPr lang="en-US" sz="2000" dirty="0">
                          <a:latin typeface="Arial" panose="020B0604020202020204" pitchFamily="34" charset="0"/>
                          <a:cs typeface="Arial" panose="020B0604020202020204" pitchFamily="34" charset="0"/>
                        </a:rPr>
                        <a:t>40</a:t>
                      </a:r>
                    </a:p>
                  </a:txBody>
                  <a:tcPr/>
                </a:tc>
                <a:tc>
                  <a:txBody>
                    <a:bodyPr/>
                    <a:lstStyle/>
                    <a:p>
                      <a:pPr algn="ctr"/>
                      <a:r>
                        <a:rPr lang="en-US" sz="2000" dirty="0">
                          <a:latin typeface="Arial" panose="020B0604020202020204" pitchFamily="34" charset="0"/>
                          <a:cs typeface="Arial" panose="020B0604020202020204" pitchFamily="34" charset="0"/>
                        </a:rPr>
                        <a:t>30</a:t>
                      </a:r>
                    </a:p>
                  </a:txBody>
                  <a:tcPr/>
                </a:tc>
                <a:tc>
                  <a:txBody>
                    <a:bodyPr/>
                    <a:lstStyle/>
                    <a:p>
                      <a:pPr algn="ctr"/>
                      <a:r>
                        <a:rPr lang="en-US" sz="2000" dirty="0">
                          <a:latin typeface="Arial" panose="020B0604020202020204" pitchFamily="34" charset="0"/>
                          <a:cs typeface="Arial" panose="020B0604020202020204" pitchFamily="34" charset="0"/>
                        </a:rPr>
                        <a:t>60</a:t>
                      </a:r>
                    </a:p>
                  </a:txBody>
                  <a:tcPr/>
                </a:tc>
                <a:tc>
                  <a:txBody>
                    <a:bodyPr/>
                    <a:lstStyle/>
                    <a:p>
                      <a:pPr algn="ctr"/>
                      <a:r>
                        <a:rPr lang="en-US" sz="2000" dirty="0">
                          <a:latin typeface="Arial" panose="020B0604020202020204" pitchFamily="34" charset="0"/>
                          <a:cs typeface="Arial" panose="020B0604020202020204" pitchFamily="34" charset="0"/>
                        </a:rPr>
                        <a:t>1000</a:t>
                      </a:r>
                    </a:p>
                  </a:txBody>
                  <a:tcPr/>
                </a:tc>
                <a:extLst>
                  <a:ext uri="{0D108BD9-81ED-4DB2-BD59-A6C34878D82A}">
                    <a16:rowId xmlns:a16="http://schemas.microsoft.com/office/drawing/2014/main" val="1000304637"/>
                  </a:ext>
                </a:extLst>
              </a:tr>
              <a:tr h="536898">
                <a:tc>
                  <a:txBody>
                    <a:bodyPr/>
                    <a:lstStyle/>
                    <a:p>
                      <a:pPr algn="ctr"/>
                      <a:r>
                        <a:rPr lang="en-US" sz="2000" dirty="0">
                          <a:latin typeface="Arial" panose="020B0604020202020204" pitchFamily="34" charset="0"/>
                          <a:cs typeface="Arial" panose="020B0604020202020204" pitchFamily="34" charset="0"/>
                        </a:rPr>
                        <a:t>F4</a:t>
                      </a:r>
                    </a:p>
                  </a:txBody>
                  <a:tcPr/>
                </a:tc>
                <a:tc>
                  <a:txBody>
                    <a:bodyPr/>
                    <a:lstStyle/>
                    <a:p>
                      <a:pPr algn="ctr"/>
                      <a:r>
                        <a:rPr lang="en-US" sz="2000" dirty="0">
                          <a:latin typeface="Arial" panose="020B0604020202020204" pitchFamily="34" charset="0"/>
                          <a:cs typeface="Arial" panose="020B0604020202020204" pitchFamily="34" charset="0"/>
                        </a:rPr>
                        <a:t>80</a:t>
                      </a:r>
                    </a:p>
                  </a:txBody>
                  <a:tcPr/>
                </a:tc>
                <a:tc>
                  <a:txBody>
                    <a:bodyPr/>
                    <a:lstStyle/>
                    <a:p>
                      <a:pPr algn="ctr"/>
                      <a:r>
                        <a:rPr lang="en-US" sz="2000" dirty="0">
                          <a:latin typeface="Arial" panose="020B0604020202020204" pitchFamily="34" charset="0"/>
                          <a:cs typeface="Arial" panose="020B0604020202020204" pitchFamily="34" charset="0"/>
                        </a:rPr>
                        <a:t>70</a:t>
                      </a:r>
                    </a:p>
                  </a:txBody>
                  <a:tcPr/>
                </a:tc>
                <a:tc>
                  <a:txBody>
                    <a:bodyPr/>
                    <a:lstStyle/>
                    <a:p>
                      <a:pPr algn="ctr"/>
                      <a:r>
                        <a:rPr lang="en-US" sz="2000" dirty="0">
                          <a:latin typeface="Arial" panose="020B0604020202020204" pitchFamily="34" charset="0"/>
                          <a:cs typeface="Arial" panose="020B0604020202020204" pitchFamily="34" charset="0"/>
                        </a:rPr>
                        <a:t>60</a:t>
                      </a:r>
                    </a:p>
                  </a:txBody>
                  <a:tcPr/>
                </a:tc>
                <a:tc>
                  <a:txBody>
                    <a:bodyPr/>
                    <a:lstStyle/>
                    <a:p>
                      <a:pPr algn="ctr"/>
                      <a:r>
                        <a:rPr lang="en-US" sz="2000" dirty="0">
                          <a:latin typeface="Arial" panose="020B0604020202020204" pitchFamily="34" charset="0"/>
                          <a:cs typeface="Arial" panose="020B0604020202020204" pitchFamily="34" charset="0"/>
                        </a:rPr>
                        <a:t>80</a:t>
                      </a:r>
                    </a:p>
                  </a:txBody>
                  <a:tcPr/>
                </a:tc>
                <a:tc>
                  <a:txBody>
                    <a:bodyPr/>
                    <a:lstStyle/>
                    <a:p>
                      <a:pPr algn="ctr"/>
                      <a:r>
                        <a:rPr lang="en-US" sz="2000" dirty="0">
                          <a:latin typeface="Arial" panose="020B0604020202020204" pitchFamily="34" charset="0"/>
                          <a:cs typeface="Arial" panose="020B0604020202020204" pitchFamily="34" charset="0"/>
                        </a:rPr>
                        <a:t>2000</a:t>
                      </a:r>
                    </a:p>
                  </a:txBody>
                  <a:tcPr/>
                </a:tc>
                <a:extLst>
                  <a:ext uri="{0D108BD9-81ED-4DB2-BD59-A6C34878D82A}">
                    <a16:rowId xmlns:a16="http://schemas.microsoft.com/office/drawing/2014/main" val="3779249480"/>
                  </a:ext>
                </a:extLst>
              </a:tr>
              <a:tr h="536898">
                <a:tc>
                  <a:txBody>
                    <a:bodyPr/>
                    <a:lstStyle/>
                    <a:p>
                      <a:pPr algn="ctr"/>
                      <a:r>
                        <a:rPr lang="en-US" sz="2000" b="1" dirty="0">
                          <a:latin typeface="Arial" panose="020B0604020202020204" pitchFamily="34" charset="0"/>
                          <a:cs typeface="Arial" panose="020B0604020202020204" pitchFamily="34" charset="0"/>
                        </a:rPr>
                        <a:t>Demand</a:t>
                      </a:r>
                    </a:p>
                  </a:txBody>
                  <a:tcPr/>
                </a:tc>
                <a:tc>
                  <a:txBody>
                    <a:bodyPr/>
                    <a:lstStyle/>
                    <a:p>
                      <a:pPr algn="ctr"/>
                      <a:r>
                        <a:rPr lang="en-US" sz="2000" dirty="0">
                          <a:latin typeface="Arial" panose="020B0604020202020204" pitchFamily="34" charset="0"/>
                          <a:cs typeface="Arial" panose="020B0604020202020204" pitchFamily="34" charset="0"/>
                        </a:rPr>
                        <a:t>2500</a:t>
                      </a:r>
                    </a:p>
                  </a:txBody>
                  <a:tcPr/>
                </a:tc>
                <a:tc>
                  <a:txBody>
                    <a:bodyPr/>
                    <a:lstStyle/>
                    <a:p>
                      <a:pPr algn="ctr"/>
                      <a:r>
                        <a:rPr lang="en-US" sz="2000" dirty="0">
                          <a:latin typeface="Arial" panose="020B0604020202020204" pitchFamily="34" charset="0"/>
                          <a:cs typeface="Arial" panose="020B0604020202020204" pitchFamily="34" charset="0"/>
                        </a:rPr>
                        <a:t>2000</a:t>
                      </a:r>
                    </a:p>
                  </a:txBody>
                  <a:tcPr/>
                </a:tc>
                <a:tc>
                  <a:txBody>
                    <a:bodyPr/>
                    <a:lstStyle/>
                    <a:p>
                      <a:pPr algn="ctr"/>
                      <a:r>
                        <a:rPr lang="en-US" sz="2000" dirty="0">
                          <a:latin typeface="Arial" panose="020B0604020202020204" pitchFamily="34" charset="0"/>
                          <a:cs typeface="Arial" panose="020B0604020202020204" pitchFamily="34" charset="0"/>
                        </a:rPr>
                        <a:t>2000</a:t>
                      </a:r>
                    </a:p>
                  </a:txBody>
                  <a:tcPr/>
                </a:tc>
                <a:tc>
                  <a:txBody>
                    <a:bodyPr/>
                    <a:lstStyle/>
                    <a:p>
                      <a:pPr algn="ctr"/>
                      <a:r>
                        <a:rPr lang="en-US" sz="2000" dirty="0">
                          <a:latin typeface="Arial" panose="020B0604020202020204" pitchFamily="34" charset="0"/>
                          <a:cs typeface="Arial" panose="020B0604020202020204" pitchFamily="34" charset="0"/>
                        </a:rPr>
                        <a:t>2000</a:t>
                      </a:r>
                    </a:p>
                  </a:txBody>
                  <a:tcPr/>
                </a:tc>
                <a:tc>
                  <a:txBody>
                    <a:bodyPr/>
                    <a:lstStyle/>
                    <a:p>
                      <a:pPr algn="ctr"/>
                      <a:endParaRPr lang="en-US" sz="2000" dirty="0">
                        <a:latin typeface="Arial" panose="020B0604020202020204" pitchFamily="34" charset="0"/>
                        <a:cs typeface="Arial" panose="020B0604020202020204" pitchFamily="34" charset="0"/>
                      </a:endParaRPr>
                    </a:p>
                  </a:txBody>
                  <a:tcPr/>
                </a:tc>
                <a:extLst>
                  <a:ext uri="{0D108BD9-81ED-4DB2-BD59-A6C34878D82A}">
                    <a16:rowId xmlns:a16="http://schemas.microsoft.com/office/drawing/2014/main" val="1663653242"/>
                  </a:ext>
                </a:extLst>
              </a:tr>
            </a:tbl>
          </a:graphicData>
        </a:graphic>
      </p:graphicFrame>
    </p:spTree>
    <p:extLst>
      <p:ext uri="{BB962C8B-B14F-4D97-AF65-F5344CB8AC3E}">
        <p14:creationId xmlns:p14="http://schemas.microsoft.com/office/powerpoint/2010/main" val="17066821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D9B2-E2E2-CA40-BEE4-C5FD5E7A538F}"/>
              </a:ext>
            </a:extLst>
          </p:cNvPr>
          <p:cNvSpPr>
            <a:spLocks noGrp="1"/>
          </p:cNvSpPr>
          <p:nvPr>
            <p:ph type="title"/>
          </p:nvPr>
        </p:nvSpPr>
        <p:spPr/>
        <p:txBody>
          <a:bodyPr/>
          <a:lstStyle/>
          <a:p>
            <a:r>
              <a:rPr lang="en-US" dirty="0"/>
              <a:t>Transportation Problem – Example 2</a:t>
            </a:r>
          </a:p>
        </p:txBody>
      </p:sp>
      <p:sp>
        <p:nvSpPr>
          <p:cNvPr id="5" name="Content Placeholder 4">
            <a:extLst>
              <a:ext uri="{FF2B5EF4-FFF2-40B4-BE49-F238E27FC236}">
                <a16:creationId xmlns:a16="http://schemas.microsoft.com/office/drawing/2014/main" id="{D9B814CC-103D-F347-8F83-C2047E9D2389}"/>
              </a:ext>
            </a:extLst>
          </p:cNvPr>
          <p:cNvSpPr>
            <a:spLocks noGrp="1"/>
          </p:cNvSpPr>
          <p:nvPr>
            <p:ph idx="1"/>
          </p:nvPr>
        </p:nvSpPr>
        <p:spPr/>
        <p:txBody>
          <a:bodyPr/>
          <a:lstStyle/>
          <a:p>
            <a:r>
              <a:rPr lang="en-US" dirty="0"/>
              <a:t>Draw the network representation</a:t>
            </a:r>
          </a:p>
          <a:p>
            <a:endParaRPr lang="en-US" dirty="0"/>
          </a:p>
          <a:p>
            <a:r>
              <a:rPr lang="en-US" dirty="0"/>
              <a:t>Formulate it as LP</a:t>
            </a:r>
          </a:p>
          <a:p>
            <a:endParaRPr lang="en-US" dirty="0"/>
          </a:p>
          <a:p>
            <a:r>
              <a:rPr lang="en-US" dirty="0"/>
              <a:t>Solve it using excel</a:t>
            </a:r>
          </a:p>
        </p:txBody>
      </p:sp>
    </p:spTree>
    <p:extLst>
      <p:ext uri="{BB962C8B-B14F-4D97-AF65-F5344CB8AC3E}">
        <p14:creationId xmlns:p14="http://schemas.microsoft.com/office/powerpoint/2010/main" val="81430975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6C815D-DB89-7044-AF80-F75CFF7B95A6}"/>
              </a:ext>
            </a:extLst>
          </p:cNvPr>
          <p:cNvSpPr>
            <a:spLocks noGrp="1"/>
          </p:cNvSpPr>
          <p:nvPr>
            <p:ph type="ctrTitle"/>
          </p:nvPr>
        </p:nvSpPr>
        <p:spPr/>
        <p:txBody>
          <a:bodyPr>
            <a:normAutofit/>
          </a:bodyPr>
          <a:lstStyle/>
          <a:p>
            <a:r>
              <a:rPr lang="en-US" sz="4800" dirty="0"/>
              <a:t>Duality</a:t>
            </a:r>
          </a:p>
        </p:txBody>
      </p:sp>
    </p:spTree>
    <p:extLst>
      <p:ext uri="{BB962C8B-B14F-4D97-AF65-F5344CB8AC3E}">
        <p14:creationId xmlns:p14="http://schemas.microsoft.com/office/powerpoint/2010/main" val="321424848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D9B2-E2E2-CA40-BEE4-C5FD5E7A538F}"/>
              </a:ext>
            </a:extLst>
          </p:cNvPr>
          <p:cNvSpPr>
            <a:spLocks noGrp="1"/>
          </p:cNvSpPr>
          <p:nvPr>
            <p:ph type="title"/>
          </p:nvPr>
        </p:nvSpPr>
        <p:spPr/>
        <p:txBody>
          <a:bodyPr/>
          <a:lstStyle/>
          <a:p>
            <a:r>
              <a:rPr lang="en-US" dirty="0"/>
              <a:t>Exercise 1</a:t>
            </a:r>
          </a:p>
        </p:txBody>
      </p:sp>
      <p:sp>
        <p:nvSpPr>
          <p:cNvPr id="3" name="Content Placeholder 2">
            <a:extLst>
              <a:ext uri="{FF2B5EF4-FFF2-40B4-BE49-F238E27FC236}">
                <a16:creationId xmlns:a16="http://schemas.microsoft.com/office/drawing/2014/main" id="{EEBB8932-B204-0B40-987B-BC03197C4901}"/>
              </a:ext>
            </a:extLst>
          </p:cNvPr>
          <p:cNvSpPr>
            <a:spLocks noGrp="1"/>
          </p:cNvSpPr>
          <p:nvPr>
            <p:ph idx="1"/>
          </p:nvPr>
        </p:nvSpPr>
        <p:spPr/>
        <p:txBody>
          <a:bodyPr>
            <a:noAutofit/>
          </a:bodyPr>
          <a:lstStyle/>
          <a:p>
            <a:pPr>
              <a:lnSpc>
                <a:spcPct val="150000"/>
              </a:lnSpc>
            </a:pPr>
            <a:r>
              <a:rPr lang="en-US" sz="2000" dirty="0"/>
              <a:t>Construct the dual problem for the following linear programming model fitting our standard form.</a:t>
            </a:r>
            <a:endParaRPr lang="en-IN" sz="2000" dirty="0"/>
          </a:p>
          <a:p>
            <a:pPr>
              <a:lnSpc>
                <a:spcPct val="100000"/>
              </a:lnSpc>
            </a:pPr>
            <a:r>
              <a:rPr lang="en-US" sz="2000" dirty="0"/>
              <a:t>Min   Z = 2*x2+5*x3</a:t>
            </a:r>
          </a:p>
          <a:p>
            <a:pPr>
              <a:lnSpc>
                <a:spcPct val="100000"/>
              </a:lnSpc>
            </a:pPr>
            <a:r>
              <a:rPr lang="en-US" sz="2000" dirty="0"/>
              <a:t>X1+x2&gt;=2</a:t>
            </a:r>
          </a:p>
          <a:p>
            <a:pPr>
              <a:lnSpc>
                <a:spcPct val="100000"/>
              </a:lnSpc>
            </a:pPr>
            <a:r>
              <a:rPr lang="en-US" sz="2000" dirty="0"/>
              <a:t>2x1+x2+6x3&lt;=6</a:t>
            </a:r>
          </a:p>
          <a:p>
            <a:pPr>
              <a:lnSpc>
                <a:spcPct val="100000"/>
              </a:lnSpc>
            </a:pPr>
            <a:r>
              <a:rPr lang="en-US" sz="2000" dirty="0"/>
              <a:t>X1-x2+3x3=4</a:t>
            </a:r>
          </a:p>
          <a:p>
            <a:pPr>
              <a:lnSpc>
                <a:spcPct val="100000"/>
              </a:lnSpc>
            </a:pPr>
            <a:r>
              <a:rPr lang="en-US" sz="2000" dirty="0"/>
              <a:t>X1,x2,x3&gt;=0</a:t>
            </a:r>
            <a:endParaRPr lang="en-IN" sz="2000" dirty="0"/>
          </a:p>
        </p:txBody>
      </p:sp>
      <p:cxnSp>
        <p:nvCxnSpPr>
          <p:cNvPr id="5" name="Straight Connector 4">
            <a:extLst>
              <a:ext uri="{FF2B5EF4-FFF2-40B4-BE49-F238E27FC236}">
                <a16:creationId xmlns:a16="http://schemas.microsoft.com/office/drawing/2014/main" id="{F82D12CB-3A13-4E4D-B454-45F9D0931B61}"/>
              </a:ext>
            </a:extLst>
          </p:cNvPr>
          <p:cNvCxnSpPr/>
          <p:nvPr/>
        </p:nvCxnSpPr>
        <p:spPr>
          <a:xfrm>
            <a:off x="3497943" y="2569029"/>
            <a:ext cx="0" cy="329474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56695DD-760B-3648-B892-2E5769AE557E}"/>
              </a:ext>
            </a:extLst>
          </p:cNvPr>
          <p:cNvSpPr txBox="1"/>
          <p:nvPr/>
        </p:nvSpPr>
        <p:spPr>
          <a:xfrm>
            <a:off x="3686629" y="2750133"/>
            <a:ext cx="3439885" cy="2862322"/>
          </a:xfrm>
          <a:prstGeom prst="rect">
            <a:avLst/>
          </a:prstGeom>
          <a:noFill/>
        </p:spPr>
        <p:txBody>
          <a:bodyPr wrap="square" rtlCol="0">
            <a:spAutoFit/>
          </a:bodyPr>
          <a:lstStyle/>
          <a:p>
            <a:r>
              <a:rPr lang="en-US" dirty="0"/>
              <a:t>Max Z1=0*X1-2x2-5x3</a:t>
            </a:r>
          </a:p>
          <a:p>
            <a:r>
              <a:rPr lang="en-US" dirty="0"/>
              <a:t>-x1-x2&lt;=-2</a:t>
            </a:r>
          </a:p>
          <a:p>
            <a:r>
              <a:rPr lang="en-US" dirty="0"/>
              <a:t>2x1+x2+6x3&lt;=6</a:t>
            </a:r>
          </a:p>
          <a:p>
            <a:r>
              <a:rPr lang="en-US" dirty="0"/>
              <a:t>X1-x2+3x3&lt;=4</a:t>
            </a:r>
          </a:p>
          <a:p>
            <a:r>
              <a:rPr lang="en-US" dirty="0"/>
              <a:t>-X1+x2-3x3&lt;=-4</a:t>
            </a:r>
          </a:p>
          <a:p>
            <a:r>
              <a:rPr lang="en-US" dirty="0"/>
              <a:t>X1,x2,x3&gt;=0</a:t>
            </a:r>
          </a:p>
          <a:p>
            <a:endParaRPr lang="en-US" dirty="0"/>
          </a:p>
          <a:p>
            <a:endParaRPr lang="en-US" dirty="0"/>
          </a:p>
          <a:p>
            <a:endParaRPr lang="en-US" dirty="0"/>
          </a:p>
          <a:p>
            <a:endParaRPr lang="en-US" dirty="0"/>
          </a:p>
        </p:txBody>
      </p:sp>
      <p:cxnSp>
        <p:nvCxnSpPr>
          <p:cNvPr id="7" name="Straight Connector 6">
            <a:extLst>
              <a:ext uri="{FF2B5EF4-FFF2-40B4-BE49-F238E27FC236}">
                <a16:creationId xmlns:a16="http://schemas.microsoft.com/office/drawing/2014/main" id="{2479F456-BD8B-F34C-9EE8-841C34873421}"/>
              </a:ext>
            </a:extLst>
          </p:cNvPr>
          <p:cNvCxnSpPr/>
          <p:nvPr/>
        </p:nvCxnSpPr>
        <p:spPr>
          <a:xfrm>
            <a:off x="6451600" y="2569029"/>
            <a:ext cx="0" cy="3294742"/>
          </a:xfrm>
          <a:prstGeom prst="line">
            <a:avLst/>
          </a:prstGeom>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6D702435-185E-D54A-BB33-3DEB16029AE0}"/>
              </a:ext>
            </a:extLst>
          </p:cNvPr>
          <p:cNvSpPr txBox="1"/>
          <p:nvPr/>
        </p:nvSpPr>
        <p:spPr>
          <a:xfrm>
            <a:off x="7126514" y="2768101"/>
            <a:ext cx="3439885" cy="1477328"/>
          </a:xfrm>
          <a:prstGeom prst="rect">
            <a:avLst/>
          </a:prstGeom>
          <a:noFill/>
        </p:spPr>
        <p:txBody>
          <a:bodyPr wrap="square" rtlCol="0">
            <a:spAutoFit/>
          </a:bodyPr>
          <a:lstStyle/>
          <a:p>
            <a:r>
              <a:rPr lang="en-US" dirty="0"/>
              <a:t>Min z2=-2w1+6w2+4w3-4w4</a:t>
            </a:r>
          </a:p>
          <a:p>
            <a:r>
              <a:rPr lang="en-US" dirty="0"/>
              <a:t>-w1+2w2+w3-w4&gt;=0</a:t>
            </a:r>
          </a:p>
          <a:p>
            <a:r>
              <a:rPr lang="en-US" dirty="0"/>
              <a:t>-w1+w2-w3+w4&gt;=-2</a:t>
            </a:r>
          </a:p>
          <a:p>
            <a:r>
              <a:rPr lang="en-US" dirty="0"/>
              <a:t>6w2+3w3-3w4&gt;=-5</a:t>
            </a:r>
          </a:p>
          <a:p>
            <a:endParaRPr lang="en-US" dirty="0"/>
          </a:p>
        </p:txBody>
      </p:sp>
      <p:sp>
        <p:nvSpPr>
          <p:cNvPr id="9" name="TextBox 8">
            <a:extLst>
              <a:ext uri="{FF2B5EF4-FFF2-40B4-BE49-F238E27FC236}">
                <a16:creationId xmlns:a16="http://schemas.microsoft.com/office/drawing/2014/main" id="{8506753B-3C01-E441-AAB5-09EB04C580AA}"/>
              </a:ext>
            </a:extLst>
          </p:cNvPr>
          <p:cNvSpPr txBox="1"/>
          <p:nvPr/>
        </p:nvSpPr>
        <p:spPr>
          <a:xfrm>
            <a:off x="7520214" y="2380343"/>
            <a:ext cx="869043" cy="369790"/>
          </a:xfrm>
          <a:prstGeom prst="rect">
            <a:avLst/>
          </a:prstGeom>
          <a:noFill/>
        </p:spPr>
        <p:txBody>
          <a:bodyPr wrap="square" rtlCol="0">
            <a:spAutoFit/>
          </a:bodyPr>
          <a:lstStyle/>
          <a:p>
            <a:r>
              <a:rPr lang="en-US" b="1" dirty="0"/>
              <a:t>DUAL</a:t>
            </a:r>
          </a:p>
        </p:txBody>
      </p:sp>
    </p:spTree>
    <p:extLst>
      <p:ext uri="{BB962C8B-B14F-4D97-AF65-F5344CB8AC3E}">
        <p14:creationId xmlns:p14="http://schemas.microsoft.com/office/powerpoint/2010/main" val="3335381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6D9B2-E2E2-CA40-BEE4-C5FD5E7A538F}"/>
              </a:ext>
            </a:extLst>
          </p:cNvPr>
          <p:cNvSpPr>
            <a:spLocks noGrp="1"/>
          </p:cNvSpPr>
          <p:nvPr>
            <p:ph type="title"/>
          </p:nvPr>
        </p:nvSpPr>
        <p:spPr/>
        <p:txBody>
          <a:bodyPr/>
          <a:lstStyle/>
          <a:p>
            <a:r>
              <a:rPr lang="en-US" dirty="0"/>
              <a:t>Exercise 2</a:t>
            </a:r>
          </a:p>
        </p:txBody>
      </p:sp>
      <p:sp>
        <p:nvSpPr>
          <p:cNvPr id="3" name="Content Placeholder 2">
            <a:extLst>
              <a:ext uri="{FF2B5EF4-FFF2-40B4-BE49-F238E27FC236}">
                <a16:creationId xmlns:a16="http://schemas.microsoft.com/office/drawing/2014/main" id="{EEBB8932-B204-0B40-987B-BC03197C4901}"/>
              </a:ext>
            </a:extLst>
          </p:cNvPr>
          <p:cNvSpPr>
            <a:spLocks noGrp="1"/>
          </p:cNvSpPr>
          <p:nvPr>
            <p:ph idx="1"/>
          </p:nvPr>
        </p:nvSpPr>
        <p:spPr/>
        <p:txBody>
          <a:bodyPr>
            <a:noAutofit/>
          </a:bodyPr>
          <a:lstStyle/>
          <a:p>
            <a:pPr>
              <a:lnSpc>
                <a:spcPct val="150000"/>
              </a:lnSpc>
            </a:pPr>
            <a:r>
              <a:rPr lang="en-US" sz="2000" dirty="0"/>
              <a:t>Construct the dual problem for the following linear programming model fitting our standard form.</a:t>
            </a:r>
            <a:endParaRPr lang="en-IN" sz="2000" dirty="0"/>
          </a:p>
          <a:p>
            <a:pPr>
              <a:lnSpc>
                <a:spcPct val="100000"/>
              </a:lnSpc>
            </a:pPr>
            <a:r>
              <a:rPr lang="en-US" sz="1600" dirty="0"/>
              <a:t>Max   Z = 2*x1+3*x2+x3</a:t>
            </a:r>
          </a:p>
          <a:p>
            <a:pPr>
              <a:lnSpc>
                <a:spcPct val="100000"/>
              </a:lnSpc>
            </a:pPr>
            <a:r>
              <a:rPr lang="en-US" sz="1600" dirty="0"/>
              <a:t>4x1+3x2+x3=6</a:t>
            </a:r>
          </a:p>
          <a:p>
            <a:pPr>
              <a:lnSpc>
                <a:spcPct val="100000"/>
              </a:lnSpc>
            </a:pPr>
            <a:r>
              <a:rPr lang="en-US" sz="1600" dirty="0"/>
              <a:t>X1+2x2+5x3=4</a:t>
            </a:r>
          </a:p>
          <a:p>
            <a:pPr>
              <a:lnSpc>
                <a:spcPct val="100000"/>
              </a:lnSpc>
            </a:pPr>
            <a:r>
              <a:rPr lang="en-US" sz="1600" dirty="0"/>
              <a:t>X1,x2,x3&gt;=0</a:t>
            </a:r>
          </a:p>
        </p:txBody>
      </p:sp>
      <p:cxnSp>
        <p:nvCxnSpPr>
          <p:cNvPr id="5" name="Straight Connector 4">
            <a:extLst>
              <a:ext uri="{FF2B5EF4-FFF2-40B4-BE49-F238E27FC236}">
                <a16:creationId xmlns:a16="http://schemas.microsoft.com/office/drawing/2014/main" id="{F82D12CB-3A13-4E4D-B454-45F9D0931B61}"/>
              </a:ext>
            </a:extLst>
          </p:cNvPr>
          <p:cNvCxnSpPr/>
          <p:nvPr/>
        </p:nvCxnSpPr>
        <p:spPr>
          <a:xfrm>
            <a:off x="3497943" y="2569029"/>
            <a:ext cx="0" cy="3294742"/>
          </a:xfrm>
          <a:prstGeom prst="line">
            <a:avLst/>
          </a:prstGeom>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056695DD-760B-3648-B892-2E5769AE557E}"/>
              </a:ext>
            </a:extLst>
          </p:cNvPr>
          <p:cNvSpPr txBox="1"/>
          <p:nvPr/>
        </p:nvSpPr>
        <p:spPr>
          <a:xfrm>
            <a:off x="3686629" y="2750133"/>
            <a:ext cx="3439885" cy="3139321"/>
          </a:xfrm>
          <a:prstGeom prst="rect">
            <a:avLst/>
          </a:prstGeom>
          <a:noFill/>
        </p:spPr>
        <p:txBody>
          <a:bodyPr wrap="square" rtlCol="0">
            <a:spAutoFit/>
          </a:bodyPr>
          <a:lstStyle/>
          <a:p>
            <a:r>
              <a:rPr lang="en-US" dirty="0"/>
              <a:t>Max Z= 2*x1+3*x2+x3</a:t>
            </a:r>
          </a:p>
          <a:p>
            <a:r>
              <a:rPr lang="en-US" dirty="0"/>
              <a:t>-4x1-3x2-x3&lt;=-6</a:t>
            </a:r>
          </a:p>
          <a:p>
            <a:r>
              <a:rPr lang="en-US" dirty="0"/>
              <a:t>4x1+3x2+x3&lt;=6</a:t>
            </a:r>
          </a:p>
          <a:p>
            <a:r>
              <a:rPr lang="en-US" dirty="0"/>
              <a:t>-X1-2x2-5x3&lt;=-4</a:t>
            </a:r>
          </a:p>
          <a:p>
            <a:r>
              <a:rPr lang="en-US" dirty="0"/>
              <a:t>X1+2x2+5x3&lt;=4</a:t>
            </a:r>
          </a:p>
          <a:p>
            <a:endParaRPr lang="en-US" dirty="0"/>
          </a:p>
          <a:p>
            <a:endParaRPr lang="en-US" dirty="0"/>
          </a:p>
          <a:p>
            <a:endParaRPr lang="en-US" dirty="0"/>
          </a:p>
          <a:p>
            <a:endParaRPr lang="en-US" dirty="0"/>
          </a:p>
          <a:p>
            <a:endParaRPr lang="en-US" dirty="0"/>
          </a:p>
          <a:p>
            <a:endParaRPr lang="en-US" dirty="0"/>
          </a:p>
        </p:txBody>
      </p:sp>
      <p:cxnSp>
        <p:nvCxnSpPr>
          <p:cNvPr id="7" name="Straight Connector 6">
            <a:extLst>
              <a:ext uri="{FF2B5EF4-FFF2-40B4-BE49-F238E27FC236}">
                <a16:creationId xmlns:a16="http://schemas.microsoft.com/office/drawing/2014/main" id="{2479F456-BD8B-F34C-9EE8-841C34873421}"/>
              </a:ext>
            </a:extLst>
          </p:cNvPr>
          <p:cNvCxnSpPr/>
          <p:nvPr/>
        </p:nvCxnSpPr>
        <p:spPr>
          <a:xfrm>
            <a:off x="6451600" y="2569029"/>
            <a:ext cx="0" cy="3294742"/>
          </a:xfrm>
          <a:prstGeom prst="line">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506753B-3C01-E441-AAB5-09EB04C580AA}"/>
              </a:ext>
            </a:extLst>
          </p:cNvPr>
          <p:cNvSpPr txBox="1"/>
          <p:nvPr/>
        </p:nvSpPr>
        <p:spPr>
          <a:xfrm>
            <a:off x="7520214" y="2380343"/>
            <a:ext cx="869043" cy="369790"/>
          </a:xfrm>
          <a:prstGeom prst="rect">
            <a:avLst/>
          </a:prstGeom>
          <a:noFill/>
        </p:spPr>
        <p:txBody>
          <a:bodyPr wrap="square" rtlCol="0">
            <a:spAutoFit/>
          </a:bodyPr>
          <a:lstStyle/>
          <a:p>
            <a:r>
              <a:rPr lang="en-US" b="1" dirty="0"/>
              <a:t>DUAL</a:t>
            </a:r>
          </a:p>
        </p:txBody>
      </p:sp>
      <p:sp>
        <p:nvSpPr>
          <p:cNvPr id="4" name="TextBox 3">
            <a:extLst>
              <a:ext uri="{FF2B5EF4-FFF2-40B4-BE49-F238E27FC236}">
                <a16:creationId xmlns:a16="http://schemas.microsoft.com/office/drawing/2014/main" id="{A335C2F2-B265-164A-B99B-06BE4B9E652F}"/>
              </a:ext>
            </a:extLst>
          </p:cNvPr>
          <p:cNvSpPr txBox="1"/>
          <p:nvPr/>
        </p:nvSpPr>
        <p:spPr>
          <a:xfrm>
            <a:off x="6096000" y="365125"/>
            <a:ext cx="3904343" cy="369332"/>
          </a:xfrm>
          <a:prstGeom prst="rect">
            <a:avLst/>
          </a:prstGeom>
          <a:noFill/>
        </p:spPr>
        <p:txBody>
          <a:bodyPr wrap="square" rtlCol="0">
            <a:spAutoFit/>
          </a:bodyPr>
          <a:lstStyle/>
          <a:p>
            <a:r>
              <a:rPr lang="en-US" dirty="0"/>
              <a:t>X=y is same as saying { x&gt;=y and y&gt;=x}</a:t>
            </a:r>
          </a:p>
        </p:txBody>
      </p:sp>
      <p:sp>
        <p:nvSpPr>
          <p:cNvPr id="10" name="TextBox 9">
            <a:extLst>
              <a:ext uri="{FF2B5EF4-FFF2-40B4-BE49-F238E27FC236}">
                <a16:creationId xmlns:a16="http://schemas.microsoft.com/office/drawing/2014/main" id="{EAD29753-5D48-8A41-9B0E-E55A8882B9A8}"/>
              </a:ext>
            </a:extLst>
          </p:cNvPr>
          <p:cNvSpPr txBox="1"/>
          <p:nvPr/>
        </p:nvSpPr>
        <p:spPr>
          <a:xfrm>
            <a:off x="7126514" y="2750133"/>
            <a:ext cx="3439885" cy="3139321"/>
          </a:xfrm>
          <a:prstGeom prst="rect">
            <a:avLst/>
          </a:prstGeom>
          <a:noFill/>
        </p:spPr>
        <p:txBody>
          <a:bodyPr wrap="square" rtlCol="0">
            <a:spAutoFit/>
          </a:bodyPr>
          <a:lstStyle/>
          <a:p>
            <a:r>
              <a:rPr lang="en-US" dirty="0"/>
              <a:t>Min -</a:t>
            </a:r>
            <a:r>
              <a:rPr lang="en-IN" dirty="0"/>
              <a:t>6w1+6w2-4w3+4w4</a:t>
            </a:r>
          </a:p>
          <a:p>
            <a:endParaRPr lang="en-IN" dirty="0"/>
          </a:p>
          <a:p>
            <a:r>
              <a:rPr lang="en-IN" dirty="0"/>
              <a:t>-4w1+4w2-w3+w4&gt;=2</a:t>
            </a:r>
          </a:p>
          <a:p>
            <a:r>
              <a:rPr lang="en-IN" dirty="0"/>
              <a:t>-3w1+3w2-2w3+2w4&gt;=3</a:t>
            </a:r>
          </a:p>
          <a:p>
            <a:r>
              <a:rPr lang="en-IN" dirty="0"/>
              <a:t>-w1+w2-5w3+5w4&gt;=1</a:t>
            </a:r>
          </a:p>
          <a:p>
            <a:endParaRPr lang="en-US" dirty="0"/>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41233257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bhishek" id="{674B529B-6E3F-7E41-B234-1EEA7A7AD5DF}" vid="{DD18F22D-5681-9D4B-B3BF-7AB9CC65AC21}"/>
    </a:ext>
  </a:extLst>
</a:theme>
</file>

<file path=docProps/app.xml><?xml version="1.0" encoding="utf-8"?>
<Properties xmlns="http://schemas.openxmlformats.org/officeDocument/2006/extended-properties" xmlns:vt="http://schemas.openxmlformats.org/officeDocument/2006/docPropsVTypes">
  <Template/>
  <TotalTime>4533</TotalTime>
  <Words>2334</Words>
  <Application>Microsoft Macintosh PowerPoint</Application>
  <PresentationFormat>Widescreen</PresentationFormat>
  <Paragraphs>643</Paragraphs>
  <Slides>33</Slides>
  <Notes>0</Notes>
  <HiddenSlides>3</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33</vt:i4>
      </vt:variant>
    </vt:vector>
  </HeadingPairs>
  <TitlesOfParts>
    <vt:vector size="37" baseType="lpstr">
      <vt:lpstr>Arial</vt:lpstr>
      <vt:lpstr>Calibri</vt:lpstr>
      <vt:lpstr>Cambria Math</vt:lpstr>
      <vt:lpstr>Office Theme</vt:lpstr>
      <vt:lpstr>Optimization : Tutorial-1</vt:lpstr>
      <vt:lpstr>Contents for Today</vt:lpstr>
      <vt:lpstr>Model Formulation</vt:lpstr>
      <vt:lpstr>Exercise 1</vt:lpstr>
      <vt:lpstr>Exercise 1- solution</vt:lpstr>
      <vt:lpstr>Exercise 1- solution</vt:lpstr>
      <vt:lpstr>Exercise 2</vt:lpstr>
      <vt:lpstr>Exercise 2- solution</vt:lpstr>
      <vt:lpstr>Exercise 2- solution</vt:lpstr>
      <vt:lpstr>Exercise 2- solution</vt:lpstr>
      <vt:lpstr>Excel Exercise</vt:lpstr>
      <vt:lpstr>Excel Exercise Interpretation</vt:lpstr>
      <vt:lpstr>Excel Exercise Interpretation</vt:lpstr>
      <vt:lpstr>Excel Exercise Interpretation</vt:lpstr>
      <vt:lpstr>Excel Exercise Interpretation</vt:lpstr>
      <vt:lpstr>Excel Exercise Interpretation</vt:lpstr>
      <vt:lpstr>Excel Exercise Interpretation</vt:lpstr>
      <vt:lpstr>Excel Exercise Interpretation</vt:lpstr>
      <vt:lpstr>Excel Exercise Interpretation</vt:lpstr>
      <vt:lpstr>Excel Exercise Interpretation</vt:lpstr>
      <vt:lpstr>Excel Exercise Interpretation</vt:lpstr>
      <vt:lpstr>Excel Exercise Interpretation</vt:lpstr>
      <vt:lpstr>Transportation Problem</vt:lpstr>
      <vt:lpstr>Transportation Problem – Network Representation</vt:lpstr>
      <vt:lpstr>Transportation Problem – Example 1</vt:lpstr>
      <vt:lpstr>Transportation Problem – Example 1</vt:lpstr>
      <vt:lpstr>Transportation Problem – Example 1</vt:lpstr>
      <vt:lpstr>Transportation Problem – Example 2</vt:lpstr>
      <vt:lpstr>Transportation Problem – Example 2</vt:lpstr>
      <vt:lpstr>Transportation Problem – Example 2</vt:lpstr>
      <vt:lpstr>Duality</vt:lpstr>
      <vt:lpstr>Exercise 1</vt:lpstr>
      <vt:lpstr>Exercise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Abhishek Rishabh</dc:creator>
  <cp:lastModifiedBy>Abhishek Rishabh</cp:lastModifiedBy>
  <cp:revision>48</cp:revision>
  <cp:lastPrinted>2021-03-27T07:58:57Z</cp:lastPrinted>
  <dcterms:created xsi:type="dcterms:W3CDTF">2019-08-13T06:18:53Z</dcterms:created>
  <dcterms:modified xsi:type="dcterms:W3CDTF">2021-03-28T03:46:33Z</dcterms:modified>
</cp:coreProperties>
</file>