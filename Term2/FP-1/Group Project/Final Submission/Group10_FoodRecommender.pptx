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notesMasterIdLst>
    <p:notesMasterId r:id="rId30"/>
  </p:notesMasterIdLst>
  <p:sldIdLst>
    <p:sldId id="256" r:id="rId2"/>
    <p:sldId id="316" r:id="rId3"/>
    <p:sldId id="307" r:id="rId4"/>
    <p:sldId id="258" r:id="rId5"/>
    <p:sldId id="272" r:id="rId6"/>
    <p:sldId id="257" r:id="rId7"/>
    <p:sldId id="292" r:id="rId8"/>
    <p:sldId id="293" r:id="rId9"/>
    <p:sldId id="291" r:id="rId10"/>
    <p:sldId id="274" r:id="rId11"/>
    <p:sldId id="275" r:id="rId12"/>
    <p:sldId id="276" r:id="rId13"/>
    <p:sldId id="277" r:id="rId14"/>
    <p:sldId id="294" r:id="rId15"/>
    <p:sldId id="295" r:id="rId16"/>
    <p:sldId id="296" r:id="rId17"/>
    <p:sldId id="306" r:id="rId18"/>
    <p:sldId id="282" r:id="rId19"/>
    <p:sldId id="283" r:id="rId20"/>
    <p:sldId id="305" r:id="rId21"/>
    <p:sldId id="317" r:id="rId22"/>
    <p:sldId id="300" r:id="rId23"/>
    <p:sldId id="285" r:id="rId24"/>
    <p:sldId id="286" r:id="rId25"/>
    <p:sldId id="287" r:id="rId26"/>
    <p:sldId id="271" r:id="rId27"/>
    <p:sldId id="301" r:id="rId28"/>
    <p:sldId id="30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19BE49-B146-4692-8729-0AE70C761118}">
          <p14:sldIdLst>
            <p14:sldId id="256"/>
            <p14:sldId id="316"/>
            <p14:sldId id="307"/>
            <p14:sldId id="258"/>
            <p14:sldId id="272"/>
            <p14:sldId id="257"/>
            <p14:sldId id="292"/>
            <p14:sldId id="293"/>
            <p14:sldId id="291"/>
            <p14:sldId id="274"/>
            <p14:sldId id="275"/>
            <p14:sldId id="276"/>
            <p14:sldId id="277"/>
            <p14:sldId id="294"/>
            <p14:sldId id="295"/>
            <p14:sldId id="296"/>
            <p14:sldId id="306"/>
            <p14:sldId id="282"/>
          </p14:sldIdLst>
        </p14:section>
        <p14:section name="Untitled Section" id="{0AC7596F-E9B0-4A76-9D2E-A8ACC464A2A0}">
          <p14:sldIdLst>
            <p14:sldId id="283"/>
            <p14:sldId id="305"/>
            <p14:sldId id="317"/>
            <p14:sldId id="300"/>
          </p14:sldIdLst>
        </p14:section>
        <p14:section name="Untitled Section" id="{FA6364C3-8F28-45C5-9202-C5E071CE52B0}">
          <p14:sldIdLst>
            <p14:sldId id="285"/>
            <p14:sldId id="286"/>
            <p14:sldId id="287"/>
            <p14:sldId id="271"/>
            <p14:sldId id="301"/>
            <p14:sldId id="30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epkamal Singh" initials="DS" lastIdx="4" clrIdx="0">
    <p:extLst>
      <p:ext uri="{19B8F6BF-5375-455C-9EA6-DF929625EA0E}">
        <p15:presenceInfo xmlns:p15="http://schemas.microsoft.com/office/powerpoint/2012/main" userId="S::deepkamal_singh_ampba2021w@isb.edu::089d3af0-9505-4945-bb5d-798ae25c7f43" providerId="AD"/>
      </p:ext>
    </p:extLst>
  </p:cmAuthor>
  <p:cmAuthor id="2" name="Soumaya Ranjan" initials="SR" lastIdx="2" clrIdx="1">
    <p:extLst>
      <p:ext uri="{19B8F6BF-5375-455C-9EA6-DF929625EA0E}">
        <p15:presenceInfo xmlns:p15="http://schemas.microsoft.com/office/powerpoint/2012/main" userId="S::soumaya_ranjan_ampba2021w@isb.edu::8d3fe476-4465-4eaf-8762-ffac46e200c7" providerId="AD"/>
      </p:ext>
    </p:extLst>
  </p:cmAuthor>
  <p:cmAuthor id="3" name="Nidhi Srivastava" initials="NS" lastIdx="1" clrIdx="2">
    <p:extLst>
      <p:ext uri="{19B8F6BF-5375-455C-9EA6-DF929625EA0E}">
        <p15:presenceInfo xmlns:p15="http://schemas.microsoft.com/office/powerpoint/2012/main" userId="S::nidhi_srivastava_ampba2021w@isb.edu::332246a4-858f-42b1-b2e3-1b8c2b8fa7f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EA62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18"/>
    <p:restoredTop sz="91837"/>
  </p:normalViewPr>
  <p:slideViewPr>
    <p:cSldViewPr snapToGrid="0" snapToObjects="1">
      <p:cViewPr varScale="1">
        <p:scale>
          <a:sx n="117" d="100"/>
          <a:sy n="117" d="100"/>
        </p:scale>
        <p:origin x="12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820CBF-84C5-3E43-AEA6-8D86320EC407}" type="datetimeFigureOut">
              <a:rPr lang="en-US" smtClean="0"/>
              <a:t>6/18/21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7094A4-78D3-0143-9F61-AF68EC36BCD8}" type="slidenum">
              <a:rPr lang="en-US" smtClean="0"/>
              <a:t>‹#›</a:t>
            </a:fld>
            <a:endParaRPr lang="en-US"/>
          </a:p>
        </p:txBody>
      </p:sp>
    </p:spTree>
    <p:extLst>
      <p:ext uri="{BB962C8B-B14F-4D97-AF65-F5344CB8AC3E}">
        <p14:creationId xmlns:p14="http://schemas.microsoft.com/office/powerpoint/2010/main" val="3257733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1</a:t>
            </a:fld>
            <a:endParaRPr lang="en-US"/>
          </a:p>
        </p:txBody>
      </p:sp>
    </p:spTree>
    <p:extLst>
      <p:ext uri="{BB962C8B-B14F-4D97-AF65-F5344CB8AC3E}">
        <p14:creationId xmlns:p14="http://schemas.microsoft.com/office/powerpoint/2010/main" val="2072820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57094A4-78D3-0143-9F61-AF68EC36BCD8}" type="slidenum">
              <a:rPr lang="en-US" smtClean="0"/>
              <a:t>2</a:t>
            </a:fld>
            <a:endParaRPr lang="en-US"/>
          </a:p>
        </p:txBody>
      </p:sp>
    </p:spTree>
    <p:extLst>
      <p:ext uri="{BB962C8B-B14F-4D97-AF65-F5344CB8AC3E}">
        <p14:creationId xmlns:p14="http://schemas.microsoft.com/office/powerpoint/2010/main" val="1961152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growth at an ingredient level (ALS –Using Netflix)</a:t>
            </a:r>
          </a:p>
          <a:p>
            <a:r>
              <a:rPr lang="en-US"/>
              <a:t>Live A &amp; B testing—Differently tuned parameters…Evaluation based on model performance --Learning</a:t>
            </a:r>
          </a:p>
          <a:p>
            <a:endParaRPr lang="en-US"/>
          </a:p>
          <a:p>
            <a:endParaRPr lang="en-US"/>
          </a:p>
          <a:p>
            <a:r>
              <a:rPr lang="en-US" dirty="0"/>
              <a:t>https://</a:t>
            </a:r>
            <a:r>
              <a:rPr lang="en-US"/>
              <a:t>ijarcce.com</a:t>
            </a:r>
            <a:r>
              <a:rPr lang="en-US" dirty="0"/>
              <a:t>/upload/2017/april-17/IJARCCE%202.pdf</a:t>
            </a:r>
          </a:p>
          <a:p>
            <a:r>
              <a:rPr lang="en-US" dirty="0"/>
              <a:t>. Collaborative filtering approaches building a model from a </a:t>
            </a:r>
            <a:r>
              <a:rPr lang="en-US" dirty="0" err="1"/>
              <a:t>user‟s</a:t>
            </a:r>
            <a:r>
              <a:rPr lang="en-US" dirty="0"/>
              <a:t> past </a:t>
            </a:r>
            <a:r>
              <a:rPr lang="en-US" dirty="0" err="1"/>
              <a:t>behaviour</a:t>
            </a:r>
            <a:r>
              <a:rPr lang="en-US" dirty="0"/>
              <a:t> (items previously purchased or selected and/or numerical ratings given to those items) as well as similar decisions made by other users. This model is then used to predict items (or ratings for items) that the user may have an interest </a:t>
            </a:r>
            <a:r>
              <a:rPr lang="en-US"/>
              <a:t>in. Content</a:t>
            </a:r>
            <a:r>
              <a:rPr lang="en-US" dirty="0"/>
              <a:t>-based filtering approaches utilize a series of discrete characteristics of an item in order to recommend additional items with similar properties. Combination of these two systems is Hybrid system</a:t>
            </a:r>
          </a:p>
          <a:p>
            <a:endParaRPr lang="en-US" dirty="0"/>
          </a:p>
          <a:p>
            <a:r>
              <a:rPr lang="en-US" dirty="0"/>
              <a:t>Different people have different food preferences and dietary restrictions. A noticeable similarity is found in people belonging to same categories based on attributes like age, native place, gender, work-type, etc. which can help to relate individuals and their dietary </a:t>
            </a:r>
            <a:r>
              <a:rPr lang="en-US" dirty="0" err="1"/>
              <a:t>preferences.A</a:t>
            </a:r>
            <a:r>
              <a:rPr lang="en-US" dirty="0"/>
              <a:t> collaborative IJARCCE ISSN (Online) 2278-1021 ISSN (Print) 2319 5940 International Journal of Advanced Research in Computer and Communication Engineering ISO 3297:2007 Certified Vol. 6, Issue 4, April 2017 Copyright to IJARCCE DOI10.17148/IJARCCE.2017.6402 7 approach based recommendation system can be designed to provide restaurant recommendations to people based on their preferences </a:t>
            </a:r>
            <a:r>
              <a:rPr lang="en-US" dirty="0" err="1"/>
              <a:t>andpast</a:t>
            </a:r>
            <a:r>
              <a:rPr lang="en-US" dirty="0"/>
              <a:t> history.</a:t>
            </a:r>
          </a:p>
        </p:txBody>
      </p:sp>
      <p:sp>
        <p:nvSpPr>
          <p:cNvPr id="4" name="Slide Number Placeholder 3"/>
          <p:cNvSpPr>
            <a:spLocks noGrp="1"/>
          </p:cNvSpPr>
          <p:nvPr>
            <p:ph type="sldNum" sz="quarter" idx="5"/>
          </p:nvPr>
        </p:nvSpPr>
        <p:spPr/>
        <p:txBody>
          <a:bodyPr/>
          <a:lstStyle/>
          <a:p>
            <a:fld id="{257094A4-78D3-0143-9F61-AF68EC36BCD8}" type="slidenum">
              <a:rPr lang="en-US" smtClean="0"/>
              <a:t>3</a:t>
            </a:fld>
            <a:endParaRPr lang="en-US"/>
          </a:p>
        </p:txBody>
      </p:sp>
    </p:spTree>
    <p:extLst>
      <p:ext uri="{BB962C8B-B14F-4D97-AF65-F5344CB8AC3E}">
        <p14:creationId xmlns:p14="http://schemas.microsoft.com/office/powerpoint/2010/main" val="4147664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Could not rea predict the ..we 80% Accuracy and 0.3 should be click through rate</a:t>
            </a:r>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6</a:t>
            </a:fld>
            <a:endParaRPr lang="en-US"/>
          </a:p>
        </p:txBody>
      </p:sp>
    </p:spTree>
    <p:extLst>
      <p:ext uri="{BB962C8B-B14F-4D97-AF65-F5344CB8AC3E}">
        <p14:creationId xmlns:p14="http://schemas.microsoft.com/office/powerpoint/2010/main" val="307633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rgbClr val="0D5571"/>
                </a:solidFill>
                <a:effectLst/>
                <a:latin typeface="Century Gothic" panose="020B0502020202020204" pitchFamily="34" charset="0"/>
                <a:ea typeface="Times New Roman" panose="02020603050405020304" pitchFamily="18" charset="0"/>
                <a:cs typeface="Times New Roman" panose="02020603050405020304" pitchFamily="18" charset="0"/>
              </a:rPr>
              <a:t>Applicability of ML technology </a:t>
            </a:r>
            <a:endParaRPr lang="en-US" sz="1800" b="1" dirty="0">
              <a:solidFill>
                <a:srgbClr val="0D5571"/>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US" sz="1800" dirty="0">
              <a:effectLst/>
              <a:latin typeface="Calibri" panose="020F0502020204030204" pitchFamily="34" charset="0"/>
              <a:ea typeface="Century Gothic" panose="020B050202020202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Many food outlets / aggregators have tons of users and therefore tons of data. However, the virtuous cycle (More data-</a:t>
            </a:r>
            <a:r>
              <a:rPr lang="en-US" sz="1800" dirty="0" err="1">
                <a:effectLst/>
                <a:latin typeface="Wingdings" panose="05000000000000000000" pitchFamily="2" charset="2"/>
                <a:ea typeface="Wingdings" panose="05000000000000000000" pitchFamily="2" charset="2"/>
                <a:cs typeface="Wingdings" panose="05000000000000000000" pitchFamily="2" charset="2"/>
              </a:rPr>
              <a:t>à</a:t>
            </a:r>
            <a:r>
              <a:rPr lang="en-US" sz="1800" dirty="0">
                <a:effectLst/>
                <a:latin typeface="Calibri" panose="020F0502020204030204" pitchFamily="34" charset="0"/>
                <a:ea typeface="Century Gothic" panose="020B0502020202020204" pitchFamily="34" charset="0"/>
                <a:cs typeface="Times New Roman" panose="02020603050405020304" pitchFamily="18" charset="0"/>
              </a:rPr>
              <a:t> Better and Customized offerings-</a:t>
            </a:r>
            <a:r>
              <a:rPr lang="en-US" sz="1800" dirty="0" err="1">
                <a:effectLst/>
                <a:latin typeface="Wingdings" panose="05000000000000000000" pitchFamily="2" charset="2"/>
                <a:ea typeface="Wingdings" panose="05000000000000000000" pitchFamily="2" charset="2"/>
                <a:cs typeface="Wingdings" panose="05000000000000000000" pitchFamily="2" charset="2"/>
              </a:rPr>
              <a:t>à</a:t>
            </a:r>
            <a:r>
              <a:rPr lang="en-US" sz="1800" dirty="0">
                <a:effectLst/>
                <a:latin typeface="Calibri" panose="020F0502020204030204" pitchFamily="34" charset="0"/>
                <a:ea typeface="Century Gothic" panose="020B0502020202020204" pitchFamily="34" charset="0"/>
                <a:cs typeface="Times New Roman" panose="02020603050405020304" pitchFamily="18" charset="0"/>
              </a:rPr>
              <a:t> More Users -</a:t>
            </a:r>
            <a:r>
              <a:rPr lang="en-US" sz="1800" dirty="0" err="1">
                <a:effectLst/>
                <a:latin typeface="Wingdings" panose="05000000000000000000" pitchFamily="2" charset="2"/>
                <a:ea typeface="Wingdings" panose="05000000000000000000" pitchFamily="2" charset="2"/>
                <a:cs typeface="Wingdings" panose="05000000000000000000" pitchFamily="2" charset="2"/>
              </a:rPr>
              <a:t>à</a:t>
            </a:r>
            <a:r>
              <a:rPr lang="en-US" sz="1800" dirty="0" err="1">
                <a:effectLst/>
                <a:latin typeface="Calibri" panose="020F0502020204030204" pitchFamily="34" charset="0"/>
                <a:ea typeface="Century Gothic" panose="020B0502020202020204" pitchFamily="34" charset="0"/>
                <a:cs typeface="Times New Roman" panose="02020603050405020304" pitchFamily="18" charset="0"/>
              </a:rPr>
              <a:t>More</a:t>
            </a:r>
            <a:r>
              <a:rPr lang="en-US" sz="1800" dirty="0">
                <a:effectLst/>
                <a:latin typeface="Calibri" panose="020F0502020204030204" pitchFamily="34" charset="0"/>
                <a:ea typeface="Century Gothic" panose="020B0502020202020204" pitchFamily="34" charset="0"/>
                <a:cs typeface="Times New Roman" panose="02020603050405020304" pitchFamily="18" charset="0"/>
              </a:rPr>
              <a:t> data) has not picked because of the lack of knowledge on how to convert their user data </a:t>
            </a:r>
            <a:r>
              <a:rPr lang="en-US" sz="1800" u="sng" dirty="0">
                <a:effectLst/>
                <a:latin typeface="Calibri" panose="020F0502020204030204" pitchFamily="34" charset="0"/>
                <a:ea typeface="Century Gothic" panose="020B0502020202020204" pitchFamily="34" charset="0"/>
                <a:cs typeface="Times New Roman" panose="02020603050405020304" pitchFamily="18" charset="0"/>
              </a:rPr>
              <a:t>into actionable insights at a feature level (e.g.: cuisine level)</a:t>
            </a:r>
            <a:r>
              <a:rPr lang="en-US" sz="1800" dirty="0">
                <a:effectLst/>
                <a:latin typeface="Calibri" panose="020F0502020204030204" pitchFamily="34" charset="0"/>
                <a:ea typeface="Century Gothic" panose="020B0502020202020204" pitchFamily="34" charset="0"/>
                <a:cs typeface="Times New Roman" panose="02020603050405020304" pitchFamily="18" charset="0"/>
              </a:rPr>
              <a:t>, which can then be used to improve their product or services. </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ML based technology goes beyond the traditional ranking mechanism of ratings and location allows to rank the prefiltered dish and restaurant candidates </a:t>
            </a:r>
            <a:r>
              <a:rPr lang="en-US" sz="1800" u="sng" dirty="0">
                <a:effectLst/>
                <a:latin typeface="Calibri" panose="020F0502020204030204" pitchFamily="34" charset="0"/>
                <a:ea typeface="Century Gothic" panose="020B0502020202020204" pitchFamily="34" charset="0"/>
                <a:cs typeface="Times New Roman" panose="02020603050405020304" pitchFamily="18" charset="0"/>
              </a:rPr>
              <a:t>based on additional contextual information</a:t>
            </a:r>
            <a:r>
              <a:rPr lang="en-US" sz="1800" dirty="0">
                <a:effectLst/>
                <a:latin typeface="Calibri" panose="020F0502020204030204" pitchFamily="34" charset="0"/>
                <a:ea typeface="Century Gothic" panose="020B0502020202020204" pitchFamily="34" charset="0"/>
                <a:cs typeface="Times New Roman" panose="02020603050405020304" pitchFamily="18" charset="0"/>
              </a:rPr>
              <a:t> such as day, mood, season, user information like allergies etc. ML based technology leverages many supervised classification methods for ranking and some of the techniques used are Logistic regressions, Support Vector mechanism, Decision tree-based method such as Gradient Boosting </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endParaRPr lang="en-US" dirty="0"/>
          </a:p>
          <a:p>
            <a:endParaRPr lang="en-US" dirty="0"/>
          </a:p>
          <a:p>
            <a:endParaRPr lang="en-US" dirty="0"/>
          </a:p>
          <a:p>
            <a:r>
              <a:rPr lang="en-US" dirty="0"/>
              <a:t>Legal Constraints:</a:t>
            </a:r>
          </a:p>
          <a:p>
            <a:endParaRPr lang="en-US" dirty="0"/>
          </a:p>
          <a:p>
            <a:r>
              <a:rPr lang="en-US" dirty="0"/>
              <a:t>The legal constraints are more around “User privacy” for recommendation systems. These can be classified into 3 broad categories architectures, algorithmic, and policy approaches</a:t>
            </a:r>
          </a:p>
          <a:p>
            <a:r>
              <a:rPr lang="en-US" dirty="0"/>
              <a:t>	Non adherence to policy approaches, including GDPR legislation, i.e. lack of explicit guidelines and sanctions to clearly provide information and regulate data collection, use, and storage</a:t>
            </a:r>
          </a:p>
          <a:p>
            <a:r>
              <a:rPr lang="en-US" dirty="0"/>
              <a:t>	Inadequate Privacy-enhancing architectures- privacy risks of storing user data in separate and decentralized databases,</a:t>
            </a:r>
          </a:p>
          <a:p>
            <a:r>
              <a:rPr lang="en-US" dirty="0"/>
              <a:t>	Improper algorithmic solution (encryption) with the risk of losing the data to external agents for unwarranted usage</a:t>
            </a:r>
          </a:p>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7</a:t>
            </a:fld>
            <a:endParaRPr lang="en-US"/>
          </a:p>
        </p:txBody>
      </p:sp>
    </p:spTree>
    <p:extLst>
      <p:ext uri="{BB962C8B-B14F-4D97-AF65-F5344CB8AC3E}">
        <p14:creationId xmlns:p14="http://schemas.microsoft.com/office/powerpoint/2010/main" val="2309149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www.talend.com</a:t>
            </a:r>
            <a:r>
              <a:rPr lang="en-US" dirty="0"/>
              <a:t>/resources/machine-learning-data-quality/</a:t>
            </a:r>
          </a:p>
          <a:p>
            <a:r>
              <a:rPr lang="en-US" dirty="0"/>
              <a:t>https://</a:t>
            </a:r>
            <a:r>
              <a:rPr lang="en-US" dirty="0" err="1"/>
              <a:t>mobidev.biz</a:t>
            </a:r>
            <a:r>
              <a:rPr lang="en-US" dirty="0"/>
              <a:t>/blog/unsupervised-machine-learning-improve-data-quality</a:t>
            </a:r>
          </a:p>
          <a:p>
            <a:endParaRPr lang="en-US" dirty="0"/>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Adequacy of data in volume of machine learning</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lang="en-US" sz="1200" dirty="0">
                <a:solidFill>
                  <a:srgbClr val="2E2E38"/>
                </a:solidFill>
                <a:latin typeface="Calibri" panose="020F0502020204030204" pitchFamily="34" charset="0"/>
                <a:cs typeface="Calibri" panose="020F0502020204030204" pitchFamily="34" charset="0"/>
              </a:rPr>
              <a:t>Relevancy of data in terms of  ratings, reviews, food items data</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Consistency of data  </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Anomaly detection</a:t>
            </a:r>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8</a:t>
            </a:fld>
            <a:endParaRPr lang="en-US"/>
          </a:p>
        </p:txBody>
      </p:sp>
    </p:spTree>
    <p:extLst>
      <p:ext uri="{BB962C8B-B14F-4D97-AF65-F5344CB8AC3E}">
        <p14:creationId xmlns:p14="http://schemas.microsoft.com/office/powerpoint/2010/main" val="4217720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ts val="2400"/>
              </a:lnSpc>
              <a:spcBef>
                <a:spcPts val="2400"/>
              </a:spcBef>
              <a:spcAft>
                <a:spcPts val="0"/>
              </a:spcAft>
            </a:pPr>
            <a:endPar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marR="0">
              <a:lnSpc>
                <a:spcPts val="2400"/>
              </a:lnSpc>
              <a:spcBef>
                <a:spcPts val="2400"/>
              </a:spcBef>
              <a:spcAft>
                <a:spcPts val="0"/>
              </a:spcAft>
            </a:pPr>
            <a:r>
              <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https://machinelearningmastery.com/standardscaler-and-minmaxscaler-transforms-in-python/</a:t>
            </a:r>
          </a:p>
          <a:p>
            <a:pPr marL="0" marR="0">
              <a:lnSpc>
                <a:spcPts val="2400"/>
              </a:lnSpc>
              <a:spcBef>
                <a:spcPts val="2400"/>
              </a:spcBef>
              <a:spcAft>
                <a:spcPts val="0"/>
              </a:spcAft>
            </a:pPr>
            <a:endPar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marR="0">
              <a:lnSpc>
                <a:spcPts val="2400"/>
              </a:lnSpc>
              <a:spcBef>
                <a:spcPts val="2400"/>
              </a:spcBef>
              <a:spcAft>
                <a:spcPts val="0"/>
              </a:spcAft>
            </a:pPr>
            <a:endPar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marR="0">
              <a:lnSpc>
                <a:spcPts val="2400"/>
              </a:lnSpc>
              <a:spcBef>
                <a:spcPts val="2400"/>
              </a:spcBef>
              <a:spcAft>
                <a:spcPts val="0"/>
              </a:spcAft>
            </a:pPr>
            <a:endPar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marR="0">
              <a:lnSpc>
                <a:spcPts val="2400"/>
              </a:lnSpc>
              <a:spcBef>
                <a:spcPts val="2400"/>
              </a:spcBef>
              <a:spcAft>
                <a:spcPts val="0"/>
              </a:spcAft>
            </a:pPr>
            <a:endPar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marR="0">
              <a:lnSpc>
                <a:spcPts val="2400"/>
              </a:lnSpc>
              <a:spcBef>
                <a:spcPts val="2400"/>
              </a:spcBef>
              <a:spcAft>
                <a:spcPts val="0"/>
              </a:spcAft>
            </a:pPr>
            <a:r>
              <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Oversampling can be defined as adding more copies of the minority class. Oversampling can be a good choice when you don’t have a ton of data to work with.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2400"/>
              </a:lnSpc>
              <a:spcBef>
                <a:spcPts val="2400"/>
              </a:spcBef>
              <a:spcAft>
                <a:spcPts val="0"/>
              </a:spcAft>
            </a:pPr>
            <a:r>
              <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We will use the resampling module from Scikit-Learn to randomly replicate samples from the minority class.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2100"/>
              </a:lnSpc>
              <a:spcBef>
                <a:spcPts val="2065"/>
              </a:spcBef>
              <a:spcAft>
                <a:spcPts val="0"/>
              </a:spcAft>
            </a:pPr>
            <a:r>
              <a:rPr lang="en-US" sz="1800" i="1">
                <a:solidFill>
                  <a:srgbClr val="292929"/>
                </a:solidFill>
                <a:effectLst/>
                <a:latin typeface="Helvetica" panose="020B0604020202020204" pitchFamily="34" charset="0"/>
                <a:ea typeface="Times New Roman" panose="02020603050405020304" pitchFamily="18" charset="0"/>
                <a:cs typeface="Times New Roman" panose="02020603050405020304" pitchFamily="18" charset="0"/>
              </a:rPr>
              <a:t>Important Note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2400"/>
              </a:lnSpc>
              <a:spcBef>
                <a:spcPts val="1030"/>
              </a:spcBef>
              <a:spcAft>
                <a:spcPts val="0"/>
              </a:spcAft>
            </a:pPr>
            <a:r>
              <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Always split into test and train sets BEFORE trying oversampling techniques! Oversampling before splitting the data can allow the exact same observations to be present in both the test and train sets. This can allow our model to simply memorize specific data points and cause overfitting and poor generalization to the test data.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2400"/>
              </a:lnSpc>
              <a:spcBef>
                <a:spcPts val="2400"/>
              </a:spcBef>
              <a:spcAft>
                <a:spcPts val="0"/>
              </a:spcAft>
            </a:pPr>
            <a:r>
              <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After resampling we have an equal ratio of data points for each class! Let’s try our logistic regression again with the balanced training data.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2400"/>
              </a:lnSpc>
              <a:spcBef>
                <a:spcPts val="2400"/>
              </a:spcBef>
              <a:spcAft>
                <a:spcPts val="0"/>
              </a:spcAft>
            </a:pPr>
            <a:r>
              <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Our recall score increased, but F1 is much lower than with either our baseline logistic regression or random forest from above. Let’s see if </a:t>
            </a:r>
            <a:r>
              <a:rPr lang="en-US" sz="1800" spc="-5" err="1">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undersampling</a:t>
            </a:r>
            <a:r>
              <a:rPr lang="en-US" sz="1800" spc="-5">
                <a:solidFill>
                  <a:srgbClr val="292929"/>
                </a:solidFill>
                <a:effectLst/>
                <a:latin typeface="Georgia" panose="02040502050405020303" pitchFamily="18" charset="0"/>
                <a:ea typeface="Times New Roman" panose="02020603050405020304" pitchFamily="18" charset="0"/>
                <a:cs typeface="Times New Roman" panose="02020603050405020304" pitchFamily="18" charset="0"/>
              </a:rPr>
              <a:t> might perform better here.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257094A4-78D3-0143-9F61-AF68EC36BCD8}" type="slidenum">
              <a:rPr lang="en-US" smtClean="0"/>
              <a:t>11</a:t>
            </a:fld>
            <a:endParaRPr lang="en-US"/>
          </a:p>
        </p:txBody>
      </p:sp>
    </p:spTree>
    <p:extLst>
      <p:ext uri="{BB962C8B-B14F-4D97-AF65-F5344CB8AC3E}">
        <p14:creationId xmlns:p14="http://schemas.microsoft.com/office/powerpoint/2010/main" val="3297796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13</a:t>
            </a:fld>
            <a:endParaRPr lang="en-US"/>
          </a:p>
        </p:txBody>
      </p:sp>
    </p:spTree>
    <p:extLst>
      <p:ext uri="{BB962C8B-B14F-4D97-AF65-F5344CB8AC3E}">
        <p14:creationId xmlns:p14="http://schemas.microsoft.com/office/powerpoint/2010/main" val="1980589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14</a:t>
            </a:fld>
            <a:endParaRPr lang="en-US"/>
          </a:p>
        </p:txBody>
      </p:sp>
    </p:spTree>
    <p:extLst>
      <p:ext uri="{BB962C8B-B14F-4D97-AF65-F5344CB8AC3E}">
        <p14:creationId xmlns:p14="http://schemas.microsoft.com/office/powerpoint/2010/main" val="2824756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Recommender Systems</a:t>
            </a:r>
          </a:p>
          <a:p>
            <a:r>
              <a:rPr lang="en-IN" sz="1200" kern="1200" dirty="0">
                <a:solidFill>
                  <a:schemeClr val="tx1"/>
                </a:solidFill>
                <a:effectLst/>
                <a:latin typeface="+mn-lt"/>
                <a:ea typeface="+mn-ea"/>
                <a:cs typeface="+mn-cs"/>
              </a:rPr>
              <a:t>– Content Filtering</a:t>
            </a:r>
          </a:p>
          <a:p>
            <a:r>
              <a:rPr lang="en-IN" sz="1200" kern="1200" dirty="0">
                <a:solidFill>
                  <a:schemeClr val="tx1"/>
                </a:solidFill>
                <a:effectLst/>
                <a:latin typeface="+mn-lt"/>
                <a:ea typeface="+mn-ea"/>
                <a:cs typeface="+mn-cs"/>
              </a:rPr>
              <a:t>– Collaborative Filtering (CF)</a:t>
            </a:r>
          </a:p>
          <a:p>
            <a:r>
              <a:rPr lang="en-IN" sz="1200" kern="1200" dirty="0">
                <a:solidFill>
                  <a:schemeClr val="tx1"/>
                </a:solidFill>
                <a:effectLst/>
                <a:latin typeface="+mn-lt"/>
                <a:ea typeface="+mn-ea"/>
                <a:cs typeface="+mn-cs"/>
              </a:rPr>
              <a:t>– CF: </a:t>
            </a:r>
            <a:r>
              <a:rPr lang="en-IN" sz="1200" kern="1200" dirty="0" err="1">
                <a:solidFill>
                  <a:schemeClr val="tx1"/>
                </a:solidFill>
                <a:effectLst/>
                <a:latin typeface="+mn-lt"/>
                <a:ea typeface="+mn-ea"/>
                <a:cs typeface="+mn-cs"/>
              </a:rPr>
              <a:t>Neighborhood</a:t>
            </a:r>
            <a:r>
              <a:rPr lang="en-IN" sz="1200" kern="1200" dirty="0">
                <a:solidFill>
                  <a:schemeClr val="tx1"/>
                </a:solidFill>
                <a:effectLst/>
                <a:latin typeface="+mn-lt"/>
                <a:ea typeface="+mn-ea"/>
                <a:cs typeface="+mn-cs"/>
              </a:rPr>
              <a:t> Methods</a:t>
            </a:r>
          </a:p>
          <a:p>
            <a:r>
              <a:rPr lang="en-IN" sz="1200" kern="1200" dirty="0">
                <a:solidFill>
                  <a:schemeClr val="tx1"/>
                </a:solidFill>
                <a:effectLst/>
                <a:latin typeface="+mn-lt"/>
                <a:ea typeface="+mn-ea"/>
                <a:cs typeface="+mn-cs"/>
              </a:rPr>
              <a:t>– CF: Latent Factor Methods</a:t>
            </a:r>
          </a:p>
          <a:p>
            <a:endParaRPr lang="en-US" dirty="0"/>
          </a:p>
          <a:p>
            <a:r>
              <a:rPr lang="en-IN" sz="1200" kern="1200" dirty="0">
                <a:solidFill>
                  <a:schemeClr val="tx1"/>
                </a:solidFill>
                <a:effectLst/>
                <a:latin typeface="+mn-lt"/>
                <a:ea typeface="+mn-ea"/>
                <a:cs typeface="+mn-cs"/>
              </a:rPr>
              <a:t>1. Implement the ALS-WR</a:t>
            </a:r>
          </a:p>
          <a:p>
            <a:r>
              <a:rPr lang="en-IN" sz="1200" kern="1200" dirty="0">
                <a:solidFill>
                  <a:schemeClr val="tx1"/>
                </a:solidFill>
                <a:effectLst/>
                <a:latin typeface="+mn-lt"/>
                <a:ea typeface="+mn-ea"/>
                <a:cs typeface="+mn-cs"/>
              </a:rPr>
              <a:t>2. Implement FPM</a:t>
            </a:r>
          </a:p>
          <a:p>
            <a:r>
              <a:rPr lang="en-IN" sz="1200" kern="1200" dirty="0">
                <a:solidFill>
                  <a:schemeClr val="tx1"/>
                </a:solidFill>
                <a:effectLst/>
                <a:latin typeface="+mn-lt"/>
                <a:ea typeface="+mn-ea"/>
                <a:cs typeface="+mn-cs"/>
              </a:rPr>
              <a:t>3. Consolidate recommendations from ALS-WR on user rating, restaurant rating, and FPM on order item associations and food ingredient associations</a:t>
            </a:r>
          </a:p>
          <a:p>
            <a:r>
              <a:rPr lang="en-IN" sz="1200" kern="1200" dirty="0">
                <a:solidFill>
                  <a:schemeClr val="tx1"/>
                </a:solidFill>
                <a:effectLst/>
                <a:latin typeface="+mn-lt"/>
                <a:ea typeface="+mn-ea"/>
                <a:cs typeface="+mn-cs"/>
              </a:rPr>
              <a:t>4. Recommend highest weighted recommendations from the set</a:t>
            </a:r>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15</a:t>
            </a:fld>
            <a:endParaRPr lang="en-US"/>
          </a:p>
        </p:txBody>
      </p:sp>
    </p:spTree>
    <p:extLst>
      <p:ext uri="{BB962C8B-B14F-4D97-AF65-F5344CB8AC3E}">
        <p14:creationId xmlns:p14="http://schemas.microsoft.com/office/powerpoint/2010/main" val="2639430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16</a:t>
            </a:fld>
            <a:endParaRPr lang="en-US"/>
          </a:p>
        </p:txBody>
      </p:sp>
    </p:spTree>
    <p:extLst>
      <p:ext uri="{BB962C8B-B14F-4D97-AF65-F5344CB8AC3E}">
        <p14:creationId xmlns:p14="http://schemas.microsoft.com/office/powerpoint/2010/main" val="3953241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17</a:t>
            </a:fld>
            <a:endParaRPr lang="en-US"/>
          </a:p>
        </p:txBody>
      </p:sp>
    </p:spTree>
    <p:extLst>
      <p:ext uri="{BB962C8B-B14F-4D97-AF65-F5344CB8AC3E}">
        <p14:creationId xmlns:p14="http://schemas.microsoft.com/office/powerpoint/2010/main" val="2158466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20</a:t>
            </a:fld>
            <a:endParaRPr lang="en-US"/>
          </a:p>
        </p:txBody>
      </p:sp>
    </p:spTree>
    <p:extLst>
      <p:ext uri="{BB962C8B-B14F-4D97-AF65-F5344CB8AC3E}">
        <p14:creationId xmlns:p14="http://schemas.microsoft.com/office/powerpoint/2010/main" val="636365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21</a:t>
            </a:fld>
            <a:endParaRPr lang="en-US"/>
          </a:p>
        </p:txBody>
      </p:sp>
    </p:spTree>
    <p:extLst>
      <p:ext uri="{BB962C8B-B14F-4D97-AF65-F5344CB8AC3E}">
        <p14:creationId xmlns:p14="http://schemas.microsoft.com/office/powerpoint/2010/main" val="472091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22</a:t>
            </a:fld>
            <a:endParaRPr lang="en-US"/>
          </a:p>
        </p:txBody>
      </p:sp>
    </p:spTree>
    <p:extLst>
      <p:ext uri="{BB962C8B-B14F-4D97-AF65-F5344CB8AC3E}">
        <p14:creationId xmlns:p14="http://schemas.microsoft.com/office/powerpoint/2010/main" val="657047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25</a:t>
            </a:fld>
            <a:endParaRPr lang="en-US"/>
          </a:p>
        </p:txBody>
      </p:sp>
    </p:spTree>
    <p:extLst>
      <p:ext uri="{BB962C8B-B14F-4D97-AF65-F5344CB8AC3E}">
        <p14:creationId xmlns:p14="http://schemas.microsoft.com/office/powerpoint/2010/main" val="38264241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094A4-78D3-0143-9F61-AF68EC36BCD8}" type="slidenum">
              <a:rPr lang="en-US" smtClean="0"/>
              <a:t>27</a:t>
            </a:fld>
            <a:endParaRPr lang="en-US"/>
          </a:p>
        </p:txBody>
      </p:sp>
    </p:spTree>
    <p:extLst>
      <p:ext uri="{BB962C8B-B14F-4D97-AF65-F5344CB8AC3E}">
        <p14:creationId xmlns:p14="http://schemas.microsoft.com/office/powerpoint/2010/main" val="3227596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towardsdatascience.com</a:t>
            </a:r>
            <a:r>
              <a:rPr lang="en-US" dirty="0"/>
              <a:t>/understanding-feature-engineering-part-1-continuous-numeric-data-da4e47099a7b</a:t>
            </a:r>
          </a:p>
        </p:txBody>
      </p:sp>
      <p:sp>
        <p:nvSpPr>
          <p:cNvPr id="4" name="Slide Number Placeholder 3"/>
          <p:cNvSpPr>
            <a:spLocks noGrp="1"/>
          </p:cNvSpPr>
          <p:nvPr>
            <p:ph type="sldNum" sz="quarter" idx="5"/>
          </p:nvPr>
        </p:nvSpPr>
        <p:spPr/>
        <p:txBody>
          <a:bodyPr/>
          <a:lstStyle/>
          <a:p>
            <a:fld id="{257094A4-78D3-0143-9F61-AF68EC36BCD8}" type="slidenum">
              <a:rPr lang="en-US" smtClean="0"/>
              <a:t>28</a:t>
            </a:fld>
            <a:endParaRPr lang="en-US"/>
          </a:p>
        </p:txBody>
      </p:sp>
    </p:spTree>
    <p:extLst>
      <p:ext uri="{BB962C8B-B14F-4D97-AF65-F5344CB8AC3E}">
        <p14:creationId xmlns:p14="http://schemas.microsoft.com/office/powerpoint/2010/main" val="1679108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_01">
    <p:spTree>
      <p:nvGrpSpPr>
        <p:cNvPr id="1" name=""/>
        <p:cNvGrpSpPr/>
        <p:nvPr/>
      </p:nvGrpSpPr>
      <p:grpSpPr>
        <a:xfrm>
          <a:off x="0" y="0"/>
          <a:ext cx="0" cy="0"/>
          <a:chOff x="0" y="0"/>
          <a:chExt cx="0" cy="0"/>
        </a:xfrm>
      </p:grpSpPr>
      <p:pic>
        <p:nvPicPr>
          <p:cNvPr id="5" name="Picture 4" descr="company_overview_1402X1052_01.jpg"/>
          <p:cNvPicPr>
            <a:picLocks noChangeAspect="1"/>
          </p:cNvPicPr>
          <p:nvPr/>
        </p:nvPicPr>
        <p:blipFill>
          <a:blip r:embed="rId2" cstate="print"/>
          <a:srcRect/>
          <a:stretch>
            <a:fillRect/>
          </a:stretch>
        </p:blipFill>
        <p:spPr bwMode="auto">
          <a:xfrm>
            <a:off x="4234" y="0"/>
            <a:ext cx="12187767" cy="6858000"/>
          </a:xfrm>
          <a:prstGeom prst="rect">
            <a:avLst/>
          </a:prstGeom>
          <a:noFill/>
          <a:ln w="9525">
            <a:noFill/>
            <a:miter lim="800000"/>
            <a:headEnd/>
            <a:tailEnd/>
          </a:ln>
        </p:spPr>
      </p:pic>
      <p:sp>
        <p:nvSpPr>
          <p:cNvPr id="17" name="Text Placeholder 16"/>
          <p:cNvSpPr>
            <a:spLocks noGrp="1"/>
          </p:cNvSpPr>
          <p:nvPr>
            <p:ph type="body" sz="quarter" idx="11" hasCustomPrompt="1"/>
          </p:nvPr>
        </p:nvSpPr>
        <p:spPr>
          <a:xfrm>
            <a:off x="4080020" y="4722408"/>
            <a:ext cx="2133600" cy="182880"/>
          </a:xfrm>
        </p:spPr>
        <p:txBody>
          <a:bodyPr anchor="ctr" anchorCtr="0">
            <a:noAutofit/>
          </a:bodyPr>
          <a:lstStyle>
            <a:lvl1pPr>
              <a:defRPr sz="1200"/>
            </a:lvl1pPr>
            <a:lvl2pPr>
              <a:defRPr sz="1200"/>
            </a:lvl2pPr>
            <a:lvl3pPr>
              <a:defRPr sz="1200"/>
            </a:lvl3pPr>
            <a:lvl4pPr>
              <a:defRPr sz="1200"/>
            </a:lvl4pPr>
            <a:lvl5pPr>
              <a:defRPr sz="1200"/>
            </a:lvl5pPr>
          </a:lstStyle>
          <a:p>
            <a:pPr lvl="0"/>
            <a:r>
              <a:rPr lang="en-US"/>
              <a:t>Edit date</a:t>
            </a:r>
          </a:p>
        </p:txBody>
      </p:sp>
      <p:sp>
        <p:nvSpPr>
          <p:cNvPr id="2" name="Title 1"/>
          <p:cNvSpPr>
            <a:spLocks noGrp="1"/>
          </p:cNvSpPr>
          <p:nvPr>
            <p:ph type="title" hasCustomPrompt="1"/>
          </p:nvPr>
        </p:nvSpPr>
        <p:spPr>
          <a:xfrm>
            <a:off x="3778966" y="3046065"/>
            <a:ext cx="7054135" cy="649224"/>
          </a:xfrm>
        </p:spPr>
        <p:txBody>
          <a:bodyPr>
            <a:noAutofit/>
          </a:bodyPr>
          <a:lstStyle>
            <a:lvl1pPr marL="0" indent="0">
              <a:tabLst/>
              <a:defRPr sz="2800"/>
            </a:lvl1pPr>
          </a:lstStyle>
          <a:p>
            <a:r>
              <a:rPr lang="en-US"/>
              <a:t>Presentation Subtitle</a:t>
            </a:r>
          </a:p>
        </p:txBody>
      </p:sp>
      <p:sp>
        <p:nvSpPr>
          <p:cNvPr id="4" name="Text Placeholder 3"/>
          <p:cNvSpPr>
            <a:spLocks noGrp="1"/>
          </p:cNvSpPr>
          <p:nvPr>
            <p:ph type="body" sz="quarter" idx="10" hasCustomPrompt="1"/>
          </p:nvPr>
        </p:nvSpPr>
        <p:spPr>
          <a:xfrm>
            <a:off x="3797161" y="1852935"/>
            <a:ext cx="6986016" cy="950976"/>
          </a:xfrm>
        </p:spPr>
        <p:txBody>
          <a:bodyPr>
            <a:normAutofit/>
          </a:bodyPr>
          <a:lstStyle>
            <a:lvl1pPr>
              <a:defRPr sz="4000">
                <a:solidFill>
                  <a:schemeClr val="accent1"/>
                </a:solidFill>
              </a:defRPr>
            </a:lvl1pPr>
          </a:lstStyle>
          <a:p>
            <a:pPr lvl="0"/>
            <a:r>
              <a:rPr lang="en-US"/>
              <a:t>Presentation Title</a:t>
            </a:r>
          </a:p>
        </p:txBody>
      </p:sp>
      <p:sp>
        <p:nvSpPr>
          <p:cNvPr id="9" name="Rectangle 8"/>
          <p:cNvSpPr/>
          <p:nvPr/>
        </p:nvSpPr>
        <p:spPr>
          <a:xfrm>
            <a:off x="8531357" y="6438571"/>
            <a:ext cx="3375722" cy="276999"/>
          </a:xfrm>
          <a:prstGeom prst="rect">
            <a:avLst/>
          </a:prstGeom>
          <a:noFill/>
        </p:spPr>
        <p:txBody>
          <a:bodyPr wrap="square" lIns="0" tIns="0" rIns="0" bIns="0">
            <a:spAutoFit/>
          </a:bodyPr>
          <a:lstStyle/>
          <a:p>
            <a:pPr algn="l" rtl="0"/>
            <a:r>
              <a:rPr lang="en-US" sz="1800" dirty="0">
                <a:solidFill>
                  <a:schemeClr val="bg1">
                    <a:lumMod val="50000"/>
                  </a:schemeClr>
                </a:solidFill>
                <a:latin typeface="Calibri" pitchFamily="34" charset="0"/>
              </a:rPr>
              <a:t>AMPBA Batch 15 | FP-1 | Group 10</a:t>
            </a:r>
          </a:p>
        </p:txBody>
      </p:sp>
      <p:pic>
        <p:nvPicPr>
          <p:cNvPr id="7" name="Picture 6" descr="Logo&#10;&#10;Description automatically generated">
            <a:extLst>
              <a:ext uri="{FF2B5EF4-FFF2-40B4-BE49-F238E27FC236}">
                <a16:creationId xmlns:a16="http://schemas.microsoft.com/office/drawing/2014/main" id="{4BA3B8C1-8A36-9044-A19D-DCBC259C1C87}"/>
              </a:ext>
            </a:extLst>
          </p:cNvPr>
          <p:cNvPicPr>
            <a:picLocks noChangeAspect="1"/>
          </p:cNvPicPr>
          <p:nvPr userDrawn="1"/>
        </p:nvPicPr>
        <p:blipFill>
          <a:blip r:embed="rId3"/>
          <a:stretch>
            <a:fillRect/>
          </a:stretch>
        </p:blipFill>
        <p:spPr>
          <a:xfrm>
            <a:off x="9966470" y="142430"/>
            <a:ext cx="1633414" cy="920402"/>
          </a:xfrm>
          <a:prstGeom prst="rect">
            <a:avLst/>
          </a:prstGeom>
        </p:spPr>
      </p:pic>
    </p:spTree>
    <p:extLst>
      <p:ext uri="{BB962C8B-B14F-4D97-AF65-F5344CB8AC3E}">
        <p14:creationId xmlns:p14="http://schemas.microsoft.com/office/powerpoint/2010/main" val="1869808505"/>
      </p:ext>
    </p:extLst>
  </p:cSld>
  <p:clrMapOvr>
    <a:masterClrMapping/>
  </p:clrMapOvr>
  <p:transition>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ivider">
    <p:spTree>
      <p:nvGrpSpPr>
        <p:cNvPr id="1" name=""/>
        <p:cNvGrpSpPr/>
        <p:nvPr/>
      </p:nvGrpSpPr>
      <p:grpSpPr>
        <a:xfrm>
          <a:off x="0" y="0"/>
          <a:ext cx="0" cy="0"/>
          <a:chOff x="0" y="0"/>
          <a:chExt cx="0" cy="0"/>
        </a:xfrm>
      </p:grpSpPr>
      <p:pic>
        <p:nvPicPr>
          <p:cNvPr id="13" name="Picture 4" descr="1402X1052_background.jpg"/>
          <p:cNvPicPr>
            <a:picLocks noChangeAspect="1"/>
          </p:cNvPicPr>
          <p:nvPr/>
        </p:nvPicPr>
        <p:blipFill>
          <a:blip r:embed="rId2" cstate="print"/>
          <a:srcRect/>
          <a:stretch>
            <a:fillRect/>
          </a:stretch>
        </p:blipFill>
        <p:spPr bwMode="auto">
          <a:xfrm>
            <a:off x="4234" y="0"/>
            <a:ext cx="12187767" cy="6858000"/>
          </a:xfrm>
          <a:prstGeom prst="rect">
            <a:avLst/>
          </a:prstGeom>
          <a:noFill/>
          <a:ln w="9525">
            <a:noFill/>
            <a:miter lim="800000"/>
            <a:headEnd/>
            <a:tailEnd/>
          </a:ln>
        </p:spPr>
      </p:pic>
      <p:sp>
        <p:nvSpPr>
          <p:cNvPr id="5" name="Text Placeholder 4"/>
          <p:cNvSpPr>
            <a:spLocks noGrp="1"/>
          </p:cNvSpPr>
          <p:nvPr>
            <p:ph type="body" sz="quarter" idx="10" hasCustomPrompt="1"/>
          </p:nvPr>
        </p:nvSpPr>
        <p:spPr>
          <a:xfrm>
            <a:off x="1925108" y="1460256"/>
            <a:ext cx="8346017" cy="1055681"/>
          </a:xfrm>
          <a:ln>
            <a:solidFill>
              <a:srgbClr val="FEA626"/>
            </a:solidFill>
          </a:ln>
        </p:spPr>
        <p:style>
          <a:lnRef idx="2">
            <a:schemeClr val="accent6"/>
          </a:lnRef>
          <a:fillRef idx="1">
            <a:schemeClr val="lt1"/>
          </a:fillRef>
          <a:effectRef idx="0">
            <a:schemeClr val="accent6"/>
          </a:effectRef>
          <a:fontRef idx="minor">
            <a:schemeClr val="dk1"/>
          </a:fontRef>
        </p:style>
        <p:txBody>
          <a:bodyPr>
            <a:normAutofit/>
          </a:bodyPr>
          <a:lstStyle>
            <a:lvl1pPr algn="ctr">
              <a:defRPr sz="4400"/>
            </a:lvl1pPr>
          </a:lstStyle>
          <a:p>
            <a:pPr lvl="0"/>
            <a:r>
              <a:rPr lang="en-US"/>
              <a:t>Divider Text</a:t>
            </a:r>
          </a:p>
        </p:txBody>
      </p:sp>
      <p:pic>
        <p:nvPicPr>
          <p:cNvPr id="6" name="Picture 5" descr="Logo&#10;&#10;Description automatically generated">
            <a:extLst>
              <a:ext uri="{FF2B5EF4-FFF2-40B4-BE49-F238E27FC236}">
                <a16:creationId xmlns:a16="http://schemas.microsoft.com/office/drawing/2014/main" id="{F6A45BBA-2871-624D-A7F0-ADE3123E5540}"/>
              </a:ext>
            </a:extLst>
          </p:cNvPr>
          <p:cNvPicPr>
            <a:picLocks noChangeAspect="1"/>
          </p:cNvPicPr>
          <p:nvPr userDrawn="1"/>
        </p:nvPicPr>
        <p:blipFill>
          <a:blip r:embed="rId3">
            <a:alphaModFix amt="5000"/>
          </a:blip>
          <a:stretch>
            <a:fillRect/>
          </a:stretch>
        </p:blipFill>
        <p:spPr>
          <a:xfrm>
            <a:off x="3801403" y="2179630"/>
            <a:ext cx="4434449" cy="2498739"/>
          </a:xfrm>
          <a:prstGeom prst="rect">
            <a:avLst/>
          </a:prstGeom>
        </p:spPr>
      </p:pic>
    </p:spTree>
    <p:extLst>
      <p:ext uri="{BB962C8B-B14F-4D97-AF65-F5344CB8AC3E}">
        <p14:creationId xmlns:p14="http://schemas.microsoft.com/office/powerpoint/2010/main" val="2746957139"/>
      </p:ext>
    </p:extLst>
  </p:cSld>
  <p:clrMapOvr>
    <a:masterClrMapping/>
  </p:clrMapOvr>
  <p:transition advClick="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and_Content_01">
    <p:spTree>
      <p:nvGrpSpPr>
        <p:cNvPr id="1" name=""/>
        <p:cNvGrpSpPr/>
        <p:nvPr/>
      </p:nvGrpSpPr>
      <p:grpSpPr>
        <a:xfrm>
          <a:off x="0" y="0"/>
          <a:ext cx="0" cy="0"/>
          <a:chOff x="0" y="0"/>
          <a:chExt cx="0" cy="0"/>
        </a:xfrm>
      </p:grpSpPr>
      <p:sp>
        <p:nvSpPr>
          <p:cNvPr id="2" name="Title 1"/>
          <p:cNvSpPr>
            <a:spLocks noGrp="1"/>
          </p:cNvSpPr>
          <p:nvPr>
            <p:ph type="title"/>
          </p:nvPr>
        </p:nvSpPr>
        <p:spPr>
          <a:ln>
            <a:solidFill>
              <a:srgbClr val="FEA626"/>
            </a:solidFill>
          </a:ln>
        </p:spPr>
        <p:style>
          <a:lnRef idx="2">
            <a:schemeClr val="accent5"/>
          </a:lnRef>
          <a:fillRef idx="1">
            <a:schemeClr val="lt1"/>
          </a:fillRef>
          <a:effectRef idx="0">
            <a:schemeClr val="accent5"/>
          </a:effectRef>
          <a:fontRef idx="minor">
            <a:schemeClr val="dk1"/>
          </a:fontRef>
        </p:style>
        <p:txBody>
          <a:bodyPr/>
          <a:lstStyle>
            <a:lvl1pPr marL="228600" indent="0">
              <a:tabLst/>
              <a:defRPr/>
            </a:lvl1pPr>
          </a:lstStyle>
          <a:p>
            <a:r>
              <a:rPr lang="en-US"/>
              <a:t>Click to edit Master title style</a:t>
            </a:r>
          </a:p>
        </p:txBody>
      </p:sp>
      <p:sp>
        <p:nvSpPr>
          <p:cNvPr id="5" name="Text Placeholder 4"/>
          <p:cNvSpPr>
            <a:spLocks noGrp="1"/>
          </p:cNvSpPr>
          <p:nvPr>
            <p:ph type="body" sz="quarter" idx="10"/>
          </p:nvPr>
        </p:nvSpPr>
        <p:spPr>
          <a:xfrm>
            <a:off x="975360" y="1128713"/>
            <a:ext cx="10241280" cy="5166360"/>
          </a:xfrm>
        </p:spPr>
        <p:txBody>
          <a:bodyPr/>
          <a:lstStyle>
            <a:lvl1pPr>
              <a:defRPr sz="2400">
                <a:solidFill>
                  <a:schemeClr val="tx1">
                    <a:lumMod val="75000"/>
                  </a:schemeClr>
                </a:solidFill>
                <a:latin typeface="Calibri" pitchFamily="34" charset="0"/>
              </a:defRPr>
            </a:lvl1pPr>
            <a:lvl2pPr marL="628650" indent="-171450">
              <a:buSzPct val="60000"/>
              <a:buFontTx/>
              <a:buBlip>
                <a:blip r:embed="rId2"/>
              </a:buBlip>
              <a:defRPr sz="1600">
                <a:solidFill>
                  <a:schemeClr val="tx1">
                    <a:lumMod val="75000"/>
                  </a:schemeClr>
                </a:solidFill>
                <a:latin typeface="Calibri" pitchFamily="34" charset="0"/>
              </a:defRPr>
            </a:lvl2pPr>
            <a:lvl3pPr marL="1200150" indent="-285750">
              <a:buSzPct val="80000"/>
              <a:buFontTx/>
              <a:buBlip>
                <a:blip r:embed="rId2"/>
              </a:buBlip>
              <a:defRPr>
                <a:latin typeface="Calibri" pitchFamily="34" charset="0"/>
              </a:defRPr>
            </a:lvl3pPr>
            <a:lvl4pPr marL="1600200" indent="-285750">
              <a:buSzPct val="80000"/>
              <a:buFontTx/>
              <a:buBlip>
                <a:blip r:embed="rId2"/>
              </a:buBlip>
              <a:defRPr>
                <a:latin typeface="Calibri" pitchFamily="34" charset="0"/>
              </a:defRPr>
            </a:lvl4pPr>
            <a:lvl5pPr marL="2000250" indent="-285750">
              <a:buSzPct val="80000"/>
              <a:buFontTx/>
              <a:buBlip>
                <a:blip r:embed="rId2"/>
              </a:buBlip>
              <a:defRPr>
                <a:latin typeface="Calibri" pitchFamily="34" charset="0"/>
              </a:defRPr>
            </a:lvl5pPr>
          </a:lstStyle>
          <a:p>
            <a:pPr lvl="0"/>
            <a:r>
              <a:rPr lang="en-US"/>
              <a:t>Edit Master text styles</a:t>
            </a:r>
          </a:p>
          <a:p>
            <a:pPr lvl="1"/>
            <a:r>
              <a:rPr lang="en-US"/>
              <a:t>Second level</a:t>
            </a:r>
          </a:p>
        </p:txBody>
      </p:sp>
      <p:sp>
        <p:nvSpPr>
          <p:cNvPr id="3" name="TextBox 2">
            <a:extLst>
              <a:ext uri="{FF2B5EF4-FFF2-40B4-BE49-F238E27FC236}">
                <a16:creationId xmlns:a16="http://schemas.microsoft.com/office/drawing/2014/main" id="{D2390D82-3B76-E146-AAA5-927C14CDF1E6}"/>
              </a:ext>
            </a:extLst>
          </p:cNvPr>
          <p:cNvSpPr txBox="1"/>
          <p:nvPr/>
        </p:nvSpPr>
        <p:spPr>
          <a:xfrm>
            <a:off x="10482147" y="6668429"/>
            <a:ext cx="0" cy="0"/>
          </a:xfrm>
          <a:prstGeom prst="rect">
            <a:avLst/>
          </a:prstGeom>
          <a:noFill/>
        </p:spPr>
        <p:txBody>
          <a:bodyPr wrap="none" rtlCol="0">
            <a:noAutofit/>
          </a:bodyPr>
          <a:lstStyle/>
          <a:p>
            <a:endParaRPr lang="en-US" sz="1800"/>
          </a:p>
        </p:txBody>
      </p:sp>
      <p:sp>
        <p:nvSpPr>
          <p:cNvPr id="4" name="TextBox 3">
            <a:extLst>
              <a:ext uri="{FF2B5EF4-FFF2-40B4-BE49-F238E27FC236}">
                <a16:creationId xmlns:a16="http://schemas.microsoft.com/office/drawing/2014/main" id="{BE9807BF-917B-FB4A-87CB-FF28DD74439C}"/>
              </a:ext>
            </a:extLst>
          </p:cNvPr>
          <p:cNvSpPr txBox="1"/>
          <p:nvPr userDrawn="1"/>
        </p:nvSpPr>
        <p:spPr>
          <a:xfrm>
            <a:off x="1055077" y="6583680"/>
            <a:ext cx="0" cy="0"/>
          </a:xfrm>
          <a:prstGeom prst="rect">
            <a:avLst/>
          </a:prstGeom>
          <a:noFill/>
        </p:spPr>
        <p:txBody>
          <a:bodyPr wrap="none" rtlCol="0">
            <a:noAutofit/>
          </a:bodyPr>
          <a:lstStyle/>
          <a:p>
            <a:endParaRPr lang="en-US"/>
          </a:p>
        </p:txBody>
      </p:sp>
    </p:spTree>
    <p:extLst>
      <p:ext uri="{BB962C8B-B14F-4D97-AF65-F5344CB8AC3E}">
        <p14:creationId xmlns:p14="http://schemas.microsoft.com/office/powerpoint/2010/main" val="3325430844"/>
      </p:ext>
    </p:extLst>
  </p:cSld>
  <p:clrMapOvr>
    <a:masterClrMapping/>
  </p:clrMapOvr>
  <p:transition>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0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4658213"/>
      </p:ext>
    </p:extLst>
  </p:cSld>
  <p:clrMapOvr>
    <a:masterClrMapping/>
  </p:clrMapOvr>
  <p:transition>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13" name="Picture 4" descr="1402X1052_background.jpg"/>
          <p:cNvPicPr>
            <a:picLocks noChangeAspect="1"/>
          </p:cNvPicPr>
          <p:nvPr/>
        </p:nvPicPr>
        <p:blipFill>
          <a:blip r:embed="rId2" cstate="print"/>
          <a:srcRect/>
          <a:stretch>
            <a:fillRect/>
          </a:stretch>
        </p:blipFill>
        <p:spPr bwMode="auto">
          <a:xfrm>
            <a:off x="4233" y="0"/>
            <a:ext cx="12187767" cy="6858000"/>
          </a:xfrm>
          <a:prstGeom prst="rect">
            <a:avLst/>
          </a:prstGeom>
          <a:noFill/>
          <a:ln w="9525">
            <a:noFill/>
            <a:miter lim="800000"/>
            <a:headEnd/>
            <a:tailEnd/>
          </a:ln>
        </p:spPr>
      </p:pic>
      <p:sp>
        <p:nvSpPr>
          <p:cNvPr id="40" name="Text Placeholder 39"/>
          <p:cNvSpPr>
            <a:spLocks noGrp="1"/>
          </p:cNvSpPr>
          <p:nvPr>
            <p:ph type="body" sz="quarter" idx="10" hasCustomPrompt="1"/>
          </p:nvPr>
        </p:nvSpPr>
        <p:spPr>
          <a:xfrm>
            <a:off x="3939118" y="2297688"/>
            <a:ext cx="4453227" cy="466344"/>
          </a:xfrm>
          <a:solidFill>
            <a:srgbClr val="FEA626">
              <a:alpha val="65882"/>
            </a:srgbClr>
          </a:solidFill>
        </p:spPr>
        <p:txBody>
          <a:bodyPr/>
          <a:lstStyle>
            <a:lvl1pPr fontAlgn="auto">
              <a:spcBef>
                <a:spcPts val="0"/>
              </a:spcBef>
              <a:spcAft>
                <a:spcPts val="0"/>
              </a:spcAft>
              <a:buClrTx/>
              <a:buSzTx/>
              <a:buFontTx/>
              <a:buNone/>
              <a:defRPr/>
            </a:lvl1pPr>
          </a:lstStyle>
          <a:p>
            <a:pPr fontAlgn="auto">
              <a:spcBef>
                <a:spcPts val="0"/>
              </a:spcBef>
              <a:spcAft>
                <a:spcPts val="0"/>
              </a:spcAft>
              <a:buClrTx/>
              <a:buSzTx/>
              <a:buFontTx/>
              <a:buNone/>
              <a:defRPr/>
            </a:pPr>
            <a:r>
              <a:rPr lang="en-US" sz="2400" kern="0">
                <a:solidFill>
                  <a:srgbClr val="FFFFFF"/>
                </a:solidFill>
                <a:latin typeface="Calibri"/>
                <a:cs typeface="+mn-cs"/>
              </a:rPr>
              <a:t>1st section</a:t>
            </a:r>
          </a:p>
        </p:txBody>
      </p:sp>
      <p:sp>
        <p:nvSpPr>
          <p:cNvPr id="42" name="Text Placeholder 41"/>
          <p:cNvSpPr>
            <a:spLocks noGrp="1"/>
          </p:cNvSpPr>
          <p:nvPr>
            <p:ph type="body" sz="quarter" idx="11" hasCustomPrompt="1"/>
          </p:nvPr>
        </p:nvSpPr>
        <p:spPr>
          <a:xfrm>
            <a:off x="3939118" y="2874840"/>
            <a:ext cx="4453227" cy="466344"/>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3399CC"/>
                </a:solidFill>
                <a:effectLst/>
                <a:uLnTx/>
                <a:uFillTx/>
                <a:latin typeface="Calibri"/>
                <a:ea typeface="+mn-ea"/>
                <a:cs typeface="+mn-cs"/>
              </a:rPr>
              <a:t>2</a:t>
            </a:r>
            <a:r>
              <a:rPr kumimoji="0" lang="en-US" sz="2400" b="0" i="0" u="none" strike="noStrike" kern="0" cap="none" spc="0" normalizeH="0" baseline="30000" noProof="0">
                <a:ln>
                  <a:noFill/>
                </a:ln>
                <a:solidFill>
                  <a:srgbClr val="3399CC"/>
                </a:solidFill>
                <a:effectLst/>
                <a:uLnTx/>
                <a:uFillTx/>
                <a:latin typeface="Calibri"/>
                <a:ea typeface="+mn-ea"/>
                <a:cs typeface="+mn-cs"/>
              </a:rPr>
              <a:t>nd </a:t>
            </a:r>
            <a:r>
              <a:rPr kumimoji="0" lang="en-US" sz="2400" b="0" i="0" u="none" strike="noStrike" kern="0" cap="none" spc="0" normalizeH="0" baseline="0" noProof="0">
                <a:ln>
                  <a:noFill/>
                </a:ln>
                <a:solidFill>
                  <a:srgbClr val="3399CC"/>
                </a:solidFill>
                <a:effectLst/>
                <a:uLnTx/>
                <a:uFillTx/>
                <a:latin typeface="Calibri"/>
                <a:ea typeface="+mn-ea"/>
                <a:cs typeface="+mn-cs"/>
              </a:rPr>
              <a:t>section</a:t>
            </a:r>
          </a:p>
        </p:txBody>
      </p:sp>
      <p:sp>
        <p:nvSpPr>
          <p:cNvPr id="43" name="Text Placeholder 41"/>
          <p:cNvSpPr>
            <a:spLocks noGrp="1"/>
          </p:cNvSpPr>
          <p:nvPr>
            <p:ph type="body" sz="quarter" idx="12" hasCustomPrompt="1"/>
          </p:nvPr>
        </p:nvSpPr>
        <p:spPr>
          <a:xfrm>
            <a:off x="3939118" y="3451991"/>
            <a:ext cx="4453227" cy="466344"/>
          </a:xfrm>
        </p:spPr>
        <p:txBody>
          <a:bodyPr/>
          <a:lstStyle>
            <a:lvl1pPr fontAlgn="auto">
              <a:spcBef>
                <a:spcPts val="0"/>
              </a:spcBef>
              <a:spcAft>
                <a:spcPts val="0"/>
              </a:spcAft>
              <a:buClrTx/>
              <a:buSzTx/>
              <a:buFontTx/>
              <a:buNone/>
              <a:defRPr/>
            </a:lvl1pPr>
          </a:lstStyle>
          <a:p>
            <a:pPr fontAlgn="auto">
              <a:spcBef>
                <a:spcPts val="0"/>
              </a:spcBef>
              <a:spcAft>
                <a:spcPts val="0"/>
              </a:spcAft>
              <a:buClrTx/>
              <a:buSzTx/>
              <a:buFontTx/>
              <a:buNone/>
              <a:defRPr/>
            </a:pPr>
            <a:r>
              <a:rPr lang="en-US" sz="2400" kern="0">
                <a:solidFill>
                  <a:srgbClr val="3399CC"/>
                </a:solidFill>
                <a:latin typeface="Calibri"/>
                <a:cs typeface="+mn-cs"/>
              </a:rPr>
              <a:t>3</a:t>
            </a:r>
            <a:r>
              <a:rPr lang="en-US" sz="2400" kern="0" baseline="30000">
                <a:solidFill>
                  <a:srgbClr val="3399CC"/>
                </a:solidFill>
                <a:latin typeface="Calibri"/>
                <a:cs typeface="+mn-cs"/>
              </a:rPr>
              <a:t>rd </a:t>
            </a:r>
            <a:r>
              <a:rPr lang="en-US" sz="2400" kern="0">
                <a:solidFill>
                  <a:srgbClr val="3399CC"/>
                </a:solidFill>
                <a:latin typeface="Calibri"/>
                <a:cs typeface="+mn-cs"/>
              </a:rPr>
              <a:t>section</a:t>
            </a:r>
          </a:p>
        </p:txBody>
      </p:sp>
      <p:sp>
        <p:nvSpPr>
          <p:cNvPr id="44" name="Text Placeholder 41"/>
          <p:cNvSpPr>
            <a:spLocks noGrp="1"/>
          </p:cNvSpPr>
          <p:nvPr>
            <p:ph type="body" sz="quarter" idx="13" hasCustomPrompt="1"/>
          </p:nvPr>
        </p:nvSpPr>
        <p:spPr>
          <a:xfrm>
            <a:off x="3939118" y="4029142"/>
            <a:ext cx="4453227" cy="466344"/>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3399CC"/>
                </a:solidFill>
                <a:effectLst/>
                <a:uLnTx/>
                <a:uFillTx/>
                <a:latin typeface="Calibri"/>
                <a:ea typeface="+mn-ea"/>
                <a:cs typeface="+mn-cs"/>
              </a:rPr>
              <a:t>4</a:t>
            </a:r>
            <a:r>
              <a:rPr kumimoji="0" lang="en-US" sz="2400" b="0" i="0" u="none" strike="noStrike" kern="0" cap="none" spc="0" normalizeH="0" baseline="30000" noProof="0">
                <a:ln>
                  <a:noFill/>
                </a:ln>
                <a:solidFill>
                  <a:srgbClr val="3399CC"/>
                </a:solidFill>
                <a:effectLst/>
                <a:uLnTx/>
                <a:uFillTx/>
                <a:latin typeface="Calibri"/>
                <a:ea typeface="+mn-ea"/>
                <a:cs typeface="+mn-cs"/>
              </a:rPr>
              <a:t>th </a:t>
            </a:r>
            <a:r>
              <a:rPr kumimoji="0" lang="en-US" sz="2400" b="0" i="0" u="none" strike="noStrike" kern="0" cap="none" spc="0" normalizeH="0" baseline="0" noProof="0">
                <a:ln>
                  <a:noFill/>
                </a:ln>
                <a:solidFill>
                  <a:srgbClr val="3399CC"/>
                </a:solidFill>
                <a:effectLst/>
                <a:uLnTx/>
                <a:uFillTx/>
                <a:latin typeface="Calibri"/>
                <a:ea typeface="+mn-ea"/>
                <a:cs typeface="+mn-cs"/>
              </a:rPr>
              <a:t>section</a:t>
            </a:r>
          </a:p>
        </p:txBody>
      </p:sp>
      <p:sp>
        <p:nvSpPr>
          <p:cNvPr id="45" name="Text Placeholder 41"/>
          <p:cNvSpPr>
            <a:spLocks noGrp="1"/>
          </p:cNvSpPr>
          <p:nvPr>
            <p:ph type="body" sz="quarter" idx="14" hasCustomPrompt="1"/>
          </p:nvPr>
        </p:nvSpPr>
        <p:spPr>
          <a:xfrm>
            <a:off x="3939118" y="4606294"/>
            <a:ext cx="4453227" cy="466344"/>
          </a:xfrm>
        </p:spPr>
        <p:txBody>
          <a:bodyPr/>
          <a:lstStyle>
            <a:lvl1pPr fontAlgn="auto">
              <a:spcBef>
                <a:spcPts val="0"/>
              </a:spcBef>
              <a:spcAft>
                <a:spcPts val="0"/>
              </a:spcAft>
              <a:buClrTx/>
              <a:buSzTx/>
              <a:buFontTx/>
              <a:buNone/>
              <a:defRPr/>
            </a:lvl1pPr>
          </a:lstStyle>
          <a:p>
            <a:pPr fontAlgn="auto">
              <a:spcBef>
                <a:spcPts val="0"/>
              </a:spcBef>
              <a:spcAft>
                <a:spcPts val="0"/>
              </a:spcAft>
              <a:buClrTx/>
              <a:buSzTx/>
              <a:buFontTx/>
              <a:buNone/>
              <a:defRPr/>
            </a:pPr>
            <a:r>
              <a:rPr lang="en-US" sz="2400" kern="0">
                <a:solidFill>
                  <a:srgbClr val="3399CC"/>
                </a:solidFill>
                <a:latin typeface="Calibri"/>
                <a:cs typeface="+mn-cs"/>
              </a:rPr>
              <a:t>5</a:t>
            </a:r>
            <a:r>
              <a:rPr lang="en-US" sz="2400" kern="0" baseline="30000">
                <a:solidFill>
                  <a:srgbClr val="3399CC"/>
                </a:solidFill>
                <a:latin typeface="Calibri"/>
                <a:cs typeface="+mn-cs"/>
              </a:rPr>
              <a:t>th </a:t>
            </a:r>
            <a:r>
              <a:rPr lang="en-US" sz="2400" kern="0">
                <a:solidFill>
                  <a:srgbClr val="3399CC"/>
                </a:solidFill>
                <a:latin typeface="Calibri"/>
                <a:cs typeface="+mn-cs"/>
              </a:rPr>
              <a:t>section</a:t>
            </a:r>
          </a:p>
        </p:txBody>
      </p:sp>
      <p:grpSp>
        <p:nvGrpSpPr>
          <p:cNvPr id="10" name="Group 9"/>
          <p:cNvGrpSpPr/>
          <p:nvPr/>
        </p:nvGrpSpPr>
        <p:grpSpPr>
          <a:xfrm>
            <a:off x="524935" y="258763"/>
            <a:ext cx="6436783" cy="1752601"/>
            <a:chOff x="393701" y="258762"/>
            <a:chExt cx="4827587" cy="1752601"/>
          </a:xfrm>
        </p:grpSpPr>
        <p:sp>
          <p:nvSpPr>
            <p:cNvPr id="4" name="Freeform 5"/>
            <p:cNvSpPr>
              <a:spLocks noEditPoints="1"/>
            </p:cNvSpPr>
            <p:nvPr userDrawn="1"/>
          </p:nvSpPr>
          <p:spPr bwMode="auto">
            <a:xfrm>
              <a:off x="393701" y="400050"/>
              <a:ext cx="942975" cy="1189038"/>
            </a:xfrm>
            <a:custGeom>
              <a:avLst/>
              <a:gdLst>
                <a:gd name="T0" fmla="*/ 622 w 763"/>
                <a:gd name="T1" fmla="*/ 534 h 964"/>
                <a:gd name="T2" fmla="*/ 448 w 763"/>
                <a:gd name="T3" fmla="*/ 7 h 964"/>
                <a:gd name="T4" fmla="*/ 438 w 763"/>
                <a:gd name="T5" fmla="*/ 0 h 964"/>
                <a:gd name="T6" fmla="*/ 323 w 763"/>
                <a:gd name="T7" fmla="*/ 4 h 964"/>
                <a:gd name="T8" fmla="*/ 315 w 763"/>
                <a:gd name="T9" fmla="*/ 11 h 964"/>
                <a:gd name="T10" fmla="*/ 106 w 763"/>
                <a:gd name="T11" fmla="*/ 644 h 964"/>
                <a:gd name="T12" fmla="*/ 0 w 763"/>
                <a:gd name="T13" fmla="*/ 952 h 964"/>
                <a:gd name="T14" fmla="*/ 7 w 763"/>
                <a:gd name="T15" fmla="*/ 963 h 964"/>
                <a:gd name="T16" fmla="*/ 87 w 763"/>
                <a:gd name="T17" fmla="*/ 963 h 964"/>
                <a:gd name="T18" fmla="*/ 98 w 763"/>
                <a:gd name="T19" fmla="*/ 956 h 964"/>
                <a:gd name="T20" fmla="*/ 189 w 763"/>
                <a:gd name="T21" fmla="*/ 645 h 964"/>
                <a:gd name="T22" fmla="*/ 565 w 763"/>
                <a:gd name="T23" fmla="*/ 645 h 964"/>
                <a:gd name="T24" fmla="*/ 630 w 763"/>
                <a:gd name="T25" fmla="*/ 859 h 964"/>
                <a:gd name="T26" fmla="*/ 644 w 763"/>
                <a:gd name="T27" fmla="*/ 907 h 964"/>
                <a:gd name="T28" fmla="*/ 656 w 763"/>
                <a:gd name="T29" fmla="*/ 956 h 964"/>
                <a:gd name="T30" fmla="*/ 664 w 763"/>
                <a:gd name="T31" fmla="*/ 964 h 964"/>
                <a:gd name="T32" fmla="*/ 756 w 763"/>
                <a:gd name="T33" fmla="*/ 962 h 964"/>
                <a:gd name="T34" fmla="*/ 763 w 763"/>
                <a:gd name="T35" fmla="*/ 952 h 964"/>
                <a:gd name="T36" fmla="*/ 622 w 763"/>
                <a:gd name="T37" fmla="*/ 534 h 964"/>
                <a:gd name="T38" fmla="*/ 454 w 763"/>
                <a:gd name="T39" fmla="*/ 574 h 964"/>
                <a:gd name="T40" fmla="*/ 353 w 763"/>
                <a:gd name="T41" fmla="*/ 574 h 964"/>
                <a:gd name="T42" fmla="*/ 210 w 763"/>
                <a:gd name="T43" fmla="*/ 572 h 964"/>
                <a:gd name="T44" fmla="*/ 373 w 763"/>
                <a:gd name="T45" fmla="*/ 53 h 964"/>
                <a:gd name="T46" fmla="*/ 539 w 763"/>
                <a:gd name="T47" fmla="*/ 572 h 964"/>
                <a:gd name="T48" fmla="*/ 454 w 763"/>
                <a:gd name="T49" fmla="*/ 57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63" h="964">
                  <a:moveTo>
                    <a:pt x="622" y="534"/>
                  </a:moveTo>
                  <a:cubicBezTo>
                    <a:pt x="563" y="360"/>
                    <a:pt x="505" y="184"/>
                    <a:pt x="448" y="7"/>
                  </a:cubicBezTo>
                  <a:cubicBezTo>
                    <a:pt x="438" y="0"/>
                    <a:pt x="438" y="0"/>
                    <a:pt x="438" y="0"/>
                  </a:cubicBezTo>
                  <a:cubicBezTo>
                    <a:pt x="400" y="3"/>
                    <a:pt x="362" y="4"/>
                    <a:pt x="323" y="4"/>
                  </a:cubicBezTo>
                  <a:cubicBezTo>
                    <a:pt x="315" y="11"/>
                    <a:pt x="315" y="11"/>
                    <a:pt x="315" y="11"/>
                  </a:cubicBezTo>
                  <a:cubicBezTo>
                    <a:pt x="247" y="223"/>
                    <a:pt x="178" y="434"/>
                    <a:pt x="106" y="644"/>
                  </a:cubicBezTo>
                  <a:cubicBezTo>
                    <a:pt x="73" y="747"/>
                    <a:pt x="37" y="850"/>
                    <a:pt x="0" y="952"/>
                  </a:cubicBezTo>
                  <a:cubicBezTo>
                    <a:pt x="7" y="963"/>
                    <a:pt x="7" y="963"/>
                    <a:pt x="7" y="963"/>
                  </a:cubicBezTo>
                  <a:cubicBezTo>
                    <a:pt x="87" y="963"/>
                    <a:pt x="87" y="963"/>
                    <a:pt x="87" y="963"/>
                  </a:cubicBezTo>
                  <a:cubicBezTo>
                    <a:pt x="98" y="956"/>
                    <a:pt x="98" y="956"/>
                    <a:pt x="98" y="956"/>
                  </a:cubicBezTo>
                  <a:cubicBezTo>
                    <a:pt x="123" y="851"/>
                    <a:pt x="154" y="747"/>
                    <a:pt x="189" y="645"/>
                  </a:cubicBezTo>
                  <a:cubicBezTo>
                    <a:pt x="565" y="645"/>
                    <a:pt x="565" y="645"/>
                    <a:pt x="565" y="645"/>
                  </a:cubicBezTo>
                  <a:cubicBezTo>
                    <a:pt x="588" y="716"/>
                    <a:pt x="610" y="787"/>
                    <a:pt x="630" y="859"/>
                  </a:cubicBezTo>
                  <a:cubicBezTo>
                    <a:pt x="633" y="875"/>
                    <a:pt x="638" y="891"/>
                    <a:pt x="644" y="907"/>
                  </a:cubicBezTo>
                  <a:cubicBezTo>
                    <a:pt x="648" y="923"/>
                    <a:pt x="652" y="940"/>
                    <a:pt x="656" y="956"/>
                  </a:cubicBezTo>
                  <a:cubicBezTo>
                    <a:pt x="664" y="964"/>
                    <a:pt x="664" y="964"/>
                    <a:pt x="664" y="964"/>
                  </a:cubicBezTo>
                  <a:cubicBezTo>
                    <a:pt x="695" y="963"/>
                    <a:pt x="725" y="962"/>
                    <a:pt x="756" y="962"/>
                  </a:cubicBezTo>
                  <a:cubicBezTo>
                    <a:pt x="763" y="952"/>
                    <a:pt x="763" y="952"/>
                    <a:pt x="763" y="952"/>
                  </a:cubicBezTo>
                  <a:cubicBezTo>
                    <a:pt x="714" y="814"/>
                    <a:pt x="667" y="674"/>
                    <a:pt x="622" y="534"/>
                  </a:cubicBezTo>
                  <a:close/>
                  <a:moveTo>
                    <a:pt x="454" y="574"/>
                  </a:moveTo>
                  <a:cubicBezTo>
                    <a:pt x="353" y="574"/>
                    <a:pt x="353" y="574"/>
                    <a:pt x="353" y="574"/>
                  </a:cubicBezTo>
                  <a:cubicBezTo>
                    <a:pt x="306" y="574"/>
                    <a:pt x="258" y="573"/>
                    <a:pt x="210" y="572"/>
                  </a:cubicBezTo>
                  <a:cubicBezTo>
                    <a:pt x="373" y="53"/>
                    <a:pt x="373" y="53"/>
                    <a:pt x="373" y="53"/>
                  </a:cubicBezTo>
                  <a:cubicBezTo>
                    <a:pt x="539" y="572"/>
                    <a:pt x="539" y="572"/>
                    <a:pt x="539" y="572"/>
                  </a:cubicBezTo>
                  <a:cubicBezTo>
                    <a:pt x="511" y="573"/>
                    <a:pt x="483" y="574"/>
                    <a:pt x="454" y="574"/>
                  </a:cubicBez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 name="Freeform 6"/>
            <p:cNvSpPr>
              <a:spLocks noEditPoints="1"/>
            </p:cNvSpPr>
            <p:nvPr userDrawn="1"/>
          </p:nvSpPr>
          <p:spPr bwMode="auto">
            <a:xfrm>
              <a:off x="1349375" y="725488"/>
              <a:ext cx="717550" cy="1285875"/>
            </a:xfrm>
            <a:custGeom>
              <a:avLst/>
              <a:gdLst>
                <a:gd name="T0" fmla="*/ 540 w 581"/>
                <a:gd name="T1" fmla="*/ 1 h 1042"/>
                <a:gd name="T2" fmla="*/ 471 w 581"/>
                <a:gd name="T3" fmla="*/ 2 h 1042"/>
                <a:gd name="T4" fmla="*/ 311 w 581"/>
                <a:gd name="T5" fmla="*/ 0 h 1042"/>
                <a:gd name="T6" fmla="*/ 209 w 581"/>
                <a:gd name="T7" fmla="*/ 9 h 1042"/>
                <a:gd name="T8" fmla="*/ 16 w 581"/>
                <a:gd name="T9" fmla="*/ 249 h 1042"/>
                <a:gd name="T10" fmla="*/ 86 w 581"/>
                <a:gd name="T11" fmla="*/ 418 h 1042"/>
                <a:gd name="T12" fmla="*/ 138 w 581"/>
                <a:gd name="T13" fmla="*/ 456 h 1042"/>
                <a:gd name="T14" fmla="*/ 64 w 581"/>
                <a:gd name="T15" fmla="*/ 580 h 1042"/>
                <a:gd name="T16" fmla="*/ 68 w 581"/>
                <a:gd name="T17" fmla="*/ 593 h 1042"/>
                <a:gd name="T18" fmla="*/ 125 w 581"/>
                <a:gd name="T19" fmla="*/ 617 h 1042"/>
                <a:gd name="T20" fmla="*/ 38 w 581"/>
                <a:gd name="T21" fmla="*/ 704 h 1042"/>
                <a:gd name="T22" fmla="*/ 0 w 581"/>
                <a:gd name="T23" fmla="*/ 825 h 1042"/>
                <a:gd name="T24" fmla="*/ 92 w 581"/>
                <a:gd name="T25" fmla="*/ 989 h 1042"/>
                <a:gd name="T26" fmla="*/ 277 w 581"/>
                <a:gd name="T27" fmla="*/ 1042 h 1042"/>
                <a:gd name="T28" fmla="*/ 471 w 581"/>
                <a:gd name="T29" fmla="*/ 985 h 1042"/>
                <a:gd name="T30" fmla="*/ 561 w 581"/>
                <a:gd name="T31" fmla="*/ 813 h 1042"/>
                <a:gd name="T32" fmla="*/ 536 w 581"/>
                <a:gd name="T33" fmla="*/ 712 h 1042"/>
                <a:gd name="T34" fmla="*/ 469 w 581"/>
                <a:gd name="T35" fmla="*/ 650 h 1042"/>
                <a:gd name="T36" fmla="*/ 380 w 581"/>
                <a:gd name="T37" fmla="*/ 611 h 1042"/>
                <a:gd name="T38" fmla="*/ 285 w 581"/>
                <a:gd name="T39" fmla="*/ 585 h 1042"/>
                <a:gd name="T40" fmla="*/ 167 w 581"/>
                <a:gd name="T41" fmla="*/ 548 h 1042"/>
                <a:gd name="T42" fmla="*/ 208 w 581"/>
                <a:gd name="T43" fmla="*/ 475 h 1042"/>
                <a:gd name="T44" fmla="*/ 277 w 581"/>
                <a:gd name="T45" fmla="*/ 483 h 1042"/>
                <a:gd name="T46" fmla="*/ 450 w 581"/>
                <a:gd name="T47" fmla="*/ 419 h 1042"/>
                <a:gd name="T48" fmla="*/ 523 w 581"/>
                <a:gd name="T49" fmla="*/ 249 h 1042"/>
                <a:gd name="T50" fmla="*/ 502 w 581"/>
                <a:gd name="T51" fmla="*/ 146 h 1042"/>
                <a:gd name="T52" fmla="*/ 435 w 581"/>
                <a:gd name="T53" fmla="*/ 69 h 1042"/>
                <a:gd name="T54" fmla="*/ 566 w 581"/>
                <a:gd name="T55" fmla="*/ 76 h 1042"/>
                <a:gd name="T56" fmla="*/ 577 w 581"/>
                <a:gd name="T57" fmla="*/ 68 h 1042"/>
                <a:gd name="T58" fmla="*/ 581 w 581"/>
                <a:gd name="T59" fmla="*/ 12 h 1042"/>
                <a:gd name="T60" fmla="*/ 576 w 581"/>
                <a:gd name="T61" fmla="*/ 2 h 1042"/>
                <a:gd name="T62" fmla="*/ 540 w 581"/>
                <a:gd name="T63" fmla="*/ 1 h 1042"/>
                <a:gd name="T64" fmla="*/ 186 w 581"/>
                <a:gd name="T65" fmla="*/ 638 h 1042"/>
                <a:gd name="T66" fmla="*/ 324 w 581"/>
                <a:gd name="T67" fmla="*/ 680 h 1042"/>
                <a:gd name="T68" fmla="*/ 381 w 581"/>
                <a:gd name="T69" fmla="*/ 696 h 1042"/>
                <a:gd name="T70" fmla="*/ 428 w 581"/>
                <a:gd name="T71" fmla="*/ 722 h 1042"/>
                <a:gd name="T72" fmla="*/ 463 w 581"/>
                <a:gd name="T73" fmla="*/ 761 h 1042"/>
                <a:gd name="T74" fmla="*/ 476 w 581"/>
                <a:gd name="T75" fmla="*/ 821 h 1042"/>
                <a:gd name="T76" fmla="*/ 414 w 581"/>
                <a:gd name="T77" fmla="*/ 937 h 1042"/>
                <a:gd name="T78" fmla="*/ 282 w 581"/>
                <a:gd name="T79" fmla="*/ 976 h 1042"/>
                <a:gd name="T80" fmla="*/ 145 w 581"/>
                <a:gd name="T81" fmla="*/ 935 h 1042"/>
                <a:gd name="T82" fmla="*/ 83 w 581"/>
                <a:gd name="T83" fmla="*/ 809 h 1042"/>
                <a:gd name="T84" fmla="*/ 115 w 581"/>
                <a:gd name="T85" fmla="*/ 709 h 1042"/>
                <a:gd name="T86" fmla="*/ 186 w 581"/>
                <a:gd name="T87" fmla="*/ 638 h 1042"/>
                <a:gd name="T88" fmla="*/ 442 w 581"/>
                <a:gd name="T89" fmla="*/ 240 h 1042"/>
                <a:gd name="T90" fmla="*/ 396 w 581"/>
                <a:gd name="T91" fmla="*/ 367 h 1042"/>
                <a:gd name="T92" fmla="*/ 271 w 581"/>
                <a:gd name="T93" fmla="*/ 419 h 1042"/>
                <a:gd name="T94" fmla="*/ 148 w 581"/>
                <a:gd name="T95" fmla="*/ 373 h 1042"/>
                <a:gd name="T96" fmla="*/ 96 w 581"/>
                <a:gd name="T97" fmla="*/ 249 h 1042"/>
                <a:gd name="T98" fmla="*/ 147 w 581"/>
                <a:gd name="T99" fmla="*/ 117 h 1042"/>
                <a:gd name="T100" fmla="*/ 275 w 581"/>
                <a:gd name="T101" fmla="*/ 69 h 1042"/>
                <a:gd name="T102" fmla="*/ 396 w 581"/>
                <a:gd name="T103" fmla="*/ 116 h 1042"/>
                <a:gd name="T104" fmla="*/ 442 w 581"/>
                <a:gd name="T105" fmla="*/ 240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81" h="1042">
                  <a:moveTo>
                    <a:pt x="540" y="1"/>
                  </a:moveTo>
                  <a:cubicBezTo>
                    <a:pt x="517" y="2"/>
                    <a:pt x="494" y="2"/>
                    <a:pt x="471" y="2"/>
                  </a:cubicBezTo>
                  <a:cubicBezTo>
                    <a:pt x="418" y="1"/>
                    <a:pt x="365" y="0"/>
                    <a:pt x="311" y="0"/>
                  </a:cubicBezTo>
                  <a:cubicBezTo>
                    <a:pt x="277" y="0"/>
                    <a:pt x="243" y="3"/>
                    <a:pt x="209" y="9"/>
                  </a:cubicBezTo>
                  <a:cubicBezTo>
                    <a:pt x="83" y="39"/>
                    <a:pt x="18" y="119"/>
                    <a:pt x="16" y="249"/>
                  </a:cubicBezTo>
                  <a:cubicBezTo>
                    <a:pt x="15" y="317"/>
                    <a:pt x="38" y="373"/>
                    <a:pt x="86" y="418"/>
                  </a:cubicBezTo>
                  <a:cubicBezTo>
                    <a:pt x="103" y="431"/>
                    <a:pt x="120" y="443"/>
                    <a:pt x="138" y="456"/>
                  </a:cubicBezTo>
                  <a:cubicBezTo>
                    <a:pt x="115" y="498"/>
                    <a:pt x="91" y="540"/>
                    <a:pt x="64" y="580"/>
                  </a:cubicBezTo>
                  <a:cubicBezTo>
                    <a:pt x="68" y="593"/>
                    <a:pt x="68" y="593"/>
                    <a:pt x="68" y="593"/>
                  </a:cubicBezTo>
                  <a:cubicBezTo>
                    <a:pt x="87" y="601"/>
                    <a:pt x="106" y="609"/>
                    <a:pt x="125" y="617"/>
                  </a:cubicBezTo>
                  <a:cubicBezTo>
                    <a:pt x="91" y="642"/>
                    <a:pt x="61" y="671"/>
                    <a:pt x="38" y="704"/>
                  </a:cubicBezTo>
                  <a:cubicBezTo>
                    <a:pt x="13" y="738"/>
                    <a:pt x="0" y="778"/>
                    <a:pt x="0" y="825"/>
                  </a:cubicBezTo>
                  <a:cubicBezTo>
                    <a:pt x="2" y="899"/>
                    <a:pt x="33" y="954"/>
                    <a:pt x="92" y="989"/>
                  </a:cubicBezTo>
                  <a:cubicBezTo>
                    <a:pt x="149" y="1024"/>
                    <a:pt x="211" y="1042"/>
                    <a:pt x="277" y="1042"/>
                  </a:cubicBezTo>
                  <a:cubicBezTo>
                    <a:pt x="348" y="1042"/>
                    <a:pt x="412" y="1023"/>
                    <a:pt x="471" y="985"/>
                  </a:cubicBezTo>
                  <a:cubicBezTo>
                    <a:pt x="529" y="949"/>
                    <a:pt x="559" y="891"/>
                    <a:pt x="561" y="813"/>
                  </a:cubicBezTo>
                  <a:cubicBezTo>
                    <a:pt x="561" y="772"/>
                    <a:pt x="553" y="738"/>
                    <a:pt x="536" y="712"/>
                  </a:cubicBezTo>
                  <a:cubicBezTo>
                    <a:pt x="519" y="687"/>
                    <a:pt x="497" y="666"/>
                    <a:pt x="469" y="650"/>
                  </a:cubicBezTo>
                  <a:cubicBezTo>
                    <a:pt x="443" y="633"/>
                    <a:pt x="413" y="620"/>
                    <a:pt x="380" y="611"/>
                  </a:cubicBezTo>
                  <a:cubicBezTo>
                    <a:pt x="348" y="601"/>
                    <a:pt x="316" y="593"/>
                    <a:pt x="285" y="585"/>
                  </a:cubicBezTo>
                  <a:cubicBezTo>
                    <a:pt x="167" y="548"/>
                    <a:pt x="167" y="548"/>
                    <a:pt x="167" y="548"/>
                  </a:cubicBezTo>
                  <a:cubicBezTo>
                    <a:pt x="179" y="524"/>
                    <a:pt x="193" y="499"/>
                    <a:pt x="208" y="475"/>
                  </a:cubicBezTo>
                  <a:cubicBezTo>
                    <a:pt x="230" y="481"/>
                    <a:pt x="253" y="484"/>
                    <a:pt x="277" y="483"/>
                  </a:cubicBezTo>
                  <a:cubicBezTo>
                    <a:pt x="346" y="483"/>
                    <a:pt x="404" y="461"/>
                    <a:pt x="450" y="419"/>
                  </a:cubicBezTo>
                  <a:cubicBezTo>
                    <a:pt x="498" y="377"/>
                    <a:pt x="522" y="321"/>
                    <a:pt x="523" y="249"/>
                  </a:cubicBezTo>
                  <a:cubicBezTo>
                    <a:pt x="523" y="209"/>
                    <a:pt x="516" y="175"/>
                    <a:pt x="502" y="146"/>
                  </a:cubicBezTo>
                  <a:cubicBezTo>
                    <a:pt x="486" y="118"/>
                    <a:pt x="464" y="92"/>
                    <a:pt x="435" y="69"/>
                  </a:cubicBezTo>
                  <a:cubicBezTo>
                    <a:pt x="479" y="69"/>
                    <a:pt x="523" y="71"/>
                    <a:pt x="566" y="76"/>
                  </a:cubicBezTo>
                  <a:cubicBezTo>
                    <a:pt x="577" y="68"/>
                    <a:pt x="577" y="68"/>
                    <a:pt x="577" y="68"/>
                  </a:cubicBezTo>
                  <a:cubicBezTo>
                    <a:pt x="577" y="49"/>
                    <a:pt x="578" y="30"/>
                    <a:pt x="581" y="12"/>
                  </a:cubicBezTo>
                  <a:cubicBezTo>
                    <a:pt x="576" y="2"/>
                    <a:pt x="576" y="2"/>
                    <a:pt x="576" y="2"/>
                  </a:cubicBezTo>
                  <a:cubicBezTo>
                    <a:pt x="564" y="1"/>
                    <a:pt x="552" y="1"/>
                    <a:pt x="540" y="1"/>
                  </a:cubicBezTo>
                  <a:close/>
                  <a:moveTo>
                    <a:pt x="186" y="638"/>
                  </a:moveTo>
                  <a:cubicBezTo>
                    <a:pt x="233" y="650"/>
                    <a:pt x="279" y="664"/>
                    <a:pt x="324" y="680"/>
                  </a:cubicBezTo>
                  <a:cubicBezTo>
                    <a:pt x="343" y="685"/>
                    <a:pt x="362" y="691"/>
                    <a:pt x="381" y="696"/>
                  </a:cubicBezTo>
                  <a:cubicBezTo>
                    <a:pt x="398" y="702"/>
                    <a:pt x="414" y="711"/>
                    <a:pt x="428" y="722"/>
                  </a:cubicBezTo>
                  <a:cubicBezTo>
                    <a:pt x="443" y="732"/>
                    <a:pt x="455" y="745"/>
                    <a:pt x="463" y="761"/>
                  </a:cubicBezTo>
                  <a:cubicBezTo>
                    <a:pt x="472" y="777"/>
                    <a:pt x="476" y="796"/>
                    <a:pt x="476" y="821"/>
                  </a:cubicBezTo>
                  <a:cubicBezTo>
                    <a:pt x="475" y="873"/>
                    <a:pt x="454" y="912"/>
                    <a:pt x="414" y="937"/>
                  </a:cubicBezTo>
                  <a:cubicBezTo>
                    <a:pt x="374" y="963"/>
                    <a:pt x="330" y="976"/>
                    <a:pt x="282" y="976"/>
                  </a:cubicBezTo>
                  <a:cubicBezTo>
                    <a:pt x="230" y="976"/>
                    <a:pt x="185" y="962"/>
                    <a:pt x="145" y="935"/>
                  </a:cubicBezTo>
                  <a:cubicBezTo>
                    <a:pt x="104" y="909"/>
                    <a:pt x="83" y="867"/>
                    <a:pt x="83" y="809"/>
                  </a:cubicBezTo>
                  <a:cubicBezTo>
                    <a:pt x="83" y="773"/>
                    <a:pt x="93" y="739"/>
                    <a:pt x="115" y="709"/>
                  </a:cubicBezTo>
                  <a:cubicBezTo>
                    <a:pt x="136" y="681"/>
                    <a:pt x="160" y="657"/>
                    <a:pt x="186" y="638"/>
                  </a:cubicBezTo>
                  <a:close/>
                  <a:moveTo>
                    <a:pt x="442" y="240"/>
                  </a:moveTo>
                  <a:cubicBezTo>
                    <a:pt x="441" y="293"/>
                    <a:pt x="426" y="335"/>
                    <a:pt x="396" y="367"/>
                  </a:cubicBezTo>
                  <a:cubicBezTo>
                    <a:pt x="365" y="402"/>
                    <a:pt x="323" y="419"/>
                    <a:pt x="271" y="419"/>
                  </a:cubicBezTo>
                  <a:cubicBezTo>
                    <a:pt x="222" y="419"/>
                    <a:pt x="181" y="404"/>
                    <a:pt x="148" y="373"/>
                  </a:cubicBezTo>
                  <a:cubicBezTo>
                    <a:pt x="115" y="344"/>
                    <a:pt x="97" y="303"/>
                    <a:pt x="96" y="249"/>
                  </a:cubicBezTo>
                  <a:cubicBezTo>
                    <a:pt x="96" y="194"/>
                    <a:pt x="113" y="150"/>
                    <a:pt x="147" y="117"/>
                  </a:cubicBezTo>
                  <a:cubicBezTo>
                    <a:pt x="179" y="86"/>
                    <a:pt x="222" y="69"/>
                    <a:pt x="275" y="69"/>
                  </a:cubicBezTo>
                  <a:cubicBezTo>
                    <a:pt x="324" y="69"/>
                    <a:pt x="365" y="85"/>
                    <a:pt x="396" y="116"/>
                  </a:cubicBezTo>
                  <a:cubicBezTo>
                    <a:pt x="426" y="147"/>
                    <a:pt x="441" y="188"/>
                    <a:pt x="442" y="240"/>
                  </a:cubicBez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 name="Freeform 7"/>
            <p:cNvSpPr>
              <a:spLocks noEditPoints="1"/>
            </p:cNvSpPr>
            <p:nvPr userDrawn="1"/>
          </p:nvSpPr>
          <p:spPr bwMode="auto">
            <a:xfrm>
              <a:off x="2122488" y="712788"/>
              <a:ext cx="728662" cy="896938"/>
            </a:xfrm>
            <a:custGeom>
              <a:avLst/>
              <a:gdLst>
                <a:gd name="T0" fmla="*/ 588 w 589"/>
                <a:gd name="T1" fmla="*/ 345 h 728"/>
                <a:gd name="T2" fmla="*/ 528 w 589"/>
                <a:gd name="T3" fmla="*/ 100 h 728"/>
                <a:gd name="T4" fmla="*/ 311 w 589"/>
                <a:gd name="T5" fmla="*/ 0 h 728"/>
                <a:gd name="T6" fmla="*/ 79 w 589"/>
                <a:gd name="T7" fmla="*/ 105 h 728"/>
                <a:gd name="T8" fmla="*/ 0 w 589"/>
                <a:gd name="T9" fmla="*/ 362 h 728"/>
                <a:gd name="T10" fmla="*/ 86 w 589"/>
                <a:gd name="T11" fmla="*/ 623 h 728"/>
                <a:gd name="T12" fmla="*/ 331 w 589"/>
                <a:gd name="T13" fmla="*/ 728 h 728"/>
                <a:gd name="T14" fmla="*/ 448 w 589"/>
                <a:gd name="T15" fmla="*/ 709 h 728"/>
                <a:gd name="T16" fmla="*/ 555 w 589"/>
                <a:gd name="T17" fmla="*/ 660 h 728"/>
                <a:gd name="T18" fmla="*/ 562 w 589"/>
                <a:gd name="T19" fmla="*/ 647 h 728"/>
                <a:gd name="T20" fmla="*/ 568 w 589"/>
                <a:gd name="T21" fmla="*/ 569 h 728"/>
                <a:gd name="T22" fmla="*/ 557 w 589"/>
                <a:gd name="T23" fmla="*/ 564 h 728"/>
                <a:gd name="T24" fmla="*/ 341 w 589"/>
                <a:gd name="T25" fmla="*/ 652 h 728"/>
                <a:gd name="T26" fmla="*/ 149 w 589"/>
                <a:gd name="T27" fmla="*/ 564 h 728"/>
                <a:gd name="T28" fmla="*/ 83 w 589"/>
                <a:gd name="T29" fmla="*/ 354 h 728"/>
                <a:gd name="T30" fmla="*/ 580 w 589"/>
                <a:gd name="T31" fmla="*/ 354 h 728"/>
                <a:gd name="T32" fmla="*/ 588 w 589"/>
                <a:gd name="T33" fmla="*/ 345 h 728"/>
                <a:gd name="T34" fmla="*/ 87 w 589"/>
                <a:gd name="T35" fmla="*/ 285 h 728"/>
                <a:gd name="T36" fmla="*/ 156 w 589"/>
                <a:gd name="T37" fmla="*/ 126 h 728"/>
                <a:gd name="T38" fmla="*/ 307 w 589"/>
                <a:gd name="T39" fmla="*/ 66 h 728"/>
                <a:gd name="T40" fmla="*/ 451 w 589"/>
                <a:gd name="T41" fmla="*/ 129 h 728"/>
                <a:gd name="T42" fmla="*/ 501 w 589"/>
                <a:gd name="T43" fmla="*/ 285 h 728"/>
                <a:gd name="T44" fmla="*/ 87 w 589"/>
                <a:gd name="T45" fmla="*/ 285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9" h="728">
                  <a:moveTo>
                    <a:pt x="588" y="345"/>
                  </a:moveTo>
                  <a:cubicBezTo>
                    <a:pt x="589" y="247"/>
                    <a:pt x="569" y="165"/>
                    <a:pt x="528" y="100"/>
                  </a:cubicBezTo>
                  <a:cubicBezTo>
                    <a:pt x="485" y="34"/>
                    <a:pt x="413" y="1"/>
                    <a:pt x="311" y="0"/>
                  </a:cubicBezTo>
                  <a:cubicBezTo>
                    <a:pt x="208" y="1"/>
                    <a:pt x="130" y="36"/>
                    <a:pt x="79" y="105"/>
                  </a:cubicBezTo>
                  <a:cubicBezTo>
                    <a:pt x="26" y="173"/>
                    <a:pt x="0" y="259"/>
                    <a:pt x="0" y="362"/>
                  </a:cubicBezTo>
                  <a:cubicBezTo>
                    <a:pt x="0" y="469"/>
                    <a:pt x="29" y="556"/>
                    <a:pt x="86" y="623"/>
                  </a:cubicBezTo>
                  <a:cubicBezTo>
                    <a:pt x="143" y="691"/>
                    <a:pt x="225" y="725"/>
                    <a:pt x="331" y="728"/>
                  </a:cubicBezTo>
                  <a:cubicBezTo>
                    <a:pt x="370" y="728"/>
                    <a:pt x="409" y="721"/>
                    <a:pt x="448" y="709"/>
                  </a:cubicBezTo>
                  <a:cubicBezTo>
                    <a:pt x="486" y="698"/>
                    <a:pt x="522" y="681"/>
                    <a:pt x="555" y="660"/>
                  </a:cubicBezTo>
                  <a:cubicBezTo>
                    <a:pt x="562" y="647"/>
                    <a:pt x="562" y="647"/>
                    <a:pt x="562" y="647"/>
                  </a:cubicBezTo>
                  <a:cubicBezTo>
                    <a:pt x="562" y="620"/>
                    <a:pt x="564" y="594"/>
                    <a:pt x="568" y="569"/>
                  </a:cubicBezTo>
                  <a:cubicBezTo>
                    <a:pt x="557" y="564"/>
                    <a:pt x="557" y="564"/>
                    <a:pt x="557" y="564"/>
                  </a:cubicBezTo>
                  <a:cubicBezTo>
                    <a:pt x="495" y="622"/>
                    <a:pt x="423" y="651"/>
                    <a:pt x="341" y="652"/>
                  </a:cubicBezTo>
                  <a:cubicBezTo>
                    <a:pt x="257" y="651"/>
                    <a:pt x="193" y="622"/>
                    <a:pt x="149" y="564"/>
                  </a:cubicBezTo>
                  <a:cubicBezTo>
                    <a:pt x="105" y="508"/>
                    <a:pt x="83" y="438"/>
                    <a:pt x="83" y="354"/>
                  </a:cubicBezTo>
                  <a:cubicBezTo>
                    <a:pt x="580" y="354"/>
                    <a:pt x="580" y="354"/>
                    <a:pt x="580" y="354"/>
                  </a:cubicBezTo>
                  <a:lnTo>
                    <a:pt x="588" y="345"/>
                  </a:lnTo>
                  <a:close/>
                  <a:moveTo>
                    <a:pt x="87" y="285"/>
                  </a:moveTo>
                  <a:cubicBezTo>
                    <a:pt x="96" y="220"/>
                    <a:pt x="119" y="167"/>
                    <a:pt x="156" y="126"/>
                  </a:cubicBezTo>
                  <a:cubicBezTo>
                    <a:pt x="191" y="87"/>
                    <a:pt x="241" y="67"/>
                    <a:pt x="307" y="66"/>
                  </a:cubicBezTo>
                  <a:cubicBezTo>
                    <a:pt x="370" y="67"/>
                    <a:pt x="418" y="88"/>
                    <a:pt x="451" y="129"/>
                  </a:cubicBezTo>
                  <a:cubicBezTo>
                    <a:pt x="485" y="170"/>
                    <a:pt x="501" y="222"/>
                    <a:pt x="501" y="285"/>
                  </a:cubicBezTo>
                  <a:lnTo>
                    <a:pt x="87" y="285"/>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 name="Freeform 8"/>
            <p:cNvSpPr>
              <a:spLocks/>
            </p:cNvSpPr>
            <p:nvPr userDrawn="1"/>
          </p:nvSpPr>
          <p:spPr bwMode="auto">
            <a:xfrm>
              <a:off x="2954338" y="712788"/>
              <a:ext cx="671512" cy="881063"/>
            </a:xfrm>
            <a:custGeom>
              <a:avLst/>
              <a:gdLst>
                <a:gd name="T0" fmla="*/ 536 w 543"/>
                <a:gd name="T1" fmla="*/ 711 h 715"/>
                <a:gd name="T2" fmla="*/ 458 w 543"/>
                <a:gd name="T3" fmla="*/ 714 h 715"/>
                <a:gd name="T4" fmla="*/ 451 w 543"/>
                <a:gd name="T5" fmla="*/ 706 h 715"/>
                <a:gd name="T6" fmla="*/ 452 w 543"/>
                <a:gd name="T7" fmla="*/ 531 h 715"/>
                <a:gd name="T8" fmla="*/ 450 w 543"/>
                <a:gd name="T9" fmla="*/ 273 h 715"/>
                <a:gd name="T10" fmla="*/ 447 w 543"/>
                <a:gd name="T11" fmla="*/ 196 h 715"/>
                <a:gd name="T12" fmla="*/ 426 w 543"/>
                <a:gd name="T13" fmla="*/ 134 h 715"/>
                <a:gd name="T14" fmla="*/ 384 w 543"/>
                <a:gd name="T15" fmla="*/ 90 h 715"/>
                <a:gd name="T16" fmla="*/ 308 w 543"/>
                <a:gd name="T17" fmla="*/ 75 h 715"/>
                <a:gd name="T18" fmla="*/ 93 w 543"/>
                <a:gd name="T19" fmla="*/ 165 h 715"/>
                <a:gd name="T20" fmla="*/ 93 w 543"/>
                <a:gd name="T21" fmla="*/ 195 h 715"/>
                <a:gd name="T22" fmla="*/ 105 w 543"/>
                <a:gd name="T23" fmla="*/ 703 h 715"/>
                <a:gd name="T24" fmla="*/ 96 w 543"/>
                <a:gd name="T25" fmla="*/ 711 h 715"/>
                <a:gd name="T26" fmla="*/ 20 w 543"/>
                <a:gd name="T27" fmla="*/ 715 h 715"/>
                <a:gd name="T28" fmla="*/ 13 w 543"/>
                <a:gd name="T29" fmla="*/ 706 h 715"/>
                <a:gd name="T30" fmla="*/ 14 w 543"/>
                <a:gd name="T31" fmla="*/ 544 h 715"/>
                <a:gd name="T32" fmla="*/ 14 w 543"/>
                <a:gd name="T33" fmla="*/ 437 h 715"/>
                <a:gd name="T34" fmla="*/ 0 w 543"/>
                <a:gd name="T35" fmla="*/ 31 h 715"/>
                <a:gd name="T36" fmla="*/ 7 w 543"/>
                <a:gd name="T37" fmla="*/ 22 h 715"/>
                <a:gd name="T38" fmla="*/ 86 w 543"/>
                <a:gd name="T39" fmla="*/ 8 h 715"/>
                <a:gd name="T40" fmla="*/ 93 w 543"/>
                <a:gd name="T41" fmla="*/ 16 h 715"/>
                <a:gd name="T42" fmla="*/ 88 w 543"/>
                <a:gd name="T43" fmla="*/ 87 h 715"/>
                <a:gd name="T44" fmla="*/ 204 w 543"/>
                <a:gd name="T45" fmla="*/ 23 h 715"/>
                <a:gd name="T46" fmla="*/ 331 w 543"/>
                <a:gd name="T47" fmla="*/ 0 h 715"/>
                <a:gd name="T48" fmla="*/ 440 w 543"/>
                <a:gd name="T49" fmla="*/ 26 h 715"/>
                <a:gd name="T50" fmla="*/ 514 w 543"/>
                <a:gd name="T51" fmla="*/ 111 h 715"/>
                <a:gd name="T52" fmla="*/ 533 w 543"/>
                <a:gd name="T53" fmla="*/ 197 h 715"/>
                <a:gd name="T54" fmla="*/ 533 w 543"/>
                <a:gd name="T55" fmla="*/ 286 h 715"/>
                <a:gd name="T56" fmla="*/ 536 w 543"/>
                <a:gd name="T57" fmla="*/ 425 h 715"/>
                <a:gd name="T58" fmla="*/ 543 w 543"/>
                <a:gd name="T59" fmla="*/ 703 h 715"/>
                <a:gd name="T60" fmla="*/ 536 w 543"/>
                <a:gd name="T61" fmla="*/ 711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3" h="715">
                  <a:moveTo>
                    <a:pt x="536" y="711"/>
                  </a:moveTo>
                  <a:cubicBezTo>
                    <a:pt x="510" y="713"/>
                    <a:pt x="484" y="714"/>
                    <a:pt x="458" y="714"/>
                  </a:cubicBezTo>
                  <a:cubicBezTo>
                    <a:pt x="451" y="706"/>
                    <a:pt x="451" y="706"/>
                    <a:pt x="451" y="706"/>
                  </a:cubicBezTo>
                  <a:cubicBezTo>
                    <a:pt x="451" y="647"/>
                    <a:pt x="451" y="589"/>
                    <a:pt x="452" y="531"/>
                  </a:cubicBezTo>
                  <a:cubicBezTo>
                    <a:pt x="451" y="445"/>
                    <a:pt x="451" y="358"/>
                    <a:pt x="450" y="273"/>
                  </a:cubicBezTo>
                  <a:cubicBezTo>
                    <a:pt x="450" y="245"/>
                    <a:pt x="449" y="220"/>
                    <a:pt x="447" y="196"/>
                  </a:cubicBezTo>
                  <a:cubicBezTo>
                    <a:pt x="444" y="173"/>
                    <a:pt x="437" y="152"/>
                    <a:pt x="426" y="134"/>
                  </a:cubicBezTo>
                  <a:cubicBezTo>
                    <a:pt x="416" y="116"/>
                    <a:pt x="403" y="101"/>
                    <a:pt x="384" y="90"/>
                  </a:cubicBezTo>
                  <a:cubicBezTo>
                    <a:pt x="365" y="80"/>
                    <a:pt x="339" y="75"/>
                    <a:pt x="308" y="75"/>
                  </a:cubicBezTo>
                  <a:cubicBezTo>
                    <a:pt x="226" y="77"/>
                    <a:pt x="155" y="107"/>
                    <a:pt x="93" y="165"/>
                  </a:cubicBezTo>
                  <a:cubicBezTo>
                    <a:pt x="93" y="195"/>
                    <a:pt x="93" y="195"/>
                    <a:pt x="93" y="195"/>
                  </a:cubicBezTo>
                  <a:cubicBezTo>
                    <a:pt x="92" y="365"/>
                    <a:pt x="96" y="535"/>
                    <a:pt x="105" y="703"/>
                  </a:cubicBezTo>
                  <a:cubicBezTo>
                    <a:pt x="96" y="711"/>
                    <a:pt x="96" y="711"/>
                    <a:pt x="96" y="711"/>
                  </a:cubicBezTo>
                  <a:cubicBezTo>
                    <a:pt x="70" y="711"/>
                    <a:pt x="45" y="712"/>
                    <a:pt x="20" y="715"/>
                  </a:cubicBezTo>
                  <a:cubicBezTo>
                    <a:pt x="13" y="706"/>
                    <a:pt x="13" y="706"/>
                    <a:pt x="13" y="706"/>
                  </a:cubicBezTo>
                  <a:cubicBezTo>
                    <a:pt x="14" y="652"/>
                    <a:pt x="14" y="598"/>
                    <a:pt x="14" y="544"/>
                  </a:cubicBezTo>
                  <a:cubicBezTo>
                    <a:pt x="14" y="437"/>
                    <a:pt x="14" y="437"/>
                    <a:pt x="14" y="437"/>
                  </a:cubicBezTo>
                  <a:cubicBezTo>
                    <a:pt x="14" y="301"/>
                    <a:pt x="9" y="166"/>
                    <a:pt x="0" y="31"/>
                  </a:cubicBezTo>
                  <a:cubicBezTo>
                    <a:pt x="7" y="22"/>
                    <a:pt x="7" y="22"/>
                    <a:pt x="7" y="22"/>
                  </a:cubicBezTo>
                  <a:cubicBezTo>
                    <a:pt x="34" y="18"/>
                    <a:pt x="60" y="13"/>
                    <a:pt x="86" y="8"/>
                  </a:cubicBezTo>
                  <a:cubicBezTo>
                    <a:pt x="93" y="16"/>
                    <a:pt x="93" y="16"/>
                    <a:pt x="93" y="16"/>
                  </a:cubicBezTo>
                  <a:cubicBezTo>
                    <a:pt x="91" y="39"/>
                    <a:pt x="89" y="63"/>
                    <a:pt x="88" y="87"/>
                  </a:cubicBezTo>
                  <a:cubicBezTo>
                    <a:pt x="126" y="61"/>
                    <a:pt x="165" y="39"/>
                    <a:pt x="204" y="23"/>
                  </a:cubicBezTo>
                  <a:cubicBezTo>
                    <a:pt x="243" y="8"/>
                    <a:pt x="285" y="0"/>
                    <a:pt x="331" y="0"/>
                  </a:cubicBezTo>
                  <a:cubicBezTo>
                    <a:pt x="371" y="0"/>
                    <a:pt x="407" y="9"/>
                    <a:pt x="440" y="26"/>
                  </a:cubicBezTo>
                  <a:cubicBezTo>
                    <a:pt x="473" y="43"/>
                    <a:pt x="497" y="72"/>
                    <a:pt x="514" y="111"/>
                  </a:cubicBezTo>
                  <a:cubicBezTo>
                    <a:pt x="525" y="137"/>
                    <a:pt x="531" y="166"/>
                    <a:pt x="533" y="197"/>
                  </a:cubicBezTo>
                  <a:cubicBezTo>
                    <a:pt x="534" y="227"/>
                    <a:pt x="534" y="257"/>
                    <a:pt x="533" y="286"/>
                  </a:cubicBezTo>
                  <a:cubicBezTo>
                    <a:pt x="536" y="425"/>
                    <a:pt x="536" y="425"/>
                    <a:pt x="536" y="425"/>
                  </a:cubicBezTo>
                  <a:cubicBezTo>
                    <a:pt x="538" y="517"/>
                    <a:pt x="540" y="610"/>
                    <a:pt x="543" y="703"/>
                  </a:cubicBezTo>
                  <a:lnTo>
                    <a:pt x="536" y="711"/>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 name="Freeform 9"/>
            <p:cNvSpPr>
              <a:spLocks noEditPoints="1"/>
            </p:cNvSpPr>
            <p:nvPr userDrawn="1"/>
          </p:nvSpPr>
          <p:spPr bwMode="auto">
            <a:xfrm>
              <a:off x="3741738" y="258762"/>
              <a:ext cx="717550" cy="1341438"/>
            </a:xfrm>
            <a:custGeom>
              <a:avLst/>
              <a:gdLst>
                <a:gd name="T0" fmla="*/ 570 w 580"/>
                <a:gd name="T1" fmla="*/ 534 h 1087"/>
                <a:gd name="T2" fmla="*/ 570 w 580"/>
                <a:gd name="T3" fmla="*/ 332 h 1087"/>
                <a:gd name="T4" fmla="*/ 573 w 580"/>
                <a:gd name="T5" fmla="*/ 8 h 1087"/>
                <a:gd name="T6" fmla="*/ 564 w 580"/>
                <a:gd name="T7" fmla="*/ 0 h 1087"/>
                <a:gd name="T8" fmla="*/ 483 w 580"/>
                <a:gd name="T9" fmla="*/ 15 h 1087"/>
                <a:gd name="T10" fmla="*/ 475 w 580"/>
                <a:gd name="T11" fmla="*/ 23 h 1087"/>
                <a:gd name="T12" fmla="*/ 485 w 580"/>
                <a:gd name="T13" fmla="*/ 200 h 1087"/>
                <a:gd name="T14" fmla="*/ 487 w 580"/>
                <a:gd name="T15" fmla="*/ 379 h 1087"/>
                <a:gd name="T16" fmla="*/ 422 w 580"/>
                <a:gd name="T17" fmla="*/ 376 h 1087"/>
                <a:gd name="T18" fmla="*/ 212 w 580"/>
                <a:gd name="T19" fmla="*/ 407 h 1087"/>
                <a:gd name="T20" fmla="*/ 48 w 580"/>
                <a:gd name="T21" fmla="*/ 547 h 1087"/>
                <a:gd name="T22" fmla="*/ 1 w 580"/>
                <a:gd name="T23" fmla="*/ 743 h 1087"/>
                <a:gd name="T24" fmla="*/ 79 w 580"/>
                <a:gd name="T25" fmla="*/ 982 h 1087"/>
                <a:gd name="T26" fmla="*/ 296 w 580"/>
                <a:gd name="T27" fmla="*/ 1087 h 1087"/>
                <a:gd name="T28" fmla="*/ 495 w 580"/>
                <a:gd name="T29" fmla="*/ 1011 h 1087"/>
                <a:gd name="T30" fmla="*/ 495 w 580"/>
                <a:gd name="T31" fmla="*/ 1073 h 1087"/>
                <a:gd name="T32" fmla="*/ 501 w 580"/>
                <a:gd name="T33" fmla="*/ 1081 h 1087"/>
                <a:gd name="T34" fmla="*/ 573 w 580"/>
                <a:gd name="T35" fmla="*/ 1078 h 1087"/>
                <a:gd name="T36" fmla="*/ 580 w 580"/>
                <a:gd name="T37" fmla="*/ 1071 h 1087"/>
                <a:gd name="T38" fmla="*/ 570 w 580"/>
                <a:gd name="T39" fmla="*/ 534 h 1087"/>
                <a:gd name="T40" fmla="*/ 315 w 580"/>
                <a:gd name="T41" fmla="*/ 1013 h 1087"/>
                <a:gd name="T42" fmla="*/ 145 w 580"/>
                <a:gd name="T43" fmla="*/ 929 h 1087"/>
                <a:gd name="T44" fmla="*/ 88 w 580"/>
                <a:gd name="T45" fmla="*/ 738 h 1087"/>
                <a:gd name="T46" fmla="*/ 179 w 580"/>
                <a:gd name="T47" fmla="*/ 510 h 1087"/>
                <a:gd name="T48" fmla="*/ 413 w 580"/>
                <a:gd name="T49" fmla="*/ 446 h 1087"/>
                <a:gd name="T50" fmla="*/ 489 w 580"/>
                <a:gd name="T51" fmla="*/ 449 h 1087"/>
                <a:gd name="T52" fmla="*/ 492 w 580"/>
                <a:gd name="T53" fmla="*/ 665 h 1087"/>
                <a:gd name="T54" fmla="*/ 494 w 580"/>
                <a:gd name="T55" fmla="*/ 930 h 1087"/>
                <a:gd name="T56" fmla="*/ 315 w 580"/>
                <a:gd name="T57" fmla="*/ 1013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80" h="1087">
                  <a:moveTo>
                    <a:pt x="570" y="534"/>
                  </a:moveTo>
                  <a:cubicBezTo>
                    <a:pt x="570" y="332"/>
                    <a:pt x="570" y="332"/>
                    <a:pt x="570" y="332"/>
                  </a:cubicBezTo>
                  <a:cubicBezTo>
                    <a:pt x="571" y="223"/>
                    <a:pt x="572" y="115"/>
                    <a:pt x="573" y="8"/>
                  </a:cubicBezTo>
                  <a:cubicBezTo>
                    <a:pt x="564" y="0"/>
                    <a:pt x="564" y="0"/>
                    <a:pt x="564" y="0"/>
                  </a:cubicBezTo>
                  <a:cubicBezTo>
                    <a:pt x="537" y="6"/>
                    <a:pt x="510" y="11"/>
                    <a:pt x="483" y="15"/>
                  </a:cubicBezTo>
                  <a:cubicBezTo>
                    <a:pt x="475" y="23"/>
                    <a:pt x="475" y="23"/>
                    <a:pt x="475" y="23"/>
                  </a:cubicBezTo>
                  <a:cubicBezTo>
                    <a:pt x="481" y="81"/>
                    <a:pt x="484" y="140"/>
                    <a:pt x="485" y="200"/>
                  </a:cubicBezTo>
                  <a:cubicBezTo>
                    <a:pt x="484" y="259"/>
                    <a:pt x="485" y="319"/>
                    <a:pt x="487" y="379"/>
                  </a:cubicBezTo>
                  <a:cubicBezTo>
                    <a:pt x="466" y="378"/>
                    <a:pt x="444" y="377"/>
                    <a:pt x="422" y="376"/>
                  </a:cubicBezTo>
                  <a:cubicBezTo>
                    <a:pt x="347" y="375"/>
                    <a:pt x="277" y="386"/>
                    <a:pt x="212" y="407"/>
                  </a:cubicBezTo>
                  <a:cubicBezTo>
                    <a:pt x="145" y="430"/>
                    <a:pt x="90" y="477"/>
                    <a:pt x="48" y="547"/>
                  </a:cubicBezTo>
                  <a:cubicBezTo>
                    <a:pt x="16" y="608"/>
                    <a:pt x="0" y="673"/>
                    <a:pt x="1" y="743"/>
                  </a:cubicBezTo>
                  <a:cubicBezTo>
                    <a:pt x="1" y="835"/>
                    <a:pt x="27" y="915"/>
                    <a:pt x="79" y="982"/>
                  </a:cubicBezTo>
                  <a:cubicBezTo>
                    <a:pt x="129" y="1051"/>
                    <a:pt x="202" y="1086"/>
                    <a:pt x="296" y="1087"/>
                  </a:cubicBezTo>
                  <a:cubicBezTo>
                    <a:pt x="372" y="1087"/>
                    <a:pt x="438" y="1062"/>
                    <a:pt x="495" y="1011"/>
                  </a:cubicBezTo>
                  <a:cubicBezTo>
                    <a:pt x="495" y="1073"/>
                    <a:pt x="495" y="1073"/>
                    <a:pt x="495" y="1073"/>
                  </a:cubicBezTo>
                  <a:cubicBezTo>
                    <a:pt x="501" y="1081"/>
                    <a:pt x="501" y="1081"/>
                    <a:pt x="501" y="1081"/>
                  </a:cubicBezTo>
                  <a:cubicBezTo>
                    <a:pt x="525" y="1079"/>
                    <a:pt x="549" y="1078"/>
                    <a:pt x="573" y="1078"/>
                  </a:cubicBezTo>
                  <a:cubicBezTo>
                    <a:pt x="580" y="1071"/>
                    <a:pt x="580" y="1071"/>
                    <a:pt x="580" y="1071"/>
                  </a:cubicBezTo>
                  <a:cubicBezTo>
                    <a:pt x="573" y="892"/>
                    <a:pt x="570" y="713"/>
                    <a:pt x="570" y="534"/>
                  </a:cubicBezTo>
                  <a:close/>
                  <a:moveTo>
                    <a:pt x="315" y="1013"/>
                  </a:moveTo>
                  <a:cubicBezTo>
                    <a:pt x="239" y="1012"/>
                    <a:pt x="182" y="984"/>
                    <a:pt x="145" y="929"/>
                  </a:cubicBezTo>
                  <a:cubicBezTo>
                    <a:pt x="107" y="876"/>
                    <a:pt x="88" y="813"/>
                    <a:pt x="88" y="738"/>
                  </a:cubicBezTo>
                  <a:cubicBezTo>
                    <a:pt x="89" y="631"/>
                    <a:pt x="119" y="554"/>
                    <a:pt x="179" y="510"/>
                  </a:cubicBezTo>
                  <a:cubicBezTo>
                    <a:pt x="237" y="467"/>
                    <a:pt x="315" y="446"/>
                    <a:pt x="413" y="446"/>
                  </a:cubicBezTo>
                  <a:cubicBezTo>
                    <a:pt x="438" y="446"/>
                    <a:pt x="464" y="447"/>
                    <a:pt x="489" y="449"/>
                  </a:cubicBezTo>
                  <a:cubicBezTo>
                    <a:pt x="489" y="521"/>
                    <a:pt x="490" y="593"/>
                    <a:pt x="492" y="665"/>
                  </a:cubicBezTo>
                  <a:cubicBezTo>
                    <a:pt x="492" y="753"/>
                    <a:pt x="493" y="841"/>
                    <a:pt x="494" y="930"/>
                  </a:cubicBezTo>
                  <a:cubicBezTo>
                    <a:pt x="446" y="985"/>
                    <a:pt x="386" y="1012"/>
                    <a:pt x="315" y="1013"/>
                  </a:cubicBez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 name="Freeform 10"/>
            <p:cNvSpPr>
              <a:spLocks noEditPoints="1"/>
            </p:cNvSpPr>
            <p:nvPr userDrawn="1"/>
          </p:nvSpPr>
          <p:spPr bwMode="auto">
            <a:xfrm>
              <a:off x="4605338" y="712788"/>
              <a:ext cx="615950" cy="896938"/>
            </a:xfrm>
            <a:custGeom>
              <a:avLst/>
              <a:gdLst>
                <a:gd name="T0" fmla="*/ 489 w 498"/>
                <a:gd name="T1" fmla="*/ 525 h 728"/>
                <a:gd name="T2" fmla="*/ 489 w 498"/>
                <a:gd name="T3" fmla="*/ 432 h 728"/>
                <a:gd name="T4" fmla="*/ 490 w 498"/>
                <a:gd name="T5" fmla="*/ 206 h 728"/>
                <a:gd name="T6" fmla="*/ 479 w 498"/>
                <a:gd name="T7" fmla="*/ 109 h 728"/>
                <a:gd name="T8" fmla="*/ 398 w 498"/>
                <a:gd name="T9" fmla="*/ 22 h 728"/>
                <a:gd name="T10" fmla="*/ 281 w 498"/>
                <a:gd name="T11" fmla="*/ 0 h 728"/>
                <a:gd name="T12" fmla="*/ 82 w 498"/>
                <a:gd name="T13" fmla="*/ 45 h 728"/>
                <a:gd name="T14" fmla="*/ 75 w 498"/>
                <a:gd name="T15" fmla="*/ 54 h 728"/>
                <a:gd name="T16" fmla="*/ 75 w 498"/>
                <a:gd name="T17" fmla="*/ 85 h 728"/>
                <a:gd name="T18" fmla="*/ 71 w 498"/>
                <a:gd name="T19" fmla="*/ 118 h 728"/>
                <a:gd name="T20" fmla="*/ 82 w 498"/>
                <a:gd name="T21" fmla="*/ 123 h 728"/>
                <a:gd name="T22" fmla="*/ 261 w 498"/>
                <a:gd name="T23" fmla="*/ 72 h 728"/>
                <a:gd name="T24" fmla="*/ 376 w 498"/>
                <a:gd name="T25" fmla="*/ 102 h 728"/>
                <a:gd name="T26" fmla="*/ 411 w 498"/>
                <a:gd name="T27" fmla="*/ 214 h 728"/>
                <a:gd name="T28" fmla="*/ 411 w 498"/>
                <a:gd name="T29" fmla="*/ 241 h 728"/>
                <a:gd name="T30" fmla="*/ 278 w 498"/>
                <a:gd name="T31" fmla="*/ 259 h 728"/>
                <a:gd name="T32" fmla="*/ 145 w 498"/>
                <a:gd name="T33" fmla="*/ 296 h 728"/>
                <a:gd name="T34" fmla="*/ 42 w 498"/>
                <a:gd name="T35" fmla="*/ 369 h 728"/>
                <a:gd name="T36" fmla="*/ 0 w 498"/>
                <a:gd name="T37" fmla="*/ 506 h 728"/>
                <a:gd name="T38" fmla="*/ 63 w 498"/>
                <a:gd name="T39" fmla="*/ 665 h 728"/>
                <a:gd name="T40" fmla="*/ 220 w 498"/>
                <a:gd name="T41" fmla="*/ 728 h 728"/>
                <a:gd name="T42" fmla="*/ 411 w 498"/>
                <a:gd name="T43" fmla="*/ 659 h 728"/>
                <a:gd name="T44" fmla="*/ 412 w 498"/>
                <a:gd name="T45" fmla="*/ 707 h 728"/>
                <a:gd name="T46" fmla="*/ 420 w 498"/>
                <a:gd name="T47" fmla="*/ 715 h 728"/>
                <a:gd name="T48" fmla="*/ 490 w 498"/>
                <a:gd name="T49" fmla="*/ 711 h 728"/>
                <a:gd name="T50" fmla="*/ 498 w 498"/>
                <a:gd name="T51" fmla="*/ 701 h 728"/>
                <a:gd name="T52" fmla="*/ 489 w 498"/>
                <a:gd name="T53" fmla="*/ 525 h 728"/>
                <a:gd name="T54" fmla="*/ 411 w 498"/>
                <a:gd name="T55" fmla="*/ 583 h 728"/>
                <a:gd name="T56" fmla="*/ 237 w 498"/>
                <a:gd name="T57" fmla="*/ 655 h 728"/>
                <a:gd name="T58" fmla="*/ 129 w 498"/>
                <a:gd name="T59" fmla="*/ 614 h 728"/>
                <a:gd name="T60" fmla="*/ 83 w 498"/>
                <a:gd name="T61" fmla="*/ 507 h 728"/>
                <a:gd name="T62" fmla="*/ 119 w 498"/>
                <a:gd name="T63" fmla="*/ 405 h 728"/>
                <a:gd name="T64" fmla="*/ 203 w 498"/>
                <a:gd name="T65" fmla="*/ 350 h 728"/>
                <a:gd name="T66" fmla="*/ 310 w 498"/>
                <a:gd name="T67" fmla="*/ 323 h 728"/>
                <a:gd name="T68" fmla="*/ 411 w 498"/>
                <a:gd name="T69" fmla="*/ 310 h 728"/>
                <a:gd name="T70" fmla="*/ 411 w 498"/>
                <a:gd name="T71" fmla="*/ 583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8" h="728">
                  <a:moveTo>
                    <a:pt x="489" y="525"/>
                  </a:moveTo>
                  <a:cubicBezTo>
                    <a:pt x="489" y="432"/>
                    <a:pt x="489" y="432"/>
                    <a:pt x="489" y="432"/>
                  </a:cubicBezTo>
                  <a:cubicBezTo>
                    <a:pt x="489" y="356"/>
                    <a:pt x="489" y="280"/>
                    <a:pt x="490" y="206"/>
                  </a:cubicBezTo>
                  <a:cubicBezTo>
                    <a:pt x="491" y="173"/>
                    <a:pt x="488" y="140"/>
                    <a:pt x="479" y="109"/>
                  </a:cubicBezTo>
                  <a:cubicBezTo>
                    <a:pt x="462" y="67"/>
                    <a:pt x="435" y="38"/>
                    <a:pt x="398" y="22"/>
                  </a:cubicBezTo>
                  <a:cubicBezTo>
                    <a:pt x="362" y="7"/>
                    <a:pt x="323" y="0"/>
                    <a:pt x="281" y="0"/>
                  </a:cubicBezTo>
                  <a:cubicBezTo>
                    <a:pt x="211" y="0"/>
                    <a:pt x="145" y="15"/>
                    <a:pt x="82" y="45"/>
                  </a:cubicBezTo>
                  <a:cubicBezTo>
                    <a:pt x="75" y="54"/>
                    <a:pt x="75" y="54"/>
                    <a:pt x="75" y="54"/>
                  </a:cubicBezTo>
                  <a:cubicBezTo>
                    <a:pt x="75" y="64"/>
                    <a:pt x="75" y="74"/>
                    <a:pt x="75" y="85"/>
                  </a:cubicBezTo>
                  <a:cubicBezTo>
                    <a:pt x="74" y="97"/>
                    <a:pt x="73" y="107"/>
                    <a:pt x="71" y="118"/>
                  </a:cubicBezTo>
                  <a:cubicBezTo>
                    <a:pt x="82" y="123"/>
                    <a:pt x="82" y="123"/>
                    <a:pt x="82" y="123"/>
                  </a:cubicBezTo>
                  <a:cubicBezTo>
                    <a:pt x="138" y="90"/>
                    <a:pt x="198" y="73"/>
                    <a:pt x="261" y="72"/>
                  </a:cubicBezTo>
                  <a:cubicBezTo>
                    <a:pt x="313" y="72"/>
                    <a:pt x="351" y="82"/>
                    <a:pt x="376" y="102"/>
                  </a:cubicBezTo>
                  <a:cubicBezTo>
                    <a:pt x="399" y="123"/>
                    <a:pt x="411" y="160"/>
                    <a:pt x="411" y="214"/>
                  </a:cubicBezTo>
                  <a:cubicBezTo>
                    <a:pt x="411" y="241"/>
                    <a:pt x="411" y="241"/>
                    <a:pt x="411" y="241"/>
                  </a:cubicBezTo>
                  <a:cubicBezTo>
                    <a:pt x="369" y="247"/>
                    <a:pt x="325" y="253"/>
                    <a:pt x="278" y="259"/>
                  </a:cubicBezTo>
                  <a:cubicBezTo>
                    <a:pt x="231" y="266"/>
                    <a:pt x="187" y="278"/>
                    <a:pt x="145" y="296"/>
                  </a:cubicBezTo>
                  <a:cubicBezTo>
                    <a:pt x="103" y="311"/>
                    <a:pt x="69" y="336"/>
                    <a:pt x="42" y="369"/>
                  </a:cubicBezTo>
                  <a:cubicBezTo>
                    <a:pt x="14" y="403"/>
                    <a:pt x="0" y="448"/>
                    <a:pt x="0" y="506"/>
                  </a:cubicBezTo>
                  <a:cubicBezTo>
                    <a:pt x="1" y="573"/>
                    <a:pt x="22" y="626"/>
                    <a:pt x="63" y="665"/>
                  </a:cubicBezTo>
                  <a:cubicBezTo>
                    <a:pt x="103" y="706"/>
                    <a:pt x="155" y="727"/>
                    <a:pt x="220" y="728"/>
                  </a:cubicBezTo>
                  <a:cubicBezTo>
                    <a:pt x="290" y="727"/>
                    <a:pt x="354" y="704"/>
                    <a:pt x="411" y="659"/>
                  </a:cubicBezTo>
                  <a:cubicBezTo>
                    <a:pt x="412" y="707"/>
                    <a:pt x="412" y="707"/>
                    <a:pt x="412" y="707"/>
                  </a:cubicBezTo>
                  <a:cubicBezTo>
                    <a:pt x="420" y="715"/>
                    <a:pt x="420" y="715"/>
                    <a:pt x="420" y="715"/>
                  </a:cubicBezTo>
                  <a:cubicBezTo>
                    <a:pt x="443" y="713"/>
                    <a:pt x="466" y="712"/>
                    <a:pt x="490" y="711"/>
                  </a:cubicBezTo>
                  <a:cubicBezTo>
                    <a:pt x="498" y="701"/>
                    <a:pt x="498" y="701"/>
                    <a:pt x="498" y="701"/>
                  </a:cubicBezTo>
                  <a:cubicBezTo>
                    <a:pt x="492" y="642"/>
                    <a:pt x="489" y="583"/>
                    <a:pt x="489" y="525"/>
                  </a:cubicBezTo>
                  <a:close/>
                  <a:moveTo>
                    <a:pt x="411" y="583"/>
                  </a:moveTo>
                  <a:cubicBezTo>
                    <a:pt x="361" y="631"/>
                    <a:pt x="303" y="655"/>
                    <a:pt x="237" y="655"/>
                  </a:cubicBezTo>
                  <a:cubicBezTo>
                    <a:pt x="194" y="655"/>
                    <a:pt x="158" y="641"/>
                    <a:pt x="129" y="614"/>
                  </a:cubicBezTo>
                  <a:cubicBezTo>
                    <a:pt x="99" y="588"/>
                    <a:pt x="84" y="552"/>
                    <a:pt x="83" y="507"/>
                  </a:cubicBezTo>
                  <a:cubicBezTo>
                    <a:pt x="83" y="464"/>
                    <a:pt x="95" y="430"/>
                    <a:pt x="119" y="405"/>
                  </a:cubicBezTo>
                  <a:cubicBezTo>
                    <a:pt x="141" y="380"/>
                    <a:pt x="169" y="362"/>
                    <a:pt x="203" y="350"/>
                  </a:cubicBezTo>
                  <a:cubicBezTo>
                    <a:pt x="237" y="339"/>
                    <a:pt x="272" y="330"/>
                    <a:pt x="310" y="323"/>
                  </a:cubicBezTo>
                  <a:cubicBezTo>
                    <a:pt x="347" y="318"/>
                    <a:pt x="381" y="313"/>
                    <a:pt x="411" y="310"/>
                  </a:cubicBezTo>
                  <a:lnTo>
                    <a:pt x="411" y="583"/>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cxnSp>
        <p:nvCxnSpPr>
          <p:cNvPr id="21" name="Straight Connector 20">
            <a:extLst>
              <a:ext uri="{FF2B5EF4-FFF2-40B4-BE49-F238E27FC236}">
                <a16:creationId xmlns:a16="http://schemas.microsoft.com/office/drawing/2014/main" id="{8EF27443-2621-F143-8AF2-164810FB19C8}"/>
              </a:ext>
            </a:extLst>
          </p:cNvPr>
          <p:cNvCxnSpPr/>
          <p:nvPr userDrawn="1"/>
        </p:nvCxnSpPr>
        <p:spPr bwMode="auto">
          <a:xfrm rot="5400000">
            <a:off x="11019912" y="6667373"/>
            <a:ext cx="360000" cy="1256"/>
          </a:xfrm>
          <a:prstGeom prst="line">
            <a:avLst/>
          </a:prstGeom>
          <a:noFill/>
          <a:ln w="3175" cap="flat" cmpd="sng" algn="ctr">
            <a:gradFill>
              <a:gsLst>
                <a:gs pos="0">
                  <a:sysClr val="window" lastClr="FFFFFF"/>
                </a:gs>
                <a:gs pos="50000">
                  <a:sysClr val="windowText" lastClr="000000">
                    <a:lumMod val="50000"/>
                    <a:lumOff val="50000"/>
                  </a:sysClr>
                </a:gs>
                <a:gs pos="100000">
                  <a:sysClr val="window" lastClr="FFFFFF"/>
                </a:gs>
              </a:gsLst>
              <a:lin ang="0" scaled="0"/>
            </a:gradFill>
            <a:prstDash val="solid"/>
            <a:headEnd type="none" w="med" len="med"/>
            <a:tailEnd type="none" w="med" len="med"/>
          </a:ln>
          <a:effectLst/>
        </p:spPr>
      </p:cxnSp>
      <p:pic>
        <p:nvPicPr>
          <p:cNvPr id="20" name="Picture 19" descr="Logo&#10;&#10;Description automatically generated">
            <a:extLst>
              <a:ext uri="{FF2B5EF4-FFF2-40B4-BE49-F238E27FC236}">
                <a16:creationId xmlns:a16="http://schemas.microsoft.com/office/drawing/2014/main" id="{C84B1351-0EF0-6142-A6DD-3726AC30F749}"/>
              </a:ext>
            </a:extLst>
          </p:cNvPr>
          <p:cNvPicPr>
            <a:picLocks noChangeAspect="1"/>
          </p:cNvPicPr>
          <p:nvPr userDrawn="1"/>
        </p:nvPicPr>
        <p:blipFill>
          <a:blip r:embed="rId3"/>
          <a:stretch>
            <a:fillRect/>
          </a:stretch>
        </p:blipFill>
        <p:spPr>
          <a:xfrm>
            <a:off x="11285023" y="6447675"/>
            <a:ext cx="710448" cy="400326"/>
          </a:xfrm>
          <a:prstGeom prst="rect">
            <a:avLst/>
          </a:prstGeom>
        </p:spPr>
      </p:pic>
      <p:sp>
        <p:nvSpPr>
          <p:cNvPr id="24" name="Rectangle 23">
            <a:extLst>
              <a:ext uri="{FF2B5EF4-FFF2-40B4-BE49-F238E27FC236}">
                <a16:creationId xmlns:a16="http://schemas.microsoft.com/office/drawing/2014/main" id="{5261270B-89C6-C547-90A6-E01BB698D545}"/>
              </a:ext>
            </a:extLst>
          </p:cNvPr>
          <p:cNvSpPr/>
          <p:nvPr userDrawn="1"/>
        </p:nvSpPr>
        <p:spPr>
          <a:xfrm>
            <a:off x="8178900" y="6544072"/>
            <a:ext cx="4924727" cy="246221"/>
          </a:xfrm>
          <a:prstGeom prst="rect">
            <a:avLst/>
          </a:prstGeom>
          <a:noFill/>
        </p:spPr>
        <p:txBody>
          <a:bodyPr wrap="square" lIns="0" tIns="0" rIns="0" bIns="0">
            <a:spAutoFit/>
          </a:bodyPr>
          <a:lstStyle/>
          <a:p>
            <a:pPr algn="l" rtl="0"/>
            <a:r>
              <a:rPr lang="en-US" sz="1600">
                <a:solidFill>
                  <a:schemeClr val="bg1">
                    <a:lumMod val="50000"/>
                  </a:schemeClr>
                </a:solidFill>
                <a:latin typeface="Calibri" pitchFamily="34" charset="0"/>
              </a:rPr>
              <a:t>AMPBA Batch 15 | FP-1 | Group 10</a:t>
            </a:r>
          </a:p>
        </p:txBody>
      </p:sp>
    </p:spTree>
    <p:extLst>
      <p:ext uri="{BB962C8B-B14F-4D97-AF65-F5344CB8AC3E}">
        <p14:creationId xmlns:p14="http://schemas.microsoft.com/office/powerpoint/2010/main" val="3655455253"/>
      </p:ext>
    </p:extLst>
  </p:cSld>
  <p:clrMapOvr>
    <a:masterClrMapping/>
  </p:clrMapOvr>
  <p:transition advClick="0">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Thank_You_01">
    <p:spTree>
      <p:nvGrpSpPr>
        <p:cNvPr id="1" name=""/>
        <p:cNvGrpSpPr/>
        <p:nvPr/>
      </p:nvGrpSpPr>
      <p:grpSpPr>
        <a:xfrm>
          <a:off x="0" y="0"/>
          <a:ext cx="0" cy="0"/>
          <a:chOff x="0" y="0"/>
          <a:chExt cx="0" cy="0"/>
        </a:xfrm>
      </p:grpSpPr>
      <p:pic>
        <p:nvPicPr>
          <p:cNvPr id="19" name="Picture 18" descr="company_overview_1402X1052_01.jpg"/>
          <p:cNvPicPr>
            <a:picLocks noChangeAspect="1"/>
          </p:cNvPicPr>
          <p:nvPr/>
        </p:nvPicPr>
        <p:blipFill>
          <a:blip r:embed="rId2" cstate="print"/>
          <a:stretch>
            <a:fillRect/>
          </a:stretch>
        </p:blipFill>
        <p:spPr>
          <a:xfrm>
            <a:off x="5795" y="0"/>
            <a:ext cx="12186205" cy="6858000"/>
          </a:xfrm>
          <a:prstGeom prst="rect">
            <a:avLst/>
          </a:prstGeom>
        </p:spPr>
      </p:pic>
      <p:sp>
        <p:nvSpPr>
          <p:cNvPr id="3" name="TextBox 2">
            <a:extLst>
              <a:ext uri="{FF2B5EF4-FFF2-40B4-BE49-F238E27FC236}">
                <a16:creationId xmlns:a16="http://schemas.microsoft.com/office/drawing/2014/main" id="{F07D8050-824E-0F41-A652-85CE01005072}"/>
              </a:ext>
            </a:extLst>
          </p:cNvPr>
          <p:cNvSpPr txBox="1"/>
          <p:nvPr userDrawn="1"/>
        </p:nvSpPr>
        <p:spPr>
          <a:xfrm>
            <a:off x="3325639" y="2643612"/>
            <a:ext cx="5540721" cy="1267485"/>
          </a:xfrm>
          <a:prstGeom prst="rect">
            <a:avLst/>
          </a:prstGeom>
          <a:noFill/>
        </p:spPr>
        <p:txBody>
          <a:bodyPr wrap="square" rtlCol="0" anchor="ctr">
            <a:noAutofit/>
          </a:bodyPr>
          <a:lstStyle/>
          <a:p>
            <a:pPr algn="ctr"/>
            <a:r>
              <a:rPr lang="en-US" sz="6000" dirty="0">
                <a:latin typeface="Adobe Clean" panose="020B0503020404020204" pitchFamily="34" charset="0"/>
              </a:rPr>
              <a:t>THANK YOU</a:t>
            </a:r>
          </a:p>
        </p:txBody>
      </p:sp>
      <p:pic>
        <p:nvPicPr>
          <p:cNvPr id="13" name="Picture 12" descr="Logo&#10;&#10;Description automatically generated">
            <a:extLst>
              <a:ext uri="{FF2B5EF4-FFF2-40B4-BE49-F238E27FC236}">
                <a16:creationId xmlns:a16="http://schemas.microsoft.com/office/drawing/2014/main" id="{C85DE5A1-E844-134A-89F6-A600D99F0FCE}"/>
              </a:ext>
            </a:extLst>
          </p:cNvPr>
          <p:cNvPicPr>
            <a:picLocks noChangeAspect="1"/>
          </p:cNvPicPr>
          <p:nvPr userDrawn="1"/>
        </p:nvPicPr>
        <p:blipFill>
          <a:blip r:embed="rId3"/>
          <a:stretch>
            <a:fillRect/>
          </a:stretch>
        </p:blipFill>
        <p:spPr>
          <a:xfrm>
            <a:off x="9966470" y="142430"/>
            <a:ext cx="1633414" cy="920402"/>
          </a:xfrm>
          <a:prstGeom prst="rect">
            <a:avLst/>
          </a:prstGeom>
        </p:spPr>
      </p:pic>
    </p:spTree>
    <p:extLst>
      <p:ext uri="{BB962C8B-B14F-4D97-AF65-F5344CB8AC3E}">
        <p14:creationId xmlns:p14="http://schemas.microsoft.com/office/powerpoint/2010/main" val="3709114150"/>
      </p:ext>
    </p:extLst>
  </p:cSld>
  <p:clrMapOvr>
    <a:masterClrMapping/>
  </p:clrMapOvr>
  <p:transition>
    <p:cu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8" name="Text Placeholder 57"/>
          <p:cNvSpPr>
            <a:spLocks noGrp="1"/>
          </p:cNvSpPr>
          <p:nvPr>
            <p:ph type="body" idx="1"/>
          </p:nvPr>
        </p:nvSpPr>
        <p:spPr>
          <a:xfrm>
            <a:off x="958004" y="1128713"/>
            <a:ext cx="10241280" cy="5166360"/>
          </a:xfrm>
          <a:prstGeom prst="rect">
            <a:avLst/>
          </a:prstGeom>
        </p:spPr>
        <p:txBody>
          <a:bodyPr vert="horz" lIns="91440" tIns="45720" rIns="91440" bIns="45720" rtlCol="0">
            <a:normAutofit/>
          </a:bodyPr>
          <a:lstStyle/>
          <a:p>
            <a:pPr lvl="0"/>
            <a:r>
              <a:rPr lang="en-US"/>
              <a:t>Click to edit Master text styles</a:t>
            </a:r>
          </a:p>
          <a:p>
            <a:pPr marL="628650" lvl="1" indent="-171450">
              <a:buSzPct val="60000"/>
            </a:pPr>
            <a:r>
              <a:rPr lang="en-US"/>
              <a:t>Second level</a:t>
            </a:r>
          </a:p>
        </p:txBody>
      </p:sp>
      <p:sp>
        <p:nvSpPr>
          <p:cNvPr id="57" name="Title Placeholder 56"/>
          <p:cNvSpPr>
            <a:spLocks noGrp="1"/>
          </p:cNvSpPr>
          <p:nvPr>
            <p:ph type="title"/>
          </p:nvPr>
        </p:nvSpPr>
        <p:spPr>
          <a:xfrm>
            <a:off x="0" y="63500"/>
            <a:ext cx="12192000" cy="850392"/>
          </a:xfrm>
          <a:prstGeom prst="rect">
            <a:avLst/>
          </a:prstGeom>
        </p:spPr>
        <p:txBody>
          <a:bodyPr vert="horz" lIns="91440" tIns="45720" rIns="91440" bIns="45720" rtlCol="0" anchor="ctr">
            <a:normAutofit/>
          </a:bodyPr>
          <a:lstStyle/>
          <a:p>
            <a:r>
              <a:rPr lang="en-US"/>
              <a:t>Click to edit Master title style</a:t>
            </a:r>
          </a:p>
        </p:txBody>
      </p:sp>
      <p:sp>
        <p:nvSpPr>
          <p:cNvPr id="54" name="Slide Number Placeholder 3"/>
          <p:cNvSpPr txBox="1">
            <a:spLocks/>
          </p:cNvSpPr>
          <p:nvPr/>
        </p:nvSpPr>
        <p:spPr>
          <a:xfrm>
            <a:off x="6026678" y="6691041"/>
            <a:ext cx="351367" cy="138113"/>
          </a:xfrm>
          <a:prstGeom prst="rect">
            <a:avLst/>
          </a:prstGeom>
        </p:spPr>
        <p:txBody>
          <a:bodyPr lIns="0" tIns="0" rIns="0" bIns="0" anchor="ctr">
            <a:spAutoFit/>
          </a:bodyPr>
          <a:lstStyle/>
          <a:p>
            <a:pPr fontAlgn="auto">
              <a:spcBef>
                <a:spcPts val="0"/>
              </a:spcBef>
              <a:spcAft>
                <a:spcPts val="0"/>
              </a:spcAft>
              <a:buClrTx/>
              <a:buSzTx/>
              <a:buFontTx/>
              <a:buNone/>
              <a:defRPr/>
            </a:pPr>
            <a:fld id="{1F377BB7-6437-4FF5-ABEF-380343E378B9}" type="slidenum">
              <a:rPr lang="en-US" sz="900" kern="0">
                <a:solidFill>
                  <a:sysClr val="windowText" lastClr="000000">
                    <a:lumMod val="50000"/>
                    <a:lumOff val="50000"/>
                  </a:sysClr>
                </a:solidFill>
                <a:latin typeface="Calibri"/>
                <a:cs typeface="Arial"/>
              </a:rPr>
              <a:pPr fontAlgn="auto">
                <a:spcBef>
                  <a:spcPts val="0"/>
                </a:spcBef>
                <a:spcAft>
                  <a:spcPts val="0"/>
                </a:spcAft>
                <a:buClrTx/>
                <a:buSzTx/>
                <a:buFontTx/>
                <a:buNone/>
                <a:defRPr/>
              </a:pPr>
              <a:t>‹#›</a:t>
            </a:fld>
            <a:endParaRPr lang="en-US" sz="900" kern="0">
              <a:solidFill>
                <a:sysClr val="windowText" lastClr="000000">
                  <a:lumMod val="50000"/>
                  <a:lumOff val="50000"/>
                </a:sysClr>
              </a:solidFill>
              <a:latin typeface="Calibri"/>
              <a:cs typeface="Arial"/>
            </a:endParaRPr>
          </a:p>
        </p:txBody>
      </p:sp>
      <p:cxnSp>
        <p:nvCxnSpPr>
          <p:cNvPr id="15" name="Straight Connector 14">
            <a:extLst>
              <a:ext uri="{FF2B5EF4-FFF2-40B4-BE49-F238E27FC236}">
                <a16:creationId xmlns:a16="http://schemas.microsoft.com/office/drawing/2014/main" id="{457D388C-F6D8-6E4C-8704-1BBD5BFC6586}"/>
              </a:ext>
            </a:extLst>
          </p:cNvPr>
          <p:cNvCxnSpPr/>
          <p:nvPr userDrawn="1"/>
        </p:nvCxnSpPr>
        <p:spPr bwMode="auto">
          <a:xfrm rot="5400000">
            <a:off x="11019912" y="6667373"/>
            <a:ext cx="360000" cy="1256"/>
          </a:xfrm>
          <a:prstGeom prst="line">
            <a:avLst/>
          </a:prstGeom>
          <a:noFill/>
          <a:ln w="3175" cap="flat" cmpd="sng" algn="ctr">
            <a:gradFill>
              <a:gsLst>
                <a:gs pos="0">
                  <a:sysClr val="window" lastClr="FFFFFF"/>
                </a:gs>
                <a:gs pos="50000">
                  <a:sysClr val="windowText" lastClr="000000">
                    <a:lumMod val="50000"/>
                    <a:lumOff val="50000"/>
                  </a:sysClr>
                </a:gs>
                <a:gs pos="100000">
                  <a:sysClr val="window" lastClr="FFFFFF"/>
                </a:gs>
              </a:gsLst>
              <a:lin ang="0" scaled="0"/>
            </a:gradFill>
            <a:prstDash val="solid"/>
            <a:headEnd type="none" w="med" len="med"/>
            <a:tailEnd type="none" w="med" len="med"/>
          </a:ln>
          <a:effectLst/>
        </p:spPr>
      </p:cxnSp>
      <p:pic>
        <p:nvPicPr>
          <p:cNvPr id="16" name="Picture 15" descr="Logo&#10;&#10;Description automatically generated">
            <a:extLst>
              <a:ext uri="{FF2B5EF4-FFF2-40B4-BE49-F238E27FC236}">
                <a16:creationId xmlns:a16="http://schemas.microsoft.com/office/drawing/2014/main" id="{E384A5E3-130D-674D-9C80-673A34B6D677}"/>
              </a:ext>
            </a:extLst>
          </p:cNvPr>
          <p:cNvPicPr>
            <a:picLocks noChangeAspect="1"/>
          </p:cNvPicPr>
          <p:nvPr userDrawn="1"/>
        </p:nvPicPr>
        <p:blipFill>
          <a:blip r:embed="rId8"/>
          <a:stretch>
            <a:fillRect/>
          </a:stretch>
        </p:blipFill>
        <p:spPr>
          <a:xfrm>
            <a:off x="11285023" y="6447675"/>
            <a:ext cx="710448" cy="400326"/>
          </a:xfrm>
          <a:prstGeom prst="rect">
            <a:avLst/>
          </a:prstGeom>
        </p:spPr>
      </p:pic>
      <p:sp>
        <p:nvSpPr>
          <p:cNvPr id="17" name="Rectangle 16">
            <a:extLst>
              <a:ext uri="{FF2B5EF4-FFF2-40B4-BE49-F238E27FC236}">
                <a16:creationId xmlns:a16="http://schemas.microsoft.com/office/drawing/2014/main" id="{B38B0DB6-88DC-A245-B499-074762C02F15}"/>
              </a:ext>
            </a:extLst>
          </p:cNvPr>
          <p:cNvSpPr/>
          <p:nvPr userDrawn="1"/>
        </p:nvSpPr>
        <p:spPr>
          <a:xfrm>
            <a:off x="8178900" y="6544072"/>
            <a:ext cx="4924727" cy="246221"/>
          </a:xfrm>
          <a:prstGeom prst="rect">
            <a:avLst/>
          </a:prstGeom>
          <a:noFill/>
        </p:spPr>
        <p:txBody>
          <a:bodyPr wrap="square" lIns="0" tIns="0" rIns="0" bIns="0">
            <a:spAutoFit/>
          </a:bodyPr>
          <a:lstStyle/>
          <a:p>
            <a:pPr algn="l" rtl="0"/>
            <a:r>
              <a:rPr lang="en-US" sz="1600">
                <a:solidFill>
                  <a:schemeClr val="bg1">
                    <a:lumMod val="50000"/>
                  </a:schemeClr>
                </a:solidFill>
                <a:latin typeface="Calibri" pitchFamily="34" charset="0"/>
              </a:rPr>
              <a:t>AMPBA Batch 15 | FP-1 | Group 10</a:t>
            </a:r>
          </a:p>
        </p:txBody>
      </p:sp>
    </p:spTree>
    <p:extLst>
      <p:ext uri="{BB962C8B-B14F-4D97-AF65-F5344CB8AC3E}">
        <p14:creationId xmlns:p14="http://schemas.microsoft.com/office/powerpoint/2010/main" val="75455019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64" r:id="rId4"/>
    <p:sldLayoutId id="2147483665" r:id="rId5"/>
    <p:sldLayoutId id="2147483666" r:id="rId6"/>
  </p:sldLayoutIdLst>
  <p:transition>
    <p:cut/>
  </p:transition>
  <p:txStyles>
    <p:titleStyle>
      <a:lvl1pPr marL="573088" marR="0" indent="0" algn="l" defTabSz="914400" rtl="0" eaLnBrk="1" fontAlgn="auto" latinLnBrk="0" hangingPunct="1">
        <a:lnSpc>
          <a:spcPct val="100000"/>
        </a:lnSpc>
        <a:spcBef>
          <a:spcPts val="0"/>
        </a:spcBef>
        <a:spcAft>
          <a:spcPts val="0"/>
        </a:spcAft>
        <a:buClrTx/>
        <a:buSzTx/>
        <a:buFontTx/>
        <a:buNone/>
        <a:tabLst>
          <a:tab pos="230188" algn="l"/>
        </a:tabLst>
        <a:defRPr sz="3200">
          <a:solidFill>
            <a:schemeClr val="tx1">
              <a:lumMod val="50000"/>
            </a:schemeClr>
          </a:solidFill>
          <a:latin typeface="Calibri" pitchFamily="34" charset="0"/>
          <a:ea typeface="+mj-ea"/>
          <a:cs typeface="+mj-cs"/>
        </a:defRPr>
      </a:lvl1pPr>
      <a:lvl2pPr marL="354013" algn="l" rtl="0" eaLnBrk="1" fontAlgn="base" hangingPunct="1">
        <a:lnSpc>
          <a:spcPct val="85000"/>
        </a:lnSpc>
        <a:spcBef>
          <a:spcPct val="0"/>
        </a:spcBef>
        <a:spcAft>
          <a:spcPct val="0"/>
        </a:spcAft>
        <a:defRPr sz="3200">
          <a:solidFill>
            <a:schemeClr val="tx1"/>
          </a:solidFill>
          <a:latin typeface="Arial" charset="0"/>
          <a:cs typeface="Arial" charset="0"/>
        </a:defRPr>
      </a:lvl2pPr>
      <a:lvl3pPr marL="354013" algn="l" rtl="0" eaLnBrk="1" fontAlgn="base" hangingPunct="1">
        <a:lnSpc>
          <a:spcPct val="85000"/>
        </a:lnSpc>
        <a:spcBef>
          <a:spcPct val="0"/>
        </a:spcBef>
        <a:spcAft>
          <a:spcPct val="0"/>
        </a:spcAft>
        <a:defRPr sz="3200">
          <a:solidFill>
            <a:schemeClr val="tx1"/>
          </a:solidFill>
          <a:latin typeface="Arial" charset="0"/>
          <a:cs typeface="Arial" charset="0"/>
        </a:defRPr>
      </a:lvl3pPr>
      <a:lvl4pPr marL="354013" algn="l" rtl="0" eaLnBrk="1" fontAlgn="base" hangingPunct="1">
        <a:lnSpc>
          <a:spcPct val="85000"/>
        </a:lnSpc>
        <a:spcBef>
          <a:spcPct val="0"/>
        </a:spcBef>
        <a:spcAft>
          <a:spcPct val="0"/>
        </a:spcAft>
        <a:defRPr sz="3200">
          <a:solidFill>
            <a:schemeClr val="tx1"/>
          </a:solidFill>
          <a:latin typeface="Arial" charset="0"/>
          <a:cs typeface="Arial" charset="0"/>
        </a:defRPr>
      </a:lvl4pPr>
      <a:lvl5pPr marL="354013" algn="l" rtl="0" eaLnBrk="1" fontAlgn="base" hangingPunct="1">
        <a:lnSpc>
          <a:spcPct val="85000"/>
        </a:lnSpc>
        <a:spcBef>
          <a:spcPct val="0"/>
        </a:spcBef>
        <a:spcAft>
          <a:spcPct val="0"/>
        </a:spcAft>
        <a:defRPr sz="3200">
          <a:solidFill>
            <a:schemeClr val="tx1"/>
          </a:solidFill>
          <a:latin typeface="Arial" charset="0"/>
          <a:cs typeface="Arial" charset="0"/>
        </a:defRPr>
      </a:lvl5pPr>
      <a:lvl6pPr marL="811213" algn="l" rtl="0" eaLnBrk="1" fontAlgn="base" hangingPunct="1">
        <a:lnSpc>
          <a:spcPct val="85000"/>
        </a:lnSpc>
        <a:spcBef>
          <a:spcPct val="0"/>
        </a:spcBef>
        <a:spcAft>
          <a:spcPct val="0"/>
        </a:spcAft>
        <a:defRPr sz="3200">
          <a:solidFill>
            <a:schemeClr val="tx1"/>
          </a:solidFill>
          <a:latin typeface="Arial" charset="0"/>
          <a:cs typeface="Arial" charset="0"/>
        </a:defRPr>
      </a:lvl6pPr>
      <a:lvl7pPr marL="1268413" algn="l" rtl="0" eaLnBrk="1" fontAlgn="base" hangingPunct="1">
        <a:lnSpc>
          <a:spcPct val="85000"/>
        </a:lnSpc>
        <a:spcBef>
          <a:spcPct val="0"/>
        </a:spcBef>
        <a:spcAft>
          <a:spcPct val="0"/>
        </a:spcAft>
        <a:defRPr sz="3200">
          <a:solidFill>
            <a:schemeClr val="tx1"/>
          </a:solidFill>
          <a:latin typeface="Arial" charset="0"/>
          <a:cs typeface="Arial" charset="0"/>
        </a:defRPr>
      </a:lvl7pPr>
      <a:lvl8pPr marL="1725613" algn="l" rtl="0" eaLnBrk="1" fontAlgn="base" hangingPunct="1">
        <a:lnSpc>
          <a:spcPct val="85000"/>
        </a:lnSpc>
        <a:spcBef>
          <a:spcPct val="0"/>
        </a:spcBef>
        <a:spcAft>
          <a:spcPct val="0"/>
        </a:spcAft>
        <a:defRPr sz="3200">
          <a:solidFill>
            <a:schemeClr val="tx1"/>
          </a:solidFill>
          <a:latin typeface="Arial" charset="0"/>
          <a:cs typeface="Arial" charset="0"/>
        </a:defRPr>
      </a:lvl8pPr>
      <a:lvl9pPr marL="2182813" algn="l" rtl="0" eaLnBrk="1" fontAlgn="base" hangingPunct="1">
        <a:lnSpc>
          <a:spcPct val="85000"/>
        </a:lnSpc>
        <a:spcBef>
          <a:spcPct val="0"/>
        </a:spcBef>
        <a:spcAft>
          <a:spcPct val="0"/>
        </a:spcAft>
        <a:defRPr sz="3200">
          <a:solidFill>
            <a:schemeClr val="tx1"/>
          </a:solidFill>
          <a:latin typeface="Arial" charset="0"/>
          <a:cs typeface="Arial" charset="0"/>
        </a:defRPr>
      </a:lvl9pPr>
    </p:titleStyle>
    <p:bodyStyle>
      <a:lvl1pPr algn="l" defTabSz="912813" rtl="0" eaLnBrk="1" fontAlgn="base" hangingPunct="1">
        <a:spcBef>
          <a:spcPct val="20000"/>
        </a:spcBef>
        <a:spcAft>
          <a:spcPct val="0"/>
        </a:spcAft>
        <a:buClr>
          <a:schemeClr val="accent1"/>
        </a:buClr>
        <a:defRPr lang="en-US" sz="2400" dirty="0" smtClean="0">
          <a:solidFill>
            <a:schemeClr val="tx1">
              <a:lumMod val="75000"/>
            </a:schemeClr>
          </a:solidFill>
          <a:latin typeface="Calibri" pitchFamily="34" charset="0"/>
          <a:ea typeface="+mn-ea"/>
          <a:cs typeface="+mn-cs"/>
        </a:defRPr>
      </a:lvl1pPr>
      <a:lvl2pPr marL="742950" indent="-285750" algn="l" defTabSz="912813" rtl="0" eaLnBrk="1" fontAlgn="base" hangingPunct="1">
        <a:spcBef>
          <a:spcPct val="20000"/>
        </a:spcBef>
        <a:spcAft>
          <a:spcPct val="0"/>
        </a:spcAft>
        <a:buClr>
          <a:schemeClr val="accent1"/>
        </a:buClr>
        <a:buSzPct val="90000"/>
        <a:buFontTx/>
        <a:buBlip>
          <a:blip r:embed="rId9"/>
        </a:buBlip>
        <a:defRPr lang="en-US" sz="1600" dirty="0" smtClean="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9"/>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9"/>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9"/>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towardsdatascience.com/metrics-to-evaluate-your-machine-learning-algorithm-f10ba6e38234"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hyperlink" Target="https://arxiv.org/pdf/1909.06342.pdf" TargetMode="External"/><Relationship Id="rId5" Type="http://schemas.openxmlformats.org/officeDocument/2006/relationships/image" Target="../media/image2.png"/><Relationship Id="rId4" Type="http://schemas.openxmlformats.org/officeDocument/2006/relationships/hyperlink" Target="https://yasdel.github.io/files/SIGIR20_Full.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hyperlink" Target="http://www.cs.cmu.edu/~mgormley/courses/10601-s19/slides/lecture28-ensemble-mf.pdf" TargetMode="External"/><Relationship Id="rId4" Type="http://schemas.openxmlformats.org/officeDocument/2006/relationships/hyperlink" Target="https://medium.com/gsi-technology/an-overview-of-model-compression-techniques-for-deep-learning-in-space-3fd8d4ce84e5"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hyperlink" Target="https://medium.com/@ashutoshsingh93/recommendation-system-for-e-commerce-using-collaborative-filtering-fa04d6ab1fd8" TargetMode="External"/><Relationship Id="rId4" Type="http://schemas.openxmlformats.org/officeDocument/2006/relationships/hyperlink" Target="https://colab.research.google.com/drive/1Re6az6aSS6YjXHQHLgAWrDKU0mf4hl3V?usp=sharing" TargetMode="External"/><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hyperlink" Target="http://csusm-dspace.calstate.edu/handle/10211.3/217176" TargetMode="Externa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hyperlink" Target="http://ec2-13-235-82-139.ap-south-1.compute.amazonaws.com:8080/" TargetMode="Externa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neptune.ai/blog/ml-model-monitoring-best-tool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1.emf"/><Relationship Id="rId5" Type="http://schemas.openxmlformats.org/officeDocument/2006/relationships/hyperlink" Target="https://arxiv.org/pdf/1809.05476.pdf" TargetMode="External"/><Relationship Id="rId4" Type="http://schemas.openxmlformats.org/officeDocument/2006/relationships/hyperlink" Target="https://arxiv.org/abs/2007.0404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BD4C89-3D9C-4541-BF26-09A68EE4AEA2}"/>
              </a:ext>
            </a:extLst>
          </p:cNvPr>
          <p:cNvSpPr>
            <a:spLocks noGrp="1"/>
          </p:cNvSpPr>
          <p:nvPr>
            <p:ph type="title"/>
          </p:nvPr>
        </p:nvSpPr>
        <p:spPr>
          <a:xfrm>
            <a:off x="3109098" y="2968437"/>
            <a:ext cx="7054135" cy="649224"/>
          </a:xfrm>
        </p:spPr>
        <p:txBody>
          <a:bodyPr/>
          <a:lstStyle/>
          <a:p>
            <a:r>
              <a:rPr lang="en-US"/>
              <a:t>Final Submission</a:t>
            </a:r>
          </a:p>
        </p:txBody>
      </p:sp>
      <p:sp>
        <p:nvSpPr>
          <p:cNvPr id="4" name="Text Placeholder 3">
            <a:extLst>
              <a:ext uri="{FF2B5EF4-FFF2-40B4-BE49-F238E27FC236}">
                <a16:creationId xmlns:a16="http://schemas.microsoft.com/office/drawing/2014/main" id="{88667961-C716-954B-93C4-40402140361C}"/>
              </a:ext>
            </a:extLst>
          </p:cNvPr>
          <p:cNvSpPr>
            <a:spLocks noGrp="1"/>
          </p:cNvSpPr>
          <p:nvPr>
            <p:ph type="body" sz="quarter" idx="10"/>
          </p:nvPr>
        </p:nvSpPr>
        <p:spPr>
          <a:xfrm>
            <a:off x="3109098" y="1433117"/>
            <a:ext cx="6986016" cy="1535320"/>
          </a:xfrm>
        </p:spPr>
        <p:txBody>
          <a:bodyPr>
            <a:normAutofit/>
          </a:bodyPr>
          <a:lstStyle/>
          <a:p>
            <a:r>
              <a:rPr lang="en-US"/>
              <a:t>Foundation Project -1 </a:t>
            </a:r>
          </a:p>
          <a:p>
            <a:r>
              <a:rPr lang="en-US"/>
              <a:t>Food Recommendation System</a:t>
            </a:r>
          </a:p>
        </p:txBody>
      </p:sp>
      <p:sp>
        <p:nvSpPr>
          <p:cNvPr id="6" name="TextBox 5">
            <a:extLst>
              <a:ext uri="{FF2B5EF4-FFF2-40B4-BE49-F238E27FC236}">
                <a16:creationId xmlns:a16="http://schemas.microsoft.com/office/drawing/2014/main" id="{DFE09A5C-FC72-DF47-8E88-815825FF5D64}"/>
              </a:ext>
            </a:extLst>
          </p:cNvPr>
          <p:cNvSpPr txBox="1"/>
          <p:nvPr/>
        </p:nvSpPr>
        <p:spPr>
          <a:xfrm>
            <a:off x="7742583" y="3970764"/>
            <a:ext cx="3786809" cy="2364433"/>
          </a:xfrm>
          <a:prstGeom prst="rect">
            <a:avLst/>
          </a:prstGeom>
          <a:noFill/>
        </p:spPr>
        <p:txBody>
          <a:bodyPr wrap="square" rtlCol="0">
            <a:noAutofit/>
          </a:bodyPr>
          <a:lstStyle/>
          <a:p>
            <a:pPr marL="228600">
              <a:lnSpc>
                <a:spcPct val="150000"/>
              </a:lnSpc>
            </a:pPr>
            <a:r>
              <a:rPr lang="en-US"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SUBMISSION BY</a:t>
            </a: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Deep Kamal Singh 	(12020053)</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Kshitij Sharma 		(12020062)</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Mohua Sinha 		(12020015)</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Nidhi Srivastava 	(12020078)</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Soumaya Ranjan 	(12020060)</a:t>
            </a:r>
            <a:endParaRPr lang="en-IN" sz="11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798846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6B837B-7484-4090-9A12-04AC6DCB81F0}"/>
              </a:ext>
            </a:extLst>
          </p:cNvPr>
          <p:cNvSpPr/>
          <p:nvPr/>
        </p:nvSpPr>
        <p:spPr bwMode="auto">
          <a:xfrm>
            <a:off x="455856" y="1551550"/>
            <a:ext cx="5080000" cy="1978796"/>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342900" indent="-342900" algn="just">
              <a:lnSpc>
                <a:spcPct val="107000"/>
              </a:lnSpc>
              <a:buClr>
                <a:srgbClr val="000000"/>
              </a:buClr>
              <a:buSzPct val="100000"/>
              <a:buFont typeface="Wingdings" panose="05000000000000000000" pitchFamily="2" charset="2"/>
              <a:buChar char=""/>
              <a:defRPr sz="3600" spc="0">
                <a:solidFill>
                  <a:srgbClr val="000000"/>
                </a:solidFill>
                <a:latin typeface="Graphik"/>
                <a:ea typeface="Graphik"/>
                <a:cs typeface="Graphik"/>
                <a:sym typeface="Graphik"/>
              </a:defRPr>
            </a:pPr>
            <a:endParaRPr lang="en-US" sz="1600">
              <a:latin typeface="Calibri" panose="020F0502020204030204" pitchFamily="34" charset="0"/>
              <a:cs typeface="Times New Roman" panose="02020603050405020304" pitchFamily="18" charset="0"/>
            </a:endParaRPr>
          </a:p>
          <a:p>
            <a:pPr marL="342900" indent="-342900" algn="just">
              <a:lnSpc>
                <a:spcPct val="107000"/>
              </a:lnSpc>
              <a:buClr>
                <a:srgbClr val="000000"/>
              </a:buClr>
              <a:buSzPct val="100000"/>
              <a:buFont typeface="Wingdings" panose="05000000000000000000" pitchFamily="2" charset="2"/>
              <a:buChar char=""/>
              <a:defRPr sz="3600" spc="0">
                <a:solidFill>
                  <a:srgbClr val="000000"/>
                </a:solidFill>
                <a:latin typeface="Graphik"/>
                <a:ea typeface="Graphik"/>
                <a:cs typeface="Graphik"/>
                <a:sym typeface="Graphik"/>
              </a:defRPr>
            </a:pPr>
            <a:r>
              <a:rPr lang="en-US" sz="1600">
                <a:latin typeface="Calibri" panose="020F0502020204030204" pitchFamily="34" charset="0"/>
                <a:cs typeface="Times New Roman" panose="02020603050405020304" pitchFamily="18" charset="0"/>
              </a:rPr>
              <a:t>Consumers now have a variety of food choices, and comfort of Home delivery along with dine-out. </a:t>
            </a:r>
          </a:p>
          <a:p>
            <a:pPr marL="342900" indent="-342900" algn="just">
              <a:lnSpc>
                <a:spcPct val="107000"/>
              </a:lnSpc>
              <a:buClr>
                <a:srgbClr val="000000"/>
              </a:buClr>
              <a:buSzPct val="100000"/>
              <a:buFont typeface="Wingdings" panose="05000000000000000000" pitchFamily="2" charset="2"/>
              <a:buChar char=""/>
              <a:defRPr sz="3600" spc="0">
                <a:solidFill>
                  <a:srgbClr val="000000"/>
                </a:solidFill>
                <a:latin typeface="Graphik"/>
                <a:ea typeface="Graphik"/>
                <a:cs typeface="Graphik"/>
                <a:sym typeface="Graphik"/>
              </a:defRPr>
            </a:pPr>
            <a:r>
              <a:rPr lang="en-US" sz="1600">
                <a:latin typeface="Calibri" panose="020F0502020204030204" pitchFamily="34" charset="0"/>
                <a:cs typeface="Times New Roman" panose="02020603050405020304" pitchFamily="18" charset="0"/>
              </a:rPr>
              <a:t>Abundant outlets for dining out or home delivery, </a:t>
            </a:r>
          </a:p>
          <a:p>
            <a:pPr marL="342900" indent="-342900" algn="just">
              <a:lnSpc>
                <a:spcPct val="107000"/>
              </a:lnSpc>
              <a:buClr>
                <a:srgbClr val="000000"/>
              </a:buClr>
              <a:buSzPct val="100000"/>
              <a:buFont typeface="Wingdings" panose="05000000000000000000" pitchFamily="2" charset="2"/>
              <a:buChar char=""/>
              <a:defRPr sz="3600" spc="0">
                <a:solidFill>
                  <a:srgbClr val="000000"/>
                </a:solidFill>
                <a:latin typeface="Graphik"/>
                <a:ea typeface="Graphik"/>
                <a:cs typeface="Graphik"/>
                <a:sym typeface="Graphik"/>
              </a:defRPr>
            </a:pPr>
            <a:r>
              <a:rPr lang="en-US" sz="1600">
                <a:latin typeface="Calibri" panose="020F0502020204030204" pitchFamily="34" charset="0"/>
                <a:cs typeface="Times New Roman" panose="02020603050405020304" pitchFamily="18" charset="0"/>
              </a:rPr>
              <a:t>Several food aggregator sites and apps to compare restaurants based on ratings, safety and hygiene, deals, and distance etc. </a:t>
            </a:r>
          </a:p>
        </p:txBody>
      </p:sp>
      <p:sp>
        <p:nvSpPr>
          <p:cNvPr id="2" name="Title 1">
            <a:extLst>
              <a:ext uri="{FF2B5EF4-FFF2-40B4-BE49-F238E27FC236}">
                <a16:creationId xmlns:a16="http://schemas.microsoft.com/office/drawing/2014/main" id="{E8B85C8C-974A-4EBC-B561-0C983DBD81FC}"/>
              </a:ext>
            </a:extLst>
          </p:cNvPr>
          <p:cNvSpPr>
            <a:spLocks noGrp="1"/>
          </p:cNvSpPr>
          <p:nvPr>
            <p:ph type="title"/>
          </p:nvPr>
        </p:nvSpPr>
        <p:spPr/>
        <p:txBody>
          <a:bodyPr/>
          <a:lstStyle/>
          <a:p>
            <a:r>
              <a:rPr lang="en-US"/>
              <a:t>Project Background</a:t>
            </a:r>
          </a:p>
        </p:txBody>
      </p:sp>
      <p:sp>
        <p:nvSpPr>
          <p:cNvPr id="3" name="Text Placeholder 1">
            <a:extLst>
              <a:ext uri="{FF2B5EF4-FFF2-40B4-BE49-F238E27FC236}">
                <a16:creationId xmlns:a16="http://schemas.microsoft.com/office/drawing/2014/main" id="{E932257B-15B2-463C-B26B-08A7AC467115}"/>
              </a:ext>
            </a:extLst>
          </p:cNvPr>
          <p:cNvSpPr>
            <a:spLocks noGrp="1"/>
          </p:cNvSpPr>
          <p:nvPr>
            <p:ph type="body" sz="quarter" idx="10"/>
          </p:nvPr>
        </p:nvSpPr>
        <p:spPr>
          <a:xfrm>
            <a:off x="786454" y="1327399"/>
            <a:ext cx="4453227" cy="455243"/>
          </a:xfr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algn="ctr">
              <a:buSzPct val="100000"/>
            </a:pPr>
            <a:r>
              <a:rPr lang="en-US" sz="1800" b="1" kern="1200">
                <a:solidFill>
                  <a:srgbClr val="4D4D4D"/>
                </a:solidFill>
                <a:cs typeface="Calibri" panose="020F0502020204030204" pitchFamily="34" charset="0"/>
              </a:rPr>
              <a:t>Business Context</a:t>
            </a:r>
          </a:p>
        </p:txBody>
      </p:sp>
      <p:sp>
        <p:nvSpPr>
          <p:cNvPr id="16" name="Rectangle 15">
            <a:extLst>
              <a:ext uri="{FF2B5EF4-FFF2-40B4-BE49-F238E27FC236}">
                <a16:creationId xmlns:a16="http://schemas.microsoft.com/office/drawing/2014/main" id="{A5BD4078-15F7-4A3A-BEAD-A5220CC0AE36}"/>
              </a:ext>
            </a:extLst>
          </p:cNvPr>
          <p:cNvSpPr/>
          <p:nvPr/>
        </p:nvSpPr>
        <p:spPr bwMode="auto">
          <a:xfrm>
            <a:off x="455857" y="4168004"/>
            <a:ext cx="5080000" cy="1978796"/>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lvl="1" indent="-285750" algn="just" defTabSz="457200">
              <a:lnSpc>
                <a:spcPct val="120000"/>
              </a:lnSpc>
              <a:spcBef>
                <a:spcPts val="1200"/>
              </a:spcBef>
              <a:buFont typeface="Arial"/>
              <a:buChar char="•"/>
              <a:defRPr sz="3600" spc="0">
                <a:solidFill>
                  <a:srgbClr val="000000"/>
                </a:solidFill>
                <a:latin typeface="Graphik"/>
                <a:ea typeface="Graphik"/>
                <a:cs typeface="Graphik"/>
                <a:sym typeface="Graphik"/>
              </a:defRPr>
            </a:pPr>
            <a:endParaRPr lang="en-US" sz="1600">
              <a:solidFill>
                <a:srgbClr val="000000"/>
              </a:solidFill>
              <a:latin typeface="Calibri"/>
              <a:ea typeface="Graphik"/>
              <a:cs typeface="Graphik"/>
            </a:endParaRPr>
          </a:p>
          <a:p>
            <a:pPr marL="342900" lvl="1" indent="-342900" algn="just">
              <a:lnSpc>
                <a:spcPct val="107000"/>
              </a:lnSpc>
              <a:spcBef>
                <a:spcPts val="1200"/>
              </a:spcBef>
              <a:buClr>
                <a:srgbClr val="000000"/>
              </a:buClr>
              <a:buSzPct val="100000"/>
              <a:buFont typeface="Wingdings" panose="05000000000000000000" pitchFamily="2" charset="2"/>
              <a:buChar char=""/>
              <a:defRPr sz="3600" spc="0">
                <a:solidFill>
                  <a:srgbClr val="000000"/>
                </a:solidFill>
                <a:latin typeface="Graphik"/>
                <a:ea typeface="Graphik"/>
                <a:cs typeface="Graphik"/>
                <a:sym typeface="Graphik"/>
              </a:defRPr>
            </a:pPr>
            <a:r>
              <a:rPr lang="en-US" sz="1600">
                <a:solidFill>
                  <a:srgbClr val="000000"/>
                </a:solidFill>
                <a:latin typeface="Calibri" panose="020F0502020204030204" pitchFamily="34" charset="0"/>
                <a:cs typeface="Times New Roman" panose="02020603050405020304" pitchFamily="18" charset="0"/>
              </a:rPr>
              <a:t>Seasonal moods affect consumer tastes and preferences</a:t>
            </a:r>
          </a:p>
          <a:p>
            <a:pPr marL="342900" lvl="1" indent="-342900" algn="just">
              <a:lnSpc>
                <a:spcPct val="107000"/>
              </a:lnSpc>
              <a:spcBef>
                <a:spcPts val="1200"/>
              </a:spcBef>
              <a:buClr>
                <a:srgbClr val="000000"/>
              </a:buClr>
              <a:buSzPct val="100000"/>
              <a:buFont typeface="Wingdings" panose="05000000000000000000" pitchFamily="2" charset="2"/>
              <a:buChar char=""/>
              <a:defRPr sz="3600" spc="0">
                <a:solidFill>
                  <a:srgbClr val="000000"/>
                </a:solidFill>
                <a:latin typeface="Graphik"/>
                <a:ea typeface="Graphik"/>
                <a:cs typeface="Graphik"/>
                <a:sym typeface="Graphik"/>
              </a:defRPr>
            </a:pPr>
            <a:r>
              <a:rPr lang="en-US" sz="1600">
                <a:solidFill>
                  <a:srgbClr val="000000"/>
                </a:solidFill>
                <a:latin typeface="Calibri" panose="020F0502020204030204" pitchFamily="34" charset="0"/>
                <a:cs typeface="Times New Roman" panose="02020603050405020304" pitchFamily="18" charset="0"/>
              </a:rPr>
              <a:t>Little to no personalization on food suggestions</a:t>
            </a:r>
          </a:p>
          <a:p>
            <a:pPr marL="342900" lvl="1" indent="-342900" algn="just">
              <a:lnSpc>
                <a:spcPct val="107000"/>
              </a:lnSpc>
              <a:spcBef>
                <a:spcPts val="1200"/>
              </a:spcBef>
              <a:buClr>
                <a:srgbClr val="000000"/>
              </a:buClr>
              <a:buSzPct val="100000"/>
              <a:buFont typeface="Wingdings" panose="05000000000000000000" pitchFamily="2" charset="2"/>
              <a:buChar char=""/>
              <a:defRPr sz="3600" spc="0">
                <a:solidFill>
                  <a:srgbClr val="000000"/>
                </a:solidFill>
                <a:latin typeface="Graphik"/>
                <a:ea typeface="Graphik"/>
                <a:cs typeface="Graphik"/>
                <a:sym typeface="Graphik"/>
              </a:defRPr>
            </a:pPr>
            <a:r>
              <a:rPr lang="en-US" sz="1600">
                <a:solidFill>
                  <a:srgbClr val="000000"/>
                </a:solidFill>
                <a:latin typeface="Calibri" panose="020F0502020204030204" pitchFamily="34" charset="0"/>
                <a:cs typeface="Times New Roman" panose="02020603050405020304" pitchFamily="18" charset="0"/>
              </a:rPr>
              <a:t>Limited tracking on gastronomical compatibility</a:t>
            </a:r>
          </a:p>
        </p:txBody>
      </p:sp>
      <p:sp>
        <p:nvSpPr>
          <p:cNvPr id="15" name="Text Placeholder 1">
            <a:extLst>
              <a:ext uri="{FF2B5EF4-FFF2-40B4-BE49-F238E27FC236}">
                <a16:creationId xmlns:a16="http://schemas.microsoft.com/office/drawing/2014/main" id="{DB6389E7-D5CC-482B-A327-478B12648691}"/>
              </a:ext>
            </a:extLst>
          </p:cNvPr>
          <p:cNvSpPr txBox="1">
            <a:spLocks/>
          </p:cNvSpPr>
          <p:nvPr/>
        </p:nvSpPr>
        <p:spPr>
          <a:xfrm>
            <a:off x="846389" y="3899056"/>
            <a:ext cx="4447665" cy="459448"/>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defPPr>
              <a:defRPr lang="en-US"/>
            </a:defPPr>
            <a:lvl1pPr marR="0" indent="0" algn="ctr" defTabSz="912813" fontAlgn="base">
              <a:lnSpc>
                <a:spcPct val="100000"/>
              </a:lnSpc>
              <a:spcBef>
                <a:spcPct val="20000"/>
              </a:spcBef>
              <a:spcAft>
                <a:spcPct val="0"/>
              </a:spcAft>
              <a:buClr>
                <a:schemeClr val="accent1"/>
              </a:buClr>
              <a:buSzPct val="100000"/>
              <a:buFont typeface="Symbol" pitchFamily="18" charset="2"/>
              <a:buNone/>
              <a:tabLst/>
              <a:defRPr kumimoji="0" b="1" i="0" u="none" strike="noStrike" cap="none" normalizeH="0" baseline="0">
                <a:ln>
                  <a:noFill/>
                </a:ln>
                <a:solidFill>
                  <a:srgbClr val="4D4D4D"/>
                </a:solidFill>
                <a:effectLst/>
                <a:latin typeface="Calibri" panose="020F0502020204030204" pitchFamily="34" charset="0"/>
                <a:cs typeface="Calibri" panose="020F0502020204030204" pitchFamily="34" charset="0"/>
              </a:defRPr>
            </a:lvl1pPr>
            <a:lvl2pPr marL="628650" indent="-171450" defTabSz="912813" fontAlgn="base">
              <a:spcBef>
                <a:spcPct val="20000"/>
              </a:spcBef>
              <a:spcAft>
                <a:spcPct val="0"/>
              </a:spcAft>
              <a:buClr>
                <a:schemeClr val="accent1"/>
              </a:buClr>
              <a:buSzPct val="60000"/>
              <a:buFontTx/>
              <a:buBlip>
                <a:blip r:embed="rId3"/>
              </a:buBlip>
              <a:defRPr lang="en-US" sz="1600">
                <a:solidFill>
                  <a:schemeClr val="tx1">
                    <a:lumMod val="75000"/>
                  </a:schemeClr>
                </a:solidFill>
                <a:latin typeface="Calibri" pitchFamily="34" charset="0"/>
              </a:defRPr>
            </a:lvl2pPr>
            <a:lvl3pPr marL="120015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3pPr>
            <a:lvl4pPr marL="160020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4pPr>
            <a:lvl5pPr marL="200025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5pPr>
            <a:lvl6pPr marL="2247900" indent="-266700" defTabSz="912813" fontAlgn="base">
              <a:spcBef>
                <a:spcPct val="20000"/>
              </a:spcBef>
              <a:spcAft>
                <a:spcPct val="0"/>
              </a:spcAft>
              <a:buClr>
                <a:schemeClr val="accent1"/>
              </a:buClr>
              <a:buChar char="•"/>
              <a:defRPr>
                <a:solidFill>
                  <a:srgbClr val="4D4D4D"/>
                </a:solidFill>
              </a:defRPr>
            </a:lvl6pPr>
            <a:lvl7pPr marL="2705100" indent="-266700" defTabSz="912813" fontAlgn="base">
              <a:spcBef>
                <a:spcPct val="20000"/>
              </a:spcBef>
              <a:spcAft>
                <a:spcPct val="0"/>
              </a:spcAft>
              <a:buClr>
                <a:schemeClr val="accent1"/>
              </a:buClr>
              <a:buChar char="•"/>
              <a:defRPr>
                <a:solidFill>
                  <a:srgbClr val="4D4D4D"/>
                </a:solidFill>
              </a:defRPr>
            </a:lvl7pPr>
            <a:lvl8pPr marL="3162300" indent="-266700" defTabSz="912813" fontAlgn="base">
              <a:spcBef>
                <a:spcPct val="20000"/>
              </a:spcBef>
              <a:spcAft>
                <a:spcPct val="0"/>
              </a:spcAft>
              <a:buClr>
                <a:schemeClr val="accent1"/>
              </a:buClr>
              <a:buChar char="•"/>
              <a:defRPr>
                <a:solidFill>
                  <a:srgbClr val="4D4D4D"/>
                </a:solidFill>
              </a:defRPr>
            </a:lvl8pPr>
            <a:lvl9pPr marL="3619500" indent="-266700" defTabSz="912813" fontAlgn="base">
              <a:spcBef>
                <a:spcPct val="20000"/>
              </a:spcBef>
              <a:spcAft>
                <a:spcPct val="0"/>
              </a:spcAft>
              <a:buClr>
                <a:schemeClr val="accent1"/>
              </a:buClr>
              <a:buChar char="•"/>
              <a:defRPr>
                <a:solidFill>
                  <a:srgbClr val="4D4D4D"/>
                </a:solidFill>
              </a:defRPr>
            </a:lvl9pPr>
          </a:lstStyle>
          <a:p>
            <a:r>
              <a:rPr lang="en-US"/>
              <a:t>Recommendation Systems Limitations</a:t>
            </a:r>
          </a:p>
        </p:txBody>
      </p:sp>
      <p:sp>
        <p:nvSpPr>
          <p:cNvPr id="13" name="Isosceles Triangle 12">
            <a:extLst>
              <a:ext uri="{FF2B5EF4-FFF2-40B4-BE49-F238E27FC236}">
                <a16:creationId xmlns:a16="http://schemas.microsoft.com/office/drawing/2014/main" id="{6EA1DF38-32FE-40E1-B75B-4A80D365064D}"/>
              </a:ext>
            </a:extLst>
          </p:cNvPr>
          <p:cNvSpPr/>
          <p:nvPr/>
        </p:nvSpPr>
        <p:spPr bwMode="auto">
          <a:xfrm rot="5400000">
            <a:off x="4325432" y="3452739"/>
            <a:ext cx="3940284" cy="491704"/>
          </a:xfrm>
          <a:prstGeom prst="triangle">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17" name="Rectangle 16">
            <a:extLst>
              <a:ext uri="{FF2B5EF4-FFF2-40B4-BE49-F238E27FC236}">
                <a16:creationId xmlns:a16="http://schemas.microsoft.com/office/drawing/2014/main" id="{DBA4D4C7-23EA-4AAF-A73D-90C186FEF54D}"/>
              </a:ext>
            </a:extLst>
          </p:cNvPr>
          <p:cNvSpPr/>
          <p:nvPr/>
        </p:nvSpPr>
        <p:spPr bwMode="auto">
          <a:xfrm>
            <a:off x="7091010" y="4124868"/>
            <a:ext cx="4504090" cy="1978796"/>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lvl="1" indent="-285750" algn="just" defTabSz="457200">
              <a:lnSpc>
                <a:spcPct val="120000"/>
              </a:lnSpc>
              <a:spcBef>
                <a:spcPts val="1200"/>
              </a:spcBef>
              <a:buFont typeface="Arial"/>
              <a:buChar char="•"/>
              <a:defRPr sz="3600" spc="0">
                <a:solidFill>
                  <a:srgbClr val="000000"/>
                </a:solidFill>
                <a:latin typeface="Graphik"/>
                <a:ea typeface="Graphik"/>
                <a:cs typeface="Graphik"/>
                <a:sym typeface="Graphik"/>
              </a:defRPr>
            </a:pPr>
            <a:endParaRPr lang="en-US" sz="1600">
              <a:solidFill>
                <a:srgbClr val="000000"/>
              </a:solidFill>
              <a:latin typeface="Calibri"/>
              <a:ea typeface="Graphik"/>
              <a:cs typeface="Graphik"/>
            </a:endParaRPr>
          </a:p>
          <a:p>
            <a:pPr marL="285750" lvl="1" indent="-285750" algn="just">
              <a:spcBef>
                <a:spcPts val="1200"/>
              </a:spcBef>
              <a:buFont typeface="Arial"/>
              <a:buChar char="•"/>
              <a:defRPr sz="3600" spc="0">
                <a:solidFill>
                  <a:srgbClr val="000000"/>
                </a:solidFill>
                <a:latin typeface="Graphik"/>
                <a:ea typeface="Graphik"/>
                <a:cs typeface="Graphik"/>
                <a:sym typeface="Graphik"/>
              </a:defRPr>
            </a:pPr>
            <a:r>
              <a:rPr lang="en-US" sz="1600">
                <a:solidFill>
                  <a:srgbClr val="000000"/>
                </a:solidFill>
                <a:latin typeface="Calibri"/>
              </a:rPr>
              <a:t>CRISP-DM</a:t>
            </a:r>
            <a:endParaRPr lang="en-US" sz="3200"/>
          </a:p>
          <a:p>
            <a:pPr marL="285750" lvl="1" indent="-285750" algn="just">
              <a:spcBef>
                <a:spcPts val="1200"/>
              </a:spcBef>
              <a:buClr>
                <a:srgbClr val="000000"/>
              </a:buClr>
              <a:buSzPct val="100000"/>
              <a:buFont typeface="Arial"/>
              <a:buChar char="•"/>
              <a:defRPr sz="3600" spc="0">
                <a:solidFill>
                  <a:srgbClr val="000000"/>
                </a:solidFill>
                <a:latin typeface="Graphik"/>
                <a:ea typeface="Graphik"/>
                <a:cs typeface="Graphik"/>
                <a:sym typeface="Graphik"/>
              </a:defRPr>
            </a:pPr>
            <a:r>
              <a:rPr lang="en-US" sz="1600">
                <a:solidFill>
                  <a:srgbClr val="000000"/>
                </a:solidFill>
                <a:latin typeface="Calibri"/>
              </a:rPr>
              <a:t>Using the big data</a:t>
            </a:r>
          </a:p>
          <a:p>
            <a:pPr marL="285750" lvl="1" indent="-285750" algn="just">
              <a:spcBef>
                <a:spcPts val="1200"/>
              </a:spcBef>
              <a:buClr>
                <a:srgbClr val="000000"/>
              </a:buClr>
              <a:buSzPct val="100000"/>
              <a:buFont typeface="Arial"/>
              <a:buChar char="•"/>
              <a:defRPr sz="3600" spc="0">
                <a:solidFill>
                  <a:srgbClr val="000000"/>
                </a:solidFill>
                <a:latin typeface="Graphik"/>
                <a:ea typeface="Graphik"/>
                <a:cs typeface="Graphik"/>
                <a:sym typeface="Graphik"/>
              </a:defRPr>
            </a:pPr>
            <a:r>
              <a:rPr lang="en-US" sz="1600">
                <a:solidFill>
                  <a:srgbClr val="000000"/>
                </a:solidFill>
                <a:latin typeface="Calibri"/>
              </a:rPr>
              <a:t>Distributed Computing</a:t>
            </a:r>
          </a:p>
          <a:p>
            <a:pPr marL="285750" lvl="1" indent="-285750" algn="just">
              <a:spcBef>
                <a:spcPts val="1200"/>
              </a:spcBef>
              <a:buClr>
                <a:srgbClr val="000000"/>
              </a:buClr>
              <a:buSzPct val="100000"/>
              <a:buFont typeface="Arial"/>
              <a:buChar char="•"/>
              <a:defRPr sz="3600" spc="0">
                <a:solidFill>
                  <a:srgbClr val="000000"/>
                </a:solidFill>
                <a:latin typeface="Graphik"/>
                <a:ea typeface="Graphik"/>
                <a:cs typeface="Graphik"/>
                <a:sym typeface="Graphik"/>
              </a:defRPr>
            </a:pPr>
            <a:r>
              <a:rPr lang="en-US" sz="1600">
                <a:solidFill>
                  <a:srgbClr val="000000"/>
                </a:solidFill>
                <a:latin typeface="Calibri"/>
              </a:rPr>
              <a:t>Mathematical Modelling</a:t>
            </a:r>
          </a:p>
        </p:txBody>
      </p:sp>
      <p:sp>
        <p:nvSpPr>
          <p:cNvPr id="12" name="TextBox 11">
            <a:extLst>
              <a:ext uri="{FF2B5EF4-FFF2-40B4-BE49-F238E27FC236}">
                <a16:creationId xmlns:a16="http://schemas.microsoft.com/office/drawing/2014/main" id="{9E6E54EE-3856-4B73-9715-783983F2382E}"/>
              </a:ext>
            </a:extLst>
          </p:cNvPr>
          <p:cNvSpPr txBox="1"/>
          <p:nvPr/>
        </p:nvSpPr>
        <p:spPr>
          <a:xfrm>
            <a:off x="7926986" y="3940202"/>
            <a:ext cx="3083914" cy="369332"/>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defPPr>
              <a:defRPr lang="en-US"/>
            </a:defPPr>
            <a:lvl1pPr marR="0" indent="0" algn="ctr" defTabSz="912813" fontAlgn="base">
              <a:lnSpc>
                <a:spcPct val="100000"/>
              </a:lnSpc>
              <a:spcBef>
                <a:spcPct val="20000"/>
              </a:spcBef>
              <a:spcAft>
                <a:spcPct val="0"/>
              </a:spcAft>
              <a:buClr>
                <a:schemeClr val="accent1"/>
              </a:buClr>
              <a:buSzPct val="100000"/>
              <a:buFont typeface="Symbol" pitchFamily="18" charset="2"/>
              <a:buNone/>
              <a:tabLst/>
              <a:defRPr kumimoji="0" b="1" i="0" u="none" strike="noStrike" cap="none" normalizeH="0" baseline="0">
                <a:ln>
                  <a:noFill/>
                </a:ln>
                <a:solidFill>
                  <a:srgbClr val="4D4D4D"/>
                </a:solidFill>
                <a:effectLst/>
                <a:latin typeface="Calibri" panose="020F0502020204030204" pitchFamily="34" charset="0"/>
                <a:cs typeface="Calibri" panose="020F0502020204030204" pitchFamily="34" charset="0"/>
              </a:defRPr>
            </a:lvl1pPr>
            <a:lvl2pPr marL="628650" indent="-171450" defTabSz="912813" fontAlgn="base">
              <a:spcBef>
                <a:spcPct val="20000"/>
              </a:spcBef>
              <a:spcAft>
                <a:spcPct val="0"/>
              </a:spcAft>
              <a:buClr>
                <a:schemeClr val="accent1"/>
              </a:buClr>
              <a:buSzPct val="60000"/>
              <a:buFontTx/>
              <a:buBlip>
                <a:blip r:embed="rId3"/>
              </a:buBlip>
              <a:defRPr sz="1600">
                <a:solidFill>
                  <a:schemeClr val="tx1">
                    <a:lumMod val="75000"/>
                  </a:schemeClr>
                </a:solidFill>
                <a:latin typeface="Calibri" pitchFamily="34" charset="0"/>
              </a:defRPr>
            </a:lvl2pPr>
            <a:lvl3pPr marL="120015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3pPr>
            <a:lvl4pPr marL="160020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4pPr>
            <a:lvl5pPr marL="200025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5pPr>
            <a:lvl6pPr marL="2247900" indent="-266700" defTabSz="912813" fontAlgn="base">
              <a:spcBef>
                <a:spcPct val="20000"/>
              </a:spcBef>
              <a:spcAft>
                <a:spcPct val="0"/>
              </a:spcAft>
              <a:buClr>
                <a:schemeClr val="accent1"/>
              </a:buClr>
              <a:buChar char="•"/>
              <a:defRPr>
                <a:solidFill>
                  <a:srgbClr val="4D4D4D"/>
                </a:solidFill>
              </a:defRPr>
            </a:lvl6pPr>
            <a:lvl7pPr marL="2705100" indent="-266700" defTabSz="912813" fontAlgn="base">
              <a:spcBef>
                <a:spcPct val="20000"/>
              </a:spcBef>
              <a:spcAft>
                <a:spcPct val="0"/>
              </a:spcAft>
              <a:buClr>
                <a:schemeClr val="accent1"/>
              </a:buClr>
              <a:buChar char="•"/>
              <a:defRPr>
                <a:solidFill>
                  <a:srgbClr val="4D4D4D"/>
                </a:solidFill>
              </a:defRPr>
            </a:lvl7pPr>
            <a:lvl8pPr marL="3162300" indent="-266700" defTabSz="912813" fontAlgn="base">
              <a:spcBef>
                <a:spcPct val="20000"/>
              </a:spcBef>
              <a:spcAft>
                <a:spcPct val="0"/>
              </a:spcAft>
              <a:buClr>
                <a:schemeClr val="accent1"/>
              </a:buClr>
              <a:buChar char="•"/>
              <a:defRPr>
                <a:solidFill>
                  <a:srgbClr val="4D4D4D"/>
                </a:solidFill>
              </a:defRPr>
            </a:lvl8pPr>
            <a:lvl9pPr marL="3619500" indent="-266700" defTabSz="912813" fontAlgn="base">
              <a:spcBef>
                <a:spcPct val="20000"/>
              </a:spcBef>
              <a:spcAft>
                <a:spcPct val="0"/>
              </a:spcAft>
              <a:buClr>
                <a:schemeClr val="accent1"/>
              </a:buClr>
              <a:buChar char="•"/>
              <a:defRPr>
                <a:solidFill>
                  <a:srgbClr val="4D4D4D"/>
                </a:solidFill>
              </a:defRPr>
            </a:lvl9pPr>
          </a:lstStyle>
          <a:p>
            <a:r>
              <a:rPr lang="en-US" dirty="0"/>
              <a:t>Unexplored potential</a:t>
            </a:r>
          </a:p>
        </p:txBody>
      </p:sp>
      <p:sp>
        <p:nvSpPr>
          <p:cNvPr id="18" name="Rectangle 17">
            <a:extLst>
              <a:ext uri="{FF2B5EF4-FFF2-40B4-BE49-F238E27FC236}">
                <a16:creationId xmlns:a16="http://schemas.microsoft.com/office/drawing/2014/main" id="{8B5C2E72-344A-4185-8EC1-1943D3F8FFA1}"/>
              </a:ext>
            </a:extLst>
          </p:cNvPr>
          <p:cNvSpPr/>
          <p:nvPr/>
        </p:nvSpPr>
        <p:spPr bwMode="auto">
          <a:xfrm>
            <a:off x="7091010" y="1571268"/>
            <a:ext cx="4504090" cy="1978796"/>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lvl="1" indent="-285750" algn="just" defTabSz="457200">
              <a:lnSpc>
                <a:spcPct val="120000"/>
              </a:lnSpc>
              <a:spcBef>
                <a:spcPts val="1200"/>
              </a:spcBef>
              <a:buFont typeface="Arial"/>
              <a:buChar char="•"/>
              <a:defRPr sz="3600" spc="0">
                <a:solidFill>
                  <a:srgbClr val="000000"/>
                </a:solidFill>
                <a:latin typeface="Graphik"/>
                <a:ea typeface="Graphik"/>
                <a:cs typeface="Graphik"/>
                <a:sym typeface="Graphik"/>
              </a:defRPr>
            </a:pPr>
            <a:endParaRPr lang="en-US" sz="1600">
              <a:solidFill>
                <a:srgbClr val="000000"/>
              </a:solidFill>
              <a:latin typeface="Calibri"/>
              <a:ea typeface="Graphik"/>
              <a:cs typeface="Graphik"/>
            </a:endParaRPr>
          </a:p>
          <a:p>
            <a:pPr marL="285750" lvl="1" indent="-285750" algn="just">
              <a:spcBef>
                <a:spcPts val="1200"/>
              </a:spcBef>
              <a:buClr>
                <a:srgbClr val="000000"/>
              </a:buClr>
              <a:buSzPct val="100000"/>
              <a:buFont typeface="Arial"/>
              <a:buChar char="•"/>
              <a:defRPr sz="3600" spc="0">
                <a:solidFill>
                  <a:srgbClr val="000000"/>
                </a:solidFill>
                <a:latin typeface="Graphik"/>
                <a:ea typeface="Graphik"/>
                <a:cs typeface="Graphik"/>
                <a:sym typeface="Graphik"/>
              </a:defRPr>
            </a:pPr>
            <a:r>
              <a:rPr lang="en-US" sz="1600">
                <a:latin typeface="Calibri"/>
              </a:rPr>
              <a:t>Accelerated Customer Satisfaction</a:t>
            </a:r>
            <a:endParaRPr lang="en-US" sz="3200"/>
          </a:p>
          <a:p>
            <a:pPr marL="285750" lvl="1" indent="-285750" algn="just">
              <a:spcBef>
                <a:spcPts val="1200"/>
              </a:spcBef>
              <a:buClr>
                <a:srgbClr val="000000"/>
              </a:buClr>
              <a:buSzPct val="100000"/>
              <a:buFont typeface="Arial"/>
              <a:buChar char="•"/>
              <a:defRPr sz="3600" spc="0">
                <a:solidFill>
                  <a:srgbClr val="000000"/>
                </a:solidFill>
                <a:latin typeface="Graphik"/>
                <a:ea typeface="Graphik"/>
                <a:cs typeface="Graphik"/>
                <a:sym typeface="Graphik"/>
              </a:defRPr>
            </a:pPr>
            <a:r>
              <a:rPr lang="en-US" sz="1600">
                <a:latin typeface="Calibri"/>
              </a:rPr>
              <a:t>Realtime 360° Feedback mechanism</a:t>
            </a:r>
          </a:p>
          <a:p>
            <a:pPr marL="285750" lvl="1" indent="-285750" algn="just">
              <a:spcBef>
                <a:spcPts val="1200"/>
              </a:spcBef>
              <a:buClr>
                <a:srgbClr val="000000"/>
              </a:buClr>
              <a:buSzPct val="100000"/>
              <a:buFont typeface="Arial"/>
              <a:buChar char="•"/>
              <a:defRPr sz="3600" spc="0">
                <a:solidFill>
                  <a:srgbClr val="000000"/>
                </a:solidFill>
                <a:latin typeface="Graphik"/>
                <a:ea typeface="Graphik"/>
                <a:cs typeface="Graphik"/>
                <a:sym typeface="Graphik"/>
              </a:defRPr>
            </a:pPr>
            <a:r>
              <a:rPr lang="en-US" sz="1600">
                <a:latin typeface="Calibri"/>
              </a:rPr>
              <a:t>Enhance profitability and measured economic success</a:t>
            </a:r>
          </a:p>
        </p:txBody>
      </p:sp>
      <p:sp>
        <p:nvSpPr>
          <p:cNvPr id="11" name="TextBox 10">
            <a:extLst>
              <a:ext uri="{FF2B5EF4-FFF2-40B4-BE49-F238E27FC236}">
                <a16:creationId xmlns:a16="http://schemas.microsoft.com/office/drawing/2014/main" id="{B9D378CD-7A78-4422-829B-072784345AF7}"/>
              </a:ext>
            </a:extLst>
          </p:cNvPr>
          <p:cNvSpPr txBox="1"/>
          <p:nvPr/>
        </p:nvSpPr>
        <p:spPr>
          <a:xfrm>
            <a:off x="7926986" y="1359117"/>
            <a:ext cx="2743200" cy="369332"/>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defPPr>
              <a:defRPr lang="en-US"/>
            </a:defPPr>
            <a:lvl1pPr marR="0" indent="0" algn="ctr" defTabSz="912813" fontAlgn="base">
              <a:lnSpc>
                <a:spcPct val="100000"/>
              </a:lnSpc>
              <a:spcBef>
                <a:spcPct val="20000"/>
              </a:spcBef>
              <a:spcAft>
                <a:spcPct val="0"/>
              </a:spcAft>
              <a:buClr>
                <a:schemeClr val="accent1"/>
              </a:buClr>
              <a:buSzPct val="100000"/>
              <a:buFont typeface="Symbol" pitchFamily="18" charset="2"/>
              <a:buNone/>
              <a:tabLst/>
              <a:defRPr kumimoji="0" b="1" i="0" u="none" strike="noStrike" cap="none" normalizeH="0" baseline="0">
                <a:ln>
                  <a:noFill/>
                </a:ln>
                <a:solidFill>
                  <a:srgbClr val="4D4D4D"/>
                </a:solidFill>
                <a:effectLst/>
                <a:latin typeface="Calibri" panose="020F0502020204030204" pitchFamily="34" charset="0"/>
                <a:cs typeface="Calibri" panose="020F0502020204030204" pitchFamily="34" charset="0"/>
              </a:defRPr>
            </a:lvl1pPr>
            <a:lvl2pPr marL="628650" indent="-171450" defTabSz="912813" fontAlgn="base">
              <a:spcBef>
                <a:spcPct val="20000"/>
              </a:spcBef>
              <a:spcAft>
                <a:spcPct val="0"/>
              </a:spcAft>
              <a:buClr>
                <a:schemeClr val="accent1"/>
              </a:buClr>
              <a:buSzPct val="60000"/>
              <a:buFontTx/>
              <a:buBlip>
                <a:blip r:embed="rId3"/>
              </a:buBlip>
              <a:defRPr sz="1600">
                <a:solidFill>
                  <a:schemeClr val="tx1">
                    <a:lumMod val="75000"/>
                  </a:schemeClr>
                </a:solidFill>
                <a:latin typeface="Calibri" pitchFamily="34" charset="0"/>
              </a:defRPr>
            </a:lvl2pPr>
            <a:lvl3pPr marL="120015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3pPr>
            <a:lvl4pPr marL="160020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4pPr>
            <a:lvl5pPr marL="2000250" indent="-285750" defTabSz="912813" fontAlgn="base">
              <a:spcBef>
                <a:spcPct val="20000"/>
              </a:spcBef>
              <a:spcAft>
                <a:spcPct val="0"/>
              </a:spcAft>
              <a:buClr>
                <a:schemeClr val="accent1"/>
              </a:buClr>
              <a:buSzPct val="80000"/>
              <a:buFontTx/>
              <a:buBlip>
                <a:blip r:embed="rId3"/>
              </a:buBlip>
              <a:defRPr>
                <a:solidFill>
                  <a:schemeClr val="tx1">
                    <a:lumMod val="50000"/>
                  </a:schemeClr>
                </a:solidFill>
                <a:latin typeface="Calibri" pitchFamily="34" charset="0"/>
              </a:defRPr>
            </a:lvl5pPr>
            <a:lvl6pPr marL="2247900" indent="-266700" defTabSz="912813" fontAlgn="base">
              <a:spcBef>
                <a:spcPct val="20000"/>
              </a:spcBef>
              <a:spcAft>
                <a:spcPct val="0"/>
              </a:spcAft>
              <a:buClr>
                <a:schemeClr val="accent1"/>
              </a:buClr>
              <a:buChar char="•"/>
              <a:defRPr>
                <a:solidFill>
                  <a:srgbClr val="4D4D4D"/>
                </a:solidFill>
              </a:defRPr>
            </a:lvl6pPr>
            <a:lvl7pPr marL="2705100" indent="-266700" defTabSz="912813" fontAlgn="base">
              <a:spcBef>
                <a:spcPct val="20000"/>
              </a:spcBef>
              <a:spcAft>
                <a:spcPct val="0"/>
              </a:spcAft>
              <a:buClr>
                <a:schemeClr val="accent1"/>
              </a:buClr>
              <a:buChar char="•"/>
              <a:defRPr>
                <a:solidFill>
                  <a:srgbClr val="4D4D4D"/>
                </a:solidFill>
              </a:defRPr>
            </a:lvl7pPr>
            <a:lvl8pPr marL="3162300" indent="-266700" defTabSz="912813" fontAlgn="base">
              <a:spcBef>
                <a:spcPct val="20000"/>
              </a:spcBef>
              <a:spcAft>
                <a:spcPct val="0"/>
              </a:spcAft>
              <a:buClr>
                <a:schemeClr val="accent1"/>
              </a:buClr>
              <a:buChar char="•"/>
              <a:defRPr>
                <a:solidFill>
                  <a:srgbClr val="4D4D4D"/>
                </a:solidFill>
              </a:defRPr>
            </a:lvl8pPr>
            <a:lvl9pPr marL="3619500" indent="-266700" defTabSz="912813" fontAlgn="base">
              <a:spcBef>
                <a:spcPct val="20000"/>
              </a:spcBef>
              <a:spcAft>
                <a:spcPct val="0"/>
              </a:spcAft>
              <a:buClr>
                <a:schemeClr val="accent1"/>
              </a:buClr>
              <a:buChar char="•"/>
              <a:defRPr>
                <a:solidFill>
                  <a:srgbClr val="4D4D4D"/>
                </a:solidFill>
              </a:defRPr>
            </a:lvl9pPr>
          </a:lstStyle>
          <a:p>
            <a:r>
              <a:rPr lang="en-US" dirty="0"/>
              <a:t>Need of the Hour</a:t>
            </a:r>
          </a:p>
        </p:txBody>
      </p:sp>
      <p:sp>
        <p:nvSpPr>
          <p:cNvPr id="19" name="Arrow: Down 18">
            <a:extLst>
              <a:ext uri="{FF2B5EF4-FFF2-40B4-BE49-F238E27FC236}">
                <a16:creationId xmlns:a16="http://schemas.microsoft.com/office/drawing/2014/main" id="{E342551C-BE7D-4996-8A4B-0B0CAD806012}"/>
              </a:ext>
            </a:extLst>
          </p:cNvPr>
          <p:cNvSpPr/>
          <p:nvPr/>
        </p:nvSpPr>
        <p:spPr bwMode="auto">
          <a:xfrm>
            <a:off x="9047303" y="3502625"/>
            <a:ext cx="843280" cy="464210"/>
          </a:xfrm>
          <a:prstGeom prst="down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Tree>
    <p:extLst>
      <p:ext uri="{BB962C8B-B14F-4D97-AF65-F5344CB8AC3E}">
        <p14:creationId xmlns:p14="http://schemas.microsoft.com/office/powerpoint/2010/main" val="3014017702"/>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BAD0-698A-4C19-A381-4B055D2AFC57}"/>
              </a:ext>
            </a:extLst>
          </p:cNvPr>
          <p:cNvSpPr>
            <a:spLocks noGrp="1"/>
          </p:cNvSpPr>
          <p:nvPr>
            <p:ph type="title"/>
          </p:nvPr>
        </p:nvSpPr>
        <p:spPr/>
        <p:txBody>
          <a:bodyPr/>
          <a:lstStyle/>
          <a:p>
            <a:r>
              <a:rPr lang="en-US"/>
              <a:t>Evolution of Food Recommendation System</a:t>
            </a:r>
          </a:p>
        </p:txBody>
      </p:sp>
      <p:sp>
        <p:nvSpPr>
          <p:cNvPr id="4" name="Arrow: Right 3">
            <a:extLst>
              <a:ext uri="{FF2B5EF4-FFF2-40B4-BE49-F238E27FC236}">
                <a16:creationId xmlns:a16="http://schemas.microsoft.com/office/drawing/2014/main" id="{EF07C88A-8273-43BB-AB8B-CA0B1211311E}"/>
              </a:ext>
            </a:extLst>
          </p:cNvPr>
          <p:cNvSpPr/>
          <p:nvPr/>
        </p:nvSpPr>
        <p:spPr bwMode="auto">
          <a:xfrm>
            <a:off x="490847" y="3270821"/>
            <a:ext cx="11210306" cy="850392"/>
          </a:xfrm>
          <a:prstGeom prst="rightArrow">
            <a:avLst/>
          </a:prstGeom>
          <a:solidFill>
            <a:srgbClr val="FFC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5" name="Oval 4">
            <a:extLst>
              <a:ext uri="{FF2B5EF4-FFF2-40B4-BE49-F238E27FC236}">
                <a16:creationId xmlns:a16="http://schemas.microsoft.com/office/drawing/2014/main" id="{AEC2F37A-B437-411F-A52B-F2F755400301}"/>
              </a:ext>
            </a:extLst>
          </p:cNvPr>
          <p:cNvSpPr/>
          <p:nvPr/>
        </p:nvSpPr>
        <p:spPr bwMode="auto">
          <a:xfrm>
            <a:off x="914400" y="3498589"/>
            <a:ext cx="653143" cy="394855"/>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6" name="Oval 5">
            <a:extLst>
              <a:ext uri="{FF2B5EF4-FFF2-40B4-BE49-F238E27FC236}">
                <a16:creationId xmlns:a16="http://schemas.microsoft.com/office/drawing/2014/main" id="{3E3716B7-27B0-46A3-9811-79BBFD5FDFF4}"/>
              </a:ext>
            </a:extLst>
          </p:cNvPr>
          <p:cNvSpPr/>
          <p:nvPr/>
        </p:nvSpPr>
        <p:spPr bwMode="auto">
          <a:xfrm>
            <a:off x="3216234" y="3508307"/>
            <a:ext cx="653143" cy="394855"/>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7" name="Oval 6">
            <a:extLst>
              <a:ext uri="{FF2B5EF4-FFF2-40B4-BE49-F238E27FC236}">
                <a16:creationId xmlns:a16="http://schemas.microsoft.com/office/drawing/2014/main" id="{8AD89E0D-3C0E-476C-AE7B-7624AEF2EBD7}"/>
              </a:ext>
            </a:extLst>
          </p:cNvPr>
          <p:cNvSpPr/>
          <p:nvPr/>
        </p:nvSpPr>
        <p:spPr bwMode="auto">
          <a:xfrm>
            <a:off x="5351813" y="3508307"/>
            <a:ext cx="653143" cy="394855"/>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8" name="Oval 7">
            <a:extLst>
              <a:ext uri="{FF2B5EF4-FFF2-40B4-BE49-F238E27FC236}">
                <a16:creationId xmlns:a16="http://schemas.microsoft.com/office/drawing/2014/main" id="{F933874B-B18E-458B-8C03-854314FD0097}"/>
              </a:ext>
            </a:extLst>
          </p:cNvPr>
          <p:cNvSpPr/>
          <p:nvPr/>
        </p:nvSpPr>
        <p:spPr bwMode="auto">
          <a:xfrm>
            <a:off x="7391399" y="3508306"/>
            <a:ext cx="653143" cy="394855"/>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9" name="Oval 8">
            <a:extLst>
              <a:ext uri="{FF2B5EF4-FFF2-40B4-BE49-F238E27FC236}">
                <a16:creationId xmlns:a16="http://schemas.microsoft.com/office/drawing/2014/main" id="{FBBB87E3-4418-489B-86A6-CEFD49AD55C9}"/>
              </a:ext>
            </a:extLst>
          </p:cNvPr>
          <p:cNvSpPr/>
          <p:nvPr/>
        </p:nvSpPr>
        <p:spPr bwMode="auto">
          <a:xfrm>
            <a:off x="9430986" y="3498588"/>
            <a:ext cx="653143" cy="394855"/>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10" name="Rectangle 9">
            <a:extLst>
              <a:ext uri="{FF2B5EF4-FFF2-40B4-BE49-F238E27FC236}">
                <a16:creationId xmlns:a16="http://schemas.microsoft.com/office/drawing/2014/main" id="{1C529D78-1FAF-4F36-9115-7FC9EB3113F8}"/>
              </a:ext>
            </a:extLst>
          </p:cNvPr>
          <p:cNvSpPr/>
          <p:nvPr/>
        </p:nvSpPr>
        <p:spPr bwMode="auto">
          <a:xfrm>
            <a:off x="506684" y="1720265"/>
            <a:ext cx="3658911" cy="1350746"/>
          </a:xfrm>
          <a:prstGeom prst="rect">
            <a:avLst/>
          </a:prstGeom>
          <a:solidFill>
            <a:schemeClr val="tx1">
              <a:lumMod val="20000"/>
              <a:lumOff val="8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indent="-285750" algn="just" defTabSz="912813" fontAlgn="base">
              <a:spcBef>
                <a:spcPct val="20000"/>
              </a:spcBef>
              <a:spcAft>
                <a:spcPct val="0"/>
              </a:spcAft>
              <a:buClr>
                <a:schemeClr val="accent1"/>
              </a:buClr>
              <a:buSzPct val="100000"/>
              <a:buFont typeface="Arial" panose="020B0604020202020204" pitchFamily="34" charset="0"/>
              <a:buChar char="•"/>
            </a:pPr>
            <a:r>
              <a:rPr kumimoji="0" lang="en-US" sz="1400" b="0" i="0" u="none" strike="noStrike" cap="none" normalizeH="0" baseline="0">
                <a:ln>
                  <a:noFill/>
                </a:ln>
                <a:solidFill>
                  <a:srgbClr val="4D4D4D"/>
                </a:solidFill>
                <a:effectLst/>
                <a:latin typeface="Caibri"/>
                <a:cs typeface="Arial"/>
              </a:rPr>
              <a:t>Most Simplistic </a:t>
            </a:r>
            <a:r>
              <a:rPr lang="en-US" sz="1400">
                <a:solidFill>
                  <a:srgbClr val="4D4D4D"/>
                </a:solidFill>
                <a:latin typeface="Caibri"/>
                <a:cs typeface="Arial"/>
              </a:rPr>
              <a:t>of models  is r</a:t>
            </a:r>
            <a:r>
              <a:rPr kumimoji="0" lang="en-US" sz="1400" b="0" i="0" u="none" strike="noStrike" cap="none" normalizeH="0" baseline="0">
                <a:ln>
                  <a:noFill/>
                </a:ln>
                <a:solidFill>
                  <a:srgbClr val="4D4D4D"/>
                </a:solidFill>
                <a:effectLst/>
                <a:latin typeface="Caibri"/>
                <a:cs typeface="Arial"/>
              </a:rPr>
              <a:t>ecommendation using </a:t>
            </a:r>
            <a:r>
              <a:rPr kumimoji="0" lang="en-US" sz="1400" b="1" i="0" u="sng" strike="noStrike" cap="none" normalizeH="0" baseline="0">
                <a:ln>
                  <a:noFill/>
                </a:ln>
                <a:solidFill>
                  <a:srgbClr val="4D4D4D"/>
                </a:solidFill>
                <a:effectLst/>
                <a:latin typeface="Caibri"/>
                <a:cs typeface="Arial"/>
              </a:rPr>
              <a:t>Simple Content Based Filtering</a:t>
            </a:r>
            <a:r>
              <a:rPr lang="en-US" sz="1400" b="1" u="sng">
                <a:solidFill>
                  <a:srgbClr val="4D4D4D"/>
                </a:solidFill>
                <a:latin typeface="Caibri"/>
                <a:cs typeface="Arial"/>
              </a:rPr>
              <a:t> </a:t>
            </a:r>
            <a:endParaRPr lang="en-US"/>
          </a:p>
          <a:p>
            <a:pPr marL="285750" marR="0" indent="-285750" algn="just" defTabSz="912813" rtl="0" eaLnBrk="1" fontAlgn="base" latinLnBrk="0" hangingPunct="1">
              <a:lnSpc>
                <a:spcPct val="100000"/>
              </a:lnSpc>
              <a:spcBef>
                <a:spcPct val="20000"/>
              </a:spcBef>
              <a:spcAft>
                <a:spcPct val="0"/>
              </a:spcAft>
              <a:buClr>
                <a:schemeClr val="accent1"/>
              </a:buClr>
              <a:buSzPct val="100000"/>
              <a:buFont typeface="Arial" panose="020B0604020202020204" pitchFamily="34" charset="0"/>
              <a:buChar char="•"/>
              <a:tabLst/>
            </a:pPr>
            <a:r>
              <a:rPr lang="en-US" sz="1400">
                <a:solidFill>
                  <a:srgbClr val="4D4D4D"/>
                </a:solidFill>
                <a:latin typeface="Caibri"/>
                <a:cs typeface="Arial"/>
              </a:rPr>
              <a:t>Similarity based on certain parameters like cuisine/Menu combination.</a:t>
            </a:r>
          </a:p>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1600" b="0" i="0" u="none" strike="noStrike" cap="none" normalizeH="0" baseline="0" dirty="0">
              <a:ln>
                <a:noFill/>
              </a:ln>
              <a:solidFill>
                <a:srgbClr val="4D4D4D"/>
              </a:solidFill>
              <a:effectLst/>
              <a:latin typeface="Caibri"/>
              <a:cs typeface="Arial" charset="0"/>
            </a:endParaRPr>
          </a:p>
        </p:txBody>
      </p:sp>
      <p:cxnSp>
        <p:nvCxnSpPr>
          <p:cNvPr id="12" name="Straight Arrow Connector 11">
            <a:extLst>
              <a:ext uri="{FF2B5EF4-FFF2-40B4-BE49-F238E27FC236}">
                <a16:creationId xmlns:a16="http://schemas.microsoft.com/office/drawing/2014/main" id="{47921406-835D-4E48-B187-1F2AC729AFBA}"/>
              </a:ext>
            </a:extLst>
          </p:cNvPr>
          <p:cNvCxnSpPr>
            <a:cxnSpLocks/>
          </p:cNvCxnSpPr>
          <p:nvPr/>
        </p:nvCxnSpPr>
        <p:spPr bwMode="auto">
          <a:xfrm>
            <a:off x="1211282" y="3091617"/>
            <a:ext cx="0" cy="365760"/>
          </a:xfrm>
          <a:prstGeom prst="straightConnector1">
            <a:avLst/>
          </a:prstGeom>
          <a:noFill/>
          <a:ln w="9525" cap="flat" cmpd="sng" algn="ctr">
            <a:solidFill>
              <a:schemeClr val="tx1"/>
            </a:solidFill>
            <a:prstDash val="solid"/>
            <a:round/>
            <a:headEnd type="diamond" w="med" len="med"/>
            <a:tailEnd type="diamond" w="med" len="med"/>
          </a:ln>
          <a:effectLst/>
        </p:spPr>
      </p:cxnSp>
      <p:sp>
        <p:nvSpPr>
          <p:cNvPr id="13" name="Rectangle 12">
            <a:extLst>
              <a:ext uri="{FF2B5EF4-FFF2-40B4-BE49-F238E27FC236}">
                <a16:creationId xmlns:a16="http://schemas.microsoft.com/office/drawing/2014/main" id="{FA34FD56-F33C-46D4-B3A7-D1AA04A5EBAF}"/>
              </a:ext>
            </a:extLst>
          </p:cNvPr>
          <p:cNvSpPr/>
          <p:nvPr/>
        </p:nvSpPr>
        <p:spPr bwMode="auto">
          <a:xfrm>
            <a:off x="914399" y="4732114"/>
            <a:ext cx="4437413" cy="1747360"/>
          </a:xfrm>
          <a:prstGeom prst="rect">
            <a:avLst/>
          </a:prstGeom>
          <a:solidFill>
            <a:schemeClr val="tx1">
              <a:lumMod val="20000"/>
              <a:lumOff val="8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marR="0" indent="-285750" algn="l" defTabSz="912813" rtl="0" eaLnBrk="1" fontAlgn="base" latinLnBrk="0" hangingPunct="1">
              <a:lnSpc>
                <a:spcPct val="100000"/>
              </a:lnSpc>
              <a:spcBef>
                <a:spcPct val="20000"/>
              </a:spcBef>
              <a:spcAft>
                <a:spcPct val="0"/>
              </a:spcAft>
              <a:buClr>
                <a:schemeClr val="accent1"/>
              </a:buClr>
              <a:buSzPct val="100000"/>
              <a:buFont typeface="Arial" panose="020B0604020202020204" pitchFamily="34" charset="0"/>
              <a:buChar char="•"/>
              <a:tabLst/>
            </a:pPr>
            <a:r>
              <a:rPr kumimoji="0" lang="en-US" sz="1400" b="0" i="0" u="none" strike="noStrike" cap="none" normalizeH="0" baseline="0">
                <a:ln>
                  <a:noFill/>
                </a:ln>
                <a:solidFill>
                  <a:srgbClr val="4D4D4D"/>
                </a:solidFill>
                <a:effectLst/>
                <a:latin typeface="Caibri"/>
                <a:cs typeface="Arial" charset="0"/>
              </a:rPr>
              <a:t>Recommendation using Naïve </a:t>
            </a:r>
            <a:r>
              <a:rPr kumimoji="0" lang="en-US" sz="1400" b="0" i="0" u="none" strike="noStrike" cap="none" normalizeH="0" baseline="0" err="1">
                <a:ln>
                  <a:noFill/>
                </a:ln>
                <a:solidFill>
                  <a:srgbClr val="4D4D4D"/>
                </a:solidFill>
                <a:effectLst/>
                <a:latin typeface="Caibri"/>
                <a:cs typeface="Arial" charset="0"/>
              </a:rPr>
              <a:t>Baye’s</a:t>
            </a:r>
            <a:r>
              <a:rPr kumimoji="0" lang="en-US" sz="1400" b="0" i="0" u="none" strike="noStrike" cap="none" normalizeH="0" baseline="0">
                <a:ln>
                  <a:noFill/>
                </a:ln>
                <a:solidFill>
                  <a:srgbClr val="4D4D4D"/>
                </a:solidFill>
                <a:effectLst/>
                <a:latin typeface="Caibri"/>
                <a:cs typeface="Arial" charset="0"/>
              </a:rPr>
              <a:t>  classifier – </a:t>
            </a:r>
            <a:r>
              <a:rPr kumimoji="0" lang="en-US" sz="1400" b="1" i="0" u="sng" strike="noStrike" cap="none" normalizeH="0" baseline="0">
                <a:ln>
                  <a:noFill/>
                </a:ln>
                <a:solidFill>
                  <a:srgbClr val="4D4D4D"/>
                </a:solidFill>
                <a:effectLst/>
                <a:latin typeface="Caibri"/>
                <a:cs typeface="Arial" charset="0"/>
              </a:rPr>
              <a:t>Collaborative filtering</a:t>
            </a:r>
          </a:p>
          <a:p>
            <a:pPr marL="285750" marR="0" indent="-285750" algn="l" defTabSz="912813" rtl="0" eaLnBrk="1" fontAlgn="base" latinLnBrk="0" hangingPunct="1">
              <a:lnSpc>
                <a:spcPct val="100000"/>
              </a:lnSpc>
              <a:spcBef>
                <a:spcPct val="20000"/>
              </a:spcBef>
              <a:spcAft>
                <a:spcPct val="0"/>
              </a:spcAft>
              <a:buClr>
                <a:schemeClr val="accent1"/>
              </a:buClr>
              <a:buSzPct val="100000"/>
              <a:buFont typeface="Arial" panose="020B0604020202020204" pitchFamily="34" charset="0"/>
              <a:buChar char="•"/>
              <a:tabLst/>
            </a:pPr>
            <a:r>
              <a:rPr lang="en-US" sz="1400">
                <a:solidFill>
                  <a:srgbClr val="4D4D4D"/>
                </a:solidFill>
                <a:latin typeface="Caibri"/>
                <a:cs typeface="Arial" charset="0"/>
              </a:rPr>
              <a:t>Similarity is identified based on age , native place, gender etc. which is used in determining similarity and generate recommendation based on preferences and past history</a:t>
            </a:r>
            <a:endParaRPr kumimoji="0" lang="en-US" sz="1400" b="0" i="0" u="none" strike="noStrike" cap="none" normalizeH="0" baseline="0">
              <a:ln>
                <a:noFill/>
              </a:ln>
              <a:solidFill>
                <a:srgbClr val="4D4D4D"/>
              </a:solidFill>
              <a:effectLst/>
              <a:latin typeface="Caibri"/>
              <a:cs typeface="Arial" charset="0"/>
            </a:endParaRPr>
          </a:p>
        </p:txBody>
      </p:sp>
      <p:cxnSp>
        <p:nvCxnSpPr>
          <p:cNvPr id="14" name="Straight Arrow Connector 13">
            <a:extLst>
              <a:ext uri="{FF2B5EF4-FFF2-40B4-BE49-F238E27FC236}">
                <a16:creationId xmlns:a16="http://schemas.microsoft.com/office/drawing/2014/main" id="{79BAC0FC-71F8-4FDE-B617-E17C2728795B}"/>
              </a:ext>
            </a:extLst>
          </p:cNvPr>
          <p:cNvCxnSpPr>
            <a:cxnSpLocks/>
          </p:cNvCxnSpPr>
          <p:nvPr/>
        </p:nvCxnSpPr>
        <p:spPr bwMode="auto">
          <a:xfrm>
            <a:off x="3540825" y="3903162"/>
            <a:ext cx="0" cy="798851"/>
          </a:xfrm>
          <a:prstGeom prst="straightConnector1">
            <a:avLst/>
          </a:prstGeom>
          <a:noFill/>
          <a:ln w="9525" cap="flat" cmpd="sng" algn="ctr">
            <a:solidFill>
              <a:schemeClr val="tx1"/>
            </a:solidFill>
            <a:prstDash val="solid"/>
            <a:round/>
            <a:headEnd type="diamond" w="med" len="med"/>
            <a:tailEnd type="diamond" w="med" len="med"/>
          </a:ln>
          <a:effectLst/>
        </p:spPr>
      </p:cxnSp>
      <p:sp>
        <p:nvSpPr>
          <p:cNvPr id="15" name="Rectangle 14">
            <a:extLst>
              <a:ext uri="{FF2B5EF4-FFF2-40B4-BE49-F238E27FC236}">
                <a16:creationId xmlns:a16="http://schemas.microsoft.com/office/drawing/2014/main" id="{D419083F-23E6-43C4-8FC9-3F5FA118DDA7}"/>
              </a:ext>
            </a:extLst>
          </p:cNvPr>
          <p:cNvSpPr/>
          <p:nvPr/>
        </p:nvSpPr>
        <p:spPr bwMode="auto">
          <a:xfrm>
            <a:off x="7912105" y="1222054"/>
            <a:ext cx="3595084" cy="1350746"/>
          </a:xfrm>
          <a:prstGeom prst="rect">
            <a:avLst/>
          </a:prstGeom>
          <a:solidFill>
            <a:schemeClr val="tx1">
              <a:lumMod val="20000"/>
              <a:lumOff val="8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indent="-285750" algn="just" defTabSz="912813" fontAlgn="base">
              <a:spcBef>
                <a:spcPct val="20000"/>
              </a:spcBef>
              <a:spcAft>
                <a:spcPct val="0"/>
              </a:spcAft>
              <a:buClr>
                <a:schemeClr val="accent1"/>
              </a:buClr>
              <a:buSzPct val="100000"/>
              <a:buFont typeface="Wingdings" panose="05000000000000000000" pitchFamily="2" charset="2"/>
              <a:buChar char="§"/>
            </a:pPr>
            <a:r>
              <a:rPr lang="en-US" sz="1400">
                <a:solidFill>
                  <a:srgbClr val="4D4D4D"/>
                </a:solidFill>
                <a:latin typeface="Caibri"/>
                <a:cs typeface="Arial"/>
              </a:rPr>
              <a:t>Recommendation </a:t>
            </a:r>
            <a:r>
              <a:rPr lang="en-US" sz="1400" b="1" u="sng">
                <a:solidFill>
                  <a:srgbClr val="4D4D4D"/>
                </a:solidFill>
                <a:latin typeface="Caibri"/>
                <a:cs typeface="Arial"/>
              </a:rPr>
              <a:t>Ensemble learning algorithms</a:t>
            </a:r>
            <a:endParaRPr lang="en-US" b="1" u="sng"/>
          </a:p>
          <a:p>
            <a:pPr marL="285750" indent="-285750" algn="just" defTabSz="912813" fontAlgn="base">
              <a:spcBef>
                <a:spcPct val="20000"/>
              </a:spcBef>
              <a:spcAft>
                <a:spcPct val="0"/>
              </a:spcAft>
              <a:buClr>
                <a:schemeClr val="accent1"/>
              </a:buClr>
              <a:buSzPct val="100000"/>
              <a:buFont typeface="Wingdings" panose="05000000000000000000" pitchFamily="2" charset="2"/>
              <a:buChar char="§"/>
            </a:pPr>
            <a:r>
              <a:rPr lang="en-US" sz="1400">
                <a:solidFill>
                  <a:srgbClr val="4D4D4D"/>
                </a:solidFill>
                <a:latin typeface="Caibri"/>
                <a:cs typeface="Arial"/>
              </a:rPr>
              <a:t>Using a set of models to generate a prediction</a:t>
            </a:r>
          </a:p>
        </p:txBody>
      </p:sp>
      <p:cxnSp>
        <p:nvCxnSpPr>
          <p:cNvPr id="16" name="Straight Arrow Connector 15">
            <a:extLst>
              <a:ext uri="{FF2B5EF4-FFF2-40B4-BE49-F238E27FC236}">
                <a16:creationId xmlns:a16="http://schemas.microsoft.com/office/drawing/2014/main" id="{E56BCF0E-9590-4922-BB10-A6B520734455}"/>
              </a:ext>
            </a:extLst>
          </p:cNvPr>
          <p:cNvCxnSpPr>
            <a:cxnSpLocks/>
          </p:cNvCxnSpPr>
          <p:nvPr/>
        </p:nvCxnSpPr>
        <p:spPr bwMode="auto">
          <a:xfrm>
            <a:off x="5688279" y="2699737"/>
            <a:ext cx="0" cy="798851"/>
          </a:xfrm>
          <a:prstGeom prst="straightConnector1">
            <a:avLst/>
          </a:prstGeom>
          <a:noFill/>
          <a:ln w="9525" cap="flat" cmpd="sng" algn="ctr">
            <a:solidFill>
              <a:schemeClr val="tx1"/>
            </a:solidFill>
            <a:prstDash val="solid"/>
            <a:round/>
            <a:headEnd type="diamond" w="med" len="med"/>
            <a:tailEnd type="diamond" w="med" len="med"/>
          </a:ln>
          <a:effectLst/>
        </p:spPr>
      </p:cxnSp>
      <p:sp>
        <p:nvSpPr>
          <p:cNvPr id="19" name="Rectangle 18">
            <a:extLst>
              <a:ext uri="{FF2B5EF4-FFF2-40B4-BE49-F238E27FC236}">
                <a16:creationId xmlns:a16="http://schemas.microsoft.com/office/drawing/2014/main" id="{D22FFB4D-C439-41F0-8376-E4E2B78F89D5}"/>
              </a:ext>
            </a:extLst>
          </p:cNvPr>
          <p:cNvSpPr/>
          <p:nvPr/>
        </p:nvSpPr>
        <p:spPr bwMode="auto">
          <a:xfrm>
            <a:off x="5840678" y="4801445"/>
            <a:ext cx="4243451" cy="1562397"/>
          </a:xfrm>
          <a:prstGeom prst="rect">
            <a:avLst/>
          </a:prstGeom>
          <a:solidFill>
            <a:schemeClr val="tx1">
              <a:lumMod val="20000"/>
              <a:lumOff val="8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indent="-285750" algn="just" defTabSz="912813" fontAlgn="base">
              <a:spcBef>
                <a:spcPct val="20000"/>
              </a:spcBef>
              <a:spcAft>
                <a:spcPct val="0"/>
              </a:spcAft>
              <a:buClr>
                <a:schemeClr val="accent1"/>
              </a:buClr>
              <a:buSzPct val="100000"/>
              <a:buFont typeface="Wingdings" panose="05000000000000000000" pitchFamily="2" charset="2"/>
              <a:buChar char="§"/>
            </a:pPr>
            <a:r>
              <a:rPr lang="en-US" sz="1400">
                <a:solidFill>
                  <a:srgbClr val="4D4D4D"/>
                </a:solidFill>
                <a:latin typeface="Calibri"/>
              </a:rPr>
              <a:t>Recommendation using </a:t>
            </a:r>
            <a:r>
              <a:rPr lang="en-US" sz="1400" b="1" u="sng">
                <a:solidFill>
                  <a:srgbClr val="4D4D4D"/>
                </a:solidFill>
                <a:latin typeface="Calibri"/>
              </a:rPr>
              <a:t>Latent factor Collaborative technique </a:t>
            </a:r>
            <a:endParaRPr lang="en-US" sz="1400" b="1" u="sng">
              <a:solidFill>
                <a:srgbClr val="3C3C3C"/>
              </a:solidFill>
              <a:latin typeface="Calibri"/>
            </a:endParaRPr>
          </a:p>
          <a:p>
            <a:pPr marL="285750" indent="-285750" algn="just" defTabSz="912813">
              <a:spcBef>
                <a:spcPct val="20000"/>
              </a:spcBef>
              <a:spcAft>
                <a:spcPct val="0"/>
              </a:spcAft>
              <a:buClr>
                <a:schemeClr val="accent1"/>
              </a:buClr>
              <a:buSzPct val="100000"/>
              <a:buFont typeface="Wingdings" panose="05000000000000000000" pitchFamily="2" charset="2"/>
              <a:buChar char="§"/>
            </a:pPr>
            <a:r>
              <a:rPr lang="en-US" sz="1400">
                <a:solidFill>
                  <a:srgbClr val="3C3C3C"/>
                </a:solidFill>
                <a:latin typeface="Calibri"/>
                <a:cs typeface="Arial"/>
              </a:rPr>
              <a:t>Based on the assumption that the factors responsible for the user’s choice on an item need not to be explicitly known.</a:t>
            </a:r>
            <a:endParaRPr lang="en-US" sz="1400">
              <a:solidFill>
                <a:srgbClr val="4D4D4D"/>
              </a:solidFill>
              <a:latin typeface="Calibri"/>
              <a:cs typeface="Arial"/>
            </a:endParaRPr>
          </a:p>
        </p:txBody>
      </p:sp>
      <p:cxnSp>
        <p:nvCxnSpPr>
          <p:cNvPr id="20" name="Straight Arrow Connector 19">
            <a:extLst>
              <a:ext uri="{FF2B5EF4-FFF2-40B4-BE49-F238E27FC236}">
                <a16:creationId xmlns:a16="http://schemas.microsoft.com/office/drawing/2014/main" id="{4F1535B4-696C-46C4-8C87-8BA5041EBF0E}"/>
              </a:ext>
            </a:extLst>
          </p:cNvPr>
          <p:cNvCxnSpPr>
            <a:cxnSpLocks/>
          </p:cNvCxnSpPr>
          <p:nvPr/>
        </p:nvCxnSpPr>
        <p:spPr bwMode="auto">
          <a:xfrm>
            <a:off x="7726873" y="3903162"/>
            <a:ext cx="0" cy="798851"/>
          </a:xfrm>
          <a:prstGeom prst="straightConnector1">
            <a:avLst/>
          </a:prstGeom>
          <a:noFill/>
          <a:ln w="9525" cap="flat" cmpd="sng" algn="ctr">
            <a:solidFill>
              <a:schemeClr val="tx1"/>
            </a:solidFill>
            <a:prstDash val="solid"/>
            <a:round/>
            <a:headEnd type="diamond" w="med" len="med"/>
            <a:tailEnd type="diamond" w="med" len="med"/>
          </a:ln>
          <a:effectLst/>
        </p:spPr>
      </p:cxnSp>
      <p:sp>
        <p:nvSpPr>
          <p:cNvPr id="21" name="Rectangle 20">
            <a:extLst>
              <a:ext uri="{FF2B5EF4-FFF2-40B4-BE49-F238E27FC236}">
                <a16:creationId xmlns:a16="http://schemas.microsoft.com/office/drawing/2014/main" id="{B832045C-137C-49BD-B3CE-5340A525F028}"/>
              </a:ext>
            </a:extLst>
          </p:cNvPr>
          <p:cNvSpPr/>
          <p:nvPr/>
        </p:nvSpPr>
        <p:spPr bwMode="auto">
          <a:xfrm>
            <a:off x="4667251" y="1304417"/>
            <a:ext cx="2857497" cy="1350746"/>
          </a:xfrm>
          <a:prstGeom prst="rect">
            <a:avLst/>
          </a:prstGeom>
          <a:solidFill>
            <a:schemeClr val="tx1">
              <a:lumMod val="20000"/>
              <a:lumOff val="8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285750" indent="-285750" algn="just" defTabSz="912813" fontAlgn="base">
              <a:spcBef>
                <a:spcPct val="20000"/>
              </a:spcBef>
              <a:spcAft>
                <a:spcPct val="0"/>
              </a:spcAft>
              <a:buClr>
                <a:schemeClr val="accent1"/>
              </a:buClr>
              <a:buSzPct val="100000"/>
              <a:buFont typeface="Wingdings" panose="05000000000000000000" pitchFamily="2" charset="2"/>
              <a:buChar char="§"/>
            </a:pPr>
            <a:r>
              <a:rPr lang="en-US" sz="1400">
                <a:solidFill>
                  <a:srgbClr val="4D4D4D"/>
                </a:solidFill>
                <a:latin typeface="Caibri"/>
                <a:cs typeface="Arial"/>
              </a:rPr>
              <a:t>Recommendation </a:t>
            </a:r>
            <a:r>
              <a:rPr lang="en-US" sz="1400" b="1" u="sng">
                <a:solidFill>
                  <a:srgbClr val="4D4D4D"/>
                </a:solidFill>
                <a:latin typeface="Caibri"/>
                <a:cs typeface="Arial"/>
              </a:rPr>
              <a:t>using ant colony algorithm</a:t>
            </a:r>
            <a:r>
              <a:rPr lang="en-US" sz="1400">
                <a:solidFill>
                  <a:srgbClr val="4D4D4D"/>
                </a:solidFill>
                <a:latin typeface="Caibri"/>
                <a:cs typeface="Arial"/>
              </a:rPr>
              <a:t> to generate optimal food list suiting food according to medical reports. </a:t>
            </a:r>
            <a:endParaRPr lang="en-US">
              <a:cs typeface="Arial"/>
            </a:endParaRPr>
          </a:p>
        </p:txBody>
      </p:sp>
      <p:cxnSp>
        <p:nvCxnSpPr>
          <p:cNvPr id="22" name="Straight Arrow Connector 21">
            <a:extLst>
              <a:ext uri="{FF2B5EF4-FFF2-40B4-BE49-F238E27FC236}">
                <a16:creationId xmlns:a16="http://schemas.microsoft.com/office/drawing/2014/main" id="{93C2DFAE-F2C4-412D-B86A-42AE1B996151}"/>
              </a:ext>
            </a:extLst>
          </p:cNvPr>
          <p:cNvCxnSpPr>
            <a:cxnSpLocks/>
          </p:cNvCxnSpPr>
          <p:nvPr/>
        </p:nvCxnSpPr>
        <p:spPr bwMode="auto">
          <a:xfrm>
            <a:off x="9807036" y="2606706"/>
            <a:ext cx="0" cy="798851"/>
          </a:xfrm>
          <a:prstGeom prst="straightConnector1">
            <a:avLst/>
          </a:prstGeom>
          <a:noFill/>
          <a:ln w="9525" cap="flat" cmpd="sng" algn="ctr">
            <a:solidFill>
              <a:schemeClr val="tx1"/>
            </a:solidFill>
            <a:prstDash val="solid"/>
            <a:round/>
            <a:headEnd type="diamond" w="med" len="med"/>
            <a:tailEnd type="diamond" w="med" len="med"/>
          </a:ln>
          <a:effectLst/>
        </p:spPr>
      </p:cxnSp>
    </p:spTree>
    <p:extLst>
      <p:ext uri="{BB962C8B-B14F-4D97-AF65-F5344CB8AC3E}">
        <p14:creationId xmlns:p14="http://schemas.microsoft.com/office/powerpoint/2010/main" val="1421590253"/>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297E13-8057-0249-BE83-744748AA9C45}"/>
              </a:ext>
            </a:extLst>
          </p:cNvPr>
          <p:cNvSpPr>
            <a:spLocks noGrp="1"/>
          </p:cNvSpPr>
          <p:nvPr>
            <p:ph type="body" sz="quarter" idx="10"/>
          </p:nvPr>
        </p:nvSpPr>
        <p:spPr>
          <a:xfrm>
            <a:off x="2801694" y="2175024"/>
            <a:ext cx="4453227" cy="466344"/>
          </a:xfrm>
        </p:spPr>
        <p:txBody>
          <a:bodyPr/>
          <a:lstStyle/>
          <a:p>
            <a:r>
              <a:rPr lang="en-US"/>
              <a:t>Business &amp; Data Understanding</a:t>
            </a:r>
          </a:p>
        </p:txBody>
      </p:sp>
      <p:sp>
        <p:nvSpPr>
          <p:cNvPr id="3" name="Text Placeholder 2">
            <a:extLst>
              <a:ext uri="{FF2B5EF4-FFF2-40B4-BE49-F238E27FC236}">
                <a16:creationId xmlns:a16="http://schemas.microsoft.com/office/drawing/2014/main" id="{0FB72F3C-0713-8845-A7DB-7B70C4E306F6}"/>
              </a:ext>
            </a:extLst>
          </p:cNvPr>
          <p:cNvSpPr>
            <a:spLocks noGrp="1"/>
          </p:cNvSpPr>
          <p:nvPr>
            <p:ph type="body" sz="quarter" idx="11"/>
          </p:nvPr>
        </p:nvSpPr>
        <p:spPr>
          <a:xfrm>
            <a:off x="2801694" y="2737616"/>
            <a:ext cx="4453227" cy="466344"/>
          </a:xfrm>
        </p:spPr>
        <p:txBody>
          <a:bodyPr/>
          <a:lstStyle/>
          <a:p>
            <a:r>
              <a:rPr lang="en-US"/>
              <a:t>Data Preparation </a:t>
            </a:r>
          </a:p>
        </p:txBody>
      </p:sp>
      <p:sp>
        <p:nvSpPr>
          <p:cNvPr id="4" name="Text Placeholder 3">
            <a:extLst>
              <a:ext uri="{FF2B5EF4-FFF2-40B4-BE49-F238E27FC236}">
                <a16:creationId xmlns:a16="http://schemas.microsoft.com/office/drawing/2014/main" id="{8FC09673-D0CE-2943-9150-44A9049F1FE8}"/>
              </a:ext>
            </a:extLst>
          </p:cNvPr>
          <p:cNvSpPr>
            <a:spLocks noGrp="1"/>
          </p:cNvSpPr>
          <p:nvPr>
            <p:ph type="body" sz="quarter" idx="12"/>
          </p:nvPr>
        </p:nvSpPr>
        <p:spPr>
          <a:xfrm>
            <a:off x="2801694" y="3300208"/>
            <a:ext cx="4453227" cy="466344"/>
          </a:xfrm>
        </p:spPr>
        <p:txBody>
          <a:bodyPr/>
          <a:lstStyle/>
          <a:p>
            <a:r>
              <a:rPr lang="en-US" dirty="0"/>
              <a:t>The Modeling and Evaluation</a:t>
            </a:r>
          </a:p>
        </p:txBody>
      </p:sp>
      <p:sp>
        <p:nvSpPr>
          <p:cNvPr id="6" name="Text Placeholder 5">
            <a:extLst>
              <a:ext uri="{FF2B5EF4-FFF2-40B4-BE49-F238E27FC236}">
                <a16:creationId xmlns:a16="http://schemas.microsoft.com/office/drawing/2014/main" id="{D0B87B07-F4AF-F246-9686-BAADFAE1760C}"/>
              </a:ext>
            </a:extLst>
          </p:cNvPr>
          <p:cNvSpPr>
            <a:spLocks noGrp="1"/>
          </p:cNvSpPr>
          <p:nvPr>
            <p:ph type="body" sz="quarter" idx="14"/>
          </p:nvPr>
        </p:nvSpPr>
        <p:spPr>
          <a:xfrm>
            <a:off x="2801694" y="3862800"/>
            <a:ext cx="4453227" cy="466344"/>
          </a:xfrm>
        </p:spPr>
        <p:txBody>
          <a:bodyPr/>
          <a:lstStyle/>
          <a:p>
            <a:r>
              <a:rPr lang="en-US"/>
              <a:t>Deployment</a:t>
            </a:r>
          </a:p>
        </p:txBody>
      </p:sp>
      <p:sp>
        <p:nvSpPr>
          <p:cNvPr id="7" name="Text Placeholder 5">
            <a:extLst>
              <a:ext uri="{FF2B5EF4-FFF2-40B4-BE49-F238E27FC236}">
                <a16:creationId xmlns:a16="http://schemas.microsoft.com/office/drawing/2014/main" id="{59454E4C-D7CA-D246-8236-2DA343BEFAD7}"/>
              </a:ext>
            </a:extLst>
          </p:cNvPr>
          <p:cNvSpPr txBox="1">
            <a:spLocks/>
          </p:cNvSpPr>
          <p:nvPr/>
        </p:nvSpPr>
        <p:spPr>
          <a:xfrm>
            <a:off x="2801694" y="4425393"/>
            <a:ext cx="4453227" cy="466344"/>
          </a:xfrm>
          <a:prstGeom prst="rect">
            <a:avLst/>
          </a:prstGeom>
        </p:spPr>
        <p:txBody>
          <a:bodyPr vert="horz" lIns="91440" tIns="45720" rIns="91440" bIns="45720" rtlCol="0">
            <a:normAutofit/>
          </a:bodyPr>
          <a:lstStyle>
            <a:lvl1pPr algn="l" defTabSz="912813" rtl="0" eaLnBrk="1" fontAlgn="auto" hangingPunct="1">
              <a:spcBef>
                <a:spcPts val="0"/>
              </a:spcBef>
              <a:spcAft>
                <a:spcPts val="0"/>
              </a:spcAft>
              <a:buClrTx/>
              <a:buSzTx/>
              <a:buFontTx/>
              <a:buNone/>
              <a:defRPr lang="en-US" sz="2400">
                <a:solidFill>
                  <a:schemeClr val="tx1">
                    <a:lumMod val="75000"/>
                  </a:schemeClr>
                </a:solidFill>
                <a:latin typeface="Calibri" pitchFamily="34" charset="0"/>
                <a:ea typeface="+mn-ea"/>
                <a:cs typeface="+mn-cs"/>
              </a:defRPr>
            </a:lvl1pPr>
            <a:lvl2pPr marL="742950" indent="-285750" algn="l" defTabSz="912813" rtl="0" eaLnBrk="1" fontAlgn="base" hangingPunct="1">
              <a:spcBef>
                <a:spcPct val="20000"/>
              </a:spcBef>
              <a:spcAft>
                <a:spcPct val="0"/>
              </a:spcAft>
              <a:buClr>
                <a:schemeClr val="accent1"/>
              </a:buClr>
              <a:buSzPct val="90000"/>
              <a:buFontTx/>
              <a:buBlip>
                <a:blip r:embed="rId2"/>
              </a:buBlip>
              <a:defRPr lang="en-US" sz="1600" dirty="0" smtClean="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r>
              <a:rPr lang="en-IN" kern="0"/>
              <a:t>Monitoring and Maintenance </a:t>
            </a:r>
          </a:p>
        </p:txBody>
      </p:sp>
    </p:spTree>
    <p:extLst>
      <p:ext uri="{BB962C8B-B14F-4D97-AF65-F5344CB8AC3E}">
        <p14:creationId xmlns:p14="http://schemas.microsoft.com/office/powerpoint/2010/main" val="2986311569"/>
      </p:ext>
    </p:extLst>
  </p:cSld>
  <p:clrMapOvr>
    <a:masterClrMapping/>
  </p:clrMapOvr>
  <p:transition advClick="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D45FE3-6D48-8540-A57C-177D7EF939E4}"/>
              </a:ext>
            </a:extLst>
          </p:cNvPr>
          <p:cNvSpPr>
            <a:spLocks noGrp="1"/>
          </p:cNvSpPr>
          <p:nvPr>
            <p:ph type="body" sz="quarter" idx="10"/>
          </p:nvPr>
        </p:nvSpPr>
        <p:spPr/>
        <p:txBody>
          <a:bodyPr anchor="ctr"/>
          <a:lstStyle/>
          <a:p>
            <a:r>
              <a:rPr lang="en-US"/>
              <a:t>Business &amp; Data Understanding</a:t>
            </a:r>
          </a:p>
        </p:txBody>
      </p:sp>
    </p:spTree>
    <p:extLst>
      <p:ext uri="{BB962C8B-B14F-4D97-AF65-F5344CB8AC3E}">
        <p14:creationId xmlns:p14="http://schemas.microsoft.com/office/powerpoint/2010/main" val="3491251609"/>
      </p:ext>
    </p:extLst>
  </p:cSld>
  <p:clrMapOvr>
    <a:masterClrMapping/>
  </p:clrMapOvr>
  <p:transition advClick="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04819D01-D7E1-4E0F-BDDC-E38E47CA3AEB}"/>
              </a:ext>
            </a:extLst>
          </p:cNvPr>
          <p:cNvSpPr txBox="1"/>
          <p:nvPr/>
        </p:nvSpPr>
        <p:spPr>
          <a:xfrm>
            <a:off x="6400802" y="1081939"/>
            <a:ext cx="5547360" cy="1776464"/>
          </a:xfrm>
          <a:prstGeom prst="rect">
            <a:avLst/>
          </a:prstGeom>
          <a:noFill/>
        </p:spPr>
        <p:txBody>
          <a:bodyPr wrap="none" rtlCol="0" anchor="ctr">
            <a:noAutofit/>
          </a:bodyPr>
          <a:lstStyle/>
          <a:p>
            <a:pPr marL="342900" indent="-342900" algn="just">
              <a:lnSpc>
                <a:spcPct val="107000"/>
              </a:lnSpc>
              <a:buFont typeface="Wingdings" panose="05000000000000000000" pitchFamily="2" charset="2"/>
              <a:buChar char=""/>
            </a:pPr>
            <a:endParaRPr lang="en-US" dirty="0">
              <a:latin typeface="Calibri" panose="020F0502020204030204" pitchFamily="34" charset="0"/>
              <a:cs typeface="Times New Roman" panose="02020603050405020304" pitchFamily="18" charset="0"/>
            </a:endParaRPr>
          </a:p>
          <a:p>
            <a:pPr marL="342900" indent="-342900" algn="just">
              <a:lnSpc>
                <a:spcPct val="107000"/>
              </a:lnSpc>
              <a:buFont typeface="Wingdings" panose="05000000000000000000" pitchFamily="2" charset="2"/>
              <a:buChar char=""/>
            </a:pPr>
            <a:r>
              <a:rPr lang="en-US" dirty="0">
                <a:latin typeface="Calibri" panose="020F0502020204030204" pitchFamily="34" charset="0"/>
                <a:cs typeface="Times New Roman" panose="02020603050405020304" pitchFamily="18" charset="0"/>
              </a:rPr>
              <a:t>Increase in footfalls/order volume </a:t>
            </a:r>
          </a:p>
          <a:p>
            <a:pPr marL="342900" indent="-342900" algn="just">
              <a:lnSpc>
                <a:spcPct val="107000"/>
              </a:lnSpc>
              <a:buFont typeface="Wingdings" panose="05000000000000000000" pitchFamily="2" charset="2"/>
              <a:buChar char=""/>
            </a:pPr>
            <a:r>
              <a:rPr lang="en-US" dirty="0">
                <a:latin typeface="Calibri" panose="020F0502020204030204" pitchFamily="34" charset="0"/>
                <a:cs typeface="Times New Roman" panose="02020603050405020304" pitchFamily="18" charset="0"/>
              </a:rPr>
              <a:t>Increase in order volume per order by cross-selling </a:t>
            </a:r>
          </a:p>
          <a:p>
            <a:pPr algn="just">
              <a:lnSpc>
                <a:spcPct val="107000"/>
              </a:lnSpc>
            </a:pPr>
            <a:r>
              <a:rPr lang="en-US" dirty="0">
                <a:latin typeface="Calibri" panose="020F0502020204030204" pitchFamily="34" charset="0"/>
                <a:cs typeface="Times New Roman" panose="02020603050405020304" pitchFamily="18" charset="0"/>
              </a:rPr>
              <a:t>       other popular food items</a:t>
            </a:r>
          </a:p>
          <a:p>
            <a:pPr marL="342900" indent="-342900" algn="just">
              <a:lnSpc>
                <a:spcPct val="107000"/>
              </a:lnSpc>
              <a:buFont typeface="Wingdings" panose="05000000000000000000" pitchFamily="2" charset="2"/>
              <a:buChar char=""/>
            </a:pPr>
            <a:r>
              <a:rPr lang="en-US" dirty="0">
                <a:latin typeface="Calibri" panose="020F0502020204030204" pitchFamily="34" charset="0"/>
                <a:cs typeface="Times New Roman" panose="02020603050405020304" pitchFamily="18" charset="0"/>
              </a:rPr>
              <a:t>Increase the likeability factor/positive reviews </a:t>
            </a:r>
          </a:p>
          <a:p>
            <a:pPr algn="just">
              <a:lnSpc>
                <a:spcPct val="107000"/>
              </a:lnSpc>
            </a:pPr>
            <a:r>
              <a:rPr lang="en-US" dirty="0">
                <a:latin typeface="Calibri" panose="020F0502020204030204" pitchFamily="34" charset="0"/>
                <a:cs typeface="Times New Roman" panose="02020603050405020304" pitchFamily="18" charset="0"/>
              </a:rPr>
              <a:t>      helping further revenues</a:t>
            </a:r>
          </a:p>
        </p:txBody>
      </p:sp>
      <p:sp>
        <p:nvSpPr>
          <p:cNvPr id="15" name="Rectangle 14">
            <a:extLst>
              <a:ext uri="{FF2B5EF4-FFF2-40B4-BE49-F238E27FC236}">
                <a16:creationId xmlns:a16="http://schemas.microsoft.com/office/drawing/2014/main" id="{B3B54DA5-EA9D-4512-8890-03BC37A24CB6}"/>
              </a:ext>
            </a:extLst>
          </p:cNvPr>
          <p:cNvSpPr/>
          <p:nvPr/>
        </p:nvSpPr>
        <p:spPr bwMode="auto">
          <a:xfrm>
            <a:off x="365760" y="3408575"/>
            <a:ext cx="5080000" cy="1314409"/>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14" name="Rectangle 13">
            <a:extLst>
              <a:ext uri="{FF2B5EF4-FFF2-40B4-BE49-F238E27FC236}">
                <a16:creationId xmlns:a16="http://schemas.microsoft.com/office/drawing/2014/main" id="{91CBDFCC-0C44-4BD9-84B9-55033E242A94}"/>
              </a:ext>
            </a:extLst>
          </p:cNvPr>
          <p:cNvSpPr/>
          <p:nvPr/>
        </p:nvSpPr>
        <p:spPr bwMode="auto">
          <a:xfrm>
            <a:off x="365760" y="1125777"/>
            <a:ext cx="5080000" cy="1698703"/>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 name="Title 1">
            <a:extLst>
              <a:ext uri="{FF2B5EF4-FFF2-40B4-BE49-F238E27FC236}">
                <a16:creationId xmlns:a16="http://schemas.microsoft.com/office/drawing/2014/main" id="{52D401EE-7268-D44B-9217-25D6E78D3BDE}"/>
              </a:ext>
            </a:extLst>
          </p:cNvPr>
          <p:cNvSpPr>
            <a:spLocks noGrp="1"/>
          </p:cNvSpPr>
          <p:nvPr>
            <p:ph type="title"/>
          </p:nvPr>
        </p:nvSpPr>
        <p:spPr/>
        <p:txBody>
          <a:bodyPr/>
          <a:lstStyle/>
          <a:p>
            <a:r>
              <a:rPr lang="en-US"/>
              <a:t>Business Objectives and Success Criteria</a:t>
            </a:r>
          </a:p>
        </p:txBody>
      </p:sp>
      <p:sp>
        <p:nvSpPr>
          <p:cNvPr id="5" name="TextBox 4">
            <a:extLst>
              <a:ext uri="{FF2B5EF4-FFF2-40B4-BE49-F238E27FC236}">
                <a16:creationId xmlns:a16="http://schemas.microsoft.com/office/drawing/2014/main" id="{8F701B96-69D2-4590-9DB6-1B28BCC36B83}"/>
              </a:ext>
            </a:extLst>
          </p:cNvPr>
          <p:cNvSpPr txBox="1"/>
          <p:nvPr/>
        </p:nvSpPr>
        <p:spPr>
          <a:xfrm>
            <a:off x="350521" y="1299450"/>
            <a:ext cx="5080000" cy="1558953"/>
          </a:xfrm>
          <a:prstGeom prst="rect">
            <a:avLst/>
          </a:prstGeom>
          <a:noFill/>
        </p:spPr>
        <p:txBody>
          <a:bodyPr wrap="square" anchor="ctr">
            <a:spAutoFit/>
          </a:bodyPr>
          <a:lstStyle/>
          <a:p>
            <a:pPr marL="342900" marR="0" lvl="0" indent="-342900" algn="just">
              <a:lnSpc>
                <a:spcPct val="107000"/>
              </a:lnSpc>
              <a:spcBef>
                <a:spcPts val="0"/>
              </a:spcBef>
              <a:spcAft>
                <a:spcPts val="0"/>
              </a:spcAft>
              <a:buFont typeface="Wingdings" panose="05000000000000000000" pitchFamily="2" charset="2"/>
              <a:buChar char=""/>
            </a:pPr>
            <a:r>
              <a:rPr lang="en-US" dirty="0">
                <a:effectLst/>
                <a:latin typeface="Calibri" panose="020F0502020204030204" pitchFamily="34" charset="0"/>
                <a:ea typeface="Century Gothic" panose="020B0502020202020204" pitchFamily="34" charset="0"/>
                <a:cs typeface="Times New Roman" panose="02020603050405020304" pitchFamily="18" charset="0"/>
              </a:rPr>
              <a:t>Present food recommendation engines are not effective</a:t>
            </a:r>
            <a:endParaRPr lang="en-US"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dirty="0">
                <a:effectLst/>
                <a:latin typeface="Calibri" panose="020F0502020204030204" pitchFamily="34" charset="0"/>
                <a:ea typeface="Century Gothic" panose="020B0502020202020204" pitchFamily="34" charset="0"/>
                <a:cs typeface="Times New Roman" panose="02020603050405020304" pitchFamily="18" charset="0"/>
              </a:rPr>
              <a:t>Significant churn on the account of limited/sub-optimal choices to customers, impacting future sales and retention</a:t>
            </a:r>
            <a:endParaRPr lang="en-US" dirty="0">
              <a:effectLst/>
              <a:latin typeface="Century Gothic" panose="020B0502020202020204" pitchFamily="34" charset="0"/>
              <a:ea typeface="Century Gothic" panose="020B0502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F9691E03-BE77-41A2-9879-8CB3A027FC54}"/>
              </a:ext>
            </a:extLst>
          </p:cNvPr>
          <p:cNvSpPr txBox="1"/>
          <p:nvPr/>
        </p:nvSpPr>
        <p:spPr>
          <a:xfrm>
            <a:off x="350521" y="3563405"/>
            <a:ext cx="5080000" cy="966227"/>
          </a:xfrm>
          <a:prstGeom prst="rect">
            <a:avLst/>
          </a:prstGeom>
          <a:noFill/>
        </p:spPr>
        <p:txBody>
          <a:bodyPr wrap="square">
            <a:spAutoFit/>
          </a:bodyPr>
          <a:lstStyle/>
          <a:p>
            <a:pPr marL="342900" marR="0" lvl="0" indent="-342900" algn="just">
              <a:lnSpc>
                <a:spcPct val="107000"/>
              </a:lnSpc>
              <a:spcBef>
                <a:spcPts val="0"/>
              </a:spcBef>
              <a:spcAft>
                <a:spcPts val="0"/>
              </a:spcAft>
              <a:buFont typeface="Wingdings" panose="05000000000000000000" pitchFamily="2" charset="2"/>
              <a:buChar char=""/>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Maximize revenue by providing the most preferred and likeable food options</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spcBef>
                <a:spcPts val="0"/>
              </a:spcBef>
              <a:spcAft>
                <a:spcPts val="0"/>
              </a:spcAft>
            </a:pPr>
            <a:r>
              <a:rPr lang="en-IN" sz="1800" dirty="0">
                <a:effectLst/>
                <a:latin typeface="Century Gothic" panose="020B0502020202020204" pitchFamily="34" charset="0"/>
                <a:ea typeface="Century Gothic" panose="020B0502020202020204" pitchFamily="34" charset="0"/>
                <a:cs typeface="Times New Roman" panose="02020603050405020304" pitchFamily="18" charset="0"/>
              </a:rPr>
              <a:t> </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4E557EE1-8EA1-4226-B15D-EC78591F5E58}"/>
              </a:ext>
            </a:extLst>
          </p:cNvPr>
          <p:cNvSpPr/>
          <p:nvPr/>
        </p:nvSpPr>
        <p:spPr bwMode="auto">
          <a:xfrm>
            <a:off x="1351280" y="1000767"/>
            <a:ext cx="3108960" cy="304797"/>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Business Problem</a:t>
            </a:r>
          </a:p>
        </p:txBody>
      </p:sp>
      <p:sp>
        <p:nvSpPr>
          <p:cNvPr id="17" name="Freeform 11">
            <a:extLst>
              <a:ext uri="{FF2B5EF4-FFF2-40B4-BE49-F238E27FC236}">
                <a16:creationId xmlns:a16="http://schemas.microsoft.com/office/drawing/2014/main" id="{33A15264-F3D9-47CD-BFAC-03DCE995D500}"/>
              </a:ext>
            </a:extLst>
          </p:cNvPr>
          <p:cNvSpPr>
            <a:spLocks/>
          </p:cNvSpPr>
          <p:nvPr/>
        </p:nvSpPr>
        <p:spPr bwMode="auto">
          <a:xfrm rot="16200000" flipV="1">
            <a:off x="5190746" y="3615715"/>
            <a:ext cx="1465068" cy="761999"/>
          </a:xfrm>
          <a:custGeom>
            <a:avLst/>
            <a:gdLst>
              <a:gd name="T0" fmla="*/ 2147483647 w 2485"/>
              <a:gd name="T1" fmla="*/ 2147483647 h 2550"/>
              <a:gd name="T2" fmla="*/ 0 w 2485"/>
              <a:gd name="T3" fmla="*/ 2147483647 h 2550"/>
              <a:gd name="T4" fmla="*/ 2147483647 w 2485"/>
              <a:gd name="T5" fmla="*/ 2147483647 h 2550"/>
              <a:gd name="T6" fmla="*/ 2147483647 w 2485"/>
              <a:gd name="T7" fmla="*/ 2147483647 h 2550"/>
              <a:gd name="T8" fmla="*/ 2147483647 w 2485"/>
              <a:gd name="T9" fmla="*/ 2147483647 h 2550"/>
              <a:gd name="T10" fmla="*/ 2147483647 w 2485"/>
              <a:gd name="T11" fmla="*/ 2147483647 h 2550"/>
              <a:gd name="T12" fmla="*/ 2147483647 w 2485"/>
              <a:gd name="T13" fmla="*/ 2147483647 h 2550"/>
              <a:gd name="T14" fmla="*/ 2147483647 w 2485"/>
              <a:gd name="T15" fmla="*/ 2147483647 h 2550"/>
              <a:gd name="T16" fmla="*/ 2147483647 w 2485"/>
              <a:gd name="T17" fmla="*/ 2147483647 h 2550"/>
              <a:gd name="T18" fmla="*/ 2147483647 w 2485"/>
              <a:gd name="T19" fmla="*/ 2147483647 h 2550"/>
              <a:gd name="T20" fmla="*/ 2147483647 w 2485"/>
              <a:gd name="T21" fmla="*/ 2147483647 h 2550"/>
              <a:gd name="T22" fmla="*/ 2147483647 w 2485"/>
              <a:gd name="T23" fmla="*/ 2147483647 h 2550"/>
              <a:gd name="T24" fmla="*/ 2147483647 w 2485"/>
              <a:gd name="T25" fmla="*/ 0 h 2550"/>
              <a:gd name="T26" fmla="*/ 2147483647 w 2485"/>
              <a:gd name="T27" fmla="*/ 2147483647 h 2550"/>
              <a:gd name="T28" fmla="*/ 2147483647 w 2485"/>
              <a:gd name="T29" fmla="*/ 2147483647 h 2550"/>
              <a:gd name="T30" fmla="*/ 2147483647 w 2485"/>
              <a:gd name="T31" fmla="*/ 2147483647 h 2550"/>
              <a:gd name="T32" fmla="*/ 2147483647 w 2485"/>
              <a:gd name="T33" fmla="*/ 2147483647 h 2550"/>
              <a:gd name="T34" fmla="*/ 2147483647 w 2485"/>
              <a:gd name="T35" fmla="*/ 2147483647 h 2550"/>
              <a:gd name="T36" fmla="*/ 2147483647 w 2485"/>
              <a:gd name="T37" fmla="*/ 2147483647 h 2550"/>
              <a:gd name="T38" fmla="*/ 2147483647 w 2485"/>
              <a:gd name="T39" fmla="*/ 2147483647 h 2550"/>
              <a:gd name="T40" fmla="*/ 2147483647 w 2485"/>
              <a:gd name="T41" fmla="*/ 2147483647 h 2550"/>
              <a:gd name="T42" fmla="*/ 2147483647 w 2485"/>
              <a:gd name="T43" fmla="*/ 2147483647 h 2550"/>
              <a:gd name="T44" fmla="*/ 2147483647 w 2485"/>
              <a:gd name="T45" fmla="*/ 2147483647 h 2550"/>
              <a:gd name="T46" fmla="*/ 2147483647 w 2485"/>
              <a:gd name="T47" fmla="*/ 2147483647 h 2550"/>
              <a:gd name="T48" fmla="*/ 2147483647 w 2485"/>
              <a:gd name="T49" fmla="*/ 2147483647 h 2550"/>
              <a:gd name="T50" fmla="*/ 2147483647 w 2485"/>
              <a:gd name="T51" fmla="*/ 2147483647 h 2550"/>
              <a:gd name="T52" fmla="*/ 2147483647 w 2485"/>
              <a:gd name="T53" fmla="*/ 2147483647 h 2550"/>
              <a:gd name="T54" fmla="*/ 2147483647 w 2485"/>
              <a:gd name="T55" fmla="*/ 2147483647 h 2550"/>
              <a:gd name="T56" fmla="*/ 2147483647 w 2485"/>
              <a:gd name="T57" fmla="*/ 2147483647 h 2550"/>
              <a:gd name="T58" fmla="*/ 2147483647 w 2485"/>
              <a:gd name="T59" fmla="*/ 2147483647 h 2550"/>
              <a:gd name="T60" fmla="*/ 2147483647 w 2485"/>
              <a:gd name="T61" fmla="*/ 2147483647 h 2550"/>
              <a:gd name="T62" fmla="*/ 2147483647 w 2485"/>
              <a:gd name="T63" fmla="*/ 2147483647 h 2550"/>
              <a:gd name="T64" fmla="*/ 2147483647 w 2485"/>
              <a:gd name="T65" fmla="*/ 2147483647 h 2550"/>
              <a:gd name="T66" fmla="*/ 2147483647 w 2485"/>
              <a:gd name="T67" fmla="*/ 2147483647 h 2550"/>
              <a:gd name="T68" fmla="*/ 2147483647 w 2485"/>
              <a:gd name="T69" fmla="*/ 2147483647 h 2550"/>
              <a:gd name="T70" fmla="*/ 2147483647 w 2485"/>
              <a:gd name="T71" fmla="*/ 2147483647 h 2550"/>
              <a:gd name="T72" fmla="*/ 2147483647 w 2485"/>
              <a:gd name="T73" fmla="*/ 2147483647 h 2550"/>
              <a:gd name="T74" fmla="*/ 2147483647 w 2485"/>
              <a:gd name="T75" fmla="*/ 2147483647 h 2550"/>
              <a:gd name="T76" fmla="*/ 2147483647 w 2485"/>
              <a:gd name="T77" fmla="*/ 2147483647 h 2550"/>
              <a:gd name="T78" fmla="*/ 2147483647 w 2485"/>
              <a:gd name="T79" fmla="*/ 2147483647 h 2550"/>
              <a:gd name="T80" fmla="*/ 2147483647 w 2485"/>
              <a:gd name="T81" fmla="*/ 2147483647 h 2550"/>
              <a:gd name="T82" fmla="*/ 2147483647 w 2485"/>
              <a:gd name="T83" fmla="*/ 2147483647 h 2550"/>
              <a:gd name="T84" fmla="*/ 2147483647 w 2485"/>
              <a:gd name="T85" fmla="*/ 2147483647 h 2550"/>
              <a:gd name="T86" fmla="*/ 2147483647 w 2485"/>
              <a:gd name="T87" fmla="*/ 2147483647 h 2550"/>
              <a:gd name="T88" fmla="*/ 2147483647 w 2485"/>
              <a:gd name="T89" fmla="*/ 2147483647 h 2550"/>
              <a:gd name="T90" fmla="*/ 2147483647 w 2485"/>
              <a:gd name="T91" fmla="*/ 2147483647 h 25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85"/>
              <a:gd name="T139" fmla="*/ 0 h 2550"/>
              <a:gd name="T140" fmla="*/ 2485 w 2485"/>
              <a:gd name="T141" fmla="*/ 2550 h 25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85" h="2550">
                <a:moveTo>
                  <a:pt x="10" y="855"/>
                </a:moveTo>
                <a:lnTo>
                  <a:pt x="0" y="305"/>
                </a:lnTo>
                <a:lnTo>
                  <a:pt x="536" y="487"/>
                </a:lnTo>
                <a:lnTo>
                  <a:pt x="421" y="584"/>
                </a:lnTo>
                <a:lnTo>
                  <a:pt x="539" y="716"/>
                </a:lnTo>
                <a:lnTo>
                  <a:pt x="660" y="876"/>
                </a:lnTo>
                <a:lnTo>
                  <a:pt x="756" y="997"/>
                </a:lnTo>
                <a:lnTo>
                  <a:pt x="860" y="1151"/>
                </a:lnTo>
                <a:lnTo>
                  <a:pt x="973" y="1344"/>
                </a:lnTo>
                <a:lnTo>
                  <a:pt x="1060" y="1551"/>
                </a:lnTo>
                <a:lnTo>
                  <a:pt x="1061" y="444"/>
                </a:lnTo>
                <a:lnTo>
                  <a:pt x="918" y="445"/>
                </a:lnTo>
                <a:lnTo>
                  <a:pt x="1237" y="0"/>
                </a:lnTo>
                <a:lnTo>
                  <a:pt x="1558" y="445"/>
                </a:lnTo>
                <a:lnTo>
                  <a:pt x="1417" y="442"/>
                </a:lnTo>
                <a:lnTo>
                  <a:pt x="1417" y="1565"/>
                </a:lnTo>
                <a:lnTo>
                  <a:pt x="1510" y="1351"/>
                </a:lnTo>
                <a:lnTo>
                  <a:pt x="1599" y="1183"/>
                </a:lnTo>
                <a:lnTo>
                  <a:pt x="1705" y="1029"/>
                </a:lnTo>
                <a:lnTo>
                  <a:pt x="1828" y="869"/>
                </a:lnTo>
                <a:lnTo>
                  <a:pt x="1919" y="743"/>
                </a:lnTo>
                <a:lnTo>
                  <a:pt x="2057" y="584"/>
                </a:lnTo>
                <a:lnTo>
                  <a:pt x="1951" y="487"/>
                </a:lnTo>
                <a:lnTo>
                  <a:pt x="2485" y="301"/>
                </a:lnTo>
                <a:lnTo>
                  <a:pt x="2472" y="855"/>
                </a:lnTo>
                <a:lnTo>
                  <a:pt x="2339" y="773"/>
                </a:lnTo>
                <a:lnTo>
                  <a:pt x="2236" y="929"/>
                </a:lnTo>
                <a:lnTo>
                  <a:pt x="2114" y="1096"/>
                </a:lnTo>
                <a:lnTo>
                  <a:pt x="2014" y="1249"/>
                </a:lnTo>
                <a:lnTo>
                  <a:pt x="1925" y="1391"/>
                </a:lnTo>
                <a:lnTo>
                  <a:pt x="1851" y="1524"/>
                </a:lnTo>
                <a:lnTo>
                  <a:pt x="1778" y="1664"/>
                </a:lnTo>
                <a:lnTo>
                  <a:pt x="1699" y="1838"/>
                </a:lnTo>
                <a:lnTo>
                  <a:pt x="1663" y="2014"/>
                </a:lnTo>
                <a:lnTo>
                  <a:pt x="1661" y="2550"/>
                </a:lnTo>
                <a:lnTo>
                  <a:pt x="830" y="2550"/>
                </a:lnTo>
                <a:lnTo>
                  <a:pt x="830" y="2015"/>
                </a:lnTo>
                <a:lnTo>
                  <a:pt x="793" y="1838"/>
                </a:lnTo>
                <a:lnTo>
                  <a:pt x="694" y="1622"/>
                </a:lnTo>
                <a:lnTo>
                  <a:pt x="612" y="1481"/>
                </a:lnTo>
                <a:lnTo>
                  <a:pt x="542" y="1361"/>
                </a:lnTo>
                <a:lnTo>
                  <a:pt x="455" y="1220"/>
                </a:lnTo>
                <a:lnTo>
                  <a:pt x="367" y="1087"/>
                </a:lnTo>
                <a:lnTo>
                  <a:pt x="262" y="941"/>
                </a:lnTo>
                <a:lnTo>
                  <a:pt x="142" y="768"/>
                </a:lnTo>
                <a:lnTo>
                  <a:pt x="10" y="855"/>
                </a:lnTo>
                <a:close/>
              </a:path>
            </a:pathLst>
          </a:custGeom>
          <a:solidFill>
            <a:srgbClr val="2E2E38">
              <a:lumMod val="20000"/>
              <a:lumOff val="80000"/>
            </a:srgbClr>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30" b="0" i="0" u="none" strike="noStrike" kern="0" cap="none" spc="0" normalizeH="0" baseline="0" noProof="0">
              <a:ln>
                <a:noFill/>
              </a:ln>
              <a:solidFill>
                <a:srgbClr val="FFFFFF"/>
              </a:solidFill>
              <a:effectLst/>
              <a:uLnTx/>
              <a:uFillTx/>
              <a:latin typeface="EYInterstate Light"/>
            </a:endParaRPr>
          </a:p>
        </p:txBody>
      </p:sp>
      <p:sp>
        <p:nvSpPr>
          <p:cNvPr id="18" name="Rectangle 17">
            <a:extLst>
              <a:ext uri="{FF2B5EF4-FFF2-40B4-BE49-F238E27FC236}">
                <a16:creationId xmlns:a16="http://schemas.microsoft.com/office/drawing/2014/main" id="{6646BFBF-F04D-4879-9148-108D903AF147}"/>
              </a:ext>
            </a:extLst>
          </p:cNvPr>
          <p:cNvSpPr/>
          <p:nvPr/>
        </p:nvSpPr>
        <p:spPr bwMode="auto">
          <a:xfrm>
            <a:off x="365760" y="5047462"/>
            <a:ext cx="5080000" cy="1465069"/>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1" name="Rectangle 20">
            <a:extLst>
              <a:ext uri="{FF2B5EF4-FFF2-40B4-BE49-F238E27FC236}">
                <a16:creationId xmlns:a16="http://schemas.microsoft.com/office/drawing/2014/main" id="{8D707A8B-6CDD-47A9-8681-89B9CFC6C0D3}"/>
              </a:ext>
            </a:extLst>
          </p:cNvPr>
          <p:cNvSpPr/>
          <p:nvPr/>
        </p:nvSpPr>
        <p:spPr bwMode="auto">
          <a:xfrm>
            <a:off x="1351280" y="3276708"/>
            <a:ext cx="3108960" cy="304797"/>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Business Objective</a:t>
            </a:r>
          </a:p>
        </p:txBody>
      </p:sp>
      <p:sp>
        <p:nvSpPr>
          <p:cNvPr id="22" name="Rectangle 21">
            <a:extLst>
              <a:ext uri="{FF2B5EF4-FFF2-40B4-BE49-F238E27FC236}">
                <a16:creationId xmlns:a16="http://schemas.microsoft.com/office/drawing/2014/main" id="{F64691CE-605A-4DCB-A8EA-B46BAF8D5006}"/>
              </a:ext>
            </a:extLst>
          </p:cNvPr>
          <p:cNvSpPr/>
          <p:nvPr/>
        </p:nvSpPr>
        <p:spPr bwMode="auto">
          <a:xfrm>
            <a:off x="1351280" y="4862463"/>
            <a:ext cx="3108960" cy="304797"/>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Business Constraints</a:t>
            </a:r>
          </a:p>
        </p:txBody>
      </p:sp>
      <p:sp>
        <p:nvSpPr>
          <p:cNvPr id="23" name="TextBox 22">
            <a:extLst>
              <a:ext uri="{FF2B5EF4-FFF2-40B4-BE49-F238E27FC236}">
                <a16:creationId xmlns:a16="http://schemas.microsoft.com/office/drawing/2014/main" id="{A77D14A8-4E60-45BB-92CB-61B184812AA9}"/>
              </a:ext>
            </a:extLst>
          </p:cNvPr>
          <p:cNvSpPr txBox="1"/>
          <p:nvPr/>
        </p:nvSpPr>
        <p:spPr>
          <a:xfrm>
            <a:off x="365760" y="5046571"/>
            <a:ext cx="5080000" cy="1465069"/>
          </a:xfrm>
          <a:prstGeom prst="rect">
            <a:avLst/>
          </a:prstGeom>
          <a:noFill/>
        </p:spPr>
        <p:txBody>
          <a:bodyPr wrap="square" rtlCol="0" anchor="ctr">
            <a:noAutofit/>
          </a:bodyPr>
          <a:lstStyle/>
          <a:p>
            <a:pPr marL="342900" marR="0" lvl="0" indent="-342900" algn="just">
              <a:lnSpc>
                <a:spcPct val="107000"/>
              </a:lnSpc>
              <a:spcBef>
                <a:spcPts val="0"/>
              </a:spcBef>
              <a:spcAft>
                <a:spcPts val="0"/>
              </a:spcAft>
              <a:buFont typeface="Wingdings" panose="05000000000000000000" pitchFamily="2" charset="2"/>
              <a:buChar char=""/>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Minimize consumer fatigue by providing most optimal choices </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Minimize the searching time for the preferred choices</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EF674581-C192-41C2-BEF6-08947D8EB68B}"/>
              </a:ext>
            </a:extLst>
          </p:cNvPr>
          <p:cNvSpPr/>
          <p:nvPr/>
        </p:nvSpPr>
        <p:spPr bwMode="auto">
          <a:xfrm>
            <a:off x="6400802" y="3408575"/>
            <a:ext cx="5524500" cy="1320674"/>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5" name="Rectangle 24">
            <a:extLst>
              <a:ext uri="{FF2B5EF4-FFF2-40B4-BE49-F238E27FC236}">
                <a16:creationId xmlns:a16="http://schemas.microsoft.com/office/drawing/2014/main" id="{81640F36-17B1-4AD2-AC1D-F7C4033E5EAA}"/>
              </a:ext>
            </a:extLst>
          </p:cNvPr>
          <p:cNvSpPr/>
          <p:nvPr/>
        </p:nvSpPr>
        <p:spPr bwMode="auto">
          <a:xfrm>
            <a:off x="6400802" y="1127931"/>
            <a:ext cx="5547360" cy="1774310"/>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7" name="TextBox 26">
            <a:extLst>
              <a:ext uri="{FF2B5EF4-FFF2-40B4-BE49-F238E27FC236}">
                <a16:creationId xmlns:a16="http://schemas.microsoft.com/office/drawing/2014/main" id="{D2F90DB2-DE0D-4A76-9FD0-53403BE0E001}"/>
              </a:ext>
            </a:extLst>
          </p:cNvPr>
          <p:cNvSpPr txBox="1"/>
          <p:nvPr/>
        </p:nvSpPr>
        <p:spPr>
          <a:xfrm>
            <a:off x="6497324" y="3465429"/>
            <a:ext cx="5524500" cy="1134541"/>
          </a:xfrm>
          <a:prstGeom prst="rect">
            <a:avLst/>
          </a:prstGeom>
          <a:noFill/>
        </p:spPr>
        <p:txBody>
          <a:bodyPr wrap="square">
            <a:spAutoFit/>
          </a:bodyPr>
          <a:lstStyle/>
          <a:p>
            <a:pPr marL="342900" marR="0" lvl="0" indent="-342900">
              <a:lnSpc>
                <a:spcPct val="107000"/>
              </a:lnSpc>
              <a:spcBef>
                <a:spcPts val="0"/>
              </a:spcBef>
              <a:spcAft>
                <a:spcPts val="0"/>
              </a:spcAft>
              <a:buFont typeface="Wingdings" panose="05000000000000000000" pitchFamily="2" charset="2"/>
              <a:buChar char=""/>
            </a:pPr>
            <a:r>
              <a:rPr lang="en-US" sz="1600" dirty="0">
                <a:effectLst/>
                <a:latin typeface="Calibri" panose="020F0502020204030204" pitchFamily="34" charset="0"/>
                <a:ea typeface="Century Gothic" panose="020B0502020202020204" pitchFamily="34" charset="0"/>
                <a:cs typeface="Times New Roman" panose="02020603050405020304" pitchFamily="18" charset="0"/>
              </a:rPr>
              <a:t>Accuracy (</a:t>
            </a:r>
            <a:r>
              <a:rPr lang="en-US" sz="1600" dirty="0">
                <a:latin typeface="Calibri" panose="020F0502020204030204" pitchFamily="34" charset="0"/>
                <a:ea typeface="Century Gothic" panose="020B0502020202020204" pitchFamily="34" charset="0"/>
                <a:cs typeface="Times New Roman" panose="02020603050405020304" pitchFamily="18" charset="0"/>
              </a:rPr>
              <a:t>S</a:t>
            </a:r>
            <a:r>
              <a:rPr lang="en-US" sz="1600" dirty="0">
                <a:effectLst/>
                <a:latin typeface="Calibri" panose="020F0502020204030204" pitchFamily="34" charset="0"/>
                <a:ea typeface="Century Gothic" panose="020B0502020202020204" pitchFamily="34" charset="0"/>
              </a:rPr>
              <a:t>uccessful </a:t>
            </a:r>
            <a:r>
              <a:rPr lang="en-US" sz="1600" dirty="0" err="1">
                <a:effectLst/>
                <a:latin typeface="Calibri" panose="020F0502020204030204" pitchFamily="34" charset="0"/>
                <a:ea typeface="Century Gothic" panose="020B0502020202020204" pitchFamily="34" charset="0"/>
              </a:rPr>
              <a:t>recomm</a:t>
            </a:r>
            <a:r>
              <a:rPr lang="en-US" sz="1600" dirty="0">
                <a:effectLst/>
                <a:latin typeface="Calibri" panose="020F0502020204030204" pitchFamily="34" charset="0"/>
                <a:ea typeface="Century Gothic" panose="020B0502020202020204" pitchFamily="34" charset="0"/>
              </a:rPr>
              <a:t>/ Total  </a:t>
            </a:r>
            <a:r>
              <a:rPr lang="en-US" sz="1600" dirty="0" err="1">
                <a:effectLst/>
                <a:latin typeface="Calibri" panose="020F0502020204030204" pitchFamily="34" charset="0"/>
                <a:ea typeface="Century Gothic" panose="020B0502020202020204" pitchFamily="34" charset="0"/>
              </a:rPr>
              <a:t>recomm</a:t>
            </a:r>
            <a:r>
              <a:rPr lang="en-US" sz="1600" dirty="0">
                <a:latin typeface="Calibri" panose="020F0502020204030204" pitchFamily="34" charset="0"/>
                <a:ea typeface="Century Gothic" panose="020B0502020202020204" pitchFamily="34" charset="0"/>
              </a:rPr>
              <a:t>)</a:t>
            </a:r>
            <a:endParaRPr lang="en-US" sz="1600" dirty="0">
              <a:effectLst/>
              <a:latin typeface="Calibri" panose="020F0502020204030204" pitchFamily="34" charset="0"/>
              <a:ea typeface="Century Gothic" panose="020B0502020202020204" pitchFamily="34" charset="0"/>
              <a:cs typeface="Times New Roman" panose="02020603050405020304" pitchFamily="18" charset="0"/>
            </a:endParaRPr>
          </a:p>
          <a:p>
            <a:pPr marL="342900" indent="-342900" algn="just">
              <a:lnSpc>
                <a:spcPct val="107000"/>
              </a:lnSpc>
              <a:buFont typeface="Wingdings" panose="05000000000000000000" pitchFamily="2" charset="2"/>
              <a:buChar char=""/>
            </a:pPr>
            <a:r>
              <a:rPr lang="en-US" sz="1600" dirty="0">
                <a:latin typeface="Calibri" panose="020F0502020204030204" pitchFamily="34" charset="0"/>
                <a:ea typeface="Century Gothic" panose="020B0502020202020204" pitchFamily="34" charset="0"/>
                <a:cs typeface="Times New Roman" panose="02020603050405020304" pitchFamily="18" charset="0"/>
              </a:rPr>
              <a:t>Precision (</a:t>
            </a:r>
            <a:r>
              <a:rPr lang="en-US" sz="1600" dirty="0">
                <a:effectLst/>
                <a:latin typeface="Calibri" panose="020F0502020204030204" pitchFamily="34" charset="0"/>
                <a:ea typeface="Century Gothic" panose="020B0502020202020204" pitchFamily="34" charset="0"/>
              </a:rPr>
              <a:t>TP/ (TP+FP)) </a:t>
            </a:r>
            <a:r>
              <a:rPr lang="en-US" sz="1600" dirty="0">
                <a:latin typeface="Calibri" panose="020F0502020204030204" pitchFamily="34" charset="0"/>
                <a:ea typeface="Century Gothic" panose="020B0502020202020204" pitchFamily="34" charset="0"/>
                <a:cs typeface="Times New Roman" panose="02020603050405020304" pitchFamily="18" charset="0"/>
              </a:rPr>
              <a:t> &amp; Recall </a:t>
            </a:r>
            <a:r>
              <a:rPr lang="en-US" sz="1600" dirty="0">
                <a:effectLst/>
                <a:latin typeface="Calibri" panose="020F0502020204030204" pitchFamily="34" charset="0"/>
                <a:ea typeface="Century Gothic" panose="020B0502020202020204" pitchFamily="34" charset="0"/>
                <a:cs typeface="Times New Roman" panose="02020603050405020304" pitchFamily="18" charset="0"/>
              </a:rPr>
              <a:t>TP/(TP+FN)</a:t>
            </a:r>
          </a:p>
          <a:p>
            <a:pPr marL="342900" indent="-342900" algn="just">
              <a:lnSpc>
                <a:spcPct val="107000"/>
              </a:lnSpc>
              <a:buFont typeface="Wingdings" panose="05000000000000000000" pitchFamily="2" charset="2"/>
              <a:buChar char=""/>
            </a:pPr>
            <a:r>
              <a:rPr lang="en-US" sz="1600" dirty="0">
                <a:latin typeface="Calibri" panose="020F0502020204030204" pitchFamily="34" charset="0"/>
                <a:ea typeface="Century Gothic" panose="020B0502020202020204" pitchFamily="34" charset="0"/>
                <a:cs typeface="Times New Roman" panose="02020603050405020304" pitchFamily="18" charset="0"/>
              </a:rPr>
              <a:t>RMSE</a:t>
            </a:r>
            <a:endParaRPr lang="en-US" sz="16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600" dirty="0">
                <a:latin typeface="Calibri" panose="020F0502020204030204" pitchFamily="34" charset="0"/>
                <a:ea typeface="Century Gothic" panose="020B0502020202020204" pitchFamily="34" charset="0"/>
                <a:cs typeface="Times New Roman" panose="02020603050405020304" pitchFamily="18" charset="0"/>
              </a:rPr>
              <a:t>F1 Score = 2*(Recall * Precision) / (Recall + Precision)</a:t>
            </a:r>
          </a:p>
        </p:txBody>
      </p:sp>
      <p:sp>
        <p:nvSpPr>
          <p:cNvPr id="28" name="Rectangle 27">
            <a:extLst>
              <a:ext uri="{FF2B5EF4-FFF2-40B4-BE49-F238E27FC236}">
                <a16:creationId xmlns:a16="http://schemas.microsoft.com/office/drawing/2014/main" id="{445AE958-2B5D-4739-81B9-1CAE317EEE54}"/>
              </a:ext>
            </a:extLst>
          </p:cNvPr>
          <p:cNvSpPr/>
          <p:nvPr/>
        </p:nvSpPr>
        <p:spPr bwMode="auto">
          <a:xfrm>
            <a:off x="7797802" y="984811"/>
            <a:ext cx="3108960" cy="304797"/>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algn="ctr" defTabSz="912813" fontAlgn="base">
              <a:spcBef>
                <a:spcPct val="20000"/>
              </a:spcBef>
              <a:spcAft>
                <a:spcPct val="0"/>
              </a:spcAft>
              <a:buClr>
                <a:schemeClr val="accent1"/>
              </a:buClr>
              <a:buSzPct val="100000"/>
            </a:pPr>
            <a:r>
              <a:rPr lang="en-US" b="1" dirty="0">
                <a:solidFill>
                  <a:srgbClr val="4D4D4D"/>
                </a:solidFill>
                <a:latin typeface="Calibri" panose="020F0502020204030204" pitchFamily="34" charset="0"/>
                <a:cs typeface="Calibri" panose="020F0502020204030204" pitchFamily="34" charset="0"/>
              </a:rPr>
              <a:t>Business Success criteria</a:t>
            </a:r>
          </a:p>
        </p:txBody>
      </p:sp>
      <p:sp>
        <p:nvSpPr>
          <p:cNvPr id="29" name="Rectangle 28">
            <a:extLst>
              <a:ext uri="{FF2B5EF4-FFF2-40B4-BE49-F238E27FC236}">
                <a16:creationId xmlns:a16="http://schemas.microsoft.com/office/drawing/2014/main" id="{80C50C31-4FF3-4D29-9BAF-8BDF237F3947}"/>
              </a:ext>
            </a:extLst>
          </p:cNvPr>
          <p:cNvSpPr/>
          <p:nvPr/>
        </p:nvSpPr>
        <p:spPr bwMode="auto">
          <a:xfrm>
            <a:off x="6400802" y="5029812"/>
            <a:ext cx="5524500" cy="1465069"/>
          </a:xfrm>
          <a:prstGeom prst="rect">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30" name="Rectangle 29">
            <a:extLst>
              <a:ext uri="{FF2B5EF4-FFF2-40B4-BE49-F238E27FC236}">
                <a16:creationId xmlns:a16="http://schemas.microsoft.com/office/drawing/2014/main" id="{FC68F2FD-55AB-4909-90F6-E3145851E0F1}"/>
              </a:ext>
            </a:extLst>
          </p:cNvPr>
          <p:cNvSpPr/>
          <p:nvPr/>
        </p:nvSpPr>
        <p:spPr bwMode="auto">
          <a:xfrm>
            <a:off x="7797802" y="3238031"/>
            <a:ext cx="3108960" cy="304797"/>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algn="ctr" defTabSz="912813" fontAlgn="base">
              <a:spcBef>
                <a:spcPct val="20000"/>
              </a:spcBef>
              <a:spcAft>
                <a:spcPct val="0"/>
              </a:spcAft>
              <a:buClr>
                <a:schemeClr val="accent1"/>
              </a:buClr>
              <a:buSzPct val="100000"/>
            </a:pPr>
            <a:r>
              <a:rPr lang="en-US" b="1" dirty="0">
                <a:solidFill>
                  <a:srgbClr val="4D4D4D"/>
                </a:solidFill>
                <a:latin typeface="Calibri" panose="020F0502020204030204" pitchFamily="34" charset="0"/>
                <a:cs typeface="Calibri" panose="020F0502020204030204" pitchFamily="34" charset="0"/>
              </a:rPr>
              <a:t>ML Success Criteria</a:t>
            </a:r>
          </a:p>
        </p:txBody>
      </p:sp>
      <p:sp>
        <p:nvSpPr>
          <p:cNvPr id="31" name="Rectangle 30">
            <a:extLst>
              <a:ext uri="{FF2B5EF4-FFF2-40B4-BE49-F238E27FC236}">
                <a16:creationId xmlns:a16="http://schemas.microsoft.com/office/drawing/2014/main" id="{53668CA8-C86A-4EC9-B1E5-20E566D67D87}"/>
              </a:ext>
            </a:extLst>
          </p:cNvPr>
          <p:cNvSpPr/>
          <p:nvPr/>
        </p:nvSpPr>
        <p:spPr bwMode="auto">
          <a:xfrm>
            <a:off x="7814312" y="4876524"/>
            <a:ext cx="3108960" cy="304797"/>
          </a:xfrm>
          <a:prstGeom prst="rect">
            <a:avLst/>
          </a:prstGeom>
          <a:solidFill>
            <a:schemeClr val="accent6"/>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algn="ctr" defTabSz="912813" fontAlgn="base">
              <a:spcBef>
                <a:spcPct val="20000"/>
              </a:spcBef>
              <a:spcAft>
                <a:spcPct val="0"/>
              </a:spcAft>
              <a:buClr>
                <a:schemeClr val="accent1"/>
              </a:buClr>
              <a:buSzPct val="100000"/>
            </a:pPr>
            <a:r>
              <a:rPr lang="en-US" b="1" dirty="0">
                <a:solidFill>
                  <a:srgbClr val="4D4D4D"/>
                </a:solidFill>
                <a:latin typeface="Calibri" panose="020F0502020204030204" pitchFamily="34" charset="0"/>
                <a:cs typeface="Calibri" panose="020F0502020204030204" pitchFamily="34" charset="0"/>
              </a:rPr>
              <a:t>Economic Success Criteria</a:t>
            </a:r>
          </a:p>
        </p:txBody>
      </p:sp>
      <p:sp>
        <p:nvSpPr>
          <p:cNvPr id="32" name="TextBox 31">
            <a:extLst>
              <a:ext uri="{FF2B5EF4-FFF2-40B4-BE49-F238E27FC236}">
                <a16:creationId xmlns:a16="http://schemas.microsoft.com/office/drawing/2014/main" id="{9A780A49-B9FD-47D8-88D2-4ABBC7A8AD01}"/>
              </a:ext>
            </a:extLst>
          </p:cNvPr>
          <p:cNvSpPr txBox="1"/>
          <p:nvPr/>
        </p:nvSpPr>
        <p:spPr>
          <a:xfrm>
            <a:off x="6400802" y="5241122"/>
            <a:ext cx="5524500" cy="1465069"/>
          </a:xfrm>
          <a:prstGeom prst="rect">
            <a:avLst/>
          </a:prstGeom>
          <a:noFill/>
        </p:spPr>
        <p:txBody>
          <a:bodyPr wrap="square" rtlCol="0" anchor="ctr">
            <a:noAutofit/>
          </a:bodyPr>
          <a:lstStyle/>
          <a:p>
            <a:pPr marL="342900" marR="0" lvl="0" indent="-342900" algn="just">
              <a:lnSpc>
                <a:spcPct val="107000"/>
              </a:lnSpc>
              <a:spcBef>
                <a:spcPts val="0"/>
              </a:spcBef>
              <a:spcAft>
                <a:spcPts val="0"/>
              </a:spcAft>
              <a:buFont typeface="Wingdings" panose="05000000000000000000" pitchFamily="2" charset="2"/>
              <a:buChar char=""/>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Click through rate (CTR)</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Conversion rate overall</a:t>
            </a:r>
            <a:r>
              <a:rPr lang="en-US" dirty="0">
                <a:latin typeface="Century Gothic" panose="020B0502020202020204" pitchFamily="34" charset="0"/>
                <a:ea typeface="Century Gothic" panose="020B0502020202020204" pitchFamily="34" charset="0"/>
                <a:cs typeface="Times New Roman" panose="02020603050405020304" pitchFamily="18" charset="0"/>
              </a:rPr>
              <a:t>/</a:t>
            </a:r>
            <a:r>
              <a:rPr lang="en-US" sz="1800" dirty="0">
                <a:effectLst/>
                <a:latin typeface="Calibri" panose="020F0502020204030204" pitchFamily="34" charset="0"/>
                <a:ea typeface="Century Gothic" panose="020B0502020202020204" pitchFamily="34" charset="0"/>
                <a:cs typeface="Times New Roman" panose="02020603050405020304" pitchFamily="18" charset="0"/>
              </a:rPr>
              <a:t>Conversion rate per user</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Proportion of orders with recommendations</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Recommend items per order</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a:p>
            <a:pPr marL="0" marR="0" algn="just">
              <a:lnSpc>
                <a:spcPct val="107000"/>
              </a:lnSpc>
              <a:spcBef>
                <a:spcPts val="0"/>
              </a:spcBef>
              <a:spcAft>
                <a:spcPts val="0"/>
              </a:spcAft>
            </a:pPr>
            <a:r>
              <a:rPr lang="en-US" sz="1800" dirty="0">
                <a:effectLst/>
                <a:latin typeface="Calibri" panose="020F0502020204030204" pitchFamily="34" charset="0"/>
                <a:ea typeface="Century Gothic" panose="020B0502020202020204" pitchFamily="34" charset="0"/>
                <a:cs typeface="Times New Roman" panose="02020603050405020304" pitchFamily="18" charset="0"/>
              </a:rPr>
              <a:t> </a:t>
            </a:r>
            <a:endParaRPr lang="en-US" sz="1800" dirty="0">
              <a:effectLst/>
              <a:latin typeface="Century Gothic" panose="020B0502020202020204" pitchFamily="34" charset="0"/>
              <a:ea typeface="Century Gothic" panose="020B050202020202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BB76CF94-515E-408C-8A68-CA393C5E68EA}"/>
              </a:ext>
            </a:extLst>
          </p:cNvPr>
          <p:cNvSpPr txBox="1"/>
          <p:nvPr/>
        </p:nvSpPr>
        <p:spPr>
          <a:xfrm>
            <a:off x="12588240" y="3000021"/>
            <a:ext cx="914400" cy="914400"/>
          </a:xfrm>
          <a:prstGeom prst="rect">
            <a:avLst/>
          </a:prstGeom>
          <a:noFill/>
        </p:spPr>
        <p:txBody>
          <a:bodyPr wrap="none" rtlCol="0">
            <a:noAutofit/>
          </a:bodyPr>
          <a:lstStyle/>
          <a:p>
            <a:endParaRPr lang="en-US"/>
          </a:p>
        </p:txBody>
      </p:sp>
      <p:sp>
        <p:nvSpPr>
          <p:cNvPr id="35" name="Arrow: Down 34">
            <a:extLst>
              <a:ext uri="{FF2B5EF4-FFF2-40B4-BE49-F238E27FC236}">
                <a16:creationId xmlns:a16="http://schemas.microsoft.com/office/drawing/2014/main" id="{70B95728-5A7A-46DD-83CC-D8AAFA5A2374}"/>
              </a:ext>
            </a:extLst>
          </p:cNvPr>
          <p:cNvSpPr/>
          <p:nvPr/>
        </p:nvSpPr>
        <p:spPr bwMode="auto">
          <a:xfrm>
            <a:off x="2452870" y="2815167"/>
            <a:ext cx="843280" cy="464210"/>
          </a:xfrm>
          <a:prstGeom prst="down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36" name="Arrow: Down 35">
            <a:extLst>
              <a:ext uri="{FF2B5EF4-FFF2-40B4-BE49-F238E27FC236}">
                <a16:creationId xmlns:a16="http://schemas.microsoft.com/office/drawing/2014/main" id="{0E38DED6-38FC-4C16-A24B-7E52A710175E}"/>
              </a:ext>
            </a:extLst>
          </p:cNvPr>
          <p:cNvSpPr/>
          <p:nvPr/>
        </p:nvSpPr>
        <p:spPr bwMode="auto">
          <a:xfrm>
            <a:off x="2484120" y="4442882"/>
            <a:ext cx="843280" cy="464210"/>
          </a:xfrm>
          <a:prstGeom prst="down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Tree>
    <p:extLst>
      <p:ext uri="{BB962C8B-B14F-4D97-AF65-F5344CB8AC3E}">
        <p14:creationId xmlns:p14="http://schemas.microsoft.com/office/powerpoint/2010/main" val="3943180571"/>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65CE1-2604-46B9-8C60-378006EA5830}"/>
              </a:ext>
            </a:extLst>
          </p:cNvPr>
          <p:cNvSpPr>
            <a:spLocks noGrp="1"/>
          </p:cNvSpPr>
          <p:nvPr>
            <p:ph type="title"/>
          </p:nvPr>
        </p:nvSpPr>
        <p:spPr/>
        <p:txBody>
          <a:bodyPr/>
          <a:lstStyle/>
          <a:p>
            <a:r>
              <a:rPr lang="en-US"/>
              <a:t>ML Feasibility and Legal Constraints</a:t>
            </a:r>
          </a:p>
        </p:txBody>
      </p:sp>
      <p:sp>
        <p:nvSpPr>
          <p:cNvPr id="21" name="Rectangle 3">
            <a:extLst>
              <a:ext uri="{FF2B5EF4-FFF2-40B4-BE49-F238E27FC236}">
                <a16:creationId xmlns:a16="http://schemas.microsoft.com/office/drawing/2014/main" id="{10C5A4F1-D2D5-4720-B535-7DA4E08259BE}"/>
              </a:ext>
            </a:extLst>
          </p:cNvPr>
          <p:cNvSpPr>
            <a:spLocks noChangeArrowheads="1"/>
          </p:cNvSpPr>
          <p:nvPr/>
        </p:nvSpPr>
        <p:spPr bwMode="auto">
          <a:xfrm>
            <a:off x="4821403" y="1419065"/>
            <a:ext cx="3420810" cy="2942332"/>
          </a:xfrm>
          <a:prstGeom prst="rect">
            <a:avLst/>
          </a:prstGeom>
          <a:noFill/>
          <a:ln w="28575">
            <a:solidFill>
              <a:srgbClr val="FFE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90000" rIns="90000" bIns="90000"/>
          <a:lstStyle>
            <a:lvl1pPr marL="342900" indent="-342900">
              <a:spcBef>
                <a:spcPct val="20000"/>
              </a:spcBef>
              <a:buClr>
                <a:srgbClr val="FFD200"/>
              </a:buClr>
              <a:buSzPct val="75000"/>
              <a:buFont typeface="Arial" panose="020B0604020202020204" pitchFamily="34" charset="0"/>
              <a:defRPr sz="2400">
                <a:solidFill>
                  <a:schemeClr val="tx1"/>
                </a:solidFill>
                <a:latin typeface="Arial" panose="020B0604020202020204" pitchFamily="34" charset="0"/>
              </a:defRPr>
            </a:lvl1pPr>
            <a:lvl2pPr marL="1588">
              <a:spcBef>
                <a:spcPct val="20000"/>
              </a:spcBef>
              <a:buClr>
                <a:srgbClr val="FFD200"/>
              </a:buClr>
              <a:buSzPct val="75000"/>
              <a:buFont typeface="Arial" panose="020B0604020202020204" pitchFamily="34" charset="0"/>
              <a:defRPr sz="2400" b="1">
                <a:solidFill>
                  <a:schemeClr val="accent1"/>
                </a:solidFill>
                <a:latin typeface="Arial" panose="020B0604020202020204" pitchFamily="34" charset="0"/>
              </a:defRPr>
            </a:lvl2pPr>
            <a:lvl3pPr marL="357188" indent="-354013">
              <a:spcBef>
                <a:spcPct val="20000"/>
              </a:spcBef>
              <a:buClr>
                <a:schemeClr val="tx2"/>
              </a:buClr>
              <a:buSzPct val="75000"/>
              <a:buFont typeface="Arial" panose="020B0604020202020204" pitchFamily="34" charset="0"/>
              <a:buChar char="►"/>
              <a:defRPr sz="2400">
                <a:solidFill>
                  <a:schemeClr val="tx1"/>
                </a:solidFill>
                <a:latin typeface="Arial" panose="020B0604020202020204" pitchFamily="34" charset="0"/>
              </a:defRPr>
            </a:lvl3pPr>
            <a:lvl4pPr marL="717550" indent="-358775">
              <a:spcBef>
                <a:spcPct val="20000"/>
              </a:spcBef>
              <a:buClr>
                <a:schemeClr val="tx2"/>
              </a:buClr>
              <a:buSzPct val="75000"/>
              <a:buFont typeface="Arial" panose="020B0604020202020204" pitchFamily="34" charset="0"/>
              <a:buChar char="►"/>
              <a:defRPr sz="2000">
                <a:solidFill>
                  <a:schemeClr val="tx1"/>
                </a:solidFill>
                <a:latin typeface="Arial" panose="020B0604020202020204" pitchFamily="34" charset="0"/>
              </a:defRPr>
            </a:lvl4pPr>
            <a:lvl5pPr marL="1079500" indent="-360363">
              <a:spcBef>
                <a:spcPct val="20000"/>
              </a:spcBef>
              <a:buClr>
                <a:schemeClr val="tx2"/>
              </a:buClr>
              <a:buSzPct val="75000"/>
              <a:buFont typeface="Arial" panose="020B0604020202020204" pitchFamily="34" charset="0"/>
              <a:buChar char="►"/>
              <a:defRPr>
                <a:solidFill>
                  <a:schemeClr val="tx1"/>
                </a:solidFill>
                <a:latin typeface="Arial" panose="020B0604020202020204" pitchFamily="34" charset="0"/>
              </a:defRPr>
            </a:lvl5pPr>
            <a:lvl6pPr marL="1536700" indent="-360363" eaLnBrk="0" fontAlgn="base" hangingPunct="0">
              <a:spcBef>
                <a:spcPct val="20000"/>
              </a:spcBef>
              <a:spcAft>
                <a:spcPct val="0"/>
              </a:spcAft>
              <a:buClr>
                <a:schemeClr val="tx2"/>
              </a:buClr>
              <a:buSzPct val="75000"/>
              <a:buFont typeface="Arial" panose="020B0604020202020204" pitchFamily="34" charset="0"/>
              <a:buChar char="►"/>
              <a:defRPr>
                <a:solidFill>
                  <a:schemeClr val="tx1"/>
                </a:solidFill>
                <a:latin typeface="Arial" panose="020B0604020202020204" pitchFamily="34" charset="0"/>
              </a:defRPr>
            </a:lvl6pPr>
            <a:lvl7pPr marL="1993900" indent="-360363" eaLnBrk="0" fontAlgn="base" hangingPunct="0">
              <a:spcBef>
                <a:spcPct val="20000"/>
              </a:spcBef>
              <a:spcAft>
                <a:spcPct val="0"/>
              </a:spcAft>
              <a:buClr>
                <a:schemeClr val="tx2"/>
              </a:buClr>
              <a:buSzPct val="75000"/>
              <a:buFont typeface="Arial" panose="020B0604020202020204" pitchFamily="34" charset="0"/>
              <a:buChar char="►"/>
              <a:defRPr>
                <a:solidFill>
                  <a:schemeClr val="tx1"/>
                </a:solidFill>
                <a:latin typeface="Arial" panose="020B0604020202020204" pitchFamily="34" charset="0"/>
              </a:defRPr>
            </a:lvl7pPr>
            <a:lvl8pPr marL="2451100" indent="-360363" eaLnBrk="0" fontAlgn="base" hangingPunct="0">
              <a:spcBef>
                <a:spcPct val="20000"/>
              </a:spcBef>
              <a:spcAft>
                <a:spcPct val="0"/>
              </a:spcAft>
              <a:buClr>
                <a:schemeClr val="tx2"/>
              </a:buClr>
              <a:buSzPct val="75000"/>
              <a:buFont typeface="Arial" panose="020B0604020202020204" pitchFamily="34" charset="0"/>
              <a:buChar char="►"/>
              <a:defRPr>
                <a:solidFill>
                  <a:schemeClr val="tx1"/>
                </a:solidFill>
                <a:latin typeface="Arial" panose="020B0604020202020204" pitchFamily="34" charset="0"/>
              </a:defRPr>
            </a:lvl8pPr>
            <a:lvl9pPr marL="2908300" indent="-360363" eaLnBrk="0" fontAlgn="base" hangingPunct="0">
              <a:spcBef>
                <a:spcPct val="20000"/>
              </a:spcBef>
              <a:spcAft>
                <a:spcPct val="0"/>
              </a:spcAft>
              <a:buClr>
                <a:schemeClr val="tx2"/>
              </a:buClr>
              <a:buSzPct val="75000"/>
              <a:buFont typeface="Arial" panose="020B0604020202020204" pitchFamily="34" charset="0"/>
              <a:buChar char="►"/>
              <a:defRPr>
                <a:solidFill>
                  <a:schemeClr val="tx1"/>
                </a:solidFill>
                <a:latin typeface="Arial" panose="020B0604020202020204" pitchFamily="34" charset="0"/>
              </a:defRPr>
            </a:lvl9pPr>
          </a:lstStyle>
          <a:p>
            <a:pPr marL="457200" lvl="1" indent="-457200" defTabSz="912813" fontAlgn="base">
              <a:spcAft>
                <a:spcPct val="0"/>
              </a:spcAft>
              <a:buClr>
                <a:schemeClr val="accent1"/>
              </a:buClr>
              <a:buSzPct val="90000"/>
            </a:pPr>
            <a:r>
              <a:rPr lang="en-US" altLang="en-US" sz="2000" u="sng" kern="0" dirty="0">
                <a:solidFill>
                  <a:schemeClr val="tx1">
                    <a:lumMod val="75000"/>
                  </a:schemeClr>
                </a:solidFill>
                <a:latin typeface="Calibri" pitchFamily="34" charset="0"/>
                <a:cs typeface="Calibri" panose="020F0502020204030204" pitchFamily="34" charset="0"/>
              </a:rPr>
              <a:t>Consumer perspective</a:t>
            </a:r>
          </a:p>
          <a:p>
            <a:pPr marL="233363" lvl="2" indent="-233363" defTabSz="912813" fontAlgn="base">
              <a:spcAft>
                <a:spcPct val="0"/>
              </a:spcAft>
              <a:buClrTx/>
              <a:buSzPct val="80000"/>
              <a:buFont typeface="Wingdings" panose="05000000000000000000" pitchFamily="2" charset="2"/>
              <a:buChar char="§"/>
            </a:pPr>
            <a:r>
              <a:rPr lang="en-US" altLang="en-US" sz="1800" dirty="0">
                <a:solidFill>
                  <a:schemeClr val="tx1">
                    <a:lumMod val="50000"/>
                  </a:schemeClr>
                </a:solidFill>
                <a:latin typeface="Calibri" pitchFamily="34" charset="0"/>
                <a:cs typeface="Calibri" panose="020F0502020204030204" pitchFamily="34" charset="0"/>
              </a:rPr>
              <a:t>Basic information in terms of demographic information, reviews, food preferences, allergies in line with  “Terms of Reference” </a:t>
            </a:r>
          </a:p>
          <a:p>
            <a:pPr marL="457200" lvl="1" indent="-457200" defTabSz="912813" fontAlgn="base">
              <a:spcAft>
                <a:spcPct val="0"/>
              </a:spcAft>
              <a:buClr>
                <a:schemeClr val="accent1"/>
              </a:buClr>
              <a:buSzPct val="90000"/>
              <a:buFont typeface="Arial" panose="020B0604020202020204" pitchFamily="34" charset="0"/>
              <a:buNone/>
            </a:pPr>
            <a:r>
              <a:rPr lang="en-US" altLang="en-US" sz="2000" u="sng" kern="0" dirty="0">
                <a:solidFill>
                  <a:schemeClr val="tx1">
                    <a:lumMod val="75000"/>
                  </a:schemeClr>
                </a:solidFill>
                <a:latin typeface="Calibri" pitchFamily="34" charset="0"/>
                <a:cs typeface="Calibri" panose="020F0502020204030204" pitchFamily="34" charset="0"/>
              </a:rPr>
              <a:t>Food outlet perspective</a:t>
            </a:r>
          </a:p>
          <a:p>
            <a:pPr marL="233363" lvl="2" indent="-233363" defTabSz="912813" fontAlgn="base">
              <a:spcAft>
                <a:spcPct val="0"/>
              </a:spcAft>
              <a:buClrTx/>
              <a:buSzPct val="80000"/>
              <a:buFont typeface="Wingdings" panose="05000000000000000000" pitchFamily="2" charset="2"/>
              <a:buChar char="§"/>
            </a:pPr>
            <a:r>
              <a:rPr lang="en-US" altLang="en-US" sz="1800" dirty="0">
                <a:solidFill>
                  <a:schemeClr val="tx1">
                    <a:lumMod val="50000"/>
                  </a:schemeClr>
                </a:solidFill>
                <a:latin typeface="Calibri" pitchFamily="34" charset="0"/>
                <a:cs typeface="Calibri" panose="020F0502020204030204" pitchFamily="34" charset="0"/>
              </a:rPr>
              <a:t>Information around the menu, ingredients, services </a:t>
            </a:r>
          </a:p>
          <a:p>
            <a:pPr lvl="2" eaLnBrk="1" hangingPunct="1">
              <a:buClr>
                <a:srgbClr val="FFE600"/>
              </a:buClr>
              <a:buFontTx/>
              <a:buChar char="-"/>
            </a:pPr>
            <a:endParaRPr lang="en-US" altLang="en-US" sz="1800" dirty="0">
              <a:solidFill>
                <a:schemeClr val="tx1">
                  <a:lumMod val="50000"/>
                </a:schemeClr>
              </a:solidFill>
              <a:latin typeface="Calibri" pitchFamily="34" charset="0"/>
              <a:cs typeface="Calibri" panose="020F0502020204030204" pitchFamily="34" charset="0"/>
            </a:endParaRPr>
          </a:p>
          <a:p>
            <a:pPr marL="3175" lvl="2" indent="0" eaLnBrk="1" hangingPunct="1">
              <a:buClr>
                <a:srgbClr val="FFE600"/>
              </a:buClr>
              <a:buNone/>
            </a:pPr>
            <a:endParaRPr lang="en-GB" altLang="en-US" sz="2000" dirty="0">
              <a:latin typeface="Calibri" panose="020F0502020204030204" pitchFamily="34" charset="0"/>
              <a:cs typeface="Calibri" panose="020F0502020204030204" pitchFamily="34" charset="0"/>
            </a:endParaRPr>
          </a:p>
        </p:txBody>
      </p:sp>
      <p:sp>
        <p:nvSpPr>
          <p:cNvPr id="22" name="AutoShape 4">
            <a:extLst>
              <a:ext uri="{FF2B5EF4-FFF2-40B4-BE49-F238E27FC236}">
                <a16:creationId xmlns:a16="http://schemas.microsoft.com/office/drawing/2014/main" id="{D50B9318-2C3B-466F-8AE2-76B87679530D}"/>
              </a:ext>
            </a:extLst>
          </p:cNvPr>
          <p:cNvSpPr txBox="1">
            <a:spLocks noChangeArrowheads="1"/>
          </p:cNvSpPr>
          <p:nvPr/>
        </p:nvSpPr>
        <p:spPr>
          <a:xfrm>
            <a:off x="8310101" y="1419064"/>
            <a:ext cx="3717130" cy="5023777"/>
          </a:xfrm>
          <a:prstGeom prst="leftArrowCallout">
            <a:avLst>
              <a:gd name="adj1" fmla="val 39041"/>
              <a:gd name="adj2" fmla="val 37540"/>
              <a:gd name="adj3" fmla="val 9532"/>
              <a:gd name="adj4" fmla="val 86546"/>
            </a:avLst>
          </a:prstGeom>
          <a:solidFill>
            <a:schemeClr val="bg1"/>
          </a:solidFill>
          <a:ln w="19050" cap="flat" algn="ctr">
            <a:solidFill>
              <a:schemeClr val="tx1"/>
            </a:solidFill>
            <a:miter lim="800000"/>
            <a:headEnd type="none" w="med" len="med"/>
            <a:tailEnd type="none" w="med" len="med"/>
          </a:ln>
        </p:spPr>
        <p:txBody>
          <a:bodyPr lIns="90000" tIns="90000" rIns="90000" bIns="90000"/>
          <a:lstStyle>
            <a:lvl1pPr algn="l" defTabSz="912813" rtl="0" eaLnBrk="1" fontAlgn="base" hangingPunct="1">
              <a:spcBef>
                <a:spcPct val="20000"/>
              </a:spcBef>
              <a:spcAft>
                <a:spcPct val="0"/>
              </a:spcAft>
              <a:buClr>
                <a:schemeClr val="accent1"/>
              </a:buClr>
              <a:defRPr lang="en-US" sz="2400" dirty="0" smtClean="0">
                <a:solidFill>
                  <a:schemeClr val="tx1">
                    <a:lumMod val="75000"/>
                  </a:schemeClr>
                </a:solidFill>
                <a:latin typeface="Calibri" pitchFamily="34" charset="0"/>
                <a:ea typeface="+mn-ea"/>
                <a:cs typeface="+mn-cs"/>
              </a:defRPr>
            </a:lvl1pPr>
            <a:lvl2pPr marL="742950" indent="-285750" algn="l" defTabSz="912813" rtl="0" eaLnBrk="1" fontAlgn="base" hangingPunct="1">
              <a:spcBef>
                <a:spcPct val="20000"/>
              </a:spcBef>
              <a:spcAft>
                <a:spcPct val="0"/>
              </a:spcAft>
              <a:buClr>
                <a:schemeClr val="accent1"/>
              </a:buClr>
              <a:buSzPct val="90000"/>
              <a:buFontTx/>
              <a:buBlip>
                <a:blip r:embed="rId3"/>
              </a:buBlip>
              <a:defRPr lang="en-US" sz="1600" dirty="0" smtClean="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pPr marL="0" lvl="2" indent="0">
              <a:buClrTx/>
              <a:buNone/>
            </a:pPr>
            <a:r>
              <a:rPr lang="en-IN" sz="1600" dirty="0">
                <a:cs typeface="Calibri" panose="020F0502020204030204" pitchFamily="34" charset="0"/>
              </a:rPr>
              <a:t>Three broad categories of Constraints around “User privacy” are :</a:t>
            </a:r>
          </a:p>
          <a:p>
            <a:pPr marL="233363" lvl="2" indent="-233363">
              <a:buClrTx/>
              <a:buFont typeface="Wingdings" panose="05000000000000000000" pitchFamily="2" charset="2"/>
              <a:buChar char="§"/>
            </a:pPr>
            <a:r>
              <a:rPr lang="en-US" sz="1600" dirty="0">
                <a:effectLst/>
                <a:latin typeface="Calibri" panose="020F0502020204030204" pitchFamily="34" charset="0"/>
                <a:ea typeface="Century Gothic" panose="020B0502020202020204" pitchFamily="34" charset="0"/>
              </a:rPr>
              <a:t>Non-adherence to policy approaches (GDPR legislation) </a:t>
            </a:r>
            <a:r>
              <a:rPr lang="en-US" sz="1600" dirty="0">
                <a:ea typeface="Century Gothic" panose="020B0502020202020204" pitchFamily="34" charset="0"/>
              </a:rPr>
              <a:t>to </a:t>
            </a:r>
            <a:r>
              <a:rPr lang="en-US" sz="1600" dirty="0">
                <a:effectLst/>
                <a:latin typeface="Calibri" panose="020F0502020204030204" pitchFamily="34" charset="0"/>
                <a:ea typeface="Century Gothic" panose="020B0502020202020204" pitchFamily="34" charset="0"/>
              </a:rPr>
              <a:t> </a:t>
            </a:r>
            <a:r>
              <a:rPr lang="en-US" sz="1600" dirty="0">
                <a:effectLst/>
                <a:latin typeface="Calibri" panose="020F0502020204030204" pitchFamily="34" charset="0"/>
                <a:ea typeface="Century Gothic" panose="020B0502020202020204" pitchFamily="34" charset="0"/>
                <a:cs typeface="Times New Roman" panose="02020603050405020304" pitchFamily="18" charset="0"/>
              </a:rPr>
              <a:t>regulate data collection, use, and storage</a:t>
            </a:r>
          </a:p>
          <a:p>
            <a:pPr marL="233363" lvl="2" indent="-233363">
              <a:buClrTx/>
              <a:buFont typeface="Wingdings" panose="05000000000000000000" pitchFamily="2" charset="2"/>
              <a:buChar char="§"/>
            </a:pPr>
            <a:r>
              <a:rPr lang="en-US" sz="1600" dirty="0">
                <a:effectLst/>
                <a:latin typeface="Calibri" panose="020F0502020204030204" pitchFamily="34" charset="0"/>
                <a:ea typeface="Century Gothic" panose="020B0502020202020204" pitchFamily="34" charset="0"/>
              </a:rPr>
              <a:t>Inadequate Privacy-enhancing architectures- privacy risks of storing user data in separate and decentralized databases</a:t>
            </a:r>
          </a:p>
          <a:p>
            <a:pPr marL="233363" lvl="2" indent="-233363">
              <a:buClrTx/>
              <a:buFont typeface="Wingdings" panose="05000000000000000000" pitchFamily="2" charset="2"/>
              <a:buChar char="§"/>
            </a:pPr>
            <a:r>
              <a:rPr lang="en-US" sz="1600" dirty="0">
                <a:effectLst/>
                <a:latin typeface="Calibri" panose="020F0502020204030204" pitchFamily="34" charset="0"/>
                <a:ea typeface="Century Gothic" panose="020B0502020202020204" pitchFamily="34" charset="0"/>
                <a:cs typeface="Times New Roman" panose="02020603050405020304" pitchFamily="18" charset="0"/>
              </a:rPr>
              <a:t>Improper algorithmic solution (encryption) with the risk of losing the data to external agents for unwarranted usage</a:t>
            </a:r>
          </a:p>
          <a:p>
            <a:pPr marL="233363" lvl="2" indent="-233363">
              <a:buClrTx/>
              <a:buFont typeface="Wingdings" panose="05000000000000000000" pitchFamily="2" charset="2"/>
              <a:buChar char="§"/>
            </a:pPr>
            <a:r>
              <a:rPr lang="en-US" sz="1600" dirty="0">
                <a:effectLst/>
                <a:latin typeface="Calibri" panose="020F0502020204030204" pitchFamily="34" charset="0"/>
                <a:ea typeface="Century Gothic" panose="020B0502020202020204" pitchFamily="34" charset="0"/>
                <a:cs typeface="Times New Roman" panose="02020603050405020304" pitchFamily="18" charset="0"/>
              </a:rPr>
              <a:t>Data Biases – biased data (Similarity, Expedience, Experience, Distance, Safety)</a:t>
            </a:r>
          </a:p>
          <a:p>
            <a:pPr marL="233363" lvl="2" indent="-233363">
              <a:buClrTx/>
              <a:buFont typeface="Wingdings" panose="05000000000000000000" pitchFamily="2" charset="2"/>
              <a:buChar char="§"/>
            </a:pPr>
            <a:endParaRPr lang="en-US" altLang="en-US" sz="1600" dirty="0">
              <a:cs typeface="Calibri" panose="020F0502020204030204" pitchFamily="34" charset="0"/>
            </a:endParaRPr>
          </a:p>
        </p:txBody>
      </p:sp>
      <p:sp>
        <p:nvSpPr>
          <p:cNvPr id="23" name="AutoShape 5">
            <a:extLst>
              <a:ext uri="{FF2B5EF4-FFF2-40B4-BE49-F238E27FC236}">
                <a16:creationId xmlns:a16="http://schemas.microsoft.com/office/drawing/2014/main" id="{DCE20702-62C5-4896-B6F1-3D27DBBD0330}"/>
              </a:ext>
            </a:extLst>
          </p:cNvPr>
          <p:cNvSpPr txBox="1">
            <a:spLocks noChangeArrowheads="1"/>
          </p:cNvSpPr>
          <p:nvPr/>
        </p:nvSpPr>
        <p:spPr>
          <a:xfrm>
            <a:off x="202019" y="1419064"/>
            <a:ext cx="4444409" cy="5076991"/>
          </a:xfrm>
          <a:prstGeom prst="rightArrowCallout">
            <a:avLst>
              <a:gd name="adj1" fmla="val 42859"/>
              <a:gd name="adj2" fmla="val 37401"/>
              <a:gd name="adj3" fmla="val 8231"/>
              <a:gd name="adj4" fmla="val 87861"/>
            </a:avLst>
          </a:prstGeom>
          <a:solidFill>
            <a:schemeClr val="bg1"/>
          </a:solidFill>
          <a:ln w="19050" cap="flat">
            <a:solidFill>
              <a:schemeClr val="tx1"/>
            </a:solidFill>
            <a:miter lim="800000"/>
            <a:headEnd type="none" w="med" len="med"/>
            <a:tailEnd type="none" w="med" len="med"/>
          </a:ln>
        </p:spPr>
        <p:txBody>
          <a:bodyPr lIns="90000" tIns="90000" rIns="90000" bIns="90000"/>
          <a:lstStyle>
            <a:lvl1pPr algn="l" defTabSz="912813" rtl="0" eaLnBrk="1" fontAlgn="base" hangingPunct="1">
              <a:spcBef>
                <a:spcPct val="20000"/>
              </a:spcBef>
              <a:spcAft>
                <a:spcPct val="0"/>
              </a:spcAft>
              <a:buClr>
                <a:schemeClr val="accent1"/>
              </a:buClr>
              <a:defRPr lang="en-US" sz="2400" dirty="0" smtClean="0">
                <a:solidFill>
                  <a:schemeClr val="tx1">
                    <a:lumMod val="75000"/>
                  </a:schemeClr>
                </a:solidFill>
                <a:latin typeface="Calibri" pitchFamily="34" charset="0"/>
                <a:ea typeface="+mn-ea"/>
                <a:cs typeface="+mn-cs"/>
              </a:defRPr>
            </a:lvl1pPr>
            <a:lvl2pPr marL="742950" indent="-285750" algn="l" defTabSz="912813" rtl="0" eaLnBrk="1" fontAlgn="base" hangingPunct="1">
              <a:spcBef>
                <a:spcPct val="20000"/>
              </a:spcBef>
              <a:spcAft>
                <a:spcPct val="0"/>
              </a:spcAft>
              <a:buClr>
                <a:schemeClr val="accent1"/>
              </a:buClr>
              <a:buSzPct val="90000"/>
              <a:buFontTx/>
              <a:buBlip>
                <a:blip r:embed="rId3"/>
              </a:buBlip>
              <a:defRPr lang="en-US" sz="1600" dirty="0" smtClean="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pPr marL="233363" lvl="2" indent="-233363">
              <a:buClrTx/>
              <a:buFont typeface="Wingdings" panose="05000000000000000000" pitchFamily="2" charset="2"/>
              <a:buChar char="§"/>
            </a:pPr>
            <a:r>
              <a:rPr lang="en-US" altLang="en-US" sz="1800" b="1" u="sng" kern="0">
                <a:cs typeface="Calibri" panose="020F0502020204030204" pitchFamily="34" charset="0"/>
              </a:rPr>
              <a:t>ML application</a:t>
            </a:r>
          </a:p>
          <a:p>
            <a:pPr marL="233363" lvl="2" indent="-233363">
              <a:buClrTx/>
              <a:buFont typeface="Wingdings" panose="05000000000000000000" pitchFamily="2" charset="2"/>
              <a:buChar char="§"/>
            </a:pPr>
            <a:endParaRPr lang="en-US" altLang="en-US" kern="1200">
              <a:cs typeface="Calibri" panose="020F0502020204030204" pitchFamily="34" charset="0"/>
            </a:endParaRPr>
          </a:p>
        </p:txBody>
      </p:sp>
      <p:sp>
        <p:nvSpPr>
          <p:cNvPr id="24" name="Rectangle 23">
            <a:extLst>
              <a:ext uri="{FF2B5EF4-FFF2-40B4-BE49-F238E27FC236}">
                <a16:creationId xmlns:a16="http://schemas.microsoft.com/office/drawing/2014/main" id="{7A5A0651-0CCC-43A0-A388-76AD32C5FA6A}"/>
              </a:ext>
            </a:extLst>
          </p:cNvPr>
          <p:cNvSpPr/>
          <p:nvPr/>
        </p:nvSpPr>
        <p:spPr bwMode="auto">
          <a:xfrm>
            <a:off x="503623" y="1037564"/>
            <a:ext cx="3108960" cy="304797"/>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lang="en-US" b="1" dirty="0">
                <a:solidFill>
                  <a:srgbClr val="4D4D4D"/>
                </a:solidFill>
                <a:latin typeface="Calibri" panose="020F0502020204030204" pitchFamily="34" charset="0"/>
                <a:cs typeface="Calibri" panose="020F0502020204030204" pitchFamily="34" charset="0"/>
              </a:rPr>
              <a:t>Applicability of ML technology</a:t>
            </a:r>
            <a:endParaRPr kumimoji="0" lang="en-US" b="1"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4D47D4E9-5507-419D-80AC-A535E3716DE7}"/>
              </a:ext>
            </a:extLst>
          </p:cNvPr>
          <p:cNvSpPr/>
          <p:nvPr/>
        </p:nvSpPr>
        <p:spPr bwMode="auto">
          <a:xfrm>
            <a:off x="4821402" y="1014079"/>
            <a:ext cx="3420809" cy="351771"/>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lang="en-US" b="1" dirty="0">
                <a:solidFill>
                  <a:srgbClr val="4D4D4D"/>
                </a:solidFill>
                <a:latin typeface="Calibri" panose="020F0502020204030204" pitchFamily="34" charset="0"/>
                <a:cs typeface="Calibri" panose="020F0502020204030204" pitchFamily="34" charset="0"/>
              </a:rPr>
              <a:t>Requirements on the application</a:t>
            </a:r>
            <a:endParaRPr kumimoji="0" lang="en-US" b="1"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D339DA87-C89B-4153-91A0-EBD05326E721}"/>
              </a:ext>
            </a:extLst>
          </p:cNvPr>
          <p:cNvSpPr/>
          <p:nvPr/>
        </p:nvSpPr>
        <p:spPr bwMode="auto">
          <a:xfrm>
            <a:off x="8796130" y="1037565"/>
            <a:ext cx="3231101" cy="304797"/>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lang="en-US" b="1" dirty="0">
                <a:solidFill>
                  <a:srgbClr val="4D4D4D"/>
                </a:solidFill>
                <a:latin typeface="Calibri" panose="020F0502020204030204" pitchFamily="34" charset="0"/>
                <a:cs typeface="Calibri" panose="020F0502020204030204" pitchFamily="34" charset="0"/>
              </a:rPr>
              <a:t>Legal Constraints</a:t>
            </a:r>
            <a:endParaRPr kumimoji="0" lang="en-US" b="1"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pic>
        <p:nvPicPr>
          <p:cNvPr id="27" name="Picture 26">
            <a:extLst>
              <a:ext uri="{FF2B5EF4-FFF2-40B4-BE49-F238E27FC236}">
                <a16:creationId xmlns:a16="http://schemas.microsoft.com/office/drawing/2014/main" id="{4A51E8D5-57C7-4445-8546-7E84E680D97B}"/>
              </a:ext>
            </a:extLst>
          </p:cNvPr>
          <p:cNvPicPr>
            <a:picLocks noChangeAspect="1"/>
          </p:cNvPicPr>
          <p:nvPr/>
        </p:nvPicPr>
        <p:blipFill>
          <a:blip r:embed="rId4"/>
          <a:stretch>
            <a:fillRect/>
          </a:stretch>
        </p:blipFill>
        <p:spPr>
          <a:xfrm>
            <a:off x="451617" y="2140781"/>
            <a:ext cx="3160966" cy="2075330"/>
          </a:xfrm>
          <a:prstGeom prst="rect">
            <a:avLst/>
          </a:prstGeom>
        </p:spPr>
      </p:pic>
      <p:sp>
        <p:nvSpPr>
          <p:cNvPr id="31" name="TextBox 30">
            <a:extLst>
              <a:ext uri="{FF2B5EF4-FFF2-40B4-BE49-F238E27FC236}">
                <a16:creationId xmlns:a16="http://schemas.microsoft.com/office/drawing/2014/main" id="{CEA99857-475D-4C91-9778-71231560F37A}"/>
              </a:ext>
            </a:extLst>
          </p:cNvPr>
          <p:cNvSpPr txBox="1"/>
          <p:nvPr/>
        </p:nvSpPr>
        <p:spPr>
          <a:xfrm>
            <a:off x="202019" y="4413737"/>
            <a:ext cx="3838353" cy="1809726"/>
          </a:xfrm>
          <a:prstGeom prst="rect">
            <a:avLst/>
          </a:prstGeom>
          <a:noFill/>
        </p:spPr>
        <p:txBody>
          <a:bodyPr wrap="square">
            <a:spAutoFit/>
          </a:bodyPr>
          <a:lstStyle/>
          <a:p>
            <a:pPr marL="233363" lvl="2" indent="-233363" defTabSz="912813" fontAlgn="base">
              <a:spcBef>
                <a:spcPct val="20000"/>
              </a:spcBef>
              <a:spcAft>
                <a:spcPct val="0"/>
              </a:spcAft>
              <a:buSzPct val="80000"/>
              <a:buFont typeface="Wingdings" panose="05000000000000000000" pitchFamily="2" charset="2"/>
              <a:buChar char="§"/>
            </a:pPr>
            <a:r>
              <a:rPr lang="en-US" sz="1800">
                <a:effectLst/>
                <a:latin typeface="Calibri" panose="020F0502020204030204" pitchFamily="34" charset="0"/>
                <a:ea typeface="Century Gothic" panose="020B0502020202020204" pitchFamily="34" charset="0"/>
              </a:rPr>
              <a:t>Beyond the traditional ranking mechanism of ratings and location</a:t>
            </a:r>
          </a:p>
          <a:p>
            <a:pPr marL="233363" lvl="2" indent="-233363" defTabSz="912813" fontAlgn="base">
              <a:spcBef>
                <a:spcPct val="20000"/>
              </a:spcBef>
              <a:spcAft>
                <a:spcPct val="0"/>
              </a:spcAft>
              <a:buSzPct val="80000"/>
              <a:buFont typeface="Wingdings" panose="05000000000000000000" pitchFamily="2" charset="2"/>
              <a:buChar char="§"/>
            </a:pPr>
            <a:r>
              <a:rPr lang="en-US" sz="1800">
                <a:effectLst/>
                <a:latin typeface="Calibri" panose="020F0502020204030204" pitchFamily="34" charset="0"/>
                <a:ea typeface="Century Gothic" panose="020B0502020202020204" pitchFamily="34" charset="0"/>
              </a:rPr>
              <a:t>Leverages additional contextual information such as day, mood, season, user information like allergies </a:t>
            </a:r>
            <a:endParaRPr lang="en-US">
              <a:solidFill>
                <a:schemeClr val="tx1">
                  <a:lumMod val="50000"/>
                </a:schemeClr>
              </a:solidFill>
              <a:latin typeface="Calibri" pitchFamily="34" charset="0"/>
              <a:cs typeface="Calibri" panose="020F0502020204030204" pitchFamily="34" charset="0"/>
            </a:endParaRPr>
          </a:p>
        </p:txBody>
      </p:sp>
      <p:sp>
        <p:nvSpPr>
          <p:cNvPr id="32" name="Arrow: Down 31">
            <a:extLst>
              <a:ext uri="{FF2B5EF4-FFF2-40B4-BE49-F238E27FC236}">
                <a16:creationId xmlns:a16="http://schemas.microsoft.com/office/drawing/2014/main" id="{F7410EC0-BB8A-43CE-9085-E38E111D17FC}"/>
              </a:ext>
            </a:extLst>
          </p:cNvPr>
          <p:cNvSpPr/>
          <p:nvPr/>
        </p:nvSpPr>
        <p:spPr bwMode="auto">
          <a:xfrm>
            <a:off x="5211764" y="4413737"/>
            <a:ext cx="2619901" cy="1066672"/>
          </a:xfrm>
          <a:prstGeom prst="downArrow">
            <a:avLst/>
          </a:prstGeom>
          <a:solidFill>
            <a:schemeClr val="tx1">
              <a:lumMod val="20000"/>
              <a:lumOff val="8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2400" b="0" i="0" u="none" strike="noStrike" cap="none" normalizeH="0" baseline="0">
                <a:ln>
                  <a:noFill/>
                </a:ln>
                <a:solidFill>
                  <a:srgbClr val="4D4D4D"/>
                </a:solidFill>
                <a:effectLst/>
                <a:latin typeface="Arial" charset="0"/>
                <a:cs typeface="Arial" charset="0"/>
              </a:rPr>
              <a:t>Inputs</a:t>
            </a:r>
          </a:p>
        </p:txBody>
      </p:sp>
      <p:sp>
        <p:nvSpPr>
          <p:cNvPr id="33" name="Rectangle 32">
            <a:extLst>
              <a:ext uri="{FF2B5EF4-FFF2-40B4-BE49-F238E27FC236}">
                <a16:creationId xmlns:a16="http://schemas.microsoft.com/office/drawing/2014/main" id="{857F7D32-5F73-481E-B304-2E22D82C456F}"/>
              </a:ext>
            </a:extLst>
          </p:cNvPr>
          <p:cNvSpPr/>
          <p:nvPr/>
        </p:nvSpPr>
        <p:spPr bwMode="auto">
          <a:xfrm>
            <a:off x="4821403" y="5808794"/>
            <a:ext cx="3420810" cy="414669"/>
          </a:xfrm>
          <a:prstGeom prst="rect">
            <a:avLst/>
          </a:prstGeom>
          <a:solidFill>
            <a:srgbClr val="FFC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R="0" lvl="0" algn="ctr">
              <a:lnSpc>
                <a:spcPct val="107000"/>
              </a:lnSpc>
              <a:spcBef>
                <a:spcPts val="0"/>
              </a:spcBef>
              <a:spcAft>
                <a:spcPts val="0"/>
              </a:spcAft>
            </a:pPr>
            <a:r>
              <a:rPr lang="en-US" sz="1800" b="1">
                <a:effectLst/>
                <a:latin typeface="Calibri" panose="020F0502020204030204" pitchFamily="34" charset="0"/>
                <a:ea typeface="Century Gothic" panose="020B0502020202020204" pitchFamily="34" charset="0"/>
                <a:cs typeface="Times New Roman" panose="02020603050405020304" pitchFamily="18" charset="0"/>
              </a:rPr>
              <a:t>Recommendations to users</a:t>
            </a:r>
            <a:endParaRPr lang="en-US" sz="1800" b="1">
              <a:effectLst/>
              <a:latin typeface="Century Gothic" panose="020B0502020202020204" pitchFamily="34" charset="0"/>
              <a:ea typeface="Century Gothic" panose="020B0502020202020204" pitchFamily="34" charset="0"/>
              <a:cs typeface="Times New Roman" panose="02020603050405020304" pitchFamily="18" charset="0"/>
            </a:endParaRPr>
          </a:p>
        </p:txBody>
      </p:sp>
      <p:pic>
        <p:nvPicPr>
          <p:cNvPr id="41" name="Picture 40">
            <a:extLst>
              <a:ext uri="{FF2B5EF4-FFF2-40B4-BE49-F238E27FC236}">
                <a16:creationId xmlns:a16="http://schemas.microsoft.com/office/drawing/2014/main" id="{3A98B796-FAA9-4640-B62C-54C35AF15739}"/>
              </a:ext>
            </a:extLst>
          </p:cNvPr>
          <p:cNvPicPr>
            <a:picLocks noChangeAspect="1"/>
          </p:cNvPicPr>
          <p:nvPr/>
        </p:nvPicPr>
        <p:blipFill>
          <a:blip r:embed="rId5"/>
          <a:stretch>
            <a:fillRect/>
          </a:stretch>
        </p:blipFill>
        <p:spPr>
          <a:xfrm>
            <a:off x="5124864" y="5038593"/>
            <a:ext cx="774259" cy="695004"/>
          </a:xfrm>
          <a:prstGeom prst="rect">
            <a:avLst/>
          </a:prstGeom>
        </p:spPr>
      </p:pic>
      <p:pic>
        <p:nvPicPr>
          <p:cNvPr id="42" name="Picture 41">
            <a:extLst>
              <a:ext uri="{FF2B5EF4-FFF2-40B4-BE49-F238E27FC236}">
                <a16:creationId xmlns:a16="http://schemas.microsoft.com/office/drawing/2014/main" id="{611564B5-9366-48E6-871E-324ACFE2F91B}"/>
              </a:ext>
            </a:extLst>
          </p:cNvPr>
          <p:cNvPicPr>
            <a:picLocks noChangeAspect="1"/>
          </p:cNvPicPr>
          <p:nvPr/>
        </p:nvPicPr>
        <p:blipFill>
          <a:blip r:embed="rId5"/>
          <a:stretch>
            <a:fillRect/>
          </a:stretch>
        </p:blipFill>
        <p:spPr>
          <a:xfrm>
            <a:off x="7370280" y="5038593"/>
            <a:ext cx="774259" cy="695004"/>
          </a:xfrm>
          <a:prstGeom prst="rect">
            <a:avLst/>
          </a:prstGeom>
        </p:spPr>
      </p:pic>
    </p:spTree>
    <p:extLst>
      <p:ext uri="{BB962C8B-B14F-4D97-AF65-F5344CB8AC3E}">
        <p14:creationId xmlns:p14="http://schemas.microsoft.com/office/powerpoint/2010/main" val="1112634449"/>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Isosceles Triangle 56">
            <a:extLst>
              <a:ext uri="{FF2B5EF4-FFF2-40B4-BE49-F238E27FC236}">
                <a16:creationId xmlns:a16="http://schemas.microsoft.com/office/drawing/2014/main" id="{E407D199-1724-4238-8491-439CFC6650D3}"/>
              </a:ext>
            </a:extLst>
          </p:cNvPr>
          <p:cNvSpPr/>
          <p:nvPr/>
        </p:nvSpPr>
        <p:spPr bwMode="auto">
          <a:xfrm rot="10800000">
            <a:off x="3862726" y="3087019"/>
            <a:ext cx="6842287" cy="280776"/>
          </a:xfrm>
          <a:prstGeom prst="triangle">
            <a:avLst/>
          </a:prstGeom>
          <a:solidFill>
            <a:schemeClr val="accent6">
              <a:lumMod val="40000"/>
              <a:lumOff val="6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 name="Title 1">
            <a:extLst>
              <a:ext uri="{FF2B5EF4-FFF2-40B4-BE49-F238E27FC236}">
                <a16:creationId xmlns:a16="http://schemas.microsoft.com/office/drawing/2014/main" id="{8BC348D8-B568-45DC-9467-CAA786DD83B8}"/>
              </a:ext>
            </a:extLst>
          </p:cNvPr>
          <p:cNvSpPr>
            <a:spLocks noGrp="1"/>
          </p:cNvSpPr>
          <p:nvPr>
            <p:ph type="title"/>
          </p:nvPr>
        </p:nvSpPr>
        <p:spPr>
          <a:xfrm>
            <a:off x="0" y="99792"/>
            <a:ext cx="12192000" cy="850392"/>
          </a:xfrm>
        </p:spPr>
        <p:txBody>
          <a:bodyPr/>
          <a:lstStyle/>
          <a:p>
            <a:r>
              <a:rPr lang="en-US"/>
              <a:t>Data Collection &amp; Quality Verification</a:t>
            </a:r>
          </a:p>
        </p:txBody>
      </p:sp>
      <p:sp>
        <p:nvSpPr>
          <p:cNvPr id="25" name="AutoShape 11">
            <a:extLst>
              <a:ext uri="{FF2B5EF4-FFF2-40B4-BE49-F238E27FC236}">
                <a16:creationId xmlns:a16="http://schemas.microsoft.com/office/drawing/2014/main" id="{CFF897B6-33AA-4C6C-8481-867EB8CB98A2}"/>
              </a:ext>
            </a:extLst>
          </p:cNvPr>
          <p:cNvSpPr>
            <a:spLocks noChangeArrowheads="1"/>
          </p:cNvSpPr>
          <p:nvPr/>
        </p:nvSpPr>
        <p:spPr bwMode="gray">
          <a:xfrm rot="5400000">
            <a:off x="6805209" y="-2874449"/>
            <a:ext cx="709079" cy="8544184"/>
          </a:xfrm>
          <a:prstGeom prst="homePlate">
            <a:avLst>
              <a:gd name="adj" fmla="val 9560"/>
            </a:avLst>
          </a:prstGeom>
          <a:solidFill>
            <a:schemeClr val="tx2"/>
          </a:solidFill>
          <a:ln w="9525" algn="ctr">
            <a:solidFill>
              <a:srgbClr val="FFD200"/>
            </a:solidFill>
            <a:miter lim="800000"/>
            <a:headEnd/>
            <a:tailEnd/>
          </a:ln>
          <a:effectLst/>
        </p:spPr>
        <p:txBody>
          <a:bodyPr lIns="89984" tIns="46030" rIns="89984" bIns="46030"/>
          <a:lstStyle/>
          <a:p>
            <a:pPr algn="l" eaLnBrk="0" hangingPunct="0">
              <a:buClr>
                <a:srgbClr val="00A28A"/>
              </a:buClr>
              <a:buFont typeface="Times" pitchFamily="18" charset="0"/>
              <a:buNone/>
            </a:pPr>
            <a:endParaRPr lang="en-US">
              <a:solidFill>
                <a:schemeClr val="accent2"/>
              </a:solidFill>
            </a:endParaRPr>
          </a:p>
        </p:txBody>
      </p:sp>
      <p:sp>
        <p:nvSpPr>
          <p:cNvPr id="26" name="Rectangle 13">
            <a:extLst>
              <a:ext uri="{FF2B5EF4-FFF2-40B4-BE49-F238E27FC236}">
                <a16:creationId xmlns:a16="http://schemas.microsoft.com/office/drawing/2014/main" id="{6DD6EE02-F94A-4FFF-A946-E0E15192AA29}"/>
              </a:ext>
            </a:extLst>
          </p:cNvPr>
          <p:cNvSpPr>
            <a:spLocks noChangeArrowheads="1"/>
          </p:cNvSpPr>
          <p:nvPr/>
        </p:nvSpPr>
        <p:spPr bwMode="gray">
          <a:xfrm>
            <a:off x="3059793" y="1184327"/>
            <a:ext cx="2286000" cy="394120"/>
          </a:xfrm>
          <a:prstGeom prst="rect">
            <a:avLst/>
          </a:prstGeom>
          <a:solidFill>
            <a:schemeClr val="accent6">
              <a:lumMod val="20000"/>
              <a:lumOff val="80000"/>
            </a:schemeClr>
          </a:solidFill>
          <a:ln w="19050" algn="ctr">
            <a:noFill/>
            <a:miter lim="800000"/>
            <a:headEnd/>
            <a:tailEnd/>
          </a:ln>
          <a:effectLst/>
        </p:spPr>
        <p:txBody>
          <a:bodyPr lIns="90000" tIns="90000" rIns="90000" bIns="90000" anchor="ctr"/>
          <a:lstStyle/>
          <a:p>
            <a:pPr algn="ctr" eaLnBrk="0" hangingPunct="0">
              <a:buClr>
                <a:srgbClr val="00A28A"/>
              </a:buClr>
              <a:buFont typeface="Times" pitchFamily="18" charset="0"/>
              <a:buNone/>
            </a:pPr>
            <a:r>
              <a:rPr lang="en-US" sz="1600" dirty="0">
                <a:solidFill>
                  <a:srgbClr val="000000"/>
                </a:solidFill>
                <a:latin typeface="Calibri" panose="020F0502020204030204" pitchFamily="34" charset="0"/>
                <a:cs typeface="Calibri" panose="020F0502020204030204" pitchFamily="34" charset="0"/>
              </a:rPr>
              <a:t>Kaggle Data sets</a:t>
            </a:r>
          </a:p>
        </p:txBody>
      </p:sp>
      <p:sp>
        <p:nvSpPr>
          <p:cNvPr id="27" name="Rectangle 15">
            <a:extLst>
              <a:ext uri="{FF2B5EF4-FFF2-40B4-BE49-F238E27FC236}">
                <a16:creationId xmlns:a16="http://schemas.microsoft.com/office/drawing/2014/main" id="{B604B9E6-9750-4DA0-A2CA-39C029FC6E27}"/>
              </a:ext>
            </a:extLst>
          </p:cNvPr>
          <p:cNvSpPr>
            <a:spLocks noChangeArrowheads="1"/>
          </p:cNvSpPr>
          <p:nvPr/>
        </p:nvSpPr>
        <p:spPr bwMode="gray">
          <a:xfrm>
            <a:off x="6016748" y="1191450"/>
            <a:ext cx="2286000" cy="386997"/>
          </a:xfrm>
          <a:prstGeom prst="rect">
            <a:avLst/>
          </a:prstGeom>
          <a:solidFill>
            <a:schemeClr val="accent6">
              <a:lumMod val="20000"/>
              <a:lumOff val="80000"/>
            </a:schemeClr>
          </a:solidFill>
          <a:ln w="19050" algn="ctr">
            <a:noFill/>
            <a:miter lim="800000"/>
            <a:headEnd/>
            <a:tailEnd/>
          </a:ln>
          <a:effectLst/>
        </p:spPr>
        <p:txBody>
          <a:bodyPr lIns="90000" tIns="90000" rIns="90000" bIns="90000" anchor="ctr"/>
          <a:lstStyle/>
          <a:p>
            <a:pPr algn="ctr" eaLnBrk="0" hangingPunct="0">
              <a:buClr>
                <a:srgbClr val="00A28A"/>
              </a:buClr>
              <a:buFont typeface="Times" pitchFamily="18" charset="0"/>
              <a:buNone/>
            </a:pPr>
            <a:r>
              <a:rPr lang="en-US" sz="1600" dirty="0">
                <a:solidFill>
                  <a:srgbClr val="000000"/>
                </a:solidFill>
                <a:latin typeface="Calibri" panose="020F0502020204030204" pitchFamily="34" charset="0"/>
                <a:cs typeface="Calibri" panose="020F0502020204030204" pitchFamily="34" charset="0"/>
              </a:rPr>
              <a:t>Survey Questionnaire</a:t>
            </a:r>
          </a:p>
        </p:txBody>
      </p:sp>
      <p:sp>
        <p:nvSpPr>
          <p:cNvPr id="28" name="Rectangle 17">
            <a:extLst>
              <a:ext uri="{FF2B5EF4-FFF2-40B4-BE49-F238E27FC236}">
                <a16:creationId xmlns:a16="http://schemas.microsoft.com/office/drawing/2014/main" id="{66C395B3-F1DC-4BAD-966D-5FB9A0E6EAAF}"/>
              </a:ext>
            </a:extLst>
          </p:cNvPr>
          <p:cNvSpPr>
            <a:spLocks noChangeArrowheads="1"/>
          </p:cNvSpPr>
          <p:nvPr/>
        </p:nvSpPr>
        <p:spPr bwMode="gray">
          <a:xfrm>
            <a:off x="8858422" y="1184327"/>
            <a:ext cx="2286000" cy="394120"/>
          </a:xfrm>
          <a:prstGeom prst="rect">
            <a:avLst/>
          </a:prstGeom>
          <a:solidFill>
            <a:schemeClr val="accent6">
              <a:lumMod val="20000"/>
              <a:lumOff val="80000"/>
            </a:schemeClr>
          </a:solidFill>
          <a:ln w="19050" algn="ctr">
            <a:noFill/>
            <a:miter lim="800000"/>
            <a:headEnd/>
            <a:tailEnd/>
          </a:ln>
          <a:effectLst/>
        </p:spPr>
        <p:txBody>
          <a:bodyPr lIns="90000" tIns="90000" rIns="90000" bIns="90000" anchor="ctr"/>
          <a:lstStyle/>
          <a:p>
            <a:pPr algn="ctr" eaLnBrk="0" hangingPunct="0">
              <a:buClr>
                <a:srgbClr val="00A28A"/>
              </a:buClr>
              <a:buFont typeface="Times" pitchFamily="18" charset="0"/>
              <a:buNone/>
            </a:pPr>
            <a:r>
              <a:rPr lang="en-US" sz="1600" dirty="0">
                <a:solidFill>
                  <a:srgbClr val="000000"/>
                </a:solidFill>
                <a:latin typeface="Calibri" panose="020F0502020204030204" pitchFamily="34" charset="0"/>
                <a:cs typeface="Calibri" panose="020F0502020204030204" pitchFamily="34" charset="0"/>
              </a:rPr>
              <a:t>Secondary research</a:t>
            </a:r>
          </a:p>
        </p:txBody>
      </p:sp>
      <p:sp>
        <p:nvSpPr>
          <p:cNvPr id="7" name="TextBox 6">
            <a:extLst>
              <a:ext uri="{FF2B5EF4-FFF2-40B4-BE49-F238E27FC236}">
                <a16:creationId xmlns:a16="http://schemas.microsoft.com/office/drawing/2014/main" id="{8F6F0AB8-5D84-4FEC-B447-1768BFE93609}"/>
              </a:ext>
            </a:extLst>
          </p:cNvPr>
          <p:cNvSpPr txBox="1"/>
          <p:nvPr/>
        </p:nvSpPr>
        <p:spPr>
          <a:xfrm>
            <a:off x="606252" y="1550900"/>
            <a:ext cx="2300785" cy="319105"/>
          </a:xfrm>
          <a:prstGeom prst="rect">
            <a:avLst/>
          </a:prstGeom>
          <a:noFill/>
        </p:spPr>
        <p:txBody>
          <a:bodyPr wrap="none" rtlCol="0" anchor="ctr">
            <a:noAutofit/>
          </a:bodyPr>
          <a:lstStyle/>
          <a:p>
            <a:pPr algn="ctr"/>
            <a:r>
              <a:rPr lang="en-US" sz="2000" b="1" dirty="0">
                <a:solidFill>
                  <a:schemeClr val="bg1"/>
                </a:solidFill>
                <a:latin typeface="Calibri" panose="020F0502020204030204" pitchFamily="34" charset="0"/>
                <a:cs typeface="Calibri" panose="020F0502020204030204" pitchFamily="34" charset="0"/>
              </a:rPr>
              <a:t>Data Sources</a:t>
            </a:r>
          </a:p>
        </p:txBody>
      </p:sp>
      <p:sp>
        <p:nvSpPr>
          <p:cNvPr id="22" name="TextBox 21">
            <a:extLst>
              <a:ext uri="{FF2B5EF4-FFF2-40B4-BE49-F238E27FC236}">
                <a16:creationId xmlns:a16="http://schemas.microsoft.com/office/drawing/2014/main" id="{E09AAF4A-B5E4-43E6-B371-0A4304CE6120}"/>
              </a:ext>
            </a:extLst>
          </p:cNvPr>
          <p:cNvSpPr txBox="1"/>
          <p:nvPr/>
        </p:nvSpPr>
        <p:spPr>
          <a:xfrm>
            <a:off x="3547212" y="2710737"/>
            <a:ext cx="2300785" cy="319105"/>
          </a:xfrm>
          <a:prstGeom prst="rect">
            <a:avLst/>
          </a:prstGeom>
          <a:noFill/>
        </p:spPr>
        <p:txBody>
          <a:bodyPr wrap="none" rtlCol="0" anchor="ctr">
            <a:noAutofit/>
          </a:bodyPr>
          <a:lstStyle/>
          <a:p>
            <a:pPr algn="ctr"/>
            <a:r>
              <a:rPr lang="en-US" sz="2000" b="1" dirty="0">
                <a:solidFill>
                  <a:schemeClr val="bg1"/>
                </a:solidFill>
                <a:latin typeface="Calibri" panose="020F0502020204030204" pitchFamily="34" charset="0"/>
                <a:cs typeface="Calibri" panose="020F0502020204030204" pitchFamily="34" charset="0"/>
              </a:rPr>
              <a:t>Data Sources</a:t>
            </a:r>
          </a:p>
        </p:txBody>
      </p:sp>
      <p:sp>
        <p:nvSpPr>
          <p:cNvPr id="23" name="Rectangle 22">
            <a:extLst>
              <a:ext uri="{FF2B5EF4-FFF2-40B4-BE49-F238E27FC236}">
                <a16:creationId xmlns:a16="http://schemas.microsoft.com/office/drawing/2014/main" id="{052381B5-1B63-44B5-B015-5BEEE40C4FB5}"/>
              </a:ext>
            </a:extLst>
          </p:cNvPr>
          <p:cNvSpPr/>
          <p:nvPr/>
        </p:nvSpPr>
        <p:spPr bwMode="auto">
          <a:xfrm>
            <a:off x="2483326" y="1941535"/>
            <a:ext cx="9352844" cy="1128082"/>
          </a:xfrm>
          <a:prstGeom prst="rect">
            <a:avLst/>
          </a:prstGeom>
          <a:solidFill>
            <a:schemeClr val="tx1">
              <a:lumMod val="20000"/>
              <a:lumOff val="8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4" name="Text Box 5">
            <a:extLst>
              <a:ext uri="{FF2B5EF4-FFF2-40B4-BE49-F238E27FC236}">
                <a16:creationId xmlns:a16="http://schemas.microsoft.com/office/drawing/2014/main" id="{2565C963-4CD1-43AB-BF98-A558A3771594}"/>
              </a:ext>
            </a:extLst>
          </p:cNvPr>
          <p:cNvSpPr txBox="1">
            <a:spLocks noChangeArrowheads="1"/>
          </p:cNvSpPr>
          <p:nvPr/>
        </p:nvSpPr>
        <p:spPr bwMode="auto">
          <a:xfrm>
            <a:off x="6445840" y="2013293"/>
            <a:ext cx="1537253" cy="435000"/>
          </a:xfrm>
          <a:prstGeom prst="rect">
            <a:avLst/>
          </a:prstGeom>
          <a:solidFill>
            <a:schemeClr val="accent6">
              <a:lumMod val="20000"/>
              <a:lumOff val="80000"/>
            </a:schemeClr>
          </a:solidFill>
          <a:ln w="6350">
            <a:noFill/>
            <a:miter lim="800000"/>
            <a:headEnd/>
            <a:tailEnd/>
          </a:ln>
        </p:spPr>
        <p:txBody>
          <a:bodyPr wrap="none" lIns="45720" rIns="45720" anchor="ctr"/>
          <a:lstStyle>
            <a:defPPr>
              <a:defRPr lang="en-US"/>
            </a:defPPr>
            <a:lvl1pPr algn="ctr" eaLnBrk="0" hangingPunct="0">
              <a:defRPr sz="1600" b="1">
                <a:solidFill>
                  <a:srgbClr val="000000"/>
                </a:solidFill>
                <a:latin typeface="Calibri" panose="020F0502020204030204" pitchFamily="34" charset="0"/>
                <a:cs typeface="Calibri" panose="020F0502020204030204" pitchFamily="34" charset="0"/>
              </a:defRPr>
            </a:lvl1pPr>
          </a:lstStyle>
          <a:p>
            <a:r>
              <a:rPr lang="en-US" b="0" dirty="0"/>
              <a:t>Order Data</a:t>
            </a:r>
          </a:p>
        </p:txBody>
      </p:sp>
      <p:sp>
        <p:nvSpPr>
          <p:cNvPr id="29" name="Text Box 7">
            <a:extLst>
              <a:ext uri="{FF2B5EF4-FFF2-40B4-BE49-F238E27FC236}">
                <a16:creationId xmlns:a16="http://schemas.microsoft.com/office/drawing/2014/main" id="{53730FF4-B9AB-4312-859A-15951C101E61}"/>
              </a:ext>
            </a:extLst>
          </p:cNvPr>
          <p:cNvSpPr txBox="1">
            <a:spLocks noChangeArrowheads="1"/>
          </p:cNvSpPr>
          <p:nvPr/>
        </p:nvSpPr>
        <p:spPr bwMode="auto">
          <a:xfrm>
            <a:off x="8138399" y="2018700"/>
            <a:ext cx="1554480" cy="388732"/>
          </a:xfrm>
          <a:prstGeom prst="rect">
            <a:avLst/>
          </a:prstGeom>
          <a:solidFill>
            <a:schemeClr val="accent6">
              <a:lumMod val="20000"/>
              <a:lumOff val="80000"/>
            </a:schemeClr>
          </a:solidFill>
          <a:ln w="6350">
            <a:noFill/>
            <a:miter lim="800000"/>
            <a:headEnd/>
            <a:tailEnd/>
          </a:ln>
        </p:spPr>
        <p:txBody>
          <a:bodyPr wrap="none" lIns="45720" rIns="45720" anchor="ctr"/>
          <a:lstStyle>
            <a:defPPr>
              <a:defRPr lang="en-US"/>
            </a:defPPr>
            <a:lvl1pPr algn="ctr" eaLnBrk="0" hangingPunct="0">
              <a:defRPr sz="1600" b="1">
                <a:solidFill>
                  <a:srgbClr val="000000"/>
                </a:solidFill>
                <a:latin typeface="Calibri" panose="020F0502020204030204" pitchFamily="34" charset="0"/>
                <a:cs typeface="Calibri" panose="020F0502020204030204" pitchFamily="34" charset="0"/>
              </a:defRPr>
            </a:lvl1pPr>
          </a:lstStyle>
          <a:p>
            <a:r>
              <a:rPr lang="en-US" b="0" dirty="0"/>
              <a:t>Food Outlet Data</a:t>
            </a:r>
          </a:p>
        </p:txBody>
      </p:sp>
      <p:sp>
        <p:nvSpPr>
          <p:cNvPr id="31" name="Text Box 8">
            <a:extLst>
              <a:ext uri="{FF2B5EF4-FFF2-40B4-BE49-F238E27FC236}">
                <a16:creationId xmlns:a16="http://schemas.microsoft.com/office/drawing/2014/main" id="{BD34D826-A393-44E1-808B-FBBCEAC0CAEE}"/>
              </a:ext>
            </a:extLst>
          </p:cNvPr>
          <p:cNvSpPr txBox="1">
            <a:spLocks noChangeArrowheads="1"/>
          </p:cNvSpPr>
          <p:nvPr/>
        </p:nvSpPr>
        <p:spPr bwMode="auto">
          <a:xfrm>
            <a:off x="9790613" y="2018700"/>
            <a:ext cx="1828800" cy="388733"/>
          </a:xfrm>
          <a:prstGeom prst="rect">
            <a:avLst/>
          </a:prstGeom>
          <a:solidFill>
            <a:schemeClr val="accent6">
              <a:lumMod val="20000"/>
              <a:lumOff val="80000"/>
            </a:schemeClr>
          </a:solidFill>
          <a:ln w="6350">
            <a:noFill/>
            <a:miter lim="800000"/>
            <a:headEnd/>
            <a:tailEnd/>
          </a:ln>
        </p:spPr>
        <p:txBody>
          <a:bodyPr wrap="none" lIns="45720" rIns="45720" anchor="ctr"/>
          <a:lstStyle>
            <a:defPPr>
              <a:defRPr lang="en-US"/>
            </a:defPPr>
            <a:lvl1pPr algn="ctr" eaLnBrk="0" hangingPunct="0">
              <a:defRPr sz="1600" b="1">
                <a:solidFill>
                  <a:srgbClr val="000000"/>
                </a:solidFill>
                <a:latin typeface="Calibri" panose="020F0502020204030204" pitchFamily="34" charset="0"/>
                <a:cs typeface="Calibri" panose="020F0502020204030204" pitchFamily="34" charset="0"/>
              </a:defRPr>
            </a:lvl1pPr>
          </a:lstStyle>
          <a:p>
            <a:r>
              <a:rPr lang="en-US" b="0" dirty="0"/>
              <a:t>Menu/ Food items </a:t>
            </a:r>
          </a:p>
        </p:txBody>
      </p:sp>
      <p:sp>
        <p:nvSpPr>
          <p:cNvPr id="32" name="Text Box 9">
            <a:extLst>
              <a:ext uri="{FF2B5EF4-FFF2-40B4-BE49-F238E27FC236}">
                <a16:creationId xmlns:a16="http://schemas.microsoft.com/office/drawing/2014/main" id="{AE87A1F8-6643-4B01-9928-8AFB11AB8343}"/>
              </a:ext>
            </a:extLst>
          </p:cNvPr>
          <p:cNvSpPr txBox="1">
            <a:spLocks noChangeArrowheads="1"/>
          </p:cNvSpPr>
          <p:nvPr/>
        </p:nvSpPr>
        <p:spPr bwMode="auto">
          <a:xfrm>
            <a:off x="8372883" y="2572028"/>
            <a:ext cx="2861750" cy="388732"/>
          </a:xfrm>
          <a:prstGeom prst="rect">
            <a:avLst/>
          </a:prstGeom>
          <a:solidFill>
            <a:schemeClr val="accent6">
              <a:lumMod val="20000"/>
              <a:lumOff val="80000"/>
            </a:schemeClr>
          </a:solidFill>
          <a:ln w="6350">
            <a:noFill/>
            <a:miter lim="800000"/>
            <a:headEnd/>
            <a:tailEnd/>
          </a:ln>
        </p:spPr>
        <p:txBody>
          <a:bodyPr wrap="none" lIns="45720" rIns="45720" anchor="ctr"/>
          <a:lstStyle>
            <a:defPPr>
              <a:defRPr lang="en-US"/>
            </a:defPPr>
            <a:lvl1pPr algn="ctr" eaLnBrk="0" hangingPunct="0">
              <a:defRPr sz="1600" b="1">
                <a:solidFill>
                  <a:srgbClr val="000000"/>
                </a:solidFill>
                <a:latin typeface="Calibri" panose="020F0502020204030204" pitchFamily="34" charset="0"/>
                <a:cs typeface="Calibri" panose="020F0502020204030204" pitchFamily="34" charset="0"/>
              </a:defRPr>
            </a:lvl1pPr>
          </a:lstStyle>
          <a:p>
            <a:r>
              <a:rPr lang="en-US" b="0" dirty="0"/>
              <a:t>Medical Compatibility Data </a:t>
            </a:r>
          </a:p>
        </p:txBody>
      </p:sp>
      <p:sp>
        <p:nvSpPr>
          <p:cNvPr id="33" name="Text Box 10">
            <a:extLst>
              <a:ext uri="{FF2B5EF4-FFF2-40B4-BE49-F238E27FC236}">
                <a16:creationId xmlns:a16="http://schemas.microsoft.com/office/drawing/2014/main" id="{EE61E14E-A010-4A6A-9550-DF5EFD8763C8}"/>
              </a:ext>
            </a:extLst>
          </p:cNvPr>
          <p:cNvSpPr txBox="1">
            <a:spLocks noChangeArrowheads="1"/>
          </p:cNvSpPr>
          <p:nvPr/>
        </p:nvSpPr>
        <p:spPr bwMode="auto">
          <a:xfrm>
            <a:off x="4821871" y="2572028"/>
            <a:ext cx="3277888" cy="388732"/>
          </a:xfrm>
          <a:prstGeom prst="rect">
            <a:avLst/>
          </a:prstGeom>
          <a:solidFill>
            <a:schemeClr val="accent6">
              <a:lumMod val="20000"/>
              <a:lumOff val="80000"/>
            </a:schemeClr>
          </a:solidFill>
          <a:ln w="6350">
            <a:noFill/>
            <a:miter lim="800000"/>
            <a:headEnd/>
            <a:tailEnd/>
          </a:ln>
        </p:spPr>
        <p:txBody>
          <a:bodyPr wrap="none" lIns="45720" rIns="45720" anchor="ctr"/>
          <a:lstStyle>
            <a:defPPr>
              <a:defRPr lang="en-US"/>
            </a:defPPr>
            <a:lvl1pPr algn="ctr" eaLnBrk="0" hangingPunct="0">
              <a:defRPr sz="1600" b="1">
                <a:solidFill>
                  <a:srgbClr val="000000"/>
                </a:solidFill>
                <a:latin typeface="Calibri" panose="020F0502020204030204" pitchFamily="34" charset="0"/>
                <a:cs typeface="Calibri" panose="020F0502020204030204" pitchFamily="34" charset="0"/>
              </a:defRPr>
            </a:lvl1pPr>
          </a:lstStyle>
          <a:p>
            <a:r>
              <a:rPr lang="en-US" b="0" dirty="0"/>
              <a:t>Gastronomical  Compatibility Data </a:t>
            </a:r>
          </a:p>
        </p:txBody>
      </p:sp>
      <p:sp>
        <p:nvSpPr>
          <p:cNvPr id="34" name="Text Box 11">
            <a:extLst>
              <a:ext uri="{FF2B5EF4-FFF2-40B4-BE49-F238E27FC236}">
                <a16:creationId xmlns:a16="http://schemas.microsoft.com/office/drawing/2014/main" id="{CFD70647-EDE0-4574-890E-670BC7DF135E}"/>
              </a:ext>
            </a:extLst>
          </p:cNvPr>
          <p:cNvSpPr txBox="1">
            <a:spLocks noChangeArrowheads="1"/>
          </p:cNvSpPr>
          <p:nvPr/>
        </p:nvSpPr>
        <p:spPr bwMode="auto">
          <a:xfrm>
            <a:off x="4821871" y="2030575"/>
            <a:ext cx="1468663" cy="435120"/>
          </a:xfrm>
          <a:prstGeom prst="rect">
            <a:avLst/>
          </a:prstGeom>
          <a:solidFill>
            <a:schemeClr val="accent6">
              <a:lumMod val="20000"/>
              <a:lumOff val="80000"/>
            </a:schemeClr>
          </a:solidFill>
          <a:ln w="6350">
            <a:noFill/>
            <a:miter lim="800000"/>
            <a:headEnd/>
            <a:tailEnd/>
          </a:ln>
        </p:spPr>
        <p:txBody>
          <a:bodyPr wrap="none" lIns="45720" rIns="45720" anchor="ctr"/>
          <a:lstStyle/>
          <a:p>
            <a:pPr algn="ctr" eaLnBrk="0" hangingPunct="0"/>
            <a:r>
              <a:rPr lang="en-US" sz="1600" dirty="0">
                <a:solidFill>
                  <a:srgbClr val="000000"/>
                </a:solidFill>
                <a:latin typeface="Calibri" panose="020F0502020204030204" pitchFamily="34" charset="0"/>
                <a:cs typeface="Calibri" panose="020F0502020204030204" pitchFamily="34" charset="0"/>
              </a:rPr>
              <a:t>User Data</a:t>
            </a:r>
          </a:p>
        </p:txBody>
      </p:sp>
      <p:pic>
        <p:nvPicPr>
          <p:cNvPr id="1026" name="Picture 2" descr="Hyperfocus Series: GitHub 101 for L&amp;D Leaders | DevelopIntelligence">
            <a:extLst>
              <a:ext uri="{FF2B5EF4-FFF2-40B4-BE49-F238E27FC236}">
                <a16:creationId xmlns:a16="http://schemas.microsoft.com/office/drawing/2014/main" id="{C82725AF-C465-44A4-ABF1-7B6155D1C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6647" y="2211811"/>
            <a:ext cx="1840545" cy="58512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EB6B6B0-5C3A-4C65-9F53-1C461AB78933}"/>
              </a:ext>
            </a:extLst>
          </p:cNvPr>
          <p:cNvSpPr/>
          <p:nvPr/>
        </p:nvSpPr>
        <p:spPr bwMode="auto">
          <a:xfrm>
            <a:off x="2642512" y="3406140"/>
            <a:ext cx="1941139" cy="371611"/>
          </a:xfrm>
          <a:prstGeom prst="rect">
            <a:avLst/>
          </a:prstGeom>
          <a:solidFill>
            <a:schemeClr val="tx1">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Data Adequacy</a:t>
            </a:r>
          </a:p>
        </p:txBody>
      </p:sp>
      <p:sp>
        <p:nvSpPr>
          <p:cNvPr id="35" name="Rectangle 34">
            <a:extLst>
              <a:ext uri="{FF2B5EF4-FFF2-40B4-BE49-F238E27FC236}">
                <a16:creationId xmlns:a16="http://schemas.microsoft.com/office/drawing/2014/main" id="{25881622-BD1F-4A79-AD4F-D2195CECD8BF}"/>
              </a:ext>
            </a:extLst>
          </p:cNvPr>
          <p:cNvSpPr/>
          <p:nvPr/>
        </p:nvSpPr>
        <p:spPr bwMode="auto">
          <a:xfrm>
            <a:off x="4825021" y="3406140"/>
            <a:ext cx="1941139" cy="371611"/>
          </a:xfrm>
          <a:prstGeom prst="rect">
            <a:avLst/>
          </a:prstGeom>
          <a:solidFill>
            <a:schemeClr val="tx1">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Data Relevancy</a:t>
            </a:r>
          </a:p>
        </p:txBody>
      </p:sp>
      <p:sp>
        <p:nvSpPr>
          <p:cNvPr id="36" name="Rectangle 35">
            <a:extLst>
              <a:ext uri="{FF2B5EF4-FFF2-40B4-BE49-F238E27FC236}">
                <a16:creationId xmlns:a16="http://schemas.microsoft.com/office/drawing/2014/main" id="{BE821A97-D008-4DE7-B307-43802B7171C8}"/>
              </a:ext>
            </a:extLst>
          </p:cNvPr>
          <p:cNvSpPr/>
          <p:nvPr/>
        </p:nvSpPr>
        <p:spPr bwMode="auto">
          <a:xfrm>
            <a:off x="7007530" y="3406140"/>
            <a:ext cx="1941139" cy="371611"/>
          </a:xfrm>
          <a:prstGeom prst="rect">
            <a:avLst/>
          </a:prstGeom>
          <a:solidFill>
            <a:schemeClr val="tx1">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Data Consistency </a:t>
            </a:r>
          </a:p>
        </p:txBody>
      </p:sp>
      <p:sp>
        <p:nvSpPr>
          <p:cNvPr id="37" name="Rectangle 36">
            <a:extLst>
              <a:ext uri="{FF2B5EF4-FFF2-40B4-BE49-F238E27FC236}">
                <a16:creationId xmlns:a16="http://schemas.microsoft.com/office/drawing/2014/main" id="{CA767E02-4CD5-4DD8-95B8-ED3FF66C8DD0}"/>
              </a:ext>
            </a:extLst>
          </p:cNvPr>
          <p:cNvSpPr/>
          <p:nvPr/>
        </p:nvSpPr>
        <p:spPr bwMode="auto">
          <a:xfrm>
            <a:off x="9190038" y="3389690"/>
            <a:ext cx="2400989" cy="404511"/>
          </a:xfrm>
          <a:prstGeom prst="rect">
            <a:avLst/>
          </a:prstGeom>
          <a:solidFill>
            <a:schemeClr val="tx1">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Anamoly Detection</a:t>
            </a:r>
          </a:p>
        </p:txBody>
      </p:sp>
      <p:sp>
        <p:nvSpPr>
          <p:cNvPr id="10" name="Rectangle 9">
            <a:extLst>
              <a:ext uri="{FF2B5EF4-FFF2-40B4-BE49-F238E27FC236}">
                <a16:creationId xmlns:a16="http://schemas.microsoft.com/office/drawing/2014/main" id="{287A8D59-C6EC-4DE9-B8A8-5C00C9033C72}"/>
              </a:ext>
            </a:extLst>
          </p:cNvPr>
          <p:cNvSpPr/>
          <p:nvPr/>
        </p:nvSpPr>
        <p:spPr bwMode="auto">
          <a:xfrm>
            <a:off x="2517344" y="3311901"/>
            <a:ext cx="9276608" cy="624151"/>
          </a:xfrm>
          <a:prstGeom prst="rect">
            <a:avLst/>
          </a:prstGeom>
          <a:noFill/>
          <a:ln w="9525" cap="flat" cmpd="sng" algn="ctr">
            <a:solidFill>
              <a:schemeClr val="accent6"/>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1600" b="0" i="0" u="none" strike="noStrike" cap="none" normalizeH="0" baseline="0" dirty="0">
              <a:ln>
                <a:noFill/>
              </a:ln>
              <a:solidFill>
                <a:srgbClr val="4D4D4D"/>
              </a:solidFill>
              <a:effectLst/>
              <a:latin typeface="Arial" charset="0"/>
              <a:cs typeface="Arial" charset="0"/>
            </a:endParaRPr>
          </a:p>
        </p:txBody>
      </p:sp>
      <p:sp>
        <p:nvSpPr>
          <p:cNvPr id="12" name="Arrow: Down 11">
            <a:extLst>
              <a:ext uri="{FF2B5EF4-FFF2-40B4-BE49-F238E27FC236}">
                <a16:creationId xmlns:a16="http://schemas.microsoft.com/office/drawing/2014/main" id="{B9BB9476-7ECB-4093-A704-7C7069CFDAB4}"/>
              </a:ext>
            </a:extLst>
          </p:cNvPr>
          <p:cNvSpPr/>
          <p:nvPr/>
        </p:nvSpPr>
        <p:spPr bwMode="auto">
          <a:xfrm>
            <a:off x="606253" y="1100217"/>
            <a:ext cx="959288" cy="5564454"/>
          </a:xfrm>
          <a:prstGeom prst="downArrow">
            <a:avLst/>
          </a:prstGeom>
          <a:solidFill>
            <a:schemeClr val="bg1">
              <a:lumMod val="85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dirty="0">
              <a:ln>
                <a:noFill/>
              </a:ln>
              <a:solidFill>
                <a:srgbClr val="4D4D4D"/>
              </a:solidFill>
              <a:effectLst/>
              <a:latin typeface="Arial" charset="0"/>
              <a:cs typeface="Arial" charset="0"/>
            </a:endParaRPr>
          </a:p>
        </p:txBody>
      </p:sp>
      <p:sp>
        <p:nvSpPr>
          <p:cNvPr id="13" name="Rectangle 12">
            <a:extLst>
              <a:ext uri="{FF2B5EF4-FFF2-40B4-BE49-F238E27FC236}">
                <a16:creationId xmlns:a16="http://schemas.microsoft.com/office/drawing/2014/main" id="{F28380BA-821F-4660-BD33-6A49BD2DAF9B}"/>
              </a:ext>
            </a:extLst>
          </p:cNvPr>
          <p:cNvSpPr/>
          <p:nvPr/>
        </p:nvSpPr>
        <p:spPr bwMode="auto">
          <a:xfrm>
            <a:off x="194687" y="1193567"/>
            <a:ext cx="1828800" cy="64008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Data Sources</a:t>
            </a:r>
          </a:p>
        </p:txBody>
      </p:sp>
      <p:sp>
        <p:nvSpPr>
          <p:cNvPr id="39" name="Rectangle 38">
            <a:extLst>
              <a:ext uri="{FF2B5EF4-FFF2-40B4-BE49-F238E27FC236}">
                <a16:creationId xmlns:a16="http://schemas.microsoft.com/office/drawing/2014/main" id="{65FD9CE5-960C-437B-8680-4014CF02B472}"/>
              </a:ext>
            </a:extLst>
          </p:cNvPr>
          <p:cNvSpPr/>
          <p:nvPr/>
        </p:nvSpPr>
        <p:spPr bwMode="auto">
          <a:xfrm>
            <a:off x="194687" y="2163243"/>
            <a:ext cx="1828800" cy="64008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Data Collection </a:t>
            </a:r>
          </a:p>
        </p:txBody>
      </p:sp>
      <p:sp>
        <p:nvSpPr>
          <p:cNvPr id="40" name="Rectangle 39">
            <a:extLst>
              <a:ext uri="{FF2B5EF4-FFF2-40B4-BE49-F238E27FC236}">
                <a16:creationId xmlns:a16="http://schemas.microsoft.com/office/drawing/2014/main" id="{731A1FB2-5E17-42B3-B436-1C133E3BFD99}"/>
              </a:ext>
            </a:extLst>
          </p:cNvPr>
          <p:cNvSpPr/>
          <p:nvPr/>
        </p:nvSpPr>
        <p:spPr bwMode="auto">
          <a:xfrm>
            <a:off x="194687" y="3359390"/>
            <a:ext cx="1828800" cy="64008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Data Verification</a:t>
            </a:r>
          </a:p>
        </p:txBody>
      </p:sp>
      <p:sp>
        <p:nvSpPr>
          <p:cNvPr id="41" name="Rectangle 40">
            <a:extLst>
              <a:ext uri="{FF2B5EF4-FFF2-40B4-BE49-F238E27FC236}">
                <a16:creationId xmlns:a16="http://schemas.microsoft.com/office/drawing/2014/main" id="{73D3B437-A7C7-491C-8352-9E90606B4A32}"/>
              </a:ext>
            </a:extLst>
          </p:cNvPr>
          <p:cNvSpPr/>
          <p:nvPr/>
        </p:nvSpPr>
        <p:spPr bwMode="auto">
          <a:xfrm>
            <a:off x="194687" y="5056357"/>
            <a:ext cx="1828800" cy="64008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Data Description (</a:t>
            </a:r>
            <a:r>
              <a:rPr kumimoji="0" lang="en-US" sz="1600" b="1" i="0" u="none" strike="noStrike" cap="none" normalizeH="0" baseline="0">
                <a:ln>
                  <a:noFill/>
                </a:ln>
                <a:solidFill>
                  <a:srgbClr val="4D4D4D"/>
                </a:solidFill>
                <a:effectLst/>
                <a:latin typeface="Calibri" panose="020F0502020204030204" pitchFamily="34" charset="0"/>
                <a:cs typeface="Calibri" panose="020F0502020204030204" pitchFamily="34" charset="0"/>
              </a:rPr>
              <a:t>Attributes</a:t>
            </a:r>
            <a:r>
              <a:rPr kumimoji="0" lang="en-US" sz="1600" b="1" i="0" u="none" strike="noStrike" cap="none" normalizeH="0" baseline="0" dirty="0">
                <a:ln>
                  <a:noFill/>
                </a:ln>
                <a:solidFill>
                  <a:srgbClr val="4D4D4D"/>
                </a:solidFill>
                <a:effectLst/>
                <a:latin typeface="Calibri" panose="020F0502020204030204" pitchFamily="34" charset="0"/>
                <a:cs typeface="Calibri" panose="020F0502020204030204" pitchFamily="34" charset="0"/>
              </a:rPr>
              <a:t> List)</a:t>
            </a:r>
          </a:p>
        </p:txBody>
      </p:sp>
      <p:pic>
        <p:nvPicPr>
          <p:cNvPr id="18" name="Picture 17">
            <a:extLst>
              <a:ext uri="{FF2B5EF4-FFF2-40B4-BE49-F238E27FC236}">
                <a16:creationId xmlns:a16="http://schemas.microsoft.com/office/drawing/2014/main" id="{037B6509-B684-4CCC-A681-B0A949192069}"/>
              </a:ext>
            </a:extLst>
          </p:cNvPr>
          <p:cNvPicPr>
            <a:picLocks noChangeAspect="1"/>
          </p:cNvPicPr>
          <p:nvPr/>
        </p:nvPicPr>
        <p:blipFill>
          <a:blip r:embed="rId4"/>
          <a:stretch>
            <a:fillRect/>
          </a:stretch>
        </p:blipFill>
        <p:spPr>
          <a:xfrm>
            <a:off x="2155232" y="4253926"/>
            <a:ext cx="9826971" cy="2211681"/>
          </a:xfrm>
          <a:prstGeom prst="rect">
            <a:avLst/>
          </a:prstGeom>
        </p:spPr>
      </p:pic>
      <p:sp>
        <p:nvSpPr>
          <p:cNvPr id="49" name="Arrow: Right 48">
            <a:extLst>
              <a:ext uri="{FF2B5EF4-FFF2-40B4-BE49-F238E27FC236}">
                <a16:creationId xmlns:a16="http://schemas.microsoft.com/office/drawing/2014/main" id="{38BFA622-06D0-42FD-A19A-719312D1E6E9}"/>
              </a:ext>
            </a:extLst>
          </p:cNvPr>
          <p:cNvSpPr/>
          <p:nvPr/>
        </p:nvSpPr>
        <p:spPr bwMode="auto">
          <a:xfrm rot="5400000">
            <a:off x="3442616" y="3823606"/>
            <a:ext cx="393374" cy="486634"/>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1600"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sp>
        <p:nvSpPr>
          <p:cNvPr id="50" name="Arrow: Right 49">
            <a:extLst>
              <a:ext uri="{FF2B5EF4-FFF2-40B4-BE49-F238E27FC236}">
                <a16:creationId xmlns:a16="http://schemas.microsoft.com/office/drawing/2014/main" id="{5426CD45-53FE-4230-A4EC-A152E94DF157}"/>
              </a:ext>
            </a:extLst>
          </p:cNvPr>
          <p:cNvSpPr/>
          <p:nvPr/>
        </p:nvSpPr>
        <p:spPr bwMode="auto">
          <a:xfrm rot="5400000">
            <a:off x="5539582" y="3813922"/>
            <a:ext cx="393374" cy="486634"/>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1600"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sp>
        <p:nvSpPr>
          <p:cNvPr id="51" name="Arrow: Right 50">
            <a:extLst>
              <a:ext uri="{FF2B5EF4-FFF2-40B4-BE49-F238E27FC236}">
                <a16:creationId xmlns:a16="http://schemas.microsoft.com/office/drawing/2014/main" id="{C75BF7E5-402B-4479-BBE2-9C5D354FD99A}"/>
              </a:ext>
            </a:extLst>
          </p:cNvPr>
          <p:cNvSpPr/>
          <p:nvPr/>
        </p:nvSpPr>
        <p:spPr bwMode="auto">
          <a:xfrm rot="5400000">
            <a:off x="7786406" y="3793534"/>
            <a:ext cx="393374" cy="486634"/>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1600"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sp>
        <p:nvSpPr>
          <p:cNvPr id="52" name="Arrow: Right 51">
            <a:extLst>
              <a:ext uri="{FF2B5EF4-FFF2-40B4-BE49-F238E27FC236}">
                <a16:creationId xmlns:a16="http://schemas.microsoft.com/office/drawing/2014/main" id="{0F471000-1455-4510-9684-CB2671726DB3}"/>
              </a:ext>
            </a:extLst>
          </p:cNvPr>
          <p:cNvSpPr/>
          <p:nvPr/>
        </p:nvSpPr>
        <p:spPr bwMode="auto">
          <a:xfrm rot="5400000">
            <a:off x="10193845" y="3813922"/>
            <a:ext cx="393374" cy="486634"/>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1600"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sp>
        <p:nvSpPr>
          <p:cNvPr id="6" name="Arrow: Right 5">
            <a:extLst>
              <a:ext uri="{FF2B5EF4-FFF2-40B4-BE49-F238E27FC236}">
                <a16:creationId xmlns:a16="http://schemas.microsoft.com/office/drawing/2014/main" id="{57E9EE88-0437-41CD-9E41-D0BC4B7CDD66}"/>
              </a:ext>
            </a:extLst>
          </p:cNvPr>
          <p:cNvSpPr/>
          <p:nvPr/>
        </p:nvSpPr>
        <p:spPr bwMode="auto">
          <a:xfrm rot="5400000">
            <a:off x="6872030" y="1570734"/>
            <a:ext cx="393374" cy="486634"/>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1600"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50732518"/>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297E13-8057-0249-BE83-744748AA9C45}"/>
              </a:ext>
            </a:extLst>
          </p:cNvPr>
          <p:cNvSpPr>
            <a:spLocks noGrp="1"/>
          </p:cNvSpPr>
          <p:nvPr>
            <p:ph type="body" sz="quarter" idx="10"/>
          </p:nvPr>
        </p:nvSpPr>
        <p:spPr>
          <a:xfrm>
            <a:off x="2801694" y="2175024"/>
            <a:ext cx="4453227" cy="466344"/>
          </a:xfrm>
          <a:noFill/>
        </p:spPr>
        <p:txBody>
          <a:bodyPr/>
          <a:lstStyle/>
          <a:p>
            <a:r>
              <a:rPr lang="en-US"/>
              <a:t>Business &amp; Data Understanding</a:t>
            </a:r>
          </a:p>
        </p:txBody>
      </p:sp>
      <p:sp>
        <p:nvSpPr>
          <p:cNvPr id="3" name="Text Placeholder 2">
            <a:extLst>
              <a:ext uri="{FF2B5EF4-FFF2-40B4-BE49-F238E27FC236}">
                <a16:creationId xmlns:a16="http://schemas.microsoft.com/office/drawing/2014/main" id="{0FB72F3C-0713-8845-A7DB-7B70C4E306F6}"/>
              </a:ext>
            </a:extLst>
          </p:cNvPr>
          <p:cNvSpPr>
            <a:spLocks noGrp="1"/>
          </p:cNvSpPr>
          <p:nvPr>
            <p:ph type="body" sz="quarter" idx="11"/>
          </p:nvPr>
        </p:nvSpPr>
        <p:spPr>
          <a:xfrm>
            <a:off x="2801694" y="2746084"/>
            <a:ext cx="4453227" cy="466344"/>
          </a:xfrm>
          <a:solidFill>
            <a:srgbClr val="FEA626">
              <a:alpha val="66000"/>
            </a:srgbClr>
          </a:solidFill>
        </p:spPr>
        <p:txBody>
          <a:bodyPr/>
          <a:lstStyle/>
          <a:p>
            <a:r>
              <a:rPr lang="en-US"/>
              <a:t>Data Preparation </a:t>
            </a:r>
          </a:p>
        </p:txBody>
      </p:sp>
      <p:sp>
        <p:nvSpPr>
          <p:cNvPr id="4" name="Text Placeholder 3">
            <a:extLst>
              <a:ext uri="{FF2B5EF4-FFF2-40B4-BE49-F238E27FC236}">
                <a16:creationId xmlns:a16="http://schemas.microsoft.com/office/drawing/2014/main" id="{8FC09673-D0CE-2943-9150-44A9049F1FE8}"/>
              </a:ext>
            </a:extLst>
          </p:cNvPr>
          <p:cNvSpPr>
            <a:spLocks noGrp="1"/>
          </p:cNvSpPr>
          <p:nvPr>
            <p:ph type="body" sz="quarter" idx="12"/>
          </p:nvPr>
        </p:nvSpPr>
        <p:spPr>
          <a:xfrm>
            <a:off x="2801694" y="3317144"/>
            <a:ext cx="4453227" cy="466344"/>
          </a:xfrm>
        </p:spPr>
        <p:txBody>
          <a:bodyPr/>
          <a:lstStyle/>
          <a:p>
            <a:r>
              <a:rPr lang="en-US" dirty="0"/>
              <a:t>The Modeling and Evaluation</a:t>
            </a:r>
          </a:p>
        </p:txBody>
      </p:sp>
      <p:sp>
        <p:nvSpPr>
          <p:cNvPr id="6" name="Text Placeholder 5">
            <a:extLst>
              <a:ext uri="{FF2B5EF4-FFF2-40B4-BE49-F238E27FC236}">
                <a16:creationId xmlns:a16="http://schemas.microsoft.com/office/drawing/2014/main" id="{D0B87B07-F4AF-F246-9686-BAADFAE1760C}"/>
              </a:ext>
            </a:extLst>
          </p:cNvPr>
          <p:cNvSpPr>
            <a:spLocks noGrp="1"/>
          </p:cNvSpPr>
          <p:nvPr>
            <p:ph type="body" sz="quarter" idx="14"/>
          </p:nvPr>
        </p:nvSpPr>
        <p:spPr>
          <a:xfrm>
            <a:off x="2801694" y="3888204"/>
            <a:ext cx="4453227" cy="466344"/>
          </a:xfrm>
        </p:spPr>
        <p:txBody>
          <a:bodyPr/>
          <a:lstStyle/>
          <a:p>
            <a:r>
              <a:rPr lang="en-US" dirty="0"/>
              <a:t>Deployment</a:t>
            </a:r>
          </a:p>
        </p:txBody>
      </p:sp>
      <p:sp>
        <p:nvSpPr>
          <p:cNvPr id="7" name="Text Placeholder 5">
            <a:extLst>
              <a:ext uri="{FF2B5EF4-FFF2-40B4-BE49-F238E27FC236}">
                <a16:creationId xmlns:a16="http://schemas.microsoft.com/office/drawing/2014/main" id="{59454E4C-D7CA-D246-8236-2DA343BEFAD7}"/>
              </a:ext>
            </a:extLst>
          </p:cNvPr>
          <p:cNvSpPr txBox="1">
            <a:spLocks/>
          </p:cNvSpPr>
          <p:nvPr/>
        </p:nvSpPr>
        <p:spPr>
          <a:xfrm>
            <a:off x="2801694" y="4459264"/>
            <a:ext cx="4453227" cy="466344"/>
          </a:xfrm>
          <a:prstGeom prst="rect">
            <a:avLst/>
          </a:prstGeom>
        </p:spPr>
        <p:txBody>
          <a:bodyPr vert="horz" lIns="91440" tIns="45720" rIns="91440" bIns="45720" rtlCol="0">
            <a:normAutofit/>
          </a:bodyPr>
          <a:lstStyle>
            <a:lvl1pPr algn="l" defTabSz="912813" rtl="0" eaLnBrk="1" fontAlgn="auto" hangingPunct="1">
              <a:spcBef>
                <a:spcPts val="0"/>
              </a:spcBef>
              <a:spcAft>
                <a:spcPts val="0"/>
              </a:spcAft>
              <a:buClrTx/>
              <a:buSzTx/>
              <a:buFontTx/>
              <a:buNone/>
              <a:defRPr lang="en-US" sz="2400">
                <a:solidFill>
                  <a:schemeClr val="tx1">
                    <a:lumMod val="75000"/>
                  </a:schemeClr>
                </a:solidFill>
                <a:latin typeface="Calibri" pitchFamily="34" charset="0"/>
                <a:ea typeface="+mn-ea"/>
                <a:cs typeface="+mn-cs"/>
              </a:defRPr>
            </a:lvl1pPr>
            <a:lvl2pPr marL="742950" indent="-285750" algn="l" defTabSz="912813" rtl="0" eaLnBrk="1" fontAlgn="base" hangingPunct="1">
              <a:spcBef>
                <a:spcPct val="20000"/>
              </a:spcBef>
              <a:spcAft>
                <a:spcPct val="0"/>
              </a:spcAft>
              <a:buClr>
                <a:schemeClr val="accent1"/>
              </a:buClr>
              <a:buSzPct val="90000"/>
              <a:buFontTx/>
              <a:buBlip>
                <a:blip r:embed="rId2"/>
              </a:buBlip>
              <a:defRPr lang="en-US" sz="1600" dirty="0" smtClean="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r>
              <a:rPr lang="en-IN" kern="0" dirty="0"/>
              <a:t>Monitoring and Maintenance </a:t>
            </a:r>
          </a:p>
        </p:txBody>
      </p:sp>
    </p:spTree>
    <p:extLst>
      <p:ext uri="{BB962C8B-B14F-4D97-AF65-F5344CB8AC3E}">
        <p14:creationId xmlns:p14="http://schemas.microsoft.com/office/powerpoint/2010/main" val="153159316"/>
      </p:ext>
    </p:extLst>
  </p:cSld>
  <p:clrMapOvr>
    <a:masterClrMapping/>
  </p:clrMapOvr>
  <p:transition advClick="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D45FE3-6D48-8540-A57C-177D7EF939E4}"/>
              </a:ext>
            </a:extLst>
          </p:cNvPr>
          <p:cNvSpPr>
            <a:spLocks noGrp="1"/>
          </p:cNvSpPr>
          <p:nvPr>
            <p:ph type="body" sz="quarter" idx="10"/>
          </p:nvPr>
        </p:nvSpPr>
        <p:spPr/>
        <p:txBody>
          <a:bodyPr anchor="ctr"/>
          <a:lstStyle/>
          <a:p>
            <a:r>
              <a:rPr lang="en-US"/>
              <a:t>Data Preparation </a:t>
            </a:r>
          </a:p>
        </p:txBody>
      </p:sp>
    </p:spTree>
    <p:extLst>
      <p:ext uri="{BB962C8B-B14F-4D97-AF65-F5344CB8AC3E}">
        <p14:creationId xmlns:p14="http://schemas.microsoft.com/office/powerpoint/2010/main" val="2264750462"/>
      </p:ext>
    </p:extLst>
  </p:cSld>
  <p:clrMapOvr>
    <a:masterClrMapping/>
  </p:clrMapOvr>
  <p:transition advClick="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401EE-7268-D44B-9217-25D6E78D3BDE}"/>
              </a:ext>
            </a:extLst>
          </p:cNvPr>
          <p:cNvSpPr>
            <a:spLocks noGrp="1"/>
          </p:cNvSpPr>
          <p:nvPr>
            <p:ph type="title"/>
          </p:nvPr>
        </p:nvSpPr>
        <p:spPr/>
        <p:txBody>
          <a:bodyPr/>
          <a:lstStyle/>
          <a:p>
            <a:r>
              <a:rPr lang="en-US"/>
              <a:t>Data Preparation: Select the data</a:t>
            </a:r>
          </a:p>
        </p:txBody>
      </p:sp>
      <p:sp>
        <p:nvSpPr>
          <p:cNvPr id="5" name="Rectangle 13">
            <a:extLst>
              <a:ext uri="{FF2B5EF4-FFF2-40B4-BE49-F238E27FC236}">
                <a16:creationId xmlns:a16="http://schemas.microsoft.com/office/drawing/2014/main" id="{029FE20B-36C3-49A8-835E-0E75139822D7}"/>
              </a:ext>
            </a:extLst>
          </p:cNvPr>
          <p:cNvSpPr>
            <a:spLocks noChangeArrowheads="1"/>
          </p:cNvSpPr>
          <p:nvPr/>
        </p:nvSpPr>
        <p:spPr bwMode="gray">
          <a:xfrm>
            <a:off x="296883" y="2349137"/>
            <a:ext cx="3645725" cy="1469439"/>
          </a:xfrm>
          <a:prstGeom prst="rect">
            <a:avLst/>
          </a:prstGeom>
          <a:solidFill>
            <a:schemeClr val="accent6">
              <a:lumMod val="20000"/>
              <a:lumOff val="80000"/>
            </a:schemeClr>
          </a:solidFill>
          <a:ln w="19050" algn="ctr">
            <a:noFill/>
            <a:miter lim="800000"/>
            <a:headEnd/>
            <a:tailEnd/>
          </a:ln>
          <a:effectLst/>
        </p:spPr>
        <p:txBody>
          <a:bodyPr lIns="90000" tIns="90000" rIns="90000" bIns="90000"/>
          <a:lstStyle/>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Identifying missing and null value in Restaurant data</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lang="en-US" sz="1200" dirty="0" err="1">
                <a:solidFill>
                  <a:srgbClr val="2E2E38"/>
                </a:solidFill>
                <a:latin typeface="Calibri" panose="020F0502020204030204" pitchFamily="34" charset="0"/>
                <a:cs typeface="Calibri" panose="020F0502020204030204" pitchFamily="34" charset="0"/>
              </a:rPr>
              <a:t>Eg</a:t>
            </a:r>
            <a:r>
              <a:rPr lang="en-US" sz="1200" dirty="0">
                <a:solidFill>
                  <a:srgbClr val="2E2E38"/>
                </a:solidFill>
                <a:latin typeface="Calibri" panose="020F0502020204030204" pitchFamily="34" charset="0"/>
                <a:cs typeface="Calibri" panose="020F0502020204030204" pitchFamily="34" charset="0"/>
              </a:rPr>
              <a:t>: M</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inimum</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value for the fields such as "</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average_cost_for_two</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price_range</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are zero (0) and "</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aggregate_rating</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"votes" are -1. Replacing 0 and -1 with Average ratings /</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NaN</a:t>
            </a:r>
            <a:endPar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endParaRPr>
          </a:p>
        </p:txBody>
      </p:sp>
      <p:sp>
        <p:nvSpPr>
          <p:cNvPr id="7" name="Rectangle 15">
            <a:extLst>
              <a:ext uri="{FF2B5EF4-FFF2-40B4-BE49-F238E27FC236}">
                <a16:creationId xmlns:a16="http://schemas.microsoft.com/office/drawing/2014/main" id="{8A94FD18-AAB0-489F-8C4C-DC860FC2A653}"/>
              </a:ext>
            </a:extLst>
          </p:cNvPr>
          <p:cNvSpPr>
            <a:spLocks noChangeArrowheads="1"/>
          </p:cNvSpPr>
          <p:nvPr/>
        </p:nvSpPr>
        <p:spPr bwMode="gray">
          <a:xfrm>
            <a:off x="4322327" y="2328488"/>
            <a:ext cx="3610386" cy="1490087"/>
          </a:xfrm>
          <a:prstGeom prst="rect">
            <a:avLst/>
          </a:prstGeom>
          <a:solidFill>
            <a:schemeClr val="accent6">
              <a:lumMod val="20000"/>
              <a:lumOff val="80000"/>
            </a:schemeClr>
          </a:solidFill>
          <a:ln w="19050" algn="ctr">
            <a:noFill/>
            <a:miter lim="800000"/>
            <a:headEnd/>
            <a:tailEnd/>
          </a:ln>
          <a:effectLst/>
        </p:spPr>
        <p:txBody>
          <a:bodyPr lIns="90000" tIns="90000" rIns="90000" bIns="90000"/>
          <a:lstStyle/>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Numerical imputation (Using Imputer )</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lang="en-US" sz="1200" dirty="0">
                <a:solidFill>
                  <a:srgbClr val="2E2E38"/>
                </a:solidFill>
                <a:latin typeface="Calibri" panose="020F0502020204030204" pitchFamily="34" charset="0"/>
                <a:cs typeface="Calibri" panose="020F0502020204030204" pitchFamily="34" charset="0"/>
              </a:rPr>
              <a:t>Managing outliers (Median)</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lang="en-US" sz="1200" dirty="0">
                <a:solidFill>
                  <a:srgbClr val="2E2E38"/>
                </a:solidFill>
                <a:latin typeface="Calibri" panose="020F0502020204030204" pitchFamily="34" charset="0"/>
                <a:cs typeface="Calibri" panose="020F0502020204030204" pitchFamily="34" charset="0"/>
              </a:rPr>
              <a:t>Combining features in one single vector feature (Average cost for two, rating, price range, votes )</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Normalization through Standard Scaler</a:t>
            </a:r>
            <a:endPar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endParaRPr>
          </a:p>
        </p:txBody>
      </p:sp>
      <p:sp>
        <p:nvSpPr>
          <p:cNvPr id="9" name="Rectangle 17">
            <a:extLst>
              <a:ext uri="{FF2B5EF4-FFF2-40B4-BE49-F238E27FC236}">
                <a16:creationId xmlns:a16="http://schemas.microsoft.com/office/drawing/2014/main" id="{FD44F198-7A26-4BD8-AEA3-6E00D8FD9504}"/>
              </a:ext>
            </a:extLst>
          </p:cNvPr>
          <p:cNvSpPr>
            <a:spLocks noChangeArrowheads="1"/>
          </p:cNvSpPr>
          <p:nvPr/>
        </p:nvSpPr>
        <p:spPr bwMode="gray">
          <a:xfrm>
            <a:off x="8255233" y="2385262"/>
            <a:ext cx="3639883" cy="1433313"/>
          </a:xfrm>
          <a:prstGeom prst="rect">
            <a:avLst/>
          </a:prstGeom>
          <a:solidFill>
            <a:schemeClr val="accent6">
              <a:lumMod val="20000"/>
              <a:lumOff val="80000"/>
            </a:schemeClr>
          </a:solidFill>
          <a:ln w="19050" algn="ctr">
            <a:noFill/>
            <a:miter lim="800000"/>
            <a:headEnd/>
            <a:tailEnd/>
          </a:ln>
          <a:effectLst/>
        </p:spPr>
        <p:txBody>
          <a:bodyPr lIns="90000" tIns="90000" rIns="90000" bIns="90000"/>
          <a:lstStyle/>
          <a:p>
            <a:pPr marL="0" marR="0" lvl="0" indent="0" algn="l" defTabSz="552435" rtl="0" eaLnBrk="1" fontAlgn="auto" latinLnBrk="0" hangingPunct="1">
              <a:lnSpc>
                <a:spcPct val="100000"/>
              </a:lnSpc>
              <a:spcBef>
                <a:spcPts val="0"/>
              </a:spcBef>
              <a:spcAft>
                <a:spcPts val="0"/>
              </a:spcAft>
              <a:buClr>
                <a:srgbClr val="FFE600"/>
              </a:buClr>
              <a:buSzPct val="70000"/>
              <a:buFont typeface="Arial" pitchFamily="34" charset="0"/>
              <a:buNone/>
              <a:tabLst/>
              <a:defRPr/>
            </a:pPr>
            <a:r>
              <a:rPr kumimoji="0" lang="sv-SE" sz="1200" b="1"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Imbalanced</a:t>
            </a:r>
            <a:r>
              <a:rPr kumimoji="0" lang="sv-SE" sz="1200" b="1"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data handling</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On </a:t>
            </a:r>
            <a:r>
              <a:rPr kumimoji="0" lang="sv-SE"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splitting</a:t>
            </a:r>
            <a:r>
              <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the data , </a:t>
            </a:r>
            <a:r>
              <a:rPr kumimoji="0" lang="sv-SE"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only</a:t>
            </a:r>
            <a:r>
              <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11.1% </a:t>
            </a:r>
            <a:r>
              <a:rPr kumimoji="0" lang="sv-SE"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were</a:t>
            </a:r>
            <a:r>
              <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negatives (</a:t>
            </a:r>
            <a:r>
              <a:rPr kumimoji="0" lang="sv-SE"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low</a:t>
            </a:r>
            <a:r>
              <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rating)) and 88.9% </a:t>
            </a:r>
            <a:r>
              <a:rPr kumimoji="0" lang="sv-SE"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were</a:t>
            </a:r>
            <a:r>
              <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positives</a:t>
            </a:r>
          </a:p>
          <a:p>
            <a:pPr marL="267319" lvl="0" indent="-267319" defTabSz="685434">
              <a:buClr>
                <a:srgbClr val="2E2E38">
                  <a:lumMod val="60000"/>
                  <a:lumOff val="40000"/>
                </a:srgbClr>
              </a:buClr>
              <a:buSzPct val="70000"/>
              <a:buFont typeface="Arial" pitchFamily="34" charset="0"/>
              <a:buChar char="►"/>
              <a:defRPr/>
            </a:pPr>
            <a:r>
              <a:rPr lang="en-US" sz="1200" dirty="0">
                <a:solidFill>
                  <a:srgbClr val="2E2E38"/>
                </a:solidFill>
                <a:latin typeface="Calibri" panose="020F0502020204030204" pitchFamily="34" charset="0"/>
                <a:cs typeface="Calibri" panose="020F0502020204030204" pitchFamily="34" charset="0"/>
              </a:rPr>
              <a:t>L</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ogistic</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loss objective </a:t>
            </a:r>
            <a:r>
              <a:rPr lang="en-US" sz="1200" dirty="0">
                <a:solidFill>
                  <a:srgbClr val="2E2E38"/>
                </a:solidFill>
                <a:latin typeface="Calibri" panose="020F0502020204030204" pitchFamily="34" charset="0"/>
                <a:cs typeface="Calibri" panose="020F0502020204030204" pitchFamily="34" charset="0"/>
              </a:rPr>
              <a:t>function treated the positive class </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with slightly higher weight. For this purpose we calculate the </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BalancingRatio</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as follows:</a:t>
            </a:r>
          </a:p>
          <a:p>
            <a:pPr marL="267319" marR="0" lvl="0" indent="-267319" algn="l" defTabSz="685434" rtl="0" eaLnBrk="1" fontAlgn="auto" latinLnBrk="0" hangingPunct="1">
              <a:lnSpc>
                <a:spcPct val="100000"/>
              </a:lnSpc>
              <a:spcBef>
                <a:spcPts val="0"/>
              </a:spcBef>
              <a:spcAft>
                <a:spcPts val="0"/>
              </a:spcAft>
              <a:buClr>
                <a:srgbClr val="2E2E38">
                  <a:lumMod val="60000"/>
                  <a:lumOff val="40000"/>
                </a:srgbClr>
              </a:buClr>
              <a:buSzPct val="70000"/>
              <a:buFont typeface="Arial" pitchFamily="34" charset="0"/>
              <a:buChar char="►"/>
              <a:tabLst/>
              <a:defRPr/>
            </a:pP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BalancingRatio</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 </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numNegatives</a:t>
            </a:r>
            <a:r>
              <a:rPr kumimoji="0" lang="en-US"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rPr>
              <a:t>/</a:t>
            </a:r>
            <a:r>
              <a:rPr kumimoji="0" lang="en-US" sz="1200" b="0" i="0" u="none" strike="noStrike" kern="1200" cap="none" spc="0" normalizeH="0" baseline="0" noProof="0" dirty="0" err="1">
                <a:ln>
                  <a:noFill/>
                </a:ln>
                <a:solidFill>
                  <a:srgbClr val="2E2E38"/>
                </a:solidFill>
                <a:effectLst/>
                <a:uLnTx/>
                <a:uFillTx/>
                <a:latin typeface="Calibri" panose="020F0502020204030204" pitchFamily="34" charset="0"/>
                <a:cs typeface="Calibri" panose="020F0502020204030204" pitchFamily="34" charset="0"/>
              </a:rPr>
              <a:t>dataset_size</a:t>
            </a:r>
            <a:endParaRPr kumimoji="0" lang="sv-SE" sz="1200" b="0" i="0" u="none" strike="noStrike" kern="1200" cap="none" spc="0" normalizeH="0" baseline="0" noProof="0" dirty="0">
              <a:ln>
                <a:noFill/>
              </a:ln>
              <a:solidFill>
                <a:srgbClr val="2E2E38"/>
              </a:solidFill>
              <a:effectLst/>
              <a:uLnTx/>
              <a:uFillTx/>
              <a:latin typeface="Calibri" panose="020F0502020204030204" pitchFamily="34" charset="0"/>
              <a:cs typeface="Calibri" panose="020F0502020204030204" pitchFamily="34" charset="0"/>
            </a:endParaRPr>
          </a:p>
        </p:txBody>
      </p:sp>
      <p:sp>
        <p:nvSpPr>
          <p:cNvPr id="10" name="Rectangle 13">
            <a:extLst>
              <a:ext uri="{FF2B5EF4-FFF2-40B4-BE49-F238E27FC236}">
                <a16:creationId xmlns:a16="http://schemas.microsoft.com/office/drawing/2014/main" id="{D2A12F64-BA75-4C6D-AA65-990666C0DADF}"/>
              </a:ext>
            </a:extLst>
          </p:cNvPr>
          <p:cNvSpPr>
            <a:spLocks noChangeArrowheads="1"/>
          </p:cNvSpPr>
          <p:nvPr/>
        </p:nvSpPr>
        <p:spPr bwMode="gray">
          <a:xfrm>
            <a:off x="296884" y="1978049"/>
            <a:ext cx="3639884" cy="367526"/>
          </a:xfrm>
          <a:prstGeom prst="rect">
            <a:avLst/>
          </a:prstGeom>
          <a:solidFill>
            <a:srgbClr val="FFC000"/>
          </a:solidFill>
          <a:ln w="19050" algn="ctr">
            <a:noFill/>
            <a:miter lim="800000"/>
            <a:headEnd/>
            <a:tailEnd/>
          </a:ln>
          <a:effectLst/>
        </p:spPr>
        <p:txBody>
          <a:bodyPr lIns="90000" tIns="90000" rIns="90000" bIns="90000"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GB" sz="1400" b="1" i="0" u="none" strike="noStrike" kern="0" cap="none" spc="0" normalizeH="0" baseline="0" noProof="0">
                <a:ln>
                  <a:noFill/>
                </a:ln>
                <a:effectLst/>
                <a:uLnTx/>
                <a:uFillTx/>
                <a:latin typeface="Calibri" panose="020F0502020204030204" pitchFamily="34" charset="0"/>
                <a:cs typeface="Calibri" panose="020F0502020204030204" pitchFamily="34" charset="0"/>
              </a:rPr>
              <a:t>Data Cleaning</a:t>
            </a:r>
          </a:p>
        </p:txBody>
      </p:sp>
      <p:sp>
        <p:nvSpPr>
          <p:cNvPr id="12" name="Rectangle 13">
            <a:extLst>
              <a:ext uri="{FF2B5EF4-FFF2-40B4-BE49-F238E27FC236}">
                <a16:creationId xmlns:a16="http://schemas.microsoft.com/office/drawing/2014/main" id="{1722DB87-12B5-4E06-9BF1-2928402CC053}"/>
              </a:ext>
            </a:extLst>
          </p:cNvPr>
          <p:cNvSpPr>
            <a:spLocks noChangeArrowheads="1"/>
          </p:cNvSpPr>
          <p:nvPr/>
        </p:nvSpPr>
        <p:spPr bwMode="gray">
          <a:xfrm>
            <a:off x="4328167" y="1978049"/>
            <a:ext cx="3604546" cy="371088"/>
          </a:xfrm>
          <a:prstGeom prst="rect">
            <a:avLst/>
          </a:prstGeom>
          <a:solidFill>
            <a:srgbClr val="FFC000"/>
          </a:solidFill>
          <a:ln w="19050" algn="ctr">
            <a:noFill/>
            <a:miter lim="800000"/>
            <a:headEnd/>
            <a:tailEnd/>
          </a:ln>
          <a:effectLst/>
        </p:spPr>
        <p:txBody>
          <a:bodyPr lIns="90000" tIns="90000" rIns="90000" bIns="90000"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GB" sz="1400" b="1" i="0" u="none" strike="noStrike" kern="0" cap="none" spc="0" normalizeH="0" baseline="0" noProof="0" dirty="0">
                <a:ln>
                  <a:noFill/>
                </a:ln>
                <a:effectLst/>
                <a:uLnTx/>
                <a:uFillTx/>
                <a:latin typeface="Calibri" panose="020F0502020204030204" pitchFamily="34" charset="0"/>
                <a:cs typeface="Calibri" panose="020F0502020204030204" pitchFamily="34" charset="0"/>
              </a:rPr>
              <a:t>Data processing</a:t>
            </a:r>
          </a:p>
        </p:txBody>
      </p:sp>
      <p:sp>
        <p:nvSpPr>
          <p:cNvPr id="13" name="Rectangle 13">
            <a:extLst>
              <a:ext uri="{FF2B5EF4-FFF2-40B4-BE49-F238E27FC236}">
                <a16:creationId xmlns:a16="http://schemas.microsoft.com/office/drawing/2014/main" id="{84BCF99F-2708-44AC-B2BB-46BA9D736AC7}"/>
              </a:ext>
            </a:extLst>
          </p:cNvPr>
          <p:cNvSpPr>
            <a:spLocks noChangeArrowheads="1"/>
          </p:cNvSpPr>
          <p:nvPr/>
        </p:nvSpPr>
        <p:spPr bwMode="gray">
          <a:xfrm>
            <a:off x="8255234" y="1978197"/>
            <a:ext cx="3639882" cy="407066"/>
          </a:xfrm>
          <a:prstGeom prst="rect">
            <a:avLst/>
          </a:prstGeom>
          <a:solidFill>
            <a:srgbClr val="FFC000"/>
          </a:solidFill>
          <a:ln w="19050" algn="ctr">
            <a:noFill/>
            <a:miter lim="800000"/>
            <a:headEnd/>
            <a:tailEnd/>
          </a:ln>
          <a:effectLst/>
        </p:spPr>
        <p:txBody>
          <a:bodyPr lIns="90000" tIns="90000" rIns="90000" bIns="90000"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GB" sz="1400" b="1" i="0" u="none" strike="noStrike" kern="0" cap="none" spc="0" normalizeH="0" baseline="0" noProof="0">
                <a:ln>
                  <a:noFill/>
                </a:ln>
                <a:effectLst/>
                <a:uLnTx/>
                <a:uFillTx/>
                <a:latin typeface="Calibri" panose="020F0502020204030204" pitchFamily="34" charset="0"/>
                <a:cs typeface="Calibri" panose="020F0502020204030204" pitchFamily="34" charset="0"/>
              </a:rPr>
              <a:t>Data </a:t>
            </a:r>
            <a:r>
              <a:rPr lang="en-GB" sz="1400" b="1" kern="0">
                <a:latin typeface="Calibri" panose="020F0502020204030204" pitchFamily="34" charset="0"/>
                <a:cs typeface="Calibri" panose="020F0502020204030204" pitchFamily="34" charset="0"/>
              </a:rPr>
              <a:t>selection &amp; standardization</a:t>
            </a:r>
            <a:endParaRPr kumimoji="0" lang="en-GB" sz="1400" b="1" i="0" u="none" strike="noStrike" kern="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41D440D1-E76C-4399-92B0-D0B74713D4DC}"/>
              </a:ext>
            </a:extLst>
          </p:cNvPr>
          <p:cNvSpPr/>
          <p:nvPr/>
        </p:nvSpPr>
        <p:spPr bwMode="auto">
          <a:xfrm>
            <a:off x="3880190" y="1060297"/>
            <a:ext cx="4535835" cy="579767"/>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lang="en-US" sz="1600" b="1">
                <a:solidFill>
                  <a:srgbClr val="4D4D4D"/>
                </a:solidFill>
                <a:latin typeface="Calibri" panose="020F0502020204030204" pitchFamily="34" charset="0"/>
                <a:cs typeface="Calibri" panose="020F0502020204030204" pitchFamily="34" charset="0"/>
              </a:rPr>
              <a:t>Raw Data </a:t>
            </a:r>
          </a:p>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400" b="0" i="0" u="none" strike="noStrike" cap="none" normalizeH="0" baseline="0">
                <a:ln>
                  <a:noFill/>
                </a:ln>
                <a:solidFill>
                  <a:srgbClr val="4D4D4D"/>
                </a:solidFill>
                <a:effectLst/>
                <a:latin typeface="Calibri" panose="020F0502020204030204" pitchFamily="34" charset="0"/>
                <a:cs typeface="Calibri" panose="020F0502020204030204" pitchFamily="34" charset="0"/>
              </a:rPr>
              <a:t>Food Outlet/Restaurant data, User data,  Order data</a:t>
            </a:r>
            <a:endParaRPr lang="en-US" sz="1400">
              <a:solidFill>
                <a:schemeClr val="tx1">
                  <a:lumMod val="50000"/>
                </a:schemeClr>
              </a:solidFill>
              <a:latin typeface="Calibri" panose="020F0502020204030204" pitchFamily="34" charset="0"/>
            </a:endParaRPr>
          </a:p>
        </p:txBody>
      </p:sp>
      <p:pic>
        <p:nvPicPr>
          <p:cNvPr id="29" name="Picture 28">
            <a:extLst>
              <a:ext uri="{FF2B5EF4-FFF2-40B4-BE49-F238E27FC236}">
                <a16:creationId xmlns:a16="http://schemas.microsoft.com/office/drawing/2014/main" id="{4EA888D5-90B6-4E9C-8E2E-1729B6453C4F}"/>
              </a:ext>
            </a:extLst>
          </p:cNvPr>
          <p:cNvPicPr>
            <a:picLocks noChangeAspect="1"/>
          </p:cNvPicPr>
          <p:nvPr/>
        </p:nvPicPr>
        <p:blipFill rotWithShape="1">
          <a:blip r:embed="rId3"/>
          <a:srcRect l="22730" t="22338" r="18474" b="23809"/>
          <a:stretch/>
        </p:blipFill>
        <p:spPr>
          <a:xfrm>
            <a:off x="296883" y="3909573"/>
            <a:ext cx="3598223" cy="2534005"/>
          </a:xfrm>
          <a:prstGeom prst="rect">
            <a:avLst/>
          </a:prstGeom>
        </p:spPr>
      </p:pic>
      <p:pic>
        <p:nvPicPr>
          <p:cNvPr id="31" name="Picture 30">
            <a:extLst>
              <a:ext uri="{FF2B5EF4-FFF2-40B4-BE49-F238E27FC236}">
                <a16:creationId xmlns:a16="http://schemas.microsoft.com/office/drawing/2014/main" id="{6F16543F-6B9B-4FB2-8C3B-5F68A1299BEF}"/>
              </a:ext>
            </a:extLst>
          </p:cNvPr>
          <p:cNvPicPr>
            <a:picLocks noChangeAspect="1"/>
          </p:cNvPicPr>
          <p:nvPr/>
        </p:nvPicPr>
        <p:blipFill rotWithShape="1">
          <a:blip r:embed="rId4"/>
          <a:srcRect l="22610" t="21991" r="17695" b="29351"/>
          <a:stretch/>
        </p:blipFill>
        <p:spPr>
          <a:xfrm>
            <a:off x="4229792" y="3816149"/>
            <a:ext cx="3639882" cy="2534005"/>
          </a:xfrm>
          <a:prstGeom prst="rect">
            <a:avLst/>
          </a:prstGeom>
        </p:spPr>
      </p:pic>
      <p:pic>
        <p:nvPicPr>
          <p:cNvPr id="33" name="Picture 32">
            <a:extLst>
              <a:ext uri="{FF2B5EF4-FFF2-40B4-BE49-F238E27FC236}">
                <a16:creationId xmlns:a16="http://schemas.microsoft.com/office/drawing/2014/main" id="{20396074-07F2-4463-98CE-F04D34DE92FF}"/>
              </a:ext>
            </a:extLst>
          </p:cNvPr>
          <p:cNvPicPr>
            <a:picLocks noChangeAspect="1"/>
          </p:cNvPicPr>
          <p:nvPr/>
        </p:nvPicPr>
        <p:blipFill rotWithShape="1">
          <a:blip r:embed="rId5"/>
          <a:srcRect l="22987" t="23784" r="22565" b="24502"/>
          <a:stretch/>
        </p:blipFill>
        <p:spPr>
          <a:xfrm>
            <a:off x="8255233" y="3909571"/>
            <a:ext cx="3853955" cy="2534005"/>
          </a:xfrm>
          <a:prstGeom prst="rect">
            <a:avLst/>
          </a:prstGeom>
        </p:spPr>
      </p:pic>
      <p:cxnSp>
        <p:nvCxnSpPr>
          <p:cNvPr id="35" name="Connector: Elbow 34">
            <a:extLst>
              <a:ext uri="{FF2B5EF4-FFF2-40B4-BE49-F238E27FC236}">
                <a16:creationId xmlns:a16="http://schemas.microsoft.com/office/drawing/2014/main" id="{FC852273-E136-4712-B422-F18A0FB19073}"/>
              </a:ext>
            </a:extLst>
          </p:cNvPr>
          <p:cNvCxnSpPr>
            <a:cxnSpLocks/>
            <a:stCxn id="15" idx="2"/>
            <a:endCxn id="10" idx="0"/>
          </p:cNvCxnSpPr>
          <p:nvPr/>
        </p:nvCxnSpPr>
        <p:spPr bwMode="auto">
          <a:xfrm rot="5400000">
            <a:off x="3963475" y="-206585"/>
            <a:ext cx="337985" cy="4031282"/>
          </a:xfrm>
          <a:prstGeom prst="bentConnector3">
            <a:avLst/>
          </a:prstGeom>
          <a:noFill/>
          <a:ln w="9525" cap="flat" cmpd="sng" algn="ctr">
            <a:solidFill>
              <a:schemeClr val="tx1"/>
            </a:solidFill>
            <a:prstDash val="solid"/>
            <a:round/>
            <a:headEnd type="none" w="med" len="med"/>
            <a:tailEnd type="triangle"/>
          </a:ln>
          <a:effectLst/>
        </p:spPr>
      </p:cxnSp>
      <p:cxnSp>
        <p:nvCxnSpPr>
          <p:cNvPr id="36" name="Connector: Elbow 35">
            <a:extLst>
              <a:ext uri="{FF2B5EF4-FFF2-40B4-BE49-F238E27FC236}">
                <a16:creationId xmlns:a16="http://schemas.microsoft.com/office/drawing/2014/main" id="{8C1E988D-2D44-4032-930B-BF08CD16252B}"/>
              </a:ext>
            </a:extLst>
          </p:cNvPr>
          <p:cNvCxnSpPr>
            <a:cxnSpLocks/>
          </p:cNvCxnSpPr>
          <p:nvPr/>
        </p:nvCxnSpPr>
        <p:spPr bwMode="auto">
          <a:xfrm rot="5400000">
            <a:off x="6056811" y="1874006"/>
            <a:ext cx="182563" cy="30"/>
          </a:xfrm>
          <a:prstGeom prst="bentConnector3">
            <a:avLst/>
          </a:prstGeom>
          <a:noFill/>
          <a:ln w="9525" cap="flat" cmpd="sng" algn="ctr">
            <a:solidFill>
              <a:schemeClr val="tx1"/>
            </a:solidFill>
            <a:prstDash val="solid"/>
            <a:round/>
            <a:headEnd type="none" w="med" len="med"/>
            <a:tailEnd type="triangle"/>
          </a:ln>
          <a:effectLst/>
        </p:spPr>
      </p:cxnSp>
      <p:cxnSp>
        <p:nvCxnSpPr>
          <p:cNvPr id="38" name="Connector: Elbow 37">
            <a:extLst>
              <a:ext uri="{FF2B5EF4-FFF2-40B4-BE49-F238E27FC236}">
                <a16:creationId xmlns:a16="http://schemas.microsoft.com/office/drawing/2014/main" id="{272EA64B-85AC-4114-B54A-1FD60D388AA9}"/>
              </a:ext>
            </a:extLst>
          </p:cNvPr>
          <p:cNvCxnSpPr>
            <a:cxnSpLocks/>
            <a:stCxn id="15" idx="2"/>
            <a:endCxn id="13" idx="0"/>
          </p:cNvCxnSpPr>
          <p:nvPr/>
        </p:nvCxnSpPr>
        <p:spPr bwMode="auto">
          <a:xfrm rot="16200000" flipH="1">
            <a:off x="7942575" y="-154404"/>
            <a:ext cx="338133" cy="3927067"/>
          </a:xfrm>
          <a:prstGeom prst="bentConnector3">
            <a:avLst>
              <a:gd name="adj1" fmla="val 50000"/>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017711703"/>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297E13-8057-0249-BE83-744748AA9C45}"/>
              </a:ext>
            </a:extLst>
          </p:cNvPr>
          <p:cNvSpPr>
            <a:spLocks noGrp="1"/>
          </p:cNvSpPr>
          <p:nvPr>
            <p:ph type="body" sz="quarter" idx="10"/>
          </p:nvPr>
        </p:nvSpPr>
        <p:spPr>
          <a:xfrm>
            <a:off x="2801694" y="2175024"/>
            <a:ext cx="4453227" cy="466344"/>
          </a:xfrm>
          <a:noFill/>
        </p:spPr>
        <p:txBody>
          <a:bodyPr/>
          <a:lstStyle/>
          <a:p>
            <a:r>
              <a:rPr lang="en-US"/>
              <a:t>Business &amp; Data Understanding</a:t>
            </a:r>
          </a:p>
        </p:txBody>
      </p:sp>
      <p:sp>
        <p:nvSpPr>
          <p:cNvPr id="3" name="Text Placeholder 2">
            <a:extLst>
              <a:ext uri="{FF2B5EF4-FFF2-40B4-BE49-F238E27FC236}">
                <a16:creationId xmlns:a16="http://schemas.microsoft.com/office/drawing/2014/main" id="{0FB72F3C-0713-8845-A7DB-7B70C4E306F6}"/>
              </a:ext>
            </a:extLst>
          </p:cNvPr>
          <p:cNvSpPr>
            <a:spLocks noGrp="1"/>
          </p:cNvSpPr>
          <p:nvPr>
            <p:ph type="body" sz="quarter" idx="11"/>
          </p:nvPr>
        </p:nvSpPr>
        <p:spPr>
          <a:xfrm>
            <a:off x="2801694" y="2752435"/>
            <a:ext cx="4453227" cy="466344"/>
          </a:xfrm>
        </p:spPr>
        <p:txBody>
          <a:bodyPr/>
          <a:lstStyle/>
          <a:p>
            <a:r>
              <a:rPr lang="en-US"/>
              <a:t>Data Preparation </a:t>
            </a:r>
          </a:p>
        </p:txBody>
      </p:sp>
      <p:sp>
        <p:nvSpPr>
          <p:cNvPr id="4" name="Text Placeholder 3">
            <a:extLst>
              <a:ext uri="{FF2B5EF4-FFF2-40B4-BE49-F238E27FC236}">
                <a16:creationId xmlns:a16="http://schemas.microsoft.com/office/drawing/2014/main" id="{8FC09673-D0CE-2943-9150-44A9049F1FE8}"/>
              </a:ext>
            </a:extLst>
          </p:cNvPr>
          <p:cNvSpPr>
            <a:spLocks noGrp="1"/>
          </p:cNvSpPr>
          <p:nvPr>
            <p:ph type="body" sz="quarter" idx="12"/>
          </p:nvPr>
        </p:nvSpPr>
        <p:spPr>
          <a:xfrm>
            <a:off x="2801694" y="3329846"/>
            <a:ext cx="4453227" cy="466344"/>
          </a:xfrm>
          <a:solidFill>
            <a:srgbClr val="FEA626">
              <a:alpha val="65882"/>
            </a:srgbClr>
          </a:solidFill>
        </p:spPr>
        <p:txBody>
          <a:bodyPr vert="horz" lIns="91440" tIns="45720" rIns="91440" bIns="45720" rtlCol="0">
            <a:normAutofit/>
          </a:bodyPr>
          <a:lstStyle/>
          <a:p>
            <a:r>
              <a:rPr lang="en-US" dirty="0"/>
              <a:t>The Modeling and Evaluation</a:t>
            </a:r>
          </a:p>
        </p:txBody>
      </p:sp>
      <p:sp>
        <p:nvSpPr>
          <p:cNvPr id="6" name="Text Placeholder 5">
            <a:extLst>
              <a:ext uri="{FF2B5EF4-FFF2-40B4-BE49-F238E27FC236}">
                <a16:creationId xmlns:a16="http://schemas.microsoft.com/office/drawing/2014/main" id="{D0B87B07-F4AF-F246-9686-BAADFAE1760C}"/>
              </a:ext>
            </a:extLst>
          </p:cNvPr>
          <p:cNvSpPr>
            <a:spLocks noGrp="1"/>
          </p:cNvSpPr>
          <p:nvPr>
            <p:ph type="body" sz="quarter" idx="14"/>
          </p:nvPr>
        </p:nvSpPr>
        <p:spPr>
          <a:xfrm>
            <a:off x="2801694" y="3907257"/>
            <a:ext cx="4453227" cy="466344"/>
          </a:xfrm>
        </p:spPr>
        <p:txBody>
          <a:bodyPr/>
          <a:lstStyle/>
          <a:p>
            <a:r>
              <a:rPr lang="en-US"/>
              <a:t>Deployment</a:t>
            </a:r>
          </a:p>
        </p:txBody>
      </p:sp>
      <p:sp>
        <p:nvSpPr>
          <p:cNvPr id="7" name="Text Placeholder 5">
            <a:extLst>
              <a:ext uri="{FF2B5EF4-FFF2-40B4-BE49-F238E27FC236}">
                <a16:creationId xmlns:a16="http://schemas.microsoft.com/office/drawing/2014/main" id="{59454E4C-D7CA-D246-8236-2DA343BEFAD7}"/>
              </a:ext>
            </a:extLst>
          </p:cNvPr>
          <p:cNvSpPr txBox="1">
            <a:spLocks/>
          </p:cNvSpPr>
          <p:nvPr/>
        </p:nvSpPr>
        <p:spPr>
          <a:xfrm>
            <a:off x="2801694" y="4484666"/>
            <a:ext cx="4453227" cy="466344"/>
          </a:xfrm>
          <a:prstGeom prst="rect">
            <a:avLst/>
          </a:prstGeom>
        </p:spPr>
        <p:txBody>
          <a:bodyPr vert="horz" lIns="91440" tIns="45720" rIns="91440" bIns="45720" rtlCol="0">
            <a:normAutofit/>
          </a:bodyPr>
          <a:lstStyle>
            <a:lvl1pPr algn="l" defTabSz="912813" rtl="0" eaLnBrk="1" fontAlgn="auto" hangingPunct="1">
              <a:spcBef>
                <a:spcPts val="0"/>
              </a:spcBef>
              <a:spcAft>
                <a:spcPts val="0"/>
              </a:spcAft>
              <a:buClrTx/>
              <a:buSzTx/>
              <a:buFontTx/>
              <a:buNone/>
              <a:defRPr lang="en-US" sz="2400">
                <a:solidFill>
                  <a:schemeClr val="tx1">
                    <a:lumMod val="75000"/>
                  </a:schemeClr>
                </a:solidFill>
                <a:latin typeface="Calibri" pitchFamily="34" charset="0"/>
                <a:ea typeface="+mn-ea"/>
                <a:cs typeface="+mn-cs"/>
              </a:defRPr>
            </a:lvl1pPr>
            <a:lvl2pPr marL="742950" indent="-285750" algn="l" defTabSz="912813" rtl="0" eaLnBrk="1" fontAlgn="base" hangingPunct="1">
              <a:spcBef>
                <a:spcPct val="20000"/>
              </a:spcBef>
              <a:spcAft>
                <a:spcPct val="0"/>
              </a:spcAft>
              <a:buClr>
                <a:schemeClr val="accent1"/>
              </a:buClr>
              <a:buSzPct val="90000"/>
              <a:buFontTx/>
              <a:buBlip>
                <a:blip r:embed="rId2"/>
              </a:buBlip>
              <a:defRPr lang="en-US" sz="1600" dirty="0" smtClean="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r>
              <a:rPr lang="en-IN" kern="0"/>
              <a:t>Monitoring and Maintenance </a:t>
            </a:r>
          </a:p>
        </p:txBody>
      </p:sp>
    </p:spTree>
    <p:extLst>
      <p:ext uri="{BB962C8B-B14F-4D97-AF65-F5344CB8AC3E}">
        <p14:creationId xmlns:p14="http://schemas.microsoft.com/office/powerpoint/2010/main" val="4092690407"/>
      </p:ext>
    </p:extLst>
  </p:cSld>
  <p:clrMapOvr>
    <a:masterClrMapping/>
  </p:clrMapOvr>
  <p:transition advClick="0">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D45FE3-6D48-8540-A57C-177D7EF939E4}"/>
              </a:ext>
            </a:extLst>
          </p:cNvPr>
          <p:cNvSpPr>
            <a:spLocks noGrp="1"/>
          </p:cNvSpPr>
          <p:nvPr>
            <p:ph type="body" sz="quarter" idx="10"/>
          </p:nvPr>
        </p:nvSpPr>
        <p:spPr/>
        <p:txBody>
          <a:bodyPr anchor="ctr"/>
          <a:lstStyle/>
          <a:p>
            <a:r>
              <a:rPr lang="en-US" dirty="0"/>
              <a:t>The Modeling and Evaluation</a:t>
            </a:r>
          </a:p>
        </p:txBody>
      </p:sp>
    </p:spTree>
    <p:extLst>
      <p:ext uri="{BB962C8B-B14F-4D97-AF65-F5344CB8AC3E}">
        <p14:creationId xmlns:p14="http://schemas.microsoft.com/office/powerpoint/2010/main" val="3656336495"/>
      </p:ext>
    </p:extLst>
  </p:cSld>
  <p:clrMapOvr>
    <a:masterClrMapping/>
  </p:clrMapOvr>
  <p:transition advClick="0">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401EE-7268-D44B-9217-25D6E78D3BDE}"/>
              </a:ext>
            </a:extLst>
          </p:cNvPr>
          <p:cNvSpPr>
            <a:spLocks noGrp="1"/>
          </p:cNvSpPr>
          <p:nvPr>
            <p:ph type="title"/>
          </p:nvPr>
        </p:nvSpPr>
        <p:spPr/>
        <p:txBody>
          <a:bodyPr/>
          <a:lstStyle/>
          <a:p>
            <a:r>
              <a:rPr lang="en-US" dirty="0"/>
              <a:t>Modeling - Quality Measures &amp; Evaluation</a:t>
            </a:r>
          </a:p>
        </p:txBody>
      </p:sp>
      <p:sp>
        <p:nvSpPr>
          <p:cNvPr id="3" name="Text Placeholder 2">
            <a:extLst>
              <a:ext uri="{FF2B5EF4-FFF2-40B4-BE49-F238E27FC236}">
                <a16:creationId xmlns:a16="http://schemas.microsoft.com/office/drawing/2014/main" id="{7C068D5A-7494-5140-8527-7447E4682B33}"/>
              </a:ext>
            </a:extLst>
          </p:cNvPr>
          <p:cNvSpPr>
            <a:spLocks noGrp="1"/>
          </p:cNvSpPr>
          <p:nvPr>
            <p:ph type="body" sz="quarter" idx="10"/>
          </p:nvPr>
        </p:nvSpPr>
        <p:spPr>
          <a:xfrm>
            <a:off x="220980" y="1106806"/>
            <a:ext cx="5737859" cy="5027294"/>
          </a:xfrm>
        </p:spPr>
        <p:style>
          <a:lnRef idx="2">
            <a:schemeClr val="accent6"/>
          </a:lnRef>
          <a:fillRef idx="1">
            <a:schemeClr val="lt1"/>
          </a:fillRef>
          <a:effectRef idx="0">
            <a:schemeClr val="accent6"/>
          </a:effectRef>
          <a:fontRef idx="minor">
            <a:schemeClr val="dk1"/>
          </a:fontRef>
        </p:style>
        <p:txBody>
          <a:bodyPr>
            <a:normAutofit fontScale="70000" lnSpcReduction="20000"/>
          </a:bodyPr>
          <a:lstStyle/>
          <a:p>
            <a:pPr marL="342900" indent="-342900">
              <a:lnSpc>
                <a:spcPct val="150000"/>
              </a:lnSpc>
              <a:buFont typeface="Arial" panose="020B0604020202020204" pitchFamily="34" charset="0"/>
              <a:buChar char="•"/>
            </a:pPr>
            <a:r>
              <a:rPr lang="en-US" sz="3200" dirty="0"/>
              <a:t>Performance [</a:t>
            </a:r>
            <a:r>
              <a:rPr lang="en-US" sz="3200" dirty="0">
                <a:hlinkClick r:id="rId3"/>
              </a:rPr>
              <a:t>ref</a:t>
            </a:r>
            <a:r>
              <a:rPr lang="en-US" sz="3200" dirty="0"/>
              <a:t>]</a:t>
            </a:r>
          </a:p>
          <a:p>
            <a:pPr marL="971550" lvl="1" indent="-342900">
              <a:lnSpc>
                <a:spcPct val="150000"/>
              </a:lnSpc>
              <a:buFont typeface="Arial" panose="020B0604020202020204" pitchFamily="34" charset="0"/>
              <a:buChar char="•"/>
            </a:pPr>
            <a:r>
              <a:rPr lang="en-US" sz="2400" dirty="0"/>
              <a:t>F1 Score</a:t>
            </a:r>
          </a:p>
          <a:p>
            <a:pPr marL="971550" lvl="1" indent="-342900">
              <a:lnSpc>
                <a:spcPct val="150000"/>
              </a:lnSpc>
              <a:buFont typeface="Arial" panose="020B0604020202020204" pitchFamily="34" charset="0"/>
              <a:buChar char="•"/>
            </a:pPr>
            <a:r>
              <a:rPr lang="en-US" sz="2400" dirty="0"/>
              <a:t>Confusion Matrix</a:t>
            </a:r>
          </a:p>
          <a:p>
            <a:pPr marL="971550" lvl="1" indent="-342900">
              <a:lnSpc>
                <a:spcPct val="150000"/>
              </a:lnSpc>
              <a:buFont typeface="Arial" panose="020B0604020202020204" pitchFamily="34" charset="0"/>
              <a:buChar char="•"/>
            </a:pPr>
            <a:r>
              <a:rPr lang="en-US" sz="2400" dirty="0"/>
              <a:t>Mean Square Error</a:t>
            </a:r>
          </a:p>
          <a:p>
            <a:pPr marL="342900" indent="-342900">
              <a:lnSpc>
                <a:spcPct val="150000"/>
              </a:lnSpc>
              <a:buFont typeface="Arial" panose="020B0604020202020204" pitchFamily="34" charset="0"/>
              <a:buChar char="•"/>
            </a:pPr>
            <a:r>
              <a:rPr lang="en-US" sz="3200" dirty="0"/>
              <a:t>Robustness</a:t>
            </a:r>
          </a:p>
          <a:p>
            <a:pPr marL="971550" lvl="1" indent="-342900">
              <a:lnSpc>
                <a:spcPct val="150000"/>
              </a:lnSpc>
              <a:buFont typeface="Arial" panose="020B0604020202020204" pitchFamily="34" charset="0"/>
              <a:buChar char="•"/>
            </a:pPr>
            <a:r>
              <a:rPr lang="en-US" sz="2400" dirty="0"/>
              <a:t>Dataset sanctity</a:t>
            </a:r>
          </a:p>
          <a:p>
            <a:pPr marL="971550" lvl="1" indent="-342900">
              <a:lnSpc>
                <a:spcPct val="150000"/>
              </a:lnSpc>
              <a:buFont typeface="Arial" panose="020B0604020202020204" pitchFamily="34" charset="0"/>
              <a:buChar char="•"/>
            </a:pPr>
            <a:r>
              <a:rPr lang="en-US" sz="2400" dirty="0"/>
              <a:t>Detection, Prevention against shilling attacks [</a:t>
            </a:r>
            <a:r>
              <a:rPr lang="en-US" sz="2400" dirty="0">
                <a:hlinkClick r:id="rId4"/>
              </a:rPr>
              <a:t>ref</a:t>
            </a:r>
            <a:r>
              <a:rPr lang="en-US" sz="2400" dirty="0"/>
              <a:t>]</a:t>
            </a:r>
          </a:p>
          <a:p>
            <a:pPr marL="342900" indent="-342900">
              <a:lnSpc>
                <a:spcPct val="150000"/>
              </a:lnSpc>
              <a:buFont typeface="Arial" panose="020B0604020202020204" pitchFamily="34" charset="0"/>
              <a:buChar char="•"/>
            </a:pPr>
            <a:r>
              <a:rPr lang="en-US" sz="3200" dirty="0"/>
              <a:t>Scalability</a:t>
            </a:r>
          </a:p>
          <a:p>
            <a:pPr marL="971550" lvl="1" indent="-342900">
              <a:lnSpc>
                <a:spcPct val="150000"/>
              </a:lnSpc>
              <a:buFont typeface="Arial" panose="020B0604020202020204" pitchFamily="34" charset="0"/>
              <a:buChar char="•"/>
            </a:pPr>
            <a:r>
              <a:rPr lang="en-US" sz="2400" dirty="0"/>
              <a:t>Distributed computing</a:t>
            </a:r>
          </a:p>
          <a:p>
            <a:pPr marL="971550" lvl="1" indent="-342900">
              <a:lnSpc>
                <a:spcPct val="150000"/>
              </a:lnSpc>
              <a:buFont typeface="Arial" panose="020B0604020202020204" pitchFamily="34" charset="0"/>
              <a:buChar char="•"/>
            </a:pPr>
            <a:r>
              <a:rPr lang="en-US" sz="2400" dirty="0"/>
              <a:t>Scalable algorithms</a:t>
            </a:r>
          </a:p>
          <a:p>
            <a:pPr marL="971550" lvl="1" indent="-342900">
              <a:lnSpc>
                <a:spcPct val="150000"/>
              </a:lnSpc>
              <a:buFont typeface="Arial" panose="020B0604020202020204" pitchFamily="34" charset="0"/>
              <a:buChar char="•"/>
            </a:pPr>
            <a:r>
              <a:rPr lang="en-US" sz="2400" dirty="0"/>
              <a:t>Separation of Concerns at Infra level</a:t>
            </a:r>
          </a:p>
          <a:p>
            <a:pPr marL="342900" indent="-342900">
              <a:lnSpc>
                <a:spcPct val="150000"/>
              </a:lnSpc>
              <a:buFont typeface="Arial" panose="020B0604020202020204" pitchFamily="34" charset="0"/>
              <a:buChar char="•"/>
            </a:pPr>
            <a:endParaRPr lang="en-US" sz="3200" dirty="0"/>
          </a:p>
        </p:txBody>
      </p:sp>
      <p:sp>
        <p:nvSpPr>
          <p:cNvPr id="5" name="Text Placeholder 2">
            <a:extLst>
              <a:ext uri="{FF2B5EF4-FFF2-40B4-BE49-F238E27FC236}">
                <a16:creationId xmlns:a16="http://schemas.microsoft.com/office/drawing/2014/main" id="{5DC9376C-75E2-2B40-8E7C-452A235235D7}"/>
              </a:ext>
            </a:extLst>
          </p:cNvPr>
          <p:cNvSpPr txBox="1">
            <a:spLocks/>
          </p:cNvSpPr>
          <p:nvPr/>
        </p:nvSpPr>
        <p:spPr>
          <a:xfrm>
            <a:off x="6233163" y="1106806"/>
            <a:ext cx="5737859" cy="502729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55000" lnSpcReduction="20000"/>
          </a:bodyPr>
          <a:lstStyle>
            <a:lvl1pPr algn="l" defTabSz="912813" rtl="0" eaLnBrk="1" fontAlgn="base" hangingPunct="1">
              <a:spcBef>
                <a:spcPct val="20000"/>
              </a:spcBef>
              <a:spcAft>
                <a:spcPct val="0"/>
              </a:spcAft>
              <a:buClr>
                <a:schemeClr val="accent1"/>
              </a:buClr>
              <a:defRPr lang="en-US" sz="2400">
                <a:solidFill>
                  <a:schemeClr val="tx1">
                    <a:lumMod val="75000"/>
                  </a:schemeClr>
                </a:solidFill>
                <a:latin typeface="Calibri" pitchFamily="34" charset="0"/>
                <a:ea typeface="+mn-ea"/>
                <a:cs typeface="+mn-cs"/>
              </a:defRPr>
            </a:lvl1pPr>
            <a:lvl2pPr marL="628650" indent="-171450" algn="l" defTabSz="912813" rtl="0" eaLnBrk="1" fontAlgn="base" hangingPunct="1">
              <a:spcBef>
                <a:spcPct val="20000"/>
              </a:spcBef>
              <a:spcAft>
                <a:spcPct val="0"/>
              </a:spcAft>
              <a:buClr>
                <a:schemeClr val="accent1"/>
              </a:buClr>
              <a:buSzPct val="60000"/>
              <a:buFontTx/>
              <a:buBlip>
                <a:blip r:embed="rId5"/>
              </a:buBlip>
              <a:defRPr lang="en-US" sz="160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5"/>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5"/>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5"/>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pPr marL="342900" indent="-342900">
              <a:lnSpc>
                <a:spcPct val="150000"/>
              </a:lnSpc>
              <a:buFont typeface="Arial" panose="020B0604020202020204" pitchFamily="34" charset="0"/>
              <a:buChar char="•"/>
            </a:pPr>
            <a:r>
              <a:rPr lang="en-IN" sz="3200" kern="0" dirty="0"/>
              <a:t>Model </a:t>
            </a:r>
            <a:r>
              <a:rPr lang="en-IN" sz="3200" kern="0" err="1"/>
              <a:t>Explainability</a:t>
            </a:r>
            <a:r>
              <a:rPr lang="en-IN" sz="3200" kern="0" dirty="0"/>
              <a:t> [</a:t>
            </a:r>
            <a:r>
              <a:rPr lang="en-IN" sz="3200" kern="0" dirty="0">
                <a:hlinkClick r:id="rId6"/>
              </a:rPr>
              <a:t>ref</a:t>
            </a:r>
            <a:r>
              <a:rPr lang="en-IN" sz="3200" kern="0" dirty="0"/>
              <a:t>] </a:t>
            </a:r>
          </a:p>
          <a:p>
            <a:pPr marL="971550" lvl="1" indent="-342900">
              <a:lnSpc>
                <a:spcPct val="150000"/>
              </a:lnSpc>
              <a:buFont typeface="Arial" panose="020B0604020202020204" pitchFamily="34" charset="0"/>
              <a:buChar char="•"/>
            </a:pPr>
            <a:r>
              <a:rPr lang="en-IN" sz="2400" kern="0" dirty="0"/>
              <a:t>Feature Importance</a:t>
            </a:r>
          </a:p>
          <a:p>
            <a:pPr marL="971550" lvl="1" indent="-342900">
              <a:lnSpc>
                <a:spcPct val="150000"/>
              </a:lnSpc>
              <a:buFont typeface="Arial" panose="020B0604020202020204" pitchFamily="34" charset="0"/>
              <a:buChar char="•"/>
            </a:pPr>
            <a:r>
              <a:rPr lang="en-IN" sz="2400" kern="0" dirty="0"/>
              <a:t>Counterfactual Explanations</a:t>
            </a:r>
          </a:p>
          <a:p>
            <a:pPr marL="971550" lvl="1" indent="-342900">
              <a:lnSpc>
                <a:spcPct val="150000"/>
              </a:lnSpc>
              <a:buFont typeface="Arial" panose="020B0604020202020204" pitchFamily="34" charset="0"/>
              <a:buChar char="•"/>
            </a:pPr>
            <a:r>
              <a:rPr lang="en-IN" sz="2400" kern="0" dirty="0"/>
              <a:t>Adversarial Perturbations</a:t>
            </a:r>
          </a:p>
          <a:p>
            <a:pPr marL="342900" indent="-342900">
              <a:lnSpc>
                <a:spcPct val="150000"/>
              </a:lnSpc>
              <a:buFont typeface="Arial" panose="020B0604020202020204" pitchFamily="34" charset="0"/>
              <a:buChar char="•"/>
            </a:pPr>
            <a:r>
              <a:rPr lang="en-IN" sz="3200" kern="0" dirty="0"/>
              <a:t>Model Complexity</a:t>
            </a:r>
          </a:p>
          <a:p>
            <a:pPr marL="971550" lvl="1" indent="-342900">
              <a:lnSpc>
                <a:spcPct val="150000"/>
              </a:lnSpc>
              <a:buFont typeface="Arial" panose="020B0604020202020204" pitchFamily="34" charset="0"/>
              <a:buChar char="•"/>
            </a:pPr>
            <a:r>
              <a:rPr lang="en-IN" sz="2400" kern="0" dirty="0"/>
              <a:t>Multi-model recommender system</a:t>
            </a:r>
          </a:p>
          <a:p>
            <a:pPr marL="971550" lvl="1" indent="-342900">
              <a:lnSpc>
                <a:spcPct val="150000"/>
              </a:lnSpc>
              <a:buFont typeface="Arial" panose="020B0604020202020204" pitchFamily="34" charset="0"/>
              <a:buChar char="•"/>
            </a:pPr>
            <a:r>
              <a:rPr lang="en-IN" sz="2400" kern="0" dirty="0"/>
              <a:t>Real-time Consolidator (Conditioner) layer</a:t>
            </a:r>
          </a:p>
          <a:p>
            <a:pPr marL="971550" lvl="1" indent="-342900">
              <a:lnSpc>
                <a:spcPct val="150000"/>
              </a:lnSpc>
              <a:buFont typeface="Arial" panose="020B0604020202020204" pitchFamily="34" charset="0"/>
              <a:buChar char="•"/>
            </a:pPr>
            <a:r>
              <a:rPr lang="en-IN" sz="2400" kern="0" dirty="0"/>
              <a:t>Real-time reducer layer</a:t>
            </a:r>
          </a:p>
          <a:p>
            <a:pPr marL="971550" lvl="1" indent="-342900">
              <a:lnSpc>
                <a:spcPct val="150000"/>
              </a:lnSpc>
              <a:buFont typeface="Arial" panose="020B0604020202020204" pitchFamily="34" charset="0"/>
              <a:buChar char="•"/>
            </a:pPr>
            <a:r>
              <a:rPr lang="en-IN" sz="2400" kern="0" dirty="0"/>
              <a:t>Hit/miss ratio feedback mechanism</a:t>
            </a:r>
          </a:p>
          <a:p>
            <a:pPr marL="342900" indent="-342900">
              <a:lnSpc>
                <a:spcPct val="150000"/>
              </a:lnSpc>
              <a:buFont typeface="Arial" panose="020B0604020202020204" pitchFamily="34" charset="0"/>
              <a:buChar char="•"/>
            </a:pPr>
            <a:r>
              <a:rPr lang="en-IN" sz="3200" kern="0" dirty="0"/>
              <a:t>Resource Demand</a:t>
            </a:r>
          </a:p>
          <a:p>
            <a:pPr marL="971550" lvl="1" indent="-342900">
              <a:lnSpc>
                <a:spcPct val="150000"/>
              </a:lnSpc>
              <a:buFont typeface="Arial" panose="020B0604020202020204" pitchFamily="34" charset="0"/>
              <a:buChar char="•"/>
            </a:pPr>
            <a:r>
              <a:rPr lang="en-IN" sz="2400" kern="0" dirty="0"/>
              <a:t>Hybrid Deployment Model</a:t>
            </a:r>
          </a:p>
          <a:p>
            <a:pPr marL="971550" lvl="1" indent="-342900">
              <a:lnSpc>
                <a:spcPct val="150000"/>
              </a:lnSpc>
              <a:buFont typeface="Arial" panose="020B0604020202020204" pitchFamily="34" charset="0"/>
              <a:buChar char="•"/>
            </a:pPr>
            <a:r>
              <a:rPr lang="en-IN" sz="2400" kern="0" dirty="0"/>
              <a:t>High compute power on training system</a:t>
            </a:r>
          </a:p>
          <a:p>
            <a:pPr marL="971550" lvl="1" indent="-342900">
              <a:lnSpc>
                <a:spcPct val="150000"/>
              </a:lnSpc>
              <a:buFont typeface="Arial" panose="020B0604020202020204" pitchFamily="34" charset="0"/>
              <a:buChar char="•"/>
            </a:pPr>
            <a:r>
              <a:rPr lang="en-IN" sz="2400" kern="0" dirty="0"/>
              <a:t>Low Compute power, High Network power on prediction engines </a:t>
            </a:r>
          </a:p>
        </p:txBody>
      </p:sp>
      <p:sp>
        <p:nvSpPr>
          <p:cNvPr id="4" name="TextBox 3">
            <a:extLst>
              <a:ext uri="{FF2B5EF4-FFF2-40B4-BE49-F238E27FC236}">
                <a16:creationId xmlns:a16="http://schemas.microsoft.com/office/drawing/2014/main" id="{A40AA457-96DD-8C4C-ADFA-58E1EB82698D}"/>
              </a:ext>
            </a:extLst>
          </p:cNvPr>
          <p:cNvSpPr txBox="1"/>
          <p:nvPr/>
        </p:nvSpPr>
        <p:spPr>
          <a:xfrm>
            <a:off x="304800" y="6226629"/>
            <a:ext cx="7019109" cy="269965"/>
          </a:xfrm>
          <a:prstGeom prst="rect">
            <a:avLst/>
          </a:prstGeom>
          <a:noFill/>
        </p:spPr>
        <p:txBody>
          <a:bodyPr wrap="square" rtlCol="0">
            <a:noAutofit/>
          </a:bodyPr>
          <a:lstStyle/>
          <a:p>
            <a:r>
              <a:rPr lang="en-US" sz="1200" i="1" dirty="0">
                <a:solidFill>
                  <a:schemeClr val="tx2">
                    <a:lumMod val="50000"/>
                  </a:schemeClr>
                </a:solidFill>
              </a:rPr>
              <a:t>* Existing research included in references</a:t>
            </a:r>
          </a:p>
        </p:txBody>
      </p:sp>
    </p:spTree>
    <p:extLst>
      <p:ext uri="{BB962C8B-B14F-4D97-AF65-F5344CB8AC3E}">
        <p14:creationId xmlns:p14="http://schemas.microsoft.com/office/powerpoint/2010/main" val="2830578814"/>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401EE-7268-D44B-9217-25D6E78D3BDE}"/>
              </a:ext>
            </a:extLst>
          </p:cNvPr>
          <p:cNvSpPr>
            <a:spLocks noGrp="1"/>
          </p:cNvSpPr>
          <p:nvPr>
            <p:ph type="title"/>
          </p:nvPr>
        </p:nvSpPr>
        <p:spPr/>
        <p:txBody>
          <a:bodyPr/>
          <a:lstStyle/>
          <a:p>
            <a:r>
              <a:rPr lang="en-US"/>
              <a:t>Modeling</a:t>
            </a:r>
          </a:p>
        </p:txBody>
      </p:sp>
      <p:sp>
        <p:nvSpPr>
          <p:cNvPr id="3" name="Text Placeholder 2">
            <a:extLst>
              <a:ext uri="{FF2B5EF4-FFF2-40B4-BE49-F238E27FC236}">
                <a16:creationId xmlns:a16="http://schemas.microsoft.com/office/drawing/2014/main" id="{7C068D5A-7494-5140-8527-7447E4682B33}"/>
              </a:ext>
            </a:extLst>
          </p:cNvPr>
          <p:cNvSpPr>
            <a:spLocks noGrp="1"/>
          </p:cNvSpPr>
          <p:nvPr>
            <p:ph type="body" sz="quarter" idx="10"/>
          </p:nvPr>
        </p:nvSpPr>
        <p:spPr>
          <a:xfrm>
            <a:off x="220980" y="1106806"/>
            <a:ext cx="5751557" cy="5027294"/>
          </a:xfrm>
        </p:spPr>
        <p:style>
          <a:lnRef idx="2">
            <a:schemeClr val="accent6"/>
          </a:lnRef>
          <a:fillRef idx="1">
            <a:schemeClr val="lt1"/>
          </a:fillRef>
          <a:effectRef idx="0">
            <a:schemeClr val="accent6"/>
          </a:effectRef>
          <a:fontRef idx="minor">
            <a:schemeClr val="dk1"/>
          </a:fontRef>
        </p:style>
        <p:txBody>
          <a:bodyPr>
            <a:normAutofit fontScale="40000" lnSpcReduction="20000"/>
          </a:bodyPr>
          <a:lstStyle/>
          <a:p>
            <a:pPr marL="342900" indent="-342900">
              <a:lnSpc>
                <a:spcPct val="150000"/>
              </a:lnSpc>
              <a:buFont typeface="Arial" panose="020B0604020202020204" pitchFamily="34" charset="0"/>
              <a:buChar char="•"/>
            </a:pPr>
            <a:r>
              <a:rPr lang="en-US" sz="4000" dirty="0"/>
              <a:t>Model Selection</a:t>
            </a:r>
          </a:p>
          <a:p>
            <a:pPr marL="971550" lvl="1" indent="-342900">
              <a:lnSpc>
                <a:spcPct val="150000"/>
              </a:lnSpc>
              <a:buFont typeface="Courier New" panose="02070309020205020404" pitchFamily="49" charset="0"/>
              <a:buChar char="o"/>
            </a:pPr>
            <a:r>
              <a:rPr lang="en-US" sz="3500" dirty="0"/>
              <a:t>Collaborative filtering with</a:t>
            </a:r>
            <a:r>
              <a:rPr lang="en-US" sz="2500" dirty="0"/>
              <a:t> </a:t>
            </a:r>
            <a:r>
              <a:rPr lang="en-US" sz="4000" dirty="0"/>
              <a:t>ALS-WR</a:t>
            </a:r>
            <a:endParaRPr lang="en-US" sz="2500" dirty="0"/>
          </a:p>
          <a:p>
            <a:pPr marL="1543050" lvl="2" indent="-342900">
              <a:lnSpc>
                <a:spcPct val="150000"/>
              </a:lnSpc>
              <a:buFont typeface="Wingdings" pitchFamily="2" charset="2"/>
              <a:buChar char="§"/>
            </a:pPr>
            <a:r>
              <a:rPr lang="en-US" sz="3500" dirty="0"/>
              <a:t>user ratings of food items</a:t>
            </a:r>
          </a:p>
          <a:p>
            <a:pPr marL="1543050" lvl="2" indent="-342900">
              <a:lnSpc>
                <a:spcPct val="150000"/>
              </a:lnSpc>
              <a:buFont typeface="Wingdings" pitchFamily="2" charset="2"/>
              <a:buChar char="§"/>
            </a:pPr>
            <a:r>
              <a:rPr lang="en-US" sz="3500" dirty="0"/>
              <a:t>user ratings of restaurants</a:t>
            </a:r>
          </a:p>
          <a:p>
            <a:pPr marL="971550" lvl="1" indent="-342900">
              <a:lnSpc>
                <a:spcPct val="150000"/>
              </a:lnSpc>
              <a:buFont typeface="Courier New" panose="02070309020205020404" pitchFamily="49" charset="0"/>
              <a:buChar char="o"/>
            </a:pPr>
            <a:r>
              <a:rPr lang="en-US" sz="3500" dirty="0"/>
              <a:t>FPM (Association Mapping) </a:t>
            </a:r>
          </a:p>
          <a:p>
            <a:pPr marL="1543050" lvl="2" indent="-342900">
              <a:lnSpc>
                <a:spcPct val="150000"/>
              </a:lnSpc>
              <a:buFont typeface="Wingdings" pitchFamily="2" charset="2"/>
              <a:buChar char="§"/>
            </a:pPr>
            <a:r>
              <a:rPr lang="en-US" sz="3500" dirty="0"/>
              <a:t>Food item set per order</a:t>
            </a:r>
          </a:p>
          <a:p>
            <a:pPr marL="1543050" lvl="2" indent="-342900">
              <a:lnSpc>
                <a:spcPct val="150000"/>
              </a:lnSpc>
              <a:buFont typeface="Wingdings" pitchFamily="2" charset="2"/>
              <a:buChar char="§"/>
            </a:pPr>
            <a:r>
              <a:rPr lang="en-US" sz="3500" dirty="0"/>
              <a:t>Food item ingredients</a:t>
            </a:r>
          </a:p>
          <a:p>
            <a:pPr marL="342900" indent="-342900">
              <a:lnSpc>
                <a:spcPct val="150000"/>
              </a:lnSpc>
              <a:buFont typeface="Arial" panose="020B0604020202020204" pitchFamily="34" charset="0"/>
              <a:buChar char="•"/>
            </a:pPr>
            <a:r>
              <a:rPr lang="en-US" sz="4000" dirty="0"/>
              <a:t>Online Food delivery – domain knowledge gathering</a:t>
            </a:r>
          </a:p>
          <a:p>
            <a:pPr marL="971550" lvl="1" indent="-342900">
              <a:lnSpc>
                <a:spcPct val="150000"/>
              </a:lnSpc>
              <a:buFont typeface="Arial" panose="020B0604020202020204" pitchFamily="34" charset="0"/>
              <a:buChar char="•"/>
            </a:pPr>
            <a:r>
              <a:rPr lang="en-US" sz="3500" dirty="0"/>
              <a:t>Fulfilment</a:t>
            </a:r>
          </a:p>
          <a:p>
            <a:pPr marL="971550" lvl="1" indent="-342900">
              <a:lnSpc>
                <a:spcPct val="150000"/>
              </a:lnSpc>
              <a:buFont typeface="Arial" panose="020B0604020202020204" pitchFamily="34" charset="0"/>
              <a:buChar char="•"/>
            </a:pPr>
            <a:r>
              <a:rPr lang="en-US" sz="3500" dirty="0"/>
              <a:t>Aggregation</a:t>
            </a:r>
          </a:p>
          <a:p>
            <a:pPr marL="971550" lvl="1" indent="-342900">
              <a:lnSpc>
                <a:spcPct val="150000"/>
              </a:lnSpc>
              <a:buFont typeface="Arial" panose="020B0604020202020204" pitchFamily="34" charset="0"/>
              <a:buChar char="•"/>
            </a:pPr>
            <a:r>
              <a:rPr lang="en-US" sz="3500" dirty="0"/>
              <a:t>Social media impact – harnessing it for good</a:t>
            </a:r>
          </a:p>
          <a:p>
            <a:pPr marL="342900" indent="-342900">
              <a:lnSpc>
                <a:spcPct val="150000"/>
              </a:lnSpc>
              <a:buFont typeface="Arial" panose="020B0604020202020204" pitchFamily="34" charset="0"/>
              <a:buChar char="•"/>
            </a:pPr>
            <a:r>
              <a:rPr lang="en-US" sz="4000" dirty="0"/>
              <a:t>Model training </a:t>
            </a:r>
          </a:p>
          <a:p>
            <a:pPr marL="971550" lvl="1" indent="-342900">
              <a:lnSpc>
                <a:spcPct val="150000"/>
              </a:lnSpc>
              <a:buFont typeface="Arial" panose="020B0604020202020204" pitchFamily="34" charset="0"/>
              <a:buChar char="•"/>
            </a:pPr>
            <a:r>
              <a:rPr lang="en-US" sz="3500" dirty="0"/>
              <a:t>Available data</a:t>
            </a:r>
          </a:p>
          <a:p>
            <a:pPr marL="971550" lvl="1" indent="-342900">
              <a:lnSpc>
                <a:spcPct val="150000"/>
              </a:lnSpc>
              <a:buFont typeface="Arial" panose="020B0604020202020204" pitchFamily="34" charset="0"/>
              <a:buChar char="•"/>
            </a:pPr>
            <a:r>
              <a:rPr lang="en-US" sz="3500" dirty="0"/>
              <a:t>Train/Validate split</a:t>
            </a:r>
          </a:p>
          <a:p>
            <a:pPr marL="971550" lvl="1" indent="-342900">
              <a:lnSpc>
                <a:spcPct val="150000"/>
              </a:lnSpc>
              <a:buFont typeface="Arial" panose="020B0604020202020204" pitchFamily="34" charset="0"/>
              <a:buChar char="•"/>
            </a:pPr>
            <a:r>
              <a:rPr lang="en-US" sz="3500" dirty="0"/>
              <a:t>Trained model logistics to production CI</a:t>
            </a:r>
          </a:p>
          <a:p>
            <a:pPr marL="342900" indent="-342900">
              <a:lnSpc>
                <a:spcPct val="150000"/>
              </a:lnSpc>
              <a:buFont typeface="Arial" panose="020B0604020202020204" pitchFamily="34" charset="0"/>
              <a:buChar char="•"/>
            </a:pPr>
            <a:endParaRPr lang="en-US" sz="3200" dirty="0"/>
          </a:p>
        </p:txBody>
      </p:sp>
      <p:sp>
        <p:nvSpPr>
          <p:cNvPr id="5" name="Text Placeholder 2">
            <a:extLst>
              <a:ext uri="{FF2B5EF4-FFF2-40B4-BE49-F238E27FC236}">
                <a16:creationId xmlns:a16="http://schemas.microsoft.com/office/drawing/2014/main" id="{5DC9376C-75E2-2B40-8E7C-452A235235D7}"/>
              </a:ext>
            </a:extLst>
          </p:cNvPr>
          <p:cNvSpPr txBox="1">
            <a:spLocks/>
          </p:cNvSpPr>
          <p:nvPr/>
        </p:nvSpPr>
        <p:spPr>
          <a:xfrm>
            <a:off x="6219465" y="1106806"/>
            <a:ext cx="5751558" cy="502729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70000" lnSpcReduction="20000"/>
          </a:bodyPr>
          <a:lstStyle>
            <a:lvl1pPr algn="l" defTabSz="912813" rtl="0" eaLnBrk="1" fontAlgn="base" hangingPunct="1">
              <a:spcBef>
                <a:spcPct val="20000"/>
              </a:spcBef>
              <a:spcAft>
                <a:spcPct val="0"/>
              </a:spcAft>
              <a:buClr>
                <a:schemeClr val="accent1"/>
              </a:buClr>
              <a:defRPr lang="en-US" sz="2400">
                <a:solidFill>
                  <a:schemeClr val="tx1">
                    <a:lumMod val="75000"/>
                  </a:schemeClr>
                </a:solidFill>
                <a:latin typeface="Calibri" pitchFamily="34" charset="0"/>
                <a:ea typeface="+mn-ea"/>
                <a:cs typeface="+mn-cs"/>
              </a:defRPr>
            </a:lvl1pPr>
            <a:lvl2pPr marL="628650" indent="-171450" algn="l" defTabSz="912813" rtl="0" eaLnBrk="1" fontAlgn="base" hangingPunct="1">
              <a:spcBef>
                <a:spcPct val="20000"/>
              </a:spcBef>
              <a:spcAft>
                <a:spcPct val="0"/>
              </a:spcAft>
              <a:buClr>
                <a:schemeClr val="accent1"/>
              </a:buClr>
              <a:buSzPct val="60000"/>
              <a:buFontTx/>
              <a:buBlip>
                <a:blip r:embed="rId3"/>
              </a:buBlip>
              <a:defRPr lang="en-US" sz="160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3"/>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pPr marL="342900" indent="-342900">
              <a:lnSpc>
                <a:spcPct val="150000"/>
              </a:lnSpc>
              <a:buFont typeface="Arial" panose="020B0604020202020204" pitchFamily="34" charset="0"/>
              <a:buChar char="•"/>
            </a:pPr>
            <a:r>
              <a:rPr lang="en-US" sz="2800" dirty="0"/>
              <a:t>Data availability</a:t>
            </a:r>
          </a:p>
          <a:p>
            <a:pPr marL="971550" lvl="1" indent="-342900">
              <a:lnSpc>
                <a:spcPct val="150000"/>
              </a:lnSpc>
              <a:buFont typeface="Arial" panose="020B0604020202020204" pitchFamily="34" charset="0"/>
              <a:buChar char="•"/>
            </a:pPr>
            <a:r>
              <a:rPr lang="en-US" sz="2000" dirty="0"/>
              <a:t>Handling labelled data</a:t>
            </a:r>
          </a:p>
          <a:p>
            <a:pPr marL="971550" lvl="1" indent="-342900">
              <a:lnSpc>
                <a:spcPct val="150000"/>
              </a:lnSpc>
              <a:buFont typeface="Arial" panose="020B0604020202020204" pitchFamily="34" charset="0"/>
              <a:buChar char="•"/>
            </a:pPr>
            <a:r>
              <a:rPr lang="en-US" sz="2000" dirty="0"/>
              <a:t>Handling unlabeled data</a:t>
            </a:r>
          </a:p>
          <a:p>
            <a:pPr marL="342900" indent="-342900">
              <a:lnSpc>
                <a:spcPct val="150000"/>
              </a:lnSpc>
              <a:buFont typeface="Arial" panose="020B0604020202020204" pitchFamily="34" charset="0"/>
              <a:buChar char="•"/>
            </a:pPr>
            <a:r>
              <a:rPr lang="en-US" sz="2800" dirty="0"/>
              <a:t>Harnessing pre-trained models </a:t>
            </a:r>
          </a:p>
          <a:p>
            <a:pPr marL="342900" indent="-342900">
              <a:lnSpc>
                <a:spcPct val="150000"/>
              </a:lnSpc>
              <a:buFont typeface="Arial" panose="020B0604020202020204" pitchFamily="34" charset="0"/>
              <a:buChar char="•"/>
            </a:pPr>
            <a:r>
              <a:rPr lang="en-US" sz="2800" dirty="0"/>
              <a:t>Model Compression[</a:t>
            </a:r>
            <a:r>
              <a:rPr lang="en-US" sz="2800" dirty="0">
                <a:hlinkClick r:id="rId4"/>
              </a:rPr>
              <a:t>ref</a:t>
            </a:r>
            <a:r>
              <a:rPr lang="en-US" sz="2800" dirty="0"/>
              <a:t>] </a:t>
            </a:r>
          </a:p>
          <a:p>
            <a:pPr marL="971550" lvl="1" indent="-342900">
              <a:lnSpc>
                <a:spcPct val="150000"/>
              </a:lnSpc>
              <a:buFont typeface="Arial" panose="020B0604020202020204" pitchFamily="34" charset="0"/>
              <a:buChar char="•"/>
            </a:pPr>
            <a:r>
              <a:rPr lang="en-US" sz="2000" dirty="0"/>
              <a:t>SVD (Matrix Factorization)</a:t>
            </a:r>
          </a:p>
          <a:p>
            <a:pPr marL="971550" lvl="1" indent="-342900">
              <a:lnSpc>
                <a:spcPct val="150000"/>
              </a:lnSpc>
              <a:buFont typeface="Arial" panose="020B0604020202020204" pitchFamily="34" charset="0"/>
              <a:buChar char="•"/>
            </a:pPr>
            <a:r>
              <a:rPr lang="en-US" sz="2000" dirty="0"/>
              <a:t>Knowledge Distillation</a:t>
            </a:r>
          </a:p>
          <a:p>
            <a:pPr marL="342900" indent="-342900">
              <a:lnSpc>
                <a:spcPct val="150000"/>
              </a:lnSpc>
              <a:buFont typeface="Arial" panose="020B0604020202020204" pitchFamily="34" charset="0"/>
              <a:buChar char="•"/>
            </a:pPr>
            <a:r>
              <a:rPr lang="en-US" sz="2800" dirty="0"/>
              <a:t>Ensemble methods [</a:t>
            </a:r>
            <a:r>
              <a:rPr lang="en-US" sz="2800" dirty="0">
                <a:hlinkClick r:id="rId5"/>
              </a:rPr>
              <a:t>ref</a:t>
            </a:r>
            <a:r>
              <a:rPr lang="en-US" sz="2800" dirty="0"/>
              <a:t>]</a:t>
            </a:r>
          </a:p>
          <a:p>
            <a:pPr marL="971550" lvl="1" indent="-342900">
              <a:lnSpc>
                <a:spcPct val="150000"/>
              </a:lnSpc>
              <a:buFont typeface="Arial" panose="020B0604020202020204" pitchFamily="34" charset="0"/>
              <a:buChar char="•"/>
            </a:pPr>
            <a:r>
              <a:rPr lang="en-US" sz="2000" dirty="0"/>
              <a:t>ALS (on multiple factors) + FPM (on multiple factors)+ Usage History based scoring</a:t>
            </a:r>
          </a:p>
          <a:p>
            <a:pPr marL="342900" indent="-342900">
              <a:lnSpc>
                <a:spcPct val="150000"/>
              </a:lnSpc>
              <a:buFont typeface="Arial" panose="020B0604020202020204" pitchFamily="34" charset="0"/>
              <a:buChar char="•"/>
            </a:pPr>
            <a:r>
              <a:rPr lang="en-US" sz="2800" dirty="0"/>
              <a:t>Assuring reproducibility </a:t>
            </a:r>
          </a:p>
          <a:p>
            <a:pPr marL="971550" lvl="1" indent="-342900">
              <a:lnSpc>
                <a:spcPct val="150000"/>
              </a:lnSpc>
              <a:buFont typeface="Arial" panose="020B0604020202020204" pitchFamily="34" charset="0"/>
              <a:buChar char="•"/>
            </a:pPr>
            <a:r>
              <a:rPr lang="en-US" sz="2000" dirty="0"/>
              <a:t>Method reproducibility </a:t>
            </a:r>
          </a:p>
          <a:p>
            <a:pPr marL="971550" lvl="1" indent="-342900">
              <a:lnSpc>
                <a:spcPct val="150000"/>
              </a:lnSpc>
              <a:buFont typeface="Arial" panose="020B0604020202020204" pitchFamily="34" charset="0"/>
              <a:buChar char="•"/>
            </a:pPr>
            <a:r>
              <a:rPr lang="en-US" sz="2000" dirty="0"/>
              <a:t>Result reproducibility </a:t>
            </a:r>
          </a:p>
        </p:txBody>
      </p:sp>
    </p:spTree>
    <p:extLst>
      <p:ext uri="{BB962C8B-B14F-4D97-AF65-F5344CB8AC3E}">
        <p14:creationId xmlns:p14="http://schemas.microsoft.com/office/powerpoint/2010/main" val="1846206743"/>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ounded Rectangle 89">
            <a:extLst>
              <a:ext uri="{FF2B5EF4-FFF2-40B4-BE49-F238E27FC236}">
                <a16:creationId xmlns:a16="http://schemas.microsoft.com/office/drawing/2014/main" id="{8A09A5D7-F51C-AE4D-90B5-CA6E04673AFE}"/>
              </a:ext>
            </a:extLst>
          </p:cNvPr>
          <p:cNvSpPr/>
          <p:nvPr/>
        </p:nvSpPr>
        <p:spPr bwMode="auto">
          <a:xfrm>
            <a:off x="95251" y="1403735"/>
            <a:ext cx="3051496" cy="4894402"/>
          </a:xfrm>
          <a:prstGeom prst="roundRect">
            <a:avLst>
              <a:gd name="adj" fmla="val 11118"/>
            </a:avLst>
          </a:prstGeom>
          <a:no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dirty="0">
              <a:ln>
                <a:noFill/>
              </a:ln>
              <a:solidFill>
                <a:srgbClr val="4D4D4D"/>
              </a:solidFill>
              <a:effectLst/>
              <a:latin typeface="Arial" charset="0"/>
              <a:cs typeface="Arial" charset="0"/>
            </a:endParaRPr>
          </a:p>
        </p:txBody>
      </p:sp>
      <p:sp>
        <p:nvSpPr>
          <p:cNvPr id="91" name="Rounded Rectangle 90">
            <a:extLst>
              <a:ext uri="{FF2B5EF4-FFF2-40B4-BE49-F238E27FC236}">
                <a16:creationId xmlns:a16="http://schemas.microsoft.com/office/drawing/2014/main" id="{4500D144-CAE5-DA4D-8DB0-3E713C5961C2}"/>
              </a:ext>
            </a:extLst>
          </p:cNvPr>
          <p:cNvSpPr/>
          <p:nvPr/>
        </p:nvSpPr>
        <p:spPr bwMode="auto">
          <a:xfrm>
            <a:off x="3380660" y="1403735"/>
            <a:ext cx="8611728" cy="4894402"/>
          </a:xfrm>
          <a:prstGeom prst="roundRect">
            <a:avLst>
              <a:gd name="adj" fmla="val 7845"/>
            </a:avLst>
          </a:prstGeom>
          <a:noFill/>
          <a:ln>
            <a:solidFill>
              <a:schemeClr val="accent2">
                <a:alpha val="37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 name="Title 1">
            <a:extLst>
              <a:ext uri="{FF2B5EF4-FFF2-40B4-BE49-F238E27FC236}">
                <a16:creationId xmlns:a16="http://schemas.microsoft.com/office/drawing/2014/main" id="{6074FD06-7B0A-0741-9BA4-AA375BABDFF2}"/>
              </a:ext>
            </a:extLst>
          </p:cNvPr>
          <p:cNvSpPr>
            <a:spLocks noGrp="1"/>
          </p:cNvSpPr>
          <p:nvPr>
            <p:ph type="title"/>
          </p:nvPr>
        </p:nvSpPr>
        <p:spPr/>
        <p:txBody>
          <a:bodyPr/>
          <a:lstStyle/>
          <a:p>
            <a:r>
              <a:rPr lang="en-US"/>
              <a:t>Multi-Model Recommender System</a:t>
            </a:r>
          </a:p>
        </p:txBody>
      </p:sp>
      <p:sp>
        <p:nvSpPr>
          <p:cNvPr id="4" name="Rectangle 3">
            <a:extLst>
              <a:ext uri="{FF2B5EF4-FFF2-40B4-BE49-F238E27FC236}">
                <a16:creationId xmlns:a16="http://schemas.microsoft.com/office/drawing/2014/main" id="{6CFC6221-43EA-4A4D-B5DC-677ED199FF22}"/>
              </a:ext>
            </a:extLst>
          </p:cNvPr>
          <p:cNvSpPr/>
          <p:nvPr/>
        </p:nvSpPr>
        <p:spPr bwMode="auto">
          <a:xfrm>
            <a:off x="3749366" y="2457807"/>
            <a:ext cx="1110997" cy="661085"/>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0000" tIns="46800" rIns="90000" bIns="46800" numCol="1" rtlCol="0" anchor="t" anchorCtr="0" compatLnSpc="1">
            <a:prstTxWarp prst="textNoShape">
              <a:avLst/>
            </a:prstTxWarp>
            <a:noAutofit/>
          </a:bodyPr>
          <a:lstStyle/>
          <a:p>
            <a:pPr lvl="0" defTabSz="912813" fontAlgn="base">
              <a:spcBef>
                <a:spcPct val="20000"/>
              </a:spcBef>
              <a:spcAft>
                <a:spcPct val="0"/>
              </a:spcAft>
              <a:buClr>
                <a:srgbClr val="3399CC"/>
              </a:buClr>
              <a:buSzPct val="100000"/>
            </a:pPr>
            <a:r>
              <a:rPr lang="en-US" sz="1100">
                <a:solidFill>
                  <a:srgbClr val="4D4D4D"/>
                </a:solidFill>
                <a:latin typeface="Arial" charset="0"/>
                <a:cs typeface="Arial" charset="0"/>
              </a:rPr>
              <a:t>Cart items-based recommender</a:t>
            </a:r>
          </a:p>
        </p:txBody>
      </p:sp>
      <p:sp>
        <p:nvSpPr>
          <p:cNvPr id="5" name="Rectangle 4">
            <a:extLst>
              <a:ext uri="{FF2B5EF4-FFF2-40B4-BE49-F238E27FC236}">
                <a16:creationId xmlns:a16="http://schemas.microsoft.com/office/drawing/2014/main" id="{62770EFB-07C0-0A49-90BF-06E9EB59C7E2}"/>
              </a:ext>
            </a:extLst>
          </p:cNvPr>
          <p:cNvSpPr/>
          <p:nvPr/>
        </p:nvSpPr>
        <p:spPr bwMode="auto">
          <a:xfrm>
            <a:off x="3749366" y="3364587"/>
            <a:ext cx="1110997" cy="661085"/>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0000" tIns="46800" rIns="90000" bIns="46800" numCol="1" rtlCol="0" anchor="t" anchorCtr="0" compatLnSpc="1">
            <a:prstTxWarp prst="textNoShape">
              <a:avLst/>
            </a:prstTxWarp>
            <a:noAutofit/>
          </a:bodyPr>
          <a:lstStyle/>
          <a:p>
            <a:pPr lvl="0" defTabSz="912813" fontAlgn="base">
              <a:spcBef>
                <a:spcPct val="20000"/>
              </a:spcBef>
              <a:spcAft>
                <a:spcPct val="0"/>
              </a:spcAft>
              <a:buClr>
                <a:srgbClr val="3399CC"/>
              </a:buClr>
              <a:buSzPct val="100000"/>
            </a:pPr>
            <a:r>
              <a:rPr lang="en-US" sz="1100">
                <a:solidFill>
                  <a:srgbClr val="4D4D4D"/>
                </a:solidFill>
                <a:latin typeface="Arial" charset="0"/>
                <a:cs typeface="Arial" charset="0"/>
              </a:rPr>
              <a:t>Ingredient-based recommender</a:t>
            </a:r>
          </a:p>
        </p:txBody>
      </p:sp>
      <p:sp>
        <p:nvSpPr>
          <p:cNvPr id="6" name="Rectangle 5">
            <a:extLst>
              <a:ext uri="{FF2B5EF4-FFF2-40B4-BE49-F238E27FC236}">
                <a16:creationId xmlns:a16="http://schemas.microsoft.com/office/drawing/2014/main" id="{97BCB56E-95B0-A843-987E-AF0C797A7437}"/>
              </a:ext>
            </a:extLst>
          </p:cNvPr>
          <p:cNvSpPr/>
          <p:nvPr/>
        </p:nvSpPr>
        <p:spPr bwMode="auto">
          <a:xfrm>
            <a:off x="3741746" y="4271367"/>
            <a:ext cx="1110997" cy="661085"/>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noAutofit/>
          </a:bodyPr>
          <a:lstStyle/>
          <a:p>
            <a:pPr lvl="0" defTabSz="912813" fontAlgn="base">
              <a:spcBef>
                <a:spcPct val="20000"/>
              </a:spcBef>
              <a:spcAft>
                <a:spcPct val="0"/>
              </a:spcAft>
              <a:buClr>
                <a:srgbClr val="3399CC"/>
              </a:buClr>
              <a:buSzPct val="100000"/>
            </a:pPr>
            <a:r>
              <a:rPr lang="en-US" sz="1100">
                <a:solidFill>
                  <a:srgbClr val="4D4D4D"/>
                </a:solidFill>
                <a:latin typeface="Arial" charset="0"/>
                <a:cs typeface="Arial" charset="0"/>
              </a:rPr>
              <a:t>Food rating-based CF recommender</a:t>
            </a:r>
          </a:p>
        </p:txBody>
      </p:sp>
      <p:sp>
        <p:nvSpPr>
          <p:cNvPr id="7" name="Rectangle 6">
            <a:extLst>
              <a:ext uri="{FF2B5EF4-FFF2-40B4-BE49-F238E27FC236}">
                <a16:creationId xmlns:a16="http://schemas.microsoft.com/office/drawing/2014/main" id="{E685FAE5-5700-234E-B696-38D102D15AE0}"/>
              </a:ext>
            </a:extLst>
          </p:cNvPr>
          <p:cNvSpPr/>
          <p:nvPr/>
        </p:nvSpPr>
        <p:spPr bwMode="auto">
          <a:xfrm>
            <a:off x="3730186" y="5263924"/>
            <a:ext cx="1110997" cy="661085"/>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100" b="0" i="0" u="none" strike="noStrike" cap="none" normalizeH="0" baseline="0">
                <a:ln>
                  <a:noFill/>
                </a:ln>
                <a:solidFill>
                  <a:srgbClr val="4D4D4D"/>
                </a:solidFill>
                <a:effectLst/>
                <a:latin typeface="Arial" charset="0"/>
                <a:cs typeface="Arial" charset="0"/>
              </a:rPr>
              <a:t>Restaurant rating-based recommender</a:t>
            </a:r>
          </a:p>
        </p:txBody>
      </p:sp>
      <p:grpSp>
        <p:nvGrpSpPr>
          <p:cNvPr id="14" name="Group 13">
            <a:extLst>
              <a:ext uri="{FF2B5EF4-FFF2-40B4-BE49-F238E27FC236}">
                <a16:creationId xmlns:a16="http://schemas.microsoft.com/office/drawing/2014/main" id="{C8BD69A3-6E8A-7F44-9220-98EAAFDBB0FC}"/>
              </a:ext>
            </a:extLst>
          </p:cNvPr>
          <p:cNvGrpSpPr/>
          <p:nvPr/>
        </p:nvGrpSpPr>
        <p:grpSpPr>
          <a:xfrm>
            <a:off x="6809019" y="952287"/>
            <a:ext cx="709003" cy="1180826"/>
            <a:chOff x="7098029" y="1202499"/>
            <a:chExt cx="874396" cy="1388301"/>
          </a:xfrm>
        </p:grpSpPr>
        <p:sp>
          <p:nvSpPr>
            <p:cNvPr id="12" name="Can 11">
              <a:extLst>
                <a:ext uri="{FF2B5EF4-FFF2-40B4-BE49-F238E27FC236}">
                  <a16:creationId xmlns:a16="http://schemas.microsoft.com/office/drawing/2014/main" id="{2FC9DA34-5297-104F-ADAA-C0C7AEEDCB69}"/>
                </a:ext>
              </a:extLst>
            </p:cNvPr>
            <p:cNvSpPr/>
            <p:nvPr/>
          </p:nvSpPr>
          <p:spPr bwMode="auto">
            <a:xfrm>
              <a:off x="7332345" y="1202499"/>
              <a:ext cx="640080" cy="1173480"/>
            </a:xfrm>
            <a:prstGeom prst="can">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11" name="Can 10">
              <a:extLst>
                <a:ext uri="{FF2B5EF4-FFF2-40B4-BE49-F238E27FC236}">
                  <a16:creationId xmlns:a16="http://schemas.microsoft.com/office/drawing/2014/main" id="{D155B000-02C4-CB4F-BCC6-FC9C2014F4A6}"/>
                </a:ext>
              </a:extLst>
            </p:cNvPr>
            <p:cNvSpPr/>
            <p:nvPr/>
          </p:nvSpPr>
          <p:spPr bwMode="auto">
            <a:xfrm>
              <a:off x="7098029" y="1417320"/>
              <a:ext cx="640080" cy="1173480"/>
            </a:xfrm>
            <a:prstGeom prst="can">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vert270"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050" b="0" i="0" u="none" strike="noStrike" cap="none" normalizeH="0" baseline="0">
                  <a:ln>
                    <a:noFill/>
                  </a:ln>
                  <a:solidFill>
                    <a:srgbClr val="4D4D4D"/>
                  </a:solidFill>
                  <a:effectLst/>
                  <a:latin typeface="Arial" charset="0"/>
                  <a:cs typeface="Arial" charset="0"/>
                </a:rPr>
                <a:t>ID-Name Map</a:t>
              </a:r>
            </a:p>
          </p:txBody>
        </p:sp>
      </p:grpSp>
      <p:sp>
        <p:nvSpPr>
          <p:cNvPr id="13" name="Oval 12">
            <a:extLst>
              <a:ext uri="{FF2B5EF4-FFF2-40B4-BE49-F238E27FC236}">
                <a16:creationId xmlns:a16="http://schemas.microsoft.com/office/drawing/2014/main" id="{A0F84CAA-C489-464E-9E1B-A16200714E59}"/>
              </a:ext>
            </a:extLst>
          </p:cNvPr>
          <p:cNvSpPr/>
          <p:nvPr/>
        </p:nvSpPr>
        <p:spPr bwMode="auto">
          <a:xfrm>
            <a:off x="9394437" y="3635655"/>
            <a:ext cx="1146143" cy="1153658"/>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0000" tIns="46800" rIns="90000" bIns="46800" numCol="1" rtlCol="0" anchor="ctr"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000" b="0" i="0" u="none" strike="noStrike" cap="none" normalizeH="0" baseline="0">
                <a:ln>
                  <a:noFill/>
                </a:ln>
                <a:solidFill>
                  <a:srgbClr val="4D4D4D"/>
                </a:solidFill>
                <a:effectLst/>
                <a:latin typeface="Arial" charset="0"/>
                <a:cs typeface="Arial" charset="0"/>
              </a:rPr>
              <a:t>Final set of Food, Restaurant names, resolved from IDs </a:t>
            </a:r>
          </a:p>
        </p:txBody>
      </p:sp>
      <p:cxnSp>
        <p:nvCxnSpPr>
          <p:cNvPr id="16" name="Straight Connector 15">
            <a:extLst>
              <a:ext uri="{FF2B5EF4-FFF2-40B4-BE49-F238E27FC236}">
                <a16:creationId xmlns:a16="http://schemas.microsoft.com/office/drawing/2014/main" id="{7C632843-44F2-6244-A221-B4CC9C4DF0E7}"/>
              </a:ext>
            </a:extLst>
          </p:cNvPr>
          <p:cNvCxnSpPr>
            <a:cxnSpLocks/>
          </p:cNvCxnSpPr>
          <p:nvPr/>
        </p:nvCxnSpPr>
        <p:spPr bwMode="auto">
          <a:xfrm>
            <a:off x="3276092" y="1492756"/>
            <a:ext cx="0" cy="4805381"/>
          </a:xfrm>
          <a:prstGeom prst="line">
            <a:avLst/>
          </a:prstGeom>
          <a:ln>
            <a:solidFill>
              <a:schemeClr val="dk1">
                <a:alpha val="36000"/>
              </a:schemeClr>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D12FE376-6D39-E840-B125-F4C1DFAD3A0B}"/>
              </a:ext>
            </a:extLst>
          </p:cNvPr>
          <p:cNvCxnSpPr>
            <a:cxnSpLocks/>
          </p:cNvCxnSpPr>
          <p:nvPr/>
        </p:nvCxnSpPr>
        <p:spPr bwMode="auto">
          <a:xfrm>
            <a:off x="2675621" y="2788348"/>
            <a:ext cx="1076959" cy="1"/>
          </a:xfrm>
          <a:prstGeom prst="straightConnector1">
            <a:avLst/>
          </a:prstGeom>
          <a:ln w="2857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322B8F50-019F-AB49-A0B8-ED4BCA1947FD}"/>
              </a:ext>
            </a:extLst>
          </p:cNvPr>
          <p:cNvCxnSpPr/>
          <p:nvPr/>
        </p:nvCxnSpPr>
        <p:spPr bwMode="auto">
          <a:xfrm>
            <a:off x="2675621" y="3688727"/>
            <a:ext cx="1076959" cy="1"/>
          </a:xfrm>
          <a:prstGeom prst="straightConnector1">
            <a:avLst/>
          </a:prstGeom>
          <a:ln w="254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7DCFA6F1-FB93-9441-9818-75917F7C4EAE}"/>
              </a:ext>
            </a:extLst>
          </p:cNvPr>
          <p:cNvCxnSpPr/>
          <p:nvPr/>
        </p:nvCxnSpPr>
        <p:spPr bwMode="auto">
          <a:xfrm>
            <a:off x="2702887" y="4606999"/>
            <a:ext cx="1076959" cy="1"/>
          </a:xfrm>
          <a:prstGeom prst="straightConnector1">
            <a:avLst/>
          </a:prstGeom>
          <a:ln w="222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4141C3A5-06AD-6C4B-BC82-1F8628D3FF1D}"/>
              </a:ext>
            </a:extLst>
          </p:cNvPr>
          <p:cNvCxnSpPr/>
          <p:nvPr/>
        </p:nvCxnSpPr>
        <p:spPr bwMode="auto">
          <a:xfrm>
            <a:off x="2628703" y="5519781"/>
            <a:ext cx="1076959" cy="1"/>
          </a:xfrm>
          <a:prstGeom prst="straightConnector1">
            <a:avLst/>
          </a:prstGeom>
          <a:ln w="222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Regular Pentagon 22">
            <a:extLst>
              <a:ext uri="{FF2B5EF4-FFF2-40B4-BE49-F238E27FC236}">
                <a16:creationId xmlns:a16="http://schemas.microsoft.com/office/drawing/2014/main" id="{9E5EACCD-1E5F-4A47-9BB6-1EF8CDC8A84D}"/>
              </a:ext>
            </a:extLst>
          </p:cNvPr>
          <p:cNvSpPr/>
          <p:nvPr/>
        </p:nvSpPr>
        <p:spPr bwMode="auto">
          <a:xfrm>
            <a:off x="1929981" y="2217891"/>
            <a:ext cx="873760" cy="868680"/>
          </a:xfrm>
          <a:prstGeom prst="pentagon">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0000" tIns="46800" rIns="90000" bIns="46800" numCol="1" rtlCol="0" anchor="ctr" anchorCtr="0" compatLnSpc="1">
            <a:prstTxWarp prst="textNoShape">
              <a:avLst/>
            </a:prstTxWarp>
            <a:noAutofit/>
          </a:bodyPr>
          <a:lstStyle/>
          <a:p>
            <a:pPr defTabSz="912813" fontAlgn="base">
              <a:spcBef>
                <a:spcPct val="20000"/>
              </a:spcBef>
              <a:spcAft>
                <a:spcPct val="0"/>
              </a:spcAft>
              <a:buClr>
                <a:schemeClr val="accent1"/>
              </a:buClr>
              <a:buSzPct val="100000"/>
            </a:pPr>
            <a:r>
              <a:rPr lang="en-US" sz="1200">
                <a:solidFill>
                  <a:srgbClr val="4D4D4D"/>
                </a:solidFill>
                <a:latin typeface="Arial" charset="0"/>
                <a:cs typeface="Arial" charset="0"/>
              </a:rPr>
              <a:t>FPM</a:t>
            </a:r>
          </a:p>
        </p:txBody>
      </p:sp>
      <p:cxnSp>
        <p:nvCxnSpPr>
          <p:cNvPr id="25" name="Straight Arrow Connector 24">
            <a:extLst>
              <a:ext uri="{FF2B5EF4-FFF2-40B4-BE49-F238E27FC236}">
                <a16:creationId xmlns:a16="http://schemas.microsoft.com/office/drawing/2014/main" id="{2377FE2D-0171-5144-992E-0745F5984AB5}"/>
              </a:ext>
            </a:extLst>
          </p:cNvPr>
          <p:cNvCxnSpPr>
            <a:cxnSpLocks/>
            <a:stCxn id="4" idx="3"/>
            <a:endCxn id="10" idx="3"/>
          </p:cNvCxnSpPr>
          <p:nvPr/>
        </p:nvCxnSpPr>
        <p:spPr bwMode="auto">
          <a:xfrm>
            <a:off x="4860363" y="2788350"/>
            <a:ext cx="1593264" cy="80415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33B266C-6EF8-1146-9806-D8B4DDA139E5}"/>
              </a:ext>
            </a:extLst>
          </p:cNvPr>
          <p:cNvCxnSpPr>
            <a:cxnSpLocks/>
            <a:stCxn id="5" idx="3"/>
          </p:cNvCxnSpPr>
          <p:nvPr/>
        </p:nvCxnSpPr>
        <p:spPr bwMode="auto">
          <a:xfrm>
            <a:off x="4860363" y="3695130"/>
            <a:ext cx="832047" cy="315699"/>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674F58-D433-D849-804B-B16A23045ED4}"/>
              </a:ext>
            </a:extLst>
          </p:cNvPr>
          <p:cNvCxnSpPr>
            <a:cxnSpLocks/>
          </p:cNvCxnSpPr>
          <p:nvPr/>
        </p:nvCxnSpPr>
        <p:spPr bwMode="auto">
          <a:xfrm flipV="1">
            <a:off x="4860363" y="4300129"/>
            <a:ext cx="839667" cy="390232"/>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DECEEB4-025D-724A-A891-9DEF6BA2EE6C}"/>
              </a:ext>
            </a:extLst>
          </p:cNvPr>
          <p:cNvCxnSpPr>
            <a:cxnSpLocks/>
            <a:stCxn id="7" idx="3"/>
            <a:endCxn id="10" idx="1"/>
          </p:cNvCxnSpPr>
          <p:nvPr/>
        </p:nvCxnSpPr>
        <p:spPr bwMode="auto">
          <a:xfrm flipV="1">
            <a:off x="4841183" y="4655422"/>
            <a:ext cx="1612444" cy="939045"/>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Regular Pentagon 41">
            <a:extLst>
              <a:ext uri="{FF2B5EF4-FFF2-40B4-BE49-F238E27FC236}">
                <a16:creationId xmlns:a16="http://schemas.microsoft.com/office/drawing/2014/main" id="{A0CC46A9-5D9E-4D4D-8EB4-E014751655ED}"/>
              </a:ext>
            </a:extLst>
          </p:cNvPr>
          <p:cNvSpPr/>
          <p:nvPr/>
        </p:nvSpPr>
        <p:spPr bwMode="auto">
          <a:xfrm>
            <a:off x="1929981" y="3175986"/>
            <a:ext cx="873760" cy="868680"/>
          </a:xfrm>
          <a:prstGeom prst="pentagon">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0000" tIns="46800" rIns="90000" bIns="46800" numCol="1" rtlCol="0" anchor="ctr" anchorCtr="0" compatLnSpc="1">
            <a:prstTxWarp prst="textNoShape">
              <a:avLst/>
            </a:prstTxWarp>
            <a:noAutofit/>
          </a:bodyPr>
          <a:lstStyle/>
          <a:p>
            <a:pPr defTabSz="912813" fontAlgn="base">
              <a:spcBef>
                <a:spcPct val="20000"/>
              </a:spcBef>
              <a:spcAft>
                <a:spcPct val="0"/>
              </a:spcAft>
              <a:buClr>
                <a:schemeClr val="accent1"/>
              </a:buClr>
              <a:buSzPct val="100000"/>
            </a:pPr>
            <a:r>
              <a:rPr lang="en-US" sz="1200">
                <a:solidFill>
                  <a:srgbClr val="4D4D4D"/>
                </a:solidFill>
                <a:latin typeface="Arial" charset="0"/>
                <a:cs typeface="Arial" charset="0"/>
              </a:rPr>
              <a:t>FPM</a:t>
            </a:r>
          </a:p>
        </p:txBody>
      </p:sp>
      <p:sp>
        <p:nvSpPr>
          <p:cNvPr id="43" name="Hexagon 42">
            <a:extLst>
              <a:ext uri="{FF2B5EF4-FFF2-40B4-BE49-F238E27FC236}">
                <a16:creationId xmlns:a16="http://schemas.microsoft.com/office/drawing/2014/main" id="{BEC1B1DE-3473-C548-BD14-4FF0078F1F7F}"/>
              </a:ext>
            </a:extLst>
          </p:cNvPr>
          <p:cNvSpPr/>
          <p:nvPr/>
        </p:nvSpPr>
        <p:spPr bwMode="auto">
          <a:xfrm>
            <a:off x="1921641" y="4212483"/>
            <a:ext cx="947923" cy="775955"/>
          </a:xfrm>
          <a:prstGeom prst="hexagon">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0000" tIns="46800" rIns="90000" bIns="46800" numCol="1" rtlCol="0" anchor="ctr" anchorCtr="0" compatLnSpc="1">
            <a:prstTxWarp prst="textNoShape">
              <a:avLst/>
            </a:prstTxWarp>
            <a:noAutofit/>
          </a:bodyPr>
          <a:lstStyle/>
          <a:p>
            <a:pPr defTabSz="912813" fontAlgn="base">
              <a:spcBef>
                <a:spcPct val="20000"/>
              </a:spcBef>
              <a:spcAft>
                <a:spcPct val="0"/>
              </a:spcAft>
              <a:buClr>
                <a:schemeClr val="accent1"/>
              </a:buClr>
              <a:buSzPct val="100000"/>
            </a:pPr>
            <a:r>
              <a:rPr lang="en-US" sz="900" b="1">
                <a:solidFill>
                  <a:srgbClr val="4D4D4D"/>
                </a:solidFill>
                <a:latin typeface="Arial" charset="0"/>
                <a:cs typeface="Arial" charset="0"/>
              </a:rPr>
              <a:t>ALS-WR</a:t>
            </a:r>
          </a:p>
        </p:txBody>
      </p:sp>
      <p:sp>
        <p:nvSpPr>
          <p:cNvPr id="45" name="Hexagon 44">
            <a:extLst>
              <a:ext uri="{FF2B5EF4-FFF2-40B4-BE49-F238E27FC236}">
                <a16:creationId xmlns:a16="http://schemas.microsoft.com/office/drawing/2014/main" id="{0DD178F2-9C60-9044-9841-EC172B7A2F63}"/>
              </a:ext>
            </a:extLst>
          </p:cNvPr>
          <p:cNvSpPr/>
          <p:nvPr/>
        </p:nvSpPr>
        <p:spPr bwMode="auto">
          <a:xfrm>
            <a:off x="1929981" y="5118573"/>
            <a:ext cx="975572" cy="820555"/>
          </a:xfrm>
          <a:prstGeom prst="hexagon">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0000" tIns="46800" rIns="90000" bIns="46800" numCol="1" rtlCol="0" anchor="ctr" anchorCtr="0" compatLnSpc="1">
            <a:prstTxWarp prst="textNoShape">
              <a:avLst/>
            </a:prstTxWarp>
            <a:noAutofit/>
          </a:bodyPr>
          <a:lstStyle/>
          <a:p>
            <a:pPr lvl="0" defTabSz="912813" fontAlgn="base">
              <a:spcBef>
                <a:spcPct val="20000"/>
              </a:spcBef>
              <a:spcAft>
                <a:spcPct val="0"/>
              </a:spcAft>
              <a:buClr>
                <a:srgbClr val="3399CC"/>
              </a:buClr>
              <a:buSzPct val="100000"/>
            </a:pPr>
            <a:r>
              <a:rPr lang="en-US" sz="900" b="1">
                <a:solidFill>
                  <a:srgbClr val="4D4D4D"/>
                </a:solidFill>
                <a:latin typeface="Arial" charset="0"/>
                <a:cs typeface="Arial" charset="0"/>
              </a:rPr>
              <a:t>ALS-WR</a:t>
            </a:r>
          </a:p>
        </p:txBody>
      </p:sp>
      <p:sp>
        <p:nvSpPr>
          <p:cNvPr id="49" name="Right Arrow 48">
            <a:extLst>
              <a:ext uri="{FF2B5EF4-FFF2-40B4-BE49-F238E27FC236}">
                <a16:creationId xmlns:a16="http://schemas.microsoft.com/office/drawing/2014/main" id="{6651397C-35D0-B04E-B5EA-6A6BD7697BCE}"/>
              </a:ext>
            </a:extLst>
          </p:cNvPr>
          <p:cNvSpPr/>
          <p:nvPr/>
        </p:nvSpPr>
        <p:spPr bwMode="auto">
          <a:xfrm>
            <a:off x="7196654" y="3990056"/>
            <a:ext cx="741441" cy="390232"/>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10" name="Round Diagonal Corner of Rectangle 9">
            <a:extLst>
              <a:ext uri="{FF2B5EF4-FFF2-40B4-BE49-F238E27FC236}">
                <a16:creationId xmlns:a16="http://schemas.microsoft.com/office/drawing/2014/main" id="{5A2820BD-D3C4-E04E-8856-3B05D0145FF1}"/>
              </a:ext>
            </a:extLst>
          </p:cNvPr>
          <p:cNvSpPr/>
          <p:nvPr/>
        </p:nvSpPr>
        <p:spPr bwMode="auto">
          <a:xfrm>
            <a:off x="5659668" y="3592501"/>
            <a:ext cx="1587917" cy="1062921"/>
          </a:xfrm>
          <a:prstGeom prst="round2Diag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b="0" i="0" u="none" strike="noStrike" cap="none" normalizeH="0" baseline="0">
                <a:ln>
                  <a:noFill/>
                </a:ln>
                <a:solidFill>
                  <a:srgbClr val="4D4D4D"/>
                </a:solidFill>
                <a:effectLst/>
                <a:latin typeface="Arial" charset="0"/>
                <a:cs typeface="Arial" charset="0"/>
              </a:rPr>
              <a:t>Consolidator</a:t>
            </a:r>
            <a:endParaRPr kumimoji="0" lang="en-US" sz="2000" b="0" i="0" u="none" strike="noStrike" cap="none" normalizeH="0" baseline="0">
              <a:ln>
                <a:noFill/>
              </a:ln>
              <a:solidFill>
                <a:srgbClr val="4D4D4D"/>
              </a:solidFill>
              <a:effectLst/>
              <a:latin typeface="Arial" charset="0"/>
              <a:cs typeface="Arial" charset="0"/>
            </a:endParaRPr>
          </a:p>
        </p:txBody>
      </p:sp>
      <p:sp>
        <p:nvSpPr>
          <p:cNvPr id="50" name="Right Arrow 49">
            <a:extLst>
              <a:ext uri="{FF2B5EF4-FFF2-40B4-BE49-F238E27FC236}">
                <a16:creationId xmlns:a16="http://schemas.microsoft.com/office/drawing/2014/main" id="{74523542-4E52-B54E-A781-50F1FE6FF0F7}"/>
              </a:ext>
            </a:extLst>
          </p:cNvPr>
          <p:cNvSpPr/>
          <p:nvPr/>
        </p:nvSpPr>
        <p:spPr bwMode="auto">
          <a:xfrm>
            <a:off x="8647703" y="4017367"/>
            <a:ext cx="684047" cy="390232"/>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54" name="Left-up Arrow 53">
            <a:extLst>
              <a:ext uri="{FF2B5EF4-FFF2-40B4-BE49-F238E27FC236}">
                <a16:creationId xmlns:a16="http://schemas.microsoft.com/office/drawing/2014/main" id="{0BC54FBD-6E41-C344-8897-56C780C182A1}"/>
              </a:ext>
            </a:extLst>
          </p:cNvPr>
          <p:cNvSpPr/>
          <p:nvPr/>
        </p:nvSpPr>
        <p:spPr bwMode="auto">
          <a:xfrm rot="16200000">
            <a:off x="7540683" y="1117934"/>
            <a:ext cx="2495062" cy="2540380"/>
          </a:xfrm>
          <a:prstGeom prst="leftUpArrow">
            <a:avLst>
              <a:gd name="adj1" fmla="val 1599"/>
              <a:gd name="adj2" fmla="val 4665"/>
              <a:gd name="adj3" fmla="val 3994"/>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grpSp>
        <p:nvGrpSpPr>
          <p:cNvPr id="58" name="Group 57">
            <a:extLst>
              <a:ext uri="{FF2B5EF4-FFF2-40B4-BE49-F238E27FC236}">
                <a16:creationId xmlns:a16="http://schemas.microsoft.com/office/drawing/2014/main" id="{EA52690A-13BD-5A4B-A80B-1EDD998C2E2F}"/>
              </a:ext>
            </a:extLst>
          </p:cNvPr>
          <p:cNvGrpSpPr/>
          <p:nvPr/>
        </p:nvGrpSpPr>
        <p:grpSpPr>
          <a:xfrm>
            <a:off x="324625" y="5081000"/>
            <a:ext cx="721055" cy="1005907"/>
            <a:chOff x="75636" y="5215844"/>
            <a:chExt cx="879884" cy="1124333"/>
          </a:xfrm>
        </p:grpSpPr>
        <p:sp>
          <p:nvSpPr>
            <p:cNvPr id="55" name="Snip Single Corner of Rectangle 54">
              <a:extLst>
                <a:ext uri="{FF2B5EF4-FFF2-40B4-BE49-F238E27FC236}">
                  <a16:creationId xmlns:a16="http://schemas.microsoft.com/office/drawing/2014/main" id="{40259050-A0F2-9749-B711-021D796A9447}"/>
                </a:ext>
              </a:extLst>
            </p:cNvPr>
            <p:cNvSpPr/>
            <p:nvPr/>
          </p:nvSpPr>
          <p:spPr bwMode="auto">
            <a:xfrm>
              <a:off x="81760" y="5215844"/>
              <a:ext cx="873760" cy="351677"/>
            </a:xfrm>
            <a:prstGeom prst="snip1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chemeClr val="accent1"/>
                </a:buClr>
                <a:buSzPct val="100000"/>
              </a:pPr>
              <a:r>
                <a:rPr lang="en-US" sz="1100">
                  <a:solidFill>
                    <a:srgbClr val="4D4D4D"/>
                  </a:solidFill>
                  <a:latin typeface="Arial" charset="0"/>
                  <a:cs typeface="Arial" charset="0"/>
                </a:rPr>
                <a:t>User Id</a:t>
              </a:r>
            </a:p>
          </p:txBody>
        </p:sp>
        <p:sp>
          <p:nvSpPr>
            <p:cNvPr id="56" name="Snip Single Corner of Rectangle 55">
              <a:extLst>
                <a:ext uri="{FF2B5EF4-FFF2-40B4-BE49-F238E27FC236}">
                  <a16:creationId xmlns:a16="http://schemas.microsoft.com/office/drawing/2014/main" id="{066EE91B-AAF8-AA43-8CA2-EDA4A1F449D3}"/>
                </a:ext>
              </a:extLst>
            </p:cNvPr>
            <p:cNvSpPr/>
            <p:nvPr/>
          </p:nvSpPr>
          <p:spPr bwMode="auto">
            <a:xfrm>
              <a:off x="75636" y="5602172"/>
              <a:ext cx="873760" cy="351677"/>
            </a:xfrm>
            <a:prstGeom prst="snip1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chemeClr val="accent1"/>
                </a:buClr>
                <a:buSzPct val="100000"/>
              </a:pPr>
              <a:r>
                <a:rPr lang="en-US" sz="1100">
                  <a:solidFill>
                    <a:srgbClr val="4D4D4D"/>
                  </a:solidFill>
                  <a:latin typeface="Arial" charset="0"/>
                  <a:cs typeface="Arial" charset="0"/>
                </a:rPr>
                <a:t>Rest. Id</a:t>
              </a:r>
            </a:p>
          </p:txBody>
        </p:sp>
        <p:sp>
          <p:nvSpPr>
            <p:cNvPr id="57" name="Snip Single Corner of Rectangle 56">
              <a:extLst>
                <a:ext uri="{FF2B5EF4-FFF2-40B4-BE49-F238E27FC236}">
                  <a16:creationId xmlns:a16="http://schemas.microsoft.com/office/drawing/2014/main" id="{18EB509C-058D-0B43-A6F0-710488B27E0E}"/>
                </a:ext>
              </a:extLst>
            </p:cNvPr>
            <p:cNvSpPr/>
            <p:nvPr/>
          </p:nvSpPr>
          <p:spPr bwMode="auto">
            <a:xfrm>
              <a:off x="75636" y="5988500"/>
              <a:ext cx="873760" cy="351677"/>
            </a:xfrm>
            <a:prstGeom prst="snip1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chemeClr val="accent1"/>
                </a:buClr>
                <a:buSzPct val="100000"/>
              </a:pPr>
              <a:r>
                <a:rPr lang="en-US" sz="1100">
                  <a:solidFill>
                    <a:srgbClr val="4D4D4D"/>
                  </a:solidFill>
                  <a:latin typeface="Arial" charset="0"/>
                  <a:cs typeface="Arial" charset="0"/>
                </a:rPr>
                <a:t>Rating</a:t>
              </a:r>
            </a:p>
          </p:txBody>
        </p:sp>
      </p:grpSp>
      <p:sp>
        <p:nvSpPr>
          <p:cNvPr id="59" name="Striped Right Arrow 58">
            <a:extLst>
              <a:ext uri="{FF2B5EF4-FFF2-40B4-BE49-F238E27FC236}">
                <a16:creationId xmlns:a16="http://schemas.microsoft.com/office/drawing/2014/main" id="{4BDA4987-485C-7C4C-AC93-97E0A5012BEF}"/>
              </a:ext>
            </a:extLst>
          </p:cNvPr>
          <p:cNvSpPr/>
          <p:nvPr/>
        </p:nvSpPr>
        <p:spPr bwMode="auto">
          <a:xfrm>
            <a:off x="1448896" y="5410687"/>
            <a:ext cx="448114" cy="254447"/>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grpSp>
        <p:nvGrpSpPr>
          <p:cNvPr id="65" name="Group 64">
            <a:extLst>
              <a:ext uri="{FF2B5EF4-FFF2-40B4-BE49-F238E27FC236}">
                <a16:creationId xmlns:a16="http://schemas.microsoft.com/office/drawing/2014/main" id="{DEF85555-7FB7-E842-AA93-A7B95C3DB5D6}"/>
              </a:ext>
            </a:extLst>
          </p:cNvPr>
          <p:cNvGrpSpPr/>
          <p:nvPr/>
        </p:nvGrpSpPr>
        <p:grpSpPr>
          <a:xfrm>
            <a:off x="324625" y="3982520"/>
            <a:ext cx="721055" cy="1005907"/>
            <a:chOff x="75636" y="5215844"/>
            <a:chExt cx="879884" cy="1124333"/>
          </a:xfrm>
        </p:grpSpPr>
        <p:sp>
          <p:nvSpPr>
            <p:cNvPr id="66" name="Snip Single Corner of Rectangle 65">
              <a:extLst>
                <a:ext uri="{FF2B5EF4-FFF2-40B4-BE49-F238E27FC236}">
                  <a16:creationId xmlns:a16="http://schemas.microsoft.com/office/drawing/2014/main" id="{65320A24-7B19-4E4A-ACFE-C79250041704}"/>
                </a:ext>
              </a:extLst>
            </p:cNvPr>
            <p:cNvSpPr/>
            <p:nvPr/>
          </p:nvSpPr>
          <p:spPr bwMode="auto">
            <a:xfrm>
              <a:off x="81760" y="5215844"/>
              <a:ext cx="873760" cy="351677"/>
            </a:xfrm>
            <a:prstGeom prst="snip1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rgbClr val="3399CC"/>
                </a:buClr>
                <a:buSzPct val="100000"/>
              </a:pPr>
              <a:r>
                <a:rPr lang="en-US" sz="1100">
                  <a:solidFill>
                    <a:srgbClr val="4D4D4D"/>
                  </a:solidFill>
                  <a:latin typeface="Arial" charset="0"/>
                  <a:cs typeface="Arial" charset="0"/>
                </a:rPr>
                <a:t>User Id</a:t>
              </a:r>
            </a:p>
          </p:txBody>
        </p:sp>
        <p:sp>
          <p:nvSpPr>
            <p:cNvPr id="67" name="Snip Single Corner of Rectangle 66">
              <a:extLst>
                <a:ext uri="{FF2B5EF4-FFF2-40B4-BE49-F238E27FC236}">
                  <a16:creationId xmlns:a16="http://schemas.microsoft.com/office/drawing/2014/main" id="{C29BA9DE-2303-A74C-BAB0-01F21816105D}"/>
                </a:ext>
              </a:extLst>
            </p:cNvPr>
            <p:cNvSpPr/>
            <p:nvPr/>
          </p:nvSpPr>
          <p:spPr bwMode="auto">
            <a:xfrm>
              <a:off x="75636" y="5602172"/>
              <a:ext cx="873760" cy="351677"/>
            </a:xfrm>
            <a:prstGeom prst="snip1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rgbClr val="3399CC"/>
                </a:buClr>
                <a:buSzPct val="100000"/>
              </a:pPr>
              <a:r>
                <a:rPr lang="en-US" sz="1100">
                  <a:solidFill>
                    <a:srgbClr val="4D4D4D"/>
                  </a:solidFill>
                  <a:latin typeface="Arial" charset="0"/>
                  <a:cs typeface="Arial" charset="0"/>
                </a:rPr>
                <a:t>Food Id</a:t>
              </a:r>
            </a:p>
          </p:txBody>
        </p:sp>
        <p:sp>
          <p:nvSpPr>
            <p:cNvPr id="68" name="Snip Single Corner of Rectangle 67">
              <a:extLst>
                <a:ext uri="{FF2B5EF4-FFF2-40B4-BE49-F238E27FC236}">
                  <a16:creationId xmlns:a16="http://schemas.microsoft.com/office/drawing/2014/main" id="{F016C657-55BC-2C4E-BD48-164C759AF2F6}"/>
                </a:ext>
              </a:extLst>
            </p:cNvPr>
            <p:cNvSpPr/>
            <p:nvPr/>
          </p:nvSpPr>
          <p:spPr bwMode="auto">
            <a:xfrm>
              <a:off x="75636" y="5988500"/>
              <a:ext cx="873760" cy="351677"/>
            </a:xfrm>
            <a:prstGeom prst="snip1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rgbClr val="3399CC"/>
                </a:buClr>
                <a:buSzPct val="100000"/>
              </a:pPr>
              <a:r>
                <a:rPr lang="en-US" sz="1100">
                  <a:solidFill>
                    <a:srgbClr val="4D4D4D"/>
                  </a:solidFill>
                  <a:latin typeface="Arial" charset="0"/>
                  <a:cs typeface="Arial" charset="0"/>
                </a:rPr>
                <a:t>Rating</a:t>
              </a:r>
            </a:p>
          </p:txBody>
        </p:sp>
      </p:grpSp>
      <p:sp>
        <p:nvSpPr>
          <p:cNvPr id="69" name="Striped Right Arrow 68">
            <a:extLst>
              <a:ext uri="{FF2B5EF4-FFF2-40B4-BE49-F238E27FC236}">
                <a16:creationId xmlns:a16="http://schemas.microsoft.com/office/drawing/2014/main" id="{4F869D04-7061-DA42-BFC5-319A4C0C5E4A}"/>
              </a:ext>
            </a:extLst>
          </p:cNvPr>
          <p:cNvSpPr/>
          <p:nvPr/>
        </p:nvSpPr>
        <p:spPr bwMode="auto">
          <a:xfrm>
            <a:off x="1447395" y="4485483"/>
            <a:ext cx="448114" cy="254447"/>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71" name="Left Brace 70">
            <a:extLst>
              <a:ext uri="{FF2B5EF4-FFF2-40B4-BE49-F238E27FC236}">
                <a16:creationId xmlns:a16="http://schemas.microsoft.com/office/drawing/2014/main" id="{11C61C46-DCAE-554F-87B4-357A9D0826C2}"/>
              </a:ext>
            </a:extLst>
          </p:cNvPr>
          <p:cNvSpPr/>
          <p:nvPr/>
        </p:nvSpPr>
        <p:spPr bwMode="auto">
          <a:xfrm>
            <a:off x="10715495" y="3044457"/>
            <a:ext cx="392520" cy="2165594"/>
          </a:xfrm>
          <a:prstGeom prst="leftBrac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grpSp>
        <p:nvGrpSpPr>
          <p:cNvPr id="72" name="Group 71">
            <a:extLst>
              <a:ext uri="{FF2B5EF4-FFF2-40B4-BE49-F238E27FC236}">
                <a16:creationId xmlns:a16="http://schemas.microsoft.com/office/drawing/2014/main" id="{C7DD3088-CA5E-D84D-8C93-5F99F9AC0F1D}"/>
              </a:ext>
            </a:extLst>
          </p:cNvPr>
          <p:cNvGrpSpPr/>
          <p:nvPr/>
        </p:nvGrpSpPr>
        <p:grpSpPr>
          <a:xfrm>
            <a:off x="324625" y="3214092"/>
            <a:ext cx="1110860" cy="660271"/>
            <a:chOff x="75636" y="5602172"/>
            <a:chExt cx="873760" cy="738005"/>
          </a:xfrm>
        </p:grpSpPr>
        <p:sp>
          <p:nvSpPr>
            <p:cNvPr id="74" name="Snip Single Corner of Rectangle 73">
              <a:extLst>
                <a:ext uri="{FF2B5EF4-FFF2-40B4-BE49-F238E27FC236}">
                  <a16:creationId xmlns:a16="http://schemas.microsoft.com/office/drawing/2014/main" id="{26CA4B91-CF0C-454F-87B0-AD35D9617E0F}"/>
                </a:ext>
              </a:extLst>
            </p:cNvPr>
            <p:cNvSpPr/>
            <p:nvPr/>
          </p:nvSpPr>
          <p:spPr bwMode="auto">
            <a:xfrm>
              <a:off x="75636" y="5602172"/>
              <a:ext cx="873760" cy="351677"/>
            </a:xfrm>
            <a:prstGeom prst="snip1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rgbClr val="3399CC"/>
                </a:buClr>
                <a:buSzPct val="100000"/>
              </a:pPr>
              <a:r>
                <a:rPr lang="en-US" sz="1100">
                  <a:solidFill>
                    <a:srgbClr val="4D4D4D"/>
                  </a:solidFill>
                  <a:latin typeface="Arial" charset="0"/>
                  <a:cs typeface="Arial" charset="0"/>
                </a:rPr>
                <a:t>Food Id</a:t>
              </a:r>
            </a:p>
          </p:txBody>
        </p:sp>
        <p:sp>
          <p:nvSpPr>
            <p:cNvPr id="75" name="Snip Single Corner of Rectangle 74">
              <a:extLst>
                <a:ext uri="{FF2B5EF4-FFF2-40B4-BE49-F238E27FC236}">
                  <a16:creationId xmlns:a16="http://schemas.microsoft.com/office/drawing/2014/main" id="{2728FB87-9E66-C04B-80B0-54944EAF319C}"/>
                </a:ext>
              </a:extLst>
            </p:cNvPr>
            <p:cNvSpPr/>
            <p:nvPr/>
          </p:nvSpPr>
          <p:spPr bwMode="auto">
            <a:xfrm>
              <a:off x="75636" y="5988500"/>
              <a:ext cx="873760" cy="351677"/>
            </a:xfrm>
            <a:prstGeom prst="snip1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rgbClr val="3399CC"/>
                </a:buClr>
                <a:buSzPct val="100000"/>
              </a:pPr>
              <a:r>
                <a:rPr lang="en-US" sz="1100">
                  <a:solidFill>
                    <a:srgbClr val="4D4D4D"/>
                  </a:solidFill>
                  <a:latin typeface="Arial" charset="0"/>
                  <a:cs typeface="Arial" charset="0"/>
                </a:rPr>
                <a:t>Ingredient Set</a:t>
              </a:r>
            </a:p>
          </p:txBody>
        </p:sp>
      </p:grpSp>
      <p:sp>
        <p:nvSpPr>
          <p:cNvPr id="77" name="TextBox 76">
            <a:extLst>
              <a:ext uri="{FF2B5EF4-FFF2-40B4-BE49-F238E27FC236}">
                <a16:creationId xmlns:a16="http://schemas.microsoft.com/office/drawing/2014/main" id="{DA47888A-D4E7-DE48-9465-0A07A7A93219}"/>
              </a:ext>
            </a:extLst>
          </p:cNvPr>
          <p:cNvSpPr txBox="1"/>
          <p:nvPr/>
        </p:nvSpPr>
        <p:spPr>
          <a:xfrm>
            <a:off x="11078597" y="3766991"/>
            <a:ext cx="1047565" cy="1008752"/>
          </a:xfrm>
          <a:prstGeom prst="rect">
            <a:avLst/>
          </a:prstGeom>
          <a:noFill/>
        </p:spPr>
        <p:txBody>
          <a:bodyPr wrap="square" rtlCol="0">
            <a:noAutofit/>
          </a:bodyPr>
          <a:lstStyle/>
          <a:p>
            <a:pPr marL="342900" indent="-342900">
              <a:buAutoNum type="arabicPeriod"/>
            </a:pPr>
            <a:r>
              <a:rPr lang="en-US" sz="1200"/>
              <a:t>…..</a:t>
            </a:r>
          </a:p>
          <a:p>
            <a:pPr marL="342900" indent="-342900">
              <a:buAutoNum type="arabicPeriod"/>
            </a:pPr>
            <a:r>
              <a:rPr lang="en-US" sz="1200"/>
              <a:t>……</a:t>
            </a:r>
          </a:p>
          <a:p>
            <a:pPr marL="342900" indent="-342900">
              <a:buAutoNum type="arabicPeriod"/>
            </a:pPr>
            <a:r>
              <a:rPr lang="en-US" sz="1200"/>
              <a:t>……</a:t>
            </a:r>
          </a:p>
          <a:p>
            <a:pPr marL="342900" indent="-342900">
              <a:buAutoNum type="arabicPeriod"/>
            </a:pPr>
            <a:r>
              <a:rPr lang="en-US" sz="1200"/>
              <a:t>…..</a:t>
            </a:r>
          </a:p>
          <a:p>
            <a:pPr marL="342900" indent="-342900">
              <a:buAutoNum type="arabicPeriod"/>
            </a:pPr>
            <a:endParaRPr lang="en-US" sz="1200"/>
          </a:p>
        </p:txBody>
      </p:sp>
      <p:sp>
        <p:nvSpPr>
          <p:cNvPr id="78" name="Striped Right Arrow 77">
            <a:extLst>
              <a:ext uri="{FF2B5EF4-FFF2-40B4-BE49-F238E27FC236}">
                <a16:creationId xmlns:a16="http://schemas.microsoft.com/office/drawing/2014/main" id="{3147EA4A-C771-CC4C-9812-1465A7BB2042}"/>
              </a:ext>
            </a:extLst>
          </p:cNvPr>
          <p:cNvSpPr/>
          <p:nvPr/>
        </p:nvSpPr>
        <p:spPr bwMode="auto">
          <a:xfrm>
            <a:off x="1464424" y="3400156"/>
            <a:ext cx="448114" cy="254447"/>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grpSp>
        <p:nvGrpSpPr>
          <p:cNvPr id="79" name="Group 78">
            <a:extLst>
              <a:ext uri="{FF2B5EF4-FFF2-40B4-BE49-F238E27FC236}">
                <a16:creationId xmlns:a16="http://schemas.microsoft.com/office/drawing/2014/main" id="{E0EE6649-13C0-2447-8911-6FADFEBFAFEA}"/>
              </a:ext>
            </a:extLst>
          </p:cNvPr>
          <p:cNvGrpSpPr/>
          <p:nvPr/>
        </p:nvGrpSpPr>
        <p:grpSpPr>
          <a:xfrm>
            <a:off x="324625" y="2294054"/>
            <a:ext cx="1110860" cy="660271"/>
            <a:chOff x="75636" y="5602172"/>
            <a:chExt cx="873760" cy="738005"/>
          </a:xfrm>
        </p:grpSpPr>
        <p:sp>
          <p:nvSpPr>
            <p:cNvPr id="80" name="Snip Single Corner of Rectangle 79">
              <a:extLst>
                <a:ext uri="{FF2B5EF4-FFF2-40B4-BE49-F238E27FC236}">
                  <a16:creationId xmlns:a16="http://schemas.microsoft.com/office/drawing/2014/main" id="{FF3C7005-D8DA-5642-9E11-4AA7912B1F0F}"/>
                </a:ext>
              </a:extLst>
            </p:cNvPr>
            <p:cNvSpPr/>
            <p:nvPr/>
          </p:nvSpPr>
          <p:spPr bwMode="auto">
            <a:xfrm>
              <a:off x="75636" y="5602172"/>
              <a:ext cx="873760" cy="351677"/>
            </a:xfrm>
            <a:prstGeom prst="snip1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rgbClr val="3399CC"/>
                </a:buClr>
                <a:buSzPct val="100000"/>
              </a:pPr>
              <a:r>
                <a:rPr lang="en-US" sz="1100">
                  <a:solidFill>
                    <a:srgbClr val="4D4D4D"/>
                  </a:solidFill>
                  <a:latin typeface="Arial" charset="0"/>
                  <a:cs typeface="Arial" charset="0"/>
                </a:rPr>
                <a:t>Order Id</a:t>
              </a:r>
            </a:p>
          </p:txBody>
        </p:sp>
        <p:sp>
          <p:nvSpPr>
            <p:cNvPr id="81" name="Snip Single Corner of Rectangle 80">
              <a:extLst>
                <a:ext uri="{FF2B5EF4-FFF2-40B4-BE49-F238E27FC236}">
                  <a16:creationId xmlns:a16="http://schemas.microsoft.com/office/drawing/2014/main" id="{279E4198-EBB9-3C4E-B03E-5684E869FB8E}"/>
                </a:ext>
              </a:extLst>
            </p:cNvPr>
            <p:cNvSpPr/>
            <p:nvPr/>
          </p:nvSpPr>
          <p:spPr bwMode="auto">
            <a:xfrm>
              <a:off x="75636" y="5988500"/>
              <a:ext cx="873760" cy="351677"/>
            </a:xfrm>
            <a:prstGeom prst="snip1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noAutofit/>
            </a:bodyPr>
            <a:lstStyle/>
            <a:p>
              <a:pPr defTabSz="912813" fontAlgn="base">
                <a:spcBef>
                  <a:spcPct val="20000"/>
                </a:spcBef>
                <a:spcAft>
                  <a:spcPct val="0"/>
                </a:spcAft>
                <a:buClr>
                  <a:srgbClr val="3399CC"/>
                </a:buClr>
                <a:buSzPct val="100000"/>
              </a:pPr>
              <a:r>
                <a:rPr lang="en-US" sz="1100">
                  <a:solidFill>
                    <a:srgbClr val="4D4D4D"/>
                  </a:solidFill>
                  <a:latin typeface="Arial" charset="0"/>
                  <a:cs typeface="Arial" charset="0"/>
                </a:rPr>
                <a:t>Food Id Set</a:t>
              </a:r>
            </a:p>
          </p:txBody>
        </p:sp>
      </p:grpSp>
      <p:sp>
        <p:nvSpPr>
          <p:cNvPr id="82" name="Striped Right Arrow 81">
            <a:extLst>
              <a:ext uri="{FF2B5EF4-FFF2-40B4-BE49-F238E27FC236}">
                <a16:creationId xmlns:a16="http://schemas.microsoft.com/office/drawing/2014/main" id="{04B1D23A-E85A-C540-982D-3FB63043D8C4}"/>
              </a:ext>
            </a:extLst>
          </p:cNvPr>
          <p:cNvSpPr/>
          <p:nvPr/>
        </p:nvSpPr>
        <p:spPr bwMode="auto">
          <a:xfrm>
            <a:off x="1492355" y="2442052"/>
            <a:ext cx="420183" cy="254447"/>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83" name="Left Brace 82">
            <a:extLst>
              <a:ext uri="{FF2B5EF4-FFF2-40B4-BE49-F238E27FC236}">
                <a16:creationId xmlns:a16="http://schemas.microsoft.com/office/drawing/2014/main" id="{0A9EF598-ADAA-CC4D-8549-DAEB3792AE9A}"/>
              </a:ext>
            </a:extLst>
          </p:cNvPr>
          <p:cNvSpPr/>
          <p:nvPr/>
        </p:nvSpPr>
        <p:spPr bwMode="auto">
          <a:xfrm rot="5400000">
            <a:off x="759806" y="1503240"/>
            <a:ext cx="264316" cy="1110861"/>
          </a:xfrm>
          <a:prstGeom prst="leftBrac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84" name="Left-up Arrow 83">
            <a:extLst>
              <a:ext uri="{FF2B5EF4-FFF2-40B4-BE49-F238E27FC236}">
                <a16:creationId xmlns:a16="http://schemas.microsoft.com/office/drawing/2014/main" id="{41DEF309-4560-EB4F-9CB6-8B54DE548286}"/>
              </a:ext>
            </a:extLst>
          </p:cNvPr>
          <p:cNvSpPr/>
          <p:nvPr/>
        </p:nvSpPr>
        <p:spPr bwMode="auto">
          <a:xfrm rot="10800000">
            <a:off x="706054" y="1109593"/>
            <a:ext cx="6092745" cy="498909"/>
          </a:xfrm>
          <a:prstGeom prst="leftUpArrow">
            <a:avLst>
              <a:gd name="adj1" fmla="val 11006"/>
              <a:gd name="adj2" fmla="val 23096"/>
              <a:gd name="adj3" fmla="val 10683"/>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85" name="Left Brace 84">
            <a:extLst>
              <a:ext uri="{FF2B5EF4-FFF2-40B4-BE49-F238E27FC236}">
                <a16:creationId xmlns:a16="http://schemas.microsoft.com/office/drawing/2014/main" id="{4A23427A-225C-3B42-993A-0D06583193CA}"/>
              </a:ext>
            </a:extLst>
          </p:cNvPr>
          <p:cNvSpPr/>
          <p:nvPr/>
        </p:nvSpPr>
        <p:spPr bwMode="auto">
          <a:xfrm rot="5400000">
            <a:off x="2310936" y="1495212"/>
            <a:ext cx="264316" cy="1110861"/>
          </a:xfrm>
          <a:prstGeom prst="leftBrac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86" name="TextBox 85">
            <a:extLst>
              <a:ext uri="{FF2B5EF4-FFF2-40B4-BE49-F238E27FC236}">
                <a16:creationId xmlns:a16="http://schemas.microsoft.com/office/drawing/2014/main" id="{33139204-AD86-1645-AE6A-0224A5C59EA3}"/>
              </a:ext>
            </a:extLst>
          </p:cNvPr>
          <p:cNvSpPr txBox="1"/>
          <p:nvPr/>
        </p:nvSpPr>
        <p:spPr>
          <a:xfrm>
            <a:off x="1757910" y="1636312"/>
            <a:ext cx="1835422" cy="169828"/>
          </a:xfrm>
          <a:prstGeom prst="rect">
            <a:avLst/>
          </a:prstGeom>
          <a:noFill/>
        </p:spPr>
        <p:txBody>
          <a:bodyPr wrap="square" rtlCol="0">
            <a:noAutofit/>
          </a:bodyPr>
          <a:lstStyle/>
          <a:p>
            <a:r>
              <a:rPr lang="en-US" sz="1400"/>
              <a:t>Model Training</a:t>
            </a:r>
          </a:p>
        </p:txBody>
      </p:sp>
      <p:sp>
        <p:nvSpPr>
          <p:cNvPr id="87" name="Left Brace 86">
            <a:extLst>
              <a:ext uri="{FF2B5EF4-FFF2-40B4-BE49-F238E27FC236}">
                <a16:creationId xmlns:a16="http://schemas.microsoft.com/office/drawing/2014/main" id="{684D0BF8-B65E-9E4D-B2F2-37B66D61BF47}"/>
              </a:ext>
            </a:extLst>
          </p:cNvPr>
          <p:cNvSpPr/>
          <p:nvPr/>
        </p:nvSpPr>
        <p:spPr bwMode="auto">
          <a:xfrm rot="5400000">
            <a:off x="4146358" y="1492249"/>
            <a:ext cx="264316" cy="1110861"/>
          </a:xfrm>
          <a:prstGeom prst="leftBrac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88" name="TextBox 87">
            <a:extLst>
              <a:ext uri="{FF2B5EF4-FFF2-40B4-BE49-F238E27FC236}">
                <a16:creationId xmlns:a16="http://schemas.microsoft.com/office/drawing/2014/main" id="{0D741B24-78A4-154C-985D-1091D23FA240}"/>
              </a:ext>
            </a:extLst>
          </p:cNvPr>
          <p:cNvSpPr txBox="1"/>
          <p:nvPr/>
        </p:nvSpPr>
        <p:spPr>
          <a:xfrm>
            <a:off x="3593332" y="1633349"/>
            <a:ext cx="1835422" cy="169828"/>
          </a:xfrm>
          <a:prstGeom prst="rect">
            <a:avLst/>
          </a:prstGeom>
          <a:noFill/>
        </p:spPr>
        <p:txBody>
          <a:bodyPr wrap="square" rtlCol="0">
            <a:noAutofit/>
          </a:bodyPr>
          <a:lstStyle/>
          <a:p>
            <a:r>
              <a:rPr lang="en-US" sz="1400"/>
              <a:t>Trained Model</a:t>
            </a:r>
          </a:p>
        </p:txBody>
      </p:sp>
      <p:sp>
        <p:nvSpPr>
          <p:cNvPr id="89" name="TextBox 88">
            <a:extLst>
              <a:ext uri="{FF2B5EF4-FFF2-40B4-BE49-F238E27FC236}">
                <a16:creationId xmlns:a16="http://schemas.microsoft.com/office/drawing/2014/main" id="{798EA46D-75B9-4B44-A85B-073C12D690EF}"/>
              </a:ext>
            </a:extLst>
          </p:cNvPr>
          <p:cNvSpPr txBox="1"/>
          <p:nvPr/>
        </p:nvSpPr>
        <p:spPr>
          <a:xfrm>
            <a:off x="324625" y="1642621"/>
            <a:ext cx="1221303" cy="169828"/>
          </a:xfrm>
          <a:prstGeom prst="rect">
            <a:avLst/>
          </a:prstGeom>
          <a:noFill/>
        </p:spPr>
        <p:txBody>
          <a:bodyPr wrap="square" rtlCol="0">
            <a:noAutofit/>
          </a:bodyPr>
          <a:lstStyle/>
          <a:p>
            <a:r>
              <a:rPr lang="en-US" sz="1400"/>
              <a:t>Model Inputs</a:t>
            </a:r>
          </a:p>
        </p:txBody>
      </p:sp>
      <p:sp>
        <p:nvSpPr>
          <p:cNvPr id="8" name="Rounded Rectangle 7">
            <a:extLst>
              <a:ext uri="{FF2B5EF4-FFF2-40B4-BE49-F238E27FC236}">
                <a16:creationId xmlns:a16="http://schemas.microsoft.com/office/drawing/2014/main" id="{FE4DE28B-4180-CD46-8983-B5F96322E1D7}"/>
              </a:ext>
            </a:extLst>
          </p:cNvPr>
          <p:cNvSpPr/>
          <p:nvPr/>
        </p:nvSpPr>
        <p:spPr bwMode="auto">
          <a:xfrm>
            <a:off x="7904676" y="3013954"/>
            <a:ext cx="741440" cy="2274910"/>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vert270"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2000" b="0" i="0" u="none" strike="noStrike" cap="none" normalizeH="0" baseline="0" dirty="0">
                <a:ln>
                  <a:noFill/>
                </a:ln>
                <a:solidFill>
                  <a:srgbClr val="4D4D4D"/>
                </a:solidFill>
                <a:effectLst/>
                <a:latin typeface="Arial" charset="0"/>
                <a:cs typeface="Arial" charset="0"/>
              </a:rPr>
              <a:t>Reducer</a:t>
            </a:r>
          </a:p>
        </p:txBody>
      </p:sp>
    </p:spTree>
    <p:extLst>
      <p:ext uri="{BB962C8B-B14F-4D97-AF65-F5344CB8AC3E}">
        <p14:creationId xmlns:p14="http://schemas.microsoft.com/office/powerpoint/2010/main" val="467263978"/>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4FE6-5FFB-4CD6-86C9-F28ADF1AFF9D}"/>
              </a:ext>
            </a:extLst>
          </p:cNvPr>
          <p:cNvSpPr>
            <a:spLocks noGrp="1"/>
          </p:cNvSpPr>
          <p:nvPr>
            <p:ph type="title"/>
          </p:nvPr>
        </p:nvSpPr>
        <p:spPr>
          <a:xfrm>
            <a:off x="0" y="63500"/>
            <a:ext cx="12192000" cy="850392"/>
          </a:xfrm>
        </p:spPr>
        <p:txBody>
          <a:bodyPr/>
          <a:lstStyle/>
          <a:p>
            <a:r>
              <a:rPr lang="en-US"/>
              <a:t>Code</a:t>
            </a:r>
            <a:endParaRPr lang="en-IN"/>
          </a:p>
        </p:txBody>
      </p:sp>
      <p:sp>
        <p:nvSpPr>
          <p:cNvPr id="3" name="Text Placeholder 2">
            <a:extLst>
              <a:ext uri="{FF2B5EF4-FFF2-40B4-BE49-F238E27FC236}">
                <a16:creationId xmlns:a16="http://schemas.microsoft.com/office/drawing/2014/main" id="{17131D41-2790-44A4-92B4-572A3E84F6EE}"/>
              </a:ext>
            </a:extLst>
          </p:cNvPr>
          <p:cNvSpPr>
            <a:spLocks noGrp="1"/>
          </p:cNvSpPr>
          <p:nvPr>
            <p:ph type="body" sz="quarter" idx="10"/>
          </p:nvPr>
        </p:nvSpPr>
        <p:spPr/>
        <p:txBody>
          <a:bodyPr/>
          <a:lstStyle/>
          <a:p>
            <a:endParaRPr lang="en-IN"/>
          </a:p>
        </p:txBody>
      </p:sp>
      <p:sp>
        <p:nvSpPr>
          <p:cNvPr id="4" name="Text Placeholder 2">
            <a:extLst>
              <a:ext uri="{FF2B5EF4-FFF2-40B4-BE49-F238E27FC236}">
                <a16:creationId xmlns:a16="http://schemas.microsoft.com/office/drawing/2014/main" id="{B87B81B0-C095-40AB-BAEF-DFFB5D55275B}"/>
              </a:ext>
            </a:extLst>
          </p:cNvPr>
          <p:cNvSpPr txBox="1">
            <a:spLocks/>
          </p:cNvSpPr>
          <p:nvPr/>
        </p:nvSpPr>
        <p:spPr>
          <a:xfrm>
            <a:off x="145774" y="1063980"/>
            <a:ext cx="11812225" cy="5331722"/>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algn="l" defTabSz="912813" rtl="0" eaLnBrk="1" fontAlgn="base" hangingPunct="1">
              <a:spcBef>
                <a:spcPct val="20000"/>
              </a:spcBef>
              <a:spcAft>
                <a:spcPct val="0"/>
              </a:spcAft>
              <a:buClr>
                <a:schemeClr val="accent1"/>
              </a:buClr>
              <a:defRPr lang="en-US" sz="2400">
                <a:solidFill>
                  <a:schemeClr val="tx1">
                    <a:lumMod val="75000"/>
                  </a:schemeClr>
                </a:solidFill>
                <a:latin typeface="Calibri" pitchFamily="34" charset="0"/>
                <a:ea typeface="+mn-ea"/>
                <a:cs typeface="+mn-cs"/>
              </a:defRPr>
            </a:lvl1pPr>
            <a:lvl2pPr marL="628650" indent="-171450" algn="l" defTabSz="912813" rtl="0" eaLnBrk="1" fontAlgn="base" hangingPunct="1">
              <a:spcBef>
                <a:spcPct val="20000"/>
              </a:spcBef>
              <a:spcAft>
                <a:spcPct val="0"/>
              </a:spcAft>
              <a:buClr>
                <a:schemeClr val="accent1"/>
              </a:buClr>
              <a:buSzPct val="60000"/>
              <a:buFontTx/>
              <a:buBlip>
                <a:blip r:embed="rId3"/>
              </a:buBlip>
              <a:defRPr lang="en-US" sz="1600">
                <a:solidFill>
                  <a:schemeClr val="tx1">
                    <a:lumMod val="75000"/>
                  </a:schemeClr>
                </a:solidFill>
                <a:latin typeface="Calibri" pitchFamily="34" charset="0"/>
                <a:ea typeface="+mn-ea"/>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3"/>
              </a:buBlip>
              <a:defRPr sz="1800">
                <a:solidFill>
                  <a:schemeClr val="dk1"/>
                </a:solidFill>
                <a:latin typeface="Calibri" pitchFamily="34" charset="0"/>
                <a:ea typeface="+mn-ea"/>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3"/>
              </a:buBlip>
              <a:defRPr sz="1800">
                <a:solidFill>
                  <a:schemeClr val="dk1"/>
                </a:solidFill>
                <a:latin typeface="Calibri" pitchFamily="34" charset="0"/>
                <a:ea typeface="+mn-ea"/>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3"/>
              </a:buBlip>
              <a:defRPr sz="1800">
                <a:solidFill>
                  <a:schemeClr val="dk1"/>
                </a:solidFill>
                <a:latin typeface="Calibri" pitchFamily="34" charset="0"/>
                <a:ea typeface="+mn-ea"/>
                <a:cs typeface="+mn-cs"/>
              </a:defRPr>
            </a:lvl5pPr>
            <a:lvl6pPr marL="2247900" indent="-266700" algn="l" defTabSz="912813" rtl="0" eaLnBrk="1" fontAlgn="base" hangingPunct="1">
              <a:spcBef>
                <a:spcPct val="20000"/>
              </a:spcBef>
              <a:spcAft>
                <a:spcPct val="0"/>
              </a:spcAft>
              <a:buClr>
                <a:schemeClr val="accent1"/>
              </a:buClr>
              <a:buChar char="•"/>
              <a:defRPr>
                <a:solidFill>
                  <a:schemeClr val="dk1"/>
                </a:solidFill>
                <a:latin typeface="+mn-lt"/>
                <a:ea typeface="+mn-ea"/>
                <a:cs typeface="+mn-cs"/>
              </a:defRPr>
            </a:lvl6pPr>
            <a:lvl7pPr marL="2705100" indent="-266700" algn="l" defTabSz="912813" rtl="0" eaLnBrk="1" fontAlgn="base" hangingPunct="1">
              <a:spcBef>
                <a:spcPct val="20000"/>
              </a:spcBef>
              <a:spcAft>
                <a:spcPct val="0"/>
              </a:spcAft>
              <a:buClr>
                <a:schemeClr val="accent1"/>
              </a:buClr>
              <a:buChar char="•"/>
              <a:defRPr>
                <a:solidFill>
                  <a:schemeClr val="dk1"/>
                </a:solidFill>
                <a:latin typeface="+mn-lt"/>
                <a:ea typeface="+mn-ea"/>
                <a:cs typeface="+mn-cs"/>
              </a:defRPr>
            </a:lvl7pPr>
            <a:lvl8pPr marL="3162300" indent="-266700" algn="l" defTabSz="912813" rtl="0" eaLnBrk="1" fontAlgn="base" hangingPunct="1">
              <a:spcBef>
                <a:spcPct val="20000"/>
              </a:spcBef>
              <a:spcAft>
                <a:spcPct val="0"/>
              </a:spcAft>
              <a:buClr>
                <a:schemeClr val="accent1"/>
              </a:buClr>
              <a:buChar char="•"/>
              <a:defRPr>
                <a:solidFill>
                  <a:schemeClr val="dk1"/>
                </a:solidFill>
                <a:latin typeface="+mn-lt"/>
                <a:ea typeface="+mn-ea"/>
                <a:cs typeface="+mn-cs"/>
              </a:defRPr>
            </a:lvl8pPr>
            <a:lvl9pPr marL="3619500" indent="-266700" algn="l" defTabSz="912813" rtl="0" eaLnBrk="1" fontAlgn="base" hangingPunct="1">
              <a:spcBef>
                <a:spcPct val="20000"/>
              </a:spcBef>
              <a:spcAft>
                <a:spcPct val="0"/>
              </a:spcAft>
              <a:buClr>
                <a:schemeClr val="accent1"/>
              </a:buClr>
              <a:buChar char="•"/>
              <a:defRPr>
                <a:solidFill>
                  <a:schemeClr val="dk1"/>
                </a:solidFill>
                <a:latin typeface="+mn-lt"/>
                <a:ea typeface="+mn-ea"/>
                <a:cs typeface="+mn-cs"/>
              </a:defRPr>
            </a:lvl9pPr>
          </a:lstStyle>
          <a:p>
            <a:r>
              <a:rPr lang="en-US" sz="2000" dirty="0"/>
              <a:t>Food Recommender System Code hosted at </a:t>
            </a:r>
            <a:r>
              <a:rPr lang="en-US" sz="2000" dirty="0">
                <a:hlinkClick r:id="rId4"/>
              </a:rPr>
              <a:t>Google </a:t>
            </a:r>
            <a:r>
              <a:rPr lang="en-US" sz="2000" err="1">
                <a:hlinkClick r:id="rId4"/>
              </a:rPr>
              <a:t>Colab</a:t>
            </a:r>
            <a:r>
              <a:rPr lang="en-US" sz="2000"/>
              <a:t> [</a:t>
            </a:r>
            <a:r>
              <a:rPr lang="en-IN" sz="1400">
                <a:hlinkClick r:id="rId5"/>
              </a:rPr>
              <a:t>Source</a:t>
            </a:r>
            <a:r>
              <a:rPr lang="en-IN" sz="2000"/>
              <a:t>]</a:t>
            </a:r>
          </a:p>
          <a:p>
            <a:endParaRPr lang="en-US" sz="2000" dirty="0"/>
          </a:p>
          <a:p>
            <a:endParaRPr lang="en-US" sz="2000"/>
          </a:p>
        </p:txBody>
      </p:sp>
      <p:pic>
        <p:nvPicPr>
          <p:cNvPr id="7" name="Picture 6">
            <a:extLst>
              <a:ext uri="{FF2B5EF4-FFF2-40B4-BE49-F238E27FC236}">
                <a16:creationId xmlns:a16="http://schemas.microsoft.com/office/drawing/2014/main" id="{FBBA6B9E-FBE5-4EEA-B0AE-CE5455EC9859}"/>
              </a:ext>
            </a:extLst>
          </p:cNvPr>
          <p:cNvPicPr>
            <a:picLocks noChangeAspect="1"/>
          </p:cNvPicPr>
          <p:nvPr/>
        </p:nvPicPr>
        <p:blipFill>
          <a:blip r:embed="rId6"/>
          <a:stretch>
            <a:fillRect/>
          </a:stretch>
        </p:blipFill>
        <p:spPr>
          <a:xfrm>
            <a:off x="4219369" y="1651250"/>
            <a:ext cx="2585007" cy="3129219"/>
          </a:xfrm>
          <a:prstGeom prst="rect">
            <a:avLst/>
          </a:prstGeom>
        </p:spPr>
      </p:pic>
      <p:pic>
        <p:nvPicPr>
          <p:cNvPr id="9" name="Picture 8">
            <a:extLst>
              <a:ext uri="{FF2B5EF4-FFF2-40B4-BE49-F238E27FC236}">
                <a16:creationId xmlns:a16="http://schemas.microsoft.com/office/drawing/2014/main" id="{B374EFE5-6854-4605-9DD0-2C16C6B2AFDD}"/>
              </a:ext>
            </a:extLst>
          </p:cNvPr>
          <p:cNvPicPr>
            <a:picLocks noChangeAspect="1"/>
          </p:cNvPicPr>
          <p:nvPr/>
        </p:nvPicPr>
        <p:blipFill>
          <a:blip r:embed="rId7"/>
          <a:stretch>
            <a:fillRect/>
          </a:stretch>
        </p:blipFill>
        <p:spPr>
          <a:xfrm>
            <a:off x="747314" y="1651250"/>
            <a:ext cx="3343275" cy="4016356"/>
          </a:xfrm>
          <a:prstGeom prst="rect">
            <a:avLst/>
          </a:prstGeom>
        </p:spPr>
      </p:pic>
      <p:pic>
        <p:nvPicPr>
          <p:cNvPr id="11" name="Picture 10">
            <a:extLst>
              <a:ext uri="{FF2B5EF4-FFF2-40B4-BE49-F238E27FC236}">
                <a16:creationId xmlns:a16="http://schemas.microsoft.com/office/drawing/2014/main" id="{F0F9CAA3-F8E0-41DC-88F2-0F107B9F1822}"/>
              </a:ext>
            </a:extLst>
          </p:cNvPr>
          <p:cNvPicPr>
            <a:picLocks noChangeAspect="1"/>
          </p:cNvPicPr>
          <p:nvPr/>
        </p:nvPicPr>
        <p:blipFill>
          <a:blip r:embed="rId8"/>
          <a:stretch>
            <a:fillRect/>
          </a:stretch>
        </p:blipFill>
        <p:spPr>
          <a:xfrm>
            <a:off x="7221292" y="1267111"/>
            <a:ext cx="4067175" cy="3095625"/>
          </a:xfrm>
          <a:prstGeom prst="rect">
            <a:avLst/>
          </a:prstGeom>
        </p:spPr>
      </p:pic>
      <p:pic>
        <p:nvPicPr>
          <p:cNvPr id="15" name="Picture 14">
            <a:extLst>
              <a:ext uri="{FF2B5EF4-FFF2-40B4-BE49-F238E27FC236}">
                <a16:creationId xmlns:a16="http://schemas.microsoft.com/office/drawing/2014/main" id="{E5088BA1-212F-4AAA-B2F2-C9B88298DA41}"/>
              </a:ext>
            </a:extLst>
          </p:cNvPr>
          <p:cNvPicPr>
            <a:picLocks noChangeAspect="1"/>
          </p:cNvPicPr>
          <p:nvPr/>
        </p:nvPicPr>
        <p:blipFill>
          <a:blip r:embed="rId9"/>
          <a:stretch>
            <a:fillRect/>
          </a:stretch>
        </p:blipFill>
        <p:spPr>
          <a:xfrm>
            <a:off x="5511872" y="3241207"/>
            <a:ext cx="6302473" cy="3029207"/>
          </a:xfrm>
          <a:prstGeom prst="rect">
            <a:avLst/>
          </a:prstGeom>
        </p:spPr>
      </p:pic>
    </p:spTree>
    <p:extLst>
      <p:ext uri="{BB962C8B-B14F-4D97-AF65-F5344CB8AC3E}">
        <p14:creationId xmlns:p14="http://schemas.microsoft.com/office/powerpoint/2010/main" val="2890248599"/>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297E13-8057-0249-BE83-744748AA9C45}"/>
              </a:ext>
            </a:extLst>
          </p:cNvPr>
          <p:cNvSpPr>
            <a:spLocks noGrp="1"/>
          </p:cNvSpPr>
          <p:nvPr>
            <p:ph type="body" sz="quarter" idx="10"/>
          </p:nvPr>
        </p:nvSpPr>
        <p:spPr>
          <a:xfrm>
            <a:off x="2801694" y="2175024"/>
            <a:ext cx="4453227" cy="466344"/>
          </a:xfrm>
          <a:noFill/>
        </p:spPr>
        <p:txBody>
          <a:bodyPr/>
          <a:lstStyle/>
          <a:p>
            <a:r>
              <a:rPr lang="en-US" dirty="0"/>
              <a:t>Business &amp; Data Understanding</a:t>
            </a:r>
          </a:p>
        </p:txBody>
      </p:sp>
      <p:sp>
        <p:nvSpPr>
          <p:cNvPr id="3" name="Text Placeholder 2">
            <a:extLst>
              <a:ext uri="{FF2B5EF4-FFF2-40B4-BE49-F238E27FC236}">
                <a16:creationId xmlns:a16="http://schemas.microsoft.com/office/drawing/2014/main" id="{0FB72F3C-0713-8845-A7DB-7B70C4E306F6}"/>
              </a:ext>
            </a:extLst>
          </p:cNvPr>
          <p:cNvSpPr>
            <a:spLocks noGrp="1"/>
          </p:cNvSpPr>
          <p:nvPr>
            <p:ph type="body" sz="quarter" idx="11"/>
          </p:nvPr>
        </p:nvSpPr>
        <p:spPr>
          <a:xfrm>
            <a:off x="2801694" y="2752176"/>
            <a:ext cx="4453227" cy="466344"/>
          </a:xfrm>
        </p:spPr>
        <p:txBody>
          <a:bodyPr/>
          <a:lstStyle/>
          <a:p>
            <a:r>
              <a:rPr lang="en-US" dirty="0"/>
              <a:t>Data Preparation </a:t>
            </a:r>
          </a:p>
        </p:txBody>
      </p:sp>
      <p:sp>
        <p:nvSpPr>
          <p:cNvPr id="4" name="Text Placeholder 3">
            <a:extLst>
              <a:ext uri="{FF2B5EF4-FFF2-40B4-BE49-F238E27FC236}">
                <a16:creationId xmlns:a16="http://schemas.microsoft.com/office/drawing/2014/main" id="{8FC09673-D0CE-2943-9150-44A9049F1FE8}"/>
              </a:ext>
            </a:extLst>
          </p:cNvPr>
          <p:cNvSpPr>
            <a:spLocks noGrp="1"/>
          </p:cNvSpPr>
          <p:nvPr>
            <p:ph type="body" sz="quarter" idx="12"/>
          </p:nvPr>
        </p:nvSpPr>
        <p:spPr>
          <a:xfrm>
            <a:off x="2801694" y="3329327"/>
            <a:ext cx="4453227" cy="466344"/>
          </a:xfrm>
        </p:spPr>
        <p:txBody>
          <a:bodyPr/>
          <a:lstStyle/>
          <a:p>
            <a:r>
              <a:rPr lang="en-US" dirty="0"/>
              <a:t>The Modeling and Evaluation</a:t>
            </a:r>
          </a:p>
        </p:txBody>
      </p:sp>
      <p:sp>
        <p:nvSpPr>
          <p:cNvPr id="6" name="Text Placeholder 5">
            <a:extLst>
              <a:ext uri="{FF2B5EF4-FFF2-40B4-BE49-F238E27FC236}">
                <a16:creationId xmlns:a16="http://schemas.microsoft.com/office/drawing/2014/main" id="{D0B87B07-F4AF-F246-9686-BAADFAE1760C}"/>
              </a:ext>
            </a:extLst>
          </p:cNvPr>
          <p:cNvSpPr>
            <a:spLocks noGrp="1"/>
          </p:cNvSpPr>
          <p:nvPr>
            <p:ph type="body" sz="quarter" idx="14"/>
          </p:nvPr>
        </p:nvSpPr>
        <p:spPr>
          <a:xfrm>
            <a:off x="2801694" y="3848630"/>
            <a:ext cx="4453227" cy="466344"/>
          </a:xfrm>
          <a:solidFill>
            <a:srgbClr val="FEA626">
              <a:alpha val="65882"/>
            </a:srgbClr>
          </a:solidFill>
        </p:spPr>
        <p:txBody>
          <a:bodyPr vert="horz" lIns="91440" tIns="45720" rIns="91440" bIns="45720" rtlCol="0">
            <a:normAutofit/>
          </a:bodyPr>
          <a:lstStyle/>
          <a:p>
            <a:r>
              <a:rPr lang="en-US"/>
              <a:t>Deployment</a:t>
            </a:r>
          </a:p>
        </p:txBody>
      </p:sp>
      <p:sp>
        <p:nvSpPr>
          <p:cNvPr id="7" name="Text Placeholder 5">
            <a:extLst>
              <a:ext uri="{FF2B5EF4-FFF2-40B4-BE49-F238E27FC236}">
                <a16:creationId xmlns:a16="http://schemas.microsoft.com/office/drawing/2014/main" id="{59454E4C-D7CA-D246-8236-2DA343BEFAD7}"/>
              </a:ext>
            </a:extLst>
          </p:cNvPr>
          <p:cNvSpPr txBox="1">
            <a:spLocks/>
          </p:cNvSpPr>
          <p:nvPr/>
        </p:nvSpPr>
        <p:spPr>
          <a:xfrm>
            <a:off x="2812845" y="4450796"/>
            <a:ext cx="4453227" cy="466344"/>
          </a:xfrm>
          <a:prstGeom prst="rect">
            <a:avLst/>
          </a:prstGeom>
        </p:spPr>
        <p:txBody>
          <a:bodyPr vert="horz" lIns="91440" tIns="45720" rIns="91440" bIns="45720" rtlCol="0">
            <a:normAutofit/>
          </a:bodyPr>
          <a:lstStyle>
            <a:lvl1pPr algn="l" defTabSz="912813" rtl="0" eaLnBrk="1" fontAlgn="auto" hangingPunct="1">
              <a:spcBef>
                <a:spcPts val="0"/>
              </a:spcBef>
              <a:spcAft>
                <a:spcPts val="0"/>
              </a:spcAft>
              <a:buClrTx/>
              <a:buSzTx/>
              <a:buFontTx/>
              <a:buNone/>
              <a:defRPr lang="en-US" sz="2400">
                <a:solidFill>
                  <a:schemeClr val="tx1">
                    <a:lumMod val="75000"/>
                  </a:schemeClr>
                </a:solidFill>
                <a:latin typeface="Calibri" pitchFamily="34" charset="0"/>
                <a:ea typeface="+mn-ea"/>
                <a:cs typeface="+mn-cs"/>
              </a:defRPr>
            </a:lvl1pPr>
            <a:lvl2pPr marL="742950" indent="-285750" algn="l" defTabSz="912813" rtl="0" eaLnBrk="1" fontAlgn="base" hangingPunct="1">
              <a:spcBef>
                <a:spcPct val="20000"/>
              </a:spcBef>
              <a:spcAft>
                <a:spcPct val="0"/>
              </a:spcAft>
              <a:buClr>
                <a:schemeClr val="accent1"/>
              </a:buClr>
              <a:buSzPct val="90000"/>
              <a:buFontTx/>
              <a:buBlip>
                <a:blip r:embed="rId2"/>
              </a:buBlip>
              <a:defRPr lang="en-US" sz="1600" dirty="0" smtClean="0">
                <a:solidFill>
                  <a:schemeClr val="tx1">
                    <a:lumMod val="75000"/>
                  </a:schemeClr>
                </a:solidFill>
                <a:latin typeface="Calibri" pitchFamily="34" charset="0"/>
                <a:cs typeface="+mn-cs"/>
              </a:defRPr>
            </a:lvl2pPr>
            <a:lvl3pPr marL="12001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3pPr>
            <a:lvl4pPr marL="160020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4pPr>
            <a:lvl5pPr marL="2000250" indent="-285750" algn="l" defTabSz="912813" rtl="0" eaLnBrk="1" fontAlgn="base" hangingPunct="1">
              <a:spcBef>
                <a:spcPct val="20000"/>
              </a:spcBef>
              <a:spcAft>
                <a:spcPct val="0"/>
              </a:spcAft>
              <a:buClr>
                <a:schemeClr val="accent1"/>
              </a:buClr>
              <a:buSzPct val="80000"/>
              <a:buFontTx/>
              <a:buBlip>
                <a:blip r:embed="rId2"/>
              </a:buBlip>
              <a:defRPr sz="1800">
                <a:solidFill>
                  <a:schemeClr val="tx1">
                    <a:lumMod val="50000"/>
                  </a:schemeClr>
                </a:solidFill>
                <a:latin typeface="Calibri" pitchFamily="34" charset="0"/>
                <a:cs typeface="+mn-cs"/>
              </a:defRPr>
            </a:lvl5pPr>
            <a:lvl6pPr marL="22479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6pPr>
            <a:lvl7pPr marL="27051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7pPr>
            <a:lvl8pPr marL="31623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8pPr>
            <a:lvl9pPr marL="3619500" indent="-266700" algn="l" defTabSz="912813" rtl="0" eaLnBrk="1" fontAlgn="base" hangingPunct="1">
              <a:spcBef>
                <a:spcPct val="20000"/>
              </a:spcBef>
              <a:spcAft>
                <a:spcPct val="0"/>
              </a:spcAft>
              <a:buClr>
                <a:schemeClr val="accent1"/>
              </a:buClr>
              <a:buChar char="•"/>
              <a:defRPr>
                <a:solidFill>
                  <a:srgbClr val="4D4D4D"/>
                </a:solidFill>
                <a:latin typeface="+mn-lt"/>
                <a:cs typeface="+mn-cs"/>
              </a:defRPr>
            </a:lvl9pPr>
          </a:lstStyle>
          <a:p>
            <a:r>
              <a:rPr lang="en-IN" kern="0"/>
              <a:t>Monitoring and Maintenance </a:t>
            </a:r>
          </a:p>
        </p:txBody>
      </p:sp>
    </p:spTree>
    <p:extLst>
      <p:ext uri="{BB962C8B-B14F-4D97-AF65-F5344CB8AC3E}">
        <p14:creationId xmlns:p14="http://schemas.microsoft.com/office/powerpoint/2010/main" val="3653982044"/>
      </p:ext>
    </p:extLst>
  </p:cSld>
  <p:clrMapOvr>
    <a:masterClrMapping/>
  </p:clrMapOvr>
  <p:transition advClick="0">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E94D70-49B3-45D4-AAE0-D48BB4C7DE27}"/>
              </a:ext>
            </a:extLst>
          </p:cNvPr>
          <p:cNvSpPr>
            <a:spLocks noGrp="1"/>
          </p:cNvSpPr>
          <p:nvPr>
            <p:ph type="title"/>
          </p:nvPr>
        </p:nvSpPr>
        <p:spPr>
          <a:xfrm>
            <a:off x="0" y="63500"/>
            <a:ext cx="12192000" cy="850392"/>
          </a:xfrm>
        </p:spPr>
        <p:txBody>
          <a:bodyPr/>
          <a:lstStyle/>
          <a:p>
            <a:r>
              <a:rPr lang="en-US">
                <a:latin typeface="Calibri" panose="020F0502020204030204" pitchFamily="34" charset="0"/>
                <a:cs typeface="Calibri" panose="020F0502020204030204" pitchFamily="34" charset="0"/>
              </a:rPr>
              <a:t>Deployment</a:t>
            </a:r>
            <a:endParaRPr lang="en-IN">
              <a:latin typeface="Calibri" panose="020F0502020204030204" pitchFamily="34" charset="0"/>
              <a:cs typeface="Calibri" panose="020F0502020204030204" pitchFamily="34" charset="0"/>
            </a:endParaRPr>
          </a:p>
        </p:txBody>
      </p:sp>
      <p:sp>
        <p:nvSpPr>
          <p:cNvPr id="2" name="Text Placeholder 1">
            <a:extLst>
              <a:ext uri="{FF2B5EF4-FFF2-40B4-BE49-F238E27FC236}">
                <a16:creationId xmlns:a16="http://schemas.microsoft.com/office/drawing/2014/main" id="{9DD45FE3-6D48-8540-A57C-177D7EF939E4}"/>
              </a:ext>
            </a:extLst>
          </p:cNvPr>
          <p:cNvSpPr>
            <a:spLocks noGrp="1"/>
          </p:cNvSpPr>
          <p:nvPr>
            <p:ph type="body" sz="quarter" idx="10"/>
          </p:nvPr>
        </p:nvSpPr>
        <p:spPr>
          <a:xfrm>
            <a:off x="123289" y="1128713"/>
            <a:ext cx="11722813" cy="5166360"/>
          </a:xfrm>
          <a:solidFill>
            <a:schemeClr val="accent6">
              <a:lumMod val="20000"/>
              <a:lumOff val="80000"/>
            </a:schemeClr>
          </a:solidFill>
        </p:spPr>
        <p:style>
          <a:lnRef idx="1">
            <a:schemeClr val="accent6"/>
          </a:lnRef>
          <a:fillRef idx="2">
            <a:schemeClr val="accent6"/>
          </a:fillRef>
          <a:effectRef idx="1">
            <a:schemeClr val="accent6"/>
          </a:effectRef>
          <a:fontRef idx="minor">
            <a:schemeClr val="dk1"/>
          </a:fontRef>
        </p:style>
        <p:txBody>
          <a:bodyPr anchor="t"/>
          <a:lstStyle/>
          <a:p>
            <a:endParaRPr lang="en-IN" b="0" i="0" dirty="0">
              <a:solidFill>
                <a:srgbClr val="333333"/>
              </a:solidFill>
              <a:effectLst/>
              <a:latin typeface="proxima-nova-1"/>
            </a:endParaRPr>
          </a:p>
          <a:p>
            <a:r>
              <a:rPr lang="en-IN" b="0" i="0" dirty="0">
                <a:solidFill>
                  <a:srgbClr val="333333"/>
                </a:solidFill>
                <a:effectLst/>
                <a:cs typeface="Calibri" panose="020F0502020204030204" pitchFamily="34" charset="0"/>
              </a:rPr>
              <a:t>Model-Service-Client + Retraining (MSC/R) [</a:t>
            </a:r>
            <a:r>
              <a:rPr lang="en-IN" b="0" i="0" dirty="0">
                <a:solidFill>
                  <a:srgbClr val="333333"/>
                </a:solidFill>
                <a:effectLst/>
                <a:cs typeface="Calibri" panose="020F0502020204030204" pitchFamily="34" charset="0"/>
                <a:hlinkClick r:id="rId2"/>
              </a:rPr>
              <a:t>ref</a:t>
            </a:r>
            <a:r>
              <a:rPr lang="en-IN" b="0" i="0" dirty="0">
                <a:solidFill>
                  <a:srgbClr val="333333"/>
                </a:solidFill>
                <a:effectLst/>
                <a:cs typeface="Calibri" panose="020F0502020204030204" pitchFamily="34" charset="0"/>
              </a:rPr>
              <a:t>]</a:t>
            </a:r>
          </a:p>
          <a:p>
            <a:endParaRPr lang="en-IN" dirty="0">
              <a:solidFill>
                <a:srgbClr val="333333"/>
              </a:solidFill>
              <a:cs typeface="Calibri" panose="020F0502020204030204" pitchFamily="34" charset="0"/>
            </a:endParaRPr>
          </a:p>
          <a:p>
            <a:endParaRPr lang="en-IN" dirty="0">
              <a:solidFill>
                <a:srgbClr val="333333"/>
              </a:solidFill>
              <a:cs typeface="Calibri" panose="020F0502020204030204" pitchFamily="34" charset="0"/>
            </a:endParaRPr>
          </a:p>
          <a:p>
            <a:endParaRPr lang="en-IN" dirty="0">
              <a:solidFill>
                <a:srgbClr val="333333"/>
              </a:solidFill>
              <a:cs typeface="Calibri" panose="020F0502020204030204" pitchFamily="34" charset="0"/>
            </a:endParaRPr>
          </a:p>
          <a:p>
            <a:pPr marL="457200" indent="-457200">
              <a:buFont typeface="Wingdings" panose="05000000000000000000" pitchFamily="2" charset="2"/>
              <a:buChar char="ü"/>
            </a:pPr>
            <a:r>
              <a:rPr lang="en-US" b="0" i="0" dirty="0">
                <a:solidFill>
                  <a:srgbClr val="333333"/>
                </a:solidFill>
                <a:effectLst/>
                <a:cs typeface="Calibri" panose="020F0502020204030204" pitchFamily="34" charset="0"/>
              </a:rPr>
              <a:t>Model (data and trained model)</a:t>
            </a:r>
            <a:endParaRPr lang="en-IN" b="0" i="0" dirty="0">
              <a:solidFill>
                <a:srgbClr val="333333"/>
              </a:solidFill>
              <a:effectLst/>
              <a:cs typeface="Calibri" panose="020F0502020204030204" pitchFamily="34" charset="0"/>
            </a:endParaRPr>
          </a:p>
          <a:p>
            <a:pPr marL="457200" indent="-457200">
              <a:buFont typeface="Wingdings" panose="05000000000000000000" pitchFamily="2" charset="2"/>
              <a:buChar char="ü"/>
            </a:pPr>
            <a:r>
              <a:rPr lang="en-IN" b="0" i="0" dirty="0">
                <a:solidFill>
                  <a:srgbClr val="333333"/>
                </a:solidFill>
                <a:effectLst/>
                <a:cs typeface="Calibri" panose="020F0502020204030204" pitchFamily="34" charset="0"/>
              </a:rPr>
              <a:t>Service (model serving infrastructure)</a:t>
            </a:r>
            <a:endParaRPr lang="en-IN" dirty="0">
              <a:solidFill>
                <a:srgbClr val="333333"/>
              </a:solidFill>
              <a:cs typeface="Calibri" panose="020F0502020204030204" pitchFamily="34" charset="0"/>
            </a:endParaRPr>
          </a:p>
          <a:p>
            <a:pPr marL="457200" indent="-457200">
              <a:buFont typeface="Wingdings" panose="05000000000000000000" pitchFamily="2" charset="2"/>
              <a:buChar char="ü"/>
            </a:pPr>
            <a:r>
              <a:rPr lang="en-IN" b="0" i="0" dirty="0">
                <a:solidFill>
                  <a:srgbClr val="333333"/>
                </a:solidFill>
                <a:effectLst/>
                <a:cs typeface="Calibri" panose="020F0502020204030204" pitchFamily="34" charset="0"/>
              </a:rPr>
              <a:t>Client (user interface)</a:t>
            </a:r>
          </a:p>
          <a:p>
            <a:pPr marL="457200" indent="-457200">
              <a:buFont typeface="Wingdings" panose="05000000000000000000" pitchFamily="2" charset="2"/>
              <a:buChar char="ü"/>
            </a:pPr>
            <a:r>
              <a:rPr lang="en-US" b="0" i="0" dirty="0">
                <a:solidFill>
                  <a:srgbClr val="333333"/>
                </a:solidFill>
                <a:effectLst/>
                <a:cs typeface="Calibri" panose="020F0502020204030204" pitchFamily="34" charset="0"/>
              </a:rPr>
              <a:t>Retraining (model monitoring and retraining)</a:t>
            </a:r>
            <a:endParaRPr lang="en-US" dirty="0">
              <a:cs typeface="Calibri" panose="020F0502020204030204" pitchFamily="34" charset="0"/>
            </a:endParaRPr>
          </a:p>
        </p:txBody>
      </p:sp>
      <p:sp>
        <p:nvSpPr>
          <p:cNvPr id="6" name="Rectangle 5">
            <a:extLst>
              <a:ext uri="{FF2B5EF4-FFF2-40B4-BE49-F238E27FC236}">
                <a16:creationId xmlns:a16="http://schemas.microsoft.com/office/drawing/2014/main" id="{C1B6B41E-99C3-4E30-A0EA-96C41005EBDA}"/>
              </a:ext>
            </a:extLst>
          </p:cNvPr>
          <p:cNvSpPr/>
          <p:nvPr/>
        </p:nvSpPr>
        <p:spPr bwMode="auto">
          <a:xfrm>
            <a:off x="6300439" y="1128713"/>
            <a:ext cx="5634457" cy="5166360"/>
          </a:xfrm>
          <a:prstGeom prst="rect">
            <a:avLst/>
          </a:prstGeom>
          <a:solidFill>
            <a:schemeClr val="accent1">
              <a:lumMod val="20000"/>
              <a:lumOff val="80000"/>
            </a:schemeClr>
          </a:solidFill>
          <a:ln>
            <a:solidFill>
              <a:schemeClr val="accent2"/>
            </a:solidFill>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lang="en-IN" sz="2400" i="0" dirty="0">
              <a:solidFill>
                <a:srgbClr val="0A0A0A"/>
              </a:solidFill>
              <a:effectLst/>
              <a:latin typeface="Calibri" panose="020F0502020204030204" pitchFamily="34" charset="0"/>
              <a:cs typeface="Calibri" panose="020F0502020204030204" pitchFamily="34" charset="0"/>
            </a:endParaRPr>
          </a:p>
          <a:p>
            <a:pPr marL="342900" marR="0" indent="-342900" algn="l" defTabSz="912813" rtl="0" eaLnBrk="1" fontAlgn="base" latinLnBrk="0" hangingPunct="1">
              <a:lnSpc>
                <a:spcPct val="100000"/>
              </a:lnSpc>
              <a:spcBef>
                <a:spcPct val="20000"/>
              </a:spcBef>
              <a:spcAft>
                <a:spcPct val="0"/>
              </a:spcAft>
              <a:buClr>
                <a:schemeClr val="accent1"/>
              </a:buClr>
              <a:buSzPct val="100000"/>
              <a:buFont typeface="Arial" panose="020B0604020202020204" pitchFamily="34" charset="0"/>
              <a:buChar char="•"/>
              <a:tabLst/>
            </a:pPr>
            <a:r>
              <a:rPr lang="en-IN" sz="2400" i="0" dirty="0">
                <a:solidFill>
                  <a:srgbClr val="0A0A0A"/>
                </a:solidFill>
                <a:effectLst/>
                <a:latin typeface="Calibri" panose="020F0502020204030204" pitchFamily="34" charset="0"/>
                <a:cs typeface="Calibri" panose="020F0502020204030204" pitchFamily="34" charset="0"/>
              </a:rPr>
              <a:t>Model serialization and pickling</a:t>
            </a:r>
          </a:p>
          <a:p>
            <a:pPr marL="342900" marR="0" indent="-342900" algn="l" defTabSz="912813" rtl="0" eaLnBrk="1" fontAlgn="base" latinLnBrk="0" hangingPunct="1">
              <a:lnSpc>
                <a:spcPct val="100000"/>
              </a:lnSpc>
              <a:spcBef>
                <a:spcPct val="20000"/>
              </a:spcBef>
              <a:spcAft>
                <a:spcPct val="0"/>
              </a:spcAft>
              <a:buClr>
                <a:schemeClr val="accent1"/>
              </a:buClr>
              <a:buSzPct val="100000"/>
              <a:buFont typeface="Arial" panose="020B0604020202020204" pitchFamily="34" charset="0"/>
              <a:buChar char="•"/>
              <a:tabLst/>
            </a:pPr>
            <a:r>
              <a:rPr lang="en-IN" sz="2400" dirty="0">
                <a:solidFill>
                  <a:srgbClr val="0A0A0A"/>
                </a:solidFill>
                <a:latin typeface="Calibri" panose="020F0502020204030204" pitchFamily="34" charset="0"/>
                <a:cs typeface="Calibri" panose="020F0502020204030204" pitchFamily="34" charset="0"/>
              </a:rPr>
              <a:t>Flask API Building</a:t>
            </a:r>
          </a:p>
          <a:p>
            <a:pPr marL="342900" marR="0" indent="-342900" algn="l" defTabSz="912813" rtl="0" eaLnBrk="1" fontAlgn="base" latinLnBrk="0" hangingPunct="1">
              <a:lnSpc>
                <a:spcPct val="100000"/>
              </a:lnSpc>
              <a:spcBef>
                <a:spcPct val="20000"/>
              </a:spcBef>
              <a:spcAft>
                <a:spcPct val="0"/>
              </a:spcAft>
              <a:buClr>
                <a:schemeClr val="accent1"/>
              </a:buClr>
              <a:buSzPct val="100000"/>
              <a:buFont typeface="Arial" panose="020B0604020202020204" pitchFamily="34" charset="0"/>
              <a:buChar char="•"/>
              <a:tabLst/>
            </a:pPr>
            <a:r>
              <a:rPr lang="en-IN" sz="2400" i="0" dirty="0">
                <a:solidFill>
                  <a:srgbClr val="0A0A0A"/>
                </a:solidFill>
                <a:effectLst/>
                <a:latin typeface="Calibri" panose="020F0502020204030204" pitchFamily="34" charset="0"/>
                <a:cs typeface="Calibri" panose="020F0502020204030204" pitchFamily="34" charset="0"/>
              </a:rPr>
              <a:t>AWS EC2 Instance </a:t>
            </a:r>
          </a:p>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IN" sz="2400" i="0" u="none" strike="noStrike" cap="none" normalizeH="0" baseline="0" dirty="0">
              <a:ln>
                <a:noFill/>
              </a:ln>
              <a:solidFill>
                <a:srgbClr val="4D4D4D"/>
              </a:solidFill>
              <a:effectLst/>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41BF98EA-AE53-4F5D-B3E0-938EAED55220}"/>
              </a:ext>
            </a:extLst>
          </p:cNvPr>
          <p:cNvPicPr>
            <a:picLocks noChangeAspect="1"/>
          </p:cNvPicPr>
          <p:nvPr/>
        </p:nvPicPr>
        <p:blipFill>
          <a:blip r:embed="rId3"/>
          <a:stretch>
            <a:fillRect/>
          </a:stretch>
        </p:blipFill>
        <p:spPr>
          <a:xfrm>
            <a:off x="8003569" y="3353820"/>
            <a:ext cx="2856216" cy="2375467"/>
          </a:xfrm>
          <a:prstGeom prst="rect">
            <a:avLst/>
          </a:prstGeom>
        </p:spPr>
      </p:pic>
      <p:pic>
        <p:nvPicPr>
          <p:cNvPr id="10" name="Graphic 9" descr="Gears">
            <a:extLst>
              <a:ext uri="{FF2B5EF4-FFF2-40B4-BE49-F238E27FC236}">
                <a16:creationId xmlns:a16="http://schemas.microsoft.com/office/drawing/2014/main" id="{0C8F573B-13D2-4A04-B7EF-2CBFD0E9895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0298" y="2049617"/>
            <a:ext cx="914400" cy="914400"/>
          </a:xfrm>
          <a:prstGeom prst="rect">
            <a:avLst/>
          </a:prstGeom>
        </p:spPr>
      </p:pic>
      <p:pic>
        <p:nvPicPr>
          <p:cNvPr id="11" name="Graphic 10" descr="Database">
            <a:extLst>
              <a:ext uri="{FF2B5EF4-FFF2-40B4-BE49-F238E27FC236}">
                <a16:creationId xmlns:a16="http://schemas.microsoft.com/office/drawing/2014/main" id="{CCA33E4B-04CD-4FE3-9711-2847676036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54664" y="2049617"/>
            <a:ext cx="914400" cy="914400"/>
          </a:xfrm>
          <a:prstGeom prst="rect">
            <a:avLst/>
          </a:prstGeom>
        </p:spPr>
      </p:pic>
    </p:spTree>
    <p:extLst>
      <p:ext uri="{BB962C8B-B14F-4D97-AF65-F5344CB8AC3E}">
        <p14:creationId xmlns:p14="http://schemas.microsoft.com/office/powerpoint/2010/main" val="546727346"/>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EF13-5999-3B41-9B9A-5E1667540D15}"/>
              </a:ext>
            </a:extLst>
          </p:cNvPr>
          <p:cNvSpPr>
            <a:spLocks noGrp="1"/>
          </p:cNvSpPr>
          <p:nvPr>
            <p:ph type="title"/>
          </p:nvPr>
        </p:nvSpPr>
        <p:spPr/>
        <p:txBody>
          <a:bodyPr/>
          <a:lstStyle/>
          <a:p>
            <a:r>
              <a:rPr lang="en-US" dirty="0"/>
              <a:t>Hybrid Deployment Infrastructure</a:t>
            </a:r>
          </a:p>
        </p:txBody>
      </p:sp>
      <p:pic>
        <p:nvPicPr>
          <p:cNvPr id="4" name="Picture 3">
            <a:extLst>
              <a:ext uri="{FF2B5EF4-FFF2-40B4-BE49-F238E27FC236}">
                <a16:creationId xmlns:a16="http://schemas.microsoft.com/office/drawing/2014/main" id="{CDAA26AE-5978-D742-BB5B-8C4B92FC9348}"/>
              </a:ext>
            </a:extLst>
          </p:cNvPr>
          <p:cNvPicPr>
            <a:picLocks noChangeAspect="1"/>
          </p:cNvPicPr>
          <p:nvPr/>
        </p:nvPicPr>
        <p:blipFill>
          <a:blip r:embed="rId3"/>
          <a:stretch>
            <a:fillRect/>
          </a:stretch>
        </p:blipFill>
        <p:spPr>
          <a:xfrm>
            <a:off x="211724" y="1104033"/>
            <a:ext cx="3979010" cy="2591318"/>
          </a:xfrm>
          <a:prstGeom prst="rect">
            <a:avLst/>
          </a:prstGeom>
        </p:spPr>
      </p:pic>
      <p:pic>
        <p:nvPicPr>
          <p:cNvPr id="5" name="Picture 4">
            <a:extLst>
              <a:ext uri="{FF2B5EF4-FFF2-40B4-BE49-F238E27FC236}">
                <a16:creationId xmlns:a16="http://schemas.microsoft.com/office/drawing/2014/main" id="{330D3CBE-9F25-1341-9EE3-882AFE43B236}"/>
              </a:ext>
            </a:extLst>
          </p:cNvPr>
          <p:cNvPicPr>
            <a:picLocks noChangeAspect="1"/>
          </p:cNvPicPr>
          <p:nvPr/>
        </p:nvPicPr>
        <p:blipFill>
          <a:blip r:embed="rId4"/>
          <a:stretch>
            <a:fillRect/>
          </a:stretch>
        </p:blipFill>
        <p:spPr>
          <a:xfrm>
            <a:off x="4171200" y="1070741"/>
            <a:ext cx="2954672" cy="1495105"/>
          </a:xfrm>
          <a:prstGeom prst="rect">
            <a:avLst/>
          </a:prstGeom>
          <a:ln>
            <a:noFill/>
          </a:ln>
          <a:effectLst>
            <a:softEdge rad="112500"/>
          </a:effectLst>
        </p:spPr>
      </p:pic>
      <p:pic>
        <p:nvPicPr>
          <p:cNvPr id="6" name="Picture 5">
            <a:extLst>
              <a:ext uri="{FF2B5EF4-FFF2-40B4-BE49-F238E27FC236}">
                <a16:creationId xmlns:a16="http://schemas.microsoft.com/office/drawing/2014/main" id="{F43D86DD-4314-4B42-95E0-406D5B664A18}"/>
              </a:ext>
            </a:extLst>
          </p:cNvPr>
          <p:cNvPicPr>
            <a:picLocks noChangeAspect="1"/>
          </p:cNvPicPr>
          <p:nvPr/>
        </p:nvPicPr>
        <p:blipFill>
          <a:blip r:embed="rId5"/>
          <a:stretch>
            <a:fillRect/>
          </a:stretch>
        </p:blipFill>
        <p:spPr>
          <a:xfrm>
            <a:off x="4190733" y="2681447"/>
            <a:ext cx="3029326" cy="1495105"/>
          </a:xfrm>
          <a:prstGeom prst="rect">
            <a:avLst/>
          </a:prstGeom>
          <a:ln>
            <a:noFill/>
          </a:ln>
          <a:effectLst>
            <a:softEdge rad="112500"/>
          </a:effectLst>
        </p:spPr>
      </p:pic>
      <p:grpSp>
        <p:nvGrpSpPr>
          <p:cNvPr id="12" name="Group 11">
            <a:extLst>
              <a:ext uri="{FF2B5EF4-FFF2-40B4-BE49-F238E27FC236}">
                <a16:creationId xmlns:a16="http://schemas.microsoft.com/office/drawing/2014/main" id="{997D9DF5-7DD6-3E45-8236-7FD4D7DA9888}"/>
              </a:ext>
            </a:extLst>
          </p:cNvPr>
          <p:cNvGrpSpPr/>
          <p:nvPr/>
        </p:nvGrpSpPr>
        <p:grpSpPr>
          <a:xfrm>
            <a:off x="3212875" y="3985210"/>
            <a:ext cx="1955716" cy="1862681"/>
            <a:chOff x="3676011" y="4534243"/>
            <a:chExt cx="1955716" cy="1862681"/>
          </a:xfrm>
        </p:grpSpPr>
        <p:pic>
          <p:nvPicPr>
            <p:cNvPr id="9" name="Picture 8" descr="Spark Worker2  - 8 cores, 15G allocated - performance graph">
              <a:extLst>
                <a:ext uri="{FF2B5EF4-FFF2-40B4-BE49-F238E27FC236}">
                  <a16:creationId xmlns:a16="http://schemas.microsoft.com/office/drawing/2014/main" id="{8A76E693-A850-F745-BBFA-471C1BC1151F}"/>
                </a:ext>
              </a:extLst>
            </p:cNvPr>
            <p:cNvPicPr>
              <a:picLocks noChangeAspect="1"/>
            </p:cNvPicPr>
            <p:nvPr/>
          </p:nvPicPr>
          <p:blipFill>
            <a:blip r:embed="rId6"/>
            <a:stretch>
              <a:fillRect/>
            </a:stretch>
          </p:blipFill>
          <p:spPr>
            <a:xfrm>
              <a:off x="3676011" y="4534243"/>
              <a:ext cx="1955716" cy="1622401"/>
            </a:xfrm>
            <a:prstGeom prst="rect">
              <a:avLst/>
            </a:prstGeom>
          </p:spPr>
        </p:pic>
        <p:sp>
          <p:nvSpPr>
            <p:cNvPr id="10" name="TextBox 9">
              <a:extLst>
                <a:ext uri="{FF2B5EF4-FFF2-40B4-BE49-F238E27FC236}">
                  <a16:creationId xmlns:a16="http://schemas.microsoft.com/office/drawing/2014/main" id="{1922E9DD-762C-C341-AEBB-C4D0562C5C28}"/>
                </a:ext>
              </a:extLst>
            </p:cNvPr>
            <p:cNvSpPr txBox="1"/>
            <p:nvPr/>
          </p:nvSpPr>
          <p:spPr>
            <a:xfrm>
              <a:off x="3676011" y="6108489"/>
              <a:ext cx="1955716" cy="288435"/>
            </a:xfrm>
            <a:prstGeom prst="rect">
              <a:avLst/>
            </a:prstGeom>
            <a:noFill/>
          </p:spPr>
          <p:txBody>
            <a:bodyPr wrap="square" rtlCol="0">
              <a:noAutofit/>
            </a:bodyPr>
            <a:lstStyle/>
            <a:p>
              <a:r>
                <a:rPr lang="en-US" sz="1000" dirty="0"/>
                <a:t>Spark worker2 – 8 cores, 16GB</a:t>
              </a:r>
            </a:p>
          </p:txBody>
        </p:sp>
      </p:grpSp>
      <p:grpSp>
        <p:nvGrpSpPr>
          <p:cNvPr id="13" name="Group 12">
            <a:extLst>
              <a:ext uri="{FF2B5EF4-FFF2-40B4-BE49-F238E27FC236}">
                <a16:creationId xmlns:a16="http://schemas.microsoft.com/office/drawing/2014/main" id="{9A34E3F6-1A1E-8246-8E9F-7221FBF5105B}"/>
              </a:ext>
            </a:extLst>
          </p:cNvPr>
          <p:cNvGrpSpPr/>
          <p:nvPr/>
        </p:nvGrpSpPr>
        <p:grpSpPr>
          <a:xfrm>
            <a:off x="251141" y="3985210"/>
            <a:ext cx="2764210" cy="1862681"/>
            <a:chOff x="629502" y="4534243"/>
            <a:chExt cx="2764210" cy="1862681"/>
          </a:xfrm>
        </p:grpSpPr>
        <p:pic>
          <p:nvPicPr>
            <p:cNvPr id="7" name="Picture 6" descr="Spark Master, and Spark Worker 1 performance graph">
              <a:extLst>
                <a:ext uri="{FF2B5EF4-FFF2-40B4-BE49-F238E27FC236}">
                  <a16:creationId xmlns:a16="http://schemas.microsoft.com/office/drawing/2014/main" id="{F5CB7952-3BE8-EF49-974F-A279F7659AB0}"/>
                </a:ext>
              </a:extLst>
            </p:cNvPr>
            <p:cNvPicPr>
              <a:picLocks noChangeAspect="1"/>
            </p:cNvPicPr>
            <p:nvPr/>
          </p:nvPicPr>
          <p:blipFill>
            <a:blip r:embed="rId7"/>
            <a:stretch>
              <a:fillRect/>
            </a:stretch>
          </p:blipFill>
          <p:spPr>
            <a:xfrm>
              <a:off x="629502" y="4534243"/>
              <a:ext cx="2764210" cy="1622401"/>
            </a:xfrm>
            <a:prstGeom prst="rect">
              <a:avLst/>
            </a:prstGeom>
          </p:spPr>
        </p:pic>
        <p:sp>
          <p:nvSpPr>
            <p:cNvPr id="11" name="TextBox 10">
              <a:extLst>
                <a:ext uri="{FF2B5EF4-FFF2-40B4-BE49-F238E27FC236}">
                  <a16:creationId xmlns:a16="http://schemas.microsoft.com/office/drawing/2014/main" id="{CB456E05-0CD1-C04F-98F3-FDFB3E27245F}"/>
                </a:ext>
              </a:extLst>
            </p:cNvPr>
            <p:cNvSpPr txBox="1"/>
            <p:nvPr/>
          </p:nvSpPr>
          <p:spPr>
            <a:xfrm>
              <a:off x="629502" y="6108489"/>
              <a:ext cx="2764210" cy="288435"/>
            </a:xfrm>
            <a:prstGeom prst="rect">
              <a:avLst/>
            </a:prstGeom>
            <a:noFill/>
          </p:spPr>
          <p:txBody>
            <a:bodyPr wrap="square" rtlCol="0">
              <a:noAutofit/>
            </a:bodyPr>
            <a:lstStyle/>
            <a:p>
              <a:pPr algn="ctr"/>
              <a:r>
                <a:rPr lang="en-US" sz="1000" dirty="0"/>
                <a:t>Spark Master, worker 1 – 16 Cores,16GB</a:t>
              </a:r>
            </a:p>
          </p:txBody>
        </p:sp>
      </p:grpSp>
      <p:cxnSp>
        <p:nvCxnSpPr>
          <p:cNvPr id="15" name="Straight Connector 14">
            <a:extLst>
              <a:ext uri="{FF2B5EF4-FFF2-40B4-BE49-F238E27FC236}">
                <a16:creationId xmlns:a16="http://schemas.microsoft.com/office/drawing/2014/main" id="{D602F70A-D316-2743-B104-5F9EF2F3A3C9}"/>
              </a:ext>
            </a:extLst>
          </p:cNvPr>
          <p:cNvCxnSpPr>
            <a:cxnSpLocks/>
          </p:cNvCxnSpPr>
          <p:nvPr/>
        </p:nvCxnSpPr>
        <p:spPr bwMode="auto">
          <a:xfrm>
            <a:off x="7343148" y="1246634"/>
            <a:ext cx="0" cy="5345323"/>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ED8AB9BC-E28B-9C45-9B94-7F020F78EC0D}"/>
              </a:ext>
            </a:extLst>
          </p:cNvPr>
          <p:cNvSpPr txBox="1"/>
          <p:nvPr/>
        </p:nvSpPr>
        <p:spPr>
          <a:xfrm>
            <a:off x="565869" y="5897470"/>
            <a:ext cx="6111060" cy="398352"/>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US" dirty="0"/>
              <a:t>On Prem – High Compute system for Model Training</a:t>
            </a:r>
          </a:p>
        </p:txBody>
      </p:sp>
      <p:sp>
        <p:nvSpPr>
          <p:cNvPr id="18" name="TextBox 17">
            <a:extLst>
              <a:ext uri="{FF2B5EF4-FFF2-40B4-BE49-F238E27FC236}">
                <a16:creationId xmlns:a16="http://schemas.microsoft.com/office/drawing/2014/main" id="{FAF46921-7D63-C146-A6FA-199FCECD9093}"/>
              </a:ext>
            </a:extLst>
          </p:cNvPr>
          <p:cNvSpPr txBox="1"/>
          <p:nvPr/>
        </p:nvSpPr>
        <p:spPr>
          <a:xfrm>
            <a:off x="7830919" y="5902860"/>
            <a:ext cx="3903946" cy="398352"/>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US" dirty="0"/>
              <a:t>On Cloud – Recommender Web App</a:t>
            </a:r>
          </a:p>
        </p:txBody>
      </p:sp>
      <p:pic>
        <p:nvPicPr>
          <p:cNvPr id="8" name="Picture 7">
            <a:extLst>
              <a:ext uri="{FF2B5EF4-FFF2-40B4-BE49-F238E27FC236}">
                <a16:creationId xmlns:a16="http://schemas.microsoft.com/office/drawing/2014/main" id="{3F3F44E6-BFA6-4192-91A1-E4EE01DAFDA0}"/>
              </a:ext>
            </a:extLst>
          </p:cNvPr>
          <p:cNvPicPr>
            <a:picLocks noChangeAspect="1"/>
          </p:cNvPicPr>
          <p:nvPr/>
        </p:nvPicPr>
        <p:blipFill rotWithShape="1">
          <a:blip r:embed="rId8"/>
          <a:srcRect r="3525" b="12063"/>
          <a:stretch/>
        </p:blipFill>
        <p:spPr>
          <a:xfrm>
            <a:off x="7530608" y="3015800"/>
            <a:ext cx="4504568" cy="2641506"/>
          </a:xfrm>
          <a:prstGeom prst="rect">
            <a:avLst/>
          </a:prstGeom>
        </p:spPr>
      </p:pic>
      <p:pic>
        <p:nvPicPr>
          <p:cNvPr id="14" name="Picture 13">
            <a:extLst>
              <a:ext uri="{FF2B5EF4-FFF2-40B4-BE49-F238E27FC236}">
                <a16:creationId xmlns:a16="http://schemas.microsoft.com/office/drawing/2014/main" id="{F4E5C655-F16C-493D-BDE2-40DB0C6D27C2}"/>
              </a:ext>
            </a:extLst>
          </p:cNvPr>
          <p:cNvPicPr>
            <a:picLocks noChangeAspect="1"/>
          </p:cNvPicPr>
          <p:nvPr/>
        </p:nvPicPr>
        <p:blipFill>
          <a:blip r:embed="rId9"/>
          <a:stretch>
            <a:fillRect/>
          </a:stretch>
        </p:blipFill>
        <p:spPr>
          <a:xfrm>
            <a:off x="7530609" y="1120436"/>
            <a:ext cx="4504567" cy="1825216"/>
          </a:xfrm>
          <a:prstGeom prst="rect">
            <a:avLst/>
          </a:prstGeom>
        </p:spPr>
      </p:pic>
    </p:spTree>
    <p:extLst>
      <p:ext uri="{BB962C8B-B14F-4D97-AF65-F5344CB8AC3E}">
        <p14:creationId xmlns:p14="http://schemas.microsoft.com/office/powerpoint/2010/main" val="3010114314"/>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ABDD5-B94A-4331-B9A1-FF1EEE3CE1D6}"/>
              </a:ext>
            </a:extLst>
          </p:cNvPr>
          <p:cNvSpPr>
            <a:spLocks noGrp="1"/>
          </p:cNvSpPr>
          <p:nvPr>
            <p:ph type="title"/>
          </p:nvPr>
        </p:nvSpPr>
        <p:spPr/>
        <p:txBody>
          <a:bodyPr/>
          <a:lstStyle/>
          <a:p>
            <a:r>
              <a:rPr lang="en-US"/>
              <a:t>Food Recommender App</a:t>
            </a:r>
            <a:endParaRPr lang="en-IN"/>
          </a:p>
        </p:txBody>
      </p:sp>
      <p:pic>
        <p:nvPicPr>
          <p:cNvPr id="4" name="Picture 3">
            <a:extLst>
              <a:ext uri="{FF2B5EF4-FFF2-40B4-BE49-F238E27FC236}">
                <a16:creationId xmlns:a16="http://schemas.microsoft.com/office/drawing/2014/main" id="{8E6DFEB3-F99E-0148-A6FC-4E88190611E9}"/>
              </a:ext>
            </a:extLst>
          </p:cNvPr>
          <p:cNvPicPr>
            <a:picLocks noChangeAspect="1"/>
          </p:cNvPicPr>
          <p:nvPr/>
        </p:nvPicPr>
        <p:blipFill>
          <a:blip r:embed="rId3"/>
          <a:stretch>
            <a:fillRect/>
          </a:stretch>
        </p:blipFill>
        <p:spPr>
          <a:xfrm>
            <a:off x="7020402" y="1769640"/>
            <a:ext cx="4818444" cy="4682073"/>
          </a:xfrm>
          <a:prstGeom prst="rect">
            <a:avLst/>
          </a:prstGeom>
        </p:spPr>
      </p:pic>
      <p:cxnSp>
        <p:nvCxnSpPr>
          <p:cNvPr id="7" name="Straight Connector 6">
            <a:extLst>
              <a:ext uri="{FF2B5EF4-FFF2-40B4-BE49-F238E27FC236}">
                <a16:creationId xmlns:a16="http://schemas.microsoft.com/office/drawing/2014/main" id="{BCE16C72-4F92-E34D-9FBB-FDE331114EB1}"/>
              </a:ext>
            </a:extLst>
          </p:cNvPr>
          <p:cNvCxnSpPr>
            <a:cxnSpLocks/>
          </p:cNvCxnSpPr>
          <p:nvPr/>
        </p:nvCxnSpPr>
        <p:spPr bwMode="auto">
          <a:xfrm>
            <a:off x="6748529" y="1769641"/>
            <a:ext cx="0" cy="460744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10" name="TextBox 9">
            <a:extLst>
              <a:ext uri="{FF2B5EF4-FFF2-40B4-BE49-F238E27FC236}">
                <a16:creationId xmlns:a16="http://schemas.microsoft.com/office/drawing/2014/main" id="{875EA716-92F5-6D43-AEB3-2E0B8FA0E2EF}"/>
              </a:ext>
            </a:extLst>
          </p:cNvPr>
          <p:cNvSpPr txBox="1"/>
          <p:nvPr/>
        </p:nvSpPr>
        <p:spPr>
          <a:xfrm>
            <a:off x="7225751" y="1157640"/>
            <a:ext cx="3812146" cy="368252"/>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US" dirty="0"/>
              <a:t>ALS-WR model Training</a:t>
            </a:r>
          </a:p>
        </p:txBody>
      </p:sp>
      <p:pic>
        <p:nvPicPr>
          <p:cNvPr id="8" name="Picture 7">
            <a:extLst>
              <a:ext uri="{FF2B5EF4-FFF2-40B4-BE49-F238E27FC236}">
                <a16:creationId xmlns:a16="http://schemas.microsoft.com/office/drawing/2014/main" id="{46730B0E-59D1-4974-B261-4156C658B2BF}"/>
              </a:ext>
            </a:extLst>
          </p:cNvPr>
          <p:cNvPicPr>
            <a:picLocks noChangeAspect="1"/>
          </p:cNvPicPr>
          <p:nvPr/>
        </p:nvPicPr>
        <p:blipFill>
          <a:blip r:embed="rId4"/>
          <a:stretch>
            <a:fillRect/>
          </a:stretch>
        </p:blipFill>
        <p:spPr>
          <a:xfrm>
            <a:off x="245242" y="1625409"/>
            <a:ext cx="6231415" cy="4826304"/>
          </a:xfrm>
          <a:prstGeom prst="rect">
            <a:avLst/>
          </a:prstGeom>
        </p:spPr>
      </p:pic>
      <p:sp>
        <p:nvSpPr>
          <p:cNvPr id="11" name="TextBox 10">
            <a:extLst>
              <a:ext uri="{FF2B5EF4-FFF2-40B4-BE49-F238E27FC236}">
                <a16:creationId xmlns:a16="http://schemas.microsoft.com/office/drawing/2014/main" id="{19D2D97A-133D-C646-A92F-510BA0C878F4}"/>
              </a:ext>
            </a:extLst>
          </p:cNvPr>
          <p:cNvSpPr txBox="1"/>
          <p:nvPr/>
        </p:nvSpPr>
        <p:spPr>
          <a:xfrm>
            <a:off x="1454876" y="1151987"/>
            <a:ext cx="3812146" cy="368252"/>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US" dirty="0">
                <a:solidFill>
                  <a:schemeClr val="accent1">
                    <a:lumMod val="50000"/>
                  </a:schemeClr>
                </a:solidFill>
                <a:hlinkClick r:id="rId5">
                  <a:extLst>
                    <a:ext uri="{A12FA001-AC4F-418D-AE19-62706E023703}">
                      <ahyp:hlinkClr xmlns:ahyp="http://schemas.microsoft.com/office/drawing/2018/hyperlinkcolor" val="tx"/>
                    </a:ext>
                  </a:extLst>
                </a:hlinkClick>
              </a:rPr>
              <a:t>Recommendation Web App</a:t>
            </a:r>
            <a:endParaRPr lang="en-US" dirty="0">
              <a:solidFill>
                <a:schemeClr val="accent1">
                  <a:lumMod val="50000"/>
                </a:schemeClr>
              </a:solidFill>
            </a:endParaRPr>
          </a:p>
        </p:txBody>
      </p:sp>
    </p:spTree>
    <p:extLst>
      <p:ext uri="{BB962C8B-B14F-4D97-AF65-F5344CB8AC3E}">
        <p14:creationId xmlns:p14="http://schemas.microsoft.com/office/powerpoint/2010/main" val="2446499398"/>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90">
            <a:extLst>
              <a:ext uri="{FF2B5EF4-FFF2-40B4-BE49-F238E27FC236}">
                <a16:creationId xmlns:a16="http://schemas.microsoft.com/office/drawing/2014/main" id="{43C28816-9D59-494E-BB6D-CECE748EA410}"/>
              </a:ext>
            </a:extLst>
          </p:cNvPr>
          <p:cNvSpPr/>
          <p:nvPr/>
        </p:nvSpPr>
        <p:spPr bwMode="auto">
          <a:xfrm>
            <a:off x="71918" y="1146220"/>
            <a:ext cx="12020764" cy="5395437"/>
          </a:xfrm>
          <a:prstGeom prst="roundRect">
            <a:avLst>
              <a:gd name="adj" fmla="val 4026"/>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2400" b="0" i="0" u="none" strike="noStrike" cap="none" normalizeH="0" baseline="0">
              <a:ln>
                <a:noFill/>
              </a:ln>
              <a:solidFill>
                <a:srgbClr val="4D4D4D"/>
              </a:solidFill>
              <a:effectLst/>
              <a:latin typeface="Arial" charset="0"/>
              <a:cs typeface="Arial" charset="0"/>
            </a:endParaRPr>
          </a:p>
        </p:txBody>
      </p:sp>
      <p:sp>
        <p:nvSpPr>
          <p:cNvPr id="2" name="Title 1">
            <a:extLst>
              <a:ext uri="{FF2B5EF4-FFF2-40B4-BE49-F238E27FC236}">
                <a16:creationId xmlns:a16="http://schemas.microsoft.com/office/drawing/2014/main" id="{FF95F7AF-FD07-4F19-9D39-17C7C2CAEBEF}"/>
              </a:ext>
            </a:extLst>
          </p:cNvPr>
          <p:cNvSpPr>
            <a:spLocks noGrp="1"/>
          </p:cNvSpPr>
          <p:nvPr>
            <p:ph type="title"/>
          </p:nvPr>
        </p:nvSpPr>
        <p:spPr>
          <a:xfrm>
            <a:off x="71918" y="137731"/>
            <a:ext cx="12020765" cy="850392"/>
          </a:xfrm>
        </p:spPr>
        <p:txBody>
          <a:bodyPr/>
          <a:lstStyle/>
          <a:p>
            <a:r>
              <a:rPr lang="en-US" dirty="0">
                <a:latin typeface="Calibri" panose="020F0502020204030204" pitchFamily="34" charset="0"/>
                <a:cs typeface="Calibri" panose="020F0502020204030204" pitchFamily="34" charset="0"/>
              </a:rPr>
              <a:t>Recommender System High-Level </a:t>
            </a:r>
            <a:r>
              <a:rPr lang="en-US">
                <a:latin typeface="Calibri" panose="020F0502020204030204" pitchFamily="34" charset="0"/>
                <a:cs typeface="Calibri" panose="020F0502020204030204" pitchFamily="34" charset="0"/>
              </a:rPr>
              <a:t>Architecture</a:t>
            </a:r>
            <a:endParaRPr lang="en-IN">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D17CDC64-5792-4EA2-A6A1-3F787FCF4C13}"/>
              </a:ext>
            </a:extLst>
          </p:cNvPr>
          <p:cNvPicPr>
            <a:picLocks noChangeAspect="1"/>
          </p:cNvPicPr>
          <p:nvPr/>
        </p:nvPicPr>
        <p:blipFill>
          <a:blip r:embed="rId3"/>
          <a:stretch>
            <a:fillRect/>
          </a:stretch>
        </p:blipFill>
        <p:spPr>
          <a:xfrm>
            <a:off x="1396049" y="1341812"/>
            <a:ext cx="9828866" cy="50042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0529420"/>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297E13-8057-0249-BE83-744748AA9C45}"/>
              </a:ext>
            </a:extLst>
          </p:cNvPr>
          <p:cNvSpPr>
            <a:spLocks noGrp="1"/>
          </p:cNvSpPr>
          <p:nvPr>
            <p:ph type="body" sz="quarter" idx="10"/>
          </p:nvPr>
        </p:nvSpPr>
        <p:spPr>
          <a:xfrm>
            <a:off x="2801694" y="2175024"/>
            <a:ext cx="4453227" cy="466344"/>
          </a:xfrm>
          <a:noFill/>
        </p:spPr>
        <p:txBody>
          <a:bodyPr/>
          <a:lstStyle/>
          <a:p>
            <a:r>
              <a:rPr lang="en-US"/>
              <a:t>Business &amp; Data Understanding</a:t>
            </a:r>
          </a:p>
        </p:txBody>
      </p:sp>
      <p:sp>
        <p:nvSpPr>
          <p:cNvPr id="3" name="Text Placeholder 2">
            <a:extLst>
              <a:ext uri="{FF2B5EF4-FFF2-40B4-BE49-F238E27FC236}">
                <a16:creationId xmlns:a16="http://schemas.microsoft.com/office/drawing/2014/main" id="{0FB72F3C-0713-8845-A7DB-7B70C4E306F6}"/>
              </a:ext>
            </a:extLst>
          </p:cNvPr>
          <p:cNvSpPr>
            <a:spLocks noGrp="1"/>
          </p:cNvSpPr>
          <p:nvPr>
            <p:ph type="body" sz="quarter" idx="11"/>
          </p:nvPr>
        </p:nvSpPr>
        <p:spPr>
          <a:xfrm>
            <a:off x="2801694" y="2752176"/>
            <a:ext cx="4453227" cy="466344"/>
          </a:xfrm>
        </p:spPr>
        <p:txBody>
          <a:bodyPr/>
          <a:lstStyle/>
          <a:p>
            <a:r>
              <a:rPr lang="en-US"/>
              <a:t>Data Preparation </a:t>
            </a:r>
          </a:p>
        </p:txBody>
      </p:sp>
      <p:sp>
        <p:nvSpPr>
          <p:cNvPr id="4" name="Text Placeholder 3">
            <a:extLst>
              <a:ext uri="{FF2B5EF4-FFF2-40B4-BE49-F238E27FC236}">
                <a16:creationId xmlns:a16="http://schemas.microsoft.com/office/drawing/2014/main" id="{8FC09673-D0CE-2943-9150-44A9049F1FE8}"/>
              </a:ext>
            </a:extLst>
          </p:cNvPr>
          <p:cNvSpPr>
            <a:spLocks noGrp="1"/>
          </p:cNvSpPr>
          <p:nvPr>
            <p:ph type="body" sz="quarter" idx="12"/>
          </p:nvPr>
        </p:nvSpPr>
        <p:spPr>
          <a:xfrm>
            <a:off x="2801694" y="3329327"/>
            <a:ext cx="4453227" cy="466344"/>
          </a:xfrm>
        </p:spPr>
        <p:txBody>
          <a:bodyPr/>
          <a:lstStyle/>
          <a:p>
            <a:r>
              <a:rPr lang="en-US"/>
              <a:t>The Modeling</a:t>
            </a:r>
          </a:p>
        </p:txBody>
      </p:sp>
      <p:sp>
        <p:nvSpPr>
          <p:cNvPr id="5" name="Text Placeholder 4">
            <a:extLst>
              <a:ext uri="{FF2B5EF4-FFF2-40B4-BE49-F238E27FC236}">
                <a16:creationId xmlns:a16="http://schemas.microsoft.com/office/drawing/2014/main" id="{63C5E55D-19E6-8B45-B651-B6C22152CA47}"/>
              </a:ext>
            </a:extLst>
          </p:cNvPr>
          <p:cNvSpPr>
            <a:spLocks noGrp="1"/>
          </p:cNvSpPr>
          <p:nvPr>
            <p:ph type="body" sz="quarter" idx="13"/>
          </p:nvPr>
        </p:nvSpPr>
        <p:spPr>
          <a:xfrm>
            <a:off x="2801694" y="3906478"/>
            <a:ext cx="4453227" cy="466344"/>
          </a:xfrm>
        </p:spPr>
        <p:txBody>
          <a:bodyPr/>
          <a:lstStyle/>
          <a:p>
            <a:r>
              <a:rPr lang="en-US"/>
              <a:t>Evaluation</a:t>
            </a:r>
          </a:p>
        </p:txBody>
      </p:sp>
      <p:sp>
        <p:nvSpPr>
          <p:cNvPr id="6" name="Text Placeholder 5">
            <a:extLst>
              <a:ext uri="{FF2B5EF4-FFF2-40B4-BE49-F238E27FC236}">
                <a16:creationId xmlns:a16="http://schemas.microsoft.com/office/drawing/2014/main" id="{D0B87B07-F4AF-F246-9686-BAADFAE1760C}"/>
              </a:ext>
            </a:extLst>
          </p:cNvPr>
          <p:cNvSpPr>
            <a:spLocks noGrp="1"/>
          </p:cNvSpPr>
          <p:nvPr>
            <p:ph type="body" sz="quarter" idx="14"/>
          </p:nvPr>
        </p:nvSpPr>
        <p:spPr>
          <a:xfrm>
            <a:off x="2801694" y="4483630"/>
            <a:ext cx="4453227" cy="466344"/>
          </a:xfrm>
        </p:spPr>
        <p:txBody>
          <a:bodyPr/>
          <a:lstStyle/>
          <a:p>
            <a:r>
              <a:rPr lang="en-US"/>
              <a:t>Deployment</a:t>
            </a:r>
          </a:p>
        </p:txBody>
      </p:sp>
      <p:sp>
        <p:nvSpPr>
          <p:cNvPr id="7" name="Text Placeholder 5">
            <a:extLst>
              <a:ext uri="{FF2B5EF4-FFF2-40B4-BE49-F238E27FC236}">
                <a16:creationId xmlns:a16="http://schemas.microsoft.com/office/drawing/2014/main" id="{59454E4C-D7CA-D246-8236-2DA343BEFAD7}"/>
              </a:ext>
            </a:extLst>
          </p:cNvPr>
          <p:cNvSpPr txBox="1">
            <a:spLocks/>
          </p:cNvSpPr>
          <p:nvPr/>
        </p:nvSpPr>
        <p:spPr>
          <a:xfrm>
            <a:off x="2812845" y="5085796"/>
            <a:ext cx="4453227" cy="466344"/>
          </a:xfrm>
          <a:prstGeom prst="rect">
            <a:avLst/>
          </a:prstGeom>
          <a:solidFill>
            <a:srgbClr val="FEA626">
              <a:alpha val="65882"/>
            </a:srgbClr>
          </a:solidFill>
        </p:spPr>
        <p:txBody>
          <a:bodyPr vert="horz" lIns="91440" tIns="45720" rIns="91440" bIns="45720" rtlCol="0">
            <a:normAutofit/>
          </a:bodyPr>
          <a:lstStyle>
            <a:lvl1pPr defTabSz="912813" fontAlgn="auto">
              <a:spcBef>
                <a:spcPts val="0"/>
              </a:spcBef>
              <a:spcAft>
                <a:spcPts val="0"/>
              </a:spcAft>
              <a:buClrTx/>
              <a:buSzTx/>
              <a:buFontTx/>
              <a:buNone/>
              <a:defRPr lang="en-US" sz="2400">
                <a:solidFill>
                  <a:schemeClr val="tx1">
                    <a:lumMod val="75000"/>
                  </a:schemeClr>
                </a:solidFill>
                <a:latin typeface="Calibri" pitchFamily="34" charset="0"/>
              </a:defRPr>
            </a:lvl1pPr>
            <a:lvl2pPr marL="742950" indent="-285750" defTabSz="912813" fontAlgn="base">
              <a:spcBef>
                <a:spcPct val="20000"/>
              </a:spcBef>
              <a:spcAft>
                <a:spcPct val="0"/>
              </a:spcAft>
              <a:buClr>
                <a:schemeClr val="accent1"/>
              </a:buClr>
              <a:buSzPct val="90000"/>
              <a:buFontTx/>
              <a:buBlip>
                <a:blip r:embed="rId2"/>
              </a:buBlip>
              <a:defRPr lang="en-US" sz="1600" dirty="0" smtClean="0">
                <a:solidFill>
                  <a:schemeClr val="tx1">
                    <a:lumMod val="75000"/>
                  </a:schemeClr>
                </a:solidFill>
                <a:latin typeface="Calibri" pitchFamily="34" charset="0"/>
              </a:defRPr>
            </a:lvl2pPr>
            <a:lvl3pPr marL="1200150" indent="-285750" defTabSz="912813" fontAlgn="base">
              <a:spcBef>
                <a:spcPct val="20000"/>
              </a:spcBef>
              <a:spcAft>
                <a:spcPct val="0"/>
              </a:spcAft>
              <a:buClr>
                <a:schemeClr val="accent1"/>
              </a:buClr>
              <a:buSzPct val="80000"/>
              <a:buFontTx/>
              <a:buBlip>
                <a:blip r:embed="rId2"/>
              </a:buBlip>
              <a:defRPr>
                <a:solidFill>
                  <a:schemeClr val="tx1">
                    <a:lumMod val="50000"/>
                  </a:schemeClr>
                </a:solidFill>
                <a:latin typeface="Calibri" pitchFamily="34" charset="0"/>
              </a:defRPr>
            </a:lvl3pPr>
            <a:lvl4pPr marL="1600200" indent="-285750" defTabSz="912813" fontAlgn="base">
              <a:spcBef>
                <a:spcPct val="20000"/>
              </a:spcBef>
              <a:spcAft>
                <a:spcPct val="0"/>
              </a:spcAft>
              <a:buClr>
                <a:schemeClr val="accent1"/>
              </a:buClr>
              <a:buSzPct val="80000"/>
              <a:buFontTx/>
              <a:buBlip>
                <a:blip r:embed="rId2"/>
              </a:buBlip>
              <a:defRPr>
                <a:solidFill>
                  <a:schemeClr val="tx1">
                    <a:lumMod val="50000"/>
                  </a:schemeClr>
                </a:solidFill>
                <a:latin typeface="Calibri" pitchFamily="34" charset="0"/>
              </a:defRPr>
            </a:lvl4pPr>
            <a:lvl5pPr marL="2000250" indent="-285750" defTabSz="912813" fontAlgn="base">
              <a:spcBef>
                <a:spcPct val="20000"/>
              </a:spcBef>
              <a:spcAft>
                <a:spcPct val="0"/>
              </a:spcAft>
              <a:buClr>
                <a:schemeClr val="accent1"/>
              </a:buClr>
              <a:buSzPct val="80000"/>
              <a:buFontTx/>
              <a:buBlip>
                <a:blip r:embed="rId2"/>
              </a:buBlip>
              <a:defRPr>
                <a:solidFill>
                  <a:schemeClr val="tx1">
                    <a:lumMod val="50000"/>
                  </a:schemeClr>
                </a:solidFill>
                <a:latin typeface="Calibri" pitchFamily="34" charset="0"/>
              </a:defRPr>
            </a:lvl5pPr>
            <a:lvl6pPr marL="2247900" indent="-266700" defTabSz="912813" fontAlgn="base">
              <a:spcBef>
                <a:spcPct val="20000"/>
              </a:spcBef>
              <a:spcAft>
                <a:spcPct val="0"/>
              </a:spcAft>
              <a:buClr>
                <a:schemeClr val="accent1"/>
              </a:buClr>
              <a:buChar char="•"/>
              <a:defRPr>
                <a:solidFill>
                  <a:srgbClr val="4D4D4D"/>
                </a:solidFill>
              </a:defRPr>
            </a:lvl6pPr>
            <a:lvl7pPr marL="2705100" indent="-266700" defTabSz="912813" fontAlgn="base">
              <a:spcBef>
                <a:spcPct val="20000"/>
              </a:spcBef>
              <a:spcAft>
                <a:spcPct val="0"/>
              </a:spcAft>
              <a:buClr>
                <a:schemeClr val="accent1"/>
              </a:buClr>
              <a:buChar char="•"/>
              <a:defRPr>
                <a:solidFill>
                  <a:srgbClr val="4D4D4D"/>
                </a:solidFill>
              </a:defRPr>
            </a:lvl7pPr>
            <a:lvl8pPr marL="3162300" indent="-266700" defTabSz="912813" fontAlgn="base">
              <a:spcBef>
                <a:spcPct val="20000"/>
              </a:spcBef>
              <a:spcAft>
                <a:spcPct val="0"/>
              </a:spcAft>
              <a:buClr>
                <a:schemeClr val="accent1"/>
              </a:buClr>
              <a:buChar char="•"/>
              <a:defRPr>
                <a:solidFill>
                  <a:srgbClr val="4D4D4D"/>
                </a:solidFill>
              </a:defRPr>
            </a:lvl8pPr>
            <a:lvl9pPr marL="3619500" indent="-266700" defTabSz="912813" fontAlgn="base">
              <a:spcBef>
                <a:spcPct val="20000"/>
              </a:spcBef>
              <a:spcAft>
                <a:spcPct val="0"/>
              </a:spcAft>
              <a:buClr>
                <a:schemeClr val="accent1"/>
              </a:buClr>
              <a:buChar char="•"/>
              <a:defRPr>
                <a:solidFill>
                  <a:srgbClr val="4D4D4D"/>
                </a:solidFill>
              </a:defRPr>
            </a:lvl9pPr>
          </a:lstStyle>
          <a:p>
            <a:r>
              <a:rPr lang="en-IN"/>
              <a:t>Monitoring and Maintenance </a:t>
            </a:r>
          </a:p>
        </p:txBody>
      </p:sp>
    </p:spTree>
    <p:extLst>
      <p:ext uri="{BB962C8B-B14F-4D97-AF65-F5344CB8AC3E}">
        <p14:creationId xmlns:p14="http://schemas.microsoft.com/office/powerpoint/2010/main" val="227232511"/>
      </p:ext>
    </p:extLst>
  </p:cSld>
  <p:clrMapOvr>
    <a:masterClrMapping/>
  </p:clrMapOvr>
  <p:transition advClick="0">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D45FE3-6D48-8540-A57C-177D7EF939E4}"/>
              </a:ext>
            </a:extLst>
          </p:cNvPr>
          <p:cNvSpPr>
            <a:spLocks noGrp="1"/>
          </p:cNvSpPr>
          <p:nvPr>
            <p:ph type="body" sz="quarter" idx="10"/>
          </p:nvPr>
        </p:nvSpPr>
        <p:spPr/>
        <p:txBody>
          <a:bodyPr anchor="ctr"/>
          <a:lstStyle/>
          <a:p>
            <a:r>
              <a:rPr lang="en-IN"/>
              <a:t>Monitoring and Maintenance</a:t>
            </a:r>
          </a:p>
        </p:txBody>
      </p:sp>
    </p:spTree>
    <p:extLst>
      <p:ext uri="{BB962C8B-B14F-4D97-AF65-F5344CB8AC3E}">
        <p14:creationId xmlns:p14="http://schemas.microsoft.com/office/powerpoint/2010/main" val="112736680"/>
      </p:ext>
    </p:extLst>
  </p:cSld>
  <p:clrMapOvr>
    <a:masterClrMapping/>
  </p:clrMapOvr>
  <p:transition advClick="0">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401EE-7268-D44B-9217-25D6E78D3BDE}"/>
              </a:ext>
            </a:extLst>
          </p:cNvPr>
          <p:cNvSpPr>
            <a:spLocks noGrp="1"/>
          </p:cNvSpPr>
          <p:nvPr>
            <p:ph type="title"/>
          </p:nvPr>
        </p:nvSpPr>
        <p:spPr/>
        <p:txBody>
          <a:bodyPr/>
          <a:lstStyle/>
          <a:p>
            <a:r>
              <a:rPr lang="en-US"/>
              <a:t>Model Monitoring and Maintenance</a:t>
            </a:r>
          </a:p>
        </p:txBody>
      </p:sp>
      <p:sp>
        <p:nvSpPr>
          <p:cNvPr id="3" name="Text Placeholder 2">
            <a:extLst>
              <a:ext uri="{FF2B5EF4-FFF2-40B4-BE49-F238E27FC236}">
                <a16:creationId xmlns:a16="http://schemas.microsoft.com/office/drawing/2014/main" id="{7C068D5A-7494-5140-8527-7447E4682B33}"/>
              </a:ext>
            </a:extLst>
          </p:cNvPr>
          <p:cNvSpPr>
            <a:spLocks noGrp="1"/>
          </p:cNvSpPr>
          <p:nvPr>
            <p:ph type="body" sz="quarter" idx="10"/>
          </p:nvPr>
        </p:nvSpPr>
        <p:spPr/>
        <p:txBody>
          <a:bodyPr>
            <a:normAutofit/>
          </a:bodyPr>
          <a:lstStyle/>
          <a:p>
            <a:pPr marL="342900" indent="-342900">
              <a:lnSpc>
                <a:spcPct val="150000"/>
              </a:lnSpc>
              <a:buFont typeface="Arial" panose="020B0604020202020204" pitchFamily="34" charset="0"/>
              <a:buChar char="•"/>
            </a:pPr>
            <a:endParaRPr lang="en-US" sz="1600" dirty="0"/>
          </a:p>
          <a:p>
            <a:pPr marL="342900" indent="-342900">
              <a:lnSpc>
                <a:spcPct val="150000"/>
              </a:lnSpc>
              <a:buFont typeface="Arial" panose="020B0604020202020204" pitchFamily="34" charset="0"/>
              <a:buChar char="•"/>
            </a:pPr>
            <a:endParaRPr lang="en-US" sz="1600" dirty="0"/>
          </a:p>
          <a:p>
            <a:pPr marL="342900" indent="-342900">
              <a:lnSpc>
                <a:spcPct val="150000"/>
              </a:lnSpc>
              <a:buFont typeface="Arial" panose="020B0604020202020204" pitchFamily="34" charset="0"/>
              <a:buChar char="•"/>
            </a:pPr>
            <a:endParaRPr lang="en-US" sz="1600" dirty="0"/>
          </a:p>
          <a:p>
            <a:pPr marL="342900" indent="-342900">
              <a:lnSpc>
                <a:spcPct val="150000"/>
              </a:lnSpc>
              <a:buFont typeface="Arial" panose="020B0604020202020204" pitchFamily="34" charset="0"/>
              <a:buChar char="•"/>
            </a:pPr>
            <a:endParaRPr lang="en-US" sz="1600" dirty="0"/>
          </a:p>
          <a:p>
            <a:pPr marL="342900" indent="-342900">
              <a:lnSpc>
                <a:spcPct val="150000"/>
              </a:lnSpc>
              <a:buFont typeface="Arial" panose="020B0604020202020204" pitchFamily="34" charset="0"/>
              <a:buChar char="•"/>
            </a:pPr>
            <a:endParaRPr lang="en-US" sz="1600" dirty="0"/>
          </a:p>
          <a:p>
            <a:pPr marL="342900" indent="-342900">
              <a:lnSpc>
                <a:spcPct val="150000"/>
              </a:lnSpc>
              <a:buFont typeface="Arial" panose="020B0604020202020204" pitchFamily="34" charset="0"/>
              <a:buChar char="•"/>
            </a:pPr>
            <a:endParaRPr lang="en-US" sz="1600" dirty="0"/>
          </a:p>
        </p:txBody>
      </p:sp>
      <p:sp>
        <p:nvSpPr>
          <p:cNvPr id="4" name="AutoShape 11">
            <a:extLst>
              <a:ext uri="{FF2B5EF4-FFF2-40B4-BE49-F238E27FC236}">
                <a16:creationId xmlns:a16="http://schemas.microsoft.com/office/drawing/2014/main" id="{0D7896BF-5904-43D2-8502-6A80A432950E}"/>
              </a:ext>
            </a:extLst>
          </p:cNvPr>
          <p:cNvSpPr>
            <a:spLocks noChangeArrowheads="1"/>
          </p:cNvSpPr>
          <p:nvPr/>
        </p:nvSpPr>
        <p:spPr bwMode="gray">
          <a:xfrm>
            <a:off x="63281" y="1128713"/>
            <a:ext cx="5778718" cy="5386387"/>
          </a:xfrm>
          <a:prstGeom prst="homePlate">
            <a:avLst>
              <a:gd name="adj" fmla="val 9560"/>
            </a:avLst>
          </a:prstGeom>
          <a:solidFill>
            <a:schemeClr val="bg2">
              <a:lumMod val="50000"/>
            </a:schemeClr>
          </a:solidFill>
          <a:ln w="9525" algn="ctr">
            <a:solidFill>
              <a:srgbClr val="FFD200"/>
            </a:solidFill>
            <a:miter lim="800000"/>
            <a:headEnd/>
            <a:tailEnd/>
          </a:ln>
          <a:effectLst/>
        </p:spPr>
        <p:txBody>
          <a:bodyPr lIns="89984" tIns="46030" rIns="89984" bIns="46030" anchor="t"/>
          <a:lstStyle/>
          <a:p>
            <a:pPr algn="l" eaLnBrk="0" hangingPunct="0">
              <a:buClr>
                <a:srgbClr val="00A28A"/>
              </a:buClr>
              <a:buFont typeface="Times" pitchFamily="18" charset="0"/>
              <a:buNone/>
            </a:pPr>
            <a:endParaRPr lang="en-US" sz="1600">
              <a:solidFill>
                <a:srgbClr val="3C3C3C"/>
              </a:solidFill>
            </a:endParaRPr>
          </a:p>
        </p:txBody>
      </p:sp>
      <p:sp>
        <p:nvSpPr>
          <p:cNvPr id="5" name="Rectangle 13">
            <a:extLst>
              <a:ext uri="{FF2B5EF4-FFF2-40B4-BE49-F238E27FC236}">
                <a16:creationId xmlns:a16="http://schemas.microsoft.com/office/drawing/2014/main" id="{A7A9F80B-E684-4D9C-89FE-002BAAB23FF9}"/>
              </a:ext>
            </a:extLst>
          </p:cNvPr>
          <p:cNvSpPr>
            <a:spLocks noChangeArrowheads="1"/>
          </p:cNvSpPr>
          <p:nvPr/>
        </p:nvSpPr>
        <p:spPr bwMode="gray">
          <a:xfrm>
            <a:off x="166524" y="2794114"/>
            <a:ext cx="5212080" cy="429947"/>
          </a:xfrm>
          <a:prstGeom prst="rect">
            <a:avLst/>
          </a:prstGeom>
          <a:solidFill>
            <a:schemeClr val="accent6">
              <a:lumMod val="60000"/>
              <a:lumOff val="4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lstStyle/>
          <a:p>
            <a:pPr defTabSz="685434">
              <a:buClr>
                <a:srgbClr val="2E2E38">
                  <a:lumMod val="60000"/>
                  <a:lumOff val="40000"/>
                </a:srgbClr>
              </a:buClr>
              <a:buSzPct val="70000"/>
              <a:defRPr/>
            </a:pPr>
            <a:r>
              <a:rPr lang="en-US" sz="1400" dirty="0">
                <a:solidFill>
                  <a:schemeClr val="accent1">
                    <a:lumMod val="50000"/>
                  </a:schemeClr>
                </a:solidFill>
              </a:rPr>
              <a:t>Detecting Data Drift</a:t>
            </a: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0" i="0" u="none" strike="noStrike" kern="1200" cap="none" spc="0" normalizeH="0" baseline="0" noProof="0" dirty="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
        <p:nvSpPr>
          <p:cNvPr id="6" name="Rectangle 13">
            <a:extLst>
              <a:ext uri="{FF2B5EF4-FFF2-40B4-BE49-F238E27FC236}">
                <a16:creationId xmlns:a16="http://schemas.microsoft.com/office/drawing/2014/main" id="{82949653-9098-4F02-8A10-0C48BB6E96FE}"/>
              </a:ext>
            </a:extLst>
          </p:cNvPr>
          <p:cNvSpPr>
            <a:spLocks noChangeArrowheads="1"/>
          </p:cNvSpPr>
          <p:nvPr/>
        </p:nvSpPr>
        <p:spPr bwMode="gray">
          <a:xfrm>
            <a:off x="166524" y="3434544"/>
            <a:ext cx="5212080" cy="386731"/>
          </a:xfrm>
          <a:prstGeom prst="rect">
            <a:avLst/>
          </a:prstGeom>
          <a:solidFill>
            <a:schemeClr val="accent6">
              <a:lumMod val="60000"/>
              <a:lumOff val="4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lstStyle/>
          <a:p>
            <a:pPr defTabSz="685434">
              <a:buClr>
                <a:srgbClr val="2E2E38">
                  <a:lumMod val="60000"/>
                  <a:lumOff val="40000"/>
                </a:srgbClr>
              </a:buClr>
              <a:buSzPct val="70000"/>
              <a:defRPr/>
            </a:pPr>
            <a:r>
              <a:rPr lang="en-US" sz="1400">
                <a:solidFill>
                  <a:schemeClr val="accent1">
                    <a:lumMod val="50000"/>
                  </a:schemeClr>
                </a:solidFill>
              </a:rPr>
              <a:t>Automate the management of Model Drift</a:t>
            </a:r>
          </a:p>
          <a:p>
            <a:pPr defTabSz="685434">
              <a:buClr>
                <a:srgbClr val="2E2E38">
                  <a:lumMod val="60000"/>
                  <a:lumOff val="40000"/>
                </a:srgbClr>
              </a:buClr>
              <a:buSzPct val="70000"/>
              <a:defRPr/>
            </a:pPr>
            <a:endParaRPr lang="en-US" sz="1400">
              <a:solidFill>
                <a:schemeClr val="accent1">
                  <a:lumMod val="50000"/>
                </a:schemeClr>
              </a:solidFill>
            </a:endParaRP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0" i="0" u="none" strike="noStrike" kern="1200" cap="none" spc="0" normalizeH="0" baseline="0" noProof="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
        <p:nvSpPr>
          <p:cNvPr id="7" name="Rectangle 13">
            <a:extLst>
              <a:ext uri="{FF2B5EF4-FFF2-40B4-BE49-F238E27FC236}">
                <a16:creationId xmlns:a16="http://schemas.microsoft.com/office/drawing/2014/main" id="{CC64FD5D-9545-4F7A-B092-8BC81C0EDA5A}"/>
              </a:ext>
            </a:extLst>
          </p:cNvPr>
          <p:cNvSpPr>
            <a:spLocks noChangeArrowheads="1"/>
          </p:cNvSpPr>
          <p:nvPr/>
        </p:nvSpPr>
        <p:spPr bwMode="gray">
          <a:xfrm>
            <a:off x="166524" y="4031758"/>
            <a:ext cx="5212080" cy="597983"/>
          </a:xfrm>
          <a:prstGeom prst="rect">
            <a:avLst/>
          </a:prstGeom>
          <a:solidFill>
            <a:schemeClr val="accent6">
              <a:lumMod val="60000"/>
              <a:lumOff val="4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lstStyle/>
          <a:p>
            <a:pPr defTabSz="685434">
              <a:buClr>
                <a:srgbClr val="2E2E38">
                  <a:lumMod val="60000"/>
                  <a:lumOff val="40000"/>
                </a:srgbClr>
              </a:buClr>
              <a:buSzPct val="70000"/>
              <a:defRPr/>
            </a:pPr>
            <a:r>
              <a:rPr lang="en-US" sz="1400">
                <a:solidFill>
                  <a:schemeClr val="accent1">
                    <a:lumMod val="50000"/>
                  </a:schemeClr>
                </a:solidFill>
              </a:rPr>
              <a:t>Comparison of deployed model on benchmark distribution and real-world distribution</a:t>
            </a: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0" i="0" u="none" strike="noStrike" kern="1200" cap="none" spc="0" normalizeH="0" baseline="0" noProof="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
        <p:nvSpPr>
          <p:cNvPr id="8" name="Rectangle 13">
            <a:extLst>
              <a:ext uri="{FF2B5EF4-FFF2-40B4-BE49-F238E27FC236}">
                <a16:creationId xmlns:a16="http://schemas.microsoft.com/office/drawing/2014/main" id="{334F8492-ECE1-401C-B26E-B2F938D3E67A}"/>
              </a:ext>
            </a:extLst>
          </p:cNvPr>
          <p:cNvSpPr>
            <a:spLocks noChangeArrowheads="1"/>
          </p:cNvSpPr>
          <p:nvPr/>
        </p:nvSpPr>
        <p:spPr bwMode="gray">
          <a:xfrm>
            <a:off x="166524" y="4840224"/>
            <a:ext cx="5212080" cy="536258"/>
          </a:xfrm>
          <a:prstGeom prst="rect">
            <a:avLst/>
          </a:prstGeom>
          <a:solidFill>
            <a:schemeClr val="accent6">
              <a:lumMod val="60000"/>
              <a:lumOff val="4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lstStyle/>
          <a:p>
            <a:pPr defTabSz="685434">
              <a:buClr>
                <a:srgbClr val="2E2E38">
                  <a:lumMod val="60000"/>
                  <a:lumOff val="40000"/>
                </a:srgbClr>
              </a:buClr>
              <a:buSzPct val="70000"/>
              <a:defRPr/>
            </a:pPr>
            <a:r>
              <a:rPr lang="en-US" sz="1400" dirty="0">
                <a:solidFill>
                  <a:schemeClr val="accent1">
                    <a:lumMod val="50000"/>
                  </a:schemeClr>
                </a:solidFill>
              </a:rPr>
              <a:t>Collect and merge ground truth and predictions – recursive model evolution</a:t>
            </a:r>
          </a:p>
          <a:p>
            <a:pPr defTabSz="685434">
              <a:buClr>
                <a:srgbClr val="2E2E38">
                  <a:lumMod val="60000"/>
                  <a:lumOff val="40000"/>
                </a:srgbClr>
              </a:buClr>
              <a:buSzPct val="70000"/>
              <a:defRPr/>
            </a:pPr>
            <a:endParaRPr lang="en-US" sz="1400" dirty="0">
              <a:solidFill>
                <a:schemeClr val="accent1">
                  <a:lumMod val="50000"/>
                </a:schemeClr>
              </a:solidFill>
            </a:endParaRP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0" i="0" u="none" strike="noStrike" kern="1200" cap="none" spc="0" normalizeH="0" baseline="0" noProof="0" dirty="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
        <p:nvSpPr>
          <p:cNvPr id="9" name="Rectangle 13">
            <a:extLst>
              <a:ext uri="{FF2B5EF4-FFF2-40B4-BE49-F238E27FC236}">
                <a16:creationId xmlns:a16="http://schemas.microsoft.com/office/drawing/2014/main" id="{18C17684-41DB-4322-B7F4-B9254FF9D179}"/>
              </a:ext>
            </a:extLst>
          </p:cNvPr>
          <p:cNvSpPr>
            <a:spLocks noChangeArrowheads="1"/>
          </p:cNvSpPr>
          <p:nvPr/>
        </p:nvSpPr>
        <p:spPr bwMode="gray">
          <a:xfrm>
            <a:off x="166524" y="5586967"/>
            <a:ext cx="5212080" cy="746717"/>
          </a:xfrm>
          <a:prstGeom prst="rect">
            <a:avLst/>
          </a:prstGeom>
          <a:solidFill>
            <a:schemeClr val="accent6">
              <a:lumMod val="60000"/>
              <a:lumOff val="4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lstStyle/>
          <a:p>
            <a:pPr>
              <a:lnSpc>
                <a:spcPct val="150000"/>
              </a:lnSpc>
            </a:pPr>
            <a:r>
              <a:rPr lang="en-US" sz="1400" dirty="0">
                <a:solidFill>
                  <a:schemeClr val="accent1">
                    <a:lumMod val="50000"/>
                  </a:schemeClr>
                </a:solidFill>
              </a:rPr>
              <a:t>Different tools to deploy concept drift aware ML model [</a:t>
            </a:r>
            <a:r>
              <a:rPr lang="en-US" sz="1400" dirty="0">
                <a:solidFill>
                  <a:schemeClr val="accent1">
                    <a:lumMod val="50000"/>
                  </a:schemeClr>
                </a:solidFill>
                <a:hlinkClick r:id="rId3">
                  <a:extLst>
                    <a:ext uri="{A12FA001-AC4F-418D-AE19-62706E023703}">
                      <ahyp:hlinkClr xmlns:ahyp="http://schemas.microsoft.com/office/drawing/2018/hyperlinkcolor" val="tx"/>
                    </a:ext>
                  </a:extLst>
                </a:hlinkClick>
              </a:rPr>
              <a:t>Monitoring Tools</a:t>
            </a:r>
            <a:r>
              <a:rPr lang="en-US" sz="1400" dirty="0">
                <a:solidFill>
                  <a:schemeClr val="accent1">
                    <a:lumMod val="50000"/>
                  </a:schemeClr>
                </a:solidFill>
              </a:rPr>
              <a:t>]</a:t>
            </a:r>
          </a:p>
          <a:p>
            <a:pPr marL="342900" indent="-342900">
              <a:lnSpc>
                <a:spcPct val="150000"/>
              </a:lnSpc>
              <a:buFont typeface="Arial" panose="020B0604020202020204" pitchFamily="34" charset="0"/>
              <a:buChar char="•"/>
            </a:pPr>
            <a:endParaRPr lang="en-US" sz="1400" dirty="0">
              <a:solidFill>
                <a:schemeClr val="accent1">
                  <a:lumMod val="50000"/>
                </a:schemeClr>
              </a:solidFill>
            </a:endParaRPr>
          </a:p>
          <a:p>
            <a:pPr defTabSz="685434">
              <a:buClr>
                <a:srgbClr val="2E2E38">
                  <a:lumMod val="60000"/>
                  <a:lumOff val="40000"/>
                </a:srgbClr>
              </a:buClr>
              <a:buSzPct val="70000"/>
              <a:defRPr/>
            </a:pPr>
            <a:endParaRPr lang="en-US" sz="1400" dirty="0">
              <a:solidFill>
                <a:schemeClr val="accent1">
                  <a:lumMod val="50000"/>
                </a:schemeClr>
              </a:solidFill>
            </a:endParaRP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0" i="0" u="none" strike="noStrike" kern="1200" cap="none" spc="0" normalizeH="0" baseline="0" noProof="0" dirty="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
        <p:nvSpPr>
          <p:cNvPr id="11" name="Rectangle 13">
            <a:extLst>
              <a:ext uri="{FF2B5EF4-FFF2-40B4-BE49-F238E27FC236}">
                <a16:creationId xmlns:a16="http://schemas.microsoft.com/office/drawing/2014/main" id="{2A9B0DA4-CC39-4975-B5F4-5FD832D0B28C}"/>
              </a:ext>
            </a:extLst>
          </p:cNvPr>
          <p:cNvSpPr>
            <a:spLocks noChangeArrowheads="1"/>
          </p:cNvSpPr>
          <p:nvPr/>
        </p:nvSpPr>
        <p:spPr bwMode="gray">
          <a:xfrm>
            <a:off x="166524" y="1285644"/>
            <a:ext cx="5212080" cy="429947"/>
          </a:xfrm>
          <a:prstGeom prst="rect">
            <a:avLst/>
          </a:prstGeom>
          <a:solidFill>
            <a:schemeClr val="accent6">
              <a:lumMod val="60000"/>
              <a:lumOff val="4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nchor="t"/>
          <a:lstStyle/>
          <a:p>
            <a:pPr defTabSz="685434">
              <a:buClr>
                <a:srgbClr val="2E2E38">
                  <a:lumMod val="60000"/>
                  <a:lumOff val="40000"/>
                </a:srgbClr>
              </a:buClr>
              <a:buSzPct val="70000"/>
              <a:defRPr/>
            </a:pPr>
            <a:r>
              <a:rPr lang="en-US" sz="1400" dirty="0">
                <a:solidFill>
                  <a:schemeClr val="accent1">
                    <a:lumMod val="50000"/>
                  </a:schemeClr>
                </a:solidFill>
              </a:rPr>
              <a:t>Nonstationary environment: Covariate Shift adaption [</a:t>
            </a:r>
            <a:r>
              <a:rPr lang="en-US" sz="1400" dirty="0">
                <a:solidFill>
                  <a:schemeClr val="accent1">
                    <a:lumMod val="50000"/>
                  </a:schemeClr>
                </a:solidFill>
                <a:hlinkClick r:id="rId4">
                  <a:extLst>
                    <a:ext uri="{A12FA001-AC4F-418D-AE19-62706E023703}">
                      <ahyp:hlinkClr xmlns:ahyp="http://schemas.microsoft.com/office/drawing/2018/hyperlinkcolor" val="tx"/>
                    </a:ext>
                  </a:extLst>
                </a:hlinkClick>
              </a:rPr>
              <a:t>Ref</a:t>
            </a:r>
            <a:r>
              <a:rPr lang="en-US" sz="1400" dirty="0">
                <a:solidFill>
                  <a:schemeClr val="accent1">
                    <a:lumMod val="50000"/>
                  </a:schemeClr>
                </a:solidFill>
              </a:rPr>
              <a:t>]</a:t>
            </a: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0" i="0" u="none" strike="noStrike" kern="1200" cap="none" spc="0" normalizeH="0" baseline="0" noProof="0" dirty="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
        <p:nvSpPr>
          <p:cNvPr id="12" name="Rectangle 13">
            <a:extLst>
              <a:ext uri="{FF2B5EF4-FFF2-40B4-BE49-F238E27FC236}">
                <a16:creationId xmlns:a16="http://schemas.microsoft.com/office/drawing/2014/main" id="{3082BF66-5C12-412B-9FD5-C4F0D5D0F18A}"/>
              </a:ext>
            </a:extLst>
          </p:cNvPr>
          <p:cNvSpPr>
            <a:spLocks noChangeArrowheads="1"/>
          </p:cNvSpPr>
          <p:nvPr/>
        </p:nvSpPr>
        <p:spPr bwMode="gray">
          <a:xfrm>
            <a:off x="166524" y="1926074"/>
            <a:ext cx="5212080" cy="657557"/>
          </a:xfrm>
          <a:prstGeom prst="rect">
            <a:avLst/>
          </a:prstGeom>
          <a:solidFill>
            <a:schemeClr val="accent6">
              <a:lumMod val="60000"/>
              <a:lumOff val="4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nchor="t"/>
          <a:lstStyle/>
          <a:p>
            <a:pPr defTabSz="685434">
              <a:buClr>
                <a:srgbClr val="2E2E38">
                  <a:lumMod val="60000"/>
                  <a:lumOff val="40000"/>
                </a:srgbClr>
              </a:buClr>
              <a:buSzPct val="70000"/>
              <a:defRPr/>
            </a:pPr>
            <a:r>
              <a:rPr lang="en-US" sz="1400" dirty="0">
                <a:solidFill>
                  <a:schemeClr val="accent1">
                    <a:lumMod val="50000"/>
                  </a:schemeClr>
                </a:solidFill>
              </a:rPr>
              <a:t>Hardware performance of ML models </a:t>
            </a:r>
            <a:r>
              <a:rPr lang="en-US" sz="1400">
                <a:solidFill>
                  <a:schemeClr val="accent1">
                    <a:lumMod val="50000"/>
                  </a:schemeClr>
                </a:solidFill>
              </a:rPr>
              <a:t>w.r.t</a:t>
            </a:r>
            <a:r>
              <a:rPr lang="en-US" sz="1400" dirty="0">
                <a:solidFill>
                  <a:schemeClr val="accent1">
                    <a:lumMod val="50000"/>
                  </a:schemeClr>
                </a:solidFill>
              </a:rPr>
              <a:t> metrics(runtime/energy consumption) [</a:t>
            </a:r>
            <a:r>
              <a:rPr lang="en-US" sz="1400" dirty="0">
                <a:solidFill>
                  <a:schemeClr val="accent1">
                    <a:lumMod val="50000"/>
                  </a:schemeClr>
                </a:solidFill>
                <a:hlinkClick r:id="rId5">
                  <a:extLst>
                    <a:ext uri="{A12FA001-AC4F-418D-AE19-62706E023703}">
                      <ahyp:hlinkClr xmlns:ahyp="http://schemas.microsoft.com/office/drawing/2018/hyperlinkcolor" val="tx"/>
                    </a:ext>
                  </a:extLst>
                </a:hlinkClick>
              </a:rPr>
              <a:t>Ref</a:t>
            </a:r>
            <a:r>
              <a:rPr lang="en-US" sz="1400" dirty="0">
                <a:solidFill>
                  <a:schemeClr val="accent1">
                    <a:lumMod val="50000"/>
                  </a:schemeClr>
                </a:solidFill>
              </a:rPr>
              <a:t>]</a:t>
            </a: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0" i="0" u="none" strike="noStrike" kern="1200" cap="none" spc="0" normalizeH="0" baseline="0" noProof="0" dirty="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E188498-0B8E-EE4C-BC76-951F6EB781F0}"/>
              </a:ext>
            </a:extLst>
          </p:cNvPr>
          <p:cNvSpPr txBox="1"/>
          <p:nvPr/>
        </p:nvSpPr>
        <p:spPr>
          <a:xfrm>
            <a:off x="8364611" y="1245793"/>
            <a:ext cx="45719" cy="0"/>
          </a:xfrm>
          <a:prstGeom prst="rect">
            <a:avLst/>
          </a:prstGeom>
          <a:noFill/>
        </p:spPr>
        <p:txBody>
          <a:bodyPr wrap="none" rtlCol="0">
            <a:noAutofit/>
          </a:bodyPr>
          <a:lstStyle/>
          <a:p>
            <a:endParaRPr lang="en-US" dirty="0"/>
          </a:p>
        </p:txBody>
      </p:sp>
      <p:sp>
        <p:nvSpPr>
          <p:cNvPr id="17" name="TextBox 16">
            <a:extLst>
              <a:ext uri="{FF2B5EF4-FFF2-40B4-BE49-F238E27FC236}">
                <a16:creationId xmlns:a16="http://schemas.microsoft.com/office/drawing/2014/main" id="{23BD4101-0585-7843-9EEB-9B92FB2500DD}"/>
              </a:ext>
            </a:extLst>
          </p:cNvPr>
          <p:cNvSpPr txBox="1"/>
          <p:nvPr/>
        </p:nvSpPr>
        <p:spPr>
          <a:xfrm>
            <a:off x="11575115" y="4105498"/>
            <a:ext cx="0" cy="0"/>
          </a:xfrm>
          <a:prstGeom prst="rect">
            <a:avLst/>
          </a:prstGeom>
          <a:noFill/>
        </p:spPr>
        <p:txBody>
          <a:bodyPr wrap="none" rtlCol="0">
            <a:noAutofit/>
          </a:bodyPr>
          <a:lstStyle/>
          <a:p>
            <a:endParaRPr lang="en-US" dirty="0"/>
          </a:p>
        </p:txBody>
      </p:sp>
      <p:pic>
        <p:nvPicPr>
          <p:cNvPr id="35" name="Picture 34">
            <a:extLst>
              <a:ext uri="{FF2B5EF4-FFF2-40B4-BE49-F238E27FC236}">
                <a16:creationId xmlns:a16="http://schemas.microsoft.com/office/drawing/2014/main" id="{9B568D97-B17E-4BB5-9897-4847B70B0BC3}"/>
              </a:ext>
            </a:extLst>
          </p:cNvPr>
          <p:cNvPicPr>
            <a:picLocks noChangeAspect="1"/>
          </p:cNvPicPr>
          <p:nvPr/>
        </p:nvPicPr>
        <p:blipFill>
          <a:blip r:embed="rId6"/>
          <a:stretch>
            <a:fillRect/>
          </a:stretch>
        </p:blipFill>
        <p:spPr>
          <a:xfrm>
            <a:off x="5913124" y="2232610"/>
            <a:ext cx="6220285" cy="2667723"/>
          </a:xfrm>
          <a:prstGeom prst="rect">
            <a:avLst/>
          </a:prstGeom>
          <a:ln>
            <a:noFill/>
          </a:ln>
        </p:spPr>
      </p:pic>
      <p:sp>
        <p:nvSpPr>
          <p:cNvPr id="70" name="Rectangle 13">
            <a:extLst>
              <a:ext uri="{FF2B5EF4-FFF2-40B4-BE49-F238E27FC236}">
                <a16:creationId xmlns:a16="http://schemas.microsoft.com/office/drawing/2014/main" id="{EF2A0F4B-F281-4009-B07C-1BC2EA682F59}"/>
              </a:ext>
            </a:extLst>
          </p:cNvPr>
          <p:cNvSpPr>
            <a:spLocks noChangeArrowheads="1"/>
          </p:cNvSpPr>
          <p:nvPr/>
        </p:nvSpPr>
        <p:spPr bwMode="gray">
          <a:xfrm>
            <a:off x="6462945" y="1582636"/>
            <a:ext cx="5212080" cy="429947"/>
          </a:xfrm>
          <a:prstGeom prst="rect">
            <a:avLst/>
          </a:prstGeom>
          <a:solidFill>
            <a:schemeClr val="accent6">
              <a:lumMod val="20000"/>
              <a:lumOff val="80000"/>
            </a:schemeClr>
          </a:solidFill>
          <a:ln>
            <a:noFill/>
            <a:headEnd/>
            <a:tailEnd/>
          </a:ln>
        </p:spPr>
        <p:style>
          <a:lnRef idx="2">
            <a:schemeClr val="accent6"/>
          </a:lnRef>
          <a:fillRef idx="1">
            <a:schemeClr val="lt1"/>
          </a:fillRef>
          <a:effectRef idx="0">
            <a:schemeClr val="accent6"/>
          </a:effectRef>
          <a:fontRef idx="minor">
            <a:schemeClr val="dk1"/>
          </a:fontRef>
        </p:style>
        <p:txBody>
          <a:bodyPr lIns="90000" tIns="90000" rIns="90000" bIns="90000" anchor="t"/>
          <a:lstStyle/>
          <a:p>
            <a:pPr algn="ctr" defTabSz="685434">
              <a:buClr>
                <a:srgbClr val="2E2E38">
                  <a:lumMod val="60000"/>
                  <a:lumOff val="40000"/>
                </a:srgbClr>
              </a:buClr>
              <a:buSzPct val="70000"/>
              <a:defRPr/>
            </a:pPr>
            <a:r>
              <a:rPr lang="en-US" sz="1400" b="1">
                <a:solidFill>
                  <a:schemeClr val="accent1">
                    <a:lumMod val="50000"/>
                  </a:schemeClr>
                </a:solidFill>
              </a:rPr>
              <a:t>Recursive Model Evolution </a:t>
            </a:r>
          </a:p>
          <a:p>
            <a:pPr marR="0" lvl="0" algn="l" defTabSz="685434" rtl="0" eaLnBrk="1" fontAlgn="auto" latinLnBrk="0" hangingPunct="1">
              <a:lnSpc>
                <a:spcPct val="100000"/>
              </a:lnSpc>
              <a:spcBef>
                <a:spcPts val="0"/>
              </a:spcBef>
              <a:spcAft>
                <a:spcPts val="0"/>
              </a:spcAft>
              <a:buClr>
                <a:srgbClr val="2E2E38">
                  <a:lumMod val="60000"/>
                  <a:lumOff val="40000"/>
                </a:srgbClr>
              </a:buClr>
              <a:buSzPct val="70000"/>
              <a:tabLst/>
              <a:defRPr/>
            </a:pPr>
            <a:endParaRPr kumimoji="0" lang="sv-SE" sz="1400" b="1" i="0" u="none" strike="noStrike" kern="1200" cap="none" spc="0" normalizeH="0" baseline="0" noProof="0">
              <a:ln>
                <a:noFill/>
              </a:ln>
              <a:solidFill>
                <a:schemeClr val="accent1">
                  <a:lumMod val="50000"/>
                </a:schemeClr>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9934756"/>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F055F0-7604-EF4F-A59A-97D3442D1DD3}"/>
              </a:ext>
            </a:extLst>
          </p:cNvPr>
          <p:cNvSpPr txBox="1"/>
          <p:nvPr/>
        </p:nvSpPr>
        <p:spPr>
          <a:xfrm>
            <a:off x="8323709" y="4493567"/>
            <a:ext cx="3786809" cy="2364433"/>
          </a:xfrm>
          <a:prstGeom prst="rect">
            <a:avLst/>
          </a:prstGeom>
          <a:noFill/>
        </p:spPr>
        <p:txBody>
          <a:bodyPr wrap="square" rtlCol="0">
            <a:noAutofit/>
          </a:bodyPr>
          <a:lstStyle/>
          <a:p>
            <a:pPr marL="228600">
              <a:lnSpc>
                <a:spcPct val="150000"/>
              </a:lnSpc>
            </a:pPr>
            <a:r>
              <a:rPr lang="en-US"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SUBMISSION BY</a:t>
            </a: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Deep Kamal Singh 	(12020053)</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Kshitij Sharma 		(12020062)</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Mohua Sinha 		(12020015)</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Nidhi Srivastava 	(12020078)</a:t>
            </a:r>
            <a:endParaRPr lang="en-IN" sz="1100" dirty="0">
              <a:ea typeface="Times New Roman" panose="02020603050405020304" pitchFamily="18" charset="0"/>
              <a:cs typeface="Times New Roman" panose="02020603050405020304" pitchFamily="18" charset="0"/>
            </a:endParaRPr>
          </a:p>
          <a:p>
            <a:pPr marL="685800" lvl="1">
              <a:lnSpc>
                <a:spcPct val="150000"/>
              </a:lnSpc>
            </a:pPr>
            <a:r>
              <a:rPr lang="en-US" sz="1400" b="1" dirty="0">
                <a:solidFill>
                  <a:srgbClr val="134163"/>
                </a:solidFill>
                <a:latin typeface="Adobe Clean Light" panose="020B0303020404020204" pitchFamily="34" charset="0"/>
                <a:ea typeface="Times New Roman" panose="02020603050405020304" pitchFamily="18" charset="0"/>
                <a:cs typeface="Times New Roman" panose="02020603050405020304" pitchFamily="18" charset="0"/>
              </a:rPr>
              <a:t>Soumaya Ranjan 	(12020060)</a:t>
            </a:r>
            <a:endParaRPr lang="en-IN" sz="11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238921"/>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FDD5-3E60-7344-80DC-1CC36A99F046}"/>
              </a:ext>
            </a:extLst>
          </p:cNvPr>
          <p:cNvSpPr>
            <a:spLocks noGrp="1"/>
          </p:cNvSpPr>
          <p:nvPr>
            <p:ph type="title"/>
          </p:nvPr>
        </p:nvSpPr>
        <p:spPr/>
        <p:txBody>
          <a:bodyPr>
            <a:normAutofit/>
          </a:bodyPr>
          <a:lstStyle/>
          <a:p>
            <a:r>
              <a:rPr lang="en-US" dirty="0">
                <a:solidFill>
                  <a:schemeClr val="accent1">
                    <a:lumMod val="50000"/>
                  </a:schemeClr>
                </a:solidFill>
              </a:rPr>
              <a:t>Recursive model evolution</a:t>
            </a:r>
            <a:endParaRPr lang="en-US" dirty="0"/>
          </a:p>
        </p:txBody>
      </p:sp>
      <p:grpSp>
        <p:nvGrpSpPr>
          <p:cNvPr id="22" name="Group 21">
            <a:extLst>
              <a:ext uri="{FF2B5EF4-FFF2-40B4-BE49-F238E27FC236}">
                <a16:creationId xmlns:a16="http://schemas.microsoft.com/office/drawing/2014/main" id="{18A652C9-229B-1048-97AA-4610163FA6B7}"/>
              </a:ext>
            </a:extLst>
          </p:cNvPr>
          <p:cNvGrpSpPr/>
          <p:nvPr/>
        </p:nvGrpSpPr>
        <p:grpSpPr>
          <a:xfrm>
            <a:off x="517786" y="1354184"/>
            <a:ext cx="11156428" cy="4773274"/>
            <a:chOff x="486072" y="1315547"/>
            <a:chExt cx="11156428" cy="4773274"/>
          </a:xfrm>
        </p:grpSpPr>
        <p:sp>
          <p:nvSpPr>
            <p:cNvPr id="4" name="Snip Same-side Corner of Rectangle 3">
              <a:extLst>
                <a:ext uri="{FF2B5EF4-FFF2-40B4-BE49-F238E27FC236}">
                  <a16:creationId xmlns:a16="http://schemas.microsoft.com/office/drawing/2014/main" id="{16184D06-EFF5-5A4E-B601-199C5AE936F7}"/>
                </a:ext>
              </a:extLst>
            </p:cNvPr>
            <p:cNvSpPr/>
            <p:nvPr/>
          </p:nvSpPr>
          <p:spPr bwMode="auto">
            <a:xfrm>
              <a:off x="1362447" y="1315547"/>
              <a:ext cx="1488182" cy="1209912"/>
            </a:xfrm>
            <a:prstGeom prst="snip2Same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600" b="0" i="0" u="none" strike="noStrike" cap="none" normalizeH="0" baseline="0" dirty="0">
                  <a:ln>
                    <a:noFill/>
                  </a:ln>
                  <a:solidFill>
                    <a:srgbClr val="4D4D4D"/>
                  </a:solidFill>
                  <a:effectLst/>
                  <a:latin typeface="Arial" charset="0"/>
                  <a:cs typeface="Arial" charset="0"/>
                </a:rPr>
                <a:t>Unchanged Trained Model</a:t>
              </a:r>
            </a:p>
          </p:txBody>
        </p:sp>
        <p:sp>
          <p:nvSpPr>
            <p:cNvPr id="7" name="Snip Same-side Corner of Rectangle 6">
              <a:extLst>
                <a:ext uri="{FF2B5EF4-FFF2-40B4-BE49-F238E27FC236}">
                  <a16:creationId xmlns:a16="http://schemas.microsoft.com/office/drawing/2014/main" id="{3178B8E6-82F2-E34B-BE85-0333B68FDEAB}"/>
                </a:ext>
              </a:extLst>
            </p:cNvPr>
            <p:cNvSpPr/>
            <p:nvPr/>
          </p:nvSpPr>
          <p:spPr bwMode="auto">
            <a:xfrm>
              <a:off x="1362445" y="2752551"/>
              <a:ext cx="1488182" cy="1209912"/>
            </a:xfrm>
            <a:prstGeom prst="snip2Same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0000" tIns="46800" rIns="90000" bIns="46800" numCol="1" rtlCol="0" anchor="ctr" anchorCtr="0" compatLnSpc="1">
              <a:prstTxWarp prst="textNoShape">
                <a:avLst/>
              </a:prstTxWarp>
              <a:noAutofit/>
            </a:bodyPr>
            <a:lstStyle/>
            <a:p>
              <a:pPr algn="ctr" defTabSz="912813" fontAlgn="base">
                <a:spcBef>
                  <a:spcPct val="20000"/>
                </a:spcBef>
                <a:spcAft>
                  <a:spcPct val="0"/>
                </a:spcAft>
                <a:buClr>
                  <a:schemeClr val="accent1"/>
                </a:buClr>
                <a:buSzPct val="100000"/>
              </a:pPr>
              <a:r>
                <a:rPr lang="en-US" sz="1600" dirty="0">
                  <a:solidFill>
                    <a:srgbClr val="4D4D4D"/>
                  </a:solidFill>
                  <a:latin typeface="Arial" charset="0"/>
                  <a:cs typeface="Arial" charset="0"/>
                </a:rPr>
                <a:t>Variation induced Trained Model - 1</a:t>
              </a:r>
            </a:p>
          </p:txBody>
        </p:sp>
        <p:sp>
          <p:nvSpPr>
            <p:cNvPr id="8" name="Snip Same-side Corner of Rectangle 7">
              <a:extLst>
                <a:ext uri="{FF2B5EF4-FFF2-40B4-BE49-F238E27FC236}">
                  <a16:creationId xmlns:a16="http://schemas.microsoft.com/office/drawing/2014/main" id="{DD26E05E-AA19-D940-8930-0B7510012505}"/>
                </a:ext>
              </a:extLst>
            </p:cNvPr>
            <p:cNvSpPr/>
            <p:nvPr/>
          </p:nvSpPr>
          <p:spPr bwMode="auto">
            <a:xfrm>
              <a:off x="1362444" y="4304017"/>
              <a:ext cx="1488182" cy="1209912"/>
            </a:xfrm>
            <a:prstGeom prst="snip2Same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0000" tIns="46800" rIns="90000" bIns="46800" numCol="1" rtlCol="0" anchor="ctr" anchorCtr="0" compatLnSpc="1">
              <a:prstTxWarp prst="textNoShape">
                <a:avLst/>
              </a:prstTxWarp>
              <a:noAutofit/>
            </a:bodyPr>
            <a:lstStyle/>
            <a:p>
              <a:pPr algn="ctr" defTabSz="912813" fontAlgn="base">
                <a:spcBef>
                  <a:spcPct val="20000"/>
                </a:spcBef>
                <a:spcAft>
                  <a:spcPct val="0"/>
                </a:spcAft>
                <a:buClr>
                  <a:schemeClr val="accent1"/>
                </a:buClr>
                <a:buSzPct val="100000"/>
              </a:pPr>
              <a:r>
                <a:rPr lang="en-US" sz="1600" dirty="0">
                  <a:solidFill>
                    <a:srgbClr val="4D4D4D"/>
                  </a:solidFill>
                  <a:latin typeface="Arial" charset="0"/>
                  <a:cs typeface="Arial" charset="0"/>
                </a:rPr>
                <a:t>Variation induced Trained Model - 2</a:t>
              </a:r>
            </a:p>
          </p:txBody>
        </p:sp>
        <p:sp>
          <p:nvSpPr>
            <p:cNvPr id="9" name="Dodecagon 8">
              <a:extLst>
                <a:ext uri="{FF2B5EF4-FFF2-40B4-BE49-F238E27FC236}">
                  <a16:creationId xmlns:a16="http://schemas.microsoft.com/office/drawing/2014/main" id="{998C4503-E392-124D-8D76-6FCD294D893A}"/>
                </a:ext>
              </a:extLst>
            </p:cNvPr>
            <p:cNvSpPr/>
            <p:nvPr/>
          </p:nvSpPr>
          <p:spPr bwMode="auto">
            <a:xfrm>
              <a:off x="3807110" y="2114428"/>
              <a:ext cx="1604029" cy="1970986"/>
            </a:xfrm>
            <a:prstGeom prst="dodecagon">
              <a:avLst/>
            </a:prstGeom>
            <a:ln w="25400">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1400" b="0" i="0" u="none" strike="noStrike" cap="none" normalizeH="0" baseline="0" dirty="0">
                  <a:ln>
                    <a:noFill/>
                  </a:ln>
                  <a:solidFill>
                    <a:srgbClr val="4D4D4D"/>
                  </a:solidFill>
                  <a:effectLst/>
                  <a:latin typeface="Arial" charset="0"/>
                  <a:cs typeface="Arial" charset="0"/>
                </a:rPr>
                <a:t>Randomizer </a:t>
              </a:r>
            </a:p>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lang="en-US" sz="1400" dirty="0">
                  <a:solidFill>
                    <a:srgbClr val="4D4D4D"/>
                  </a:solidFill>
                  <a:latin typeface="Arial" charset="0"/>
                  <a:cs typeface="Arial" charset="0"/>
                </a:rPr>
                <a:t>(Simple A/B experiment)</a:t>
              </a:r>
              <a:endParaRPr kumimoji="0" lang="en-US" sz="1400" b="0" i="0" u="none" strike="noStrike" cap="none" normalizeH="0" baseline="0" dirty="0">
                <a:ln>
                  <a:noFill/>
                </a:ln>
                <a:solidFill>
                  <a:srgbClr val="4D4D4D"/>
                </a:solidFill>
                <a:effectLst/>
                <a:latin typeface="Arial" charset="0"/>
                <a:cs typeface="Arial" charset="0"/>
              </a:endParaRPr>
            </a:p>
          </p:txBody>
        </p:sp>
        <p:cxnSp>
          <p:nvCxnSpPr>
            <p:cNvPr id="11" name="Straight Arrow Connector 10">
              <a:extLst>
                <a:ext uri="{FF2B5EF4-FFF2-40B4-BE49-F238E27FC236}">
                  <a16:creationId xmlns:a16="http://schemas.microsoft.com/office/drawing/2014/main" id="{26333269-2034-3E4A-8893-33C2E7BDA92A}"/>
                </a:ext>
              </a:extLst>
            </p:cNvPr>
            <p:cNvCxnSpPr>
              <a:cxnSpLocks/>
              <a:stCxn id="4" idx="0"/>
              <a:endCxn id="9" idx="7"/>
            </p:cNvCxnSpPr>
            <p:nvPr/>
          </p:nvCxnSpPr>
          <p:spPr bwMode="auto">
            <a:xfrm>
              <a:off x="2850629" y="1920504"/>
              <a:ext cx="956481" cy="144349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DC13277-E04D-1946-9D12-0B66CD0A11A7}"/>
                </a:ext>
              </a:extLst>
            </p:cNvPr>
            <p:cNvCxnSpPr>
              <a:cxnSpLocks/>
              <a:stCxn id="7" idx="0"/>
              <a:endCxn id="9" idx="7"/>
            </p:cNvCxnSpPr>
            <p:nvPr/>
          </p:nvCxnSpPr>
          <p:spPr bwMode="auto">
            <a:xfrm>
              <a:off x="2850628" y="3357508"/>
              <a:ext cx="956483" cy="648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F9789A0-16C9-A442-842D-3ACCE4E7986E}"/>
                </a:ext>
              </a:extLst>
            </p:cNvPr>
            <p:cNvCxnSpPr>
              <a:cxnSpLocks/>
              <a:stCxn id="8" idx="0"/>
              <a:endCxn id="9" idx="7"/>
            </p:cNvCxnSpPr>
            <p:nvPr/>
          </p:nvCxnSpPr>
          <p:spPr bwMode="auto">
            <a:xfrm flipV="1">
              <a:off x="2850626" y="3363997"/>
              <a:ext cx="956484" cy="154497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Striped Right Arrow 32">
              <a:extLst>
                <a:ext uri="{FF2B5EF4-FFF2-40B4-BE49-F238E27FC236}">
                  <a16:creationId xmlns:a16="http://schemas.microsoft.com/office/drawing/2014/main" id="{88EBB0C0-F2A5-2C4B-AC55-27229F1804CA}"/>
                </a:ext>
              </a:extLst>
            </p:cNvPr>
            <p:cNvSpPr/>
            <p:nvPr/>
          </p:nvSpPr>
          <p:spPr bwMode="auto">
            <a:xfrm rot="1612264">
              <a:off x="5395371" y="3569737"/>
              <a:ext cx="928523" cy="336417"/>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3600" b="0" i="0" u="none" strike="noStrike" cap="none" normalizeH="0" baseline="0" dirty="0">
                <a:ln>
                  <a:noFill/>
                </a:ln>
                <a:solidFill>
                  <a:srgbClr val="4D4D4D"/>
                </a:solidFill>
                <a:effectLst/>
                <a:latin typeface="Arial" charset="0"/>
                <a:cs typeface="Arial" charset="0"/>
              </a:endParaRPr>
            </a:p>
          </p:txBody>
        </p:sp>
        <p:sp>
          <p:nvSpPr>
            <p:cNvPr id="34" name="Striped Right Arrow 33">
              <a:extLst>
                <a:ext uri="{FF2B5EF4-FFF2-40B4-BE49-F238E27FC236}">
                  <a16:creationId xmlns:a16="http://schemas.microsoft.com/office/drawing/2014/main" id="{BBBC0F59-6080-0D4B-88EF-C60686F200AD}"/>
                </a:ext>
              </a:extLst>
            </p:cNvPr>
            <p:cNvSpPr/>
            <p:nvPr/>
          </p:nvSpPr>
          <p:spPr bwMode="auto">
            <a:xfrm rot="8927898">
              <a:off x="5395603" y="2321406"/>
              <a:ext cx="879907" cy="336417"/>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3600" b="0" i="0" u="none" strike="noStrike" cap="none" normalizeH="0" baseline="0" dirty="0">
                <a:ln>
                  <a:noFill/>
                </a:ln>
                <a:solidFill>
                  <a:srgbClr val="4D4D4D"/>
                </a:solidFill>
                <a:effectLst/>
                <a:latin typeface="Arial" charset="0"/>
                <a:cs typeface="Arial" charset="0"/>
              </a:endParaRPr>
            </a:p>
          </p:txBody>
        </p:sp>
        <p:sp>
          <p:nvSpPr>
            <p:cNvPr id="35" name="Oval 34">
              <a:extLst>
                <a:ext uri="{FF2B5EF4-FFF2-40B4-BE49-F238E27FC236}">
                  <a16:creationId xmlns:a16="http://schemas.microsoft.com/office/drawing/2014/main" id="{66024754-7191-2D40-8039-A4FCF8003113}"/>
                </a:ext>
              </a:extLst>
            </p:cNvPr>
            <p:cNvSpPr/>
            <p:nvPr/>
          </p:nvSpPr>
          <p:spPr bwMode="auto">
            <a:xfrm>
              <a:off x="6295619" y="1761608"/>
              <a:ext cx="3039446" cy="914691"/>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b="0" i="0" u="none" strike="noStrike" cap="none" normalizeH="0" baseline="0" dirty="0">
                  <a:ln>
                    <a:noFill/>
                  </a:ln>
                  <a:solidFill>
                    <a:srgbClr val="4D4D4D"/>
                  </a:solidFill>
                  <a:effectLst/>
                  <a:latin typeface="Arial" charset="0"/>
                  <a:cs typeface="Arial" charset="0"/>
                </a:rPr>
                <a:t>Incoming requests</a:t>
              </a:r>
            </a:p>
          </p:txBody>
        </p:sp>
        <p:sp>
          <p:nvSpPr>
            <p:cNvPr id="36" name="Oval 35">
              <a:extLst>
                <a:ext uri="{FF2B5EF4-FFF2-40B4-BE49-F238E27FC236}">
                  <a16:creationId xmlns:a16="http://schemas.microsoft.com/office/drawing/2014/main" id="{3330C4EF-0A58-9946-A5FA-30ED5BE52FCA}"/>
                </a:ext>
              </a:extLst>
            </p:cNvPr>
            <p:cNvSpPr/>
            <p:nvPr/>
          </p:nvSpPr>
          <p:spPr bwMode="auto">
            <a:xfrm>
              <a:off x="6313442" y="3534859"/>
              <a:ext cx="3039446" cy="914691"/>
            </a:xfrm>
            <a:prstGeom prst="ellipse">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lang="en-US" dirty="0">
                  <a:solidFill>
                    <a:srgbClr val="4D4D4D"/>
                  </a:solidFill>
                  <a:latin typeface="Arial" charset="0"/>
                  <a:cs typeface="Arial" charset="0"/>
                </a:rPr>
                <a:t>Recommendations</a:t>
              </a:r>
              <a:endParaRPr kumimoji="0" lang="en-US" b="0" i="0" u="none" strike="noStrike" cap="none" normalizeH="0" baseline="0" dirty="0">
                <a:ln>
                  <a:noFill/>
                </a:ln>
                <a:solidFill>
                  <a:srgbClr val="4D4D4D"/>
                </a:solidFill>
                <a:effectLst/>
                <a:latin typeface="Arial" charset="0"/>
                <a:cs typeface="Arial" charset="0"/>
              </a:endParaRPr>
            </a:p>
          </p:txBody>
        </p:sp>
        <p:cxnSp>
          <p:nvCxnSpPr>
            <p:cNvPr id="38" name="Straight Connector 37">
              <a:extLst>
                <a:ext uri="{FF2B5EF4-FFF2-40B4-BE49-F238E27FC236}">
                  <a16:creationId xmlns:a16="http://schemas.microsoft.com/office/drawing/2014/main" id="{E0F9B3FB-3250-564B-ACBB-207657140ECD}"/>
                </a:ext>
              </a:extLst>
            </p:cNvPr>
            <p:cNvCxnSpPr>
              <a:cxnSpLocks/>
            </p:cNvCxnSpPr>
            <p:nvPr/>
          </p:nvCxnSpPr>
          <p:spPr bwMode="auto">
            <a:xfrm>
              <a:off x="9459810" y="3128476"/>
              <a:ext cx="0" cy="1778278"/>
            </a:xfrm>
            <a:prstGeom prst="lin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057A74C4-2626-A445-A919-81AC4FD50D77}"/>
                </a:ext>
              </a:extLst>
            </p:cNvPr>
            <p:cNvSpPr/>
            <p:nvPr/>
          </p:nvSpPr>
          <p:spPr bwMode="auto">
            <a:xfrm>
              <a:off x="9720105" y="3412366"/>
              <a:ext cx="1922395" cy="999224"/>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0000" tIns="46800" rIns="90000" bIns="46800" numCol="1" rtlCol="0" anchor="ctr" anchorCtr="0" compatLnSpc="1">
              <a:prstTxWarp prst="textNoShape">
                <a:avLst/>
              </a:prstTxWarp>
              <a:noAutofit/>
            </a:bodyPr>
            <a:lstStyle/>
            <a:p>
              <a:pPr marL="0" marR="0" indent="0" algn="ctr"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b="0" i="0" u="none" strike="noStrike" cap="none" normalizeH="0" baseline="0" dirty="0">
                  <a:ln>
                    <a:noFill/>
                  </a:ln>
                  <a:solidFill>
                    <a:srgbClr val="4D4D4D"/>
                  </a:solidFill>
                  <a:effectLst/>
                  <a:latin typeface="Arial" charset="0"/>
                  <a:cs typeface="Arial" charset="0"/>
                </a:rPr>
                <a:t>Model Score evaluation</a:t>
              </a:r>
            </a:p>
          </p:txBody>
        </p:sp>
        <p:cxnSp>
          <p:nvCxnSpPr>
            <p:cNvPr id="42" name="Elbow Connector 41">
              <a:extLst>
                <a:ext uri="{FF2B5EF4-FFF2-40B4-BE49-F238E27FC236}">
                  <a16:creationId xmlns:a16="http://schemas.microsoft.com/office/drawing/2014/main" id="{8B234345-9913-2D40-922B-827BC167599C}"/>
                </a:ext>
              </a:extLst>
            </p:cNvPr>
            <p:cNvCxnSpPr>
              <a:cxnSpLocks/>
              <a:stCxn id="40" idx="2"/>
              <a:endCxn id="45" idx="1"/>
            </p:cNvCxnSpPr>
            <p:nvPr/>
          </p:nvCxnSpPr>
          <p:spPr bwMode="auto">
            <a:xfrm rot="5400000" flipH="1">
              <a:off x="5197250" y="-1072462"/>
              <a:ext cx="772875" cy="10195231"/>
            </a:xfrm>
            <a:prstGeom prst="bentConnector4">
              <a:avLst>
                <a:gd name="adj1" fmla="val -171977"/>
                <a:gd name="adj2" fmla="val 102242"/>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sp>
          <p:nvSpPr>
            <p:cNvPr id="45" name="Left Brace 44">
              <a:extLst>
                <a:ext uri="{FF2B5EF4-FFF2-40B4-BE49-F238E27FC236}">
                  <a16:creationId xmlns:a16="http://schemas.microsoft.com/office/drawing/2014/main" id="{35936D4E-F814-1B4C-AC18-3CBC38DC335D}"/>
                </a:ext>
              </a:extLst>
            </p:cNvPr>
            <p:cNvSpPr/>
            <p:nvPr/>
          </p:nvSpPr>
          <p:spPr bwMode="auto">
            <a:xfrm>
              <a:off x="486072" y="1945575"/>
              <a:ext cx="616078" cy="3386279"/>
            </a:xfrm>
            <a:prstGeom prst="leftBrac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endParaRPr kumimoji="0" lang="en-US" sz="3600" b="0" i="0" u="none" strike="noStrike" cap="none" normalizeH="0" baseline="0">
                <a:ln>
                  <a:noFill/>
                </a:ln>
                <a:solidFill>
                  <a:srgbClr val="4D4D4D"/>
                </a:solidFill>
                <a:effectLst/>
                <a:latin typeface="Arial" charset="0"/>
                <a:cs typeface="Arial" charset="0"/>
              </a:endParaRPr>
            </a:p>
          </p:txBody>
        </p:sp>
        <p:sp>
          <p:nvSpPr>
            <p:cNvPr id="48" name="TextBox 47">
              <a:extLst>
                <a:ext uri="{FF2B5EF4-FFF2-40B4-BE49-F238E27FC236}">
                  <a16:creationId xmlns:a16="http://schemas.microsoft.com/office/drawing/2014/main" id="{EA8621E3-407B-CC48-AF1A-D9F421862C24}"/>
                </a:ext>
              </a:extLst>
            </p:cNvPr>
            <p:cNvSpPr txBox="1"/>
            <p:nvPr/>
          </p:nvSpPr>
          <p:spPr>
            <a:xfrm>
              <a:off x="2361809" y="5802747"/>
              <a:ext cx="6433934" cy="286074"/>
            </a:xfrm>
            <a:prstGeom prst="rect">
              <a:avLst/>
            </a:prstGeom>
            <a:noFill/>
          </p:spPr>
          <p:txBody>
            <a:bodyPr wrap="square" rtlCol="0">
              <a:noAutofit/>
            </a:bodyPr>
            <a:lstStyle/>
            <a:p>
              <a:pPr algn="ctr"/>
              <a:r>
                <a:rPr lang="en-US" sz="1600" dirty="0"/>
                <a:t>Highest scoring model used for next day, along with tuned variants</a:t>
              </a:r>
            </a:p>
          </p:txBody>
        </p:sp>
      </p:grpSp>
    </p:spTree>
    <p:extLst>
      <p:ext uri="{BB962C8B-B14F-4D97-AF65-F5344CB8AC3E}">
        <p14:creationId xmlns:p14="http://schemas.microsoft.com/office/powerpoint/2010/main" val="1015900253"/>
      </p:ext>
    </p:extLst>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45242-F254-4D5B-A77B-04A4BBAB3D04}"/>
              </a:ext>
            </a:extLst>
          </p:cNvPr>
          <p:cNvSpPr>
            <a:spLocks noGrp="1"/>
          </p:cNvSpPr>
          <p:nvPr>
            <p:ph type="title"/>
          </p:nvPr>
        </p:nvSpPr>
        <p:spPr/>
        <p:txBody>
          <a:bodyPr/>
          <a:lstStyle/>
          <a:p>
            <a:r>
              <a:rPr lang="en-US"/>
              <a:t>Machine learning pipeline</a:t>
            </a:r>
          </a:p>
        </p:txBody>
      </p:sp>
      <p:pic>
        <p:nvPicPr>
          <p:cNvPr id="6" name="Picture 5">
            <a:extLst>
              <a:ext uri="{FF2B5EF4-FFF2-40B4-BE49-F238E27FC236}">
                <a16:creationId xmlns:a16="http://schemas.microsoft.com/office/drawing/2014/main" id="{86028235-90F8-4560-9D2B-1868534428A4}"/>
              </a:ext>
            </a:extLst>
          </p:cNvPr>
          <p:cNvPicPr>
            <a:picLocks noChangeAspect="1"/>
          </p:cNvPicPr>
          <p:nvPr/>
        </p:nvPicPr>
        <p:blipFill>
          <a:blip r:embed="rId3"/>
          <a:stretch>
            <a:fillRect/>
          </a:stretch>
        </p:blipFill>
        <p:spPr>
          <a:xfrm>
            <a:off x="1380308" y="1926060"/>
            <a:ext cx="9431383" cy="3228975"/>
          </a:xfrm>
          <a:prstGeom prst="rect">
            <a:avLst/>
          </a:prstGeom>
        </p:spPr>
      </p:pic>
      <p:sp>
        <p:nvSpPr>
          <p:cNvPr id="7" name="Rectangle 6">
            <a:extLst>
              <a:ext uri="{FF2B5EF4-FFF2-40B4-BE49-F238E27FC236}">
                <a16:creationId xmlns:a16="http://schemas.microsoft.com/office/drawing/2014/main" id="{F3F3ABF6-27CF-4C42-94B0-DE7F866453BD}"/>
              </a:ext>
            </a:extLst>
          </p:cNvPr>
          <p:cNvSpPr/>
          <p:nvPr/>
        </p:nvSpPr>
        <p:spPr bwMode="auto">
          <a:xfrm>
            <a:off x="9143999" y="1254034"/>
            <a:ext cx="2024743" cy="914400"/>
          </a:xfrm>
          <a:prstGeom prst="rect">
            <a:avLst/>
          </a:prstGeom>
          <a:solidFill>
            <a:schemeClr val="accent1"/>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pPr>
            <a:r>
              <a:rPr kumimoji="0" lang="en-US" sz="2400" b="0" i="0" u="none" strike="noStrike" cap="none" normalizeH="0" baseline="0">
                <a:ln>
                  <a:noFill/>
                </a:ln>
                <a:solidFill>
                  <a:srgbClr val="4D4D4D"/>
                </a:solidFill>
                <a:effectLst/>
                <a:latin typeface="Arial" charset="0"/>
                <a:cs typeface="Arial" charset="0"/>
              </a:rPr>
              <a:t>Need to customize it</a:t>
            </a:r>
          </a:p>
        </p:txBody>
      </p:sp>
    </p:spTree>
    <p:extLst>
      <p:ext uri="{BB962C8B-B14F-4D97-AF65-F5344CB8AC3E}">
        <p14:creationId xmlns:p14="http://schemas.microsoft.com/office/powerpoint/2010/main" val="4268991024"/>
      </p:ext>
    </p:extLst>
  </p:cSld>
  <p:clrMapOvr>
    <a:masterClrMapping/>
  </p:clrMapOvr>
  <p:transition>
    <p:cut/>
  </p:transition>
</p:sld>
</file>

<file path=ppt/theme/theme1.xml><?xml version="1.0" encoding="utf-8"?>
<a:theme xmlns:a="http://schemas.openxmlformats.org/drawingml/2006/main" name="MASTER_01">
  <a:themeElements>
    <a:clrScheme name="Comverse Corporate">
      <a:dk1>
        <a:srgbClr val="3C3C3C"/>
      </a:dk1>
      <a:lt1>
        <a:srgbClr val="FFFFFF"/>
      </a:lt1>
      <a:dk2>
        <a:srgbClr val="505050"/>
      </a:dk2>
      <a:lt2>
        <a:srgbClr val="FFFFFF"/>
      </a:lt2>
      <a:accent1>
        <a:srgbClr val="3399CC"/>
      </a:accent1>
      <a:accent2>
        <a:srgbClr val="FF3399"/>
      </a:accent2>
      <a:accent3>
        <a:srgbClr val="66CC33"/>
      </a:accent3>
      <a:accent4>
        <a:srgbClr val="4D4D4D"/>
      </a:accent4>
      <a:accent5>
        <a:srgbClr val="FF6600"/>
      </a:accent5>
      <a:accent6>
        <a:srgbClr val="FECC00"/>
      </a:accent6>
      <a:hlink>
        <a:srgbClr val="3399CC"/>
      </a:hlink>
      <a:folHlink>
        <a:srgbClr val="B2B2B2"/>
      </a:folHlink>
    </a:clrScheme>
    <a:fontScheme name="Comvers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noFill/>
          <a:prstDash val="solid"/>
          <a:round/>
          <a:headEnd type="none" w="med" len="med"/>
          <a:tailEnd type="none" w="med" len="med"/>
        </a:ln>
        <a:effectLst/>
      </a:spPr>
      <a:bodyPr vert="horz" wrap="square" lIns="90000" tIns="46800" rIns="90000" bIns="46800" numCol="1" rtlCol="0" anchor="t" anchorCtr="0" compatLnSpc="1">
        <a:prstTxWarp prst="textNoShape">
          <a:avLst/>
        </a:prstTxWarp>
        <a:noAutofit/>
      </a:bodyPr>
      <a:lstStyle>
        <a:def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defRPr kumimoji="0" sz="2400" b="0" i="0" u="none" strike="noStrike" cap="none" normalizeH="0" baseline="0" dirty="0" smtClean="0">
            <a:ln>
              <a:noFill/>
            </a:ln>
            <a:solidFill>
              <a:srgbClr val="4D4D4D"/>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2813" rtl="0" eaLnBrk="1" fontAlgn="base" latinLnBrk="0" hangingPunct="1">
          <a:lnSpc>
            <a:spcPct val="100000"/>
          </a:lnSpc>
          <a:spcBef>
            <a:spcPct val="20000"/>
          </a:spcBef>
          <a:spcAft>
            <a:spcPct val="0"/>
          </a:spcAft>
          <a:buClr>
            <a:schemeClr val="accent1"/>
          </a:buClr>
          <a:buSzPct val="100000"/>
          <a:buFont typeface="Symbol" pitchFamily="18" charset="2"/>
          <a:buNone/>
          <a:tabLst/>
          <a:defRPr kumimoji="0" lang="en-US" sz="2400" b="0" i="0" u="none" strike="noStrike" cap="none" normalizeH="0" baseline="0" smtClean="0">
            <a:ln>
              <a:noFill/>
            </a:ln>
            <a:solidFill>
              <a:srgbClr val="4D4D4D"/>
            </a:solidFill>
            <a:effectLst/>
            <a:latin typeface="Arial" charset="0"/>
            <a:cs typeface="Arial" charset="0"/>
          </a:defRPr>
        </a:defPPr>
      </a:lstStyle>
    </a:lnDef>
    <a:txDef>
      <a:spPr>
        <a:noFill/>
      </a:spPr>
      <a:bodyPr wrap="square" rtlCol="0">
        <a:noAutofit/>
      </a:bodyPr>
      <a:lstStyle>
        <a:defPPr>
          <a:defRPr dirty="0"/>
        </a:defPPr>
      </a:lstStyle>
    </a:txDef>
  </a:objectDefaults>
  <a:extraClrSchemeLst>
    <a:extraClrScheme>
      <a:clrScheme name="Comverse Corporate">
        <a:dk1>
          <a:srgbClr val="606060"/>
        </a:dk1>
        <a:lt1>
          <a:srgbClr val="FFFFFF"/>
        </a:lt1>
        <a:dk2>
          <a:srgbClr val="808080"/>
        </a:dk2>
        <a:lt2>
          <a:srgbClr val="FFFFFF"/>
        </a:lt2>
        <a:accent1>
          <a:srgbClr val="3399CC"/>
        </a:accent1>
        <a:accent2>
          <a:srgbClr val="FF3399"/>
        </a:accent2>
        <a:accent3>
          <a:srgbClr val="66CC33"/>
        </a:accent3>
        <a:accent4>
          <a:srgbClr val="4D4D4D"/>
        </a:accent4>
        <a:accent5>
          <a:srgbClr val="FF6600"/>
        </a:accent5>
        <a:accent6>
          <a:srgbClr val="FECC00"/>
        </a:accent6>
        <a:hlink>
          <a:srgbClr val="3399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_Template" id="{17BA50F2-F80D-1E47-804F-EE1072F0790B}" vid="{2FA558F5-80B6-B748-8050-BD7344D899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1589</TotalTime>
  <Words>2283</Words>
  <Application>Microsoft Macintosh PowerPoint</Application>
  <PresentationFormat>Widescreen</PresentationFormat>
  <Paragraphs>364</Paragraphs>
  <Slides>28</Slides>
  <Notes>18</Notes>
  <HiddenSlides>2</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28</vt:i4>
      </vt:variant>
    </vt:vector>
  </HeadingPairs>
  <TitlesOfParts>
    <vt:vector size="44" baseType="lpstr">
      <vt:lpstr>Adobe Clean</vt:lpstr>
      <vt:lpstr>Adobe Clean Light</vt:lpstr>
      <vt:lpstr>Arial</vt:lpstr>
      <vt:lpstr>Caibri</vt:lpstr>
      <vt:lpstr>Calibri</vt:lpstr>
      <vt:lpstr>Century Gothic</vt:lpstr>
      <vt:lpstr>Courier New</vt:lpstr>
      <vt:lpstr>EYInterstate Light</vt:lpstr>
      <vt:lpstr>Georgia</vt:lpstr>
      <vt:lpstr>Graphik</vt:lpstr>
      <vt:lpstr>Helvetica</vt:lpstr>
      <vt:lpstr>proxima-nova-1</vt:lpstr>
      <vt:lpstr>Symbol</vt:lpstr>
      <vt:lpstr>Times</vt:lpstr>
      <vt:lpstr>Wingdings</vt:lpstr>
      <vt:lpstr>MASTER_01</vt:lpstr>
      <vt:lpstr>Final Submission</vt:lpstr>
      <vt:lpstr>Project Background</vt:lpstr>
      <vt:lpstr>Evolution of Food Recommendation System</vt:lpstr>
      <vt:lpstr>PowerPoint Presentation</vt:lpstr>
      <vt:lpstr>PowerPoint Presentation</vt:lpstr>
      <vt:lpstr>Business Objectives and Success Criteria</vt:lpstr>
      <vt:lpstr>ML Feasibility and Legal Constraints</vt:lpstr>
      <vt:lpstr>Data Collection &amp; Quality Verification</vt:lpstr>
      <vt:lpstr>PowerPoint Presentation</vt:lpstr>
      <vt:lpstr>PowerPoint Presentation</vt:lpstr>
      <vt:lpstr>Data Preparation: Select the data</vt:lpstr>
      <vt:lpstr>PowerPoint Presentation</vt:lpstr>
      <vt:lpstr>PowerPoint Presentation</vt:lpstr>
      <vt:lpstr>Modeling - Quality Measures &amp; Evaluation</vt:lpstr>
      <vt:lpstr>Modeling</vt:lpstr>
      <vt:lpstr>Multi-Model Recommender System</vt:lpstr>
      <vt:lpstr>Code</vt:lpstr>
      <vt:lpstr>PowerPoint Presentation</vt:lpstr>
      <vt:lpstr>Deployment</vt:lpstr>
      <vt:lpstr>Hybrid Deployment Infrastructure</vt:lpstr>
      <vt:lpstr>Food Recommender App</vt:lpstr>
      <vt:lpstr>Recommender System High-Level Architecture</vt:lpstr>
      <vt:lpstr>PowerPoint Presentation</vt:lpstr>
      <vt:lpstr>PowerPoint Presentation</vt:lpstr>
      <vt:lpstr>Model Monitoring and Maintenance</vt:lpstr>
      <vt:lpstr>PowerPoint Presentation</vt:lpstr>
      <vt:lpstr>Recursive model evolution</vt:lpstr>
      <vt:lpstr>Machine learning pipeline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solution for Secured gated community</dc:title>
  <dc:creator>Deepkamal Singh</dc:creator>
  <cp:lastModifiedBy>Deepkamal Singh</cp:lastModifiedBy>
  <cp:revision>4</cp:revision>
  <dcterms:created xsi:type="dcterms:W3CDTF">2018-08-25T07:10:09Z</dcterms:created>
  <dcterms:modified xsi:type="dcterms:W3CDTF">2021-06-18T17:47:30Z</dcterms:modified>
</cp:coreProperties>
</file>