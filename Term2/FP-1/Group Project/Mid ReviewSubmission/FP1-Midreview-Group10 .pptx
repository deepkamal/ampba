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4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9C19F-802B-0000-841B-04AC634056F1}" v="445" dt="2021-04-23T16:41:55.444"/>
    <p1510:client id="{D71927CC-95D6-844A-AF46-D8DD763299BA}" v="1114" dt="2021-04-23T18:01:09.54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71"/>
    <p:restoredTop sz="89797"/>
  </p:normalViewPr>
  <p:slideViewPr>
    <p:cSldViewPr snapToGrid="0">
      <p:cViewPr>
        <p:scale>
          <a:sx n="125" d="100"/>
          <a:sy n="125" d="100"/>
        </p:scale>
        <p:origin x="1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400" dirty="0">
                <a:latin typeface="Calibri"/>
              </a:rPr>
              <a:t>we as a group are trying to bring about the changes that could accelerate the customer satisfaction and thrive the businesses as well.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26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2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1169517375_2880x1920.jp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z="11600" spc="-34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184386109_2439x1626.jpg"/>
          <p:cNvSpPr>
            <a:spLocks noGrp="1"/>
          </p:cNvSpPr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988149250_2145x1620.jpg"/>
          <p:cNvSpPr>
            <a:spLocks noGrp="1"/>
          </p:cNvSpPr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Slide Title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3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825500">
              <a:buClrTx/>
              <a:buSzTx/>
              <a:buNone/>
              <a:defRPr sz="5500" spc="-55"/>
            </a:lvl1pPr>
            <a:lvl2pPr marL="0" indent="457200" algn="l" defTabSz="825500">
              <a:buClrTx/>
              <a:buSzTx/>
              <a:buNone/>
              <a:defRPr sz="5500" spc="-55"/>
            </a:lvl2pPr>
            <a:lvl3pPr marL="0" indent="914400" algn="l" defTabSz="825500">
              <a:buClrTx/>
              <a:buSzTx/>
              <a:buNone/>
              <a:defRPr sz="5500" spc="-55"/>
            </a:lvl3pPr>
            <a:lvl4pPr marL="0" indent="1371600" algn="l" defTabSz="825500">
              <a:buClrTx/>
              <a:buSzTx/>
              <a:buNone/>
              <a:defRPr sz="5500" spc="-55"/>
            </a:lvl4pPr>
            <a:lvl5pPr marL="0" indent="1828800" algn="l" defTabSz="825500">
              <a:buClrTx/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88149250_2145x1620.jpg"/>
          <p:cNvSpPr>
            <a:spLocks noGrp="1"/>
          </p:cNvSpPr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1169517375_2880x1920.jpg"/>
          <p:cNvSpPr>
            <a:spLocks noGrp="1"/>
          </p:cNvSpPr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184386109_2439x1626.jpg"/>
          <p:cNvSpPr>
            <a:spLocks noGrp="1"/>
          </p:cNvSpPr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1169517375_2880x1920.jp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just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ieeexplore.ieee.org/document/876531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844-017-0469-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ieeexplore.ieee.org/document/8765311" TargetMode="External"/><Relationship Id="rId4" Type="http://schemas.openxmlformats.org/officeDocument/2006/relationships/hyperlink" Target="https://www.geotab.com/blog/data-cleaning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"/>
          <p:cNvSpPr/>
          <p:nvPr/>
        </p:nvSpPr>
        <p:spPr>
          <a:xfrm>
            <a:off x="12896470" y="1933880"/>
            <a:ext cx="10960786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52" name="Foundation Project - 1"/>
          <p:cNvSpPr txBox="1">
            <a:spLocks noGrp="1"/>
          </p:cNvSpPr>
          <p:nvPr>
            <p:ph type="subTitle" sz="quarter" idx="1"/>
          </p:nvPr>
        </p:nvSpPr>
        <p:spPr>
          <a:xfrm>
            <a:off x="7454862" y="1952518"/>
            <a:ext cx="21844001" cy="2512352"/>
          </a:xfrm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r>
              <a:rPr dirty="0"/>
              <a:t>Foundation Project - 1</a:t>
            </a:r>
          </a:p>
        </p:txBody>
      </p:sp>
      <p:pic>
        <p:nvPicPr>
          <p:cNvPr id="153" name="01-01.png" descr="01-01.png"/>
          <p:cNvPicPr>
            <a:picLocks noChangeAspect="1"/>
          </p:cNvPicPr>
          <p:nvPr/>
        </p:nvPicPr>
        <p:blipFill>
          <a:blip r:embed="rId2"/>
          <a:srcRect t="26396" b="26396"/>
          <a:stretch>
            <a:fillRect/>
          </a:stretch>
        </p:blipFill>
        <p:spPr>
          <a:xfrm>
            <a:off x="-1628045" y="5981700"/>
            <a:ext cx="18165814" cy="857538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157" name="Text"/>
          <p:cNvSpPr txBox="1"/>
          <p:nvPr/>
        </p:nvSpPr>
        <p:spPr>
          <a:xfrm>
            <a:off x="9086850" y="5740400"/>
            <a:ext cx="1270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800">
                <a:latin typeface="Tahoma"/>
                <a:ea typeface="Tahoma"/>
                <a:cs typeface="Tahoma"/>
                <a:sym typeface="Tahoma"/>
              </a:defRPr>
            </a:pPr>
            <a:endParaRPr/>
          </a:p>
          <a:p>
            <a:pPr algn="l" defTabSz="457200">
              <a:defRPr sz="800"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87457-31E0-4313-B0CD-0F319A6F7685}"/>
              </a:ext>
            </a:extLst>
          </p:cNvPr>
          <p:cNvSpPr txBox="1"/>
          <p:nvPr/>
        </p:nvSpPr>
        <p:spPr>
          <a:xfrm>
            <a:off x="14832916" y="6221707"/>
            <a:ext cx="7774818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>
                <a:latin typeface="Calibri"/>
              </a:rPr>
              <a:t>Group Members:</a:t>
            </a:r>
          </a:p>
          <a:p>
            <a:pPr algn="l"/>
            <a:endParaRPr lang="en-US" sz="3200" dirty="0">
              <a:latin typeface="Calibri"/>
            </a:endParaRPr>
          </a:p>
          <a:p>
            <a:pPr lvl="1" indent="108000" algn="l">
              <a:lnSpc>
                <a:spcPct val="125000"/>
              </a:lnSpc>
            </a:pPr>
            <a:r>
              <a:rPr lang="en-US" sz="3200" dirty="0">
                <a:latin typeface="Calibri"/>
              </a:rPr>
              <a:t>Deep Kamal Singh 			(12020053)</a:t>
            </a:r>
          </a:p>
          <a:p>
            <a:pPr lvl="1" indent="108000" algn="l">
              <a:lnSpc>
                <a:spcPct val="125000"/>
              </a:lnSpc>
            </a:pPr>
            <a:r>
              <a:rPr lang="en-US" sz="3200" dirty="0" err="1">
                <a:latin typeface="Calibri"/>
              </a:rPr>
              <a:t>Kshitij</a:t>
            </a:r>
            <a:r>
              <a:rPr lang="en-US" sz="3200" dirty="0">
                <a:latin typeface="Calibri"/>
              </a:rPr>
              <a:t> Sharma 			(12020062)</a:t>
            </a:r>
          </a:p>
          <a:p>
            <a:pPr lvl="1" indent="108000" algn="l">
              <a:lnSpc>
                <a:spcPct val="125000"/>
              </a:lnSpc>
            </a:pPr>
            <a:r>
              <a:rPr lang="en-US" sz="3200" dirty="0">
                <a:latin typeface="Calibri"/>
              </a:rPr>
              <a:t>Mohua Sinha 				(12020015)</a:t>
            </a:r>
          </a:p>
          <a:p>
            <a:pPr lvl="1" indent="108000" algn="l">
              <a:lnSpc>
                <a:spcPct val="125000"/>
              </a:lnSpc>
            </a:pPr>
            <a:r>
              <a:rPr lang="en-US" sz="3200" dirty="0">
                <a:latin typeface="Calibri"/>
              </a:rPr>
              <a:t>Nidhi Srivastava 			(12020078)</a:t>
            </a:r>
          </a:p>
          <a:p>
            <a:pPr lvl="1" indent="108000" algn="l">
              <a:lnSpc>
                <a:spcPct val="125000"/>
              </a:lnSpc>
            </a:pPr>
            <a:r>
              <a:rPr lang="en-US" sz="3200" dirty="0" err="1">
                <a:latin typeface="Calibri"/>
              </a:rPr>
              <a:t>Soumaya</a:t>
            </a:r>
            <a:r>
              <a:rPr lang="en-US" sz="3200" dirty="0">
                <a:latin typeface="Calibri"/>
              </a:rPr>
              <a:t> Ranjan 			(12020060)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31165F-DF72-3C42-B014-8514299D4993}"/>
              </a:ext>
            </a:extLst>
          </p:cNvPr>
          <p:cNvSpPr txBox="1"/>
          <p:nvPr/>
        </p:nvSpPr>
        <p:spPr>
          <a:xfrm>
            <a:off x="14676895" y="3275248"/>
            <a:ext cx="8787539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1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cs typeface="Calibri" panose="020F0502020204030204" pitchFamily="34" charset="0"/>
                <a:sym typeface="Graphik"/>
              </a:rPr>
              <a:t>Submission by </a:t>
            </a:r>
            <a:r>
              <a:rPr kumimoji="0" lang="en-US" sz="660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cs typeface="Calibri" panose="020F0502020204030204" pitchFamily="34" charset="0"/>
                <a:sym typeface="Graphik"/>
              </a:rPr>
              <a:t>GROUP 10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FD4FBC6-57AE-4A71-8387-F39D0F4F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266" y="1952518"/>
            <a:ext cx="4513006" cy="4525296"/>
          </a:xfrm>
          <a:prstGeom prst="rect">
            <a:avLst/>
          </a:prstGeom>
        </p:spPr>
      </p:pic>
      <p:pic>
        <p:nvPicPr>
          <p:cNvPr id="5" name="Picture 6" descr="A picture containing text, silhouette, dark&#10;&#10;Description automatically generated">
            <a:extLst>
              <a:ext uri="{FF2B5EF4-FFF2-40B4-BE49-F238E27FC236}">
                <a16:creationId xmlns:a16="http://schemas.microsoft.com/office/drawing/2014/main" id="{5CEE7B59-0CD8-41E6-8F61-DF1F54434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186" y="1762811"/>
            <a:ext cx="5422490" cy="54041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"/>
          <p:cNvSpPr/>
          <p:nvPr/>
        </p:nvSpPr>
        <p:spPr>
          <a:xfrm>
            <a:off x="13409618" y="1483641"/>
            <a:ext cx="10960786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51106" y="13081000"/>
            <a:ext cx="269088" cy="46710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61" name="Introduction"/>
          <p:cNvSpPr txBox="1">
            <a:spLocks noGrp="1"/>
          </p:cNvSpPr>
          <p:nvPr>
            <p:ph type="title" idx="4294967295"/>
          </p:nvPr>
        </p:nvSpPr>
        <p:spPr>
          <a:xfrm>
            <a:off x="14143031" y="1483641"/>
            <a:ext cx="7568107" cy="12700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00" b="1" spc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r>
              <a:rPr dirty="0"/>
              <a:t>Introduction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1C6D38-BEE7-0944-A62F-DE8E8B695D37}"/>
              </a:ext>
            </a:extLst>
          </p:cNvPr>
          <p:cNvSpPr txBox="1">
            <a:spLocks/>
          </p:cNvSpPr>
          <p:nvPr/>
        </p:nvSpPr>
        <p:spPr>
          <a:xfrm>
            <a:off x="482138" y="1662545"/>
            <a:ext cx="9925396" cy="104241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raphik"/>
                <a:cs typeface="Graphik"/>
                <a:sym typeface="Graphik"/>
              </a:rPr>
              <a:t>Food Recommendation Systems and Scope of Improvements </a:t>
            </a:r>
          </a:p>
          <a:p>
            <a:pPr marL="571500" lvl="1" indent="-571500">
              <a:lnSpc>
                <a:spcPct val="120000"/>
              </a:lnSpc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Consumers now have a variety of food choices, and comfort of Home delivery along with dine-out. </a:t>
            </a:r>
          </a:p>
          <a:p>
            <a:pPr marL="571500" lvl="1" indent="-571500">
              <a:lnSpc>
                <a:spcPct val="120000"/>
              </a:lnSpc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Abundant outlets for dining out or home delivery, </a:t>
            </a:r>
          </a:p>
          <a:p>
            <a:pPr marL="571500" lvl="1" indent="-571500">
              <a:lnSpc>
                <a:spcPct val="120000"/>
              </a:lnSpc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Several food aggregator sites and apps to compare restaurants based on ratings, safety and hygiene, deals, and distance etc. </a:t>
            </a:r>
          </a:p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kumimoji="0" lang="en-US" sz="39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raphik"/>
                <a:cs typeface="Graphik"/>
                <a:sym typeface="Graphik"/>
              </a:rPr>
              <a:t>So much data available, however there is a scarcity of right data analysis to infer actionable insights</a:t>
            </a:r>
          </a:p>
          <a:p>
            <a:pPr marL="571500" marR="0" lvl="1" indent="-571500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raphik"/>
                <a:cs typeface="Graphik"/>
                <a:sym typeface="Graphik"/>
              </a:rPr>
              <a:t>Seasonal moods affect consumer tastes and preferences</a:t>
            </a:r>
          </a:p>
          <a:p>
            <a:pPr marL="571500" marR="0" lvl="1" indent="-571500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raphik"/>
                <a:cs typeface="Graphik"/>
                <a:sym typeface="Graphik"/>
              </a:rPr>
              <a:t>Little to no personalization on food suggestions</a:t>
            </a:r>
          </a:p>
          <a:p>
            <a:pPr marL="571500" marR="0" lvl="1" indent="-571500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Graphik"/>
                <a:cs typeface="Graphik"/>
                <a:sym typeface="Graphik"/>
              </a:rPr>
              <a:t>Limited tracking on gastronomical compatibility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Graphik"/>
              <a:cs typeface="Graphik"/>
              <a:sym typeface="Graphik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912389-22BE-A74D-8C7E-B1FA164BBAFC}"/>
              </a:ext>
            </a:extLst>
          </p:cNvPr>
          <p:cNvSpPr txBox="1">
            <a:spLocks/>
          </p:cNvSpPr>
          <p:nvPr/>
        </p:nvSpPr>
        <p:spPr>
          <a:xfrm>
            <a:off x="11340519" y="3191601"/>
            <a:ext cx="8390199" cy="79945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spcBef>
                <a:spcPts val="2400"/>
              </a:spcBef>
              <a:buClr>
                <a:srgbClr val="000000"/>
              </a:buClr>
              <a:buSzPct val="100000"/>
              <a:buNone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5400" dirty="0">
                <a:solidFill>
                  <a:srgbClr val="000000"/>
                </a:solidFill>
                <a:latin typeface="Calibri"/>
              </a:rPr>
              <a:t>Need of the Hour</a:t>
            </a:r>
          </a:p>
          <a:p>
            <a:pPr marL="571500" lvl="1" indent="-571500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latin typeface="Calibri"/>
              </a:rPr>
              <a:t>Accelerated Customer Satisfaction</a:t>
            </a:r>
          </a:p>
          <a:p>
            <a:pPr marL="571500" lvl="1" indent="-571500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latin typeface="Calibri"/>
              </a:rPr>
              <a:t>Realtime 360° Feedback mechanism</a:t>
            </a:r>
          </a:p>
          <a:p>
            <a:pPr marL="571500" lvl="1" indent="-571500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latin typeface="Calibri"/>
              </a:rPr>
              <a:t>Enhance profitability and measured economic success</a:t>
            </a:r>
          </a:p>
          <a:p>
            <a:pPr marL="0" lvl="1" indent="0" algn="just">
              <a:spcBef>
                <a:spcPts val="2400"/>
              </a:spcBef>
              <a:buClr>
                <a:srgbClr val="000000"/>
              </a:buClr>
              <a:buSzPct val="100000"/>
              <a:buNone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5400" dirty="0">
                <a:latin typeface="Calibri"/>
              </a:rPr>
              <a:t>Unexplored potential</a:t>
            </a:r>
          </a:p>
          <a:p>
            <a:pPr marL="571500" lvl="1" indent="-571500" algn="just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solidFill>
                  <a:srgbClr val="000000"/>
                </a:solidFill>
                <a:latin typeface="Calibri"/>
              </a:rPr>
              <a:t>CRISP-DM</a:t>
            </a:r>
          </a:p>
          <a:p>
            <a:pPr marL="571500" lvl="1" indent="-571500" algn="just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solidFill>
                  <a:srgbClr val="000000"/>
                </a:solidFill>
                <a:latin typeface="Calibri"/>
              </a:rPr>
              <a:t>Using the big data</a:t>
            </a:r>
          </a:p>
          <a:p>
            <a:pPr marL="571500" lvl="1" indent="-571500" algn="just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solidFill>
                  <a:srgbClr val="000000"/>
                </a:solidFill>
                <a:latin typeface="Calibri"/>
              </a:rPr>
              <a:t>Distributed Computing</a:t>
            </a:r>
          </a:p>
          <a:p>
            <a:pPr marL="571500" lvl="1" indent="-571500" algn="just">
              <a:spcBef>
                <a:spcPts val="2400"/>
              </a:spcBef>
              <a:buClr>
                <a:srgbClr val="000000"/>
              </a:buClr>
              <a:buSzPct val="100000"/>
              <a:defRPr sz="3600" spc="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lang="en-US" sz="3600" dirty="0">
                <a:solidFill>
                  <a:srgbClr val="000000"/>
                </a:solidFill>
                <a:latin typeface="Calibri"/>
              </a:rPr>
              <a:t>Mathematical Modelling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A08B5E-49F0-8E4D-97EC-F0CC29CE3C18}"/>
              </a:ext>
            </a:extLst>
          </p:cNvPr>
          <p:cNvCxnSpPr/>
          <p:nvPr/>
        </p:nvCxnSpPr>
        <p:spPr>
          <a:xfrm>
            <a:off x="10974383" y="2932546"/>
            <a:ext cx="0" cy="976930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63" name="Image Gallery" descr="Image Gallery"/>
          <p:cNvPicPr>
            <a:picLocks noChangeAspect="1"/>
          </p:cNvPicPr>
          <p:nvPr/>
        </p:nvPicPr>
        <p:blipFill>
          <a:blip r:embed="rId3"/>
          <a:srcRect t="21003" r="35206" b="17682"/>
          <a:stretch>
            <a:fillRect/>
          </a:stretch>
        </p:blipFill>
        <p:spPr>
          <a:xfrm>
            <a:off x="17794995" y="7493803"/>
            <a:ext cx="6575409" cy="6222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Increase monthly sales for restaurants and food aggregators by turning one-time customers into repeat customers."/>
          <p:cNvSpPr txBox="1">
            <a:spLocks noGrp="1"/>
          </p:cNvSpPr>
          <p:nvPr>
            <p:ph type="body" sz="quarter" idx="1"/>
          </p:nvPr>
        </p:nvSpPr>
        <p:spPr>
          <a:xfrm>
            <a:off x="882705" y="7507134"/>
            <a:ext cx="19085453" cy="1407627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>
            <a:lvl1pPr marL="372533" indent="-372533" defTabSz="457200">
              <a:spcBef>
                <a:spcPts val="0"/>
              </a:spcBef>
              <a:defRPr sz="32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372110" indent="-372110">
              <a:buFont typeface="Wingdings"/>
              <a:buChar char="§"/>
            </a:pPr>
            <a:r>
              <a:rPr lang="en-US" dirty="0"/>
              <a:t>Maximize</a:t>
            </a:r>
            <a:r>
              <a:rPr dirty="0"/>
              <a:t> monthly sales for restaurants and food aggregators by turning one-time customers into repeat customers</a:t>
            </a:r>
            <a:r>
              <a:rPr lang="en-US" dirty="0"/>
              <a:t> </a:t>
            </a:r>
          </a:p>
        </p:txBody>
      </p:sp>
      <p:sp>
        <p:nvSpPr>
          <p:cNvPr id="166" name="Rectangle"/>
          <p:cNvSpPr/>
          <p:nvPr/>
        </p:nvSpPr>
        <p:spPr>
          <a:xfrm>
            <a:off x="5415" y="1531034"/>
            <a:ext cx="10074655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67" name="Business Understanding"/>
          <p:cNvSpPr txBox="1"/>
          <p:nvPr/>
        </p:nvSpPr>
        <p:spPr>
          <a:xfrm>
            <a:off x="-147781" y="1531034"/>
            <a:ext cx="10381048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defRPr sz="6400" b="1"/>
            </a:lvl1pPr>
          </a:lstStyle>
          <a:p>
            <a:r>
              <a:t>Business Understanding</a:t>
            </a:r>
          </a:p>
        </p:txBody>
      </p:sp>
      <p:pic>
        <p:nvPicPr>
          <p:cNvPr id="168" name="Image Gallery" descr="Image Gallery"/>
          <p:cNvPicPr>
            <a:picLocks noChangeAspect="1"/>
          </p:cNvPicPr>
          <p:nvPr/>
        </p:nvPicPr>
        <p:blipFill>
          <a:blip r:embed="rId2"/>
          <a:srcRect t="21003" r="35206" b="17682"/>
          <a:stretch>
            <a:fillRect/>
          </a:stretch>
        </p:blipFill>
        <p:spPr>
          <a:xfrm>
            <a:off x="17808592" y="7493803"/>
            <a:ext cx="6575408" cy="6222197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Present food recommendation engines are not effective…"/>
          <p:cNvSpPr txBox="1"/>
          <p:nvPr/>
        </p:nvSpPr>
        <p:spPr>
          <a:xfrm>
            <a:off x="712261" y="4915695"/>
            <a:ext cx="19692891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457200" algn="just" defTabSz="457200">
              <a:buClr>
                <a:srgbClr val="000000"/>
              </a:buClr>
              <a:buSzPct val="100000"/>
              <a:buFont typeface="Wingdings"/>
              <a:buChar char="§"/>
              <a:defRPr sz="32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t>Present food recommendation engines are not effective </a:t>
            </a:r>
            <a:endParaRPr lang="en-US"/>
          </a:p>
          <a:p>
            <a:pPr marL="457200" indent="-457200" algn="just" defTabSz="457200">
              <a:buClr>
                <a:srgbClr val="000000"/>
              </a:buClr>
              <a:buSzPct val="100000"/>
              <a:buFont typeface="Wingdings"/>
              <a:buChar char="§"/>
              <a:defRPr sz="32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t>Significant churn on the account of limited/sub-optimal choices to customer, impacting future sales and retention </a:t>
            </a:r>
          </a:p>
        </p:txBody>
      </p:sp>
      <p:sp>
        <p:nvSpPr>
          <p:cNvPr id="170" name="Minimise consumer fatigue by providing most optimal choices.…"/>
          <p:cNvSpPr txBox="1"/>
          <p:nvPr/>
        </p:nvSpPr>
        <p:spPr>
          <a:xfrm>
            <a:off x="762644" y="10353379"/>
            <a:ext cx="11196976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457200" algn="just" defTabSz="457200">
              <a:buClr>
                <a:srgbClr val="000000"/>
              </a:buClr>
              <a:buSzPct val="100000"/>
              <a:buFont typeface="Wingdings"/>
              <a:buChar char="§"/>
              <a:defRPr sz="32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t>Minimi</a:t>
            </a:r>
            <a:r>
              <a:rPr lang="en-US"/>
              <a:t>z</a:t>
            </a:r>
            <a:r>
              <a:t>e consumer fatigue by providing most optimal choices.</a:t>
            </a:r>
            <a:endParaRPr lang="en-US"/>
          </a:p>
          <a:p>
            <a:pPr marL="457200" indent="-457200" algn="just" defTabSz="457200">
              <a:buClr>
                <a:srgbClr val="000000"/>
              </a:buClr>
              <a:buSzPct val="100000"/>
              <a:buFont typeface="Wingdings"/>
              <a:buChar char="§"/>
              <a:defRPr sz="320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t>Minimi</a:t>
            </a:r>
            <a:r>
              <a:rPr lang="en-US"/>
              <a:t>z</a:t>
            </a:r>
            <a:r>
              <a:t>e searching time for preferred choices</a:t>
            </a:r>
          </a:p>
        </p:txBody>
      </p:sp>
      <p:sp>
        <p:nvSpPr>
          <p:cNvPr id="171" name="Business Problem"/>
          <p:cNvSpPr txBox="1"/>
          <p:nvPr/>
        </p:nvSpPr>
        <p:spPr>
          <a:xfrm>
            <a:off x="984248" y="3830161"/>
            <a:ext cx="10381048" cy="662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800735">
              <a:defRPr sz="3395" b="1"/>
            </a:lvl1pPr>
          </a:lstStyle>
          <a:p>
            <a:r>
              <a:t>Business Problem</a:t>
            </a:r>
          </a:p>
        </p:txBody>
      </p:sp>
      <p:sp>
        <p:nvSpPr>
          <p:cNvPr id="172" name="Business Objective"/>
          <p:cNvSpPr txBox="1"/>
          <p:nvPr/>
        </p:nvSpPr>
        <p:spPr>
          <a:xfrm>
            <a:off x="974484" y="6492021"/>
            <a:ext cx="10381048" cy="662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800735">
              <a:defRPr sz="3395" b="1"/>
            </a:lvl1pPr>
          </a:lstStyle>
          <a:p>
            <a:r>
              <a:t>Business Objective</a:t>
            </a:r>
          </a:p>
        </p:txBody>
      </p:sp>
      <p:sp>
        <p:nvSpPr>
          <p:cNvPr id="173" name="Business Constraints"/>
          <p:cNvSpPr txBox="1"/>
          <p:nvPr/>
        </p:nvSpPr>
        <p:spPr>
          <a:xfrm>
            <a:off x="1004065" y="9267845"/>
            <a:ext cx="10381048" cy="662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800735">
              <a:defRPr sz="3395" b="1"/>
            </a:lvl1pPr>
          </a:lstStyle>
          <a:p>
            <a:r>
              <a:t>Business Constraints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"/>
          <p:cNvSpPr/>
          <p:nvPr/>
        </p:nvSpPr>
        <p:spPr>
          <a:xfrm>
            <a:off x="14299399" y="1019741"/>
            <a:ext cx="10074655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67" name="Business Understanding"/>
          <p:cNvSpPr txBox="1"/>
          <p:nvPr/>
        </p:nvSpPr>
        <p:spPr>
          <a:xfrm>
            <a:off x="14335159" y="1019741"/>
            <a:ext cx="10381048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>
              <a:defRPr sz="6400" b="1"/>
            </a:lvl1pPr>
          </a:lstStyle>
          <a:p>
            <a:r>
              <a:rPr lang="en-US"/>
              <a:t>Data Requirements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28E02A-744E-4723-916F-7C035F17C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50281"/>
              </p:ext>
            </p:extLst>
          </p:nvPr>
        </p:nvGraphicFramePr>
        <p:xfrm>
          <a:off x="255516" y="3908592"/>
          <a:ext cx="10381048" cy="8482745"/>
        </p:xfrm>
        <a:graphic>
          <a:graphicData uri="http://schemas.openxmlformats.org/drawingml/2006/table">
            <a:tbl>
              <a:tblPr firstRow="1" firstCol="1" bandRow="1">
                <a:tableStyleId>{EB9631B5-78F2-41C9-869B-9F39066F8104}</a:tableStyleId>
              </a:tblPr>
              <a:tblGrid>
                <a:gridCol w="3310009">
                  <a:extLst>
                    <a:ext uri="{9D8B030D-6E8A-4147-A177-3AD203B41FA5}">
                      <a16:colId xmlns:a16="http://schemas.microsoft.com/office/drawing/2014/main" val="2825560715"/>
                    </a:ext>
                  </a:extLst>
                </a:gridCol>
                <a:gridCol w="7071039">
                  <a:extLst>
                    <a:ext uri="{9D8B030D-6E8A-4147-A177-3AD203B41FA5}">
                      <a16:colId xmlns:a16="http://schemas.microsoft.com/office/drawing/2014/main" val="2390069927"/>
                    </a:ext>
                  </a:extLst>
                </a:gridCol>
              </a:tblGrid>
              <a:tr h="6518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Attribute/features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How will it help?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6253457"/>
                  </a:ext>
                </a:extLst>
              </a:tr>
              <a:tr h="8460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Food outlet location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Geographic region along with review date will help to determine the seasonality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413143"/>
                  </a:ext>
                </a:extLst>
              </a:tr>
              <a:tr h="10152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Cuisines/Menu information 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 of cuisines provided by the food outlet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1812877"/>
                  </a:ext>
                </a:extLst>
              </a:tr>
              <a:tr h="7477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Popular dishes 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Help to determine the preferences for the dishes for the outlet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1390629"/>
                  </a:ext>
                </a:extLst>
              </a:tr>
              <a:tr h="11382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People Say This Place Is Known For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Help to determine the reasons for visiting the outlet and possible mood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3611065"/>
                  </a:ext>
                </a:extLst>
              </a:tr>
              <a:tr h="7477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Events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Help to determine the mood on the day by linking with the review date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4943307"/>
                  </a:ext>
                </a:extLst>
              </a:tr>
              <a:tr h="7477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Ratings/Reviews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 determine the likeability of a dish and likeability of the outlet 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2954493"/>
                  </a:ext>
                </a:extLst>
              </a:tr>
              <a:tr h="15287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Review date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 days can be considered as the possible visit date and can help to determine the seasonality impact as well as mood by relating to events around those dates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0192502"/>
                  </a:ext>
                </a:extLst>
              </a:tr>
              <a:tr h="8529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Reviewer info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 determine the demographics of the reviewer, any allergies, food preferences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71733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0380C0F-BEF9-4029-8F74-D82DA05D1CFA}"/>
              </a:ext>
            </a:extLst>
          </p:cNvPr>
          <p:cNvSpPr/>
          <p:nvPr/>
        </p:nvSpPr>
        <p:spPr>
          <a:xfrm>
            <a:off x="584200" y="3078640"/>
            <a:ext cx="8136000" cy="60436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Data Attributes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465451-0552-4674-A0A8-AE678DC84675}"/>
              </a:ext>
            </a:extLst>
          </p:cNvPr>
          <p:cNvSpPr/>
          <p:nvPr/>
        </p:nvSpPr>
        <p:spPr>
          <a:xfrm>
            <a:off x="13760810" y="3078639"/>
            <a:ext cx="6929052" cy="604361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Graphik Medium"/>
              </a:rPr>
              <a:t>Data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2CB11-C345-4C33-80C9-9A591089B7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61" t="23947" r="21070" b="5998"/>
          <a:stretch/>
        </p:blipFill>
        <p:spPr>
          <a:xfrm>
            <a:off x="11687032" y="3908592"/>
            <a:ext cx="6791325" cy="4608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4A047D-07AB-4222-825B-AFC2215CD7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22" t="8980" r="29305" b="11235"/>
          <a:stretch/>
        </p:blipFill>
        <p:spPr>
          <a:xfrm>
            <a:off x="11687032" y="8707781"/>
            <a:ext cx="6625265" cy="4608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2B15FD-265A-4867-AC48-B810035D5B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761" t="7819" r="40505" b="16665"/>
          <a:stretch/>
        </p:blipFill>
        <p:spPr>
          <a:xfrm>
            <a:off x="18312113" y="5094889"/>
            <a:ext cx="5816371" cy="63784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C39C1E-A9CD-4058-A16D-BC61D353FBD0}"/>
              </a:ext>
            </a:extLst>
          </p:cNvPr>
          <p:cNvSpPr/>
          <p:nvPr/>
        </p:nvSpPr>
        <p:spPr>
          <a:xfrm>
            <a:off x="11687032" y="5834744"/>
            <a:ext cx="801301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576BD8-5AF1-4B98-9990-922E1F2788D4}"/>
              </a:ext>
            </a:extLst>
          </p:cNvPr>
          <p:cNvSpPr/>
          <p:nvPr/>
        </p:nvSpPr>
        <p:spPr>
          <a:xfrm>
            <a:off x="12183694" y="9841261"/>
            <a:ext cx="801301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F3A55D-0B60-4DDB-84E9-5A8C8EC14C7E}"/>
              </a:ext>
            </a:extLst>
          </p:cNvPr>
          <p:cNvSpPr/>
          <p:nvPr/>
        </p:nvSpPr>
        <p:spPr>
          <a:xfrm>
            <a:off x="12592650" y="5275944"/>
            <a:ext cx="801301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3F3DC6-49D9-4026-B134-C57576E97741}"/>
              </a:ext>
            </a:extLst>
          </p:cNvPr>
          <p:cNvSpPr/>
          <p:nvPr/>
        </p:nvSpPr>
        <p:spPr>
          <a:xfrm>
            <a:off x="11687032" y="4150238"/>
            <a:ext cx="2647035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1081F7-27D5-437E-BA52-D8BF40C01A96}"/>
              </a:ext>
            </a:extLst>
          </p:cNvPr>
          <p:cNvSpPr/>
          <p:nvPr/>
        </p:nvSpPr>
        <p:spPr>
          <a:xfrm>
            <a:off x="18415070" y="8357109"/>
            <a:ext cx="5291597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0443A0-B9F3-4C09-B13F-DE130289C9D1}"/>
              </a:ext>
            </a:extLst>
          </p:cNvPr>
          <p:cNvSpPr/>
          <p:nvPr/>
        </p:nvSpPr>
        <p:spPr>
          <a:xfrm>
            <a:off x="18478357" y="9607219"/>
            <a:ext cx="5291597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FB9435-5263-4CC3-ACF1-F3926E263519}"/>
              </a:ext>
            </a:extLst>
          </p:cNvPr>
          <p:cNvSpPr/>
          <p:nvPr/>
        </p:nvSpPr>
        <p:spPr>
          <a:xfrm>
            <a:off x="18415069" y="8982164"/>
            <a:ext cx="5291597" cy="468085"/>
          </a:xfrm>
          <a:prstGeom prst="roundRect">
            <a:avLst/>
          </a:prstGeom>
          <a:noFill/>
          <a:ln w="28575" cap="flat">
            <a:solidFill>
              <a:schemeClr val="accent4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C08E2-8D09-4FC7-BE3D-2666FD079457}"/>
              </a:ext>
            </a:extLst>
          </p:cNvPr>
          <p:cNvCxnSpPr/>
          <p:nvPr/>
        </p:nvCxnSpPr>
        <p:spPr>
          <a:xfrm>
            <a:off x="11208480" y="2801035"/>
            <a:ext cx="0" cy="1047267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382405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"/>
          <p:cNvSpPr/>
          <p:nvPr/>
        </p:nvSpPr>
        <p:spPr>
          <a:xfrm>
            <a:off x="119053" y="1594792"/>
            <a:ext cx="13667735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76" name="Data Collection"/>
          <p:cNvSpPr txBox="1"/>
          <p:nvPr/>
        </p:nvSpPr>
        <p:spPr>
          <a:xfrm>
            <a:off x="121027" y="1594792"/>
            <a:ext cx="13818390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normAutofit/>
          </a:bodyPr>
          <a:lstStyle>
            <a:lvl1pPr>
              <a:defRPr sz="6400" b="1"/>
            </a:lvl1pPr>
          </a:lstStyle>
          <a:p>
            <a:r>
              <a:t>Data Collection</a:t>
            </a:r>
            <a:r>
              <a:rPr lang="en-US"/>
              <a:t> &amp; Understanding</a:t>
            </a:r>
            <a:endParaRPr/>
          </a:p>
        </p:txBody>
      </p:sp>
      <p:pic>
        <p:nvPicPr>
          <p:cNvPr id="177" name="Image Gallery" descr="Image Gallery"/>
          <p:cNvPicPr>
            <a:picLocks noChangeAspect="1"/>
          </p:cNvPicPr>
          <p:nvPr/>
        </p:nvPicPr>
        <p:blipFill>
          <a:blip r:embed="rId2"/>
          <a:srcRect t="21003" r="35206" b="17682"/>
          <a:stretch>
            <a:fillRect/>
          </a:stretch>
        </p:blipFill>
        <p:spPr>
          <a:xfrm>
            <a:off x="19293282" y="6941456"/>
            <a:ext cx="6575408" cy="6222196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he data collection process would be done through two modes:…"/>
          <p:cNvSpPr txBox="1"/>
          <p:nvPr/>
        </p:nvSpPr>
        <p:spPr>
          <a:xfrm>
            <a:off x="1597718" y="4135123"/>
            <a:ext cx="19927751" cy="78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30200" algn="l" defTabSz="457200">
              <a:lnSpc>
                <a:spcPts val="5500"/>
              </a:lnSpc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400">
                <a:latin typeface="Calibri"/>
              </a:rPr>
              <a:t>The</a:t>
            </a:r>
            <a:r>
              <a:rPr sz="4400">
                <a:latin typeface="Calibri"/>
              </a:rPr>
              <a:t> </a:t>
            </a:r>
            <a:r>
              <a:rPr sz="4400" b="1">
                <a:latin typeface="Calibri"/>
              </a:rPr>
              <a:t>data collection</a:t>
            </a:r>
            <a:r>
              <a:rPr lang="en-US" sz="4400" b="1">
                <a:latin typeface="Calibri"/>
              </a:rPr>
              <a:t> </a:t>
            </a:r>
            <a:r>
              <a:rPr sz="4400">
                <a:latin typeface="Calibri"/>
              </a:rPr>
              <a:t>process would be done through two modes:</a:t>
            </a:r>
            <a:endParaRPr lang="en-US" sz="4400">
              <a:latin typeface="Calibri"/>
            </a:endParaRPr>
          </a:p>
          <a:p>
            <a:pPr marL="457200" indent="-317500" algn="l" defTabSz="457200">
              <a:lnSpc>
                <a:spcPts val="5500"/>
              </a:lnSpc>
              <a:buClr>
                <a:srgbClr val="000000">
                  <a:alpha val="84705"/>
                </a:srgbClr>
              </a:buClr>
              <a:buSzPct val="100000"/>
              <a:buFont typeface="Helvetica"/>
              <a:buChar char="▪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400">
                <a:latin typeface="Calibri"/>
              </a:rPr>
              <a:t>Unstructured Data: Domain</a:t>
            </a:r>
            <a:r>
              <a:rPr sz="4400">
                <a:latin typeface="Calibri"/>
              </a:rPr>
              <a:t> </a:t>
            </a:r>
            <a:r>
              <a:rPr lang="en-US" sz="4400">
                <a:latin typeface="Calibri"/>
              </a:rPr>
              <a:t>crawling (done</a:t>
            </a:r>
            <a:r>
              <a:rPr sz="4400">
                <a:latin typeface="Calibri"/>
              </a:rPr>
              <a:t> for a geography and for a one-year </a:t>
            </a:r>
            <a:r>
              <a:rPr lang="en-US" sz="4400">
                <a:latin typeface="Calibri"/>
              </a:rPr>
              <a:t>period for dataset.)</a:t>
            </a:r>
            <a:endParaRPr sz="4400">
              <a:latin typeface="Calibri"/>
            </a:endParaRPr>
          </a:p>
          <a:p>
            <a:pPr marL="457200" indent="-317500" algn="l" defTabSz="457200">
              <a:lnSpc>
                <a:spcPts val="5500"/>
              </a:lnSpc>
              <a:buClr>
                <a:srgbClr val="000000">
                  <a:alpha val="84705"/>
                </a:srgbClr>
              </a:buClr>
              <a:buSzPct val="100000"/>
              <a:buFont typeface="Helvetica"/>
              <a:buChar char="▪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4400">
                <a:latin typeface="Calibri"/>
              </a:rPr>
              <a:t>Structured data</a:t>
            </a:r>
            <a:r>
              <a:rPr lang="en-US" sz="4400">
                <a:latin typeface="Calibri"/>
              </a:rPr>
              <a:t>:</a:t>
            </a:r>
            <a:r>
              <a:rPr sz="4400">
                <a:latin typeface="Calibri"/>
              </a:rPr>
              <a:t> </a:t>
            </a:r>
            <a:r>
              <a:rPr lang="en-IN" sz="4400">
                <a:latin typeface="Calibri"/>
              </a:rPr>
              <a:t>(personalised survey pan-India level targeting 200+ respondents for food preferences)</a:t>
            </a:r>
          </a:p>
          <a:p>
            <a:pPr marL="457200" indent="-317500" algn="l" defTabSz="457200">
              <a:lnSpc>
                <a:spcPts val="5500"/>
              </a:lnSpc>
              <a:buClr>
                <a:srgbClr val="000000"/>
              </a:buClr>
              <a:buSzPct val="100000"/>
              <a:buFont typeface="Helvetica"/>
              <a:buChar char="▪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4400">
              <a:solidFill>
                <a:srgbClr val="000000">
                  <a:alpha val="84705"/>
                </a:srgbClr>
              </a:solidFill>
              <a:latin typeface="Calibri"/>
            </a:endParaRPr>
          </a:p>
          <a:p>
            <a:pPr marL="457200" indent="-317500" algn="l" defTabSz="457200">
              <a:lnSpc>
                <a:spcPts val="5500"/>
              </a:lnSpc>
              <a:buClr>
                <a:srgbClr val="000000"/>
              </a:buClr>
              <a:buSzPct val="100000"/>
              <a:buFont typeface="Helvetica"/>
              <a:buChar char="▪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4400">
              <a:solidFill>
                <a:srgbClr val="000000">
                  <a:alpha val="84705"/>
                </a:srgbClr>
              </a:solidFill>
              <a:latin typeface="Calibri"/>
            </a:endParaRPr>
          </a:p>
          <a:p>
            <a:pPr marL="139700" algn="l" defTabSz="457200">
              <a:lnSpc>
                <a:spcPts val="5500"/>
              </a:lnSpc>
              <a:buClr>
                <a:srgbClr val="000000"/>
              </a:buClr>
              <a:buSzPct val="100000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400">
                <a:latin typeface="Calibri"/>
              </a:rPr>
              <a:t>  </a:t>
            </a:r>
            <a:r>
              <a:rPr lang="en-US" sz="4400" b="1">
                <a:latin typeface="Calibri"/>
              </a:rPr>
              <a:t>Understanding data</a:t>
            </a:r>
            <a:r>
              <a:rPr lang="en-US" sz="4400">
                <a:latin typeface="Calibri"/>
              </a:rPr>
              <a:t> collected to further refine our model includes:</a:t>
            </a:r>
          </a:p>
          <a:p>
            <a:pPr marL="596900" indent="-457200" algn="l" defTabSz="457200">
              <a:lnSpc>
                <a:spcPts val="5500"/>
              </a:lnSpc>
              <a:buFont typeface="Wingdings"/>
              <a:buChar char="§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400">
                <a:latin typeface="Calibri"/>
              </a:rPr>
              <a:t>Performing test of linear regression between food-dish based review/rating and customer.</a:t>
            </a:r>
          </a:p>
          <a:p>
            <a:pPr marL="596900" indent="-457200" algn="l" defTabSz="457200">
              <a:lnSpc>
                <a:spcPts val="5500"/>
              </a:lnSpc>
              <a:buFont typeface="Wingdings"/>
              <a:buChar char="§"/>
              <a:defRPr sz="32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400">
                <a:latin typeface="Calibri"/>
              </a:rPr>
              <a:t>Mapping seasonal, taste, nutrient’s data points to customer.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75E33-7FCB-4D2D-A398-B5FB71BDC5D0}"/>
              </a:ext>
            </a:extLst>
          </p:cNvPr>
          <p:cNvSpPr txBox="1"/>
          <p:nvPr/>
        </p:nvSpPr>
        <p:spPr>
          <a:xfrm>
            <a:off x="10820400" y="6622038"/>
            <a:ext cx="27432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Helvetic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A71DB-0F1D-4A0C-BFBB-4C54E5527971}"/>
              </a:ext>
            </a:extLst>
          </p:cNvPr>
          <p:cNvSpPr txBox="1"/>
          <p:nvPr/>
        </p:nvSpPr>
        <p:spPr>
          <a:xfrm>
            <a:off x="11249024" y="7050663"/>
            <a:ext cx="27432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agram&#10;&#10;Description automatically generated">
            <a:extLst>
              <a:ext uri="{FF2B5EF4-FFF2-40B4-BE49-F238E27FC236}">
                <a16:creationId xmlns:a16="http://schemas.microsoft.com/office/drawing/2014/main" id="{8544A211-7722-47C1-8B8D-A2279380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6425" y="3069957"/>
            <a:ext cx="7270702" cy="3697092"/>
          </a:xfrm>
          <a:prstGeom prst="rect">
            <a:avLst/>
          </a:prstGeom>
        </p:spPr>
      </p:pic>
      <p:pic>
        <p:nvPicPr>
          <p:cNvPr id="180" name="Image Gallery" descr="Image Gallery"/>
          <p:cNvPicPr>
            <a:picLocks noChangeAspect="1"/>
          </p:cNvPicPr>
          <p:nvPr/>
        </p:nvPicPr>
        <p:blipFill>
          <a:blip r:embed="rId3"/>
          <a:srcRect t="21003" r="35206" b="17682"/>
          <a:stretch>
            <a:fillRect/>
          </a:stretch>
        </p:blipFill>
        <p:spPr>
          <a:xfrm>
            <a:off x="17501901" y="7493804"/>
            <a:ext cx="6575408" cy="6222196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Rectangle"/>
          <p:cNvSpPr/>
          <p:nvPr/>
        </p:nvSpPr>
        <p:spPr>
          <a:xfrm>
            <a:off x="14299399" y="1531034"/>
            <a:ext cx="10074655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82" name="Data Preprocessing"/>
          <p:cNvSpPr txBox="1"/>
          <p:nvPr/>
        </p:nvSpPr>
        <p:spPr>
          <a:xfrm>
            <a:off x="13790521" y="1531034"/>
            <a:ext cx="10381048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defRPr sz="6400" b="1"/>
            </a:lvl1pPr>
          </a:lstStyle>
          <a:p>
            <a:r>
              <a:t>Data Preprocessing</a:t>
            </a:r>
          </a:p>
        </p:txBody>
      </p:sp>
      <p:sp>
        <p:nvSpPr>
          <p:cNvPr id="183" name="To create a recommendation framework, we will use MCDA – Multi criteria decision analysis matrix match, in which we will determine the top driving factors for a customer's food choice and cross match it with an attribute collection of food choices (dishe"/>
          <p:cNvSpPr txBox="1">
            <a:spLocks noGrp="1"/>
          </p:cNvSpPr>
          <p:nvPr>
            <p:ph type="body" sz="quarter" idx="4294967295"/>
          </p:nvPr>
        </p:nvSpPr>
        <p:spPr>
          <a:xfrm>
            <a:off x="588357" y="406243"/>
            <a:ext cx="13300363" cy="31700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50800" tIns="50800" rIns="50800" bIns="50800" anchor="t">
            <a:normAutofit/>
          </a:bodyPr>
          <a:lstStyle>
            <a:lvl1pPr>
              <a:defRPr sz="3200"/>
            </a:lvl1pPr>
          </a:lstStyle>
          <a:p>
            <a:pPr marL="0" indent="0" algn="ctr">
              <a:buNone/>
            </a:pPr>
            <a:r>
              <a:rPr sz="4000" dirty="0">
                <a:latin typeface="Calibri"/>
              </a:rPr>
              <a:t>To create a recommendation framework, we will use MCDA – Multi criteria decision analysis matrix match, in which we will determine the top driving factors for a customer's food choice and cross match it with </a:t>
            </a:r>
            <a:r>
              <a:rPr lang="en-US" sz="4000" dirty="0">
                <a:latin typeface="Calibri"/>
              </a:rPr>
              <a:t>the </a:t>
            </a:r>
            <a:r>
              <a:rPr lang="en-IN" sz="4000" dirty="0">
                <a:latin typeface="Calibri"/>
              </a:rPr>
              <a:t>collection of </a:t>
            </a:r>
            <a:r>
              <a:rPr sz="4000" dirty="0">
                <a:latin typeface="Calibri"/>
              </a:rPr>
              <a:t>attribute</a:t>
            </a:r>
            <a:r>
              <a:rPr lang="en-US" sz="4000" dirty="0">
                <a:latin typeface="Calibri"/>
              </a:rPr>
              <a:t>s</a:t>
            </a:r>
            <a:r>
              <a:rPr sz="4000" dirty="0">
                <a:latin typeface="Calibri"/>
              </a:rPr>
              <a:t> of </a:t>
            </a:r>
            <a:r>
              <a:rPr lang="en-US" sz="4000" dirty="0">
                <a:latin typeface="Calibri"/>
              </a:rPr>
              <a:t>available </a:t>
            </a:r>
            <a:r>
              <a:rPr sz="4000" dirty="0">
                <a:latin typeface="Calibri"/>
              </a:rPr>
              <a:t>food choices (dishes).</a:t>
            </a:r>
            <a:endParaRPr lang="en-US" sz="4000" dirty="0"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51813-5234-0A46-8E70-2C583AE20D12}"/>
              </a:ext>
            </a:extLst>
          </p:cNvPr>
          <p:cNvSpPr txBox="1"/>
          <p:nvPr/>
        </p:nvSpPr>
        <p:spPr>
          <a:xfrm>
            <a:off x="20335857" y="6774545"/>
            <a:ext cx="4048143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  <a:hlinkClick r:id="rId4"/>
              </a:rPr>
              <a:t>Ref.  IEEE Paper</a:t>
            </a:r>
            <a:endParaRPr kumimoji="0" lang="en-US" sz="16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47CCADA-2D94-344A-8DD8-D3F226063878}"/>
              </a:ext>
            </a:extLst>
          </p:cNvPr>
          <p:cNvSpPr txBox="1">
            <a:spLocks/>
          </p:cNvSpPr>
          <p:nvPr/>
        </p:nvSpPr>
        <p:spPr>
          <a:xfrm>
            <a:off x="1304844" y="6324355"/>
            <a:ext cx="6693549" cy="507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Cleaning and Curation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Identifying and monitor for errors in data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 formation and preparation of SOP for continuous feed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Duplicate, redundant and non-usable data identification and removal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Detailed Data Analysis and process-oriented data structuring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 process communication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B5BB20-106F-8449-A38A-A492E0FDE8B8}"/>
              </a:ext>
            </a:extLst>
          </p:cNvPr>
          <p:cNvSpPr txBox="1">
            <a:spLocks/>
          </p:cNvSpPr>
          <p:nvPr/>
        </p:nvSpPr>
        <p:spPr>
          <a:xfrm>
            <a:off x="10201225" y="5668351"/>
            <a:ext cx="5871895" cy="2212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Customer food preference indices 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/>
              </a:rPr>
              <a:t>Nutritional compatibility matrix 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/>
              </a:rPr>
              <a:t>Food hypersensitivity reactions matrix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/>
              </a:rPr>
              <a:t>Flavor preference matrix 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174FFCF-8A78-774B-885D-8209AD34B477}"/>
              </a:ext>
            </a:extLst>
          </p:cNvPr>
          <p:cNvSpPr txBox="1">
            <a:spLocks/>
          </p:cNvSpPr>
          <p:nvPr/>
        </p:nvSpPr>
        <p:spPr>
          <a:xfrm>
            <a:off x="10201225" y="9079484"/>
            <a:ext cx="5871895" cy="34072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5100" dirty="0">
                <a:solidFill>
                  <a:prstClr val="black"/>
                </a:solidFill>
                <a:latin typeface="Calibri" panose="020F0502020204030204"/>
              </a:rPr>
              <a:t>Food Dish composition matrix 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sz="3400" dirty="0">
                <a:solidFill>
                  <a:srgbClr val="000000"/>
                </a:solidFill>
                <a:latin typeface="Calibri"/>
              </a:rPr>
              <a:t>Ingredient’s list – composition  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sz="3400" dirty="0">
                <a:solidFill>
                  <a:srgbClr val="000000"/>
                </a:solidFill>
                <a:latin typeface="Calibri"/>
              </a:rPr>
              <a:t>Complimentary compatibility  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sz="3400" dirty="0">
                <a:solidFill>
                  <a:srgbClr val="000000"/>
                </a:solidFill>
                <a:latin typeface="Calibri"/>
              </a:rPr>
              <a:t>Seasonal/weather compatibility score – humidity, temperature data 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n-US" sz="3400" dirty="0">
                <a:solidFill>
                  <a:srgbClr val="000000"/>
                </a:solidFill>
                <a:latin typeface="Calibri"/>
              </a:rPr>
              <a:t>Customer ratings and order history – likelihood pairs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9221C1B0-A0D9-D440-A570-BCAB4246CE0C}"/>
              </a:ext>
            </a:extLst>
          </p:cNvPr>
          <p:cNvSpPr/>
          <p:nvPr/>
        </p:nvSpPr>
        <p:spPr>
          <a:xfrm>
            <a:off x="8605520" y="4876800"/>
            <a:ext cx="1595705" cy="7965440"/>
          </a:xfrm>
          <a:prstGeom prst="lef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Image Gallery" descr="Image Gallery"/>
          <p:cNvPicPr>
            <a:picLocks noChangeAspect="1"/>
          </p:cNvPicPr>
          <p:nvPr/>
        </p:nvPicPr>
        <p:blipFill>
          <a:blip r:embed="rId2"/>
          <a:srcRect t="21003" r="35206" b="17682"/>
          <a:stretch>
            <a:fillRect/>
          </a:stretch>
        </p:blipFill>
        <p:spPr>
          <a:xfrm>
            <a:off x="17808592" y="7493804"/>
            <a:ext cx="6575408" cy="6222196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Rectangle"/>
          <p:cNvSpPr/>
          <p:nvPr/>
        </p:nvSpPr>
        <p:spPr>
          <a:xfrm>
            <a:off x="-871" y="1483641"/>
            <a:ext cx="10074656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190" name="Implementation Model"/>
          <p:cNvSpPr txBox="1"/>
          <p:nvPr/>
        </p:nvSpPr>
        <p:spPr>
          <a:xfrm>
            <a:off x="-565990" y="1617022"/>
            <a:ext cx="11204230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Implementation Model</a:t>
            </a:r>
            <a:endParaRPr lang="en-US" b="1"/>
          </a:p>
        </p:txBody>
      </p:sp>
      <p:sp>
        <p:nvSpPr>
          <p:cNvPr id="191" name="In two phases, we can build the solution... Using Naïve Bay's theorem, we can predict food preferences based on demographics and season.…"/>
          <p:cNvSpPr txBox="1">
            <a:spLocks noGrp="1"/>
          </p:cNvSpPr>
          <p:nvPr>
            <p:ph type="body" idx="4294967295"/>
          </p:nvPr>
        </p:nvSpPr>
        <p:spPr>
          <a:xfrm>
            <a:off x="1270000" y="3507971"/>
            <a:ext cx="18669094" cy="10008524"/>
          </a:xfrm>
          <a:prstGeom prst="rect">
            <a:avLst/>
          </a:prstGeom>
        </p:spPr>
        <p:txBody>
          <a:bodyPr lIns="50800" tIns="50800" rIns="50800" bIns="50800" anchor="t">
            <a:normAutofit fontScale="55000" lnSpcReduction="20000"/>
          </a:bodyPr>
          <a:lstStyle/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To build a Recommendation system, will follow MCDA – Multi criteria decision analysis matrix match.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This will help to figure out top driving factors for a customer’s food preference. 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Public surveys to provide data to determine the preferences based on taste, allergic and health conditions.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Capture the preferences from food reviews from social platforms data.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Perform matrix matching of the ingredients of each dish, based on our recipe reference data.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Further learning in this direction led us to form the data points or features, which we will feed as input to our model.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Our target is to achieve prediction score (say &gt;~0.90) from the Multinomial Naïve Bayes model. </a:t>
            </a:r>
          </a:p>
          <a:p>
            <a:pPr>
              <a:buFont typeface="Wingdings"/>
              <a:buChar char="§"/>
              <a:defRPr sz="3200"/>
            </a:pPr>
            <a:r>
              <a:rPr lang="en-US" sz="5800" dirty="0">
                <a:latin typeface="Calibri"/>
              </a:rPr>
              <a:t>Based on the prediction score, will increase our training dataset, if required, to further tune our model.</a:t>
            </a:r>
          </a:p>
          <a:p>
            <a:pPr marL="0" indent="0">
              <a:buNone/>
              <a:defRPr sz="3200"/>
            </a:pPr>
            <a:endParaRPr lang="en-US" b="1" dirty="0">
              <a:latin typeface="Calibri"/>
            </a:endParaRPr>
          </a:p>
          <a:p>
            <a:pPr marL="0" indent="0">
              <a:buNone/>
              <a:defRPr sz="3200"/>
            </a:pPr>
            <a:r>
              <a:rPr lang="en-US" sz="4400" b="1" dirty="0">
                <a:latin typeface="Calibri"/>
              </a:rPr>
              <a:t>List of References:</a:t>
            </a:r>
          </a:p>
          <a:p>
            <a:pPr>
              <a:buFont typeface="Wingdings"/>
              <a:buChar char="§"/>
              <a:defRPr sz="3200"/>
            </a:pPr>
            <a:r>
              <a:rPr lang="en-IN" sz="4400" u="sng" dirty="0">
                <a:hlinkClick r:id="rId3"/>
              </a:rPr>
              <a:t>An overview of recommender systems in the healthy food domain | SpringerLink</a:t>
            </a:r>
            <a:endParaRPr lang="en-US" sz="4400" dirty="0"/>
          </a:p>
          <a:p>
            <a:pPr>
              <a:buFont typeface="Wingdings"/>
              <a:buChar char="§"/>
              <a:defRPr sz="3200"/>
            </a:pPr>
            <a:r>
              <a:rPr lang="en-IN" sz="4400" dirty="0">
                <a:hlinkClick r:id="rId4"/>
              </a:rPr>
              <a:t>Data Cleaning Steps</a:t>
            </a:r>
            <a:endParaRPr lang="en-IN" sz="4400" dirty="0"/>
          </a:p>
          <a:p>
            <a:pPr>
              <a:buFont typeface="Wingdings"/>
              <a:buChar char="§"/>
              <a:defRPr sz="3200"/>
            </a:pPr>
            <a:r>
              <a:rPr lang="en-IN" sz="4400" u="sng" dirty="0">
                <a:hlinkClick r:id="rId5"/>
              </a:rPr>
              <a:t>A Food Recommender System Considering Nutritional Information and User Preferences | IEEE Journals &amp; Magazine | IEEE Xplore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6810575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EFA47315-C3C7-5F4E-87EE-96D4B7114BDD}"/>
              </a:ext>
            </a:extLst>
          </p:cNvPr>
          <p:cNvSpPr/>
          <p:nvPr/>
        </p:nvSpPr>
        <p:spPr>
          <a:xfrm>
            <a:off x="7154670" y="4558458"/>
            <a:ext cx="10074655" cy="1270001"/>
          </a:xfrm>
          <a:prstGeom prst="rect">
            <a:avLst/>
          </a:prstGeom>
          <a:solidFill>
            <a:schemeClr val="accent4">
              <a:hueOff val="475731"/>
              <a:satOff val="-4338"/>
              <a:lumOff val="10182"/>
              <a:alpha val="5980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57200"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9364E-677F-594F-B7A8-F96EBC426AB7}"/>
              </a:ext>
            </a:extLst>
          </p:cNvPr>
          <p:cNvSpPr txBox="1"/>
          <p:nvPr/>
        </p:nvSpPr>
        <p:spPr>
          <a:xfrm>
            <a:off x="3908609" y="4588164"/>
            <a:ext cx="16566775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THANK YOU </a:t>
            </a:r>
          </a:p>
        </p:txBody>
      </p:sp>
      <p:pic>
        <p:nvPicPr>
          <p:cNvPr id="3" name="Image Gallery" descr="Image Gallery">
            <a:extLst>
              <a:ext uri="{FF2B5EF4-FFF2-40B4-BE49-F238E27FC236}">
                <a16:creationId xmlns:a16="http://schemas.microsoft.com/office/drawing/2014/main" id="{D3C4A43F-3710-4F4F-9DA6-1114623C5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003" r="35206" b="17682"/>
          <a:stretch>
            <a:fillRect/>
          </a:stretch>
        </p:blipFill>
        <p:spPr>
          <a:xfrm>
            <a:off x="17808592" y="7493804"/>
            <a:ext cx="6575408" cy="622219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80924-E967-9245-A929-6AD45625E5BB}"/>
              </a:ext>
            </a:extLst>
          </p:cNvPr>
          <p:cNvSpPr/>
          <p:nvPr/>
        </p:nvSpPr>
        <p:spPr>
          <a:xfrm>
            <a:off x="8555864" y="8812569"/>
            <a:ext cx="7272271" cy="3124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108000">
              <a:lnSpc>
                <a:spcPct val="125000"/>
              </a:lnSpc>
            </a:pPr>
            <a:r>
              <a:rPr lang="en-US" sz="3200" dirty="0">
                <a:latin typeface="Calibri"/>
              </a:rPr>
              <a:t>Deep Kamal Singh 			(12020053)</a:t>
            </a:r>
          </a:p>
          <a:p>
            <a:pPr lvl="1" indent="108000">
              <a:lnSpc>
                <a:spcPct val="125000"/>
              </a:lnSpc>
            </a:pPr>
            <a:r>
              <a:rPr lang="en-US" sz="3200" dirty="0" err="1">
                <a:latin typeface="Calibri"/>
              </a:rPr>
              <a:t>Kshitij</a:t>
            </a:r>
            <a:r>
              <a:rPr lang="en-US" sz="3200" dirty="0">
                <a:latin typeface="Calibri"/>
              </a:rPr>
              <a:t> Sharma 			(12020062)</a:t>
            </a:r>
          </a:p>
          <a:p>
            <a:pPr lvl="1" indent="108000">
              <a:lnSpc>
                <a:spcPct val="125000"/>
              </a:lnSpc>
            </a:pPr>
            <a:r>
              <a:rPr lang="en-US" sz="3200" dirty="0">
                <a:latin typeface="Calibri"/>
              </a:rPr>
              <a:t>Mohua Sinha 				(12020015)</a:t>
            </a:r>
          </a:p>
          <a:p>
            <a:pPr lvl="1" indent="108000">
              <a:lnSpc>
                <a:spcPct val="125000"/>
              </a:lnSpc>
            </a:pPr>
            <a:r>
              <a:rPr lang="en-US" sz="3200" dirty="0">
                <a:latin typeface="Calibri"/>
              </a:rPr>
              <a:t>Nidhi Srivastava 			(12020078)</a:t>
            </a:r>
          </a:p>
          <a:p>
            <a:pPr lvl="1" indent="108000">
              <a:lnSpc>
                <a:spcPct val="125000"/>
              </a:lnSpc>
            </a:pPr>
            <a:r>
              <a:rPr lang="en-US" sz="3200" dirty="0" err="1">
                <a:latin typeface="Calibri"/>
              </a:rPr>
              <a:t>Soumaya</a:t>
            </a:r>
            <a:r>
              <a:rPr lang="en-US" sz="3200" dirty="0">
                <a:latin typeface="Calibri"/>
              </a:rPr>
              <a:t> Ranjan 			(12020060)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D5DD64-D7B1-AB4C-B8C7-F9FFE868A9FA}"/>
              </a:ext>
            </a:extLst>
          </p:cNvPr>
          <p:cNvSpPr/>
          <p:nvPr/>
        </p:nvSpPr>
        <p:spPr>
          <a:xfrm>
            <a:off x="10841308" y="7983715"/>
            <a:ext cx="27013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cs typeface="Calibri" panose="020F0502020204030204" pitchFamily="34" charset="0"/>
              </a:rPr>
              <a:t>GROUP 10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3929701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869</Words>
  <Application>Microsoft Macintosh PowerPoint</Application>
  <PresentationFormat>Custom</PresentationFormat>
  <Paragraphs>108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Graphik</vt:lpstr>
      <vt:lpstr>Graphik Medium</vt:lpstr>
      <vt:lpstr>Graphik Semibold</vt:lpstr>
      <vt:lpstr>Helvetica</vt:lpstr>
      <vt:lpstr>Helvetica Neue</vt:lpstr>
      <vt:lpstr>Tahoma</vt:lpstr>
      <vt:lpstr>Wingdings</vt:lpstr>
      <vt:lpstr>31_ColorGradientLight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Kshitij Sharma</dc:creator>
  <cp:lastModifiedBy>Deepkamal Singh</cp:lastModifiedBy>
  <cp:revision>66</cp:revision>
  <dcterms:modified xsi:type="dcterms:W3CDTF">2021-04-23T18:01:09Z</dcterms:modified>
</cp:coreProperties>
</file>