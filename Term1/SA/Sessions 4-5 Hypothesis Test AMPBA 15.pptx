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4.xml" ContentType="application/vnd.openxmlformats-officedocument.themeOverride+xml"/>
  <Override PartName="/ppt/drawings/drawing2.xml" ContentType="application/vnd.openxmlformats-officedocument.drawingml.chartshapes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5.xml" ContentType="application/vnd.openxmlformats-officedocument.themeOverr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Override6.xml" ContentType="application/vnd.openxmlformats-officedocument.themeOverr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heme/themeOverride7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theme/themeOverride8.xml" ContentType="application/vnd.openxmlformats-officedocument.themeOverride+xml"/>
  <Override PartName="/ppt/drawings/drawing3.xml" ContentType="application/vnd.openxmlformats-officedocument.drawingml.chartshapes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theme/themeOverride9.xml" ContentType="application/vnd.openxmlformats-officedocument.themeOverr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theme/themeOverride10.xml" ContentType="application/vnd.openxmlformats-officedocument.themeOverr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3" r:id="rId1"/>
  </p:sldMasterIdLst>
  <p:notesMasterIdLst>
    <p:notesMasterId r:id="rId30"/>
  </p:notesMasterIdLst>
  <p:sldIdLst>
    <p:sldId id="256" r:id="rId2"/>
    <p:sldId id="257" r:id="rId3"/>
    <p:sldId id="258" r:id="rId4"/>
    <p:sldId id="260" r:id="rId5"/>
    <p:sldId id="259" r:id="rId6"/>
    <p:sldId id="261" r:id="rId7"/>
    <p:sldId id="289" r:id="rId8"/>
    <p:sldId id="265" r:id="rId9"/>
    <p:sldId id="269" r:id="rId10"/>
    <p:sldId id="270" r:id="rId11"/>
    <p:sldId id="271" r:id="rId12"/>
    <p:sldId id="273" r:id="rId13"/>
    <p:sldId id="275" r:id="rId14"/>
    <p:sldId id="283" r:id="rId15"/>
    <p:sldId id="309" r:id="rId16"/>
    <p:sldId id="356" r:id="rId17"/>
    <p:sldId id="357" r:id="rId18"/>
    <p:sldId id="358" r:id="rId19"/>
    <p:sldId id="359" r:id="rId20"/>
    <p:sldId id="360" r:id="rId21"/>
    <p:sldId id="361" r:id="rId22"/>
    <p:sldId id="300" r:id="rId23"/>
    <p:sldId id="301" r:id="rId24"/>
    <p:sldId id="276" r:id="rId25"/>
    <p:sldId id="277" r:id="rId26"/>
    <p:sldId id="278" r:id="rId27"/>
    <p:sldId id="362" r:id="rId28"/>
    <p:sldId id="284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91" d="100"/>
          <a:sy n="91" d="100"/>
        </p:scale>
        <p:origin x="4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5" Type="http://schemas.openxmlformats.org/officeDocument/2006/relationships/chartUserShapes" Target="../drawings/drawing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4.xml"/><Relationship Id="rId1" Type="http://schemas.microsoft.com/office/2011/relationships/chartStyle" Target="style4.xml"/><Relationship Id="rId5" Type="http://schemas.openxmlformats.org/officeDocument/2006/relationships/chartUserShapes" Target="../drawings/drawing2.xml"/><Relationship Id="rId4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.xm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7.xml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8.xml"/><Relationship Id="rId2" Type="http://schemas.microsoft.com/office/2011/relationships/chartColorStyle" Target="colors8.xml"/><Relationship Id="rId1" Type="http://schemas.microsoft.com/office/2011/relationships/chartStyle" Target="style8.xml"/><Relationship Id="rId5" Type="http://schemas.openxmlformats.org/officeDocument/2006/relationships/chartUserShapes" Target="../drawings/drawing3.xml"/><Relationship Id="rId4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9.xml"/><Relationship Id="rId2" Type="http://schemas.microsoft.com/office/2011/relationships/chartColorStyle" Target="colors9.xml"/><Relationship Id="rId1" Type="http://schemas.microsoft.com/office/2011/relationships/chartStyle" Target="style9.xml"/><Relationship Id="rId4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0.xml"/><Relationship Id="rId2" Type="http://schemas.microsoft.com/office/2011/relationships/chartColorStyle" Target="colors10.xml"/><Relationship Id="rId1" Type="http://schemas.microsoft.com/office/2011/relationships/chartStyle" Target="style10.xml"/><Relationship Id="rId4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How Much to Pack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5.9444983662538683E-2"/>
          <c:y val="9.2170435167148845E-2"/>
          <c:w val="0.86953849069167133"/>
          <c:h val="0.88049403539530369"/>
        </c:manualLayout>
      </c:layout>
      <c:scatterChart>
        <c:scatterStyle val="smoothMarker"/>
        <c:varyColors val="0"/>
        <c:ser>
          <c:idx val="0"/>
          <c:order val="0"/>
          <c:tx>
            <c:v>X- bar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Sheet1!$A$1:$A$24</c:f>
              <c:numCache>
                <c:formatCode>General</c:formatCode>
                <c:ptCount val="24"/>
                <c:pt idx="0">
                  <c:v>990.88</c:v>
                </c:pt>
                <c:pt idx="1">
                  <c:v>991.88</c:v>
                </c:pt>
                <c:pt idx="2">
                  <c:v>992.88</c:v>
                </c:pt>
                <c:pt idx="3">
                  <c:v>993.88</c:v>
                </c:pt>
                <c:pt idx="4">
                  <c:v>994.88</c:v>
                </c:pt>
                <c:pt idx="5">
                  <c:v>995.88</c:v>
                </c:pt>
                <c:pt idx="6">
                  <c:v>996.88</c:v>
                </c:pt>
                <c:pt idx="7">
                  <c:v>997.88</c:v>
                </c:pt>
                <c:pt idx="8">
                  <c:v>998.88</c:v>
                </c:pt>
                <c:pt idx="9">
                  <c:v>999.88</c:v>
                </c:pt>
                <c:pt idx="10">
                  <c:v>1000.88</c:v>
                </c:pt>
                <c:pt idx="11">
                  <c:v>1001.88</c:v>
                </c:pt>
                <c:pt idx="12">
                  <c:v>1002.88</c:v>
                </c:pt>
                <c:pt idx="13">
                  <c:v>1003.88</c:v>
                </c:pt>
                <c:pt idx="14">
                  <c:v>1004.88</c:v>
                </c:pt>
                <c:pt idx="15">
                  <c:v>1005.88</c:v>
                </c:pt>
                <c:pt idx="16">
                  <c:v>1006.88</c:v>
                </c:pt>
                <c:pt idx="17">
                  <c:v>1007.88</c:v>
                </c:pt>
                <c:pt idx="18">
                  <c:v>1008.88</c:v>
                </c:pt>
                <c:pt idx="19">
                  <c:v>1009.88</c:v>
                </c:pt>
                <c:pt idx="20">
                  <c:v>1010.88</c:v>
                </c:pt>
                <c:pt idx="21">
                  <c:v>1011.88</c:v>
                </c:pt>
                <c:pt idx="22">
                  <c:v>1012.88</c:v>
                </c:pt>
                <c:pt idx="23">
                  <c:v>1013.88</c:v>
                </c:pt>
              </c:numCache>
            </c:numRef>
          </c:xVal>
          <c:yVal>
            <c:numRef>
              <c:f>Sheet1!$B$1:$B$24</c:f>
              <c:numCache>
                <c:formatCode>General</c:formatCode>
                <c:ptCount val="24"/>
                <c:pt idx="0">
                  <c:v>1.4717131714178593E-14</c:v>
                </c:pt>
                <c:pt idx="1">
                  <c:v>1.324793977882293E-12</c:v>
                </c:pt>
                <c:pt idx="2">
                  <c:v>8.3200799649919022E-11</c:v>
                </c:pt>
                <c:pt idx="3">
                  <c:v>3.6455297098939717E-9</c:v>
                </c:pt>
                <c:pt idx="4">
                  <c:v>1.1144171067331797E-7</c:v>
                </c:pt>
                <c:pt idx="5">
                  <c:v>2.3767794546192451E-6</c:v>
                </c:pt>
                <c:pt idx="6">
                  <c:v>3.5365840653923912E-5</c:v>
                </c:pt>
                <c:pt idx="7">
                  <c:v>3.671411580682638E-4</c:v>
                </c:pt>
                <c:pt idx="8">
                  <c:v>2.6591090471628043E-3</c:v>
                </c:pt>
                <c:pt idx="9">
                  <c:v>1.3436718176905739E-2</c:v>
                </c:pt>
                <c:pt idx="10">
                  <c:v>4.7370094980536508E-2</c:v>
                </c:pt>
                <c:pt idx="11">
                  <c:v>0.11651163298992777</c:v>
                </c:pt>
                <c:pt idx="12">
                  <c:v>0.19993476173507979</c:v>
                </c:pt>
                <c:pt idx="13">
                  <c:v>0.23936536824085961</c:v>
                </c:pt>
                <c:pt idx="14">
                  <c:v>0.19993476173507979</c:v>
                </c:pt>
                <c:pt idx="15">
                  <c:v>0.11651163298992777</c:v>
                </c:pt>
                <c:pt idx="16">
                  <c:v>4.7370094980536508E-2</c:v>
                </c:pt>
                <c:pt idx="17">
                  <c:v>1.3436718176905739E-2</c:v>
                </c:pt>
                <c:pt idx="18">
                  <c:v>2.6591090471628043E-3</c:v>
                </c:pt>
                <c:pt idx="19">
                  <c:v>3.671411580682638E-4</c:v>
                </c:pt>
                <c:pt idx="20">
                  <c:v>3.5365840653923912E-5</c:v>
                </c:pt>
                <c:pt idx="21">
                  <c:v>2.3767794546192451E-6</c:v>
                </c:pt>
                <c:pt idx="22">
                  <c:v>1.1144171067331797E-7</c:v>
                </c:pt>
                <c:pt idx="23">
                  <c:v>3.6455297098939717E-9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B62D-4A74-83F2-A65DD39526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612126752"/>
        <c:axId val="-612120224"/>
      </c:scatterChart>
      <c:valAx>
        <c:axId val="-612126752"/>
        <c:scaling>
          <c:orientation val="minMax"/>
          <c:max val="1013.88"/>
          <c:min val="994.88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612120224"/>
        <c:crosses val="autoZero"/>
        <c:crossBetween val="midCat"/>
        <c:majorUnit val="3"/>
      </c:valAx>
      <c:valAx>
        <c:axId val="-61212022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612126752"/>
        <c:crosses val="autoZero"/>
        <c:crossBetween val="midCat"/>
      </c:valAx>
      <c:spPr>
        <a:noFill/>
        <a:ln>
          <a:solidFill>
            <a:srgbClr val="90C226"/>
          </a:solidFill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userShapes r:id="rId5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7.504262697089871E-2"/>
          <c:y val="5.2710892710892715E-2"/>
          <c:w val="0.84991474605820261"/>
          <c:h val="0.92929559480740587"/>
        </c:manualLayout>
      </c:layout>
      <c:scatterChart>
        <c:scatterStyle val="smoothMarker"/>
        <c:varyColors val="0"/>
        <c:ser>
          <c:idx val="0"/>
          <c:order val="0"/>
          <c:spPr>
            <a:ln w="254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Sheet1!$A$17:$A$33</c:f>
              <c:numCache>
                <c:formatCode>General</c:formatCode>
                <c:ptCount val="17"/>
                <c:pt idx="0">
                  <c:v>1003.0799999999998</c:v>
                </c:pt>
                <c:pt idx="1">
                  <c:v>1003.1799999999998</c:v>
                </c:pt>
                <c:pt idx="2">
                  <c:v>1003.2799999999999</c:v>
                </c:pt>
                <c:pt idx="3">
                  <c:v>1003.3799999999999</c:v>
                </c:pt>
                <c:pt idx="4">
                  <c:v>1003.4799999999999</c:v>
                </c:pt>
                <c:pt idx="5">
                  <c:v>1003.5799999999999</c:v>
                </c:pt>
                <c:pt idx="6">
                  <c:v>1003.68</c:v>
                </c:pt>
                <c:pt idx="7">
                  <c:v>1003.78</c:v>
                </c:pt>
                <c:pt idx="8">
                  <c:v>1003.88</c:v>
                </c:pt>
                <c:pt idx="9">
                  <c:v>1003.98</c:v>
                </c:pt>
                <c:pt idx="10">
                  <c:v>1004.08</c:v>
                </c:pt>
                <c:pt idx="11">
                  <c:v>1004.1800000000001</c:v>
                </c:pt>
                <c:pt idx="12">
                  <c:v>1004.2800000000001</c:v>
                </c:pt>
                <c:pt idx="13">
                  <c:v>1004.3800000000001</c:v>
                </c:pt>
                <c:pt idx="14">
                  <c:v>1004.4800000000001</c:v>
                </c:pt>
                <c:pt idx="15">
                  <c:v>1004.5800000000002</c:v>
                </c:pt>
                <c:pt idx="16">
                  <c:v>1004.6800000000002</c:v>
                </c:pt>
              </c:numCache>
            </c:numRef>
          </c:xVal>
          <c:yVal>
            <c:numRef>
              <c:f>Sheet1!$B$17:$B$33</c:f>
              <c:numCache>
                <c:formatCode>General</c:formatCode>
                <c:ptCount val="17"/>
                <c:pt idx="0">
                  <c:v>2.3767794546067948E-5</c:v>
                </c:pt>
                <c:pt idx="1">
                  <c:v>3.5365840653782057E-4</c:v>
                </c:pt>
                <c:pt idx="2">
                  <c:v>3.6714115806718152E-3</c:v>
                </c:pt>
                <c:pt idx="3">
                  <c:v>2.6591090471573636E-2</c:v>
                </c:pt>
                <c:pt idx="4">
                  <c:v>0.13436718176888143</c:v>
                </c:pt>
                <c:pt idx="5">
                  <c:v>0.47370094980501604</c:v>
                </c:pt>
                <c:pt idx="6">
                  <c:v>1.1651163298988962</c:v>
                </c:pt>
                <c:pt idx="7">
                  <c:v>1.9993476173506342</c:v>
                </c:pt>
                <c:pt idx="8">
                  <c:v>2.3936536824085963</c:v>
                </c:pt>
                <c:pt idx="9">
                  <c:v>1.9993476173506342</c:v>
                </c:pt>
                <c:pt idx="10">
                  <c:v>1.1651163298988962</c:v>
                </c:pt>
                <c:pt idx="11">
                  <c:v>0.47370094980501604</c:v>
                </c:pt>
                <c:pt idx="12">
                  <c:v>0.13436718176888143</c:v>
                </c:pt>
                <c:pt idx="13">
                  <c:v>2.6591090471573636E-2</c:v>
                </c:pt>
                <c:pt idx="14">
                  <c:v>3.6714115806718152E-3</c:v>
                </c:pt>
                <c:pt idx="15">
                  <c:v>3.5365840653782057E-4</c:v>
                </c:pt>
                <c:pt idx="16">
                  <c:v>2.3767794546067948E-5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A085-471A-8087-6FAE1C3D55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612130560"/>
        <c:axId val="-612125664"/>
      </c:scatterChart>
      <c:valAx>
        <c:axId val="-612130560"/>
        <c:scaling>
          <c:orientation val="minMax"/>
          <c:max val="1004.6800000000001"/>
          <c:min val="1003.08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612125664"/>
        <c:crosses val="autoZero"/>
        <c:crossBetween val="midCat"/>
        <c:majorUnit val="0.4"/>
        <c:minorUnit val="0.2"/>
      </c:valAx>
      <c:valAx>
        <c:axId val="-6121256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61213056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scatterChart>
        <c:scatterStyle val="smoothMarker"/>
        <c:varyColors val="0"/>
        <c:ser>
          <c:idx val="0"/>
          <c:order val="0"/>
          <c:spPr>
            <a:ln w="254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Sheet1!$A$17:$A$33</c:f>
              <c:numCache>
                <c:formatCode>General</c:formatCode>
                <c:ptCount val="17"/>
                <c:pt idx="0">
                  <c:v>1003.3799999999998</c:v>
                </c:pt>
                <c:pt idx="1">
                  <c:v>1003.4799999999998</c:v>
                </c:pt>
                <c:pt idx="2">
                  <c:v>1003.5799999999998</c:v>
                </c:pt>
                <c:pt idx="3">
                  <c:v>1003.6799999999998</c:v>
                </c:pt>
                <c:pt idx="4">
                  <c:v>1003.7799999999999</c:v>
                </c:pt>
                <c:pt idx="5">
                  <c:v>1003.8799999999999</c:v>
                </c:pt>
                <c:pt idx="6">
                  <c:v>1003.9799999999999</c:v>
                </c:pt>
                <c:pt idx="7">
                  <c:v>1004.0799999999999</c:v>
                </c:pt>
                <c:pt idx="8">
                  <c:v>1004.18</c:v>
                </c:pt>
                <c:pt idx="9">
                  <c:v>1004.28</c:v>
                </c:pt>
                <c:pt idx="10">
                  <c:v>1004.38</c:v>
                </c:pt>
                <c:pt idx="11">
                  <c:v>1004.48</c:v>
                </c:pt>
                <c:pt idx="12">
                  <c:v>1004.58</c:v>
                </c:pt>
                <c:pt idx="13">
                  <c:v>1004.6800000000001</c:v>
                </c:pt>
                <c:pt idx="14">
                  <c:v>1004.7800000000001</c:v>
                </c:pt>
                <c:pt idx="15">
                  <c:v>1004.8800000000001</c:v>
                </c:pt>
                <c:pt idx="16">
                  <c:v>1004.9800000000001</c:v>
                </c:pt>
              </c:numCache>
            </c:numRef>
          </c:xVal>
          <c:yVal>
            <c:numRef>
              <c:f>Sheet1!$B$17:$B$33</c:f>
              <c:numCache>
                <c:formatCode>General</c:formatCode>
                <c:ptCount val="17"/>
                <c:pt idx="0">
                  <c:v>2.3767794546067948E-5</c:v>
                </c:pt>
                <c:pt idx="1">
                  <c:v>3.5365840653782057E-4</c:v>
                </c:pt>
                <c:pt idx="2">
                  <c:v>3.6714115806718152E-3</c:v>
                </c:pt>
                <c:pt idx="3">
                  <c:v>2.6591090471573636E-2</c:v>
                </c:pt>
                <c:pt idx="4">
                  <c:v>0.13436718176888143</c:v>
                </c:pt>
                <c:pt idx="5">
                  <c:v>0.47370094980501604</c:v>
                </c:pt>
                <c:pt idx="6">
                  <c:v>1.1651163298988962</c:v>
                </c:pt>
                <c:pt idx="7">
                  <c:v>1.9993476173506342</c:v>
                </c:pt>
                <c:pt idx="8">
                  <c:v>2.3936536824085963</c:v>
                </c:pt>
                <c:pt idx="9">
                  <c:v>1.9993476173506342</c:v>
                </c:pt>
                <c:pt idx="10">
                  <c:v>1.1651163298988962</c:v>
                </c:pt>
                <c:pt idx="11">
                  <c:v>0.47370094980501604</c:v>
                </c:pt>
                <c:pt idx="12">
                  <c:v>0.13436718176888143</c:v>
                </c:pt>
                <c:pt idx="13">
                  <c:v>2.6591090471573636E-2</c:v>
                </c:pt>
                <c:pt idx="14">
                  <c:v>3.6714115806718152E-3</c:v>
                </c:pt>
                <c:pt idx="15">
                  <c:v>3.5365840653782057E-4</c:v>
                </c:pt>
                <c:pt idx="16">
                  <c:v>2.3767794546067948E-5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31BE-46A1-8B1B-A2B88A2CFA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612131104"/>
        <c:axId val="-612125120"/>
      </c:scatterChart>
      <c:valAx>
        <c:axId val="-612131104"/>
        <c:scaling>
          <c:orientation val="minMax"/>
          <c:max val="1004.98"/>
          <c:min val="1003.38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612125120"/>
        <c:crosses val="autoZero"/>
        <c:crossBetween val="midCat"/>
        <c:majorUnit val="0.4"/>
      </c:valAx>
      <c:valAx>
        <c:axId val="-6121251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61213110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scatterChart>
        <c:scatterStyle val="smoothMarker"/>
        <c:varyColors val="0"/>
        <c:ser>
          <c:idx val="0"/>
          <c:order val="0"/>
          <c:spPr>
            <a:ln w="254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Sheet1!$A$17:$A$33</c:f>
              <c:numCache>
                <c:formatCode>General</c:formatCode>
                <c:ptCount val="17"/>
                <c:pt idx="0">
                  <c:v>1002.6799999999998</c:v>
                </c:pt>
                <c:pt idx="1">
                  <c:v>1002.7799999999999</c:v>
                </c:pt>
                <c:pt idx="2">
                  <c:v>1002.8799999999999</c:v>
                </c:pt>
                <c:pt idx="3">
                  <c:v>1002.9799999999999</c:v>
                </c:pt>
                <c:pt idx="4">
                  <c:v>1003.0799999999999</c:v>
                </c:pt>
                <c:pt idx="5">
                  <c:v>1003.18</c:v>
                </c:pt>
                <c:pt idx="6">
                  <c:v>1003.28</c:v>
                </c:pt>
                <c:pt idx="7">
                  <c:v>1003.38</c:v>
                </c:pt>
                <c:pt idx="8">
                  <c:v>1003.48</c:v>
                </c:pt>
                <c:pt idx="9">
                  <c:v>1003.58</c:v>
                </c:pt>
                <c:pt idx="10">
                  <c:v>1003.6800000000001</c:v>
                </c:pt>
                <c:pt idx="11">
                  <c:v>1003.7800000000001</c:v>
                </c:pt>
                <c:pt idx="12">
                  <c:v>1003.8800000000001</c:v>
                </c:pt>
                <c:pt idx="13">
                  <c:v>1003.9800000000001</c:v>
                </c:pt>
                <c:pt idx="14">
                  <c:v>1004.0800000000002</c:v>
                </c:pt>
                <c:pt idx="15">
                  <c:v>1004.1800000000002</c:v>
                </c:pt>
                <c:pt idx="16">
                  <c:v>1004.2800000000002</c:v>
                </c:pt>
              </c:numCache>
            </c:numRef>
          </c:xVal>
          <c:yVal>
            <c:numRef>
              <c:f>Sheet1!$B$17:$B$33</c:f>
              <c:numCache>
                <c:formatCode>General</c:formatCode>
                <c:ptCount val="17"/>
                <c:pt idx="0">
                  <c:v>2.3767794546067948E-5</c:v>
                </c:pt>
                <c:pt idx="1">
                  <c:v>3.5365840653782057E-4</c:v>
                </c:pt>
                <c:pt idx="2">
                  <c:v>3.6714115806718152E-3</c:v>
                </c:pt>
                <c:pt idx="3">
                  <c:v>2.6591090471573636E-2</c:v>
                </c:pt>
                <c:pt idx="4">
                  <c:v>0.13436718176888143</c:v>
                </c:pt>
                <c:pt idx="5">
                  <c:v>0.47370094980501604</c:v>
                </c:pt>
                <c:pt idx="6">
                  <c:v>1.1651163298988962</c:v>
                </c:pt>
                <c:pt idx="7">
                  <c:v>1.9993476173506342</c:v>
                </c:pt>
                <c:pt idx="8">
                  <c:v>2.3936536824085963</c:v>
                </c:pt>
                <c:pt idx="9">
                  <c:v>1.9993476173506342</c:v>
                </c:pt>
                <c:pt idx="10">
                  <c:v>1.1651163298988962</c:v>
                </c:pt>
                <c:pt idx="11">
                  <c:v>0.47370094980501604</c:v>
                </c:pt>
                <c:pt idx="12">
                  <c:v>0.13436718176888143</c:v>
                </c:pt>
                <c:pt idx="13">
                  <c:v>2.6591090471573636E-2</c:v>
                </c:pt>
                <c:pt idx="14">
                  <c:v>3.6714115806718152E-3</c:v>
                </c:pt>
                <c:pt idx="15">
                  <c:v>3.5365840653782057E-4</c:v>
                </c:pt>
                <c:pt idx="16">
                  <c:v>2.3767794546067948E-5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9FF0-4EEA-8B28-A5D4A86686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6791424"/>
        <c:axId val="166817792"/>
      </c:scatterChart>
      <c:valAx>
        <c:axId val="166791424"/>
        <c:scaling>
          <c:orientation val="minMax"/>
          <c:max val="1004.2800000000001"/>
          <c:min val="1002.680000000000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6817792"/>
        <c:crosses val="autoZero"/>
        <c:crossBetween val="midCat"/>
        <c:majorUnit val="0.4"/>
      </c:valAx>
      <c:valAx>
        <c:axId val="166817792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6679142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userShapes r:id="rId5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scatterChart>
        <c:scatterStyle val="smoothMarker"/>
        <c:varyColors val="0"/>
        <c:ser>
          <c:idx val="0"/>
          <c:order val="0"/>
          <c:spPr>
            <a:ln w="254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Sheet3!$A$3:$A$17</c:f>
              <c:numCache>
                <c:formatCode>General</c:formatCode>
                <c:ptCount val="15"/>
                <c:pt idx="0">
                  <c:v>96.5</c:v>
                </c:pt>
                <c:pt idx="1">
                  <c:v>97</c:v>
                </c:pt>
                <c:pt idx="2">
                  <c:v>97.5</c:v>
                </c:pt>
                <c:pt idx="3">
                  <c:v>98</c:v>
                </c:pt>
                <c:pt idx="4">
                  <c:v>98.5</c:v>
                </c:pt>
                <c:pt idx="5">
                  <c:v>99</c:v>
                </c:pt>
                <c:pt idx="6">
                  <c:v>99.5</c:v>
                </c:pt>
                <c:pt idx="7">
                  <c:v>100</c:v>
                </c:pt>
                <c:pt idx="8">
                  <c:v>100.5</c:v>
                </c:pt>
                <c:pt idx="9">
                  <c:v>101</c:v>
                </c:pt>
                <c:pt idx="10">
                  <c:v>101.5</c:v>
                </c:pt>
                <c:pt idx="11">
                  <c:v>102</c:v>
                </c:pt>
                <c:pt idx="12">
                  <c:v>102.5</c:v>
                </c:pt>
                <c:pt idx="13">
                  <c:v>103</c:v>
                </c:pt>
                <c:pt idx="14">
                  <c:v>103.5</c:v>
                </c:pt>
              </c:numCache>
            </c:numRef>
          </c:xVal>
          <c:yVal>
            <c:numRef>
              <c:f>Sheet3!$B$3:$B$17</c:f>
              <c:numCache>
                <c:formatCode>General</c:formatCode>
                <c:ptCount val="15"/>
                <c:pt idx="0">
                  <c:v>1.1193476093583772E-11</c:v>
                </c:pt>
                <c:pt idx="1">
                  <c:v>8.5013833659120963E-9</c:v>
                </c:pt>
                <c:pt idx="2">
                  <c:v>2.3273226233126599E-6</c:v>
                </c:pt>
                <c:pt idx="3">
                  <c:v>2.2964973408475678E-4</c:v>
                </c:pt>
                <c:pt idx="4">
                  <c:v>8.1680364656267317E-3</c:v>
                </c:pt>
                <c:pt idx="5">
                  <c:v>0.10471568896152822</c:v>
                </c:pt>
                <c:pt idx="6">
                  <c:v>0.48389173726718249</c:v>
                </c:pt>
                <c:pt idx="7">
                  <c:v>0.80598511935393768</c:v>
                </c:pt>
                <c:pt idx="8">
                  <c:v>0.48389173726718249</c:v>
                </c:pt>
                <c:pt idx="9">
                  <c:v>0.10471568896152822</c:v>
                </c:pt>
                <c:pt idx="10">
                  <c:v>8.1680364656267317E-3</c:v>
                </c:pt>
                <c:pt idx="11">
                  <c:v>2.2964973408475678E-4</c:v>
                </c:pt>
                <c:pt idx="12">
                  <c:v>2.3273226233126599E-6</c:v>
                </c:pt>
                <c:pt idx="13">
                  <c:v>8.5013833659120963E-9</c:v>
                </c:pt>
                <c:pt idx="14">
                  <c:v>1.1193476093583772E-11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507B-4D4A-8C5F-294BF6029D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612118048"/>
        <c:axId val="-612118592"/>
      </c:scatterChart>
      <c:valAx>
        <c:axId val="-61211804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612118592"/>
        <c:crosses val="autoZero"/>
        <c:crossBetween val="midCat"/>
      </c:valAx>
      <c:valAx>
        <c:axId val="-612118592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-61211804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scatterChart>
        <c:scatterStyle val="smoothMarker"/>
        <c:varyColors val="0"/>
        <c:ser>
          <c:idx val="0"/>
          <c:order val="0"/>
          <c:spPr>
            <a:ln w="254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Sheet3!$A$3:$A$17</c:f>
              <c:numCache>
                <c:formatCode>General</c:formatCode>
                <c:ptCount val="15"/>
                <c:pt idx="0">
                  <c:v>96.5</c:v>
                </c:pt>
                <c:pt idx="1">
                  <c:v>97</c:v>
                </c:pt>
                <c:pt idx="2">
                  <c:v>97.5</c:v>
                </c:pt>
                <c:pt idx="3">
                  <c:v>98</c:v>
                </c:pt>
                <c:pt idx="4">
                  <c:v>98.5</c:v>
                </c:pt>
                <c:pt idx="5">
                  <c:v>99</c:v>
                </c:pt>
                <c:pt idx="6">
                  <c:v>99.5</c:v>
                </c:pt>
                <c:pt idx="7">
                  <c:v>100</c:v>
                </c:pt>
                <c:pt idx="8">
                  <c:v>100.5</c:v>
                </c:pt>
                <c:pt idx="9">
                  <c:v>101</c:v>
                </c:pt>
                <c:pt idx="10">
                  <c:v>101.5</c:v>
                </c:pt>
                <c:pt idx="11">
                  <c:v>102</c:v>
                </c:pt>
                <c:pt idx="12">
                  <c:v>102.5</c:v>
                </c:pt>
                <c:pt idx="13">
                  <c:v>103</c:v>
                </c:pt>
                <c:pt idx="14">
                  <c:v>103.5</c:v>
                </c:pt>
              </c:numCache>
            </c:numRef>
          </c:xVal>
          <c:yVal>
            <c:numRef>
              <c:f>Sheet3!$B$3:$B$17</c:f>
              <c:numCache>
                <c:formatCode>General</c:formatCode>
                <c:ptCount val="15"/>
                <c:pt idx="0">
                  <c:v>1.1193476093583772E-11</c:v>
                </c:pt>
                <c:pt idx="1">
                  <c:v>8.5013833659120963E-9</c:v>
                </c:pt>
                <c:pt idx="2">
                  <c:v>2.3273226233126599E-6</c:v>
                </c:pt>
                <c:pt idx="3">
                  <c:v>2.2964973408475678E-4</c:v>
                </c:pt>
                <c:pt idx="4">
                  <c:v>8.1680364656267317E-3</c:v>
                </c:pt>
                <c:pt idx="5">
                  <c:v>0.10471568896152822</c:v>
                </c:pt>
                <c:pt idx="6">
                  <c:v>0.48389173726718249</c:v>
                </c:pt>
                <c:pt idx="7">
                  <c:v>0.80598511935393768</c:v>
                </c:pt>
                <c:pt idx="8">
                  <c:v>0.48389173726718249</c:v>
                </c:pt>
                <c:pt idx="9">
                  <c:v>0.10471568896152822</c:v>
                </c:pt>
                <c:pt idx="10">
                  <c:v>8.1680364656267317E-3</c:v>
                </c:pt>
                <c:pt idx="11">
                  <c:v>2.2964973408475678E-4</c:v>
                </c:pt>
                <c:pt idx="12">
                  <c:v>2.3273226233126599E-6</c:v>
                </c:pt>
                <c:pt idx="13">
                  <c:v>8.5013833659120963E-9</c:v>
                </c:pt>
                <c:pt idx="14">
                  <c:v>1.1193476093583772E-11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6817-4354-B728-3C58D18552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612126208"/>
        <c:axId val="-612132736"/>
      </c:scatterChart>
      <c:valAx>
        <c:axId val="-61212620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612132736"/>
        <c:crosses val="autoZero"/>
        <c:crossBetween val="midCat"/>
      </c:valAx>
      <c:valAx>
        <c:axId val="-612132736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-61212620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4.060234766089621E-2"/>
          <c:y val="2.9434600720800064E-2"/>
          <c:w val="0.92031532311345499"/>
          <c:h val="0.89358917767479296"/>
        </c:manualLayout>
      </c:layout>
      <c:scatterChart>
        <c:scatterStyle val="smoothMarker"/>
        <c:varyColors val="0"/>
        <c:ser>
          <c:idx val="0"/>
          <c:order val="0"/>
          <c:spPr>
            <a:ln w="254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Sheet3!$A$24:$A$34</c:f>
              <c:numCache>
                <c:formatCode>General</c:formatCode>
                <c:ptCount val="11"/>
                <c:pt idx="0">
                  <c:v>0.25000000000000006</c:v>
                </c:pt>
                <c:pt idx="1">
                  <c:v>0.30000000000000004</c:v>
                </c:pt>
                <c:pt idx="2">
                  <c:v>0.35000000000000003</c:v>
                </c:pt>
                <c:pt idx="3">
                  <c:v>0.4</c:v>
                </c:pt>
                <c:pt idx="4">
                  <c:v>0.45</c:v>
                </c:pt>
                <c:pt idx="5">
                  <c:v>0.5</c:v>
                </c:pt>
                <c:pt idx="6">
                  <c:v>0.55000000000000004</c:v>
                </c:pt>
                <c:pt idx="7">
                  <c:v>0.60000000000000009</c:v>
                </c:pt>
                <c:pt idx="8">
                  <c:v>0.65000000000000013</c:v>
                </c:pt>
                <c:pt idx="9">
                  <c:v>0.70000000000000018</c:v>
                </c:pt>
                <c:pt idx="10">
                  <c:v>0.75000000000000022</c:v>
                </c:pt>
              </c:numCache>
            </c:numRef>
          </c:xVal>
          <c:yVal>
            <c:numRef>
              <c:f>Sheet3!$B$24:$B$34</c:f>
              <c:numCache>
                <c:formatCode>General</c:formatCode>
                <c:ptCount val="11"/>
                <c:pt idx="0">
                  <c:v>1.0891421151763577E-2</c:v>
                </c:pt>
                <c:pt idx="1">
                  <c:v>0.10333492677046047</c:v>
                </c:pt>
                <c:pt idx="2">
                  <c:v>0.59465144611814769</c:v>
                </c:pt>
                <c:pt idx="3">
                  <c:v>2.0755374871029746</c:v>
                </c:pt>
                <c:pt idx="4">
                  <c:v>4.393912894677225</c:v>
                </c:pt>
                <c:pt idx="5">
                  <c:v>5.6418958354775635</c:v>
                </c:pt>
                <c:pt idx="6">
                  <c:v>4.3939128946772223</c:v>
                </c:pt>
                <c:pt idx="7">
                  <c:v>2.0755374871029701</c:v>
                </c:pt>
                <c:pt idx="8">
                  <c:v>0.59465144611814424</c:v>
                </c:pt>
                <c:pt idx="9">
                  <c:v>0.10333492677045954</c:v>
                </c:pt>
                <c:pt idx="10">
                  <c:v>1.0891421151763423E-2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6F6B-4750-AA14-6505A5D199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768783856"/>
        <c:axId val="-768783312"/>
      </c:scatterChart>
      <c:valAx>
        <c:axId val="-768783856"/>
        <c:scaling>
          <c:orientation val="minMax"/>
          <c:min val="0.2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768783312"/>
        <c:crosses val="autoZero"/>
        <c:crossBetween val="midCat"/>
      </c:valAx>
      <c:valAx>
        <c:axId val="-7687833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76878385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9.8219816272965874E-2"/>
          <c:y val="0.10246442428682358"/>
          <c:w val="0.85222462817147859"/>
          <c:h val="0.80642798100154711"/>
        </c:manualLayout>
      </c:layout>
      <c:scatterChart>
        <c:scatterStyle val="smoothMarker"/>
        <c:varyColors val="0"/>
        <c:ser>
          <c:idx val="0"/>
          <c:order val="0"/>
          <c:spPr>
            <a:ln w="25400" cap="rnd">
              <a:solidFill>
                <a:srgbClr val="E76618"/>
              </a:solidFill>
              <a:round/>
            </a:ln>
            <a:effectLst/>
          </c:spPr>
          <c:marker>
            <c:symbol val="none"/>
          </c:marker>
          <c:xVal>
            <c:numRef>
              <c:f>Sheet2!$A$17:$A$35</c:f>
              <c:numCache>
                <c:formatCode>General</c:formatCode>
                <c:ptCount val="19"/>
                <c:pt idx="0">
                  <c:v>455</c:v>
                </c:pt>
                <c:pt idx="1">
                  <c:v>460</c:v>
                </c:pt>
                <c:pt idx="2">
                  <c:v>465</c:v>
                </c:pt>
                <c:pt idx="3">
                  <c:v>470</c:v>
                </c:pt>
                <c:pt idx="4">
                  <c:v>475</c:v>
                </c:pt>
                <c:pt idx="5">
                  <c:v>480</c:v>
                </c:pt>
                <c:pt idx="6">
                  <c:v>485</c:v>
                </c:pt>
                <c:pt idx="7">
                  <c:v>490</c:v>
                </c:pt>
                <c:pt idx="8">
                  <c:v>495</c:v>
                </c:pt>
                <c:pt idx="9">
                  <c:v>500</c:v>
                </c:pt>
                <c:pt idx="10">
                  <c:v>505</c:v>
                </c:pt>
                <c:pt idx="11">
                  <c:v>510</c:v>
                </c:pt>
                <c:pt idx="12">
                  <c:v>515</c:v>
                </c:pt>
                <c:pt idx="13">
                  <c:v>520</c:v>
                </c:pt>
                <c:pt idx="14">
                  <c:v>525</c:v>
                </c:pt>
                <c:pt idx="15">
                  <c:v>530</c:v>
                </c:pt>
                <c:pt idx="16">
                  <c:v>535</c:v>
                </c:pt>
                <c:pt idx="17">
                  <c:v>540</c:v>
                </c:pt>
                <c:pt idx="18">
                  <c:v>545</c:v>
                </c:pt>
              </c:numCache>
            </c:numRef>
          </c:xVal>
          <c:yVal>
            <c:numRef>
              <c:f>Sheet2!$C$17:$C$35</c:f>
              <c:numCache>
                <c:formatCode>General</c:formatCode>
                <c:ptCount val="19"/>
                <c:pt idx="0">
                  <c:v>2.5467579207203221E-6</c:v>
                </c:pt>
                <c:pt idx="1">
                  <c:v>1.9237099110049549E-5</c:v>
                </c:pt>
                <c:pt idx="2">
                  <c:v>1.1454588953716032E-4</c:v>
                </c:pt>
                <c:pt idx="3">
                  <c:v>5.3765965087340347E-4</c:v>
                </c:pt>
                <c:pt idx="4">
                  <c:v>1.9894058558557839E-3</c:v>
                </c:pt>
                <c:pt idx="5">
                  <c:v>5.802662988290774E-3</c:v>
                </c:pt>
                <c:pt idx="6">
                  <c:v>1.3341950154520442E-2</c:v>
                </c:pt>
                <c:pt idx="7">
                  <c:v>2.4182393809975472E-2</c:v>
                </c:pt>
                <c:pt idx="8">
                  <c:v>3.4551529306770384E-2</c:v>
                </c:pt>
                <c:pt idx="9">
                  <c:v>3.8915558695765906E-2</c:v>
                </c:pt>
                <c:pt idx="10">
                  <c:v>3.4551529306770384E-2</c:v>
                </c:pt>
                <c:pt idx="11">
                  <c:v>2.4182393809975472E-2</c:v>
                </c:pt>
                <c:pt idx="12">
                  <c:v>1.3341950154520442E-2</c:v>
                </c:pt>
                <c:pt idx="13">
                  <c:v>5.802662988290774E-3</c:v>
                </c:pt>
                <c:pt idx="14">
                  <c:v>1.9894058558557839E-3</c:v>
                </c:pt>
                <c:pt idx="15">
                  <c:v>5.3765965087340347E-4</c:v>
                </c:pt>
                <c:pt idx="16">
                  <c:v>1.1454588953716032E-4</c:v>
                </c:pt>
                <c:pt idx="17">
                  <c:v>1.9237099110049549E-5</c:v>
                </c:pt>
                <c:pt idx="18">
                  <c:v>2.5467579207203221E-6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FEB9-4596-BF78-ACEF69D16B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612122944"/>
        <c:axId val="-612122400"/>
      </c:scatterChart>
      <c:valAx>
        <c:axId val="-61212294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612122400"/>
        <c:crosses val="autoZero"/>
        <c:crossBetween val="midCat"/>
      </c:valAx>
      <c:valAx>
        <c:axId val="-6121224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61212294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userShapes r:id="rId5"/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scatterChart>
        <c:scatterStyle val="smoothMarker"/>
        <c:varyColors val="0"/>
        <c:ser>
          <c:idx val="0"/>
          <c:order val="0"/>
          <c:spPr>
            <a:ln w="254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Sheet2!$A$12:$A$30</c:f>
              <c:numCache>
                <c:formatCode>General</c:formatCode>
                <c:ptCount val="19"/>
                <c:pt idx="0">
                  <c:v>430</c:v>
                </c:pt>
                <c:pt idx="1">
                  <c:v>435</c:v>
                </c:pt>
                <c:pt idx="2">
                  <c:v>440</c:v>
                </c:pt>
                <c:pt idx="3">
                  <c:v>445</c:v>
                </c:pt>
                <c:pt idx="4">
                  <c:v>450</c:v>
                </c:pt>
                <c:pt idx="5">
                  <c:v>455</c:v>
                </c:pt>
                <c:pt idx="6">
                  <c:v>460</c:v>
                </c:pt>
                <c:pt idx="7">
                  <c:v>465</c:v>
                </c:pt>
                <c:pt idx="8">
                  <c:v>470</c:v>
                </c:pt>
                <c:pt idx="9">
                  <c:v>475</c:v>
                </c:pt>
                <c:pt idx="10">
                  <c:v>480</c:v>
                </c:pt>
                <c:pt idx="11">
                  <c:v>485</c:v>
                </c:pt>
                <c:pt idx="12">
                  <c:v>490</c:v>
                </c:pt>
                <c:pt idx="13">
                  <c:v>495</c:v>
                </c:pt>
                <c:pt idx="14">
                  <c:v>500</c:v>
                </c:pt>
                <c:pt idx="15">
                  <c:v>505</c:v>
                </c:pt>
                <c:pt idx="16">
                  <c:v>510</c:v>
                </c:pt>
                <c:pt idx="17">
                  <c:v>515</c:v>
                </c:pt>
                <c:pt idx="18">
                  <c:v>520</c:v>
                </c:pt>
              </c:numCache>
            </c:numRef>
          </c:xVal>
          <c:yVal>
            <c:numRef>
              <c:f>Sheet2!$B$12:$B$30</c:f>
              <c:numCache>
                <c:formatCode>General</c:formatCode>
                <c:ptCount val="19"/>
                <c:pt idx="0">
                  <c:v>1.9237099110049549E-5</c:v>
                </c:pt>
                <c:pt idx="1">
                  <c:v>1.1454588953716032E-4</c:v>
                </c:pt>
                <c:pt idx="2">
                  <c:v>5.3765965087340347E-4</c:v>
                </c:pt>
                <c:pt idx="3">
                  <c:v>1.9894058558557839E-3</c:v>
                </c:pt>
                <c:pt idx="4">
                  <c:v>5.802662988290774E-3</c:v>
                </c:pt>
                <c:pt idx="5">
                  <c:v>1.3341950154520442E-2</c:v>
                </c:pt>
                <c:pt idx="6">
                  <c:v>2.4182393809975472E-2</c:v>
                </c:pt>
                <c:pt idx="7">
                  <c:v>3.4551529306770384E-2</c:v>
                </c:pt>
                <c:pt idx="8">
                  <c:v>3.8915558695765906E-2</c:v>
                </c:pt>
                <c:pt idx="9">
                  <c:v>3.4551529306770384E-2</c:v>
                </c:pt>
                <c:pt idx="10">
                  <c:v>2.4182393809975472E-2</c:v>
                </c:pt>
                <c:pt idx="11">
                  <c:v>1.3341950154520442E-2</c:v>
                </c:pt>
                <c:pt idx="12">
                  <c:v>5.802662988290774E-3</c:v>
                </c:pt>
                <c:pt idx="13">
                  <c:v>1.9894058558557839E-3</c:v>
                </c:pt>
                <c:pt idx="14">
                  <c:v>5.3765965087340347E-4</c:v>
                </c:pt>
                <c:pt idx="15">
                  <c:v>1.1454588953716032E-4</c:v>
                </c:pt>
                <c:pt idx="16">
                  <c:v>1.9237099110049549E-5</c:v>
                </c:pt>
                <c:pt idx="17">
                  <c:v>2.5467579207203221E-6</c:v>
                </c:pt>
                <c:pt idx="18">
                  <c:v>2.6578089427382839E-7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F507-415B-9613-474C9A6C2E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612121856"/>
        <c:axId val="-612121312"/>
      </c:scatterChart>
      <c:valAx>
        <c:axId val="-612121856"/>
        <c:scaling>
          <c:orientation val="minMax"/>
          <c:max val="530"/>
          <c:min val="41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612121312"/>
        <c:crosses val="autoZero"/>
        <c:crossBetween val="midCat"/>
      </c:valAx>
      <c:valAx>
        <c:axId val="-612121312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-61212185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Breaking the Windshields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spPr>
            <a:ln w="254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Sheet2!$A$12:$A$35</c:f>
              <c:numCache>
                <c:formatCode>General</c:formatCode>
                <c:ptCount val="24"/>
                <c:pt idx="0">
                  <c:v>430</c:v>
                </c:pt>
                <c:pt idx="1">
                  <c:v>435</c:v>
                </c:pt>
                <c:pt idx="2">
                  <c:v>440</c:v>
                </c:pt>
                <c:pt idx="3">
                  <c:v>445</c:v>
                </c:pt>
                <c:pt idx="4">
                  <c:v>450</c:v>
                </c:pt>
                <c:pt idx="5">
                  <c:v>455</c:v>
                </c:pt>
                <c:pt idx="6">
                  <c:v>460</c:v>
                </c:pt>
                <c:pt idx="7">
                  <c:v>465</c:v>
                </c:pt>
                <c:pt idx="8">
                  <c:v>470</c:v>
                </c:pt>
                <c:pt idx="9">
                  <c:v>475</c:v>
                </c:pt>
                <c:pt idx="10">
                  <c:v>480</c:v>
                </c:pt>
                <c:pt idx="11">
                  <c:v>485</c:v>
                </c:pt>
                <c:pt idx="12">
                  <c:v>490</c:v>
                </c:pt>
                <c:pt idx="13">
                  <c:v>495</c:v>
                </c:pt>
                <c:pt idx="14">
                  <c:v>500</c:v>
                </c:pt>
                <c:pt idx="15">
                  <c:v>505</c:v>
                </c:pt>
                <c:pt idx="16">
                  <c:v>510</c:v>
                </c:pt>
                <c:pt idx="17">
                  <c:v>515</c:v>
                </c:pt>
                <c:pt idx="18">
                  <c:v>520</c:v>
                </c:pt>
                <c:pt idx="19">
                  <c:v>525</c:v>
                </c:pt>
                <c:pt idx="20">
                  <c:v>530</c:v>
                </c:pt>
                <c:pt idx="21">
                  <c:v>535</c:v>
                </c:pt>
                <c:pt idx="22">
                  <c:v>540</c:v>
                </c:pt>
                <c:pt idx="23">
                  <c:v>545</c:v>
                </c:pt>
              </c:numCache>
            </c:numRef>
          </c:xVal>
          <c:yVal>
            <c:numRef>
              <c:f>Sheet2!$B$12:$B$35</c:f>
              <c:numCache>
                <c:formatCode>General</c:formatCode>
                <c:ptCount val="24"/>
                <c:pt idx="0">
                  <c:v>1.9237099110049549E-5</c:v>
                </c:pt>
                <c:pt idx="1">
                  <c:v>1.1454588953716032E-4</c:v>
                </c:pt>
                <c:pt idx="2">
                  <c:v>5.3765965087340347E-4</c:v>
                </c:pt>
                <c:pt idx="3">
                  <c:v>1.9894058558557839E-3</c:v>
                </c:pt>
                <c:pt idx="4">
                  <c:v>5.802662988290774E-3</c:v>
                </c:pt>
                <c:pt idx="5">
                  <c:v>1.3341950154520442E-2</c:v>
                </c:pt>
                <c:pt idx="6">
                  <c:v>2.4182393809975472E-2</c:v>
                </c:pt>
                <c:pt idx="7">
                  <c:v>3.4551529306770384E-2</c:v>
                </c:pt>
                <c:pt idx="8">
                  <c:v>3.8915558695765906E-2</c:v>
                </c:pt>
                <c:pt idx="9">
                  <c:v>3.4551529306770384E-2</c:v>
                </c:pt>
                <c:pt idx="10">
                  <c:v>2.4182393809975472E-2</c:v>
                </c:pt>
                <c:pt idx="11">
                  <c:v>1.3341950154520442E-2</c:v>
                </c:pt>
                <c:pt idx="12">
                  <c:v>5.802662988290774E-3</c:v>
                </c:pt>
                <c:pt idx="13">
                  <c:v>1.9894058558557839E-3</c:v>
                </c:pt>
                <c:pt idx="14">
                  <c:v>5.3765965087340347E-4</c:v>
                </c:pt>
                <c:pt idx="15">
                  <c:v>1.1454588953716032E-4</c:v>
                </c:pt>
                <c:pt idx="16">
                  <c:v>1.9237099110049549E-5</c:v>
                </c:pt>
                <c:pt idx="17">
                  <c:v>2.5467579207203221E-6</c:v>
                </c:pt>
                <c:pt idx="18">
                  <c:v>2.6578089427382839E-7</c:v>
                </c:pt>
                <c:pt idx="19">
                  <c:v>2.1864918402942726E-8</c:v>
                </c:pt>
                <c:pt idx="20">
                  <c:v>1.4179469190847265E-9</c:v>
                </c:pt>
                <c:pt idx="21">
                  <c:v>7.2486994884818154E-11</c:v>
                </c:pt>
                <c:pt idx="22">
                  <c:v>2.9211121246340815E-12</c:v>
                </c:pt>
                <c:pt idx="23">
                  <c:v>9.2794955754621653E-14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7601-455B-8D82-3F1278840A2F}"/>
            </c:ext>
          </c:extLst>
        </c:ser>
        <c:ser>
          <c:idx val="1"/>
          <c:order val="1"/>
          <c:spPr>
            <a:ln w="2540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Sheet2!$A$12:$A$35</c:f>
              <c:numCache>
                <c:formatCode>General</c:formatCode>
                <c:ptCount val="24"/>
                <c:pt idx="0">
                  <c:v>430</c:v>
                </c:pt>
                <c:pt idx="1">
                  <c:v>435</c:v>
                </c:pt>
                <c:pt idx="2">
                  <c:v>440</c:v>
                </c:pt>
                <c:pt idx="3">
                  <c:v>445</c:v>
                </c:pt>
                <c:pt idx="4">
                  <c:v>450</c:v>
                </c:pt>
                <c:pt idx="5">
                  <c:v>455</c:v>
                </c:pt>
                <c:pt idx="6">
                  <c:v>460</c:v>
                </c:pt>
                <c:pt idx="7">
                  <c:v>465</c:v>
                </c:pt>
                <c:pt idx="8">
                  <c:v>470</c:v>
                </c:pt>
                <c:pt idx="9">
                  <c:v>475</c:v>
                </c:pt>
                <c:pt idx="10">
                  <c:v>480</c:v>
                </c:pt>
                <c:pt idx="11">
                  <c:v>485</c:v>
                </c:pt>
                <c:pt idx="12">
                  <c:v>490</c:v>
                </c:pt>
                <c:pt idx="13">
                  <c:v>495</c:v>
                </c:pt>
                <c:pt idx="14">
                  <c:v>500</c:v>
                </c:pt>
                <c:pt idx="15">
                  <c:v>505</c:v>
                </c:pt>
                <c:pt idx="16">
                  <c:v>510</c:v>
                </c:pt>
                <c:pt idx="17">
                  <c:v>515</c:v>
                </c:pt>
                <c:pt idx="18">
                  <c:v>520</c:v>
                </c:pt>
                <c:pt idx="19">
                  <c:v>525</c:v>
                </c:pt>
                <c:pt idx="20">
                  <c:v>530</c:v>
                </c:pt>
                <c:pt idx="21">
                  <c:v>535</c:v>
                </c:pt>
                <c:pt idx="22">
                  <c:v>540</c:v>
                </c:pt>
                <c:pt idx="23">
                  <c:v>545</c:v>
                </c:pt>
              </c:numCache>
            </c:numRef>
          </c:xVal>
          <c:yVal>
            <c:numRef>
              <c:f>Sheet2!$C$12:$C$35</c:f>
              <c:numCache>
                <c:formatCode>General</c:formatCode>
                <c:ptCount val="24"/>
                <c:pt idx="0">
                  <c:v>2.9211121246340815E-12</c:v>
                </c:pt>
                <c:pt idx="1">
                  <c:v>7.2486994884818154E-11</c:v>
                </c:pt>
                <c:pt idx="2">
                  <c:v>1.4179469190847265E-9</c:v>
                </c:pt>
                <c:pt idx="3">
                  <c:v>2.1864918402942726E-8</c:v>
                </c:pt>
                <c:pt idx="4">
                  <c:v>2.6578089427382839E-7</c:v>
                </c:pt>
                <c:pt idx="5">
                  <c:v>2.5467579207203221E-6</c:v>
                </c:pt>
                <c:pt idx="6">
                  <c:v>1.9237099110049549E-5</c:v>
                </c:pt>
                <c:pt idx="7">
                  <c:v>1.1454588953716032E-4</c:v>
                </c:pt>
                <c:pt idx="8">
                  <c:v>5.3765965087340347E-4</c:v>
                </c:pt>
                <c:pt idx="9">
                  <c:v>1.9894058558557839E-3</c:v>
                </c:pt>
                <c:pt idx="10">
                  <c:v>5.802662988290774E-3</c:v>
                </c:pt>
                <c:pt idx="11">
                  <c:v>1.3341950154520442E-2</c:v>
                </c:pt>
                <c:pt idx="12">
                  <c:v>2.4182393809975472E-2</c:v>
                </c:pt>
                <c:pt idx="13">
                  <c:v>3.4551529306770384E-2</c:v>
                </c:pt>
                <c:pt idx="14">
                  <c:v>3.8915558695765906E-2</c:v>
                </c:pt>
                <c:pt idx="15">
                  <c:v>3.4551529306770384E-2</c:v>
                </c:pt>
                <c:pt idx="16">
                  <c:v>2.4182393809975472E-2</c:v>
                </c:pt>
                <c:pt idx="17">
                  <c:v>1.3341950154520442E-2</c:v>
                </c:pt>
                <c:pt idx="18">
                  <c:v>5.802662988290774E-3</c:v>
                </c:pt>
                <c:pt idx="19">
                  <c:v>1.9894058558557839E-3</c:v>
                </c:pt>
                <c:pt idx="20">
                  <c:v>5.3765965087340347E-4</c:v>
                </c:pt>
                <c:pt idx="21">
                  <c:v>1.1454588953716032E-4</c:v>
                </c:pt>
                <c:pt idx="22">
                  <c:v>1.9237099110049549E-5</c:v>
                </c:pt>
                <c:pt idx="23">
                  <c:v>2.5467579207203221E-6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7601-455B-8D82-3F1278840A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612131648"/>
        <c:axId val="-667427264"/>
      </c:scatterChart>
      <c:valAx>
        <c:axId val="-612131648"/>
        <c:scaling>
          <c:orientation val="minMax"/>
          <c:max val="550"/>
          <c:min val="425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667427264"/>
        <c:crosses val="autoZero"/>
        <c:crossBetween val="midCat"/>
        <c:majorUnit val="15"/>
      </c:valAx>
      <c:valAx>
        <c:axId val="-667427264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-61213164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0.75326</cdr:x>
      <cdr:y>0.90641</cdr:y>
    </cdr:from>
    <cdr:to>
      <cdr:x>0.9216</cdr:x>
      <cdr:y>0.96422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4595155" y="4632263"/>
          <a:ext cx="1026941" cy="295422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IN" sz="1100" dirty="0"/>
            <a:t>Sample Mean</a:t>
          </a:r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0.57009</cdr:x>
      <cdr:y>0.09019</cdr:y>
    </cdr:from>
    <cdr:to>
      <cdr:x>0.58073</cdr:x>
      <cdr:y>0.83384</cdr:y>
    </cdr:to>
    <cdr:cxnSp macro="">
      <cdr:nvCxnSpPr>
        <cdr:cNvPr id="3" name="Straight Connector 2">
          <a:extLst xmlns:a="http://schemas.openxmlformats.org/drawingml/2006/main">
            <a:ext uri="{FF2B5EF4-FFF2-40B4-BE49-F238E27FC236}">
              <a16:creationId xmlns:a16="http://schemas.microsoft.com/office/drawing/2014/main" id="{7533AE18-EC77-4865-B520-B50AE650AB00}"/>
            </a:ext>
          </a:extLst>
        </cdr:cNvPr>
        <cdr:cNvCxnSpPr/>
      </cdr:nvCxnSpPr>
      <cdr:spPr>
        <a:xfrm xmlns:a="http://schemas.openxmlformats.org/drawingml/2006/main" flipH="1" flipV="1">
          <a:off x="3449793" y="426434"/>
          <a:ext cx="64395" cy="3515932"/>
        </a:xfrm>
        <a:prstGeom xmlns:a="http://schemas.openxmlformats.org/drawingml/2006/main" prst="line">
          <a:avLst/>
        </a:prstGeom>
        <a:ln xmlns:a="http://schemas.openxmlformats.org/drawingml/2006/main" w="25400">
          <a:solidFill>
            <a:srgbClr val="FF0000"/>
          </a:solidFill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0.90791</cdr:x>
      <cdr:y>0.09685</cdr:y>
    </cdr:from>
    <cdr:to>
      <cdr:x>0.90791</cdr:x>
      <cdr:y>0.83694</cdr:y>
    </cdr:to>
    <cdr:cxnSp macro="">
      <cdr:nvCxnSpPr>
        <cdr:cNvPr id="4" name="Straight Connector 3">
          <a:extLst xmlns:a="http://schemas.openxmlformats.org/drawingml/2006/main">
            <a:ext uri="{FF2B5EF4-FFF2-40B4-BE49-F238E27FC236}">
              <a16:creationId xmlns:a16="http://schemas.microsoft.com/office/drawing/2014/main" id="{6DA5CFB5-C512-4C86-8BEE-2970DED7F845}"/>
            </a:ext>
          </a:extLst>
        </cdr:cNvPr>
        <cdr:cNvCxnSpPr/>
      </cdr:nvCxnSpPr>
      <cdr:spPr>
        <a:xfrm xmlns:a="http://schemas.openxmlformats.org/drawingml/2006/main" flipH="1" flipV="1">
          <a:off x="6125117" y="504519"/>
          <a:ext cx="1" cy="3855455"/>
        </a:xfrm>
        <a:prstGeom xmlns:a="http://schemas.openxmlformats.org/drawingml/2006/main" prst="line">
          <a:avLst/>
        </a:prstGeom>
        <a:ln xmlns:a="http://schemas.openxmlformats.org/drawingml/2006/main" w="25400">
          <a:solidFill>
            <a:srgbClr val="FF0000"/>
          </a:solidFill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0.24831</cdr:x>
      <cdr:y>0.67203</cdr:y>
    </cdr:from>
    <cdr:to>
      <cdr:x>0.3434</cdr:x>
      <cdr:y>0.71548</cdr:y>
    </cdr:to>
    <cdr:sp macro="" textlink="">
      <cdr:nvSpPr>
        <cdr:cNvPr id="8" name="TextBox 7"/>
        <cdr:cNvSpPr txBox="1"/>
      </cdr:nvSpPr>
      <cdr:spPr>
        <a:xfrm xmlns:a="http://schemas.openxmlformats.org/drawingml/2006/main">
          <a:off x="1496741" y="3166281"/>
          <a:ext cx="573206" cy="204716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en-IN" sz="1400" dirty="0"/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EB34A9-BF2B-4B68-AC6E-DCEC5D7C1D65}" type="datetimeFigureOut">
              <a:rPr lang="en-IN" smtClean="0"/>
              <a:t>25-01-2021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ECA50B-3A6C-4DA7-83B7-2B8FD0879B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90918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02F69459-31D3-7744-9B00-8C1529E425D9}" type="slidenum">
              <a:rPr lang="en-US" altLang="en-US" sz="1300">
                <a:latin typeface="Calibri" charset="0"/>
              </a:rPr>
              <a:pPr eaLnBrk="1" hangingPunct="1"/>
              <a:t>22</a:t>
            </a:fld>
            <a:endParaRPr lang="en-US" altLang="en-US" sz="1300">
              <a:latin typeface="Calibri" charset="0"/>
            </a:endParaRPr>
          </a:p>
        </p:txBody>
      </p:sp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644650" y="71438"/>
            <a:ext cx="3624263" cy="203993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295275" y="2192338"/>
            <a:ext cx="6581775" cy="76358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6635" tIns="48318" rIns="96635" bIns="48318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>
                <a:ea typeface="ＭＳ Ｐゴシック" charset="-128"/>
              </a:rPr>
              <a:t>Agenda for Session 6A</a:t>
            </a:r>
          </a:p>
          <a:p>
            <a:endParaRPr lang="en-US" altLang="en-US">
              <a:ea typeface="ＭＳ Ｐゴシック" charset="-128"/>
            </a:endParaRPr>
          </a:p>
          <a:p>
            <a:pPr>
              <a:buFontTx/>
              <a:buAutoNum type="arabicPeriod"/>
            </a:pPr>
            <a:r>
              <a:rPr lang="en-US" altLang="en-US">
                <a:ea typeface="ＭＳ Ｐゴシック" charset="-128"/>
              </a:rPr>
              <a:t>Recap (what is stronger evidence; method of solving the problem) – 20 min</a:t>
            </a:r>
          </a:p>
          <a:p>
            <a:pPr>
              <a:buFontTx/>
              <a:buAutoNum type="arabicPeriod"/>
            </a:pPr>
            <a:r>
              <a:rPr lang="en-US" altLang="en-US">
                <a:ea typeface="ＭＳ Ｐゴシック" charset="-128"/>
              </a:rPr>
              <a:t>Proportions (spam filter) – 30 min</a:t>
            </a:r>
          </a:p>
          <a:p>
            <a:pPr>
              <a:buFontTx/>
              <a:buAutoNum type="arabicPeriod"/>
            </a:pPr>
            <a:r>
              <a:rPr lang="en-US" altLang="en-US">
                <a:ea typeface="ＭＳ Ｐゴシック" charset="-128"/>
              </a:rPr>
              <a:t>Break – 5 min</a:t>
            </a:r>
          </a:p>
          <a:p>
            <a:pPr>
              <a:buFontTx/>
              <a:buAutoNum type="arabicPeriod"/>
            </a:pPr>
            <a:r>
              <a:rPr lang="en-US" altLang="en-US">
                <a:ea typeface="ＭＳ Ｐゴシック" charset="-128"/>
              </a:rPr>
              <a:t>Two tailed test (process control) – 30 min</a:t>
            </a:r>
          </a:p>
          <a:p>
            <a:pPr>
              <a:buFontTx/>
              <a:buAutoNum type="arabicPeriod"/>
            </a:pPr>
            <a:r>
              <a:rPr lang="en-US" altLang="en-US">
                <a:ea typeface="ＭＳ Ｐゴシック" charset="-128"/>
              </a:rPr>
              <a:t>Midterm summary – 15 min</a:t>
            </a:r>
          </a:p>
          <a:p>
            <a:pPr>
              <a:buFontTx/>
              <a:buAutoNum type="arabicPeriod"/>
            </a:pPr>
            <a:r>
              <a:rPr lang="en-US" altLang="en-US">
                <a:ea typeface="ＭＳ Ｐゴシック" charset="-128"/>
              </a:rPr>
              <a:t>Correlation and covariance – 30 min</a:t>
            </a:r>
          </a:p>
        </p:txBody>
      </p:sp>
      <p:sp>
        <p:nvSpPr>
          <p:cNvPr id="39940" name="Slide Number Placeholder 3"/>
          <p:cNvSpPr txBox="1">
            <a:spLocks noGrp="1"/>
          </p:cNvSpPr>
          <p:nvPr/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635" tIns="48318" rIns="96635" bIns="48318" anchor="b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r" eaLnBrk="1" hangingPunct="1"/>
            <a:fld id="{B5293667-3B9A-BC4A-BACA-5E5DFDD30D84}" type="slidenum">
              <a:rPr lang="en-US" altLang="en-US" sz="1300"/>
              <a:pPr algn="r" eaLnBrk="1" hangingPunct="1"/>
              <a:t>22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14213735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198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>
              <a:ea typeface="ＭＳ Ｐゴシック" charset="-128"/>
            </a:endParaRPr>
          </a:p>
        </p:txBody>
      </p:sp>
      <p:sp>
        <p:nvSpPr>
          <p:cNvPr id="419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108F7531-9D64-BF4E-9FA0-C532859F953E}" type="slidenum">
              <a:rPr lang="en-US" altLang="en-US" sz="1300">
                <a:latin typeface="Calibri" charset="0"/>
              </a:rPr>
              <a:pPr eaLnBrk="1" hangingPunct="1"/>
              <a:t>23</a:t>
            </a:fld>
            <a:endParaRPr lang="en-US" altLang="en-US" sz="130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07133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5837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>
              <a:ea typeface="ＭＳ Ｐゴシック" charset="-128"/>
            </a:endParaRPr>
          </a:p>
        </p:txBody>
      </p:sp>
      <p:sp>
        <p:nvSpPr>
          <p:cNvPr id="5837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40EB382A-9243-554C-BB61-06C0B8EFBA4A}" type="slidenum">
              <a:rPr lang="en-US" altLang="en-US" sz="1300">
                <a:latin typeface="Calibri" charset="0"/>
              </a:rPr>
              <a:pPr eaLnBrk="1" hangingPunct="1"/>
              <a:t>27</a:t>
            </a:fld>
            <a:endParaRPr lang="en-US" altLang="en-US" sz="130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99568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990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286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741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1/25/2021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7266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1/25/2021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7755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1/25/2021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7981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1/25/2021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1273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1/25/2021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3622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1/25/2021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4806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07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903207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14145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012590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78914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80249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479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1/25/2021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306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  <p:sldLayoutId id="214748370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Hypothesis Test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87118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Revisit to “How Much to pack?”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48544" y="1930400"/>
                <a:ext cx="9458339" cy="3880773"/>
              </a:xfrm>
            </p:spPr>
            <p:txBody>
              <a:bodyPr>
                <a:noAutofit/>
              </a:bodyPr>
              <a:lstStyle/>
              <a:p>
                <a:r>
                  <a:rPr lang="en-IN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Akash set the filling machine to fill at an average of 1003.88 </a:t>
                </a:r>
                <a:r>
                  <a:rPr lang="en-IN" sz="2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gms</a:t>
                </a:r>
                <a:endParaRPr lang="en-IN" sz="2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IN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Does it mean that </a:t>
                </a:r>
                <a:r>
                  <a:rPr lang="el-GR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μ</a:t>
                </a:r>
                <a:r>
                  <a:rPr lang="en-IN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= 1003.88?</a:t>
                </a:r>
              </a:p>
              <a:p>
                <a:r>
                  <a:rPr lang="en-IN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We know </a:t>
                </a:r>
                <a:r>
                  <a:rPr lang="el-GR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σ</a:t>
                </a:r>
                <a:r>
                  <a:rPr lang="en-IN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= 5/3 </a:t>
                </a:r>
                <a:r>
                  <a:rPr lang="en-IN" sz="2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gms</a:t>
                </a:r>
                <a:endParaRPr lang="en-IN" sz="2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IN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Take a sample of 100 packets, each of 1000 </a:t>
                </a:r>
                <a:r>
                  <a:rPr lang="en-IN" sz="2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gms</a:t>
                </a:r>
                <a:r>
                  <a:rPr lang="en-IN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r>
                  <a:rPr lang="en-IN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Calculate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IN" sz="28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endParaRPr lang="en-IN" sz="2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IN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Can we conclude that </a:t>
                </a:r>
                <a:r>
                  <a:rPr lang="el-GR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μ</a:t>
                </a:r>
                <a:r>
                  <a:rPr lang="en-IN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= 1003.88 based on the value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IN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en-IN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?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8544" y="1930400"/>
                <a:ext cx="9458339" cy="3880773"/>
              </a:xfrm>
              <a:blipFill rotWithShape="0">
                <a:blip r:embed="rId2"/>
                <a:stretch>
                  <a:fillRect l="-838" t="-1572" b="-31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78420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Two possibilities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3150904"/>
              </p:ext>
            </p:extLst>
          </p:nvPr>
        </p:nvGraphicFramePr>
        <p:xfrm>
          <a:off x="4689122" y="2067238"/>
          <a:ext cx="458488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2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2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l-GR" sz="2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μ</a:t>
                      </a:r>
                      <a:r>
                        <a:rPr lang="en-IN" sz="2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= 1003.88</a:t>
                      </a:r>
                      <a:endParaRPr lang="en-IN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2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μ</a:t>
                      </a:r>
                      <a:r>
                        <a:rPr lang="en-IN" sz="2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≠ 1003.88</a:t>
                      </a:r>
                      <a:endParaRPr lang="en-IN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95953661"/>
              </p:ext>
            </p:extLst>
          </p:nvPr>
        </p:nvGraphicFramePr>
        <p:xfrm>
          <a:off x="4686976" y="1743120"/>
          <a:ext cx="458488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2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2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Hypothesis is true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Hypothesis is not True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25084" y="2864458"/>
                <a:ext cx="1927274" cy="2092881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IN" sz="2600" dirty="0"/>
                  <a:t>Two More Possibilities</a:t>
                </a:r>
              </a:p>
              <a:p>
                <a:r>
                  <a:rPr lang="en-IN" sz="2600" dirty="0"/>
                  <a:t>Based on the value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IN" sz="2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6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en-IN" sz="2600" dirty="0"/>
                  <a:t> 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084" y="2864458"/>
                <a:ext cx="1927274" cy="2092881"/>
              </a:xfrm>
              <a:prstGeom prst="rect">
                <a:avLst/>
              </a:prstGeom>
              <a:blipFill rotWithShape="0">
                <a:blip r:embed="rId2"/>
                <a:stretch>
                  <a:fillRect l="-5696" t="-2624" r="-3165" b="-641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6046832"/>
              </p:ext>
            </p:extLst>
          </p:nvPr>
        </p:nvGraphicFramePr>
        <p:xfrm>
          <a:off x="2318197" y="1749976"/>
          <a:ext cx="2343955" cy="41584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39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12920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Based on the value of sample mean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849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97039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3655220"/>
              </p:ext>
            </p:extLst>
          </p:nvPr>
        </p:nvGraphicFramePr>
        <p:xfrm>
          <a:off x="2318197" y="2548466"/>
          <a:ext cx="2321059" cy="16718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10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7184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Conclude that 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l-GR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μ</a:t>
                      </a:r>
                      <a:r>
                        <a:rPr kumimoji="0" lang="en-IN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= 1003.88</a:t>
                      </a:r>
                      <a:endParaRPr kumimoji="0" lang="en-IN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IN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2174406"/>
              </p:ext>
            </p:extLst>
          </p:nvPr>
        </p:nvGraphicFramePr>
        <p:xfrm>
          <a:off x="2318197" y="4234244"/>
          <a:ext cx="2338298" cy="17163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82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16389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dirty="0">
                          <a:solidFill>
                            <a:srgbClr val="FF0000"/>
                          </a:solidFill>
                        </a:rPr>
                        <a:t>Conclude</a:t>
                      </a:r>
                      <a:r>
                        <a:rPr lang="en-IN" sz="2800" baseline="0" dirty="0">
                          <a:solidFill>
                            <a:srgbClr val="FF0000"/>
                          </a:solidFill>
                        </a:rPr>
                        <a:t> that </a:t>
                      </a: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2800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μ</a:t>
                      </a:r>
                      <a:r>
                        <a:rPr lang="en-IN" sz="2800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≠1003.88</a:t>
                      </a:r>
                      <a:endParaRPr lang="en-IN" sz="2800" dirty="0">
                        <a:solidFill>
                          <a:srgbClr val="FF0000"/>
                        </a:solidFill>
                      </a:endParaRPr>
                    </a:p>
                    <a:p>
                      <a:endParaRPr lang="en-IN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2759617"/>
              </p:ext>
            </p:extLst>
          </p:nvPr>
        </p:nvGraphicFramePr>
        <p:xfrm>
          <a:off x="4671301" y="2588456"/>
          <a:ext cx="2320342" cy="16740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03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74055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2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GOOD Decision</a:t>
                      </a:r>
                    </a:p>
                    <a:p>
                      <a:endParaRPr lang="en-IN" dirty="0"/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2745524"/>
              </p:ext>
            </p:extLst>
          </p:nvPr>
        </p:nvGraphicFramePr>
        <p:xfrm>
          <a:off x="6991643" y="4257690"/>
          <a:ext cx="2282359" cy="17163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23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16389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2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GOOD Decision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9315936"/>
              </p:ext>
            </p:extLst>
          </p:nvPr>
        </p:nvGraphicFramePr>
        <p:xfrm>
          <a:off x="4642338" y="4262510"/>
          <a:ext cx="2321169" cy="17163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11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16389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BAD Decision</a:t>
                      </a:r>
                    </a:p>
                    <a:p>
                      <a:endParaRPr lang="en-IN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9234579"/>
              </p:ext>
            </p:extLst>
          </p:nvPr>
        </p:nvGraphicFramePr>
        <p:xfrm>
          <a:off x="7002896" y="2602523"/>
          <a:ext cx="2271106" cy="16740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1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74055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BAD Decision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2318197" y="6168980"/>
            <a:ext cx="6955805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rgbClr val="7030A0"/>
                </a:solidFill>
              </a:rPr>
              <a:t>Both </a:t>
            </a:r>
            <a:r>
              <a:rPr lang="el-GR" sz="2400" dirty="0">
                <a:solidFill>
                  <a:srgbClr val="7030A0"/>
                </a:solidFill>
              </a:rPr>
              <a:t>α</a:t>
            </a:r>
            <a:r>
              <a:rPr lang="en-IN" sz="2400" dirty="0">
                <a:solidFill>
                  <a:srgbClr val="7030A0"/>
                </a:solidFill>
              </a:rPr>
              <a:t> and </a:t>
            </a:r>
            <a:r>
              <a:rPr lang="el-GR" sz="2400" dirty="0">
                <a:solidFill>
                  <a:srgbClr val="7030A0"/>
                </a:solidFill>
              </a:rPr>
              <a:t>β</a:t>
            </a:r>
            <a:r>
              <a:rPr lang="en-IN" sz="2400" dirty="0">
                <a:solidFill>
                  <a:srgbClr val="7030A0"/>
                </a:solidFill>
              </a:rPr>
              <a:t> are conditional probabilities!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9634188"/>
              </p:ext>
            </p:extLst>
          </p:nvPr>
        </p:nvGraphicFramePr>
        <p:xfrm>
          <a:off x="4635514" y="4234375"/>
          <a:ext cx="2321169" cy="17163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11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16389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BAD Decision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Type I Error</a:t>
                      </a:r>
                    </a:p>
                    <a:p>
                      <a:endParaRPr lang="en-IN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8488115"/>
              </p:ext>
            </p:extLst>
          </p:nvPr>
        </p:nvGraphicFramePr>
        <p:xfrm>
          <a:off x="4635514" y="4248443"/>
          <a:ext cx="2321169" cy="17163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11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16389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BAD Decision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Type I Error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2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Prob</a:t>
                      </a:r>
                      <a:r>
                        <a:rPr kumimoji="0" lang="en-IN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kumimoji="0" lang="el-GR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α</a:t>
                      </a:r>
                      <a:endParaRPr kumimoji="0" lang="en-IN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IN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5323071"/>
              </p:ext>
            </p:extLst>
          </p:nvPr>
        </p:nvGraphicFramePr>
        <p:xfrm>
          <a:off x="7002896" y="2569037"/>
          <a:ext cx="2271106" cy="16740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1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74055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BAD Decision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Type II Error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5566886"/>
              </p:ext>
            </p:extLst>
          </p:nvPr>
        </p:nvGraphicFramePr>
        <p:xfrm>
          <a:off x="7002896" y="2588455"/>
          <a:ext cx="2271106" cy="16740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1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74055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BAD Decision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Type II Error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2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Prob</a:t>
                      </a:r>
                      <a:r>
                        <a:rPr kumimoji="0" lang="en-IN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kumimoji="0" lang="el-GR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β</a:t>
                      </a:r>
                      <a:endParaRPr kumimoji="0" lang="en-IN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2530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0724" y="187569"/>
            <a:ext cx="8596668" cy="670560"/>
          </a:xfrm>
        </p:spPr>
        <p:txBody>
          <a:bodyPr>
            <a:normAutofit fontScale="90000"/>
          </a:bodyPr>
          <a:lstStyle/>
          <a:p>
            <a:r>
              <a:rPr lang="en-IN" dirty="0"/>
              <a:t>Distribution of Sample Mean|</a:t>
            </a:r>
            <a:r>
              <a:rPr lang="el-GR" dirty="0">
                <a:latin typeface="Calibri" panose="020F0502020204030204" pitchFamily="34" charset="0"/>
                <a:cs typeface="Calibri" panose="020F0502020204030204" pitchFamily="34" charset="0"/>
              </a:rPr>
              <a:t>μ</a:t>
            </a: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 = 1003.88</a:t>
            </a:r>
            <a:br>
              <a:rPr lang="en-IN" dirty="0"/>
            </a:b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5913653"/>
              </p:ext>
            </p:extLst>
          </p:nvPr>
        </p:nvGraphicFramePr>
        <p:xfrm>
          <a:off x="2016262" y="1757748"/>
          <a:ext cx="162846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8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l-GR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μ</a:t>
                      </a:r>
                      <a:r>
                        <a:rPr lang="en-I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= 1003.88</a:t>
                      </a:r>
                      <a:endParaRPr lang="en-IN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09813543"/>
              </p:ext>
            </p:extLst>
          </p:nvPr>
        </p:nvGraphicFramePr>
        <p:xfrm>
          <a:off x="2000047" y="1166344"/>
          <a:ext cx="162941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94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Hypothesis is true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8071857"/>
              </p:ext>
            </p:extLst>
          </p:nvPr>
        </p:nvGraphicFramePr>
        <p:xfrm>
          <a:off x="320585" y="1159133"/>
          <a:ext cx="1677027" cy="43976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70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43951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Based on the value of sample mean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0177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51884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8789733"/>
              </p:ext>
            </p:extLst>
          </p:nvPr>
        </p:nvGraphicFramePr>
        <p:xfrm>
          <a:off x="306517" y="2182705"/>
          <a:ext cx="1691095" cy="16718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7184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Conclude that 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l-GR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μ</a:t>
                      </a:r>
                      <a:r>
                        <a:rPr kumimoji="0" lang="en-IN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= 1003.88</a:t>
                      </a:r>
                      <a:endParaRPr kumimoji="0" lang="en-IN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IN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4267980"/>
              </p:ext>
            </p:extLst>
          </p:nvPr>
        </p:nvGraphicFramePr>
        <p:xfrm>
          <a:off x="306517" y="3840348"/>
          <a:ext cx="1691095" cy="17163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16389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>
                          <a:solidFill>
                            <a:srgbClr val="FF0000"/>
                          </a:solidFill>
                        </a:rPr>
                        <a:t>Conclude</a:t>
                      </a:r>
                      <a:r>
                        <a:rPr lang="en-IN" sz="2400" baseline="0" dirty="0">
                          <a:solidFill>
                            <a:srgbClr val="FF0000"/>
                          </a:solidFill>
                        </a:rPr>
                        <a:t> that </a:t>
                      </a:r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2400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μ</a:t>
                      </a:r>
                      <a:r>
                        <a:rPr lang="en-IN" sz="2400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≠1003.88</a:t>
                      </a:r>
                      <a:endParaRPr lang="en-IN" sz="2400" dirty="0">
                        <a:solidFill>
                          <a:srgbClr val="FF0000"/>
                        </a:solidFill>
                      </a:endParaRPr>
                    </a:p>
                    <a:p>
                      <a:endParaRPr lang="en-IN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1774279"/>
              </p:ext>
            </p:extLst>
          </p:nvPr>
        </p:nvGraphicFramePr>
        <p:xfrm>
          <a:off x="1997613" y="2152356"/>
          <a:ext cx="1631852" cy="17303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18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30327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2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GOOD Decision</a:t>
                      </a:r>
                    </a:p>
                    <a:p>
                      <a:endParaRPr lang="en-IN" dirty="0"/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3308099"/>
              </p:ext>
            </p:extLst>
          </p:nvPr>
        </p:nvGraphicFramePr>
        <p:xfrm>
          <a:off x="1990788" y="3840479"/>
          <a:ext cx="1652744" cy="17163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27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16389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BAD Decision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Type I Error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2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Prob</a:t>
                      </a:r>
                      <a:r>
                        <a:rPr kumimoji="0" lang="en-IN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kumimoji="0" lang="el-GR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α</a:t>
                      </a:r>
                      <a:endParaRPr kumimoji="0" lang="en-I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IN" sz="2000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0" name="Chart 1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25200359"/>
              </p:ext>
            </p:extLst>
          </p:nvPr>
        </p:nvGraphicFramePr>
        <p:xfrm>
          <a:off x="3887664" y="858129"/>
          <a:ext cx="6100397" cy="51105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7153422" y="1797623"/>
                <a:ext cx="1926361" cy="5778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acc>
                            <m:accPr>
                              <m:chr m:val="̅"/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×1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3422" y="1797623"/>
                <a:ext cx="1926361" cy="57785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9633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0" grpId="0">
        <p:bldAsOne/>
      </p:bldGraphic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7672" y="159434"/>
            <a:ext cx="8596668" cy="797169"/>
          </a:xfrm>
        </p:spPr>
        <p:txBody>
          <a:bodyPr/>
          <a:lstStyle/>
          <a:p>
            <a:r>
              <a:rPr lang="en-IN" dirty="0"/>
              <a:t>Test (If the Hypothesis is True)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201172" y="1960736"/>
                <a:ext cx="1926361" cy="5778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acc>
                            <m:accPr>
                              <m:chr m:val="̅"/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×1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1172" y="1960736"/>
                <a:ext cx="1926361" cy="577850"/>
              </a:xfrm>
              <a:prstGeom prst="rect">
                <a:avLst/>
              </a:prstGeom>
              <a:blipFill rotWithShape="0">
                <a:blip r:embed="rId2"/>
                <a:stretch>
                  <a:fillRect b="-106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1081820" y="1776327"/>
            <a:ext cx="1416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α</a:t>
            </a:r>
            <a:r>
              <a:rPr lang="en-IN" dirty="0"/>
              <a:t> = 0.05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819" y="2249661"/>
            <a:ext cx="1416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Z = 1.96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1820" y="2740554"/>
            <a:ext cx="3799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LL = 1003.88 – 1.96*5/30= 1003.55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1820" y="3231447"/>
            <a:ext cx="3799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UL = 1003.88 + 1.96*5/30=1004.21</a:t>
            </a:r>
          </a:p>
        </p:txBody>
      </p:sp>
      <p:graphicFrame>
        <p:nvGraphicFramePr>
          <p:cNvPr id="14" name="Chart 1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32862394"/>
              </p:ext>
            </p:extLst>
          </p:nvPr>
        </p:nvGraphicFramePr>
        <p:xfrm>
          <a:off x="4031088" y="973489"/>
          <a:ext cx="5760881" cy="52545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16" name="Straight Connector 15"/>
          <p:cNvCxnSpPr/>
          <p:nvPr/>
        </p:nvCxnSpPr>
        <p:spPr>
          <a:xfrm flipV="1">
            <a:off x="5834130" y="2618993"/>
            <a:ext cx="74301" cy="2803013"/>
          </a:xfrm>
          <a:prstGeom prst="line">
            <a:avLst/>
          </a:prstGeom>
          <a:ln w="222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7954521" y="2618993"/>
            <a:ext cx="29752" cy="2803013"/>
          </a:xfrm>
          <a:prstGeom prst="line">
            <a:avLst/>
          </a:prstGeom>
          <a:ln w="222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78372" y="4177862"/>
            <a:ext cx="3409667" cy="923330"/>
          </a:xfrm>
          <a:prstGeom prst="rect">
            <a:avLst/>
          </a:prstGeom>
          <a:solidFill>
            <a:srgbClr val="FFFF00"/>
          </a:solidFill>
          <a:ln w="1270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There is a 95% chance that sample mean will lie between 1003.55 and 1004.21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39559" y="2249661"/>
            <a:ext cx="993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1003.55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35828" y="2618993"/>
            <a:ext cx="993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1004.21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89348" y="4639527"/>
            <a:ext cx="7468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0.025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64352" y="4639527"/>
            <a:ext cx="7468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0.025</a:t>
            </a:r>
          </a:p>
        </p:txBody>
      </p:sp>
      <p:cxnSp>
        <p:nvCxnSpPr>
          <p:cNvPr id="26" name="Straight Arrow Connector 25"/>
          <p:cNvCxnSpPr>
            <a:stCxn id="23" idx="2"/>
          </p:cNvCxnSpPr>
          <p:nvPr/>
        </p:nvCxnSpPr>
        <p:spPr>
          <a:xfrm>
            <a:off x="5262760" y="4978081"/>
            <a:ext cx="510199" cy="3450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24" idx="2"/>
          </p:cNvCxnSpPr>
          <p:nvPr/>
        </p:nvCxnSpPr>
        <p:spPr>
          <a:xfrm flipH="1">
            <a:off x="8010948" y="4978081"/>
            <a:ext cx="526816" cy="3450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1750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  <p:bldP spid="7" grpId="0"/>
      <p:bldP spid="9" grpId="0"/>
      <p:bldP spid="12" grpId="0"/>
      <p:bldGraphic spid="14" grpId="0">
        <p:bldAsOne/>
      </p:bldGraphic>
      <p:bldP spid="20" grpId="0" animBg="1"/>
      <p:bldP spid="21" grpId="0"/>
      <p:bldP spid="22" grpId="0"/>
      <p:bldP spid="23" grpId="0"/>
      <p:bldP spid="2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568" y="131039"/>
            <a:ext cx="8596668" cy="762000"/>
          </a:xfrm>
        </p:spPr>
        <p:txBody>
          <a:bodyPr/>
          <a:lstStyle/>
          <a:p>
            <a:r>
              <a:rPr lang="en-IN" dirty="0"/>
              <a:t>Calculation of Type II Error (probability)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0783" y="5034185"/>
            <a:ext cx="2554014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Our Decision Rule:</a:t>
            </a:r>
          </a:p>
          <a:p>
            <a:pPr algn="ctr"/>
            <a:r>
              <a:rPr lang="en-IN" dirty="0"/>
              <a:t>“Accept” if sample mean is between 1003.55 and 1004.21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1568" y="846872"/>
            <a:ext cx="23651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We are looking at the Second Column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0783" y="6234514"/>
            <a:ext cx="2554014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Say, µ = 1004.18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9677" y="4387854"/>
            <a:ext cx="2176225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We do not know the value of </a:t>
            </a:r>
            <a:r>
              <a:rPr lang="el-GR" dirty="0"/>
              <a:t>μ</a:t>
            </a:r>
            <a:endParaRPr lang="en-IN" dirty="0"/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94731594"/>
              </p:ext>
            </p:extLst>
          </p:nvPr>
        </p:nvGraphicFramePr>
        <p:xfrm>
          <a:off x="1717566" y="1907133"/>
          <a:ext cx="214498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49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l-GR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μ</a:t>
                      </a:r>
                      <a:r>
                        <a:rPr lang="en-I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≠ 1003.88</a:t>
                      </a:r>
                      <a:endParaRPr lang="en-IN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93168069"/>
              </p:ext>
            </p:extLst>
          </p:nvPr>
        </p:nvGraphicFramePr>
        <p:xfrm>
          <a:off x="1717565" y="1519755"/>
          <a:ext cx="214498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49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Hypothesis is not True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5674402"/>
              </p:ext>
            </p:extLst>
          </p:nvPr>
        </p:nvGraphicFramePr>
        <p:xfrm>
          <a:off x="1705732" y="3260998"/>
          <a:ext cx="2156527" cy="10797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65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079709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GOOD Decision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3513132"/>
              </p:ext>
            </p:extLst>
          </p:nvPr>
        </p:nvGraphicFramePr>
        <p:xfrm>
          <a:off x="1749244" y="2348459"/>
          <a:ext cx="2097542" cy="9594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75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59487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BAD Decision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Type II Error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Prob</a:t>
                      </a:r>
                      <a:r>
                        <a:rPr kumimoji="0" lang="en-I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kumimoji="0" lang="el-G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β</a:t>
                      </a:r>
                      <a:endPara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5126437"/>
              </p:ext>
            </p:extLst>
          </p:nvPr>
        </p:nvGraphicFramePr>
        <p:xfrm>
          <a:off x="347214" y="1519756"/>
          <a:ext cx="1323637" cy="22926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36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83700"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Based on the value of sample mean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4184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551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0775077"/>
              </p:ext>
            </p:extLst>
          </p:nvPr>
        </p:nvGraphicFramePr>
        <p:xfrm>
          <a:off x="330783" y="2348705"/>
          <a:ext cx="1418897" cy="9199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88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1994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Conclude that 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l-GR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μ</a:t>
                      </a:r>
                      <a:r>
                        <a:rPr kumimoji="0" lang="en-IN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= 1003.88</a:t>
                      </a:r>
                      <a:endParaRPr lang="en-IN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1355585"/>
              </p:ext>
            </p:extLst>
          </p:nvPr>
        </p:nvGraphicFramePr>
        <p:xfrm>
          <a:off x="362314" y="3294499"/>
          <a:ext cx="1418896" cy="106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88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88554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solidFill>
                            <a:srgbClr val="FF0000"/>
                          </a:solidFill>
                        </a:rPr>
                        <a:t>Conclude</a:t>
                      </a:r>
                      <a:r>
                        <a:rPr lang="en-IN" sz="1600" baseline="0" dirty="0">
                          <a:solidFill>
                            <a:srgbClr val="FF0000"/>
                          </a:solidFill>
                        </a:rPr>
                        <a:t> that </a:t>
                      </a: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600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μ</a:t>
                      </a:r>
                      <a:r>
                        <a:rPr lang="en-IN" sz="1600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≠1003.88</a:t>
                      </a:r>
                      <a:endParaRPr lang="en-IN" sz="1600" dirty="0">
                        <a:solidFill>
                          <a:srgbClr val="FF0000"/>
                        </a:solidFill>
                      </a:endParaRPr>
                    </a:p>
                    <a:p>
                      <a:endParaRPr lang="en-IN" sz="1600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" name="Chart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37164820"/>
              </p:ext>
            </p:extLst>
          </p:nvPr>
        </p:nvGraphicFramePr>
        <p:xfrm>
          <a:off x="3841530" y="846872"/>
          <a:ext cx="6406055" cy="57569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18" name="Straight Connector 17"/>
          <p:cNvCxnSpPr/>
          <p:nvPr/>
        </p:nvCxnSpPr>
        <p:spPr>
          <a:xfrm flipH="1" flipV="1">
            <a:off x="5239115" y="1907628"/>
            <a:ext cx="31531" cy="383708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H="1" flipV="1">
            <a:off x="7436069" y="1896847"/>
            <a:ext cx="31531" cy="383708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640025" y="1482352"/>
            <a:ext cx="1198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1003.55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6894" y="1482352"/>
            <a:ext cx="1198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1004.21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75986" y="2711669"/>
            <a:ext cx="1103586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dirty="0"/>
              <a:t>0.5713</a:t>
            </a:r>
          </a:p>
        </p:txBody>
      </p:sp>
      <p:cxnSp>
        <p:nvCxnSpPr>
          <p:cNvPr id="25" name="Straight Arrow Connector 24"/>
          <p:cNvCxnSpPr/>
          <p:nvPr/>
        </p:nvCxnSpPr>
        <p:spPr>
          <a:xfrm flipH="1">
            <a:off x="6579220" y="3081001"/>
            <a:ext cx="2848559" cy="1306853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78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 animBg="1"/>
      <p:bldP spid="6" grpId="0" animBg="1"/>
      <p:bldGraphic spid="16" grpId="0">
        <p:bldAsOne/>
      </p:bldGraphic>
      <p:bldP spid="21" grpId="0"/>
      <p:bldP spid="22" grpId="0"/>
      <p:bldP spid="2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39372"/>
          </a:xfrm>
        </p:spPr>
        <p:txBody>
          <a:bodyPr/>
          <a:lstStyle/>
          <a:p>
            <a:r>
              <a:rPr lang="en-IN" dirty="0"/>
              <a:t>Consider </a:t>
            </a:r>
            <a:r>
              <a:rPr lang="el-GR" dirty="0"/>
              <a:t>μ</a:t>
            </a:r>
            <a:r>
              <a:rPr lang="en-IN" dirty="0"/>
              <a:t> = 1003.48</a:t>
            </a:r>
          </a:p>
        </p:txBody>
      </p:sp>
      <p:graphicFrame>
        <p:nvGraphicFramePr>
          <p:cNvPr id="3" name="Chart 2"/>
          <p:cNvGraphicFramePr>
            <a:graphicFrameLocks/>
          </p:cNvGraphicFramePr>
          <p:nvPr/>
        </p:nvGraphicFramePr>
        <p:xfrm>
          <a:off x="1173721" y="1448972"/>
          <a:ext cx="6746389" cy="52094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975668" y="1659988"/>
            <a:ext cx="1153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1003.55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2327" y="3924886"/>
            <a:ext cx="928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0.3299</a:t>
            </a:r>
          </a:p>
        </p:txBody>
      </p:sp>
      <p:cxnSp>
        <p:nvCxnSpPr>
          <p:cNvPr id="7" name="Straight Arrow Connector 6"/>
          <p:cNvCxnSpPr>
            <a:stCxn id="5" idx="2"/>
          </p:cNvCxnSpPr>
          <p:nvPr/>
        </p:nvCxnSpPr>
        <p:spPr>
          <a:xfrm flipH="1">
            <a:off x="5373858" y="4294218"/>
            <a:ext cx="1392703" cy="1093708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8B57DE2-96AE-43F1-BA9A-F897DE20D076}"/>
              </a:ext>
            </a:extLst>
          </p:cNvPr>
          <p:cNvSpPr txBox="1"/>
          <p:nvPr/>
        </p:nvSpPr>
        <p:spPr>
          <a:xfrm>
            <a:off x="7129030" y="1643576"/>
            <a:ext cx="1153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1004.21</a:t>
            </a:r>
          </a:p>
        </p:txBody>
      </p:sp>
    </p:spTree>
    <p:extLst>
      <p:ext uri="{BB962C8B-B14F-4D97-AF65-F5344CB8AC3E}">
        <p14:creationId xmlns:p14="http://schemas.microsoft.com/office/powerpoint/2010/main" val="20005235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Calculate </a:t>
            </a:r>
            <a:r>
              <a:rPr lang="el-GR" sz="2400" dirty="0"/>
              <a:t>β</a:t>
            </a:r>
            <a:r>
              <a:rPr lang="en-IN" sz="2400" dirty="0"/>
              <a:t> and 1 – </a:t>
            </a:r>
            <a:r>
              <a:rPr lang="el-GR" sz="2400" dirty="0"/>
              <a:t>β</a:t>
            </a:r>
            <a:r>
              <a:rPr lang="en-IN" sz="2400" dirty="0"/>
              <a:t> for </a:t>
            </a:r>
            <a:r>
              <a:rPr lang="el-GR" sz="2400" dirty="0"/>
              <a:t>α</a:t>
            </a:r>
            <a:r>
              <a:rPr lang="en-IN" sz="2400" dirty="0"/>
              <a:t> = 0.10 and 0.01 </a:t>
            </a:r>
          </a:p>
          <a:p>
            <a:pPr lvl="1"/>
            <a:r>
              <a:rPr lang="en-IN" sz="2200" dirty="0"/>
              <a:t>with n =100 and n= 1000.</a:t>
            </a:r>
          </a:p>
          <a:p>
            <a:pPr lvl="1"/>
            <a:r>
              <a:rPr lang="en-IN" sz="2200" dirty="0"/>
              <a:t>Plot the behaviour </a:t>
            </a:r>
            <a:r>
              <a:rPr lang="en-IN" sz="2200"/>
              <a:t>of 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42287099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5961"/>
            <a:ext cx="8596668" cy="1320800"/>
          </a:xfrm>
        </p:spPr>
        <p:txBody>
          <a:bodyPr/>
          <a:lstStyle/>
          <a:p>
            <a:r>
              <a:rPr lang="en-IN" dirty="0"/>
              <a:t>Case: Is </a:t>
            </a:r>
            <a:r>
              <a:rPr lang="en-IN" dirty="0" err="1"/>
              <a:t>Medworld</a:t>
            </a:r>
            <a:r>
              <a:rPr lang="en-IN" dirty="0"/>
              <a:t> Cheating?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77334" y="1184856"/>
                <a:ext cx="8596668" cy="4958366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IN" sz="2400" dirty="0"/>
                  <a:t>H0 :	µ =	100</a:t>
                </a:r>
              </a:p>
              <a:p>
                <a:r>
                  <a:rPr lang="en-IN" sz="2400" dirty="0"/>
                  <a:t>H1 :	µ ≠	100</a:t>
                </a:r>
              </a:p>
              <a:p>
                <a:r>
                  <a:rPr lang="en-IN" sz="2400" dirty="0"/>
                  <a:t>Variance= </a:t>
                </a:r>
                <a:r>
                  <a:rPr lang="el-GR" sz="2400" dirty="0"/>
                  <a:t>σ</a:t>
                </a:r>
                <a:r>
                  <a:rPr lang="el-GR" sz="2400" baseline="50000" dirty="0"/>
                  <a:t>2</a:t>
                </a:r>
                <a:r>
                  <a:rPr lang="el-GR" sz="2400" dirty="0"/>
                  <a:t>=	12.25	</a:t>
                </a:r>
              </a:p>
              <a:p>
                <a:r>
                  <a:rPr lang="en-IN" sz="2400" dirty="0" err="1"/>
                  <a:t>Std</a:t>
                </a:r>
                <a:r>
                  <a:rPr lang="en-IN" sz="2400" dirty="0"/>
                  <a:t> Dev = </a:t>
                </a:r>
                <a:r>
                  <a:rPr lang="el-GR" sz="2400" dirty="0"/>
                  <a:t>σ =	3.5	</a:t>
                </a:r>
              </a:p>
              <a:p>
                <a:r>
                  <a:rPr lang="en-IN" sz="2400" dirty="0"/>
                  <a:t>Average=	99.2143	</a:t>
                </a:r>
              </a:p>
              <a:p>
                <a:r>
                  <a:rPr lang="el-GR" sz="2400" dirty="0"/>
                  <a:t>α</a:t>
                </a:r>
                <a:r>
                  <a:rPr lang="en-IN" sz="2400" dirty="0"/>
                  <a:t> =</a:t>
                </a:r>
                <a:r>
                  <a:rPr lang="el-GR" sz="2400" dirty="0"/>
                  <a:t>	</a:t>
                </a:r>
                <a:r>
                  <a:rPr lang="en-IN" sz="2400" dirty="0"/>
                  <a:t>0.05</a:t>
                </a:r>
                <a:r>
                  <a:rPr lang="el-GR" sz="2400" dirty="0"/>
                  <a:t>	</a:t>
                </a:r>
                <a:r>
                  <a:rPr lang="en-IN" sz="2400" dirty="0">
                    <a:sym typeface="Wingdings" panose="05000000000000000000" pitchFamily="2" charset="2"/>
                  </a:rPr>
                  <a:t> </a:t>
                </a:r>
                <a:r>
                  <a:rPr lang="en-IN" sz="2400" dirty="0"/>
                  <a:t>z-Value = 1.96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acc>
                          <m:accPr>
                            <m:chr m:val="̅"/>
                            <m:ctrlPr>
                              <a:rPr lang="en-IN" sz="32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3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sub>
                    </m:sSub>
                  </m:oMath>
                </a14:m>
                <a:r>
                  <a:rPr lang="en-IN" sz="2400" dirty="0"/>
                  <a:t>  0.49497	</a:t>
                </a:r>
              </a:p>
              <a:p>
                <a:r>
                  <a:rPr lang="en-IN" sz="2400" dirty="0"/>
                  <a:t>LL = 100 – 1.96*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acc>
                          <m:accPr>
                            <m:chr m:val="̅"/>
                            <m:ctrlPr>
                              <a:rPr lang="en-IN" sz="2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sub>
                    </m:sSub>
                    <m:r>
                      <a:rPr lang="en-IN" sz="28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/>
                  <a:t>= 99.0298	</a:t>
                </a:r>
              </a:p>
              <a:p>
                <a:r>
                  <a:rPr lang="en-IN" sz="2400" dirty="0"/>
                  <a:t>UL = 100 + 1.96*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acc>
                          <m:accPr>
                            <m:chr m:val="̅"/>
                            <m:ctrlPr>
                              <a:rPr lang="en-IN" sz="2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sub>
                    </m:sSub>
                    <m:r>
                      <a:rPr lang="en-IN" sz="28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/>
                  <a:t>= 100.9702	</a:t>
                </a:r>
              </a:p>
              <a:p>
                <a:r>
                  <a:rPr lang="en-IN" sz="2400" dirty="0"/>
                  <a:t>Fail to Reject		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4" y="1184856"/>
                <a:ext cx="8596668" cy="4958366"/>
              </a:xfrm>
              <a:blipFill rotWithShape="0">
                <a:blip r:embed="rId2"/>
                <a:stretch>
                  <a:fillRect l="-567" t="-172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5493731" y="4448561"/>
            <a:ext cx="3955027" cy="954107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2540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800" dirty="0"/>
              <a:t>Sample mean lies between the two limits</a:t>
            </a:r>
          </a:p>
        </p:txBody>
      </p:sp>
    </p:spTree>
    <p:extLst>
      <p:ext uri="{BB962C8B-B14F-4D97-AF65-F5344CB8AC3E}">
        <p14:creationId xmlns:p14="http://schemas.microsoft.com/office/powerpoint/2010/main" val="3661449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Three other ways to Test the Hypothesis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20262" y="1619677"/>
                <a:ext cx="4265099" cy="4368999"/>
              </a:xfrm>
            </p:spPr>
            <p:txBody>
              <a:bodyPr>
                <a:normAutofit lnSpcReduction="10000"/>
              </a:bodyPr>
              <a:lstStyle/>
              <a:p>
                <a:pPr>
                  <a:buFont typeface="+mj-lt"/>
                  <a:buAutoNum type="arabicPeriod"/>
                </a:pPr>
                <a:r>
                  <a:rPr lang="en-IN" sz="2400" dirty="0"/>
                  <a:t>We have already done this!</a:t>
                </a:r>
              </a:p>
              <a:p>
                <a:r>
                  <a:rPr lang="en-IN" sz="2400" dirty="0"/>
                  <a:t>Build an Interval around µ</a:t>
                </a:r>
                <a:r>
                  <a:rPr lang="en-IN" sz="2400" baseline="-25000" dirty="0"/>
                  <a:t>0</a:t>
                </a:r>
                <a:r>
                  <a:rPr lang="en-IN" sz="2400" dirty="0"/>
                  <a:t> and see if sample mean falls within this</a:t>
                </a:r>
              </a:p>
              <a:p>
                <a:pPr>
                  <a:buFont typeface="+mj-lt"/>
                  <a:buAutoNum type="arabicPeriod" startAt="2"/>
                </a:pPr>
                <a:r>
                  <a:rPr lang="en-IN" sz="2400" dirty="0">
                    <a:solidFill>
                      <a:srgbClr val="002060"/>
                    </a:solidFill>
                  </a:rPr>
                  <a:t>Build an interval around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IN" sz="24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en-IN" sz="2400" dirty="0">
                    <a:solidFill>
                      <a:srgbClr val="002060"/>
                    </a:solidFill>
                  </a:rPr>
                  <a:t> and see if µ</a:t>
                </a:r>
                <a:r>
                  <a:rPr lang="en-IN" sz="2400" baseline="-25000" dirty="0">
                    <a:solidFill>
                      <a:srgbClr val="002060"/>
                    </a:solidFill>
                  </a:rPr>
                  <a:t>0</a:t>
                </a:r>
                <a:r>
                  <a:rPr lang="en-IN" sz="2400" dirty="0">
                    <a:solidFill>
                      <a:srgbClr val="002060"/>
                    </a:solidFill>
                  </a:rPr>
                  <a:t> falls within this</a:t>
                </a:r>
              </a:p>
              <a:p>
                <a:r>
                  <a:rPr lang="en-IN" sz="2400" dirty="0">
                    <a:solidFill>
                      <a:srgbClr val="002060"/>
                    </a:solidFill>
                  </a:rPr>
                  <a:t>   99.2143 ± 1.96*0.49497 = 98.2441 to 100.1844</a:t>
                </a:r>
              </a:p>
              <a:p>
                <a:r>
                  <a:rPr lang="en-IN" sz="2400" dirty="0">
                    <a:solidFill>
                      <a:srgbClr val="7030A0"/>
                    </a:solidFill>
                  </a:rPr>
                  <a:t>BOTH are mathematically identical!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0262" y="1619677"/>
                <a:ext cx="4265099" cy="4368999"/>
              </a:xfrm>
              <a:blipFill rotWithShape="0">
                <a:blip r:embed="rId2"/>
                <a:stretch>
                  <a:fillRect l="-1286" t="-1955" r="-45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624815"/>
              </p:ext>
            </p:extLst>
          </p:nvPr>
        </p:nvGraphicFramePr>
        <p:xfrm>
          <a:off x="4816699" y="1322936"/>
          <a:ext cx="5422005" cy="41763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6" name="Straight Connector 5"/>
          <p:cNvCxnSpPr/>
          <p:nvPr/>
        </p:nvCxnSpPr>
        <p:spPr>
          <a:xfrm flipV="1">
            <a:off x="6903076" y="1930400"/>
            <a:ext cx="0" cy="3002208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8096485" y="1930400"/>
            <a:ext cx="0" cy="3002208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978769" y="1619677"/>
            <a:ext cx="1026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99.0298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11788" y="1561068"/>
            <a:ext cx="1161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100.9702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6903076" y="4783015"/>
            <a:ext cx="1193409" cy="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6999911" y="4508962"/>
                <a:ext cx="1110047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4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×1.96×</m:t>
                      </m:r>
                      <m:sSub>
                        <m:sSubPr>
                          <m:ctrlPr>
                            <a:rPr lang="en-I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acc>
                            <m:accPr>
                              <m:chr m:val="̅"/>
                              <m:ctrlPr>
                                <a:rPr lang="en-I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sub>
                      </m:sSub>
                    </m:oMath>
                  </m:oMathPara>
                </a14:m>
                <a:endParaRPr lang="en-IN" sz="14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9911" y="4508962"/>
                <a:ext cx="1110047" cy="215444"/>
              </a:xfrm>
              <a:prstGeom prst="rect">
                <a:avLst/>
              </a:prstGeom>
              <a:blipFill rotWithShape="0">
                <a:blip r:embed="rId4"/>
                <a:stretch>
                  <a:fillRect l="-2747" r="-12088" b="-171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Connector 16"/>
          <p:cNvCxnSpPr/>
          <p:nvPr/>
        </p:nvCxnSpPr>
        <p:spPr>
          <a:xfrm>
            <a:off x="7104185" y="4960744"/>
            <a:ext cx="0" cy="680401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7076049" y="4932608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TextBox 20"/>
          <p:cNvSpPr txBox="1"/>
          <p:nvPr/>
        </p:nvSpPr>
        <p:spPr>
          <a:xfrm>
            <a:off x="8190790" y="5804010"/>
            <a:ext cx="1083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99.2143</a:t>
            </a:r>
          </a:p>
        </p:txBody>
      </p:sp>
      <p:cxnSp>
        <p:nvCxnSpPr>
          <p:cNvPr id="22" name="Straight Arrow Connector 21"/>
          <p:cNvCxnSpPr/>
          <p:nvPr/>
        </p:nvCxnSpPr>
        <p:spPr>
          <a:xfrm>
            <a:off x="6478702" y="5652868"/>
            <a:ext cx="1193409" cy="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6527211" y="5787344"/>
                <a:ext cx="1104405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4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×1.96×</m:t>
                      </m:r>
                      <m:sSub>
                        <m:sSubPr>
                          <m:ctrlPr>
                            <a:rPr lang="en-I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acc>
                            <m:accPr>
                              <m:chr m:val="̅"/>
                              <m:ctrlPr>
                                <a:rPr lang="en-I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sub>
                      </m:sSub>
                    </m:oMath>
                  </m:oMathPara>
                </a14:m>
                <a:endParaRPr lang="en-IN" sz="1400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7211" y="5787344"/>
                <a:ext cx="1104405" cy="215444"/>
              </a:xfrm>
              <a:prstGeom prst="rect">
                <a:avLst/>
              </a:prstGeom>
              <a:blipFill rotWithShape="0">
                <a:blip r:embed="rId5"/>
                <a:stretch>
                  <a:fillRect l="-2762" r="-12155" b="-1388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/>
          <p:cNvCxnSpPr/>
          <p:nvPr/>
        </p:nvCxnSpPr>
        <p:spPr>
          <a:xfrm>
            <a:off x="7121768" y="4978327"/>
            <a:ext cx="1107832" cy="873833"/>
          </a:xfrm>
          <a:prstGeom prst="straightConnector1">
            <a:avLst/>
          </a:prstGeom>
          <a:ln w="254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6313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5" grpId="0"/>
      <p:bldP spid="20" grpId="0" animBg="1"/>
      <p:bldP spid="21" grpId="0"/>
      <p:bldP spid="2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04648"/>
            <a:ext cx="10169342" cy="982717"/>
          </a:xfrm>
        </p:spPr>
        <p:txBody>
          <a:bodyPr/>
          <a:lstStyle/>
          <a:p>
            <a:r>
              <a:rPr lang="en-IN" dirty="0"/>
              <a:t>Three other ways (Continued)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77334" y="1387365"/>
                <a:ext cx="9917094" cy="5265683"/>
              </a:xfrm>
            </p:spPr>
            <p:txBody>
              <a:bodyPr>
                <a:normAutofit lnSpcReduction="10000"/>
              </a:bodyPr>
              <a:lstStyle/>
              <a:p>
                <a:pPr marL="514350" indent="-514350">
                  <a:buFont typeface="+mj-lt"/>
                  <a:buAutoNum type="arabicPeriod" startAt="3"/>
                </a:pPr>
                <a:r>
                  <a:rPr lang="en-IN" sz="2800" dirty="0"/>
                  <a:t>Convert to standard normal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𝑐𝑎𝑙𝑐</m:t>
                        </m:r>
                      </m:sub>
                    </m:sSub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IN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IN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  <m:r>
                              <a:rPr lang="en-IN" sz="28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IN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acc>
                              <m:accPr>
                                <m:chr m:val="̅"/>
                                <m:ctrlP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sub>
                        </m:sSub>
                      </m:den>
                    </m:f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(99.2143 −100)</m:t>
                        </m:r>
                      </m:num>
                      <m:den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0.49497</m:t>
                        </m:r>
                      </m:den>
                    </m:f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=−1.5875</m:t>
                    </m:r>
                  </m:oMath>
                </a14:m>
                <a:endParaRPr lang="en-IN" sz="2800" dirty="0"/>
              </a:p>
              <a:p>
                <a:r>
                  <a:rPr lang="en-IN" sz="2800" dirty="0"/>
                  <a:t>See if </a:t>
                </a:r>
                <a14:m>
                  <m:oMath xmlns:m="http://schemas.openxmlformats.org/officeDocument/2006/math">
                    <m:r>
                      <a:rPr lang="en-IN" sz="2800" b="0" i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IN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f>
                          <m:fPr>
                            <m:type m:val="skw"/>
                            <m:ctrlPr>
                              <a:rPr lang="en-IN" sz="28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num>
                          <m:den>
                            <m:r>
                              <a:rPr lang="en-IN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b>
                    </m:sSub>
                    <m:r>
                      <a:rPr lang="en-IN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I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I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𝐶𝑎𝑙𝑐</m:t>
                        </m:r>
                      </m:sub>
                    </m:sSub>
                    <m:r>
                      <a:rPr lang="en-I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 +</m:t>
                    </m:r>
                    <m:sSub>
                      <m:sSubPr>
                        <m:ctrlPr>
                          <a:rPr lang="en-I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f>
                          <m:fPr>
                            <m:type m:val="skw"/>
                            <m:ctrlPr>
                              <a:rPr lang="en-I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num>
                          <m:den>
                            <m:r>
                              <a:rPr lang="en-I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b>
                    </m:sSub>
                  </m:oMath>
                </a14:m>
                <a:r>
                  <a:rPr lang="en-IN" sz="2800" dirty="0"/>
                  <a:t> or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IN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800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IN" sz="2800" i="1">
                                <a:latin typeface="Cambria Math" panose="02040503050406030204" pitchFamily="18" charset="0"/>
                              </a:rPr>
                              <m:t>𝐶𝑎𝑙𝑐</m:t>
                            </m:r>
                          </m:sub>
                        </m:sSub>
                      </m:e>
                    </m:d>
                    <m:r>
                      <a:rPr lang="en-IN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I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f>
                          <m:fPr>
                            <m:type m:val="skw"/>
                            <m:ctrlPr>
                              <a:rPr lang="en-I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num>
                          <m:den>
                            <m:r>
                              <a:rPr lang="en-I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b>
                    </m:sSub>
                  </m:oMath>
                </a14:m>
                <a:endParaRPr lang="en-IN" sz="2800" dirty="0"/>
              </a:p>
              <a:p>
                <a:endParaRPr lang="en-IN" sz="2800" dirty="0"/>
              </a:p>
              <a:p>
                <a:pPr marL="514350" indent="-514350">
                  <a:buFont typeface="+mj-lt"/>
                  <a:buAutoNum type="arabicPeriod" startAt="4"/>
                </a:pPr>
                <a:r>
                  <a:rPr lang="en-IN" sz="2800" dirty="0"/>
                  <a:t>Calculate p-value</a:t>
                </a:r>
              </a:p>
              <a:p>
                <a:pPr lvl="1"/>
                <a:r>
                  <a:rPr lang="en-IN" sz="2600" dirty="0"/>
                  <a:t>Assume that you are going to reject H</a:t>
                </a:r>
                <a:r>
                  <a:rPr lang="en-IN" sz="2600" baseline="-25000" dirty="0"/>
                  <a:t>0</a:t>
                </a:r>
                <a:r>
                  <a:rPr lang="en-IN" sz="2600" dirty="0"/>
                  <a:t> based on the value of sample mean,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IN" sz="26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endParaRPr lang="en-IN" sz="2600" dirty="0"/>
              </a:p>
              <a:p>
                <a:pPr lvl="1"/>
                <a:r>
                  <a:rPr lang="en-IN" sz="2600" dirty="0"/>
                  <a:t>Calculate the probability of Type I error</a:t>
                </a:r>
              </a:p>
              <a:p>
                <a:pPr lvl="1"/>
                <a:r>
                  <a:rPr lang="en-IN" sz="2600" dirty="0"/>
                  <a:t>Adjust for Two-sided or One-sided test</a:t>
                </a:r>
              </a:p>
              <a:p>
                <a:pPr lvl="1"/>
                <a:r>
                  <a:rPr lang="en-IN" sz="2600" dirty="0"/>
                  <a:t>Compare with </a:t>
                </a:r>
                <a:r>
                  <a:rPr lang="el-GR" sz="2600" dirty="0"/>
                  <a:t>α</a:t>
                </a:r>
                <a:r>
                  <a:rPr lang="en-IN" sz="2600" dirty="0"/>
                  <a:t> and decide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4" y="1387365"/>
                <a:ext cx="9917094" cy="5265683"/>
              </a:xfrm>
              <a:blipFill rotWithShape="0">
                <a:blip r:embed="rId2"/>
                <a:stretch>
                  <a:fillRect l="-738" t="-1970" b="-92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4546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75602"/>
          </a:xfrm>
        </p:spPr>
        <p:txBody>
          <a:bodyPr/>
          <a:lstStyle/>
          <a:p>
            <a:r>
              <a:rPr lang="en-IN" dirty="0"/>
              <a:t>Calculation of p-value</a:t>
            </a:r>
          </a:p>
        </p:txBody>
      </p:sp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36589604"/>
              </p:ext>
            </p:extLst>
          </p:nvPr>
        </p:nvGraphicFramePr>
        <p:xfrm>
          <a:off x="677334" y="1567273"/>
          <a:ext cx="5422005" cy="41763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17" name="Straight Connector 16"/>
          <p:cNvCxnSpPr/>
          <p:nvPr/>
        </p:nvCxnSpPr>
        <p:spPr>
          <a:xfrm flipH="1">
            <a:off x="2982403" y="1729539"/>
            <a:ext cx="20251" cy="3447406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2956935" y="5176945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3957120" y="6192666"/>
                <a:ext cx="163112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dirty="0"/>
                  <a:t>99.2143</a:t>
                </a: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7120" y="6192666"/>
                <a:ext cx="1631127" cy="369332"/>
              </a:xfrm>
              <a:prstGeom prst="rect">
                <a:avLst/>
              </a:prstGeom>
              <a:blipFill rotWithShape="0">
                <a:blip r:embed="rId3"/>
                <a:stretch>
                  <a:fillRect t="-11667" b="-25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/>
          <p:cNvCxnSpPr/>
          <p:nvPr/>
        </p:nvCxnSpPr>
        <p:spPr>
          <a:xfrm>
            <a:off x="2982403" y="5222664"/>
            <a:ext cx="1107832" cy="873833"/>
          </a:xfrm>
          <a:prstGeom prst="straightConnector1">
            <a:avLst/>
          </a:prstGeom>
          <a:ln w="254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48439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038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6074979" y="1906693"/>
                <a:ext cx="6117021" cy="461665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IN" sz="2400" dirty="0">
                    <a:solidFill>
                      <a:srgbClr val="002060"/>
                    </a:solidFill>
                  </a:rPr>
                  <a:t>P(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IN" sz="24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IN" sz="24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IN" sz="2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99.2143 | </m:t>
                    </m:r>
                    <m:r>
                      <a:rPr lang="en-IN" sz="2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IN" sz="2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=100 </m:t>
                    </m:r>
                    <m:r>
                      <a:rPr lang="en-IN" sz="2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𝑎𝑛𝑑</m:t>
                    </m:r>
                    <m:r>
                      <a:rPr lang="en-IN" sz="2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acc>
                          <m:accPr>
                            <m:chr m:val="̅"/>
                            <m:ctrlPr>
                              <a:rPr lang="en-IN" sz="2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sub>
                    </m:sSub>
                    <m:r>
                      <a:rPr lang="en-IN" sz="2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=0.49497</m:t>
                    </m:r>
                  </m:oMath>
                </a14:m>
                <a:endParaRPr lang="en-IN" sz="24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4979" y="1906693"/>
                <a:ext cx="6117021" cy="461665"/>
              </a:xfrm>
              <a:prstGeom prst="rect">
                <a:avLst/>
              </a:prstGeom>
              <a:blipFill rotWithShape="0">
                <a:blip r:embed="rId3"/>
                <a:stretch>
                  <a:fillRect l="-1595" t="-10526" b="-2894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/>
          <p:cNvCxnSpPr/>
          <p:nvPr/>
        </p:nvCxnSpPr>
        <p:spPr>
          <a:xfrm>
            <a:off x="1797269" y="3452648"/>
            <a:ext cx="1040524" cy="1261242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324303" y="3083316"/>
            <a:ext cx="945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0.0562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90441" y="3267982"/>
            <a:ext cx="4503939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2800" dirty="0"/>
              <a:t>P-value = 0.0562*2=0.1124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90441" y="4326673"/>
            <a:ext cx="4020207" cy="13849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800" dirty="0"/>
              <a:t>Which is greater than 0.05 (</a:t>
            </a:r>
            <a:r>
              <a:rPr lang="el-GR" sz="2800" dirty="0"/>
              <a:t>α</a:t>
            </a:r>
            <a:r>
              <a:rPr lang="en-IN" sz="2800" dirty="0"/>
              <a:t>) </a:t>
            </a:r>
          </a:p>
          <a:p>
            <a:pPr algn="ctr"/>
            <a:r>
              <a:rPr lang="en-IN" sz="2800" dirty="0"/>
              <a:t>Hence do not reject H</a:t>
            </a:r>
            <a:r>
              <a:rPr lang="en-IN" sz="2800" baseline="-2500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957651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77334" y="295702"/>
            <a:ext cx="8596668" cy="1320800"/>
          </a:xfrm>
        </p:spPr>
        <p:txBody>
          <a:bodyPr/>
          <a:lstStyle/>
          <a:p>
            <a:r>
              <a:rPr lang="en-IN" dirty="0"/>
              <a:t>Hypothesis Test – Step by Step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77334" y="1392072"/>
            <a:ext cx="9503896" cy="4831308"/>
          </a:xfrm>
        </p:spPr>
        <p:txBody>
          <a:bodyPr>
            <a:normAutofit lnSpcReduction="10000"/>
          </a:bodyPr>
          <a:lstStyle/>
          <a:p>
            <a:pPr>
              <a:buFont typeface="+mj-lt"/>
              <a:buAutoNum type="arabicPeriod"/>
            </a:pPr>
            <a:r>
              <a:rPr lang="en-IN" sz="2400" dirty="0"/>
              <a:t>State the null and alternate hypotheses (with respect to the population parameter)</a:t>
            </a:r>
          </a:p>
          <a:p>
            <a:pPr>
              <a:buFont typeface="+mj-lt"/>
              <a:buAutoNum type="arabicPeriod"/>
            </a:pPr>
            <a:r>
              <a:rPr lang="en-IN" sz="2400" dirty="0"/>
              <a:t>Set the value of </a:t>
            </a:r>
            <a:r>
              <a:rPr lang="el-GR" sz="2400" dirty="0"/>
              <a:t>α</a:t>
            </a:r>
            <a:r>
              <a:rPr lang="en-IN" sz="2400" dirty="0"/>
              <a:t> (level of significance)</a:t>
            </a:r>
          </a:p>
          <a:p>
            <a:pPr>
              <a:buFont typeface="+mj-lt"/>
              <a:buAutoNum type="arabicPeriod"/>
            </a:pPr>
            <a:r>
              <a:rPr lang="en-IN" sz="2400" dirty="0"/>
              <a:t>Identify the “sample estimator” corresponding to the population parameter</a:t>
            </a:r>
          </a:p>
          <a:p>
            <a:pPr>
              <a:buFont typeface="+mj-lt"/>
              <a:buAutoNum type="arabicPeriod"/>
            </a:pPr>
            <a:r>
              <a:rPr lang="en-IN" sz="2400" dirty="0"/>
              <a:t>Identify the probability distribution (sampling distribution) of the estimator</a:t>
            </a:r>
          </a:p>
          <a:p>
            <a:pPr>
              <a:buFont typeface="+mj-lt"/>
              <a:buAutoNum type="arabicPeriod"/>
            </a:pPr>
            <a:r>
              <a:rPr lang="en-IN" sz="2400" dirty="0"/>
              <a:t>Calculate the decision rule (Rejection Region)</a:t>
            </a:r>
          </a:p>
          <a:p>
            <a:pPr>
              <a:buFont typeface="+mj-lt"/>
              <a:buAutoNum type="arabicPeriod"/>
            </a:pPr>
            <a:r>
              <a:rPr lang="en-IN" sz="2400" dirty="0"/>
              <a:t>Decide on the sample size</a:t>
            </a:r>
          </a:p>
          <a:p>
            <a:pPr>
              <a:buFont typeface="+mj-lt"/>
              <a:buAutoNum type="arabicPeriod"/>
            </a:pPr>
            <a:r>
              <a:rPr lang="en-IN" sz="2400" dirty="0"/>
              <a:t>Collect data, calculate the estimator and TEST</a:t>
            </a:r>
          </a:p>
          <a:p>
            <a:pPr>
              <a:buFont typeface="+mj-lt"/>
              <a:buAutoNum type="arabicPeriod"/>
            </a:pPr>
            <a:r>
              <a:rPr lang="en-IN" sz="2400" dirty="0"/>
              <a:t>Draw conclusions</a:t>
            </a:r>
          </a:p>
          <a:p>
            <a:pPr>
              <a:buFont typeface="+mj-lt"/>
              <a:buAutoNum type="arabicPeriod"/>
            </a:pPr>
            <a:endParaRPr lang="en-IN" dirty="0"/>
          </a:p>
          <a:p>
            <a:pPr>
              <a:buFont typeface="+mj-lt"/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3144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Bending of </a:t>
            </a:r>
            <a:r>
              <a:rPr lang="en-IN" dirty="0" err="1"/>
              <a:t>Belmadi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83507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Bending of </a:t>
            </a:r>
            <a:r>
              <a:rPr lang="en-IN" dirty="0" err="1"/>
              <a:t>Belmadi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C761CB5-D204-4264-90DF-758286FBD7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863" y="2699968"/>
            <a:ext cx="8596312" cy="2802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470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6" y="173502"/>
            <a:ext cx="8596668" cy="1036320"/>
          </a:xfrm>
        </p:spPr>
        <p:txBody>
          <a:bodyPr>
            <a:normAutofit fontScale="90000"/>
          </a:bodyPr>
          <a:lstStyle/>
          <a:p>
            <a:r>
              <a:rPr lang="en-IN" dirty="0"/>
              <a:t>Bending of </a:t>
            </a:r>
            <a:r>
              <a:rPr lang="en-IN" dirty="0" err="1"/>
              <a:t>Belmadi</a:t>
            </a:r>
            <a:r>
              <a:rPr lang="en-IN" dirty="0"/>
              <a:t>: Two ways of setting up Null Hypothesis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562708" y="2011683"/>
            <a:ext cx="4312729" cy="4656403"/>
          </a:xfrm>
        </p:spPr>
        <p:txBody>
          <a:bodyPr>
            <a:normAutofit/>
          </a:bodyPr>
          <a:lstStyle/>
          <a:p>
            <a:r>
              <a:rPr lang="en-IN" dirty="0"/>
              <a:t>H</a:t>
            </a:r>
            <a:r>
              <a:rPr lang="en-IN" baseline="-25000" dirty="0"/>
              <a:t>0</a:t>
            </a:r>
            <a:r>
              <a:rPr lang="en-IN" dirty="0"/>
              <a:t>: </a:t>
            </a:r>
            <a:r>
              <a:rPr lang="el-GR" dirty="0"/>
              <a:t>μ</a:t>
            </a:r>
            <a:r>
              <a:rPr lang="en-IN" dirty="0"/>
              <a:t> </a:t>
            </a:r>
            <a:r>
              <a:rPr lang="el-GR" dirty="0"/>
              <a:t>≥</a:t>
            </a:r>
            <a:r>
              <a:rPr lang="en-IN" dirty="0"/>
              <a:t> 87 KIPS</a:t>
            </a:r>
          </a:p>
          <a:p>
            <a:r>
              <a:rPr lang="en-IN" dirty="0"/>
              <a:t>H</a:t>
            </a:r>
            <a:r>
              <a:rPr lang="en-IN" baseline="-25000" dirty="0"/>
              <a:t>1</a:t>
            </a:r>
            <a:r>
              <a:rPr lang="en-IN" dirty="0"/>
              <a:t>: </a:t>
            </a:r>
            <a:r>
              <a:rPr lang="el-GR" dirty="0"/>
              <a:t>μ</a:t>
            </a:r>
            <a:r>
              <a:rPr lang="en-IN" dirty="0"/>
              <a:t> &lt; 87 KIPS</a:t>
            </a:r>
          </a:p>
          <a:p>
            <a:r>
              <a:rPr lang="en-IN" dirty="0">
                <a:solidFill>
                  <a:srgbClr val="0070C0"/>
                </a:solidFill>
              </a:rPr>
              <a:t>Type I error: Reject H</a:t>
            </a:r>
            <a:r>
              <a:rPr lang="en-IN" baseline="-25000" dirty="0">
                <a:solidFill>
                  <a:srgbClr val="0070C0"/>
                </a:solidFill>
              </a:rPr>
              <a:t>0</a:t>
            </a:r>
            <a:r>
              <a:rPr lang="en-IN" dirty="0">
                <a:solidFill>
                  <a:srgbClr val="0070C0"/>
                </a:solidFill>
              </a:rPr>
              <a:t> when “it is true” – </a:t>
            </a:r>
            <a:r>
              <a:rPr lang="en-IN" dirty="0">
                <a:solidFill>
                  <a:srgbClr val="FF0000"/>
                </a:solidFill>
              </a:rPr>
              <a:t>minimize </a:t>
            </a:r>
            <a:r>
              <a:rPr lang="el-GR" dirty="0">
                <a:solidFill>
                  <a:srgbClr val="FF0000"/>
                </a:solidFill>
              </a:rPr>
              <a:t>α</a:t>
            </a:r>
            <a:endParaRPr lang="en-IN" dirty="0">
              <a:solidFill>
                <a:srgbClr val="FF0000"/>
              </a:solidFill>
            </a:endParaRPr>
          </a:p>
          <a:p>
            <a:r>
              <a:rPr lang="en-IN" dirty="0">
                <a:solidFill>
                  <a:srgbClr val="0070C0"/>
                </a:solidFill>
              </a:rPr>
              <a:t>Implication: The bridge is actually safe, but we will ask the contractor to strengthen the bridge!</a:t>
            </a:r>
          </a:p>
          <a:p>
            <a:r>
              <a:rPr lang="en-IN" dirty="0">
                <a:solidFill>
                  <a:srgbClr val="0070C0"/>
                </a:solidFill>
              </a:rPr>
              <a:t>Unnecessary cost to the contractor</a:t>
            </a:r>
          </a:p>
          <a:p>
            <a:r>
              <a:rPr lang="en-IN" dirty="0">
                <a:solidFill>
                  <a:srgbClr val="7030A0"/>
                </a:solidFill>
              </a:rPr>
              <a:t>Type II error: Accept H</a:t>
            </a:r>
            <a:r>
              <a:rPr lang="en-IN" baseline="-25000" dirty="0">
                <a:solidFill>
                  <a:srgbClr val="7030A0"/>
                </a:solidFill>
              </a:rPr>
              <a:t>0</a:t>
            </a:r>
            <a:r>
              <a:rPr lang="en-IN" dirty="0">
                <a:solidFill>
                  <a:srgbClr val="7030A0"/>
                </a:solidFill>
              </a:rPr>
              <a:t> when “it is NOT true” – </a:t>
            </a:r>
            <a:r>
              <a:rPr lang="en-IN" dirty="0">
                <a:solidFill>
                  <a:srgbClr val="FF0000"/>
                </a:solidFill>
              </a:rPr>
              <a:t>minimize </a:t>
            </a:r>
            <a:r>
              <a:rPr lang="el-GR" dirty="0">
                <a:solidFill>
                  <a:srgbClr val="FF0000"/>
                </a:solidFill>
              </a:rPr>
              <a:t>β</a:t>
            </a:r>
            <a:endParaRPr lang="en-IN" dirty="0">
              <a:solidFill>
                <a:srgbClr val="FF0000"/>
              </a:solidFill>
            </a:endParaRPr>
          </a:p>
          <a:p>
            <a:r>
              <a:rPr lang="en-IN" dirty="0">
                <a:solidFill>
                  <a:srgbClr val="7030A0"/>
                </a:solidFill>
              </a:rPr>
              <a:t>Implication: Bridge is UNSAFE, but we will allow traffic</a:t>
            </a:r>
          </a:p>
          <a:p>
            <a:r>
              <a:rPr lang="en-IN" dirty="0">
                <a:solidFill>
                  <a:srgbClr val="7030A0"/>
                </a:solidFill>
              </a:rPr>
              <a:t>Loss of life; legal cases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5751151" y="2011682"/>
            <a:ext cx="4312729" cy="4656403"/>
          </a:xfrm>
        </p:spPr>
        <p:txBody>
          <a:bodyPr>
            <a:normAutofit/>
          </a:bodyPr>
          <a:lstStyle/>
          <a:p>
            <a:r>
              <a:rPr lang="en-IN" dirty="0"/>
              <a:t>H</a:t>
            </a:r>
            <a:r>
              <a:rPr lang="en-IN" baseline="-25000" dirty="0"/>
              <a:t>0</a:t>
            </a:r>
            <a:r>
              <a:rPr lang="en-IN" dirty="0"/>
              <a:t>: </a:t>
            </a:r>
            <a:r>
              <a:rPr lang="el-GR" dirty="0"/>
              <a:t>µ</a:t>
            </a:r>
            <a:r>
              <a:rPr lang="en-IN" dirty="0"/>
              <a:t> </a:t>
            </a:r>
            <a:r>
              <a:rPr lang="el-GR" dirty="0"/>
              <a:t>≤</a:t>
            </a:r>
            <a:r>
              <a:rPr lang="en-IN" dirty="0"/>
              <a:t> 87 KIPS</a:t>
            </a:r>
          </a:p>
          <a:p>
            <a:r>
              <a:rPr lang="en-IN" dirty="0"/>
              <a:t>H</a:t>
            </a:r>
            <a:r>
              <a:rPr lang="en-IN" baseline="-25000" dirty="0"/>
              <a:t>1</a:t>
            </a:r>
            <a:r>
              <a:rPr lang="en-IN" dirty="0"/>
              <a:t>: </a:t>
            </a:r>
            <a:r>
              <a:rPr lang="el-GR" dirty="0"/>
              <a:t>μ</a:t>
            </a:r>
            <a:r>
              <a:rPr lang="en-IN" dirty="0"/>
              <a:t> &gt; 87 KIPS</a:t>
            </a:r>
          </a:p>
          <a:p>
            <a:r>
              <a:rPr lang="en-IN" dirty="0">
                <a:solidFill>
                  <a:srgbClr val="7030A0"/>
                </a:solidFill>
              </a:rPr>
              <a:t>Type I error: Reject H</a:t>
            </a:r>
            <a:r>
              <a:rPr lang="en-IN" baseline="-25000" dirty="0">
                <a:solidFill>
                  <a:srgbClr val="7030A0"/>
                </a:solidFill>
              </a:rPr>
              <a:t>0</a:t>
            </a:r>
            <a:r>
              <a:rPr lang="en-IN" dirty="0">
                <a:solidFill>
                  <a:srgbClr val="7030A0"/>
                </a:solidFill>
              </a:rPr>
              <a:t> when “it is true” </a:t>
            </a:r>
            <a:r>
              <a:rPr lang="en-IN" dirty="0"/>
              <a:t>– </a:t>
            </a:r>
            <a:r>
              <a:rPr lang="en-IN" dirty="0">
                <a:solidFill>
                  <a:srgbClr val="FF0000"/>
                </a:solidFill>
              </a:rPr>
              <a:t>minimize </a:t>
            </a:r>
            <a:r>
              <a:rPr lang="el-GR" dirty="0">
                <a:solidFill>
                  <a:srgbClr val="FF0000"/>
                </a:solidFill>
              </a:rPr>
              <a:t>α</a:t>
            </a:r>
            <a:endParaRPr lang="en-IN" dirty="0">
              <a:solidFill>
                <a:srgbClr val="FF0000"/>
              </a:solidFill>
            </a:endParaRPr>
          </a:p>
          <a:p>
            <a:r>
              <a:rPr lang="en-IN" dirty="0">
                <a:solidFill>
                  <a:srgbClr val="7030A0"/>
                </a:solidFill>
              </a:rPr>
              <a:t>Implication: Bridge is UNSAFE, but we will allow traffic</a:t>
            </a:r>
          </a:p>
          <a:p>
            <a:r>
              <a:rPr lang="en-IN" dirty="0">
                <a:solidFill>
                  <a:srgbClr val="7030A0"/>
                </a:solidFill>
              </a:rPr>
              <a:t>Loss of life; legal cases</a:t>
            </a:r>
          </a:p>
          <a:p>
            <a:r>
              <a:rPr lang="en-IN" dirty="0">
                <a:solidFill>
                  <a:srgbClr val="0070C0"/>
                </a:solidFill>
              </a:rPr>
              <a:t>Type II error: Accept H</a:t>
            </a:r>
            <a:r>
              <a:rPr lang="en-IN" baseline="-25000" dirty="0">
                <a:solidFill>
                  <a:srgbClr val="0070C0"/>
                </a:solidFill>
              </a:rPr>
              <a:t>0</a:t>
            </a:r>
            <a:r>
              <a:rPr lang="en-IN" dirty="0">
                <a:solidFill>
                  <a:srgbClr val="0070C0"/>
                </a:solidFill>
              </a:rPr>
              <a:t> when “it is NOT true” </a:t>
            </a:r>
            <a:r>
              <a:rPr lang="en-IN" dirty="0"/>
              <a:t>– </a:t>
            </a:r>
            <a:r>
              <a:rPr lang="en-IN" dirty="0">
                <a:solidFill>
                  <a:srgbClr val="FF0000"/>
                </a:solidFill>
              </a:rPr>
              <a:t>minimize </a:t>
            </a:r>
            <a:r>
              <a:rPr lang="el-GR" dirty="0">
                <a:solidFill>
                  <a:srgbClr val="FF0000"/>
                </a:solidFill>
              </a:rPr>
              <a:t>β</a:t>
            </a:r>
            <a:endParaRPr lang="en-IN" dirty="0">
              <a:solidFill>
                <a:srgbClr val="FF0000"/>
              </a:solidFill>
            </a:endParaRPr>
          </a:p>
          <a:p>
            <a:r>
              <a:rPr lang="en-IN" dirty="0">
                <a:solidFill>
                  <a:srgbClr val="0070C0"/>
                </a:solidFill>
              </a:rPr>
              <a:t>Implication: The bridge is actually safe, but we will ask the contractor to strengthen the bridge! </a:t>
            </a:r>
          </a:p>
          <a:p>
            <a:r>
              <a:rPr lang="en-IN" dirty="0">
                <a:solidFill>
                  <a:srgbClr val="0070C0"/>
                </a:solidFill>
              </a:rPr>
              <a:t>Unnecessary cost to the contractor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562708" y="1491175"/>
            <a:ext cx="4312729" cy="46166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2540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400" dirty="0"/>
              <a:t>Method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51151" y="1491174"/>
            <a:ext cx="4312729" cy="46166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2540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400" dirty="0"/>
              <a:t>Method B</a:t>
            </a:r>
          </a:p>
        </p:txBody>
      </p:sp>
    </p:spTree>
    <p:extLst>
      <p:ext uri="{BB962C8B-B14F-4D97-AF65-F5344CB8AC3E}">
        <p14:creationId xmlns:p14="http://schemas.microsoft.com/office/powerpoint/2010/main" val="2091691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852" y="260094"/>
            <a:ext cx="11131038" cy="835166"/>
          </a:xfrm>
        </p:spPr>
        <p:txBody>
          <a:bodyPr/>
          <a:lstStyle/>
          <a:p>
            <a:r>
              <a:rPr lang="en-IN" dirty="0">
                <a:solidFill>
                  <a:srgbClr val="002060"/>
                </a:solidFill>
              </a:rPr>
              <a:t>Bending of </a:t>
            </a:r>
            <a:r>
              <a:rPr lang="en-IN" dirty="0" err="1">
                <a:solidFill>
                  <a:srgbClr val="002060"/>
                </a:solidFill>
              </a:rPr>
              <a:t>Belmadi</a:t>
            </a:r>
            <a:r>
              <a:rPr lang="en-IN" dirty="0">
                <a:solidFill>
                  <a:srgbClr val="002060"/>
                </a:solidFill>
              </a:rPr>
              <a:t>: Calculation of Rejection Regions</a:t>
            </a:r>
          </a:p>
        </p:txBody>
      </p:sp>
      <p:graphicFrame>
        <p:nvGraphicFramePr>
          <p:cNvPr id="15" name="Content Placeholder 14"/>
          <p:cNvGraphicFramePr>
            <a:graphicFrameLocks noGrp="1"/>
          </p:cNvGraphicFramePr>
          <p:nvPr>
            <p:ph sz="half" idx="1"/>
          </p:nvPr>
        </p:nvGraphicFramePr>
        <p:xfrm>
          <a:off x="5438615" y="1459621"/>
          <a:ext cx="4311650" cy="20087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5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5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1759">
                <a:tc>
                  <a:txBody>
                    <a:bodyPr/>
                    <a:lstStyle/>
                    <a:p>
                      <a:pPr algn="ctr" fontAlgn="b"/>
                      <a:r>
                        <a:rPr lang="el-G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α </a:t>
                      </a:r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value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t-value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759"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1.6896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759"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2.4377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759"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2.7238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1759"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3.3400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7345" y="3823973"/>
            <a:ext cx="4312729" cy="46166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2540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400" dirty="0"/>
              <a:t>Method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21770" y="3823972"/>
            <a:ext cx="4312729" cy="46166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2540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400" dirty="0"/>
              <a:t>Method B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97343" y="4328846"/>
          <a:ext cx="4312730" cy="2149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6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6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9932">
                <a:tc>
                  <a:txBody>
                    <a:bodyPr/>
                    <a:lstStyle/>
                    <a:p>
                      <a:pPr algn="ctr" fontAlgn="b"/>
                      <a:r>
                        <a:rPr lang="el-G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α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Cut-off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932"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85.17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932"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84.36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932"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84.05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932"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83.38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421770" y="4405620"/>
          <a:ext cx="4312730" cy="21361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6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6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7239">
                <a:tc>
                  <a:txBody>
                    <a:bodyPr/>
                    <a:lstStyle/>
                    <a:p>
                      <a:pPr algn="ctr" fontAlgn="b"/>
                      <a:r>
                        <a:rPr lang="el-G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α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Cut-off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7239"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88.83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7239"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89.64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7239"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89.95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7239"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90.62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97345" y="1470446"/>
          <a:ext cx="4312730" cy="1978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6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6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Mean=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87.43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Var</a:t>
                      </a: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=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42.25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S=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6.5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958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2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1.0833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2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 =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+mn-lt"/>
                        </a:rPr>
                        <a:t>36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473343" y="2626984"/>
                <a:ext cx="36824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acc>
                          <m:accPr>
                            <m:chr m:val="̅"/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sub>
                    </m:sSub>
                  </m:oMath>
                </a14:m>
                <a:r>
                  <a:rPr lang="en-IN" dirty="0"/>
                  <a:t>=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3343" y="2626984"/>
                <a:ext cx="368242" cy="276999"/>
              </a:xfrm>
              <a:prstGeom prst="rect">
                <a:avLst/>
              </a:prstGeom>
              <a:blipFill rotWithShape="0">
                <a:blip r:embed="rId2"/>
                <a:stretch>
                  <a:fillRect l="-23333" t="-31111" r="-38333" b="-4888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6241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72397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Is </a:t>
            </a:r>
            <a:r>
              <a:rPr lang="en-IN" dirty="0" err="1"/>
              <a:t>Medworld</a:t>
            </a:r>
            <a:r>
              <a:rPr lang="en-IN" dirty="0"/>
              <a:t> Cheating?</a:t>
            </a:r>
            <a:br>
              <a:rPr lang="en-IN" dirty="0"/>
            </a:br>
            <a:r>
              <a:rPr lang="en-IN" dirty="0"/>
              <a:t>Data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32510" y="2209172"/>
          <a:ext cx="8693627" cy="3277225"/>
        </p:xfrm>
        <a:graphic>
          <a:graphicData uri="http://schemas.openxmlformats.org/drawingml/2006/table">
            <a:tbl>
              <a:tblPr/>
              <a:tblGrid>
                <a:gridCol w="1073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31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31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31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31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314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3314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3314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3314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65544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99.85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96.33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107.2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96.81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100.32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99.45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95.81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97.2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96.82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101.57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544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98.53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97.19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96.53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103.2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95.68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97.78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106.87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104.58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101.95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103.81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544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98.43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93.06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103.69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94.98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103.26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97.63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97.09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96.85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93.36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100.08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544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98.73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102.26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103.28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97.47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99.25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99.63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98.26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102.25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100.86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98.92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544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95.5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100.15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99.77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101.13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97.83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98.24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98.23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98.27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100.76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100.01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074460" y="5800299"/>
            <a:ext cx="6414448" cy="36933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58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Proportion of tablets with less than 100mg = 0.62</a:t>
            </a:r>
          </a:p>
        </p:txBody>
      </p:sp>
    </p:spTree>
    <p:extLst>
      <p:ext uri="{BB962C8B-B14F-4D97-AF65-F5344CB8AC3E}">
        <p14:creationId xmlns:p14="http://schemas.microsoft.com/office/powerpoint/2010/main" val="541724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Hypothesis Test – Proportion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>
              <a:xfrm>
                <a:off x="264618" y="1680856"/>
                <a:ext cx="3378325" cy="4758826"/>
              </a:xfrm>
            </p:spPr>
            <p:txBody>
              <a:bodyPr/>
              <a:lstStyle/>
              <a:p>
                <a:r>
                  <a:rPr lang="en-IN" dirty="0"/>
                  <a:t>Is </a:t>
                </a:r>
                <a:r>
                  <a:rPr lang="en-IN" dirty="0" err="1"/>
                  <a:t>Medworld</a:t>
                </a:r>
                <a:r>
                  <a:rPr lang="en-IN" dirty="0"/>
                  <a:t> Cheating?</a:t>
                </a:r>
              </a:p>
              <a:p>
                <a:r>
                  <a:rPr lang="en-IN" dirty="0"/>
                  <a:t>H0: </a:t>
                </a:r>
                <a:r>
                  <a:rPr lang="el-GR" dirty="0"/>
                  <a:t>π</a:t>
                </a:r>
                <a:r>
                  <a:rPr lang="en-IN" dirty="0"/>
                  <a:t> = 0.5</a:t>
                </a:r>
              </a:p>
              <a:p>
                <a:r>
                  <a:rPr lang="en-IN" dirty="0"/>
                  <a:t>H1: </a:t>
                </a:r>
                <a:r>
                  <a:rPr lang="el-GR" dirty="0"/>
                  <a:t>π</a:t>
                </a:r>
                <a:r>
                  <a:rPr lang="en-IN" dirty="0"/>
                  <a:t> </a:t>
                </a:r>
                <a:r>
                  <a:rPr lang="el-GR" dirty="0"/>
                  <a:t>≠</a:t>
                </a:r>
                <a:r>
                  <a:rPr lang="en-IN" dirty="0"/>
                  <a:t> 0.5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(1−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rad>
                  </m:oMath>
                </a14:m>
                <a:r>
                  <a:rPr lang="en-IN" dirty="0"/>
                  <a:t> =</a:t>
                </a:r>
              </a:p>
              <a:p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0.5(0.5)</m:t>
                            </m:r>
                          </m:num>
                          <m:den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50</m:t>
                            </m:r>
                          </m:den>
                        </m:f>
                      </m:e>
                    </m:rad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IN">
                        <a:latin typeface="Cambria Math" panose="02040503050406030204" pitchFamily="18" charset="0"/>
                      </a:rPr>
                      <m:t>0.0707</m:t>
                    </m:r>
                  </m:oMath>
                </a14:m>
                <a:endParaRPr lang="en-IN" dirty="0"/>
              </a:p>
              <a:p>
                <a:r>
                  <a:rPr lang="en-IN" i="1" dirty="0"/>
                  <a:t>Sample Proportion </a:t>
                </a: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lang="en-IN" i="1" dirty="0"/>
                  <a:t> = 0.62</a:t>
                </a:r>
              </a:p>
              <a:p>
                <a:r>
                  <a:rPr lang="en-IN" i="1" dirty="0"/>
                  <a:t>P-value = 0.0448+0.0448= 0.0896</a:t>
                </a:r>
              </a:p>
              <a:p>
                <a:r>
                  <a:rPr lang="en-IN" i="1" dirty="0"/>
                  <a:t>Conclusion?</a:t>
                </a: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4618" y="1680856"/>
                <a:ext cx="3378325" cy="4758826"/>
              </a:xfrm>
              <a:blipFill rotWithShape="0">
                <a:blip r:embed="rId2"/>
                <a:stretch>
                  <a:fillRect l="-360" t="-897" r="-18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Chart 5"/>
          <p:cNvGraphicFramePr>
            <a:graphicFrameLocks/>
          </p:cNvGraphicFramePr>
          <p:nvPr/>
        </p:nvGraphicFramePr>
        <p:xfrm>
          <a:off x="3809999" y="1750218"/>
          <a:ext cx="6070979" cy="47461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8" name="Straight Connector 7"/>
          <p:cNvCxnSpPr/>
          <p:nvPr/>
        </p:nvCxnSpPr>
        <p:spPr>
          <a:xfrm flipV="1">
            <a:off x="7915701" y="1637731"/>
            <a:ext cx="13648" cy="4490114"/>
          </a:xfrm>
          <a:prstGeom prst="line">
            <a:avLst/>
          </a:prstGeom>
          <a:ln w="2222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8106770" y="4749421"/>
            <a:ext cx="873457" cy="1119116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871045" y="4367284"/>
            <a:ext cx="878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0.0448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4804012" y="4749421"/>
            <a:ext cx="826260" cy="1119116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364628" y="4380089"/>
            <a:ext cx="878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0.0448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5764665" y="1637731"/>
            <a:ext cx="13648" cy="4490114"/>
          </a:xfrm>
          <a:prstGeom prst="line">
            <a:avLst/>
          </a:prstGeom>
          <a:ln w="2222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890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Graphic spid="6" grpId="0">
        <p:bldAsOne/>
      </p:bldGraphic>
      <p:bldP spid="11" grpId="0"/>
      <p:bldP spid="1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Title 1"/>
          <p:cNvSpPr>
            <a:spLocks noGrp="1"/>
          </p:cNvSpPr>
          <p:nvPr>
            <p:ph type="title"/>
          </p:nvPr>
        </p:nvSpPr>
        <p:spPr>
          <a:xfrm>
            <a:off x="976746" y="311727"/>
            <a:ext cx="8839200" cy="838200"/>
          </a:xfrm>
        </p:spPr>
        <p:txBody>
          <a:bodyPr/>
          <a:lstStyle/>
          <a:p>
            <a:r>
              <a:rPr lang="en-US" altLang="en-US" dirty="0">
                <a:ea typeface="ＭＳ Ｐゴシック" charset="-128"/>
              </a:rPr>
              <a:t>Example: Spam Filter</a:t>
            </a:r>
          </a:p>
        </p:txBody>
      </p:sp>
      <p:sp>
        <p:nvSpPr>
          <p:cNvPr id="38914" name="Rectangle 5"/>
          <p:cNvSpPr>
            <a:spLocks noGrp="1" noChangeArrowheads="1"/>
          </p:cNvSpPr>
          <p:nvPr>
            <p:ph idx="1"/>
          </p:nvPr>
        </p:nvSpPr>
        <p:spPr>
          <a:xfrm>
            <a:off x="677334" y="1620983"/>
            <a:ext cx="8596668" cy="4420380"/>
          </a:xfrm>
        </p:spPr>
        <p:txBody>
          <a:bodyPr>
            <a:normAutofit fontScale="92500"/>
          </a:bodyPr>
          <a:lstStyle/>
          <a:p>
            <a:r>
              <a:rPr lang="en-US" altLang="en-US" sz="2000" dirty="0">
                <a:ea typeface="ＭＳ Ｐゴシック" charset="-128"/>
              </a:rPr>
              <a:t>A small company is considering buying a commercial filtering software costing $15,000 per annum that the vendor claims will significantly reduce spam.</a:t>
            </a:r>
          </a:p>
          <a:p>
            <a:endParaRPr lang="en-US" altLang="en-US" sz="2000" dirty="0">
              <a:ea typeface="ＭＳ Ｐゴシック" charset="-128"/>
            </a:endParaRPr>
          </a:p>
          <a:p>
            <a:pPr>
              <a:spcBef>
                <a:spcPts val="600"/>
              </a:spcBef>
            </a:pPr>
            <a:r>
              <a:rPr lang="en-US" altLang="en-US" sz="2000" dirty="0">
                <a:ea typeface="ＭＳ Ｐゴシック" charset="-128"/>
              </a:rPr>
              <a:t>The company believes that if the software can reduce spam to less than 20% of the mails in the inbox, then it is worth the cost because of improved employee productivity.</a:t>
            </a:r>
          </a:p>
          <a:p>
            <a:pPr>
              <a:spcBef>
                <a:spcPts val="600"/>
              </a:spcBef>
            </a:pPr>
            <a:endParaRPr lang="en-US" altLang="en-US" sz="2000" dirty="0">
              <a:ea typeface="ＭＳ Ｐゴシック" charset="-128"/>
            </a:endParaRPr>
          </a:p>
          <a:p>
            <a:pPr>
              <a:spcBef>
                <a:spcPts val="600"/>
              </a:spcBef>
            </a:pPr>
            <a:r>
              <a:rPr lang="en-US" altLang="en-US" sz="2000" dirty="0">
                <a:ea typeface="ＭＳ Ｐゴシック" charset="-128"/>
              </a:rPr>
              <a:t>The company collected a simple random sample of 100 mails in the inbox with the new filtering software in place and found that 11 of them were spam. </a:t>
            </a:r>
          </a:p>
          <a:p>
            <a:pPr>
              <a:spcBef>
                <a:spcPts val="600"/>
              </a:spcBef>
            </a:pPr>
            <a:endParaRPr lang="en-US" altLang="en-US" sz="2000" dirty="0">
              <a:ea typeface="ＭＳ Ｐゴシック" charset="-128"/>
            </a:endParaRPr>
          </a:p>
          <a:p>
            <a:pPr>
              <a:spcBef>
                <a:spcPts val="600"/>
              </a:spcBef>
            </a:pPr>
            <a:r>
              <a:rPr lang="en-US" altLang="en-US" sz="2000" dirty="0">
                <a:ea typeface="ＭＳ Ｐゴシック" charset="-128"/>
              </a:rPr>
              <a:t>Should it buy the software? Assume that the significance level is </a:t>
            </a:r>
            <a:r>
              <a:rPr lang="en-US" altLang="en-US" sz="2000" dirty="0">
                <a:ea typeface="ＭＳ Ｐゴシック" charset="-128"/>
                <a:sym typeface="Mathematica1" charset="0"/>
              </a:rPr>
              <a:t>α = 0.05.</a:t>
            </a:r>
          </a:p>
          <a:p>
            <a:pPr>
              <a:spcBef>
                <a:spcPts val="600"/>
              </a:spcBef>
            </a:pPr>
            <a:endParaRPr lang="en-US" altLang="en-US" dirty="0">
              <a:ea typeface="ＭＳ Ｐゴシック" charset="-128"/>
            </a:endParaRPr>
          </a:p>
        </p:txBody>
      </p:sp>
      <p:sp>
        <p:nvSpPr>
          <p:cNvPr id="38915" name="Slide Number Placeholder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9177D3FC-C6D4-4743-BA5D-97ACB6093DA6}" type="slidenum">
              <a:rPr lang="en-US" altLang="en-US" sz="1200">
                <a:solidFill>
                  <a:schemeClr val="bg1"/>
                </a:solidFill>
                <a:latin typeface="Calibri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22</a:t>
            </a:fld>
            <a:endParaRPr lang="en-US" altLang="en-US" sz="1200">
              <a:solidFill>
                <a:schemeClr val="bg1"/>
              </a:solidFill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85086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30" name="Group 3"/>
          <p:cNvGrpSpPr>
            <a:grpSpLocks/>
          </p:cNvGrpSpPr>
          <p:nvPr/>
        </p:nvGrpSpPr>
        <p:grpSpPr bwMode="auto">
          <a:xfrm>
            <a:off x="4267201" y="1600201"/>
            <a:ext cx="3548063" cy="2498725"/>
            <a:chOff x="1898650" y="2690812"/>
            <a:chExt cx="3547587" cy="2498725"/>
          </a:xfrm>
        </p:grpSpPr>
        <p:grpSp>
          <p:nvGrpSpPr>
            <p:cNvPr id="40968" name="Group 2"/>
            <p:cNvGrpSpPr>
              <a:grpSpLocks/>
            </p:cNvGrpSpPr>
            <p:nvPr/>
          </p:nvGrpSpPr>
          <p:grpSpPr bwMode="auto">
            <a:xfrm>
              <a:off x="1898650" y="2690812"/>
              <a:ext cx="3547587" cy="2498725"/>
              <a:chOff x="1898650" y="2690812"/>
              <a:chExt cx="3547587" cy="2498725"/>
            </a:xfrm>
          </p:grpSpPr>
          <p:grpSp>
            <p:nvGrpSpPr>
              <p:cNvPr id="40970" name="Group 2"/>
              <p:cNvGrpSpPr>
                <a:grpSpLocks/>
              </p:cNvGrpSpPr>
              <p:nvPr/>
            </p:nvGrpSpPr>
            <p:grpSpPr bwMode="auto">
              <a:xfrm>
                <a:off x="1898650" y="2690812"/>
                <a:ext cx="3547587" cy="2033588"/>
                <a:chOff x="1898650" y="2538412"/>
                <a:chExt cx="3547587" cy="2033589"/>
              </a:xfrm>
            </p:grpSpPr>
            <p:grpSp>
              <p:nvGrpSpPr>
                <p:cNvPr id="40972" name="Group 4"/>
                <p:cNvGrpSpPr>
                  <a:grpSpLocks/>
                </p:cNvGrpSpPr>
                <p:nvPr/>
              </p:nvGrpSpPr>
              <p:grpSpPr bwMode="auto">
                <a:xfrm>
                  <a:off x="1898650" y="2538412"/>
                  <a:ext cx="3547587" cy="2033589"/>
                  <a:chOff x="-457795" y="862017"/>
                  <a:chExt cx="3546243" cy="2033545"/>
                </a:xfrm>
              </p:grpSpPr>
              <p:grpSp>
                <p:nvGrpSpPr>
                  <p:cNvPr id="40974" name="Group 3"/>
                  <p:cNvGrpSpPr>
                    <a:grpSpLocks/>
                  </p:cNvGrpSpPr>
                  <p:nvPr/>
                </p:nvGrpSpPr>
                <p:grpSpPr bwMode="auto">
                  <a:xfrm>
                    <a:off x="-457795" y="862017"/>
                    <a:ext cx="3546243" cy="2033545"/>
                    <a:chOff x="-457795" y="862017"/>
                    <a:chExt cx="3546243" cy="2033545"/>
                  </a:xfrm>
                </p:grpSpPr>
                <p:pic>
                  <p:nvPicPr>
                    <p:cNvPr id="40976" name="Picture 6"/>
                    <p:cNvPicPr>
                      <a:picLocks noChangeAspect="1" noChangeArrowheads="1"/>
                    </p:cNvPicPr>
                    <p:nvPr/>
                  </p:nvPicPr>
                  <p:blipFill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t="6091"/>
                    <a:stretch>
                      <a:fillRect/>
                    </a:stretch>
                  </p:blipFill>
                  <p:spPr bwMode="auto">
                    <a:xfrm>
                      <a:off x="-142257" y="862017"/>
                      <a:ext cx="3230705" cy="178395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</p:pic>
                <p:sp>
                  <p:nvSpPr>
                    <p:cNvPr id="40977" name="Text Box 10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233902" y="2557015"/>
                      <a:ext cx="288753" cy="338547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eaLnBrk="1" hangingPunct="1"/>
                      <a:r>
                        <a:rPr lang="en-US" altLang="en-US" sz="1600">
                          <a:latin typeface="Calibri" charset="0"/>
                          <a:sym typeface="Mathematica1" charset="0"/>
                        </a:rPr>
                        <a:t>0</a:t>
                      </a:r>
                    </a:p>
                  </p:txBody>
                </p:sp>
                <p:sp>
                  <p:nvSpPr>
                    <p:cNvPr id="40978" name="Line 1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08601" y="2285975"/>
                      <a:ext cx="0" cy="307226"/>
                    </a:xfrm>
                    <a:prstGeom prst="line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" name="Freeform 12"/>
                    <p:cNvSpPr/>
                    <p:nvPr/>
                  </p:nvSpPr>
                  <p:spPr bwMode="auto">
                    <a:xfrm flipH="1">
                      <a:off x="-830" y="2305024"/>
                      <a:ext cx="609287" cy="309555"/>
                    </a:xfrm>
                    <a:custGeom>
                      <a:avLst/>
                      <a:gdLst>
                        <a:gd name="connsiteX0" fmla="*/ 79899 w 736846"/>
                        <a:gd name="connsiteY0" fmla="*/ 257452 h 275207"/>
                        <a:gd name="connsiteX1" fmla="*/ 79899 w 736846"/>
                        <a:gd name="connsiteY1" fmla="*/ 0 h 275207"/>
                        <a:gd name="connsiteX2" fmla="*/ 239697 w 736846"/>
                        <a:gd name="connsiteY2" fmla="*/ 150920 h 275207"/>
                        <a:gd name="connsiteX3" fmla="*/ 497149 w 736846"/>
                        <a:gd name="connsiteY3" fmla="*/ 248574 h 275207"/>
                        <a:gd name="connsiteX4" fmla="*/ 736846 w 736846"/>
                        <a:gd name="connsiteY4" fmla="*/ 275207 h 275207"/>
                        <a:gd name="connsiteX5" fmla="*/ 0 w 736846"/>
                        <a:gd name="connsiteY5" fmla="*/ 266330 h 275207"/>
                        <a:gd name="connsiteX6" fmla="*/ 0 w 736846"/>
                        <a:gd name="connsiteY6" fmla="*/ 266330 h 275207"/>
                        <a:gd name="connsiteX0" fmla="*/ 79899 w 736846"/>
                        <a:gd name="connsiteY0" fmla="*/ 257452 h 275207"/>
                        <a:gd name="connsiteX1" fmla="*/ 79899 w 736846"/>
                        <a:gd name="connsiteY1" fmla="*/ 0 h 275207"/>
                        <a:gd name="connsiteX2" fmla="*/ 239697 w 736846"/>
                        <a:gd name="connsiteY2" fmla="*/ 150920 h 275207"/>
                        <a:gd name="connsiteX3" fmla="*/ 497149 w 736846"/>
                        <a:gd name="connsiteY3" fmla="*/ 248574 h 275207"/>
                        <a:gd name="connsiteX4" fmla="*/ 736846 w 736846"/>
                        <a:gd name="connsiteY4" fmla="*/ 275207 h 275207"/>
                        <a:gd name="connsiteX5" fmla="*/ 0 w 736846"/>
                        <a:gd name="connsiteY5" fmla="*/ 266330 h 275207"/>
                        <a:gd name="connsiteX6" fmla="*/ 79159 w 736846"/>
                        <a:gd name="connsiteY6" fmla="*/ 223421 h 275207"/>
                        <a:gd name="connsiteX0" fmla="*/ 740 w 657687"/>
                        <a:gd name="connsiteY0" fmla="*/ 257452 h 275207"/>
                        <a:gd name="connsiteX1" fmla="*/ 740 w 657687"/>
                        <a:gd name="connsiteY1" fmla="*/ 0 h 275207"/>
                        <a:gd name="connsiteX2" fmla="*/ 160538 w 657687"/>
                        <a:gd name="connsiteY2" fmla="*/ 150920 h 275207"/>
                        <a:gd name="connsiteX3" fmla="*/ 417990 w 657687"/>
                        <a:gd name="connsiteY3" fmla="*/ 248574 h 275207"/>
                        <a:gd name="connsiteX4" fmla="*/ 657687 w 657687"/>
                        <a:gd name="connsiteY4" fmla="*/ 275207 h 275207"/>
                        <a:gd name="connsiteX5" fmla="*/ 6214 w 657687"/>
                        <a:gd name="connsiteY5" fmla="*/ 223421 h 275207"/>
                        <a:gd name="connsiteX6" fmla="*/ 0 w 657687"/>
                        <a:gd name="connsiteY6" fmla="*/ 223421 h 275207"/>
                        <a:gd name="connsiteX0" fmla="*/ -1 w 656946"/>
                        <a:gd name="connsiteY0" fmla="*/ 257452 h 275207"/>
                        <a:gd name="connsiteX1" fmla="*/ -1 w 656946"/>
                        <a:gd name="connsiteY1" fmla="*/ 0 h 275207"/>
                        <a:gd name="connsiteX2" fmla="*/ 159797 w 656946"/>
                        <a:gd name="connsiteY2" fmla="*/ 150920 h 275207"/>
                        <a:gd name="connsiteX3" fmla="*/ 417249 w 656946"/>
                        <a:gd name="connsiteY3" fmla="*/ 248574 h 275207"/>
                        <a:gd name="connsiteX4" fmla="*/ 656946 w 656946"/>
                        <a:gd name="connsiteY4" fmla="*/ 275207 h 275207"/>
                        <a:gd name="connsiteX5" fmla="*/ 5473 w 656946"/>
                        <a:gd name="connsiteY5" fmla="*/ 223421 h 275207"/>
                        <a:gd name="connsiteX0" fmla="*/ 0 w 656947"/>
                        <a:gd name="connsiteY0" fmla="*/ 257452 h 275207"/>
                        <a:gd name="connsiteX1" fmla="*/ 0 w 656947"/>
                        <a:gd name="connsiteY1" fmla="*/ 0 h 275207"/>
                        <a:gd name="connsiteX2" fmla="*/ 159798 w 656947"/>
                        <a:gd name="connsiteY2" fmla="*/ 150920 h 275207"/>
                        <a:gd name="connsiteX3" fmla="*/ 417250 w 656947"/>
                        <a:gd name="connsiteY3" fmla="*/ 248574 h 275207"/>
                        <a:gd name="connsiteX4" fmla="*/ 656947 w 656947"/>
                        <a:gd name="connsiteY4" fmla="*/ 275207 h 275207"/>
                        <a:gd name="connsiteX0" fmla="*/ 0 w 656947"/>
                        <a:gd name="connsiteY0" fmla="*/ 257452 h 275207"/>
                        <a:gd name="connsiteX1" fmla="*/ 0 w 656947"/>
                        <a:gd name="connsiteY1" fmla="*/ 0 h 275207"/>
                        <a:gd name="connsiteX2" fmla="*/ 159798 w 656947"/>
                        <a:gd name="connsiteY2" fmla="*/ 150920 h 275207"/>
                        <a:gd name="connsiteX3" fmla="*/ 417250 w 656947"/>
                        <a:gd name="connsiteY3" fmla="*/ 248574 h 275207"/>
                        <a:gd name="connsiteX4" fmla="*/ 656947 w 656947"/>
                        <a:gd name="connsiteY4" fmla="*/ 275207 h 27520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656947" h="275207">
                          <a:moveTo>
                            <a:pt x="0" y="257452"/>
                          </a:moveTo>
                          <a:lnTo>
                            <a:pt x="0" y="0"/>
                          </a:lnTo>
                          <a:lnTo>
                            <a:pt x="159798" y="150920"/>
                          </a:lnTo>
                          <a:lnTo>
                            <a:pt x="417250" y="248574"/>
                          </a:lnTo>
                          <a:cubicBezTo>
                            <a:pt x="497149" y="257452"/>
                            <a:pt x="640870" y="261890"/>
                            <a:pt x="656947" y="275207"/>
                          </a:cubicBezTo>
                        </a:path>
                      </a:pathLst>
                    </a:custGeom>
                    <a:gradFill flip="none" rotWithShape="1">
                      <a:gsLst>
                        <a:gs pos="0">
                          <a:schemeClr val="bg1"/>
                        </a:gs>
                        <a:gs pos="16000">
                          <a:srgbClr val="1F1F1F"/>
                        </a:gs>
                        <a:gs pos="17999">
                          <a:srgbClr val="FFFFFF"/>
                        </a:gs>
                        <a:gs pos="42000">
                          <a:srgbClr val="636363"/>
                        </a:gs>
                        <a:gs pos="53000">
                          <a:srgbClr val="CFCFCF"/>
                        </a:gs>
                        <a:gs pos="66000">
                          <a:srgbClr val="CFCFCF"/>
                        </a:gs>
                        <a:gs pos="75999">
                          <a:srgbClr val="1F1F1F"/>
                        </a:gs>
                        <a:gs pos="78999">
                          <a:srgbClr val="FFFFFF"/>
                        </a:gs>
                        <a:gs pos="100000">
                          <a:srgbClr val="7F7F7F"/>
                        </a:gs>
                      </a:gsLst>
                      <a:lin ang="2700000" scaled="0"/>
                      <a:tileRect/>
                    </a:gradFill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en-US"/>
                    </a:p>
                  </p:txBody>
                </p:sp>
                <p:sp>
                  <p:nvSpPr>
                    <p:cNvPr id="40980" name="Line 1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6028" y="2084942"/>
                      <a:ext cx="404081" cy="354646"/>
                    </a:xfrm>
                    <a:prstGeom prst="line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round/>
                      <a:headEnd/>
                      <a:tailEnd type="triangle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0981" name="Text Box 10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-457795" y="1825808"/>
                      <a:ext cx="1214348" cy="30777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eaLnBrk="1" hangingPunct="1"/>
                      <a:r>
                        <a:rPr lang="en-US" altLang="en-US" sz="1400">
                          <a:latin typeface="Calibri" charset="0"/>
                          <a:sym typeface="Mathematica1" charset="0"/>
                        </a:rPr>
                        <a:t>p-value = 0.01</a:t>
                      </a:r>
                    </a:p>
                  </p:txBody>
                </p:sp>
              </p:grpSp>
              <p:sp>
                <p:nvSpPr>
                  <p:cNvPr id="40975" name="Line 9"/>
                  <p:cNvSpPr>
                    <a:spLocks noChangeShapeType="1"/>
                  </p:cNvSpPr>
                  <p:nvPr/>
                </p:nvSpPr>
                <p:spPr bwMode="auto">
                  <a:xfrm>
                    <a:off x="1370312" y="914404"/>
                    <a:ext cx="0" cy="1718006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prstDash val="dash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0973" name="Object 1"/>
                    <p:cNvSpPr txBox="1"/>
                    <p:nvPr/>
                  </p:nvSpPr>
                  <p:spPr bwMode="auto">
                    <a:xfrm>
                      <a:off x="4133850" y="2921000"/>
                      <a:ext cx="1270000" cy="431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>
                      <a:normAutofit fontScale="40000" lnSpcReduction="20000"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rad>
                              <m:radPr>
                                <m:degHide m:val="on"/>
                                <m:ctrlP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f>
                                  <m:f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0.2(1−0.2)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100</m:t>
                                    </m:r>
                                  </m:den>
                                </m:f>
                              </m:e>
                            </m:rad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=0.04</m:t>
                            </m:r>
                          </m:oMath>
                        </m:oMathPara>
                      </a14:m>
                      <a:endParaRPr lang="en-US"/>
                    </a:p>
                  </p:txBody>
                </p:sp>
              </mc:Choice>
              <mc:Fallback xmlns="">
                <p:sp>
                  <p:nvSpPr>
                    <p:cNvPr id="40973" name="Object 1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4133850" y="2921000"/>
                      <a:ext cx="1270000" cy="431800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971" name="Object 9"/>
                  <p:cNvSpPr txBox="1"/>
                  <p:nvPr/>
                </p:nvSpPr>
                <p:spPr bwMode="auto">
                  <a:xfrm>
                    <a:off x="1898650" y="4824412"/>
                    <a:ext cx="1331912" cy="365125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rmAutofit fontScale="40000" lnSpcReduction="20000"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0.11−0.20</m:t>
                              </m:r>
                            </m:num>
                            <m:den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0.04</m:t>
                              </m:r>
                            </m:den>
                          </m:f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=−2.25</m:t>
                          </m:r>
                        </m:oMath>
                      </m:oMathPara>
                    </a14:m>
                    <a:endParaRPr lang="en-US"/>
                  </a:p>
                </p:txBody>
              </p:sp>
            </mc:Choice>
            <mc:Fallback xmlns="">
              <p:sp>
                <p:nvSpPr>
                  <p:cNvPr id="40971" name="Object 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1898650" y="4824412"/>
                    <a:ext cx="1331912" cy="36512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0969" name="Line 12"/>
            <p:cNvSpPr>
              <a:spLocks noChangeShapeType="1"/>
            </p:cNvSpPr>
            <p:nvPr/>
          </p:nvSpPr>
          <p:spPr bwMode="auto">
            <a:xfrm flipV="1">
              <a:off x="2736850" y="4461241"/>
              <a:ext cx="228599" cy="34194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0962" name="Title 1"/>
          <p:cNvSpPr>
            <a:spLocks noGrp="1"/>
          </p:cNvSpPr>
          <p:nvPr>
            <p:ph type="title"/>
          </p:nvPr>
        </p:nvSpPr>
        <p:spPr>
          <a:xfrm>
            <a:off x="800228" y="145869"/>
            <a:ext cx="8839200" cy="838200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ea typeface="ＭＳ Ｐゴシック" charset="-128"/>
              </a:rPr>
              <a:t>Left-tailed hypothesis test (sample proportion of 0.11)</a:t>
            </a:r>
          </a:p>
        </p:txBody>
      </p:sp>
      <p:sp>
        <p:nvSpPr>
          <p:cNvPr id="40963" name="Slide Number Placeholder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D3CC9E93-24E9-0440-85F7-B278120C03A9}" type="slidenum">
              <a:rPr lang="en-US" altLang="en-US" sz="1200">
                <a:solidFill>
                  <a:schemeClr val="bg1"/>
                </a:solidFill>
                <a:latin typeface="Calibri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23</a:t>
            </a:fld>
            <a:endParaRPr lang="en-US" altLang="en-US" sz="1200">
              <a:solidFill>
                <a:schemeClr val="bg1"/>
              </a:solidFill>
              <a:latin typeface="Calibri" charset="0"/>
            </a:endParaRPr>
          </a:p>
        </p:txBody>
      </p:sp>
      <p:sp>
        <p:nvSpPr>
          <p:cNvPr id="19" name="TextBox 2"/>
          <p:cNvSpPr txBox="1">
            <a:spLocks noChangeArrowheads="1"/>
          </p:cNvSpPr>
          <p:nvPr/>
        </p:nvSpPr>
        <p:spPr bwMode="auto">
          <a:xfrm>
            <a:off x="1066913" y="1253770"/>
            <a:ext cx="4038600" cy="8302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en-US" sz="1600">
                <a:latin typeface="Calibri" charset="0"/>
              </a:rPr>
              <a:t>Null Hypothesis: The software cannot reduce the spam filter rate to less than 20%</a:t>
            </a:r>
          </a:p>
          <a:p>
            <a:pPr algn="ctr"/>
            <a:r>
              <a:rPr lang="en-US" altLang="en-US" sz="1600">
                <a:solidFill>
                  <a:srgbClr val="0000FF"/>
                </a:solidFill>
                <a:latin typeface="Calibri" charset="0"/>
              </a:rPr>
              <a:t>H0: </a:t>
            </a:r>
            <a:r>
              <a:rPr lang="el-GR" altLang="en-US" sz="1600">
                <a:solidFill>
                  <a:srgbClr val="0000FF"/>
                </a:solidFill>
                <a:latin typeface="Calibri" charset="0"/>
              </a:rPr>
              <a:t>π</a:t>
            </a:r>
            <a:r>
              <a:rPr lang="en-US" altLang="en-US" sz="1600">
                <a:solidFill>
                  <a:srgbClr val="0000FF"/>
                </a:solidFill>
                <a:latin typeface="Calibri" charset="0"/>
              </a:rPr>
              <a:t> ≥ </a:t>
            </a:r>
            <a:r>
              <a:rPr lang="el-GR" altLang="en-US" sz="1600">
                <a:solidFill>
                  <a:srgbClr val="0000FF"/>
                </a:solidFill>
                <a:latin typeface="Calibri" charset="0"/>
              </a:rPr>
              <a:t>π</a:t>
            </a:r>
            <a:r>
              <a:rPr lang="en-US" altLang="en-US" sz="1600" baseline="-25000">
                <a:solidFill>
                  <a:srgbClr val="0000FF"/>
                </a:solidFill>
                <a:latin typeface="Calibri" charset="0"/>
              </a:rPr>
              <a:t>0</a:t>
            </a:r>
            <a:r>
              <a:rPr lang="en-US" altLang="en-US" sz="1600">
                <a:solidFill>
                  <a:srgbClr val="0000FF"/>
                </a:solidFill>
                <a:latin typeface="Calibri" charset="0"/>
              </a:rPr>
              <a:t> (0.20)</a:t>
            </a:r>
          </a:p>
        </p:txBody>
      </p:sp>
      <p:sp>
        <p:nvSpPr>
          <p:cNvPr id="20" name="TextBox 2"/>
          <p:cNvSpPr txBox="1">
            <a:spLocks noChangeArrowheads="1"/>
          </p:cNvSpPr>
          <p:nvPr/>
        </p:nvSpPr>
        <p:spPr bwMode="auto">
          <a:xfrm>
            <a:off x="7280329" y="1120776"/>
            <a:ext cx="3886200" cy="8620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en-US" sz="1600">
                <a:latin typeface="Calibri" charset="0"/>
              </a:rPr>
              <a:t>Acceptable level of type-I error is 0.05</a:t>
            </a:r>
          </a:p>
          <a:p>
            <a:pPr algn="ctr"/>
            <a:endParaRPr lang="en-US" altLang="en-US" sz="1600">
              <a:latin typeface="Calibri" charset="0"/>
            </a:endParaRPr>
          </a:p>
          <a:p>
            <a:pPr algn="ctr"/>
            <a:r>
              <a:rPr lang="en-US" altLang="en-US" sz="1600">
                <a:solidFill>
                  <a:srgbClr val="0000FF"/>
                </a:solidFill>
                <a:latin typeface="Calibri" charset="0"/>
              </a:rPr>
              <a:t>(</a:t>
            </a:r>
            <a:r>
              <a:rPr lang="el-GR" altLang="en-US" sz="1600">
                <a:solidFill>
                  <a:srgbClr val="0000FF"/>
                </a:solidFill>
                <a:latin typeface="Calibri" charset="0"/>
              </a:rPr>
              <a:t>α</a:t>
            </a:r>
            <a:r>
              <a:rPr lang="en-US" altLang="en-US" sz="1600">
                <a:solidFill>
                  <a:srgbClr val="0000FF"/>
                </a:solidFill>
                <a:latin typeface="Calibri" charset="0"/>
              </a:rPr>
              <a:t> = 0.05</a:t>
            </a:r>
            <a:r>
              <a:rPr lang="el-GR" altLang="en-US" sz="1600">
                <a:solidFill>
                  <a:srgbClr val="0000FF"/>
                </a:solidFill>
                <a:latin typeface="Calibri" charset="0"/>
              </a:rPr>
              <a:t>)</a:t>
            </a:r>
            <a:endParaRPr lang="en-US" altLang="en-US" sz="1600">
              <a:solidFill>
                <a:srgbClr val="0000FF"/>
              </a:solidFill>
              <a:latin typeface="Calibri" charset="0"/>
            </a:endParaRPr>
          </a:p>
        </p:txBody>
      </p:sp>
      <p:sp>
        <p:nvSpPr>
          <p:cNvPr id="26" name="TextBox 2"/>
          <p:cNvSpPr txBox="1">
            <a:spLocks noChangeArrowheads="1"/>
          </p:cNvSpPr>
          <p:nvPr/>
        </p:nvSpPr>
        <p:spPr bwMode="auto">
          <a:xfrm>
            <a:off x="2209800" y="4343400"/>
            <a:ext cx="7772400" cy="33855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en-US" sz="1600" dirty="0">
                <a:latin typeface="Calibri" charset="0"/>
              </a:rPr>
              <a:t>Probability of seeing a sample of 0.11 or less if </a:t>
            </a:r>
            <a:r>
              <a:rPr lang="el-GR" altLang="en-US" sz="1600" dirty="0">
                <a:latin typeface="Calibri" charset="0"/>
              </a:rPr>
              <a:t>π</a:t>
            </a:r>
            <a:r>
              <a:rPr lang="en-US" altLang="en-US" sz="1600" dirty="0">
                <a:latin typeface="Calibri" charset="0"/>
              </a:rPr>
              <a:t> </a:t>
            </a:r>
            <a:r>
              <a:rPr lang="el-GR" altLang="en-US" sz="1600" dirty="0">
                <a:latin typeface="Calibri" charset="0"/>
              </a:rPr>
              <a:t>≥</a:t>
            </a:r>
            <a:r>
              <a:rPr lang="en-US" altLang="en-US" sz="1600" dirty="0">
                <a:latin typeface="Calibri" charset="0"/>
              </a:rPr>
              <a:t> 0.20 is 0.01, which is less than 0.05</a:t>
            </a:r>
          </a:p>
        </p:txBody>
      </p:sp>
      <p:sp>
        <p:nvSpPr>
          <p:cNvPr id="27" name="TextBox 2"/>
          <p:cNvSpPr txBox="1">
            <a:spLocks noChangeArrowheads="1"/>
          </p:cNvSpPr>
          <p:nvPr/>
        </p:nvSpPr>
        <p:spPr bwMode="auto">
          <a:xfrm>
            <a:off x="2209800" y="5131178"/>
            <a:ext cx="7772400" cy="3381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>
              <a:defRPr/>
            </a:pPr>
            <a:r>
              <a:rPr lang="en-US" sz="1600" dirty="0">
                <a:latin typeface="+mj-lt"/>
                <a:ea typeface="ＭＳ Ｐゴシック" pitchFamily="34" charset="-128"/>
              </a:rPr>
              <a:t>Buy the spam filter software</a:t>
            </a:r>
          </a:p>
        </p:txBody>
      </p:sp>
    </p:spTree>
    <p:extLst>
      <p:ext uri="{BB962C8B-B14F-4D97-AF65-F5344CB8AC3E}">
        <p14:creationId xmlns:p14="http://schemas.microsoft.com/office/powerpoint/2010/main" val="1392320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6" grpId="0" animBg="1"/>
      <p:bldP spid="2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3415"/>
          </a:xfrm>
        </p:spPr>
        <p:txBody>
          <a:bodyPr/>
          <a:lstStyle/>
          <a:p>
            <a:r>
              <a:rPr lang="en-IN" dirty="0"/>
              <a:t>Breaking the Windshields - 1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3034857" cy="3880772"/>
          </a:xfrm>
        </p:spPr>
        <p:txBody>
          <a:bodyPr>
            <a:normAutofit lnSpcReduction="10000"/>
          </a:bodyPr>
          <a:lstStyle/>
          <a:p>
            <a:r>
              <a:rPr lang="en-IN" dirty="0"/>
              <a:t>Krishna Kant’s Wind Shields</a:t>
            </a:r>
          </a:p>
          <a:p>
            <a:r>
              <a:rPr lang="en-IN" dirty="0"/>
              <a:t>H</a:t>
            </a:r>
            <a:r>
              <a:rPr lang="en-IN" baseline="-25000" dirty="0"/>
              <a:t>0</a:t>
            </a:r>
            <a:r>
              <a:rPr lang="en-IN" dirty="0"/>
              <a:t>: µ ≥ 500 psi</a:t>
            </a:r>
          </a:p>
          <a:p>
            <a:r>
              <a:rPr lang="en-IN" dirty="0"/>
              <a:t>H</a:t>
            </a:r>
            <a:r>
              <a:rPr lang="en-IN" baseline="-25000" dirty="0"/>
              <a:t>1</a:t>
            </a:r>
            <a:r>
              <a:rPr lang="en-IN" dirty="0"/>
              <a:t>: µ &lt; 500 psi</a:t>
            </a:r>
          </a:p>
          <a:p>
            <a:r>
              <a:rPr lang="el-GR" dirty="0"/>
              <a:t>σ</a:t>
            </a:r>
            <a:r>
              <a:rPr lang="en-IN" dirty="0"/>
              <a:t> = 50 psi</a:t>
            </a:r>
          </a:p>
          <a:p>
            <a:r>
              <a:rPr lang="en-IN" dirty="0"/>
              <a:t>Current Supplier:</a:t>
            </a:r>
          </a:p>
          <a:p>
            <a:r>
              <a:rPr lang="en-IN" dirty="0"/>
              <a:t>µ = 470</a:t>
            </a:r>
          </a:p>
          <a:p>
            <a:r>
              <a:rPr lang="en-IN" dirty="0"/>
              <a:t>Is this an “appropriate Alternate” value for µ for H</a:t>
            </a:r>
            <a:r>
              <a:rPr lang="en-IN" baseline="-25000" dirty="0"/>
              <a:t>1</a:t>
            </a:r>
            <a:r>
              <a:rPr lang="en-IN" dirty="0"/>
              <a:t>?</a:t>
            </a:r>
          </a:p>
          <a:p>
            <a:r>
              <a:rPr lang="el-GR" dirty="0"/>
              <a:t>α</a:t>
            </a:r>
            <a:r>
              <a:rPr lang="en-IN" dirty="0"/>
              <a:t> = 0.10</a:t>
            </a:r>
          </a:p>
        </p:txBody>
      </p:sp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45041118"/>
              </p:ext>
            </p:extLst>
          </p:nvPr>
        </p:nvGraphicFramePr>
        <p:xfrm>
          <a:off x="3361862" y="1357158"/>
          <a:ext cx="6027797" cy="47114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7" name="Straight Connector 6"/>
          <p:cNvCxnSpPr/>
          <p:nvPr/>
        </p:nvCxnSpPr>
        <p:spPr>
          <a:xfrm flipV="1">
            <a:off x="6018663" y="1719618"/>
            <a:ext cx="27295" cy="3985146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1241" y="1350286"/>
            <a:ext cx="409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C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5227093" y="4517409"/>
            <a:ext cx="614148" cy="818866"/>
          </a:xfrm>
          <a:prstGeom prst="straightConnector1">
            <a:avLst/>
          </a:prstGeom>
          <a:ln w="190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844956" y="4209632"/>
            <a:ext cx="7642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10%</a:t>
            </a:r>
          </a:p>
        </p:txBody>
      </p:sp>
    </p:spTree>
    <p:extLst>
      <p:ext uri="{BB962C8B-B14F-4D97-AF65-F5344CB8AC3E}">
        <p14:creationId xmlns:p14="http://schemas.microsoft.com/office/powerpoint/2010/main" val="1963311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  <p:bldP spid="8" grpId="0"/>
      <p:bldP spid="1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Breaking the Windshields –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5" y="2160589"/>
            <a:ext cx="2761902" cy="3880772"/>
          </a:xfrm>
        </p:spPr>
        <p:txBody>
          <a:bodyPr/>
          <a:lstStyle/>
          <a:p>
            <a:r>
              <a:rPr lang="en-IN" dirty="0"/>
              <a:t>Calculation of </a:t>
            </a:r>
            <a:r>
              <a:rPr lang="el-GR" dirty="0"/>
              <a:t>β</a:t>
            </a:r>
            <a:endParaRPr lang="en-IN" dirty="0"/>
          </a:p>
        </p:txBody>
      </p:sp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69159198"/>
              </p:ext>
            </p:extLst>
          </p:nvPr>
        </p:nvGraphicFramePr>
        <p:xfrm>
          <a:off x="3248167" y="1807368"/>
          <a:ext cx="6025835" cy="43477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7" name="Straight Connector 6"/>
          <p:cNvCxnSpPr/>
          <p:nvPr/>
        </p:nvCxnSpPr>
        <p:spPr>
          <a:xfrm flipH="1" flipV="1">
            <a:off x="7096836" y="2160589"/>
            <a:ext cx="13648" cy="3612414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929894" y="1791257"/>
            <a:ext cx="2866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C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 flipH="1">
            <a:off x="7216497" y="4872251"/>
            <a:ext cx="644613" cy="805218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854285" y="4502919"/>
            <a:ext cx="450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70C0"/>
                </a:solidFill>
              </a:rPr>
              <a:t>5%</a:t>
            </a:r>
          </a:p>
        </p:txBody>
      </p:sp>
    </p:spTree>
    <p:extLst>
      <p:ext uri="{BB962C8B-B14F-4D97-AF65-F5344CB8AC3E}">
        <p14:creationId xmlns:p14="http://schemas.microsoft.com/office/powerpoint/2010/main" val="4185301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  <p:bldP spid="1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89919"/>
            <a:ext cx="8596668" cy="959893"/>
          </a:xfrm>
        </p:spPr>
        <p:txBody>
          <a:bodyPr/>
          <a:lstStyle/>
          <a:p>
            <a:r>
              <a:rPr lang="en-IN" dirty="0"/>
              <a:t>Breaking the Windshields – 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245660" y="973232"/>
                <a:ext cx="2866030" cy="5181907"/>
              </a:xfrm>
            </p:spPr>
            <p:txBody>
              <a:bodyPr/>
              <a:lstStyle/>
              <a:p>
                <a:r>
                  <a:rPr lang="en-IN" dirty="0"/>
                  <a:t>Putting both together!</a:t>
                </a:r>
              </a:p>
              <a:p>
                <a:r>
                  <a:rPr lang="en-IN" dirty="0"/>
                  <a:t>Z for 0.1 = -1.2816</a:t>
                </a:r>
              </a:p>
              <a:p>
                <a:r>
                  <a:rPr lang="en-IN" dirty="0"/>
                  <a:t>Z for 0.05 = 1.645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−500</m:t>
                        </m:r>
                      </m:num>
                      <m:den>
                        <m:sSub>
                          <m:sSubPr>
                            <m:ctrlPr>
                              <a:rPr lang="en-I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acc>
                              <m:accPr>
                                <m:chr m:val="̅"/>
                                <m:ctrlPr>
                                  <a:rPr lang="en-IN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sub>
                        </m:sSub>
                      </m:den>
                    </m:f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=−1.2816</m:t>
                    </m:r>
                  </m:oMath>
                </a14:m>
                <a:endParaRPr lang="en-IN" sz="2000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−470</m:t>
                        </m:r>
                      </m:num>
                      <m:den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acc>
                              <m:accPr>
                                <m:chr m:val="̅"/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sub>
                        </m:sSub>
                      </m:den>
                    </m:f>
                    <m:r>
                      <a:rPr lang="en-IN" i="1">
                        <a:latin typeface="Cambria Math" panose="02040503050406030204" pitchFamily="18" charset="0"/>
                      </a:rPr>
                      <m:t>=1.6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45</m:t>
                    </m:r>
                  </m:oMath>
                </a14:m>
                <a:endParaRPr lang="en-IN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acc>
                          <m:accPr>
                            <m:chr m:val="̅"/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50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</m:oMath>
                </a14:m>
                <a:r>
                  <a:rPr lang="en-IN" dirty="0"/>
                  <a:t> </a:t>
                </a:r>
              </a:p>
              <a:p>
                <a:r>
                  <a:rPr lang="en-IN" dirty="0"/>
                  <a:t>Can you solve for n and C?</a:t>
                </a:r>
              </a:p>
              <a:p>
                <a:r>
                  <a:rPr lang="en-IN" dirty="0"/>
                  <a:t>C = 486.86</a:t>
                </a:r>
              </a:p>
              <a:p>
                <a:r>
                  <a:rPr lang="en-IN" dirty="0"/>
                  <a:t>n = 23.788 ≈ 24 </a:t>
                </a:r>
              </a:p>
              <a:p>
                <a:r>
                  <a:rPr lang="en-IN" dirty="0"/>
                  <a:t>Conclusion?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245660" y="973232"/>
                <a:ext cx="2866030" cy="5181907"/>
              </a:xfrm>
              <a:blipFill rotWithShape="0">
                <a:blip r:embed="rId2"/>
                <a:stretch>
                  <a:fillRect l="-426" t="-824" r="-127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83628531"/>
              </p:ext>
            </p:extLst>
          </p:nvPr>
        </p:nvGraphicFramePr>
        <p:xfrm>
          <a:off x="2974606" y="1416273"/>
          <a:ext cx="7220271" cy="50254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6" name="Straight Connector 5"/>
          <p:cNvCxnSpPr/>
          <p:nvPr/>
        </p:nvCxnSpPr>
        <p:spPr>
          <a:xfrm flipH="1" flipV="1">
            <a:off x="6741994" y="2310714"/>
            <a:ext cx="13648" cy="3612414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75052" y="1941382"/>
            <a:ext cx="2866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C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6922584" y="4981433"/>
            <a:ext cx="532262" cy="79157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448021" y="4612101"/>
            <a:ext cx="450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70C0"/>
                </a:solidFill>
              </a:rPr>
              <a:t>5%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5853307" y="4744823"/>
            <a:ext cx="614148" cy="818866"/>
          </a:xfrm>
          <a:prstGeom prst="straightConnector1">
            <a:avLst/>
          </a:prstGeom>
          <a:ln w="190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71170" y="4437046"/>
            <a:ext cx="7642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10%</a:t>
            </a:r>
          </a:p>
        </p:txBody>
      </p:sp>
    </p:spTree>
    <p:extLst>
      <p:ext uri="{BB962C8B-B14F-4D97-AF65-F5344CB8AC3E}">
        <p14:creationId xmlns:p14="http://schemas.microsoft.com/office/powerpoint/2010/main" val="2232398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  <p:bldP spid="9" grpId="0"/>
      <p:bldP spid="1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0" y="0"/>
            <a:ext cx="8839200" cy="838200"/>
          </a:xfrm>
        </p:spPr>
        <p:txBody>
          <a:bodyPr/>
          <a:lstStyle/>
          <a:p>
            <a:r>
              <a:rPr lang="en-US" altLang="en-US" dirty="0">
                <a:ea typeface="ＭＳ Ｐゴシック" charset="-128"/>
              </a:rPr>
              <a:t>Summary of Session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>
          <a:xfrm>
            <a:off x="677334" y="1512889"/>
            <a:ext cx="8596668" cy="4528474"/>
          </a:xfrm>
        </p:spPr>
        <p:txBody>
          <a:bodyPr>
            <a:normAutofit fontScale="85000" lnSpcReduction="20000"/>
          </a:bodyPr>
          <a:lstStyle/>
          <a:p>
            <a:r>
              <a:rPr lang="en-US" altLang="en-US" dirty="0">
                <a:solidFill>
                  <a:srgbClr val="0000FF"/>
                </a:solidFill>
                <a:ea typeface="ＭＳ Ｐゴシック" charset="-128"/>
              </a:rPr>
              <a:t>Hypothesis </a:t>
            </a:r>
            <a:r>
              <a:rPr lang="en-US" altLang="en-US" dirty="0">
                <a:solidFill>
                  <a:srgbClr val="000000"/>
                </a:solidFill>
                <a:ea typeface="ＭＳ Ｐゴシック" charset="-128"/>
              </a:rPr>
              <a:t>is a provisional statement about a population parameter that is subject to a test and rejection based on evidence</a:t>
            </a:r>
          </a:p>
          <a:p>
            <a:pPr>
              <a:spcBef>
                <a:spcPts val="3000"/>
              </a:spcBef>
            </a:pPr>
            <a:r>
              <a:rPr lang="en-US" altLang="en-US" dirty="0">
                <a:ea typeface="ＭＳ Ｐゴシック" charset="-128"/>
              </a:rPr>
              <a:t>Hypothesis test is applicable when the </a:t>
            </a:r>
            <a:r>
              <a:rPr lang="en-US" altLang="en-US" dirty="0">
                <a:solidFill>
                  <a:srgbClr val="0000FF"/>
                </a:solidFill>
                <a:ea typeface="ＭＳ Ｐゴシック" charset="-128"/>
              </a:rPr>
              <a:t>manager has specific position on a population parameter </a:t>
            </a:r>
            <a:r>
              <a:rPr lang="en-US" altLang="en-US" dirty="0">
                <a:ea typeface="ＭＳ Ｐゴシック" charset="-128"/>
              </a:rPr>
              <a:t>which needs to be rejected in order to take action</a:t>
            </a:r>
          </a:p>
          <a:p>
            <a:pPr>
              <a:spcBef>
                <a:spcPts val="3000"/>
              </a:spcBef>
            </a:pPr>
            <a:r>
              <a:rPr lang="en-US" altLang="en-US" dirty="0">
                <a:ea typeface="ＭＳ Ｐゴシック" charset="-128"/>
              </a:rPr>
              <a:t>Strength of the evidence is calculated as the </a:t>
            </a:r>
            <a:r>
              <a:rPr lang="en-US" altLang="en-US" dirty="0">
                <a:solidFill>
                  <a:srgbClr val="0000FF"/>
                </a:solidFill>
                <a:ea typeface="ＭＳ Ｐゴシック" charset="-128"/>
              </a:rPr>
              <a:t>probability of finding such and stronger evidence </a:t>
            </a:r>
            <a:r>
              <a:rPr lang="en-US" altLang="en-US" dirty="0">
                <a:ea typeface="ＭＳ Ｐゴシック" charset="-128"/>
              </a:rPr>
              <a:t>if the null hypothesis is true and is called </a:t>
            </a:r>
            <a:r>
              <a:rPr lang="en-US" altLang="en-US" dirty="0">
                <a:solidFill>
                  <a:srgbClr val="0000FF"/>
                </a:solidFill>
                <a:ea typeface="ＭＳ Ｐゴシック" charset="-128"/>
              </a:rPr>
              <a:t>p-value</a:t>
            </a:r>
          </a:p>
          <a:p>
            <a:pPr>
              <a:spcBef>
                <a:spcPts val="3000"/>
              </a:spcBef>
            </a:pPr>
            <a:r>
              <a:rPr lang="en-US" altLang="en-US" dirty="0">
                <a:solidFill>
                  <a:srgbClr val="0000FF"/>
                </a:solidFill>
                <a:ea typeface="ＭＳ Ｐゴシック" charset="-128"/>
              </a:rPr>
              <a:t>If p-value is less than </a:t>
            </a:r>
            <a:r>
              <a:rPr lang="el-GR" altLang="en-US" dirty="0">
                <a:solidFill>
                  <a:srgbClr val="0000FF"/>
                </a:solidFill>
                <a:ea typeface="ＭＳ Ｐゴシック" charset="-128"/>
              </a:rPr>
              <a:t>α</a:t>
            </a:r>
            <a:r>
              <a:rPr lang="en-US" altLang="en-US" dirty="0">
                <a:solidFill>
                  <a:srgbClr val="0000FF"/>
                </a:solidFill>
                <a:ea typeface="ＭＳ Ｐゴシック" charset="-128"/>
                <a:sym typeface="Symbol" charset="2"/>
              </a:rPr>
              <a:t>-value (</a:t>
            </a:r>
            <a:r>
              <a:rPr lang="en-US" altLang="en-US" dirty="0">
                <a:solidFill>
                  <a:srgbClr val="0000FF"/>
                </a:solidFill>
                <a:ea typeface="ＭＳ Ｐゴシック" charset="-128"/>
              </a:rPr>
              <a:t>the level of significance), </a:t>
            </a:r>
            <a:r>
              <a:rPr lang="en-US" altLang="en-US" dirty="0">
                <a:ea typeface="ＭＳ Ｐゴシック" charset="-128"/>
              </a:rPr>
              <a:t>the manager deems the evidence to be strong enough, </a:t>
            </a:r>
            <a:r>
              <a:rPr lang="en-US" altLang="en-US" dirty="0">
                <a:solidFill>
                  <a:srgbClr val="0000FF"/>
                </a:solidFill>
                <a:ea typeface="ＭＳ Ｐゴシック" charset="-128"/>
              </a:rPr>
              <a:t>rejects the null hypothesis </a:t>
            </a:r>
            <a:r>
              <a:rPr lang="en-US" altLang="en-US" dirty="0">
                <a:ea typeface="ＭＳ Ｐゴシック" charset="-128"/>
              </a:rPr>
              <a:t>and takes appropriate action</a:t>
            </a:r>
          </a:p>
          <a:p>
            <a:pPr>
              <a:spcBef>
                <a:spcPts val="3000"/>
              </a:spcBef>
            </a:pPr>
            <a:r>
              <a:rPr lang="en-US" altLang="en-US" dirty="0">
                <a:ea typeface="ＭＳ Ｐゴシック" charset="-128"/>
              </a:rPr>
              <a:t>Given the uncertainty, we can never reject or not reject a hypothesis with certainty</a:t>
            </a:r>
          </a:p>
          <a:p>
            <a:pPr lvl="1"/>
            <a:r>
              <a:rPr lang="en-US" altLang="en-US" dirty="0">
                <a:solidFill>
                  <a:srgbClr val="0000FF"/>
                </a:solidFill>
                <a:ea typeface="ＭＳ Ｐゴシック" charset="-128"/>
              </a:rPr>
              <a:t>Type I</a:t>
            </a:r>
            <a:r>
              <a:rPr lang="en-US" altLang="en-US" dirty="0">
                <a:ea typeface="ＭＳ Ｐゴシック" charset="-128"/>
              </a:rPr>
              <a:t> error – Null hypothesis is true but you reject it based on “unusual” sample </a:t>
            </a:r>
          </a:p>
          <a:p>
            <a:pPr lvl="1"/>
            <a:r>
              <a:rPr lang="en-US" altLang="en-US" dirty="0">
                <a:solidFill>
                  <a:srgbClr val="0000FF"/>
                </a:solidFill>
                <a:ea typeface="ＭＳ Ｐゴシック" charset="-128"/>
              </a:rPr>
              <a:t>Type II</a:t>
            </a:r>
            <a:r>
              <a:rPr lang="en-US" altLang="en-US" dirty="0">
                <a:ea typeface="ＭＳ Ｐゴシック" charset="-128"/>
              </a:rPr>
              <a:t> error – Null hypothesis is not true but you accept it based on “usual” sample</a:t>
            </a:r>
          </a:p>
          <a:p>
            <a:pPr lvl="1"/>
            <a:r>
              <a:rPr lang="en-US" altLang="en-US" dirty="0">
                <a:ea typeface="ＭＳ Ｐゴシック" charset="-128"/>
              </a:rPr>
              <a:t>P(Type I error) = p-value</a:t>
            </a:r>
          </a:p>
          <a:p>
            <a:pPr lvl="1"/>
            <a:r>
              <a:rPr lang="en-US" altLang="en-US" dirty="0">
                <a:ea typeface="ＭＳ Ｐゴシック" charset="-128"/>
                <a:sym typeface="Symbol" charset="2"/>
              </a:rPr>
              <a:t>P(Type-II error) ≠1 – P(Type-I error) </a:t>
            </a:r>
            <a:endParaRPr lang="en-US" altLang="en-US" dirty="0">
              <a:solidFill>
                <a:srgbClr val="0000FF"/>
              </a:solidFill>
              <a:ea typeface="ＭＳ Ｐゴシック" charset="-128"/>
            </a:endParaRPr>
          </a:p>
        </p:txBody>
      </p:sp>
      <p:sp>
        <p:nvSpPr>
          <p:cNvPr id="57347" name="Slide Number Placeholder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FFE02AB6-BC11-264D-8118-BAB26D50242E}" type="slidenum">
              <a:rPr lang="en-US" altLang="en-US" sz="1200">
                <a:solidFill>
                  <a:schemeClr val="bg1"/>
                </a:solidFill>
                <a:latin typeface="Calibri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27</a:t>
            </a:fld>
            <a:endParaRPr lang="en-US" altLang="en-US" sz="1200">
              <a:solidFill>
                <a:schemeClr val="bg1"/>
              </a:solidFill>
              <a:latin typeface="Calibri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677334" y="1002406"/>
            <a:ext cx="8839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>
              <a:spcBef>
                <a:spcPct val="20000"/>
              </a:spcBef>
              <a:buFont typeface="Arial" charset="0"/>
              <a:buChar char="•"/>
            </a:pPr>
            <a:r>
              <a:rPr lang="en-US" altLang="en-US" sz="1800">
                <a:solidFill>
                  <a:srgbClr val="000000"/>
                </a:solidFill>
                <a:latin typeface="Calibri" charset="0"/>
              </a:rPr>
              <a:t>How and when to formulate </a:t>
            </a:r>
            <a:r>
              <a:rPr lang="en-US" altLang="en-US" sz="1800">
                <a:solidFill>
                  <a:srgbClr val="0000FF"/>
                </a:solidFill>
                <a:latin typeface="Calibri" charset="0"/>
              </a:rPr>
              <a:t>hypotheses</a:t>
            </a:r>
            <a:r>
              <a:rPr lang="en-US" altLang="en-US" sz="1800">
                <a:solidFill>
                  <a:srgbClr val="000000"/>
                </a:solidFill>
                <a:latin typeface="Calibri" charset="0"/>
              </a:rPr>
              <a:t> about population parameters?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77334" y="2678110"/>
            <a:ext cx="88392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>
              <a:spcBef>
                <a:spcPct val="20000"/>
              </a:spcBef>
              <a:buFont typeface="Arial" charset="0"/>
              <a:buChar char="•"/>
            </a:pPr>
            <a:r>
              <a:rPr lang="en-US" altLang="en-US" sz="1800" dirty="0">
                <a:solidFill>
                  <a:srgbClr val="000000"/>
                </a:solidFill>
                <a:latin typeface="Calibri" charset="0"/>
              </a:rPr>
              <a:t>How to quantify the </a:t>
            </a:r>
            <a:r>
              <a:rPr lang="en-US" altLang="en-US" sz="1800" dirty="0">
                <a:solidFill>
                  <a:srgbClr val="0000FF"/>
                </a:solidFill>
                <a:latin typeface="Calibri" charset="0"/>
              </a:rPr>
              <a:t>strength of the evidence</a:t>
            </a:r>
            <a:r>
              <a:rPr lang="en-US" altLang="en-US" sz="1800" dirty="0">
                <a:solidFill>
                  <a:srgbClr val="000000"/>
                </a:solidFill>
                <a:latin typeface="Calibri" charset="0"/>
              </a:rPr>
              <a:t>?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677334" y="4168869"/>
            <a:ext cx="88392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>
              <a:spcBef>
                <a:spcPct val="20000"/>
              </a:spcBef>
              <a:buFont typeface="Arial" charset="0"/>
              <a:buChar char="•"/>
            </a:pPr>
            <a:r>
              <a:rPr lang="en-US" altLang="en-US" sz="1800" dirty="0">
                <a:solidFill>
                  <a:srgbClr val="000000"/>
                </a:solidFill>
                <a:latin typeface="Calibri" charset="0"/>
              </a:rPr>
              <a:t>What are </a:t>
            </a:r>
            <a:r>
              <a:rPr lang="en-US" altLang="en-US" sz="1800" dirty="0">
                <a:solidFill>
                  <a:srgbClr val="0000FF"/>
                </a:solidFill>
                <a:latin typeface="Calibri" charset="0"/>
              </a:rPr>
              <a:t>Type I</a:t>
            </a:r>
            <a:r>
              <a:rPr lang="en-US" altLang="en-US" sz="1800" dirty="0">
                <a:solidFill>
                  <a:srgbClr val="000000"/>
                </a:solidFill>
                <a:latin typeface="Calibri" charset="0"/>
              </a:rPr>
              <a:t> and </a:t>
            </a:r>
            <a:r>
              <a:rPr lang="en-US" altLang="en-US" sz="1800" dirty="0">
                <a:solidFill>
                  <a:srgbClr val="0000FF"/>
                </a:solidFill>
                <a:latin typeface="Calibri" charset="0"/>
              </a:rPr>
              <a:t>Type II</a:t>
            </a:r>
            <a:r>
              <a:rPr lang="en-US" altLang="en-US" sz="1800" dirty="0">
                <a:solidFill>
                  <a:srgbClr val="000000"/>
                </a:solidFill>
                <a:latin typeface="Calibri" charset="0"/>
              </a:rPr>
              <a:t> errors ?</a:t>
            </a:r>
          </a:p>
        </p:txBody>
      </p:sp>
    </p:spTree>
    <p:extLst>
      <p:ext uri="{BB962C8B-B14F-4D97-AF65-F5344CB8AC3E}">
        <p14:creationId xmlns:p14="http://schemas.microsoft.com/office/powerpoint/2010/main" val="1183518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6" grpId="0"/>
      <p:bldP spid="6" grpId="1"/>
      <p:bldP spid="8" grpId="0"/>
      <p:bldP spid="8" grpId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Questions?</a:t>
            </a:r>
          </a:p>
          <a:p>
            <a:r>
              <a:rPr lang="en-IN"/>
              <a:t>Clarifications?</a:t>
            </a:r>
          </a:p>
        </p:txBody>
      </p:sp>
    </p:spTree>
    <p:extLst>
      <p:ext uri="{BB962C8B-B14F-4D97-AF65-F5344CB8AC3E}">
        <p14:creationId xmlns:p14="http://schemas.microsoft.com/office/powerpoint/2010/main" val="309489360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1763</TotalTime>
  <Words>1620</Words>
  <Application>Microsoft Office PowerPoint</Application>
  <PresentationFormat>Widescreen</PresentationFormat>
  <Paragraphs>346</Paragraphs>
  <Slides>28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Calibri</vt:lpstr>
      <vt:lpstr>Cambria Math</vt:lpstr>
      <vt:lpstr>Trebuchet MS</vt:lpstr>
      <vt:lpstr>Wingdings 3</vt:lpstr>
      <vt:lpstr>Facet</vt:lpstr>
      <vt:lpstr>Hypothesis Test</vt:lpstr>
      <vt:lpstr>Revisit to “How Much to pack?”</vt:lpstr>
      <vt:lpstr>Two possibilities</vt:lpstr>
      <vt:lpstr>Distribution of Sample Mean|μ = 1003.88 </vt:lpstr>
      <vt:lpstr>Test (If the Hypothesis is True)</vt:lpstr>
      <vt:lpstr>Calculation of Type II Error (probability)</vt:lpstr>
      <vt:lpstr>Consider μ = 1003.48</vt:lpstr>
      <vt:lpstr>Homework</vt:lpstr>
      <vt:lpstr>Case: Is Medworld Cheating?</vt:lpstr>
      <vt:lpstr>Three other ways to Test the Hypothesis</vt:lpstr>
      <vt:lpstr>Three other ways (Continued)</vt:lpstr>
      <vt:lpstr>Calculation of p-value</vt:lpstr>
      <vt:lpstr>PowerPoint Presentation</vt:lpstr>
      <vt:lpstr>Hypothesis Test – Step by Step</vt:lpstr>
      <vt:lpstr>Bending of Belmadi</vt:lpstr>
      <vt:lpstr>Bending of Belmadi</vt:lpstr>
      <vt:lpstr>Bending of Belmadi: Two ways of setting up Null Hypothesis</vt:lpstr>
      <vt:lpstr>Bending of Belmadi: Calculation of Rejection Regions</vt:lpstr>
      <vt:lpstr>Conclusion?</vt:lpstr>
      <vt:lpstr>Is Medworld Cheating? Data</vt:lpstr>
      <vt:lpstr>Hypothesis Test – Proportion</vt:lpstr>
      <vt:lpstr>Example: Spam Filter</vt:lpstr>
      <vt:lpstr>Left-tailed hypothesis test (sample proportion of 0.11)</vt:lpstr>
      <vt:lpstr>Breaking the Windshields - 1</vt:lpstr>
      <vt:lpstr>Breaking the Windshields – 2</vt:lpstr>
      <vt:lpstr>Breaking the Windshields – 3</vt:lpstr>
      <vt:lpstr>Summary of Session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Hypothesis Test</dc:title>
  <dc:creator>Vishnuprasad Nagadevara</dc:creator>
  <cp:lastModifiedBy>Nagadevara V</cp:lastModifiedBy>
  <cp:revision>85</cp:revision>
  <dcterms:created xsi:type="dcterms:W3CDTF">2017-04-04T09:43:48Z</dcterms:created>
  <dcterms:modified xsi:type="dcterms:W3CDTF">2021-01-25T11:06:54Z</dcterms:modified>
</cp:coreProperties>
</file>