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sldIdLst>
    <p:sldId id="256" r:id="rId2"/>
    <p:sldId id="402" r:id="rId3"/>
    <p:sldId id="314" r:id="rId4"/>
    <p:sldId id="319" r:id="rId5"/>
    <p:sldId id="316" r:id="rId6"/>
    <p:sldId id="317" r:id="rId7"/>
    <p:sldId id="412" r:id="rId8"/>
    <p:sldId id="318" r:id="rId9"/>
    <p:sldId id="320" r:id="rId10"/>
    <p:sldId id="413" r:id="rId11"/>
    <p:sldId id="324" r:id="rId12"/>
    <p:sldId id="414" r:id="rId13"/>
    <p:sldId id="325" r:id="rId14"/>
    <p:sldId id="326" r:id="rId15"/>
    <p:sldId id="327" r:id="rId16"/>
    <p:sldId id="329" r:id="rId17"/>
    <p:sldId id="411" r:id="rId18"/>
    <p:sldId id="415" r:id="rId19"/>
    <p:sldId id="333" r:id="rId20"/>
    <p:sldId id="335" r:id="rId21"/>
    <p:sldId id="336" r:id="rId22"/>
    <p:sldId id="338" r:id="rId23"/>
    <p:sldId id="342" r:id="rId24"/>
    <p:sldId id="409" r:id="rId25"/>
    <p:sldId id="416" r:id="rId26"/>
    <p:sldId id="339" r:id="rId27"/>
    <p:sldId id="340" r:id="rId28"/>
    <p:sldId id="417" r:id="rId29"/>
    <p:sldId id="270" r:id="rId30"/>
    <p:sldId id="271" r:id="rId31"/>
    <p:sldId id="272" r:id="rId32"/>
    <p:sldId id="273" r:id="rId33"/>
    <p:sldId id="275" r:id="rId34"/>
    <p:sldId id="276" r:id="rId35"/>
    <p:sldId id="418" r:id="rId36"/>
    <p:sldId id="345" r:id="rId37"/>
    <p:sldId id="349" r:id="rId38"/>
    <p:sldId id="351" r:id="rId39"/>
    <p:sldId id="352" r:id="rId40"/>
    <p:sldId id="353" r:id="rId41"/>
    <p:sldId id="421" r:id="rId42"/>
    <p:sldId id="354" r:id="rId43"/>
    <p:sldId id="355" r:id="rId44"/>
    <p:sldId id="356" r:id="rId45"/>
    <p:sldId id="357" r:id="rId46"/>
    <p:sldId id="385" r:id="rId47"/>
    <p:sldId id="419" r:id="rId48"/>
    <p:sldId id="397" r:id="rId49"/>
    <p:sldId id="420" r:id="rId50"/>
    <p:sldId id="400" r:id="rId51"/>
    <p:sldId id="401" r:id="rId52"/>
    <p:sldId id="407" r:id="rId53"/>
    <p:sldId id="408" r:id="rId54"/>
  </p:sldIdLst>
  <p:sldSz cx="10287000" cy="6858000" type="35mm"/>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6E78CE95-162B-40C8-A951-718D90E62CB7}">
          <p14:sldIdLst>
            <p14:sldId id="256"/>
            <p14:sldId id="402"/>
            <p14:sldId id="314"/>
            <p14:sldId id="319"/>
            <p14:sldId id="316"/>
            <p14:sldId id="317"/>
            <p14:sldId id="412"/>
            <p14:sldId id="318"/>
            <p14:sldId id="320"/>
            <p14:sldId id="413"/>
            <p14:sldId id="324"/>
            <p14:sldId id="414"/>
            <p14:sldId id="325"/>
            <p14:sldId id="326"/>
            <p14:sldId id="327"/>
            <p14:sldId id="329"/>
            <p14:sldId id="411"/>
            <p14:sldId id="415"/>
            <p14:sldId id="333"/>
            <p14:sldId id="335"/>
            <p14:sldId id="336"/>
            <p14:sldId id="338"/>
            <p14:sldId id="342"/>
            <p14:sldId id="409"/>
            <p14:sldId id="416"/>
            <p14:sldId id="339"/>
            <p14:sldId id="340"/>
            <p14:sldId id="417"/>
            <p14:sldId id="270"/>
            <p14:sldId id="271"/>
            <p14:sldId id="272"/>
            <p14:sldId id="273"/>
            <p14:sldId id="275"/>
            <p14:sldId id="276"/>
            <p14:sldId id="418"/>
            <p14:sldId id="345"/>
            <p14:sldId id="349"/>
            <p14:sldId id="351"/>
            <p14:sldId id="352"/>
            <p14:sldId id="353"/>
            <p14:sldId id="421"/>
            <p14:sldId id="354"/>
            <p14:sldId id="355"/>
            <p14:sldId id="356"/>
            <p14:sldId id="357"/>
            <p14:sldId id="385"/>
            <p14:sldId id="419"/>
            <p14:sldId id="397"/>
            <p14:sldId id="420"/>
            <p14:sldId id="400"/>
            <p14:sldId id="401"/>
            <p14:sldId id="407"/>
            <p14:sldId id="408"/>
          </p14:sldIdLst>
        </p14:section>
      </p14:sectionLst>
    </p:ext>
    <p:ext uri="{EFAFB233-063F-42B5-8137-9DF3F51BA10A}">
      <p15:sldGuideLst xmlns:p15="http://schemas.microsoft.com/office/powerpoint/2012/main">
        <p15:guide id="1" orient="horz" pos="2160">
          <p15:clr>
            <a:srgbClr val="A4A3A4"/>
          </p15:clr>
        </p15:guide>
        <p15:guide id="2"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6600"/>
    <a:srgbClr val="FF3300"/>
    <a:srgbClr val="33CC33"/>
    <a:srgbClr val="66CCFF"/>
    <a:srgbClr val="346374"/>
    <a:srgbClr val="0077BD"/>
    <a:srgbClr val="003399"/>
    <a:srgbClr val="CC33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21" autoAdjust="0"/>
    <p:restoredTop sz="86355" autoAdjust="0"/>
  </p:normalViewPr>
  <p:slideViewPr>
    <p:cSldViewPr>
      <p:cViewPr varScale="1">
        <p:scale>
          <a:sx n="100" d="100"/>
          <a:sy n="100" d="100"/>
        </p:scale>
        <p:origin x="579" y="60"/>
      </p:cViewPr>
      <p:guideLst>
        <p:guide orient="horz" pos="2160"/>
        <p:guide pos="32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lvl1pPr defTabSz="966788">
              <a:defRPr sz="1300"/>
            </a:lvl1pPr>
          </a:lstStyle>
          <a:p>
            <a:pPr>
              <a:defRPr/>
            </a:pPr>
            <a:endParaRPr lang="en-US"/>
          </a:p>
        </p:txBody>
      </p:sp>
      <p:sp>
        <p:nvSpPr>
          <p:cNvPr id="6147"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lvl1pPr algn="r" defTabSz="966788">
              <a:defRPr sz="1300"/>
            </a:lvl1pPr>
          </a:lstStyle>
          <a:p>
            <a:pPr>
              <a:defRPr/>
            </a:pPr>
            <a:endParaRPr lang="en-US"/>
          </a:p>
        </p:txBody>
      </p:sp>
      <p:sp>
        <p:nvSpPr>
          <p:cNvPr id="22532" name="Rectangle 4"/>
          <p:cNvSpPr>
            <a:spLocks noGrp="1" noRot="1" noChangeAspect="1" noChangeArrowheads="1" noTextEdit="1"/>
          </p:cNvSpPr>
          <p:nvPr>
            <p:ph type="sldImg" idx="2"/>
          </p:nvPr>
        </p:nvSpPr>
        <p:spPr bwMode="auto">
          <a:xfrm>
            <a:off x="957263" y="720725"/>
            <a:ext cx="5400675"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b" anchorCtr="0" compatLnSpc="1">
            <a:prstTxWarp prst="textNoShape">
              <a:avLst/>
            </a:prstTxWarp>
          </a:bodyPr>
          <a:lstStyle>
            <a:lvl1pPr defTabSz="966788">
              <a:defRPr sz="1300"/>
            </a:lvl1pPr>
          </a:lstStyle>
          <a:p>
            <a:pPr>
              <a:defRPr/>
            </a:pPr>
            <a:endParaRPr lang="en-US"/>
          </a:p>
        </p:txBody>
      </p:sp>
      <p:sp>
        <p:nvSpPr>
          <p:cNvPr id="6151"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47" tIns="48324" rIns="96647" bIns="48324" numCol="1" anchor="b" anchorCtr="0" compatLnSpc="1">
            <a:prstTxWarp prst="textNoShape">
              <a:avLst/>
            </a:prstTxWarp>
          </a:bodyPr>
          <a:lstStyle>
            <a:lvl1pPr algn="r" defTabSz="966788">
              <a:defRPr sz="1300"/>
            </a:lvl1pPr>
          </a:lstStyle>
          <a:p>
            <a:pPr>
              <a:defRPr/>
            </a:pPr>
            <a:fld id="{35648293-2628-4091-BED1-7FD9F7535785}" type="slidenum">
              <a:rPr lang="en-US"/>
              <a:pPr>
                <a:defRPr/>
              </a:pPr>
              <a:t>‹#›</a:t>
            </a:fld>
            <a:endParaRPr lang="en-US"/>
          </a:p>
        </p:txBody>
      </p:sp>
    </p:spTree>
    <p:extLst>
      <p:ext uri="{BB962C8B-B14F-4D97-AF65-F5344CB8AC3E}">
        <p14:creationId xmlns:p14="http://schemas.microsoft.com/office/powerpoint/2010/main" val="1474189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EC65E541-0C65-4668-97E0-BC8F9EF85E8B}" type="slidenum">
              <a:rPr lang="en-US" smtClean="0"/>
              <a:pPr eaLnBrk="1" hangingPunct="1"/>
              <a:t>1</a:t>
            </a:fld>
            <a:endParaRPr lang="en-US" dirty="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dirty="0"/>
          </a:p>
        </p:txBody>
      </p:sp>
    </p:spTree>
    <p:extLst>
      <p:ext uri="{BB962C8B-B14F-4D97-AF65-F5344CB8AC3E}">
        <p14:creationId xmlns:p14="http://schemas.microsoft.com/office/powerpoint/2010/main" val="3176372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68611"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68EF387A-3E9B-974F-BE09-FF3123AB2DEB}" type="slidenum">
              <a:rPr lang="en-US" sz="1200">
                <a:solidFill>
                  <a:srgbClr val="000000"/>
                </a:solidFill>
              </a:rPr>
              <a:pPr eaLnBrk="1" hangingPunct="1"/>
              <a:t>8</a:t>
            </a:fld>
            <a:endParaRPr lang="en-US" sz="1200">
              <a:solidFill>
                <a:srgbClr val="000000"/>
              </a:solidFill>
            </a:endParaRPr>
          </a:p>
        </p:txBody>
      </p:sp>
    </p:spTree>
    <p:extLst>
      <p:ext uri="{BB962C8B-B14F-4D97-AF65-F5344CB8AC3E}">
        <p14:creationId xmlns:p14="http://schemas.microsoft.com/office/powerpoint/2010/main" val="1692494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1186323-23FC-C745-A59E-E7A0F69F23C3}" type="slidenum">
              <a:rPr lang="en-US"/>
              <a:pPr/>
              <a:t>15</a:t>
            </a:fld>
            <a:endParaRPr lang="en-US"/>
          </a:p>
        </p:txBody>
      </p:sp>
      <p:sp>
        <p:nvSpPr>
          <p:cNvPr id="30723" name="Rectangle 2"/>
          <p:cNvSpPr>
            <a:spLocks noGrp="1" noRot="1" noChangeAspect="1" noChangeArrowheads="1"/>
          </p:cNvSpPr>
          <p:nvPr>
            <p:ph type="sldImg"/>
          </p:nvPr>
        </p:nvSpPr>
        <p:spPr>
          <a:solidFill>
            <a:srgbClr val="FFFFFF"/>
          </a:solidFill>
          <a:ln/>
        </p:spPr>
      </p:sp>
      <p:sp>
        <p:nvSpPr>
          <p:cNvPr id="30724"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549559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CA24F83C-53AC-F24F-80E2-C55109AFC467}" type="slidenum">
              <a:rPr lang="en-US"/>
              <a:pPr/>
              <a:t>16</a:t>
            </a:fld>
            <a:endParaRPr lang="en-US"/>
          </a:p>
        </p:txBody>
      </p:sp>
      <p:sp>
        <p:nvSpPr>
          <p:cNvPr id="34819" name="Rectangle 2"/>
          <p:cNvSpPr>
            <a:spLocks noGrp="1" noRot="1" noChangeAspect="1" noChangeArrowheads="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3590489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0C9BB694-CB85-1C42-BB21-6EC89F24E5E0}" type="slidenum">
              <a:rPr lang="en-US"/>
              <a:pPr/>
              <a:t>17</a:t>
            </a:fld>
            <a:endParaRPr lang="en-US"/>
          </a:p>
        </p:txBody>
      </p:sp>
      <p:sp>
        <p:nvSpPr>
          <p:cNvPr id="32771" name="Rectangle 2"/>
          <p:cNvSpPr>
            <a:spLocks noGrp="1" noRot="1" noChangeAspect="1" noChangeArrowheads="1"/>
          </p:cNvSpPr>
          <p:nvPr>
            <p:ph type="sldImg"/>
          </p:nvPr>
        </p:nvSpPr>
        <p:spPr>
          <a:solidFill>
            <a:srgbClr val="FFFFFF"/>
          </a:solidFill>
          <a:ln/>
        </p:spPr>
      </p:sp>
      <p:sp>
        <p:nvSpPr>
          <p:cNvPr id="32772"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3618971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874D6FAE-BAB2-4B44-B9CF-68A8BE4C6FBA}" type="slidenum">
              <a:rPr lang="en-US"/>
              <a:pPr/>
              <a:t>26</a:t>
            </a:fld>
            <a:endParaRPr lang="en-US"/>
          </a:p>
        </p:txBody>
      </p:sp>
      <p:sp>
        <p:nvSpPr>
          <p:cNvPr id="60419" name="Rectangle 2"/>
          <p:cNvSpPr>
            <a:spLocks noGrp="1" noRot="1" noChangeAspect="1" noChangeArrowheads="1"/>
          </p:cNvSpPr>
          <p:nvPr>
            <p:ph type="sldImg"/>
          </p:nvPr>
        </p:nvSpPr>
        <p:spPr>
          <a:solidFill>
            <a:srgbClr val="FFFFFF"/>
          </a:solidFill>
          <a:ln/>
        </p:spPr>
      </p:sp>
      <p:sp>
        <p:nvSpPr>
          <p:cNvPr id="60420"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extLst>
      <p:ext uri="{BB962C8B-B14F-4D97-AF65-F5344CB8AC3E}">
        <p14:creationId xmlns:p14="http://schemas.microsoft.com/office/powerpoint/2010/main" val="4148976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E98F872B-19D4-8F46-BECB-09C895BA15F0}" type="slidenum">
              <a:rPr lang="en-US"/>
              <a:pPr/>
              <a:t>27</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5431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1D719E-D475-4036-97E5-20BE74FBAAC7}" type="slidenum">
              <a:rPr lang="en-US"/>
              <a:pPr/>
              <a:t>34</a:t>
            </a:fld>
            <a:endParaRPr lang="en-US"/>
          </a:p>
        </p:txBody>
      </p:sp>
      <p:sp>
        <p:nvSpPr>
          <p:cNvPr id="956418" name="Rectangle 2"/>
          <p:cNvSpPr>
            <a:spLocks noGrp="1" noRot="1" noChangeAspect="1" noChangeArrowheads="1" noTextEdit="1"/>
          </p:cNvSpPr>
          <p:nvPr>
            <p:ph type="sldImg"/>
          </p:nvPr>
        </p:nvSpPr>
        <p:spPr>
          <a:ln/>
        </p:spPr>
      </p:sp>
      <p:sp>
        <p:nvSpPr>
          <p:cNvPr id="956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587886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90E5D03D-8C7C-43FF-8E9E-49957CC5232D}" type="slidenum">
              <a:rPr lang="en-US" altLang="en-US" sz="1200">
                <a:latin typeface="Calibri" panose="020F0502020204030204" pitchFamily="34" charset="0"/>
              </a:rPr>
              <a:pPr algn="r" eaLnBrk="1" hangingPunct="1">
                <a:spcBef>
                  <a:spcPct val="0"/>
                </a:spcBef>
                <a:buClrTx/>
                <a:buSzTx/>
                <a:buFontTx/>
                <a:buNone/>
              </a:pPr>
              <a:t>36</a:t>
            </a:fld>
            <a:endParaRPr lang="en-US" altLang="en-US" sz="1200">
              <a:latin typeface="Calibri" panose="020F0502020204030204" pitchFamily="34" charset="0"/>
            </a:endParaRPr>
          </a:p>
        </p:txBody>
      </p:sp>
    </p:spTree>
    <p:extLst>
      <p:ext uri="{BB962C8B-B14F-4D97-AF65-F5344CB8AC3E}">
        <p14:creationId xmlns:p14="http://schemas.microsoft.com/office/powerpoint/2010/main" val="2470892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FAF2EE6E-431D-4082-BB4F-D03631703E93}" type="slidenum">
              <a:rPr lang="en-US" altLang="en-US" sz="1200">
                <a:latin typeface="Calibri" panose="020F0502020204030204" pitchFamily="34" charset="0"/>
              </a:rPr>
              <a:pPr algn="r" eaLnBrk="1" hangingPunct="1">
                <a:spcBef>
                  <a:spcPct val="0"/>
                </a:spcBef>
                <a:buClrTx/>
                <a:buSzTx/>
                <a:buFontTx/>
                <a:buNone/>
              </a:pPr>
              <a:t>37</a:t>
            </a:fld>
            <a:endParaRPr lang="en-US" altLang="en-US" sz="1200">
              <a:latin typeface="Calibri" panose="020F0502020204030204" pitchFamily="34" charset="0"/>
            </a:endParaRPr>
          </a:p>
        </p:txBody>
      </p:sp>
    </p:spTree>
    <p:extLst>
      <p:ext uri="{BB962C8B-B14F-4D97-AF65-F5344CB8AC3E}">
        <p14:creationId xmlns:p14="http://schemas.microsoft.com/office/powerpoint/2010/main" val="3598994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EE590343-5DED-47C8-9F05-C6E99563FDE5}" type="slidenum">
              <a:rPr lang="en-US" altLang="en-US" sz="1200">
                <a:latin typeface="Calibri" panose="020F0502020204030204" pitchFamily="34" charset="0"/>
              </a:rPr>
              <a:pPr algn="r" eaLnBrk="1" hangingPunct="1">
                <a:spcBef>
                  <a:spcPct val="0"/>
                </a:spcBef>
                <a:buClrTx/>
                <a:buSzTx/>
                <a:buFontTx/>
                <a:buNone/>
              </a:pPr>
              <a:t>38</a:t>
            </a:fld>
            <a:endParaRPr lang="en-US" altLang="en-US" sz="1200">
              <a:latin typeface="Calibri" panose="020F0502020204030204" pitchFamily="34" charset="0"/>
            </a:endParaRPr>
          </a:p>
        </p:txBody>
      </p:sp>
    </p:spTree>
    <p:extLst>
      <p:ext uri="{BB962C8B-B14F-4D97-AF65-F5344CB8AC3E}">
        <p14:creationId xmlns:p14="http://schemas.microsoft.com/office/powerpoint/2010/main" val="1409366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AB311B30-B075-4586-B7AA-9814B6ADEA3B}" type="slidenum">
              <a:rPr lang="en-US" altLang="en-US" sz="1200">
                <a:latin typeface="Calibri" panose="020F0502020204030204" pitchFamily="34" charset="0"/>
              </a:rPr>
              <a:pPr algn="r" eaLnBrk="1" hangingPunct="1">
                <a:spcBef>
                  <a:spcPct val="0"/>
                </a:spcBef>
                <a:buClrTx/>
                <a:buSzTx/>
                <a:buFontTx/>
                <a:buNone/>
              </a:pPr>
              <a:t>39</a:t>
            </a:fld>
            <a:endParaRPr lang="en-US" altLang="en-US" sz="1200">
              <a:latin typeface="Calibri" panose="020F0502020204030204" pitchFamily="34" charset="0"/>
            </a:endParaRPr>
          </a:p>
        </p:txBody>
      </p:sp>
    </p:spTree>
    <p:extLst>
      <p:ext uri="{BB962C8B-B14F-4D97-AF65-F5344CB8AC3E}">
        <p14:creationId xmlns:p14="http://schemas.microsoft.com/office/powerpoint/2010/main" val="4040141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B50F4729-5BF0-41D5-814D-EEEE923BA375}" type="slidenum">
              <a:rPr lang="en-US" altLang="en-US" sz="1200">
                <a:latin typeface="Calibri" panose="020F0502020204030204" pitchFamily="34" charset="0"/>
              </a:rPr>
              <a:pPr algn="r" eaLnBrk="1" hangingPunct="1">
                <a:spcBef>
                  <a:spcPct val="0"/>
                </a:spcBef>
                <a:buClrTx/>
                <a:buSzTx/>
                <a:buFontTx/>
                <a:buNone/>
              </a:pPr>
              <a:t>40</a:t>
            </a:fld>
            <a:endParaRPr lang="en-US" altLang="en-US" sz="1200">
              <a:latin typeface="Calibri" panose="020F0502020204030204" pitchFamily="34" charset="0"/>
            </a:endParaRPr>
          </a:p>
        </p:txBody>
      </p:sp>
    </p:spTree>
    <p:extLst>
      <p:ext uri="{BB962C8B-B14F-4D97-AF65-F5344CB8AC3E}">
        <p14:creationId xmlns:p14="http://schemas.microsoft.com/office/powerpoint/2010/main" val="1191138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C7C410B9-07FC-45D7-9824-358DDBB932E1}" type="slidenum">
              <a:rPr lang="en-US" altLang="en-US" sz="1200">
                <a:latin typeface="Calibri" panose="020F0502020204030204" pitchFamily="34" charset="0"/>
              </a:rPr>
              <a:pPr algn="r" eaLnBrk="1" hangingPunct="1">
                <a:spcBef>
                  <a:spcPct val="0"/>
                </a:spcBef>
                <a:buClrTx/>
                <a:buSzTx/>
                <a:buFontTx/>
                <a:buNone/>
              </a:pPr>
              <a:t>42</a:t>
            </a:fld>
            <a:endParaRPr lang="en-US" altLang="en-US" sz="1200">
              <a:latin typeface="Calibri" panose="020F0502020204030204" pitchFamily="34" charset="0"/>
            </a:endParaRPr>
          </a:p>
        </p:txBody>
      </p:sp>
    </p:spTree>
    <p:extLst>
      <p:ext uri="{BB962C8B-B14F-4D97-AF65-F5344CB8AC3E}">
        <p14:creationId xmlns:p14="http://schemas.microsoft.com/office/powerpoint/2010/main" val="4265469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56A12F1B-AAD6-4D73-9827-EFA2632D4D7B}" type="slidenum">
              <a:rPr lang="en-US" altLang="en-US" sz="1200">
                <a:latin typeface="Calibri" panose="020F0502020204030204" pitchFamily="34" charset="0"/>
              </a:rPr>
              <a:pPr algn="r" eaLnBrk="1" hangingPunct="1">
                <a:spcBef>
                  <a:spcPct val="0"/>
                </a:spcBef>
                <a:buClrTx/>
                <a:buSzTx/>
                <a:buFontTx/>
                <a:buNone/>
              </a:pPr>
              <a:t>43</a:t>
            </a:fld>
            <a:endParaRPr lang="en-US" altLang="en-US" sz="1200">
              <a:latin typeface="Calibri" panose="020F0502020204030204" pitchFamily="34" charset="0"/>
            </a:endParaRPr>
          </a:p>
        </p:txBody>
      </p:sp>
    </p:spTree>
    <p:extLst>
      <p:ext uri="{BB962C8B-B14F-4D97-AF65-F5344CB8AC3E}">
        <p14:creationId xmlns:p14="http://schemas.microsoft.com/office/powerpoint/2010/main" val="173520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954F66E4-899A-4FED-9E18-9EDFE0995BF7}" type="slidenum">
              <a:rPr lang="en-US" altLang="en-US" sz="1200">
                <a:latin typeface="Calibri" panose="020F0502020204030204" pitchFamily="34" charset="0"/>
              </a:rPr>
              <a:pPr algn="r" eaLnBrk="1" hangingPunct="1">
                <a:spcBef>
                  <a:spcPct val="0"/>
                </a:spcBef>
                <a:buClrTx/>
                <a:buSzTx/>
                <a:buFontTx/>
                <a:buNone/>
              </a:pPr>
              <a:t>44</a:t>
            </a:fld>
            <a:endParaRPr lang="en-US" altLang="en-US" sz="1200">
              <a:latin typeface="Calibri" panose="020F0502020204030204" pitchFamily="34" charset="0"/>
            </a:endParaRPr>
          </a:p>
        </p:txBody>
      </p:sp>
    </p:spTree>
    <p:extLst>
      <p:ext uri="{BB962C8B-B14F-4D97-AF65-F5344CB8AC3E}">
        <p14:creationId xmlns:p14="http://schemas.microsoft.com/office/powerpoint/2010/main" val="3399128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3D45FF5C-1E15-4D13-A0A3-EBC4C983590B}" type="slidenum">
              <a:rPr lang="en-US" altLang="en-US" sz="1200">
                <a:latin typeface="Calibri" panose="020F0502020204030204" pitchFamily="34" charset="0"/>
              </a:rPr>
              <a:pPr algn="r" eaLnBrk="1" hangingPunct="1">
                <a:spcBef>
                  <a:spcPct val="0"/>
                </a:spcBef>
                <a:buClrTx/>
                <a:buSzTx/>
                <a:buFontTx/>
                <a:buNone/>
              </a:pPr>
              <a:t>45</a:t>
            </a:fld>
            <a:endParaRPr lang="en-US" altLang="en-US" sz="1200">
              <a:latin typeface="Calibri" panose="020F0502020204030204" pitchFamily="34" charset="0"/>
            </a:endParaRPr>
          </a:p>
        </p:txBody>
      </p:sp>
    </p:spTree>
    <p:extLst>
      <p:ext uri="{BB962C8B-B14F-4D97-AF65-F5344CB8AC3E}">
        <p14:creationId xmlns:p14="http://schemas.microsoft.com/office/powerpoint/2010/main" val="17371416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r" eaLnBrk="1" hangingPunct="1">
              <a:spcBef>
                <a:spcPct val="0"/>
              </a:spcBef>
              <a:buClrTx/>
              <a:buSzTx/>
              <a:buFontTx/>
              <a:buNone/>
            </a:pPr>
            <a:fld id="{86802D52-E132-4D46-B238-10A3E2470380}" type="slidenum">
              <a:rPr lang="en-US" altLang="en-US" sz="1200">
                <a:latin typeface="Calibri" panose="020F0502020204030204" pitchFamily="34" charset="0"/>
              </a:rPr>
              <a:pPr algn="r" eaLnBrk="1" hangingPunct="1">
                <a:spcBef>
                  <a:spcPct val="0"/>
                </a:spcBef>
                <a:buClrTx/>
                <a:buSzTx/>
                <a:buFontTx/>
                <a:buNone/>
              </a:pPr>
              <a:t>46</a:t>
            </a:fld>
            <a:endParaRPr lang="en-US" altLang="en-US" sz="1200">
              <a:latin typeface="Calibri" panose="020F0502020204030204" pitchFamily="34" charset="0"/>
            </a:endParaRPr>
          </a:p>
        </p:txBody>
      </p:sp>
    </p:spTree>
    <p:extLst>
      <p:ext uri="{BB962C8B-B14F-4D97-AF65-F5344CB8AC3E}">
        <p14:creationId xmlns:p14="http://schemas.microsoft.com/office/powerpoint/2010/main" val="461120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742950" indent="-285750" eaLnBrk="0" hangingPunct="0">
              <a:defRPr sz="2400">
                <a:solidFill>
                  <a:schemeClr val="tx1"/>
                </a:solidFill>
                <a:latin typeface="Lucida Sans" charset="0"/>
                <a:ea typeface="ＭＳ Ｐゴシック" charset="0"/>
              </a:defRPr>
            </a:lvl2pPr>
            <a:lvl3pPr marL="1143000" indent="-228600" eaLnBrk="0" hangingPunct="0">
              <a:defRPr sz="2400">
                <a:solidFill>
                  <a:schemeClr val="tx1"/>
                </a:solidFill>
                <a:latin typeface="Lucida Sans" charset="0"/>
                <a:ea typeface="ＭＳ Ｐゴシック" charset="0"/>
              </a:defRPr>
            </a:lvl3pPr>
            <a:lvl4pPr marL="1600200" indent="-228600" eaLnBrk="0" hangingPunct="0">
              <a:defRPr sz="2400">
                <a:solidFill>
                  <a:schemeClr val="tx1"/>
                </a:solidFill>
                <a:latin typeface="Lucida Sans" charset="0"/>
                <a:ea typeface="ＭＳ Ｐゴシック" charset="0"/>
              </a:defRPr>
            </a:lvl4pPr>
            <a:lvl5pPr marL="2057400" indent="-2286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612A2420-0B1C-5841-91A4-3B4F106448A7}" type="slidenum">
              <a:rPr lang="en-US" sz="1200"/>
              <a:pPr eaLnBrk="1" hangingPunct="1"/>
              <a:t>49</a:t>
            </a:fld>
            <a:endParaRPr lang="en-US" sz="1200"/>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2231173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50</a:t>
            </a:fld>
            <a:endParaRPr lang="en-US"/>
          </a:p>
        </p:txBody>
      </p:sp>
    </p:spTree>
    <p:extLst>
      <p:ext uri="{BB962C8B-B14F-4D97-AF65-F5344CB8AC3E}">
        <p14:creationId xmlns:p14="http://schemas.microsoft.com/office/powerpoint/2010/main" val="3293485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arrows may be drawn in either direction.</a:t>
            </a:r>
          </a:p>
          <a:p>
            <a:r>
              <a:rPr lang="en-US" baseline="0" dirty="0"/>
              <a:t>If tree height is used to show governor, then you don’t need arrows at all.</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Mention ROOT and draw it in.</a:t>
            </a:r>
          </a:p>
          <a:p>
            <a:endParaRPr lang="en-US" dirty="0"/>
          </a:p>
        </p:txBody>
      </p:sp>
      <p:sp>
        <p:nvSpPr>
          <p:cNvPr id="4" name="Slide Number Placeholder 3"/>
          <p:cNvSpPr>
            <a:spLocks noGrp="1"/>
          </p:cNvSpPr>
          <p:nvPr>
            <p:ph type="sldNum" sz="quarter" idx="10"/>
          </p:nvPr>
        </p:nvSpPr>
        <p:spPr/>
        <p:txBody>
          <a:bodyPr/>
          <a:lstStyle/>
          <a:p>
            <a:fld id="{3EB9031F-EB71-7642-8F3C-6FDC1408CB92}" type="slidenum">
              <a:rPr lang="en-US" smtClean="0"/>
              <a:pPr/>
              <a:t>51</a:t>
            </a:fld>
            <a:endParaRPr lang="en-US"/>
          </a:p>
        </p:txBody>
      </p:sp>
    </p:spTree>
    <p:extLst>
      <p:ext uri="{BB962C8B-B14F-4D97-AF65-F5344CB8AC3E}">
        <p14:creationId xmlns:p14="http://schemas.microsoft.com/office/powerpoint/2010/main" val="4110916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005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solidFill>
                  <a:srgbClr val="002060"/>
                </a:solidFill>
                <a:latin typeface="Minion" pitchFamily="18"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atin typeface="Minion" pitchFamily="18" charset="0"/>
                <a:ea typeface="Verdana" pitchFamily="34" charset="0"/>
                <a:cs typeface="Verdana" pitchFamily="34" charset="0"/>
              </a:defRPr>
            </a:lvl1pPr>
            <a:lvl2pPr>
              <a:defRPr sz="2000">
                <a:latin typeface="Minion" pitchFamily="18" charset="0"/>
                <a:ea typeface="Verdana" pitchFamily="34" charset="0"/>
                <a:cs typeface="Verdana" pitchFamily="34" charset="0"/>
              </a:defRPr>
            </a:lvl2pPr>
            <a:lvl3pPr>
              <a:defRPr sz="1600">
                <a:latin typeface="Minion" pitchFamily="18" charset="0"/>
                <a:ea typeface="Verdana" pitchFamily="34" charset="0"/>
                <a:cs typeface="Verdana" pitchFamily="34" charset="0"/>
              </a:defRPr>
            </a:lvl3pPr>
            <a:lvl4pPr>
              <a:defRPr sz="1200">
                <a:latin typeface="Minion" pitchFamily="18" charset="0"/>
                <a:ea typeface="Verdana" pitchFamily="34" charset="0"/>
                <a:cs typeface="Verdana" pitchFamily="34" charset="0"/>
              </a:defRPr>
            </a:lvl4pPr>
            <a:lvl5pPr>
              <a:defRPr sz="1000">
                <a:latin typeface="Minion" pitchFamily="18" charset="0"/>
                <a:ea typeface="Verdana" pitchFamily="34" charset="0"/>
                <a:cs typeface="Verdan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199992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514350" y="990600"/>
            <a:ext cx="92583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2"/>
          <p:cNvSpPr>
            <a:spLocks noGrp="1" noChangeArrowheads="1"/>
          </p:cNvSpPr>
          <p:nvPr>
            <p:ph type="title"/>
          </p:nvPr>
        </p:nvSpPr>
        <p:spPr bwMode="auto">
          <a:xfrm>
            <a:off x="190500" y="152401"/>
            <a:ext cx="82105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3719" r:id="rId1"/>
    <p:sldLayoutId id="2147483709" r:id="rId2"/>
  </p:sldLayoutIdLst>
  <p:hf hdr="0" ftr="0" dt="0"/>
  <p:txStyles>
    <p:titleStyle>
      <a:lvl1pPr algn="l" rtl="0" eaLnBrk="0" fontAlgn="base" hangingPunct="0">
        <a:spcBef>
          <a:spcPct val="0"/>
        </a:spcBef>
        <a:spcAft>
          <a:spcPct val="0"/>
        </a:spcAft>
        <a:defRPr sz="3200" b="1">
          <a:solidFill>
            <a:schemeClr val="tx1"/>
          </a:solidFill>
          <a:latin typeface="+mj-lt"/>
          <a:ea typeface="MASTERPLAN" pitchFamily="2" charset="0"/>
          <a:cs typeface="Times New Roman" pitchFamily="18" charset="0"/>
        </a:defRPr>
      </a:lvl1pPr>
      <a:lvl2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2pPr>
      <a:lvl3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3pPr>
      <a:lvl4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4pPr>
      <a:lvl5pPr algn="l" rtl="0" eaLnBrk="0" fontAlgn="base" hangingPunct="0">
        <a:spcBef>
          <a:spcPct val="0"/>
        </a:spcBef>
        <a:spcAft>
          <a:spcPct val="0"/>
        </a:spcAft>
        <a:defRPr sz="4000" b="1">
          <a:solidFill>
            <a:schemeClr val="tx1"/>
          </a:solidFill>
          <a:latin typeface="Andalus" pitchFamily="18" charset="-78"/>
          <a:ea typeface="MASTERPLAN" pitchFamily="2" charset="0"/>
          <a:cs typeface="Andalus" pitchFamily="18" charset="-78"/>
        </a:defRPr>
      </a:lvl5pPr>
      <a:lvl6pPr marL="457200" algn="l" rtl="0" fontAlgn="base">
        <a:spcBef>
          <a:spcPct val="0"/>
        </a:spcBef>
        <a:spcAft>
          <a:spcPct val="0"/>
        </a:spcAft>
        <a:defRPr sz="2800" b="1">
          <a:solidFill>
            <a:schemeClr val="tx1"/>
          </a:solidFill>
          <a:latin typeface="Arial" charset="0"/>
        </a:defRPr>
      </a:lvl6pPr>
      <a:lvl7pPr marL="914400" algn="l" rtl="0" fontAlgn="base">
        <a:spcBef>
          <a:spcPct val="0"/>
        </a:spcBef>
        <a:spcAft>
          <a:spcPct val="0"/>
        </a:spcAft>
        <a:defRPr sz="2800" b="1">
          <a:solidFill>
            <a:schemeClr val="tx1"/>
          </a:solidFill>
          <a:latin typeface="Arial" charset="0"/>
        </a:defRPr>
      </a:lvl7pPr>
      <a:lvl8pPr marL="1371600" algn="l" rtl="0" fontAlgn="base">
        <a:spcBef>
          <a:spcPct val="0"/>
        </a:spcBef>
        <a:spcAft>
          <a:spcPct val="0"/>
        </a:spcAft>
        <a:defRPr sz="2800" b="1">
          <a:solidFill>
            <a:schemeClr val="tx1"/>
          </a:solidFill>
          <a:latin typeface="Arial" charset="0"/>
        </a:defRPr>
      </a:lvl8pPr>
      <a:lvl9pPr marL="1828800" algn="l" rtl="0" fontAlgn="base">
        <a:spcBef>
          <a:spcPct val="0"/>
        </a:spcBef>
        <a:spcAft>
          <a:spcPct val="0"/>
        </a:spcAft>
        <a:defRPr sz="2800" b="1">
          <a:solidFill>
            <a:schemeClr val="tx1"/>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Verdana" pitchFamily="34" charset="0"/>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9100" y="5562600"/>
            <a:ext cx="6295313" cy="1200329"/>
          </a:xfrm>
          <a:prstGeom prst="rect">
            <a:avLst/>
          </a:prstGeom>
          <a:noFill/>
        </p:spPr>
        <p:txBody>
          <a:bodyPr wrap="none" rtlCol="0">
            <a:spAutoFit/>
          </a:bodyPr>
          <a:lstStyle/>
          <a:p>
            <a:r>
              <a:rPr lang="en-IN" dirty="0"/>
              <a:t>Adapted from Dan </a:t>
            </a:r>
            <a:r>
              <a:rPr lang="en-IN" dirty="0" err="1"/>
              <a:t>Jurafsky’s</a:t>
            </a:r>
            <a:r>
              <a:rPr lang="en-IN" dirty="0"/>
              <a:t> course slides on </a:t>
            </a:r>
          </a:p>
          <a:p>
            <a:r>
              <a:rPr lang="en-IN" dirty="0"/>
              <a:t>https://web.stanford.edu/~jurafsky/NLPCourseraSlides.html </a:t>
            </a:r>
          </a:p>
          <a:p>
            <a:r>
              <a:rPr lang="en-US" dirty="0"/>
              <a:t>https://www.cse.iitb.ac.in/~nlp-ai/WSD.ppt</a:t>
            </a:r>
            <a:endParaRPr lang="en-IN" dirty="0"/>
          </a:p>
          <a:p>
            <a:endParaRPr lang="en-US" dirty="0"/>
          </a:p>
        </p:txBody>
      </p:sp>
      <p:sp>
        <p:nvSpPr>
          <p:cNvPr id="7" name="TextBox 6">
            <a:extLst>
              <a:ext uri="{FF2B5EF4-FFF2-40B4-BE49-F238E27FC236}">
                <a16:creationId xmlns:a16="http://schemas.microsoft.com/office/drawing/2014/main" id="{AF0A9CA4-B0AB-4BE4-821E-E20D614CAB76}"/>
              </a:ext>
            </a:extLst>
          </p:cNvPr>
          <p:cNvSpPr txBox="1"/>
          <p:nvPr/>
        </p:nvSpPr>
        <p:spPr>
          <a:xfrm>
            <a:off x="2705100" y="2905780"/>
            <a:ext cx="5257800" cy="523220"/>
          </a:xfrm>
          <a:prstGeom prst="rect">
            <a:avLst/>
          </a:prstGeom>
          <a:noFill/>
        </p:spPr>
        <p:txBody>
          <a:bodyPr wrap="square" rtlCol="0">
            <a:spAutoFit/>
          </a:bodyPr>
          <a:lstStyle/>
          <a:p>
            <a:pPr algn="ctr"/>
            <a:r>
              <a:rPr lang="en-IN" sz="2800" b="1" dirty="0">
                <a:solidFill>
                  <a:srgbClr val="346374"/>
                </a:solidFill>
              </a:rPr>
              <a:t>Natural Language Processing</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What is NLP?</a:t>
            </a:r>
          </a:p>
        </p:txBody>
      </p:sp>
    </p:spTree>
    <p:extLst>
      <p:ext uri="{BB962C8B-B14F-4D97-AF65-F5344CB8AC3E}">
        <p14:creationId xmlns:p14="http://schemas.microsoft.com/office/powerpoint/2010/main" val="1848395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Answering: IBM’s Watson</a:t>
            </a:r>
          </a:p>
        </p:txBody>
      </p:sp>
      <p:sp>
        <p:nvSpPr>
          <p:cNvPr id="3" name="Content Placeholder 2"/>
          <p:cNvSpPr>
            <a:spLocks noGrp="1"/>
          </p:cNvSpPr>
          <p:nvPr>
            <p:ph idx="1"/>
          </p:nvPr>
        </p:nvSpPr>
        <p:spPr/>
        <p:txBody>
          <a:bodyPr/>
          <a:lstStyle/>
          <a:p>
            <a:r>
              <a:rPr lang="en-US" dirty="0"/>
              <a:t>Won Jeopardy on February 16, 2011!</a:t>
            </a:r>
          </a:p>
          <a:p>
            <a:endParaRPr lang="en-US" dirty="0"/>
          </a:p>
        </p:txBody>
      </p:sp>
      <p:sp>
        <p:nvSpPr>
          <p:cNvPr id="7" name="Rectangle 6"/>
          <p:cNvSpPr/>
          <p:nvPr/>
        </p:nvSpPr>
        <p:spPr bwMode="auto">
          <a:xfrm>
            <a:off x="428625" y="2828925"/>
            <a:ext cx="5915025" cy="2259673"/>
          </a:xfrm>
          <a:prstGeom prst="rect">
            <a:avLst/>
          </a:prstGeom>
          <a:solidFill>
            <a:srgbClr val="000099"/>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algn="ctr"/>
            <a:r>
              <a:rPr lang="en-US" sz="2250" dirty="0">
                <a:solidFill>
                  <a:schemeClr val="bg1"/>
                </a:solidFill>
              </a:rPr>
              <a:t>WILLIAM WILKINSON’S </a:t>
            </a:r>
          </a:p>
          <a:p>
            <a:pPr algn="ctr"/>
            <a:r>
              <a:rPr lang="en-US" sz="2250" dirty="0">
                <a:solidFill>
                  <a:schemeClr val="bg1"/>
                </a:solidFill>
              </a:rPr>
              <a:t>“AN ACCOUNT OF THE PRINCIPALITIES OF</a:t>
            </a:r>
            <a:br>
              <a:rPr lang="en-US" sz="2250" dirty="0">
                <a:solidFill>
                  <a:schemeClr val="bg1"/>
                </a:solidFill>
              </a:rPr>
            </a:br>
            <a:r>
              <a:rPr lang="en-US" sz="2250" dirty="0">
                <a:solidFill>
                  <a:schemeClr val="bg1"/>
                </a:solidFill>
              </a:rPr>
              <a:t>WALLACHIA AND MOLDOVIA”</a:t>
            </a:r>
          </a:p>
          <a:p>
            <a:pPr algn="ctr"/>
            <a:r>
              <a:rPr lang="en-US" sz="2250" dirty="0">
                <a:solidFill>
                  <a:schemeClr val="bg1"/>
                </a:solidFill>
              </a:rPr>
              <a:t>INSPIRED THIS AUTHOR’S</a:t>
            </a:r>
          </a:p>
          <a:p>
            <a:pPr algn="ctr"/>
            <a:r>
              <a:rPr lang="en-US" sz="2250" dirty="0">
                <a:solidFill>
                  <a:schemeClr val="bg1"/>
                </a:solidFill>
              </a:rPr>
              <a:t>MOST FAMOUS NOVEL</a:t>
            </a:r>
          </a:p>
        </p:txBody>
      </p:sp>
      <p:sp>
        <p:nvSpPr>
          <p:cNvPr id="8" name="TextBox 7"/>
          <p:cNvSpPr txBox="1"/>
          <p:nvPr/>
        </p:nvSpPr>
        <p:spPr>
          <a:xfrm>
            <a:off x="8143875" y="3681153"/>
            <a:ext cx="1467068" cy="369332"/>
          </a:xfrm>
          <a:prstGeom prst="rect">
            <a:avLst/>
          </a:prstGeom>
          <a:noFill/>
        </p:spPr>
        <p:txBody>
          <a:bodyPr wrap="none" rtlCol="0">
            <a:spAutoFit/>
          </a:bodyPr>
          <a:lstStyle/>
          <a:p>
            <a:r>
              <a:rPr lang="en-US" dirty="0">
                <a:latin typeface="+mn-lt"/>
              </a:rPr>
              <a:t>Bram Stoker</a:t>
            </a:r>
          </a:p>
        </p:txBody>
      </p:sp>
      <p:sp>
        <p:nvSpPr>
          <p:cNvPr id="9" name="Right Arrow 8"/>
          <p:cNvSpPr/>
          <p:nvPr/>
        </p:nvSpPr>
        <p:spPr bwMode="auto">
          <a:xfrm>
            <a:off x="6686550" y="3686175"/>
            <a:ext cx="1285875" cy="600075"/>
          </a:xfrm>
          <a:prstGeom prst="rightArrow">
            <a:avLst/>
          </a:prstGeom>
          <a:solidFill>
            <a:schemeClr val="bg1">
              <a:lumMod val="65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dirty="0">
              <a:latin typeface="Lucida Sans" pitchFamily="-65" charset="0"/>
            </a:endParaRPr>
          </a:p>
        </p:txBody>
      </p:sp>
    </p:spTree>
    <p:extLst>
      <p:ext uri="{BB962C8B-B14F-4D97-AF65-F5344CB8AC3E}">
        <p14:creationId xmlns:p14="http://schemas.microsoft.com/office/powerpoint/2010/main" val="300387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Extraction</a:t>
            </a:r>
          </a:p>
        </p:txBody>
      </p:sp>
      <p:sp>
        <p:nvSpPr>
          <p:cNvPr id="3" name="Content Placeholder 2"/>
          <p:cNvSpPr>
            <a:spLocks noGrp="1"/>
          </p:cNvSpPr>
          <p:nvPr>
            <p:ph idx="1"/>
          </p:nvPr>
        </p:nvSpPr>
        <p:spPr/>
        <p:txBody>
          <a:bodyPr/>
          <a:lstStyle/>
          <a:p>
            <a:pPr marL="0" indent="0">
              <a:buNone/>
            </a:pPr>
            <a:r>
              <a:rPr lang="en-US" dirty="0">
                <a:solidFill>
                  <a:schemeClr val="bg1">
                    <a:lumMod val="65000"/>
                  </a:schemeClr>
                </a:solidFill>
              </a:rPr>
              <a:t>Subject: </a:t>
            </a:r>
            <a:r>
              <a:rPr lang="en-US" b="1" dirty="0"/>
              <a:t>curriculum meeting</a:t>
            </a:r>
          </a:p>
          <a:p>
            <a:pPr marL="0" indent="0">
              <a:buNone/>
            </a:pPr>
            <a:r>
              <a:rPr lang="en-US" dirty="0"/>
              <a:t>    </a:t>
            </a:r>
            <a:r>
              <a:rPr lang="en-US" dirty="0">
                <a:solidFill>
                  <a:schemeClr val="bg1">
                    <a:lumMod val="65000"/>
                  </a:schemeClr>
                </a:solidFill>
              </a:rPr>
              <a:t> Date: </a:t>
            </a:r>
            <a:r>
              <a:rPr lang="en-US" dirty="0"/>
              <a:t>January 15, 2012</a:t>
            </a:r>
          </a:p>
          <a:p>
            <a:pPr marL="0" indent="0" algn="ctr">
              <a:buNone/>
            </a:pPr>
            <a:r>
              <a:rPr lang="en-US" dirty="0"/>
              <a:t>         </a:t>
            </a:r>
            <a:r>
              <a:rPr lang="en-US" dirty="0">
                <a:solidFill>
                  <a:schemeClr val="bg1">
                    <a:lumMod val="65000"/>
                  </a:schemeClr>
                </a:solidFill>
              </a:rPr>
              <a:t>To: </a:t>
            </a:r>
            <a:r>
              <a:rPr lang="en-US" dirty="0"/>
              <a:t>Dan Jurafsky</a:t>
            </a:r>
          </a:p>
          <a:p>
            <a:pPr marL="0" indent="0">
              <a:buNone/>
            </a:pPr>
            <a:endParaRPr lang="en-US" dirty="0"/>
          </a:p>
          <a:p>
            <a:pPr marL="0" indent="0">
              <a:buNone/>
            </a:pPr>
            <a:r>
              <a:rPr lang="en-US" dirty="0"/>
              <a:t>Hi Dan, we’ve now scheduled the curriculum meeting.</a:t>
            </a:r>
          </a:p>
          <a:p>
            <a:pPr marL="0" indent="0">
              <a:buNone/>
            </a:pPr>
            <a:r>
              <a:rPr lang="en-US" dirty="0"/>
              <a:t>It will be in Gates 159 tomorrow from 10:00-11:30.</a:t>
            </a:r>
          </a:p>
          <a:p>
            <a:pPr marL="0" indent="0">
              <a:buNone/>
            </a:pPr>
            <a:r>
              <a:rPr lang="en-US" dirty="0"/>
              <a:t>-Chris</a:t>
            </a:r>
          </a:p>
        </p:txBody>
      </p:sp>
      <p:sp>
        <p:nvSpPr>
          <p:cNvPr id="8" name="Rectangle 7"/>
          <p:cNvSpPr/>
          <p:nvPr/>
        </p:nvSpPr>
        <p:spPr bwMode="auto">
          <a:xfrm>
            <a:off x="1986876" y="4543425"/>
            <a:ext cx="5657850" cy="514350"/>
          </a:xfrm>
          <a:prstGeom prst="rect">
            <a:avLst/>
          </a:prstGeom>
          <a:noFill/>
          <a:ln w="9525" cap="flat" cmpd="sng" algn="ctr">
            <a:solidFill>
              <a:srgbClr val="3366FF"/>
            </a:solidFill>
            <a:prstDash val="sysDash"/>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dirty="0">
              <a:latin typeface="Lucida Sans" pitchFamily="-65" charset="0"/>
            </a:endParaRPr>
          </a:p>
        </p:txBody>
      </p:sp>
      <p:sp>
        <p:nvSpPr>
          <p:cNvPr id="9" name="Action Button: Forward or Next 8">
            <a:hlinkClick r:id="" action="ppaction://hlinkshowjump?jump=nextslide" highlightClick="1"/>
          </p:cNvPr>
          <p:cNvSpPr/>
          <p:nvPr/>
        </p:nvSpPr>
        <p:spPr bwMode="auto">
          <a:xfrm rot="5400000">
            <a:off x="7629525" y="4800600"/>
            <a:ext cx="342900" cy="342900"/>
          </a:xfrm>
          <a:prstGeom prst="actionButtonForwardNext">
            <a:avLst/>
          </a:prstGeom>
          <a:solidFill>
            <a:schemeClr val="accent2">
              <a:lumMod val="40000"/>
              <a:lumOff val="60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dirty="0">
              <a:latin typeface="Lucida Sans" pitchFamily="-65" charset="0"/>
            </a:endParaRPr>
          </a:p>
        </p:txBody>
      </p:sp>
      <p:sp>
        <p:nvSpPr>
          <p:cNvPr id="11" name="Rounded Rectangle 10"/>
          <p:cNvSpPr/>
          <p:nvPr/>
        </p:nvSpPr>
        <p:spPr bwMode="auto">
          <a:xfrm>
            <a:off x="3686175" y="5057775"/>
            <a:ext cx="5057775" cy="600075"/>
          </a:xfrm>
          <a:prstGeom prst="roundRect">
            <a:avLst/>
          </a:prstGeom>
          <a:solidFill>
            <a:schemeClr val="bg1"/>
          </a:solidFill>
          <a:ln w="9525" cap="flat" cmpd="sng" algn="ctr">
            <a:noFill/>
            <a:prstDash val="solid"/>
            <a:miter lim="800000"/>
            <a:headEnd type="none" w="med" len="med"/>
            <a:tailEnd type="none" w="med" len="med"/>
          </a:ln>
          <a:effectLst>
            <a:outerShdw blurRad="50800" dist="38100" dir="2700000" algn="tl" rotWithShape="0">
              <a:prstClr val="black">
                <a:alpha val="40000"/>
              </a:prstClr>
            </a:outerShdw>
          </a:effectLst>
        </p:spPr>
        <p:txBody>
          <a:bodyPr vert="horz" wrap="none" lIns="102870" tIns="51435" rIns="102870" bIns="51435" numCol="1" rtlCol="0" anchor="ctr" anchorCtr="0" compatLnSpc="1">
            <a:prstTxWarp prst="textNoShape">
              <a:avLst/>
            </a:prstTxWarp>
          </a:bodyPr>
          <a:lstStyle/>
          <a:p>
            <a:pPr defTabSz="1028700"/>
            <a:endParaRPr lang="en-US" sz="2700" dirty="0">
              <a:latin typeface="Lucida Sans" pitchFamily="-65" charset="0"/>
            </a:endParaRPr>
          </a:p>
        </p:txBody>
      </p:sp>
      <p:sp>
        <p:nvSpPr>
          <p:cNvPr id="12" name="Rectangle 11"/>
          <p:cNvSpPr/>
          <p:nvPr/>
        </p:nvSpPr>
        <p:spPr bwMode="auto">
          <a:xfrm>
            <a:off x="3600450" y="5143500"/>
            <a:ext cx="5057775" cy="428625"/>
          </a:xfrm>
          <a:prstGeom prst="rect">
            <a:avLst/>
          </a:prstGeom>
          <a:solidFill>
            <a:srgbClr val="0000CC"/>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r>
              <a:rPr lang="en-US" dirty="0">
                <a:solidFill>
                  <a:schemeClr val="bg1"/>
                </a:solidFill>
                <a:latin typeface="Lucida Sans" pitchFamily="-65" charset="0"/>
              </a:rPr>
              <a:t> Create new Calendar entry</a:t>
            </a:r>
            <a:endParaRPr lang="en-US" sz="2700" dirty="0">
              <a:solidFill>
                <a:schemeClr val="bg1"/>
              </a:solidFill>
              <a:latin typeface="Lucida Sans" pitchFamily="-65" charset="0"/>
            </a:endParaRPr>
          </a:p>
        </p:txBody>
      </p:sp>
      <p:sp>
        <p:nvSpPr>
          <p:cNvPr id="13" name="Rounded Rectangle 12"/>
          <p:cNvSpPr/>
          <p:nvPr/>
        </p:nvSpPr>
        <p:spPr bwMode="auto">
          <a:xfrm>
            <a:off x="6086475" y="1200150"/>
            <a:ext cx="4200525" cy="2486025"/>
          </a:xfrm>
          <a:prstGeom prst="roundRect">
            <a:avLst/>
          </a:prstGeom>
          <a:solidFill>
            <a:srgbClr val="FFFF00"/>
          </a:solidFill>
          <a:ln w="9525" cap="flat" cmpd="sng" algn="ctr">
            <a:noFill/>
            <a:prstDash val="solid"/>
            <a:miter lim="800000"/>
            <a:headEnd type="none" w="med" len="med"/>
            <a:tailEnd type="none" w="med" len="med"/>
          </a:ln>
          <a:effectLst>
            <a:innerShdw blurRad="63500" dist="50800" dir="2700000">
              <a:prstClr val="black">
                <a:alpha val="50000"/>
              </a:prstClr>
            </a:innerShdw>
          </a:effectLst>
        </p:spPr>
        <p:txBody>
          <a:bodyPr vert="horz" wrap="none" lIns="102870" tIns="51435" rIns="102870" bIns="51435" numCol="1" rtlCol="0" anchor="ctr" anchorCtr="0" compatLnSpc="1">
            <a:prstTxWarp prst="textNoShape">
              <a:avLst/>
            </a:prstTxWarp>
          </a:bodyPr>
          <a:lstStyle/>
          <a:p>
            <a:pPr defTabSz="1028700"/>
            <a:r>
              <a:rPr lang="en-US" sz="2000" dirty="0">
                <a:solidFill>
                  <a:schemeClr val="bg1">
                    <a:lumMod val="50000"/>
                  </a:schemeClr>
                </a:solidFill>
                <a:latin typeface="Lucida Sans" pitchFamily="-65" charset="0"/>
              </a:rPr>
              <a:t>Event:  </a:t>
            </a:r>
            <a:r>
              <a:rPr lang="en-US" sz="2000" dirty="0">
                <a:latin typeface="Lucida Sans" pitchFamily="-65" charset="0"/>
              </a:rPr>
              <a:t>Curriculum meeting</a:t>
            </a:r>
          </a:p>
          <a:p>
            <a:pPr defTabSz="1028700"/>
            <a:r>
              <a:rPr lang="en-US" sz="2000" dirty="0">
                <a:solidFill>
                  <a:schemeClr val="bg1">
                    <a:lumMod val="50000"/>
                  </a:schemeClr>
                </a:solidFill>
                <a:latin typeface="Lucida Sans" pitchFamily="-65" charset="0"/>
              </a:rPr>
              <a:t>Date:   </a:t>
            </a:r>
            <a:r>
              <a:rPr lang="en-US" sz="2000" dirty="0">
                <a:latin typeface="Lucida Sans" pitchFamily="-65" charset="0"/>
              </a:rPr>
              <a:t>Jan-16-2012</a:t>
            </a:r>
          </a:p>
          <a:p>
            <a:pPr defTabSz="1028700"/>
            <a:r>
              <a:rPr lang="en-US" sz="2000" dirty="0">
                <a:solidFill>
                  <a:schemeClr val="bg1">
                    <a:lumMod val="50000"/>
                  </a:schemeClr>
                </a:solidFill>
                <a:latin typeface="Lucida Sans" pitchFamily="-65" charset="0"/>
              </a:rPr>
              <a:t>Start</a:t>
            </a:r>
            <a:r>
              <a:rPr lang="en-US" sz="2000" dirty="0">
                <a:solidFill>
                  <a:srgbClr val="7F7F7F"/>
                </a:solidFill>
                <a:latin typeface="Lucida Sans" pitchFamily="-65" charset="0"/>
              </a:rPr>
              <a:t>:</a:t>
            </a:r>
            <a:r>
              <a:rPr lang="en-US" sz="2000" dirty="0">
                <a:latin typeface="Lucida Sans" pitchFamily="-65" charset="0"/>
              </a:rPr>
              <a:t>   10:00am</a:t>
            </a:r>
          </a:p>
          <a:p>
            <a:pPr defTabSz="1028700"/>
            <a:r>
              <a:rPr lang="en-US" sz="2000" dirty="0">
                <a:solidFill>
                  <a:schemeClr val="bg1">
                    <a:lumMod val="50000"/>
                  </a:schemeClr>
                </a:solidFill>
                <a:latin typeface="Lucida Sans" pitchFamily="-65" charset="0"/>
              </a:rPr>
              <a:t>End:    </a:t>
            </a:r>
            <a:r>
              <a:rPr lang="en-US" sz="2000" dirty="0">
                <a:latin typeface="Lucida Sans" pitchFamily="-65" charset="0"/>
              </a:rPr>
              <a:t>11:30am</a:t>
            </a:r>
          </a:p>
          <a:p>
            <a:pPr defTabSz="1028700"/>
            <a:r>
              <a:rPr lang="en-US" sz="2000" dirty="0">
                <a:solidFill>
                  <a:schemeClr val="bg1">
                    <a:lumMod val="50000"/>
                  </a:schemeClr>
                </a:solidFill>
                <a:latin typeface="Lucida Sans" pitchFamily="-65" charset="0"/>
              </a:rPr>
              <a:t>Where</a:t>
            </a:r>
            <a:r>
              <a:rPr lang="en-US" sz="2000" baseline="0" dirty="0">
                <a:solidFill>
                  <a:schemeClr val="bg1">
                    <a:lumMod val="50000"/>
                  </a:schemeClr>
                </a:solidFill>
                <a:latin typeface="Lucida Sans" pitchFamily="-65" charset="0"/>
              </a:rPr>
              <a:t>:</a:t>
            </a:r>
            <a:r>
              <a:rPr lang="en-US" sz="2000" dirty="0">
                <a:solidFill>
                  <a:schemeClr val="bg1">
                    <a:lumMod val="50000"/>
                  </a:schemeClr>
                </a:solidFill>
                <a:latin typeface="Lucida Sans" pitchFamily="-65" charset="0"/>
              </a:rPr>
              <a:t> </a:t>
            </a:r>
            <a:r>
              <a:rPr lang="en-US" sz="2000" dirty="0">
                <a:latin typeface="Lucida Sans" pitchFamily="-65" charset="0"/>
              </a:rPr>
              <a:t>Gates 159</a:t>
            </a:r>
          </a:p>
        </p:txBody>
      </p:sp>
    </p:spTree>
    <p:extLst>
      <p:ext uri="{BB962C8B-B14F-4D97-AF65-F5344CB8AC3E}">
        <p14:creationId xmlns:p14="http://schemas.microsoft.com/office/powerpoint/2010/main" val="311931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90500" y="152401"/>
            <a:ext cx="10096500" cy="838198"/>
          </a:xfrm>
        </p:spPr>
        <p:txBody>
          <a:bodyPr/>
          <a:lstStyle/>
          <a:p>
            <a:r>
              <a:rPr lang="en-US" dirty="0"/>
              <a:t>Information Extraction &amp; Sentiment Analysis</a:t>
            </a:r>
          </a:p>
        </p:txBody>
      </p:sp>
      <p:sp>
        <p:nvSpPr>
          <p:cNvPr id="24579" name="Content Placeholder 2"/>
          <p:cNvSpPr>
            <a:spLocks noGrp="1"/>
          </p:cNvSpPr>
          <p:nvPr>
            <p:ph idx="1"/>
          </p:nvPr>
        </p:nvSpPr>
        <p:spPr>
          <a:xfrm>
            <a:off x="1409701" y="4098925"/>
            <a:ext cx="8153400" cy="1916113"/>
          </a:xfrm>
        </p:spPr>
        <p:txBody>
          <a:bodyPr/>
          <a:lstStyle/>
          <a:p>
            <a:r>
              <a:rPr lang="en-US" dirty="0"/>
              <a:t>nice and compact to carry! </a:t>
            </a:r>
          </a:p>
          <a:p>
            <a:r>
              <a:rPr lang="en-US" dirty="0"/>
              <a:t>since the camera is small and light, I won't need to carry around those heavy, bulky professional cameras either! </a:t>
            </a:r>
          </a:p>
          <a:p>
            <a:r>
              <a:rPr lang="en-US" dirty="0"/>
              <a:t>the camera feels flimsy, is plastic and very light in weight you have to be very delicate in the handling of this camera</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9835" y="1489911"/>
            <a:ext cx="1704623" cy="1656892"/>
          </a:xfrm>
          <a:prstGeom prst="rect">
            <a:avLst/>
          </a:prstGeom>
        </p:spPr>
      </p:pic>
      <p:sp>
        <p:nvSpPr>
          <p:cNvPr id="3" name="TextBox 2"/>
          <p:cNvSpPr txBox="1"/>
          <p:nvPr/>
        </p:nvSpPr>
        <p:spPr>
          <a:xfrm>
            <a:off x="342900" y="3429001"/>
            <a:ext cx="1813317" cy="369332"/>
          </a:xfrm>
          <a:prstGeom prst="rect">
            <a:avLst/>
          </a:prstGeom>
          <a:noFill/>
        </p:spPr>
        <p:txBody>
          <a:bodyPr wrap="none" rtlCol="0">
            <a:spAutoFit/>
          </a:bodyPr>
          <a:lstStyle/>
          <a:p>
            <a:r>
              <a:rPr lang="en-US" dirty="0">
                <a:latin typeface="+mn-lt"/>
              </a:rPr>
              <a:t>Size and weight</a:t>
            </a:r>
          </a:p>
        </p:txBody>
      </p:sp>
      <p:sp>
        <p:nvSpPr>
          <p:cNvPr id="4" name="TextBox 3"/>
          <p:cNvSpPr txBox="1"/>
          <p:nvPr/>
        </p:nvSpPr>
        <p:spPr>
          <a:xfrm>
            <a:off x="4152900" y="1543050"/>
            <a:ext cx="2209259" cy="2118272"/>
          </a:xfrm>
          <a:prstGeom prst="rect">
            <a:avLst/>
          </a:prstGeom>
          <a:noFill/>
        </p:spPr>
        <p:txBody>
          <a:bodyPr wrap="none" rtlCol="0">
            <a:spAutoFit/>
          </a:bodyPr>
          <a:lstStyle/>
          <a:p>
            <a:r>
              <a:rPr lang="en-US" sz="2194" dirty="0">
                <a:solidFill>
                  <a:srgbClr val="000000"/>
                </a:solidFill>
                <a:latin typeface="+mn-lt"/>
              </a:rPr>
              <a:t>Attributes</a:t>
            </a:r>
            <a:r>
              <a:rPr lang="en-US" sz="2194" dirty="0">
                <a:solidFill>
                  <a:srgbClr val="800000"/>
                </a:solidFill>
                <a:latin typeface="+mn-lt"/>
              </a:rPr>
              <a:t>:</a:t>
            </a:r>
          </a:p>
          <a:p>
            <a:r>
              <a:rPr lang="en-US" sz="2194" dirty="0">
                <a:solidFill>
                  <a:srgbClr val="800000"/>
                </a:solidFill>
                <a:latin typeface="+mn-lt"/>
              </a:rPr>
              <a:t> zoom</a:t>
            </a:r>
          </a:p>
          <a:p>
            <a:r>
              <a:rPr lang="en-US" sz="2194" dirty="0">
                <a:solidFill>
                  <a:srgbClr val="800000"/>
                </a:solidFill>
                <a:latin typeface="+mn-lt"/>
              </a:rPr>
              <a:t> affordability</a:t>
            </a:r>
          </a:p>
          <a:p>
            <a:r>
              <a:rPr lang="en-US" sz="2194" dirty="0">
                <a:solidFill>
                  <a:srgbClr val="800000"/>
                </a:solidFill>
                <a:latin typeface="+mn-lt"/>
              </a:rPr>
              <a:t> size and weight</a:t>
            </a:r>
          </a:p>
          <a:p>
            <a:r>
              <a:rPr lang="en-US" sz="2194" dirty="0">
                <a:solidFill>
                  <a:srgbClr val="800000"/>
                </a:solidFill>
                <a:latin typeface="+mn-lt"/>
              </a:rPr>
              <a:t> flash </a:t>
            </a:r>
          </a:p>
          <a:p>
            <a:r>
              <a:rPr lang="en-US" sz="2194" dirty="0">
                <a:solidFill>
                  <a:srgbClr val="800000"/>
                </a:solidFill>
                <a:latin typeface="+mn-lt"/>
              </a:rPr>
              <a:t> ease of use</a:t>
            </a:r>
          </a:p>
        </p:txBody>
      </p:sp>
      <p:grpSp>
        <p:nvGrpSpPr>
          <p:cNvPr id="8" name="Group 7"/>
          <p:cNvGrpSpPr/>
          <p:nvPr/>
        </p:nvGrpSpPr>
        <p:grpSpPr>
          <a:xfrm>
            <a:off x="6429375" y="1971675"/>
            <a:ext cx="2657475" cy="1628775"/>
            <a:chOff x="3886200" y="1123950"/>
            <a:chExt cx="2362200" cy="1447800"/>
          </a:xfrm>
        </p:grpSpPr>
        <p:sp>
          <p:nvSpPr>
            <p:cNvPr id="5" name="Rectangle 4"/>
            <p:cNvSpPr/>
            <p:nvPr/>
          </p:nvSpPr>
          <p:spPr bwMode="auto">
            <a:xfrm>
              <a:off x="3886200" y="1123950"/>
              <a:ext cx="2362200" cy="228600"/>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2" name="Rectangle 11"/>
            <p:cNvSpPr/>
            <p:nvPr/>
          </p:nvSpPr>
          <p:spPr bwMode="auto">
            <a:xfrm>
              <a:off x="3886200" y="1123950"/>
              <a:ext cx="1828800" cy="228600"/>
            </a:xfrm>
            <a:prstGeom prst="rect">
              <a:avLst/>
            </a:prstGeom>
            <a:solidFill>
              <a:schemeClr val="bg2">
                <a:lumMod val="75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3" name="Rectangle 12"/>
            <p:cNvSpPr/>
            <p:nvPr/>
          </p:nvSpPr>
          <p:spPr bwMode="auto">
            <a:xfrm>
              <a:off x="3886200" y="1428750"/>
              <a:ext cx="2362200" cy="228600"/>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4" name="Rectangle 13"/>
            <p:cNvSpPr/>
            <p:nvPr/>
          </p:nvSpPr>
          <p:spPr bwMode="auto">
            <a:xfrm>
              <a:off x="3886200" y="1428750"/>
              <a:ext cx="2133600" cy="228600"/>
            </a:xfrm>
            <a:prstGeom prst="rect">
              <a:avLst/>
            </a:prstGeom>
            <a:solidFill>
              <a:schemeClr val="bg2">
                <a:lumMod val="75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5" name="Rectangle 14"/>
            <p:cNvSpPr/>
            <p:nvPr/>
          </p:nvSpPr>
          <p:spPr bwMode="auto">
            <a:xfrm>
              <a:off x="3886200" y="1733550"/>
              <a:ext cx="2362200" cy="228600"/>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6" name="Rectangle 15"/>
            <p:cNvSpPr/>
            <p:nvPr/>
          </p:nvSpPr>
          <p:spPr bwMode="auto">
            <a:xfrm>
              <a:off x="3886200" y="1733550"/>
              <a:ext cx="1600200" cy="228600"/>
            </a:xfrm>
            <a:prstGeom prst="rect">
              <a:avLst/>
            </a:prstGeom>
            <a:solidFill>
              <a:schemeClr val="bg2">
                <a:lumMod val="75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7" name="Rectangle 16"/>
            <p:cNvSpPr/>
            <p:nvPr/>
          </p:nvSpPr>
          <p:spPr bwMode="auto">
            <a:xfrm>
              <a:off x="3886200" y="2038350"/>
              <a:ext cx="2362200" cy="228600"/>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8" name="Rectangle 17"/>
            <p:cNvSpPr/>
            <p:nvPr/>
          </p:nvSpPr>
          <p:spPr bwMode="auto">
            <a:xfrm>
              <a:off x="3886200" y="2038349"/>
              <a:ext cx="2362200" cy="228601"/>
            </a:xfrm>
            <a:prstGeom prst="rect">
              <a:avLst/>
            </a:prstGeom>
            <a:solidFill>
              <a:schemeClr val="bg2">
                <a:lumMod val="75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19" name="Rectangle 18"/>
            <p:cNvSpPr/>
            <p:nvPr/>
          </p:nvSpPr>
          <p:spPr bwMode="auto">
            <a:xfrm>
              <a:off x="3886200" y="2343150"/>
              <a:ext cx="2362200" cy="228600"/>
            </a:xfrm>
            <a:prstGeom prst="rect">
              <a:avLst/>
            </a:prstGeom>
            <a:solidFill>
              <a:schemeClr val="bg1"/>
            </a:solidFill>
            <a:ln w="9525" cap="flat" cmpd="sng" algn="ctr">
              <a:solidFill>
                <a:schemeClr val="tx1"/>
              </a:solid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sp>
          <p:nvSpPr>
            <p:cNvPr id="20" name="Rectangle 19"/>
            <p:cNvSpPr/>
            <p:nvPr/>
          </p:nvSpPr>
          <p:spPr bwMode="auto">
            <a:xfrm>
              <a:off x="3886200" y="2343150"/>
              <a:ext cx="1295400" cy="228600"/>
            </a:xfrm>
            <a:prstGeom prst="rect">
              <a:avLst/>
            </a:prstGeom>
            <a:solidFill>
              <a:schemeClr val="bg2">
                <a:lumMod val="75000"/>
              </a:schemeClr>
            </a:solidFill>
            <a:ln w="9525" cap="flat" cmpd="sng" algn="ctr">
              <a:noFill/>
              <a:prstDash val="solid"/>
              <a:miter lim="800000"/>
              <a:headEnd type="none" w="med" len="med"/>
              <a:tailEnd type="none" w="med" len="med"/>
            </a:ln>
            <a:effectLst/>
          </p:spPr>
          <p:txBody>
            <a:bodyPr vert="horz" wrap="none" lIns="102870" tIns="51435" rIns="102870" bIns="51435" numCol="1" rtlCol="0" anchor="ctr" anchorCtr="0" compatLnSpc="1">
              <a:prstTxWarp prst="textNoShape">
                <a:avLst/>
              </a:prstTxWarp>
            </a:bodyPr>
            <a:lstStyle/>
            <a:p>
              <a:pPr defTabSz="1028700"/>
              <a:endParaRPr lang="en-US" sz="2700">
                <a:latin typeface="Lucida Sans" pitchFamily="-65" charset="0"/>
              </a:endParaRPr>
            </a:p>
          </p:txBody>
        </p:sp>
      </p:grpSp>
      <p:sp>
        <p:nvSpPr>
          <p:cNvPr id="6" name="TextBox 5"/>
          <p:cNvSpPr txBox="1"/>
          <p:nvPr/>
        </p:nvSpPr>
        <p:spPr>
          <a:xfrm>
            <a:off x="600076" y="3943351"/>
            <a:ext cx="530915" cy="646331"/>
          </a:xfrm>
          <a:prstGeom prst="rect">
            <a:avLst/>
          </a:prstGeom>
          <a:noFill/>
        </p:spPr>
        <p:txBody>
          <a:bodyPr wrap="none" rtlCol="0">
            <a:spAutoFit/>
          </a:bodyPr>
          <a:lstStyle/>
          <a:p>
            <a:r>
              <a:rPr lang="en-US" sz="3600" dirty="0">
                <a:solidFill>
                  <a:srgbClr val="3366FF"/>
                </a:solidFill>
                <a:latin typeface="Zapf Dingbats"/>
                <a:ea typeface="Zapf Dingbats"/>
                <a:cs typeface="Zapf Dingbats"/>
                <a:sym typeface="Zapf Dingbats"/>
              </a:rPr>
              <a:t>✓</a:t>
            </a:r>
            <a:endParaRPr lang="en-US" sz="3600" dirty="0">
              <a:solidFill>
                <a:srgbClr val="3366FF"/>
              </a:solidFill>
              <a:latin typeface="+mn-lt"/>
            </a:endParaRPr>
          </a:p>
        </p:txBody>
      </p:sp>
      <p:sp>
        <p:nvSpPr>
          <p:cNvPr id="22" name="TextBox 21"/>
          <p:cNvSpPr txBox="1"/>
          <p:nvPr/>
        </p:nvSpPr>
        <p:spPr>
          <a:xfrm>
            <a:off x="632563" y="5314951"/>
            <a:ext cx="561372" cy="646331"/>
          </a:xfrm>
          <a:prstGeom prst="rect">
            <a:avLst/>
          </a:prstGeom>
          <a:noFill/>
        </p:spPr>
        <p:txBody>
          <a:bodyPr wrap="none" rtlCol="0">
            <a:spAutoFit/>
          </a:bodyPr>
          <a:lstStyle/>
          <a:p>
            <a:r>
              <a:rPr lang="en-US" sz="3600" dirty="0">
                <a:solidFill>
                  <a:srgbClr val="FF0000"/>
                </a:solidFill>
                <a:latin typeface="Zapf Dingbats"/>
                <a:ea typeface="Zapf Dingbats"/>
                <a:cs typeface="Zapf Dingbats"/>
                <a:sym typeface="Zapf Dingbats"/>
              </a:rPr>
              <a:t>✗</a:t>
            </a:r>
            <a:endParaRPr lang="en-US" sz="3600" dirty="0">
              <a:solidFill>
                <a:srgbClr val="FF0000"/>
              </a:solidFill>
              <a:latin typeface="+mn-lt"/>
            </a:endParaRPr>
          </a:p>
        </p:txBody>
      </p:sp>
      <p:sp>
        <p:nvSpPr>
          <p:cNvPr id="23" name="TextBox 22"/>
          <p:cNvSpPr txBox="1"/>
          <p:nvPr/>
        </p:nvSpPr>
        <p:spPr>
          <a:xfrm>
            <a:off x="600076" y="4629151"/>
            <a:ext cx="530915" cy="646331"/>
          </a:xfrm>
          <a:prstGeom prst="rect">
            <a:avLst/>
          </a:prstGeom>
          <a:noFill/>
        </p:spPr>
        <p:txBody>
          <a:bodyPr wrap="none" rtlCol="0">
            <a:spAutoFit/>
          </a:bodyPr>
          <a:lstStyle/>
          <a:p>
            <a:r>
              <a:rPr lang="en-US" sz="3600" dirty="0">
                <a:solidFill>
                  <a:srgbClr val="3366FF"/>
                </a:solidFill>
                <a:latin typeface="Zapf Dingbats"/>
                <a:ea typeface="Zapf Dingbats"/>
                <a:cs typeface="Zapf Dingbats"/>
                <a:sym typeface="Zapf Dingbats"/>
              </a:rPr>
              <a:t>✓</a:t>
            </a:r>
            <a:endParaRPr lang="en-US" sz="3600" dirty="0">
              <a:solidFill>
                <a:srgbClr val="3366FF"/>
              </a:solidFill>
              <a:latin typeface="+mn-lt"/>
            </a:endParaRPr>
          </a:p>
        </p:txBody>
      </p:sp>
      <p:pic>
        <p:nvPicPr>
          <p:cNvPr id="7" name="Picture 6" descr="camera5.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0825" y="1457325"/>
            <a:ext cx="2757488" cy="4043363"/>
          </a:xfrm>
          <a:prstGeom prst="rect">
            <a:avLst/>
          </a:prstGeom>
        </p:spPr>
      </p:pic>
    </p:spTree>
    <p:extLst>
      <p:ext uri="{BB962C8B-B14F-4D97-AF65-F5344CB8AC3E}">
        <p14:creationId xmlns:p14="http://schemas.microsoft.com/office/powerpoint/2010/main" val="360852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579">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579">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P spid="3" grpId="0"/>
      <p:bldP spid="4" grpId="0"/>
      <p:bldP spid="6"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Translation</a:t>
            </a:r>
          </a:p>
        </p:txBody>
      </p:sp>
      <p:sp>
        <p:nvSpPr>
          <p:cNvPr id="3" name="Content Placeholder 2"/>
          <p:cNvSpPr>
            <a:spLocks noGrp="1"/>
          </p:cNvSpPr>
          <p:nvPr>
            <p:ph idx="1"/>
          </p:nvPr>
        </p:nvSpPr>
        <p:spPr/>
        <p:txBody>
          <a:bodyPr/>
          <a:lstStyle/>
          <a:p>
            <a:r>
              <a:rPr lang="en-US" sz="3150" dirty="0"/>
              <a:t>Fully automatic</a:t>
            </a:r>
          </a:p>
        </p:txBody>
      </p:sp>
      <p:pic>
        <p:nvPicPr>
          <p:cNvPr id="5" name="Picture 4"/>
          <p:cNvPicPr>
            <a:picLocks noChangeAspect="1"/>
          </p:cNvPicPr>
          <p:nvPr/>
        </p:nvPicPr>
        <p:blipFill>
          <a:blip r:embed="rId2"/>
          <a:stretch>
            <a:fillRect/>
          </a:stretch>
        </p:blipFill>
        <p:spPr>
          <a:xfrm>
            <a:off x="5552711" y="2400300"/>
            <a:ext cx="4915205" cy="4007644"/>
          </a:xfrm>
          <a:prstGeom prst="rect">
            <a:avLst/>
          </a:prstGeom>
        </p:spPr>
      </p:pic>
      <p:sp>
        <p:nvSpPr>
          <p:cNvPr id="6" name="Content Placeholder 2"/>
          <p:cNvSpPr txBox="1">
            <a:spLocks/>
          </p:cNvSpPr>
          <p:nvPr/>
        </p:nvSpPr>
        <p:spPr bwMode="auto">
          <a:xfrm>
            <a:off x="4972050" y="1714500"/>
            <a:ext cx="5229225" cy="3750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02870" tIns="51435" rIns="102870" bIns="51435"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r>
              <a:rPr lang="en-US" sz="3150" dirty="0"/>
              <a:t>Helping human translators</a:t>
            </a:r>
          </a:p>
        </p:txBody>
      </p:sp>
      <p:sp>
        <p:nvSpPr>
          <p:cNvPr id="7" name="TextBox 6"/>
          <p:cNvSpPr txBox="1"/>
          <p:nvPr/>
        </p:nvSpPr>
        <p:spPr>
          <a:xfrm>
            <a:off x="257176" y="2828925"/>
            <a:ext cx="2315249" cy="403957"/>
          </a:xfrm>
          <a:prstGeom prst="rect">
            <a:avLst/>
          </a:prstGeom>
          <a:noFill/>
        </p:spPr>
        <p:txBody>
          <a:bodyPr wrap="none" rtlCol="0">
            <a:spAutoFit/>
          </a:bodyPr>
          <a:lstStyle/>
          <a:p>
            <a:r>
              <a:rPr lang="en-US" sz="2025" dirty="0">
                <a:latin typeface="+mn-lt"/>
              </a:rPr>
              <a:t>Enter Source Text:</a:t>
            </a:r>
          </a:p>
        </p:txBody>
      </p:sp>
      <p:sp>
        <p:nvSpPr>
          <p:cNvPr id="8" name="Rounded Rectangle 7"/>
          <p:cNvSpPr/>
          <p:nvPr/>
        </p:nvSpPr>
        <p:spPr bwMode="auto">
          <a:xfrm>
            <a:off x="428625" y="3343275"/>
            <a:ext cx="4800600" cy="600075"/>
          </a:xfrm>
          <a:prstGeom prst="roundRect">
            <a:avLst/>
          </a:prstGeom>
          <a:solidFill>
            <a:schemeClr val="bg2">
              <a:lumMod val="40000"/>
              <a:lumOff val="60000"/>
            </a:schemeClr>
          </a:solidFill>
          <a:ln w="9525" cap="flat" cmpd="sng" algn="ctr">
            <a:noFill/>
            <a:prstDash val="solid"/>
            <a:miter lim="800000"/>
            <a:headEnd type="none" w="med" len="med"/>
            <a:tailEnd type="none" w="med" len="med"/>
          </a:ln>
          <a:effectLst>
            <a:outerShdw blurRad="50800" dist="38100" dir="2700000" algn="tl" rotWithShape="0">
              <a:prstClr val="black">
                <a:alpha val="40000"/>
              </a:prstClr>
            </a:outerShdw>
          </a:effectLst>
        </p:spPr>
        <p:txBody>
          <a:bodyPr vert="horz" wrap="none" lIns="102870" tIns="51435" rIns="102870" bIns="51435" numCol="1" rtlCol="0" anchor="ctr" anchorCtr="0" compatLnSpc="1">
            <a:prstTxWarp prst="textNoShape">
              <a:avLst/>
            </a:prstTxWarp>
          </a:bodyPr>
          <a:lstStyle/>
          <a:p>
            <a:endParaRPr lang="en-US" altLang="zh-TW" dirty="0">
              <a:latin typeface="华文仿宋"/>
              <a:ea typeface="华文仿宋"/>
              <a:cs typeface="华文仿宋"/>
            </a:endParaRPr>
          </a:p>
        </p:txBody>
      </p:sp>
      <p:sp>
        <p:nvSpPr>
          <p:cNvPr id="9" name="Rounded Rectangle 8"/>
          <p:cNvSpPr/>
          <p:nvPr/>
        </p:nvSpPr>
        <p:spPr bwMode="auto">
          <a:xfrm>
            <a:off x="428625" y="4886325"/>
            <a:ext cx="4714875" cy="600075"/>
          </a:xfrm>
          <a:prstGeom prst="roundRect">
            <a:avLst/>
          </a:prstGeom>
          <a:solidFill>
            <a:schemeClr val="bg2">
              <a:lumMod val="40000"/>
              <a:lumOff val="60000"/>
            </a:schemeClr>
          </a:solidFill>
          <a:ln w="9525" cap="flat" cmpd="sng" algn="ctr">
            <a:noFill/>
            <a:prstDash val="solid"/>
            <a:miter lim="800000"/>
            <a:headEnd type="none" w="med" len="med"/>
            <a:tailEnd type="none" w="med" len="med"/>
          </a:ln>
          <a:effectLst>
            <a:outerShdw blurRad="50800" dist="38100" dir="2700000" algn="tl" rotWithShape="0">
              <a:prstClr val="black">
                <a:alpha val="40000"/>
              </a:prstClr>
            </a:outerShdw>
          </a:effectLst>
        </p:spPr>
        <p:txBody>
          <a:bodyPr vert="horz" wrap="none" lIns="102870" tIns="51435" rIns="102870" bIns="51435" numCol="1" rtlCol="0" anchor="ctr" anchorCtr="0" compatLnSpc="1">
            <a:prstTxWarp prst="textNoShape">
              <a:avLst/>
            </a:prstTxWarp>
          </a:bodyPr>
          <a:lstStyle/>
          <a:p>
            <a:endParaRPr lang="en-US" dirty="0">
              <a:latin typeface="Calibri"/>
              <a:ea typeface="华文仿宋"/>
              <a:cs typeface="Calibri"/>
            </a:endParaRPr>
          </a:p>
        </p:txBody>
      </p:sp>
      <p:sp>
        <p:nvSpPr>
          <p:cNvPr id="10" name="TextBox 9"/>
          <p:cNvSpPr txBox="1"/>
          <p:nvPr/>
        </p:nvSpPr>
        <p:spPr>
          <a:xfrm>
            <a:off x="257175" y="4213652"/>
            <a:ext cx="4310924" cy="403957"/>
          </a:xfrm>
          <a:prstGeom prst="rect">
            <a:avLst/>
          </a:prstGeom>
          <a:noFill/>
        </p:spPr>
        <p:txBody>
          <a:bodyPr wrap="none" rtlCol="0">
            <a:spAutoFit/>
          </a:bodyPr>
          <a:lstStyle/>
          <a:p>
            <a:r>
              <a:rPr lang="en-US" sz="2025" dirty="0">
                <a:latin typeface="+mn-lt"/>
              </a:rPr>
              <a:t>Translation from Stanford’s </a:t>
            </a:r>
            <a:r>
              <a:rPr lang="en-US" sz="2025" i="1" dirty="0">
                <a:latin typeface="+mn-lt"/>
              </a:rPr>
              <a:t>Phrasal</a:t>
            </a:r>
            <a:r>
              <a:rPr lang="en-US" sz="2025" dirty="0">
                <a:latin typeface="+mn-lt"/>
              </a:rPr>
              <a:t>:</a:t>
            </a:r>
          </a:p>
        </p:txBody>
      </p:sp>
      <p:sp>
        <p:nvSpPr>
          <p:cNvPr id="11" name="TextBox 10"/>
          <p:cNvSpPr txBox="1"/>
          <p:nvPr/>
        </p:nvSpPr>
        <p:spPr>
          <a:xfrm>
            <a:off x="342900" y="3413802"/>
            <a:ext cx="3365024" cy="680956"/>
          </a:xfrm>
          <a:prstGeom prst="rect">
            <a:avLst/>
          </a:prstGeom>
          <a:noFill/>
        </p:spPr>
        <p:txBody>
          <a:bodyPr wrap="none" rtlCol="0">
            <a:spAutoFit/>
          </a:bodyPr>
          <a:lstStyle/>
          <a:p>
            <a:r>
              <a:rPr lang="zh-TW" altLang="en-US" dirty="0">
                <a:latin typeface="华文仿宋"/>
                <a:ea typeface="华文仿宋"/>
                <a:cs typeface="华文仿宋"/>
              </a:rPr>
              <a:t> 这 不过 是 一 个 时间 的 问题 </a:t>
            </a:r>
            <a:r>
              <a:rPr lang="en-US" altLang="zh-TW" dirty="0">
                <a:latin typeface="华文仿宋"/>
                <a:ea typeface="华文仿宋"/>
                <a:cs typeface="华文仿宋"/>
              </a:rPr>
              <a:t>.</a:t>
            </a:r>
          </a:p>
          <a:p>
            <a:endParaRPr lang="en-US" sz="2025" dirty="0">
              <a:latin typeface="+mn-lt"/>
            </a:endParaRPr>
          </a:p>
        </p:txBody>
      </p:sp>
      <p:sp>
        <p:nvSpPr>
          <p:cNvPr id="12" name="TextBox 11"/>
          <p:cNvSpPr txBox="1"/>
          <p:nvPr/>
        </p:nvSpPr>
        <p:spPr>
          <a:xfrm>
            <a:off x="514351" y="4956852"/>
            <a:ext cx="2848985" cy="680956"/>
          </a:xfrm>
          <a:prstGeom prst="rect">
            <a:avLst/>
          </a:prstGeom>
          <a:noFill/>
        </p:spPr>
        <p:txBody>
          <a:bodyPr wrap="none" rtlCol="0">
            <a:spAutoFit/>
          </a:bodyPr>
          <a:lstStyle/>
          <a:p>
            <a:r>
              <a:rPr lang="en-US" dirty="0">
                <a:latin typeface="Calibri"/>
                <a:ea typeface="华文仿宋"/>
                <a:cs typeface="Calibri"/>
              </a:rPr>
              <a:t>This is only a matter of time.</a:t>
            </a:r>
          </a:p>
          <a:p>
            <a:endParaRPr lang="en-US" sz="2025" dirty="0">
              <a:latin typeface="+mn-lt"/>
            </a:endParaRPr>
          </a:p>
        </p:txBody>
      </p:sp>
    </p:spTree>
    <p:extLst>
      <p:ext uri="{BB962C8B-B14F-4D97-AF65-F5344CB8AC3E}">
        <p14:creationId xmlns:p14="http://schemas.microsoft.com/office/powerpoint/2010/main" val="70213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List of NLP Tasks</a:t>
            </a:r>
          </a:p>
        </p:txBody>
      </p:sp>
    </p:spTree>
    <p:extLst>
      <p:ext uri="{BB962C8B-B14F-4D97-AF65-F5344CB8AC3E}">
        <p14:creationId xmlns:p14="http://schemas.microsoft.com/office/powerpoint/2010/main" val="1570590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p:cNvSpPr>
            <a:spLocks noGrp="1"/>
          </p:cNvSpPr>
          <p:nvPr>
            <p:ph type="title"/>
          </p:nvPr>
        </p:nvSpPr>
        <p:spPr/>
        <p:txBody>
          <a:bodyPr/>
          <a:lstStyle/>
          <a:p>
            <a:pPr eaLnBrk="1" hangingPunct="1"/>
            <a:r>
              <a:rPr lang="en-US" dirty="0">
                <a:latin typeface="Calibri" charset="0"/>
                <a:ea typeface="ＭＳ Ｐゴシック" charset="0"/>
                <a:cs typeface="ＭＳ Ｐゴシック" charset="0"/>
              </a:rPr>
              <a:t>Language Technology</a:t>
            </a:r>
          </a:p>
        </p:txBody>
      </p:sp>
      <p:sp>
        <p:nvSpPr>
          <p:cNvPr id="5" name="Rectangle 4"/>
          <p:cNvSpPr/>
          <p:nvPr/>
        </p:nvSpPr>
        <p:spPr>
          <a:xfrm>
            <a:off x="300039" y="2714322"/>
            <a:ext cx="2957511" cy="805316"/>
          </a:xfrm>
          <a:prstGeom prst="rect">
            <a:avLst/>
          </a:prstGeom>
          <a:solidFill>
            <a:srgbClr val="DEF1DE"/>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6" name="Rectangle 5"/>
          <p:cNvSpPr/>
          <p:nvPr/>
        </p:nvSpPr>
        <p:spPr>
          <a:xfrm>
            <a:off x="3429001" y="1828499"/>
            <a:ext cx="3428999" cy="805316"/>
          </a:xfrm>
          <a:prstGeom prst="rect">
            <a:avLst/>
          </a:prstGeom>
          <a:solidFill>
            <a:srgbClr val="FFFDD4"/>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7" name="Rectangle 6"/>
          <p:cNvSpPr/>
          <p:nvPr/>
        </p:nvSpPr>
        <p:spPr>
          <a:xfrm>
            <a:off x="7084617" y="2257427"/>
            <a:ext cx="3128961" cy="803672"/>
          </a:xfrm>
          <a:prstGeom prst="rect">
            <a:avLst/>
          </a:prstGeom>
          <a:solidFill>
            <a:srgbClr val="F0DC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9" name="Rectangle 8"/>
          <p:cNvSpPr/>
          <p:nvPr/>
        </p:nvSpPr>
        <p:spPr>
          <a:xfrm>
            <a:off x="3429001" y="2686496"/>
            <a:ext cx="3428999" cy="685800"/>
          </a:xfrm>
          <a:prstGeom prst="rect">
            <a:avLst/>
          </a:prstGeom>
          <a:solidFill>
            <a:srgbClr val="FFFDD4"/>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0" name="Rectangle 9"/>
          <p:cNvSpPr/>
          <p:nvPr/>
        </p:nvSpPr>
        <p:spPr>
          <a:xfrm>
            <a:off x="7089380" y="3154158"/>
            <a:ext cx="3128961" cy="805316"/>
          </a:xfrm>
          <a:prstGeom prst="rect">
            <a:avLst/>
          </a:prstGeom>
          <a:solidFill>
            <a:srgbClr val="F0DC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1" name="Rectangle 10"/>
          <p:cNvSpPr/>
          <p:nvPr/>
        </p:nvSpPr>
        <p:spPr>
          <a:xfrm>
            <a:off x="300039" y="3686175"/>
            <a:ext cx="2957511" cy="805316"/>
          </a:xfrm>
          <a:prstGeom prst="rect">
            <a:avLst/>
          </a:prstGeom>
          <a:solidFill>
            <a:srgbClr val="DEF1DE"/>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2" name="Rectangle 11"/>
          <p:cNvSpPr/>
          <p:nvPr/>
        </p:nvSpPr>
        <p:spPr>
          <a:xfrm>
            <a:off x="3434001" y="3411877"/>
            <a:ext cx="3423780" cy="617199"/>
          </a:xfrm>
          <a:prstGeom prst="rect">
            <a:avLst/>
          </a:prstGeom>
          <a:solidFill>
            <a:srgbClr val="FFFDD4"/>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3" name="Rectangle 12"/>
          <p:cNvSpPr/>
          <p:nvPr/>
        </p:nvSpPr>
        <p:spPr>
          <a:xfrm>
            <a:off x="7089383" y="4024307"/>
            <a:ext cx="3128961" cy="805316"/>
          </a:xfrm>
          <a:prstGeom prst="rect">
            <a:avLst/>
          </a:prstGeom>
          <a:solidFill>
            <a:srgbClr val="F0DC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4" name="Rectangle 13"/>
          <p:cNvSpPr/>
          <p:nvPr/>
        </p:nvSpPr>
        <p:spPr>
          <a:xfrm>
            <a:off x="300039" y="4629151"/>
            <a:ext cx="2957511" cy="805316"/>
          </a:xfrm>
          <a:prstGeom prst="rect">
            <a:avLst/>
          </a:prstGeom>
          <a:solidFill>
            <a:srgbClr val="DEF1DE"/>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5" name="Rectangle 14"/>
          <p:cNvSpPr/>
          <p:nvPr/>
        </p:nvSpPr>
        <p:spPr>
          <a:xfrm>
            <a:off x="3429001" y="4095751"/>
            <a:ext cx="3428999" cy="600074"/>
          </a:xfrm>
          <a:prstGeom prst="rect">
            <a:avLst/>
          </a:prstGeom>
          <a:solidFill>
            <a:srgbClr val="FFFDD4"/>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dirty="0">
              <a:solidFill>
                <a:prstClr val="white"/>
              </a:solidFill>
              <a:latin typeface="Calibri"/>
            </a:endParaRPr>
          </a:p>
        </p:txBody>
      </p:sp>
      <p:sp>
        <p:nvSpPr>
          <p:cNvPr id="16" name="Rectangle 15"/>
          <p:cNvSpPr/>
          <p:nvPr/>
        </p:nvSpPr>
        <p:spPr>
          <a:xfrm>
            <a:off x="7089383" y="5025627"/>
            <a:ext cx="3128961" cy="803673"/>
          </a:xfrm>
          <a:prstGeom prst="rect">
            <a:avLst/>
          </a:prstGeom>
          <a:solidFill>
            <a:srgbClr val="F0DCD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7" name="Rectangle 16"/>
          <p:cNvSpPr/>
          <p:nvPr/>
        </p:nvSpPr>
        <p:spPr>
          <a:xfrm>
            <a:off x="3429000" y="5573314"/>
            <a:ext cx="3429000" cy="717948"/>
          </a:xfrm>
          <a:prstGeom prst="rect">
            <a:avLst/>
          </a:prstGeom>
          <a:solidFill>
            <a:srgbClr val="FFFFCC"/>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18" name="Rectangle 17"/>
          <p:cNvSpPr/>
          <p:nvPr/>
        </p:nvSpPr>
        <p:spPr>
          <a:xfrm>
            <a:off x="3429001" y="4756325"/>
            <a:ext cx="3428999" cy="755823"/>
          </a:xfrm>
          <a:prstGeom prst="rect">
            <a:avLst/>
          </a:prstGeom>
          <a:solidFill>
            <a:srgbClr val="FFFDD4"/>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1575">
              <a:solidFill>
                <a:prstClr val="white"/>
              </a:solidFill>
              <a:latin typeface="Calibri"/>
            </a:endParaRPr>
          </a:p>
        </p:txBody>
      </p:sp>
      <p:sp>
        <p:nvSpPr>
          <p:cNvPr id="67602" name="TextBox 24"/>
          <p:cNvSpPr txBox="1">
            <a:spLocks noChangeArrowheads="1"/>
          </p:cNvSpPr>
          <p:nvPr/>
        </p:nvSpPr>
        <p:spPr bwMode="auto">
          <a:xfrm>
            <a:off x="3514726" y="2657476"/>
            <a:ext cx="2058128"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Coreference resolution</a:t>
            </a:r>
          </a:p>
        </p:txBody>
      </p:sp>
      <p:sp>
        <p:nvSpPr>
          <p:cNvPr id="67603" name="TextBox 25"/>
          <p:cNvSpPr txBox="1">
            <a:spLocks noChangeArrowheads="1"/>
          </p:cNvSpPr>
          <p:nvPr/>
        </p:nvSpPr>
        <p:spPr bwMode="auto">
          <a:xfrm>
            <a:off x="7051280" y="2228851"/>
            <a:ext cx="2234714"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Question answering (QA)</a:t>
            </a:r>
          </a:p>
        </p:txBody>
      </p:sp>
      <p:sp>
        <p:nvSpPr>
          <p:cNvPr id="67604" name="TextBox 26"/>
          <p:cNvSpPr txBox="1">
            <a:spLocks noChangeArrowheads="1"/>
          </p:cNvSpPr>
          <p:nvPr/>
        </p:nvSpPr>
        <p:spPr bwMode="auto">
          <a:xfrm>
            <a:off x="300039" y="3686176"/>
            <a:ext cx="2528128"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Part-of-speech (POS) tagging</a:t>
            </a:r>
          </a:p>
        </p:txBody>
      </p:sp>
      <p:sp>
        <p:nvSpPr>
          <p:cNvPr id="67605" name="TextBox 27"/>
          <p:cNvSpPr txBox="1">
            <a:spLocks noChangeArrowheads="1"/>
          </p:cNvSpPr>
          <p:nvPr/>
        </p:nvSpPr>
        <p:spPr bwMode="auto">
          <a:xfrm>
            <a:off x="3429000" y="3343275"/>
            <a:ext cx="2828925" cy="3174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463" dirty="0">
                <a:solidFill>
                  <a:srgbClr val="000000"/>
                </a:solidFill>
                <a:latin typeface="Calibri" charset="0"/>
              </a:rPr>
              <a:t>Word sense disambiguation (WSD)</a:t>
            </a:r>
          </a:p>
        </p:txBody>
      </p:sp>
      <p:sp>
        <p:nvSpPr>
          <p:cNvPr id="67606" name="TextBox 28"/>
          <p:cNvSpPr txBox="1">
            <a:spLocks noChangeArrowheads="1"/>
          </p:cNvSpPr>
          <p:nvPr/>
        </p:nvSpPr>
        <p:spPr bwMode="auto">
          <a:xfrm>
            <a:off x="7051281" y="3086101"/>
            <a:ext cx="1096903"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Paraphrase</a:t>
            </a:r>
          </a:p>
        </p:txBody>
      </p:sp>
      <p:sp>
        <p:nvSpPr>
          <p:cNvPr id="67607" name="TextBox 29"/>
          <p:cNvSpPr txBox="1">
            <a:spLocks noChangeArrowheads="1"/>
          </p:cNvSpPr>
          <p:nvPr/>
        </p:nvSpPr>
        <p:spPr bwMode="auto">
          <a:xfrm>
            <a:off x="385763" y="4629151"/>
            <a:ext cx="2781724"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Named entity recognition (NER)</a:t>
            </a:r>
          </a:p>
        </p:txBody>
      </p:sp>
      <p:sp>
        <p:nvSpPr>
          <p:cNvPr id="67608" name="TextBox 30"/>
          <p:cNvSpPr txBox="1">
            <a:spLocks noChangeArrowheads="1"/>
          </p:cNvSpPr>
          <p:nvPr/>
        </p:nvSpPr>
        <p:spPr bwMode="auto">
          <a:xfrm>
            <a:off x="3514725" y="4114801"/>
            <a:ext cx="773160"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Parsing</a:t>
            </a:r>
          </a:p>
        </p:txBody>
      </p:sp>
      <p:sp>
        <p:nvSpPr>
          <p:cNvPr id="67609" name="TextBox 31"/>
          <p:cNvSpPr txBox="1">
            <a:spLocks noChangeArrowheads="1"/>
          </p:cNvSpPr>
          <p:nvPr/>
        </p:nvSpPr>
        <p:spPr bwMode="auto">
          <a:xfrm>
            <a:off x="7041756" y="3976680"/>
            <a:ext cx="1416991"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Summarization</a:t>
            </a:r>
          </a:p>
        </p:txBody>
      </p:sp>
      <p:sp>
        <p:nvSpPr>
          <p:cNvPr id="67610" name="TextBox 32"/>
          <p:cNvSpPr txBox="1">
            <a:spLocks noChangeArrowheads="1"/>
          </p:cNvSpPr>
          <p:nvPr/>
        </p:nvSpPr>
        <p:spPr bwMode="auto">
          <a:xfrm>
            <a:off x="3548208" y="5516389"/>
            <a:ext cx="2490267"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Information extraction (IE)</a:t>
            </a:r>
          </a:p>
        </p:txBody>
      </p:sp>
      <p:sp>
        <p:nvSpPr>
          <p:cNvPr id="67611" name="TextBox 33"/>
          <p:cNvSpPr txBox="1">
            <a:spLocks noChangeArrowheads="1"/>
          </p:cNvSpPr>
          <p:nvPr/>
        </p:nvSpPr>
        <p:spPr bwMode="auto">
          <a:xfrm>
            <a:off x="3514726" y="4714876"/>
            <a:ext cx="2260940"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Machine translation (MT)</a:t>
            </a:r>
          </a:p>
        </p:txBody>
      </p:sp>
      <p:sp>
        <p:nvSpPr>
          <p:cNvPr id="67612" name="TextBox 34"/>
          <p:cNvSpPr txBox="1">
            <a:spLocks noChangeArrowheads="1"/>
          </p:cNvSpPr>
          <p:nvPr/>
        </p:nvSpPr>
        <p:spPr bwMode="auto">
          <a:xfrm>
            <a:off x="7041755" y="4945859"/>
            <a:ext cx="699230"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Dialog</a:t>
            </a:r>
          </a:p>
        </p:txBody>
      </p:sp>
      <p:sp>
        <p:nvSpPr>
          <p:cNvPr id="67613" name="TextBox 36"/>
          <p:cNvSpPr txBox="1">
            <a:spLocks noChangeArrowheads="1"/>
          </p:cNvSpPr>
          <p:nvPr/>
        </p:nvSpPr>
        <p:spPr bwMode="auto">
          <a:xfrm>
            <a:off x="3514727" y="1800226"/>
            <a:ext cx="1713161"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Sentiment analysis</a:t>
            </a:r>
          </a:p>
        </p:txBody>
      </p:sp>
      <p:sp>
        <p:nvSpPr>
          <p:cNvPr id="67614" name="TextBox 37"/>
          <p:cNvSpPr txBox="1">
            <a:spLocks noChangeArrowheads="1"/>
          </p:cNvSpPr>
          <p:nvPr/>
        </p:nvSpPr>
        <p:spPr bwMode="auto">
          <a:xfrm>
            <a:off x="7041754" y="4907757"/>
            <a:ext cx="274434"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a:solidFill>
                  <a:srgbClr val="000000"/>
                </a:solidFill>
                <a:latin typeface="Calibri" charset="0"/>
              </a:rPr>
              <a:t>  </a:t>
            </a:r>
          </a:p>
        </p:txBody>
      </p:sp>
      <p:sp>
        <p:nvSpPr>
          <p:cNvPr id="67615" name="TextBox 38"/>
          <p:cNvSpPr txBox="1">
            <a:spLocks noChangeArrowheads="1"/>
          </p:cNvSpPr>
          <p:nvPr/>
        </p:nvSpPr>
        <p:spPr bwMode="auto">
          <a:xfrm>
            <a:off x="342901" y="2070527"/>
            <a:ext cx="2777133" cy="403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ctr" eaLnBrk="1" hangingPunct="1"/>
            <a:r>
              <a:rPr lang="en-US" sz="2025" dirty="0">
                <a:solidFill>
                  <a:srgbClr val="000000"/>
                </a:solidFill>
                <a:latin typeface="Calibri" charset="0"/>
              </a:rPr>
              <a:t>mostly solved</a:t>
            </a:r>
          </a:p>
        </p:txBody>
      </p:sp>
      <p:sp>
        <p:nvSpPr>
          <p:cNvPr id="67616" name="TextBox 39"/>
          <p:cNvSpPr txBox="1">
            <a:spLocks noChangeArrowheads="1"/>
          </p:cNvSpPr>
          <p:nvPr/>
        </p:nvSpPr>
        <p:spPr bwMode="auto">
          <a:xfrm>
            <a:off x="3686176" y="1371600"/>
            <a:ext cx="2777133" cy="403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ctr" eaLnBrk="1" hangingPunct="1"/>
            <a:r>
              <a:rPr lang="en-US" sz="2025" dirty="0">
                <a:solidFill>
                  <a:srgbClr val="000000"/>
                </a:solidFill>
                <a:latin typeface="Calibri" charset="0"/>
              </a:rPr>
              <a:t>making good progress</a:t>
            </a:r>
          </a:p>
        </p:txBody>
      </p:sp>
      <p:sp>
        <p:nvSpPr>
          <p:cNvPr id="67617" name="TextBox 40"/>
          <p:cNvSpPr txBox="1">
            <a:spLocks noChangeArrowheads="1"/>
          </p:cNvSpPr>
          <p:nvPr/>
        </p:nvSpPr>
        <p:spPr bwMode="auto">
          <a:xfrm>
            <a:off x="7115176" y="1800225"/>
            <a:ext cx="2777133" cy="403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ctr" eaLnBrk="1" hangingPunct="1"/>
            <a:r>
              <a:rPr lang="en-US" sz="2025" dirty="0">
                <a:solidFill>
                  <a:srgbClr val="000000"/>
                </a:solidFill>
                <a:latin typeface="Calibri" charset="0"/>
              </a:rPr>
              <a:t>still really hard</a:t>
            </a:r>
          </a:p>
        </p:txBody>
      </p:sp>
      <p:sp>
        <p:nvSpPr>
          <p:cNvPr id="67618" name="TextBox 41"/>
          <p:cNvSpPr txBox="1">
            <a:spLocks noChangeArrowheads="1"/>
          </p:cNvSpPr>
          <p:nvPr/>
        </p:nvSpPr>
        <p:spPr bwMode="auto">
          <a:xfrm>
            <a:off x="385763" y="2686048"/>
            <a:ext cx="1500188" cy="3347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defTabSz="457200" eaLnBrk="0" hangingPunct="0">
              <a:defRPr sz="2400">
                <a:solidFill>
                  <a:schemeClr val="tx1"/>
                </a:solidFill>
                <a:latin typeface="Lucida Sans" charset="0"/>
                <a:ea typeface="ＭＳ Ｐゴシック" charset="0"/>
                <a:cs typeface="ＭＳ Ｐゴシック" charset="0"/>
              </a:defRPr>
            </a:lvl1pPr>
            <a:lvl2pPr marL="742950" indent="-285750" defTabSz="457200" eaLnBrk="0" hangingPunct="0">
              <a:defRPr sz="2400">
                <a:solidFill>
                  <a:schemeClr val="tx1"/>
                </a:solidFill>
                <a:latin typeface="Lucida Sans" charset="0"/>
                <a:ea typeface="ＭＳ Ｐゴシック" charset="0"/>
              </a:defRPr>
            </a:lvl2pPr>
            <a:lvl3pPr marL="1143000" indent="-228600" defTabSz="457200" eaLnBrk="0" hangingPunct="0">
              <a:defRPr sz="2400">
                <a:solidFill>
                  <a:schemeClr val="tx1"/>
                </a:solidFill>
                <a:latin typeface="Lucida Sans" charset="0"/>
                <a:ea typeface="ＭＳ Ｐゴシック" charset="0"/>
              </a:defRPr>
            </a:lvl3pPr>
            <a:lvl4pPr marL="1600200" indent="-228600" defTabSz="457200" eaLnBrk="0" hangingPunct="0">
              <a:defRPr sz="2400">
                <a:solidFill>
                  <a:schemeClr val="tx1"/>
                </a:solidFill>
                <a:latin typeface="Lucida Sans" charset="0"/>
                <a:ea typeface="ＭＳ Ｐゴシック" charset="0"/>
              </a:defRPr>
            </a:lvl4pPr>
            <a:lvl5pPr marL="2057400" indent="-228600" defTabSz="457200" eaLnBrk="0" hangingPunct="0">
              <a:defRPr sz="2400">
                <a:solidFill>
                  <a:schemeClr val="tx1"/>
                </a:solidFill>
                <a:latin typeface="Lucida Sans" charset="0"/>
                <a:ea typeface="ＭＳ Ｐゴシック" charset="0"/>
              </a:defRPr>
            </a:lvl5pPr>
            <a:lvl6pPr marL="2514600" indent="-228600" algn="r" eaLnBrk="0" fontAlgn="base" hangingPunct="0">
              <a:spcBef>
                <a:spcPct val="0"/>
              </a:spcBef>
              <a:spcAft>
                <a:spcPct val="0"/>
              </a:spcAft>
              <a:defRPr sz="2400">
                <a:solidFill>
                  <a:schemeClr val="tx1"/>
                </a:solidFill>
                <a:latin typeface="Lucida Sans" charset="0"/>
                <a:ea typeface="ＭＳ Ｐゴシック" charset="0"/>
              </a:defRPr>
            </a:lvl6pPr>
            <a:lvl7pPr marL="2971800" indent="-228600" algn="r" eaLnBrk="0" fontAlgn="base" hangingPunct="0">
              <a:spcBef>
                <a:spcPct val="0"/>
              </a:spcBef>
              <a:spcAft>
                <a:spcPct val="0"/>
              </a:spcAft>
              <a:defRPr sz="2400">
                <a:solidFill>
                  <a:schemeClr val="tx1"/>
                </a:solidFill>
                <a:latin typeface="Lucida Sans" charset="0"/>
                <a:ea typeface="ＭＳ Ｐゴシック" charset="0"/>
              </a:defRPr>
            </a:lvl7pPr>
            <a:lvl8pPr marL="3429000" indent="-228600" algn="r" eaLnBrk="0" fontAlgn="base" hangingPunct="0">
              <a:spcBef>
                <a:spcPct val="0"/>
              </a:spcBef>
              <a:spcAft>
                <a:spcPct val="0"/>
              </a:spcAft>
              <a:defRPr sz="2400">
                <a:solidFill>
                  <a:schemeClr val="tx1"/>
                </a:solidFill>
                <a:latin typeface="Lucida Sans" charset="0"/>
                <a:ea typeface="ＭＳ Ｐゴシック" charset="0"/>
              </a:defRPr>
            </a:lvl8pPr>
            <a:lvl9pPr marL="3886200" indent="-228600" algn="r" eaLnBrk="0" fontAlgn="base" hangingPunct="0">
              <a:spcBef>
                <a:spcPct val="0"/>
              </a:spcBef>
              <a:spcAft>
                <a:spcPct val="0"/>
              </a:spcAft>
              <a:defRPr sz="2400">
                <a:solidFill>
                  <a:schemeClr val="tx1"/>
                </a:solidFill>
                <a:latin typeface="Lucida Sans" charset="0"/>
                <a:ea typeface="ＭＳ Ｐゴシック" charset="0"/>
              </a:defRPr>
            </a:lvl9pPr>
          </a:lstStyle>
          <a:p>
            <a:pPr algn="l" eaLnBrk="1" hangingPunct="1"/>
            <a:r>
              <a:rPr lang="en-US" sz="1575" dirty="0">
                <a:solidFill>
                  <a:srgbClr val="000000"/>
                </a:solidFill>
                <a:latin typeface="Calibri" charset="0"/>
              </a:rPr>
              <a:t>Spam detection</a:t>
            </a:r>
          </a:p>
        </p:txBody>
      </p:sp>
      <p:sp>
        <p:nvSpPr>
          <p:cNvPr id="44" name="Rectangle 43"/>
          <p:cNvSpPr/>
          <p:nvPr/>
        </p:nvSpPr>
        <p:spPr bwMode="auto">
          <a:xfrm>
            <a:off x="661986" y="3017228"/>
            <a:ext cx="1900240" cy="201440"/>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Let’s go to Agra!</a:t>
            </a:r>
          </a:p>
        </p:txBody>
      </p:sp>
      <p:sp>
        <p:nvSpPr>
          <p:cNvPr id="45" name="Rectangle 44"/>
          <p:cNvSpPr/>
          <p:nvPr/>
        </p:nvSpPr>
        <p:spPr bwMode="auto">
          <a:xfrm>
            <a:off x="677615" y="3256545"/>
            <a:ext cx="1870322" cy="191503"/>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Buy V1AGRA …</a:t>
            </a:r>
          </a:p>
        </p:txBody>
      </p:sp>
      <p:sp>
        <p:nvSpPr>
          <p:cNvPr id="67678" name="Rectangle 45"/>
          <p:cNvSpPr>
            <a:spLocks noChangeArrowheads="1"/>
          </p:cNvSpPr>
          <p:nvPr/>
        </p:nvSpPr>
        <p:spPr bwMode="auto">
          <a:xfrm>
            <a:off x="2671767" y="2840007"/>
            <a:ext cx="342579" cy="403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defTabSz="514350"/>
            <a:r>
              <a:rPr lang="en-US" sz="2025" dirty="0">
                <a:solidFill>
                  <a:srgbClr val="008000"/>
                </a:solidFill>
                <a:latin typeface="Zapf Dingbats" charset="0"/>
                <a:cs typeface="Zapf Dingbats" charset="0"/>
              </a:rPr>
              <a:t>✓</a:t>
            </a:r>
            <a:endParaRPr lang="en-US" sz="2025" dirty="0">
              <a:solidFill>
                <a:srgbClr val="008000"/>
              </a:solidFill>
            </a:endParaRPr>
          </a:p>
        </p:txBody>
      </p:sp>
      <p:sp>
        <p:nvSpPr>
          <p:cNvPr id="67679" name="Rectangle 46"/>
          <p:cNvSpPr>
            <a:spLocks noChangeArrowheads="1"/>
          </p:cNvSpPr>
          <p:nvPr/>
        </p:nvSpPr>
        <p:spPr bwMode="auto">
          <a:xfrm>
            <a:off x="2680742" y="3137480"/>
            <a:ext cx="372023" cy="403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defTabSz="514350"/>
            <a:r>
              <a:rPr lang="en-US" sz="2025" dirty="0">
                <a:solidFill>
                  <a:srgbClr val="FF0000"/>
                </a:solidFill>
                <a:latin typeface="Zapf Dingbats" charset="0"/>
                <a:cs typeface="Zapf Dingbats" charset="0"/>
              </a:rPr>
              <a:t>✗</a:t>
            </a:r>
            <a:endParaRPr lang="en-US" sz="2025" dirty="0">
              <a:solidFill>
                <a:srgbClr val="FF0000"/>
              </a:solidFill>
            </a:endParaRPr>
          </a:p>
        </p:txBody>
      </p:sp>
      <p:sp>
        <p:nvSpPr>
          <p:cNvPr id="56" name="Rectangle 55"/>
          <p:cNvSpPr/>
          <p:nvPr/>
        </p:nvSpPr>
        <p:spPr>
          <a:xfrm>
            <a:off x="385765" y="4202454"/>
            <a:ext cx="2914650" cy="171449"/>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lIns="0" rIns="0" anchor="ctr"/>
          <a:lstStyle/>
          <a:p>
            <a:pPr algn="ctr" defTabSz="514350">
              <a:defRPr/>
            </a:pPr>
            <a:r>
              <a:rPr lang="en-US" sz="1238" dirty="0">
                <a:solidFill>
                  <a:prstClr val="black"/>
                </a:solidFill>
                <a:latin typeface="Calibri"/>
                <a:cs typeface="Times New Roman"/>
              </a:rPr>
              <a:t>Colorless   green   ideas   sleep   furiously.</a:t>
            </a:r>
          </a:p>
        </p:txBody>
      </p:sp>
      <p:sp>
        <p:nvSpPr>
          <p:cNvPr id="57" name="Rectangle 56"/>
          <p:cNvSpPr/>
          <p:nvPr/>
        </p:nvSpPr>
        <p:spPr>
          <a:xfrm>
            <a:off x="523218" y="4031003"/>
            <a:ext cx="2424232" cy="140643"/>
          </a:xfrm>
          <a:prstGeom prst="rect">
            <a:avLst/>
          </a:prstGeom>
          <a:solidFill>
            <a:srgbClr val="DEF1DE"/>
          </a:solidFill>
          <a:ln w="3175"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     ADJ         ADJ    NOUN  VERB      ADV</a:t>
            </a:r>
          </a:p>
        </p:txBody>
      </p:sp>
      <p:sp>
        <p:nvSpPr>
          <p:cNvPr id="58" name="Rectangle 57"/>
          <p:cNvSpPr/>
          <p:nvPr/>
        </p:nvSpPr>
        <p:spPr>
          <a:xfrm>
            <a:off x="342900" y="5127670"/>
            <a:ext cx="2914650" cy="221072"/>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lIns="0" rIns="0" anchor="ctr"/>
          <a:lstStyle/>
          <a:p>
            <a:pPr algn="ctr" defTabSz="514350">
              <a:defRPr/>
            </a:pPr>
            <a:r>
              <a:rPr lang="en-US" sz="1238" dirty="0">
                <a:solidFill>
                  <a:prstClr val="black"/>
                </a:solidFill>
                <a:latin typeface="Calibri"/>
                <a:cs typeface="Times New Roman"/>
              </a:rPr>
              <a:t>Einstein met with UN officials in Princeton</a:t>
            </a:r>
          </a:p>
        </p:txBody>
      </p:sp>
      <p:sp>
        <p:nvSpPr>
          <p:cNvPr id="59" name="Rectangle 58"/>
          <p:cNvSpPr/>
          <p:nvPr/>
        </p:nvSpPr>
        <p:spPr>
          <a:xfrm>
            <a:off x="586826" y="4987535"/>
            <a:ext cx="2426195" cy="140642"/>
          </a:xfrm>
          <a:prstGeom prst="rect">
            <a:avLst/>
          </a:prstGeom>
          <a:solidFill>
            <a:srgbClr val="DEF1DE"/>
          </a:solidFill>
          <a:ln w="3175"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PERSON              ORG                      LOC</a:t>
            </a:r>
          </a:p>
        </p:txBody>
      </p:sp>
      <p:sp>
        <p:nvSpPr>
          <p:cNvPr id="63" name="Rectangle 62"/>
          <p:cNvSpPr/>
          <p:nvPr/>
        </p:nvSpPr>
        <p:spPr>
          <a:xfrm>
            <a:off x="3652413" y="5862639"/>
            <a:ext cx="2060205" cy="342899"/>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tIns="0" bIns="0" anchor="ctr"/>
          <a:lstStyle/>
          <a:p>
            <a:pPr defTabSz="514350">
              <a:lnSpc>
                <a:spcPct val="90000"/>
              </a:lnSpc>
              <a:defRPr/>
            </a:pPr>
            <a:r>
              <a:rPr lang="en-US" sz="1181" dirty="0">
                <a:solidFill>
                  <a:prstClr val="black"/>
                </a:solidFill>
                <a:latin typeface="Calibri"/>
                <a:cs typeface="Times New Roman"/>
              </a:rPr>
              <a:t>You’re invited to our dinner party, Friday May 27 at 8:30</a:t>
            </a:r>
          </a:p>
        </p:txBody>
      </p:sp>
      <p:pic>
        <p:nvPicPr>
          <p:cNvPr id="67673" name="Picture 6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79751" y="5814414"/>
            <a:ext cx="325154" cy="2178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Rectangle 65"/>
          <p:cNvSpPr/>
          <p:nvPr/>
        </p:nvSpPr>
        <p:spPr bwMode="auto">
          <a:xfrm>
            <a:off x="6059211" y="5776912"/>
            <a:ext cx="634483" cy="389781"/>
          </a:xfrm>
          <a:prstGeom prst="rect">
            <a:avLst/>
          </a:prstGeom>
          <a:noFill/>
          <a:ln w="3175"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013" dirty="0">
                <a:solidFill>
                  <a:prstClr val="white">
                    <a:lumMod val="50000"/>
                  </a:prstClr>
                </a:solidFill>
                <a:latin typeface="Calibri"/>
                <a:cs typeface="Times New Roman"/>
              </a:rPr>
              <a:t>Party</a:t>
            </a:r>
            <a:br>
              <a:rPr lang="en-US" sz="1013" dirty="0">
                <a:solidFill>
                  <a:prstClr val="white">
                    <a:lumMod val="50000"/>
                  </a:prstClr>
                </a:solidFill>
                <a:latin typeface="Calibri"/>
                <a:cs typeface="Times New Roman"/>
              </a:rPr>
            </a:br>
            <a:r>
              <a:rPr lang="en-US" sz="1013" dirty="0">
                <a:solidFill>
                  <a:prstClr val="white">
                    <a:lumMod val="50000"/>
                  </a:prstClr>
                </a:solidFill>
                <a:latin typeface="Calibri"/>
                <a:cs typeface="Times New Roman"/>
              </a:rPr>
              <a:t>May 27</a:t>
            </a:r>
            <a:br>
              <a:rPr lang="en-US" sz="1013" dirty="0">
                <a:solidFill>
                  <a:prstClr val="white">
                    <a:lumMod val="50000"/>
                  </a:prstClr>
                </a:solidFill>
                <a:latin typeface="Calibri"/>
                <a:cs typeface="Times New Roman"/>
              </a:rPr>
            </a:br>
            <a:r>
              <a:rPr lang="en-US" sz="1013" dirty="0">
                <a:solidFill>
                  <a:srgbClr val="0000FF"/>
                </a:solidFill>
                <a:latin typeface="Calibri"/>
                <a:cs typeface="Times New Roman"/>
              </a:rPr>
              <a:t>add</a:t>
            </a:r>
          </a:p>
        </p:txBody>
      </p:sp>
      <p:cxnSp>
        <p:nvCxnSpPr>
          <p:cNvPr id="69" name="Straight Connector 68"/>
          <p:cNvCxnSpPr/>
          <p:nvPr/>
        </p:nvCxnSpPr>
        <p:spPr bwMode="auto">
          <a:xfrm flipV="1">
            <a:off x="6196487" y="6291262"/>
            <a:ext cx="182880" cy="1456"/>
          </a:xfrm>
          <a:prstGeom prst="line">
            <a:avLst/>
          </a:prstGeom>
          <a:ln w="9525" cap="flat" cmpd="sng" algn="ctr">
            <a:solidFill>
              <a:srgbClr val="0000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3800710" y="2139941"/>
            <a:ext cx="2404586" cy="174634"/>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Best roast chicken in San Francisco!</a:t>
            </a:r>
          </a:p>
        </p:txBody>
      </p:sp>
      <p:sp>
        <p:nvSpPr>
          <p:cNvPr id="76" name="Rectangle 75"/>
          <p:cNvSpPr/>
          <p:nvPr/>
        </p:nvSpPr>
        <p:spPr>
          <a:xfrm>
            <a:off x="3800710" y="2400300"/>
            <a:ext cx="2404586" cy="171450"/>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The waiter ignored us for 20 minutes.</a:t>
            </a:r>
          </a:p>
        </p:txBody>
      </p:sp>
      <p:pic>
        <p:nvPicPr>
          <p:cNvPr id="67630" name="Picture 8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24603" y="2057401"/>
            <a:ext cx="310419" cy="2149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7631" name="Picture 8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flipV="1">
            <a:off x="6324602" y="2400300"/>
            <a:ext cx="309563" cy="2143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5" name="Rectangle 84"/>
          <p:cNvSpPr/>
          <p:nvPr/>
        </p:nvSpPr>
        <p:spPr>
          <a:xfrm>
            <a:off x="3771900" y="3147630"/>
            <a:ext cx="2970371" cy="165516"/>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Carter told Mubarak he shouldn’t run again.</a:t>
            </a:r>
          </a:p>
        </p:txBody>
      </p:sp>
      <p:sp>
        <p:nvSpPr>
          <p:cNvPr id="100" name="Arc 99"/>
          <p:cNvSpPr/>
          <p:nvPr/>
        </p:nvSpPr>
        <p:spPr>
          <a:xfrm>
            <a:off x="4029075" y="3029394"/>
            <a:ext cx="1200150" cy="257175"/>
          </a:xfrm>
          <a:prstGeom prst="arc">
            <a:avLst>
              <a:gd name="adj1" fmla="val 10822610"/>
              <a:gd name="adj2" fmla="val 0"/>
            </a:avLst>
          </a:prstGeom>
          <a:ln w="12700" cap="flat" cmpd="sng" algn="ctr">
            <a:solidFill>
              <a:srgbClr val="FF0000"/>
            </a:solidFill>
            <a:prstDash val="solid"/>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defTabSz="514350">
              <a:defRPr/>
            </a:pPr>
            <a:endParaRPr lang="en-US" sz="2025">
              <a:solidFill>
                <a:prstClr val="black"/>
              </a:solidFill>
              <a:latin typeface="Calibri"/>
            </a:endParaRPr>
          </a:p>
        </p:txBody>
      </p:sp>
      <p:sp>
        <p:nvSpPr>
          <p:cNvPr id="101" name="Arc 100"/>
          <p:cNvSpPr/>
          <p:nvPr/>
        </p:nvSpPr>
        <p:spPr>
          <a:xfrm>
            <a:off x="4800600" y="3048445"/>
            <a:ext cx="423267" cy="323849"/>
          </a:xfrm>
          <a:prstGeom prst="arc">
            <a:avLst>
              <a:gd name="adj1" fmla="val 10830349"/>
              <a:gd name="adj2" fmla="val 10"/>
            </a:avLst>
          </a:prstGeom>
          <a:ln w="12700" cap="flat" cmpd="sng" algn="ctr">
            <a:solidFill>
              <a:srgbClr val="008000"/>
            </a:solidFill>
            <a:prstDash val="solid"/>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defTabSz="514350">
              <a:defRPr/>
            </a:pPr>
            <a:endParaRPr lang="en-US" sz="2025">
              <a:solidFill>
                <a:prstClr val="black"/>
              </a:solidFill>
              <a:latin typeface="Calibri"/>
            </a:endParaRPr>
          </a:p>
        </p:txBody>
      </p:sp>
      <p:pic>
        <p:nvPicPr>
          <p:cNvPr id="67635" name="Picture 10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auto">
          <a:xfrm>
            <a:off x="6257925" y="3771900"/>
            <a:ext cx="428625" cy="222885"/>
          </a:xfrm>
          <a:prstGeom prst="rect">
            <a:avLst/>
          </a:prstGeom>
          <a:noFill/>
          <a:ln w="9525">
            <a:noFill/>
            <a:miter lim="800000"/>
            <a:headEnd/>
            <a:tailEnd/>
          </a:ln>
          <a:extLst>
            <a:ext uri="{909E8E84-426E-40dd-AFC4-6F175D3DCCD1}">
              <a14:hiddenFill xmlns="" xmlns:a14="http://schemas.microsoft.com/office/drawing/2010/main">
                <a:solidFill>
                  <a:srgbClr val="FFFFFF"/>
                </a:solidFill>
              </a14:hiddenFill>
            </a:ext>
          </a:extLst>
        </p:spPr>
      </p:pic>
      <p:sp>
        <p:nvSpPr>
          <p:cNvPr id="104" name="Rectangle 103"/>
          <p:cNvSpPr/>
          <p:nvPr/>
        </p:nvSpPr>
        <p:spPr>
          <a:xfrm>
            <a:off x="3514725" y="3688102"/>
            <a:ext cx="2571750" cy="257175"/>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lIns="0" rIns="0" anchor="ctr"/>
          <a:lstStyle/>
          <a:p>
            <a:pPr algn="ctr" defTabSz="514350">
              <a:defRPr/>
            </a:pPr>
            <a:r>
              <a:rPr lang="en-US" sz="1350" dirty="0">
                <a:solidFill>
                  <a:prstClr val="black"/>
                </a:solidFill>
                <a:latin typeface="Calibri"/>
                <a:cs typeface="Times New Roman"/>
              </a:rPr>
              <a:t>I need new batteries for my </a:t>
            </a:r>
            <a:r>
              <a:rPr lang="en-US" sz="1350" b="1" i="1" dirty="0">
                <a:solidFill>
                  <a:srgbClr val="FF0000"/>
                </a:solidFill>
                <a:latin typeface="Calibri"/>
                <a:cs typeface="Times New Roman"/>
              </a:rPr>
              <a:t>mouse</a:t>
            </a:r>
            <a:r>
              <a:rPr lang="en-US" sz="1350" dirty="0">
                <a:solidFill>
                  <a:prstClr val="black"/>
                </a:solidFill>
                <a:latin typeface="Calibri"/>
                <a:cs typeface="Times New Roman"/>
              </a:rPr>
              <a:t>.</a:t>
            </a:r>
          </a:p>
        </p:txBody>
      </p:sp>
      <p:sp>
        <p:nvSpPr>
          <p:cNvPr id="108" name="Rectangle 107"/>
          <p:cNvSpPr/>
          <p:nvPr/>
        </p:nvSpPr>
        <p:spPr>
          <a:xfrm>
            <a:off x="3495771" y="5240205"/>
            <a:ext cx="2933605" cy="186219"/>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The 13</a:t>
            </a:r>
            <a:r>
              <a:rPr lang="en-US" sz="1125" baseline="30000" dirty="0">
                <a:solidFill>
                  <a:prstClr val="black"/>
                </a:solidFill>
                <a:latin typeface="Calibri"/>
                <a:cs typeface="Times New Roman"/>
              </a:rPr>
              <a:t>th</a:t>
            </a:r>
            <a:r>
              <a:rPr lang="en-US" sz="1125" dirty="0">
                <a:solidFill>
                  <a:prstClr val="black"/>
                </a:solidFill>
                <a:latin typeface="Calibri"/>
                <a:cs typeface="Times New Roman"/>
              </a:rPr>
              <a:t> Shanghai International Film Festival…</a:t>
            </a:r>
          </a:p>
        </p:txBody>
      </p:sp>
      <p:sp>
        <p:nvSpPr>
          <p:cNvPr id="109" name="Rectangle 108"/>
          <p:cNvSpPr/>
          <p:nvPr/>
        </p:nvSpPr>
        <p:spPr>
          <a:xfrm>
            <a:off x="3514725" y="5016328"/>
            <a:ext cx="2324097" cy="162443"/>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zh-TW" altLang="en-US" sz="1125" dirty="0">
                <a:solidFill>
                  <a:srgbClr val="000000"/>
                </a:solidFill>
                <a:cs typeface="Times New Roman"/>
              </a:rPr>
              <a:t>第</a:t>
            </a:r>
            <a:r>
              <a:rPr lang="en-US" altLang="zh-TW" sz="1125" dirty="0">
                <a:solidFill>
                  <a:srgbClr val="000000"/>
                </a:solidFill>
                <a:cs typeface="Times New Roman"/>
              </a:rPr>
              <a:t>13</a:t>
            </a:r>
            <a:r>
              <a:rPr lang="zh-TW" altLang="en-US" sz="1125" dirty="0">
                <a:solidFill>
                  <a:srgbClr val="000000"/>
                </a:solidFill>
                <a:cs typeface="Times New Roman"/>
              </a:rPr>
              <a:t>届上海国际电影节开幕</a:t>
            </a:r>
            <a:r>
              <a:rPr lang="en-US" altLang="zh-TW" sz="1125" dirty="0">
                <a:solidFill>
                  <a:srgbClr val="000000"/>
                </a:solidFill>
                <a:cs typeface="Times New Roman"/>
              </a:rPr>
              <a:t>…</a:t>
            </a:r>
            <a:endParaRPr lang="zh-TW" altLang="en-US" sz="1125" dirty="0">
              <a:solidFill>
                <a:srgbClr val="000000"/>
              </a:solidFill>
              <a:cs typeface="Times New Roman"/>
            </a:endParaRPr>
          </a:p>
        </p:txBody>
      </p:sp>
      <p:sp>
        <p:nvSpPr>
          <p:cNvPr id="110" name="Right Arrow 109"/>
          <p:cNvSpPr/>
          <p:nvPr/>
        </p:nvSpPr>
        <p:spPr>
          <a:xfrm>
            <a:off x="6057899" y="5016850"/>
            <a:ext cx="244193" cy="154708"/>
          </a:xfrm>
          <a:prstGeom prst="rightArrow">
            <a:avLst/>
          </a:prstGeom>
          <a:solidFill>
            <a:schemeClr val="tx2">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2025">
              <a:solidFill>
                <a:prstClr val="white"/>
              </a:solidFill>
              <a:latin typeface="Calibri"/>
            </a:endParaRPr>
          </a:p>
        </p:txBody>
      </p:sp>
      <p:sp>
        <p:nvSpPr>
          <p:cNvPr id="111" name="Rectangle 110"/>
          <p:cNvSpPr/>
          <p:nvPr/>
        </p:nvSpPr>
        <p:spPr>
          <a:xfrm>
            <a:off x="7286625" y="4295849"/>
            <a:ext cx="1484114" cy="133722"/>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The Dow Jones is up</a:t>
            </a:r>
          </a:p>
        </p:txBody>
      </p:sp>
      <p:sp>
        <p:nvSpPr>
          <p:cNvPr id="113" name="Rectangle 112"/>
          <p:cNvSpPr/>
          <p:nvPr/>
        </p:nvSpPr>
        <p:spPr>
          <a:xfrm>
            <a:off x="7543800" y="4629150"/>
            <a:ext cx="1341042" cy="175653"/>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Housing prices rose</a:t>
            </a:r>
          </a:p>
        </p:txBody>
      </p:sp>
      <p:sp>
        <p:nvSpPr>
          <p:cNvPr id="114" name="Right Arrow 113"/>
          <p:cNvSpPr/>
          <p:nvPr/>
        </p:nvSpPr>
        <p:spPr>
          <a:xfrm>
            <a:off x="8940207" y="4429571"/>
            <a:ext cx="201810" cy="140642"/>
          </a:xfrm>
          <a:prstGeom prst="rightArrow">
            <a:avLst/>
          </a:prstGeom>
          <a:solidFill>
            <a:schemeClr val="tx2">
              <a:lumMod val="20000"/>
              <a:lumOff val="80000"/>
            </a:schemeClr>
          </a:solidFill>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endParaRPr lang="en-US" sz="2025">
              <a:solidFill>
                <a:prstClr val="white"/>
              </a:solidFill>
              <a:latin typeface="Calibri"/>
            </a:endParaRPr>
          </a:p>
        </p:txBody>
      </p:sp>
      <p:sp>
        <p:nvSpPr>
          <p:cNvPr id="115" name="Rectangle 114"/>
          <p:cNvSpPr/>
          <p:nvPr/>
        </p:nvSpPr>
        <p:spPr>
          <a:xfrm>
            <a:off x="9279533" y="4337806"/>
            <a:ext cx="862607" cy="348940"/>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r>
              <a:rPr lang="en-US" sz="1125" dirty="0">
                <a:solidFill>
                  <a:prstClr val="black"/>
                </a:solidFill>
                <a:latin typeface="Calibri"/>
                <a:cs typeface="Times New Roman"/>
              </a:rPr>
              <a:t>Economy is good</a:t>
            </a:r>
          </a:p>
        </p:txBody>
      </p:sp>
      <p:sp>
        <p:nvSpPr>
          <p:cNvPr id="116" name="Rectangle 115"/>
          <p:cNvSpPr/>
          <p:nvPr/>
        </p:nvSpPr>
        <p:spPr>
          <a:xfrm>
            <a:off x="7187224" y="2572196"/>
            <a:ext cx="2671151" cy="342453"/>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Q. How effective is ibuprofen in reducing fever in patients with acute febrile illness?</a:t>
            </a:r>
          </a:p>
        </p:txBody>
      </p:sp>
      <p:sp>
        <p:nvSpPr>
          <p:cNvPr id="119" name="Rectangle 118"/>
          <p:cNvSpPr/>
          <p:nvPr/>
        </p:nvSpPr>
        <p:spPr>
          <a:xfrm>
            <a:off x="4286250" y="4507706"/>
            <a:ext cx="2486025" cy="171450"/>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81" dirty="0">
                <a:solidFill>
                  <a:prstClr val="black"/>
                </a:solidFill>
                <a:latin typeface="Calibri"/>
                <a:cs typeface="Times New Roman"/>
              </a:rPr>
              <a:t>I can see Alcatraz from the window!</a:t>
            </a:r>
          </a:p>
        </p:txBody>
      </p:sp>
      <p:cxnSp>
        <p:nvCxnSpPr>
          <p:cNvPr id="121" name="Straight Connector 120"/>
          <p:cNvCxnSpPr/>
          <p:nvPr/>
        </p:nvCxnSpPr>
        <p:spPr>
          <a:xfrm rot="10800000">
            <a:off x="5915027" y="4427484"/>
            <a:ext cx="105371" cy="66972"/>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p:cNvCxnSpPr/>
          <p:nvPr/>
        </p:nvCxnSpPr>
        <p:spPr>
          <a:xfrm flipV="1">
            <a:off x="5811441" y="4427484"/>
            <a:ext cx="107156" cy="66972"/>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p:cNvCxnSpPr/>
          <p:nvPr/>
        </p:nvCxnSpPr>
        <p:spPr>
          <a:xfrm rot="10800000">
            <a:off x="5750721" y="4360511"/>
            <a:ext cx="167878" cy="66972"/>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p:cNvCxnSpPr/>
          <p:nvPr/>
        </p:nvCxnSpPr>
        <p:spPr>
          <a:xfrm rot="5400000" flipH="1" flipV="1">
            <a:off x="5610524" y="4354260"/>
            <a:ext cx="133946" cy="146447"/>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p:cNvCxnSpPr/>
          <p:nvPr/>
        </p:nvCxnSpPr>
        <p:spPr>
          <a:xfrm rot="10800000">
            <a:off x="5582842" y="4294877"/>
            <a:ext cx="167878" cy="65634"/>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Connector 136"/>
          <p:cNvCxnSpPr/>
          <p:nvPr/>
        </p:nvCxnSpPr>
        <p:spPr>
          <a:xfrm flipV="1">
            <a:off x="5309593" y="4294876"/>
            <a:ext cx="273248" cy="199580"/>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Connector 139"/>
          <p:cNvCxnSpPr/>
          <p:nvPr/>
        </p:nvCxnSpPr>
        <p:spPr>
          <a:xfrm flipV="1">
            <a:off x="5036345" y="4294876"/>
            <a:ext cx="546497" cy="199580"/>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2" name="Straight Connector 141"/>
          <p:cNvCxnSpPr/>
          <p:nvPr/>
        </p:nvCxnSpPr>
        <p:spPr>
          <a:xfrm rot="10800000">
            <a:off x="5411392" y="4227905"/>
            <a:ext cx="167878" cy="66972"/>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3" name="Straight Connector 142"/>
          <p:cNvCxnSpPr/>
          <p:nvPr/>
        </p:nvCxnSpPr>
        <p:spPr>
          <a:xfrm rot="10800000">
            <a:off x="5243514" y="4160933"/>
            <a:ext cx="167878" cy="66972"/>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4" name="Straight Connector 143"/>
          <p:cNvCxnSpPr/>
          <p:nvPr/>
        </p:nvCxnSpPr>
        <p:spPr>
          <a:xfrm flipV="1">
            <a:off x="4866682" y="4230583"/>
            <a:ext cx="544710" cy="263873"/>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6" name="Straight Connector 145"/>
          <p:cNvCxnSpPr/>
          <p:nvPr/>
        </p:nvCxnSpPr>
        <p:spPr>
          <a:xfrm flipV="1">
            <a:off x="4629150" y="4166289"/>
            <a:ext cx="610791" cy="377136"/>
          </a:xfrm>
          <a:prstGeom prst="line">
            <a:avLst/>
          </a:prstGeom>
          <a:ln w="6350" cap="flat" cmpd="sng" algn="ctr">
            <a:solidFill>
              <a:schemeClr val="bg1">
                <a:lumMod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48" name="Rectangle 147"/>
          <p:cNvSpPr/>
          <p:nvPr/>
        </p:nvSpPr>
        <p:spPr>
          <a:xfrm>
            <a:off x="7206509" y="3484078"/>
            <a:ext cx="2386905" cy="171799"/>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XYZ acquired ABC yesterday</a:t>
            </a:r>
          </a:p>
        </p:txBody>
      </p:sp>
      <p:sp>
        <p:nvSpPr>
          <p:cNvPr id="149" name="Rectangle 148"/>
          <p:cNvSpPr/>
          <p:nvPr/>
        </p:nvSpPr>
        <p:spPr>
          <a:xfrm>
            <a:off x="7206509" y="3674519"/>
            <a:ext cx="2386905" cy="175336"/>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ABC has been taken over by XYZ</a:t>
            </a:r>
          </a:p>
        </p:txBody>
      </p:sp>
      <p:sp>
        <p:nvSpPr>
          <p:cNvPr id="151" name="Rectangular Callout 150"/>
          <p:cNvSpPr/>
          <p:nvPr/>
        </p:nvSpPr>
        <p:spPr>
          <a:xfrm>
            <a:off x="7658100" y="5057776"/>
            <a:ext cx="2512617" cy="233813"/>
          </a:xfrm>
          <a:prstGeom prst="wedgeRectCallout">
            <a:avLst>
              <a:gd name="adj1" fmla="val -67569"/>
              <a:gd name="adj2" fmla="val 96660"/>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r>
              <a:rPr lang="en-US" sz="1000" dirty="0">
                <a:solidFill>
                  <a:srgbClr val="000000"/>
                </a:solidFill>
                <a:latin typeface="Calibri"/>
              </a:rPr>
              <a:t>Where is </a:t>
            </a:r>
            <a:r>
              <a:rPr lang="en-US" sz="1000" dirty="0" err="1">
                <a:solidFill>
                  <a:srgbClr val="000000"/>
                </a:solidFill>
                <a:latin typeface="Calibri"/>
              </a:rPr>
              <a:t>Sonu</a:t>
            </a:r>
            <a:r>
              <a:rPr lang="en-US" sz="1000" dirty="0">
                <a:solidFill>
                  <a:srgbClr val="000000"/>
                </a:solidFill>
                <a:latin typeface="Calibri"/>
              </a:rPr>
              <a:t> Nigam playing in Hyderabad?</a:t>
            </a:r>
            <a:r>
              <a:rPr lang="en-US" sz="1125" dirty="0">
                <a:solidFill>
                  <a:srgbClr val="000000"/>
                </a:solidFill>
                <a:latin typeface="Calibri"/>
              </a:rPr>
              <a:t> </a:t>
            </a:r>
          </a:p>
        </p:txBody>
      </p:sp>
      <p:sp>
        <p:nvSpPr>
          <p:cNvPr id="152" name="Rectangular Callout 151"/>
          <p:cNvSpPr/>
          <p:nvPr/>
        </p:nvSpPr>
        <p:spPr>
          <a:xfrm>
            <a:off x="7803393" y="5400676"/>
            <a:ext cx="1929170" cy="368207"/>
          </a:xfrm>
          <a:prstGeom prst="wedgeRectCallout">
            <a:avLst>
              <a:gd name="adj1" fmla="val 63386"/>
              <a:gd name="adj2" fmla="val -39734"/>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defTabSz="514350">
              <a:defRPr/>
            </a:pPr>
            <a:r>
              <a:rPr lang="en-US" sz="1125" dirty="0">
                <a:solidFill>
                  <a:srgbClr val="000000"/>
                </a:solidFill>
                <a:latin typeface="Calibri"/>
              </a:rPr>
              <a:t>Ella Hotels at 7:30. Do you want a ticket?</a:t>
            </a:r>
          </a:p>
        </p:txBody>
      </p:sp>
      <p:pic>
        <p:nvPicPr>
          <p:cNvPr id="67666" name="Picture 15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flipH="1">
            <a:off x="7086120" y="5418963"/>
            <a:ext cx="427122" cy="324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2" name="Rectangle 111"/>
          <p:cNvSpPr/>
          <p:nvPr/>
        </p:nvSpPr>
        <p:spPr>
          <a:xfrm>
            <a:off x="7372350" y="4457700"/>
            <a:ext cx="1457325" cy="171450"/>
          </a:xfrm>
          <a:prstGeom prst="rect">
            <a:avLst/>
          </a:prstGeom>
          <a:solidFill>
            <a:schemeClr val="bg1"/>
          </a:solidFill>
          <a:ln w="3175" cap="flat" cmpd="sng" algn="ctr">
            <a:solidFill>
              <a:schemeClr val="bg1">
                <a:lumMod val="50000"/>
              </a:schemeClr>
            </a:solidFill>
            <a:prstDash val="solid"/>
            <a:round/>
            <a:headEnd type="none" w="med" len="med"/>
            <a:tailEnd type="none" w="med" len="med"/>
          </a:ln>
          <a:effectLst>
            <a:outerShdw blurRad="25400" dist="12700" dir="270000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nchor="ctr"/>
          <a:lstStyle/>
          <a:p>
            <a:pPr defTabSz="514350">
              <a:defRPr/>
            </a:pPr>
            <a:r>
              <a:rPr lang="en-US" sz="1125" dirty="0">
                <a:solidFill>
                  <a:prstClr val="black"/>
                </a:solidFill>
                <a:latin typeface="Calibri"/>
                <a:cs typeface="Times New Roman"/>
              </a:rPr>
              <a:t>The S&amp;P500 jumped</a:t>
            </a:r>
          </a:p>
        </p:txBody>
      </p:sp>
      <p:pic>
        <p:nvPicPr>
          <p:cNvPr id="2" name="Picture 1" descr="BU009519.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62352" y="3429000"/>
            <a:ext cx="495649" cy="492919"/>
          </a:xfrm>
          <a:prstGeom prst="rect">
            <a:avLst/>
          </a:prstGeom>
        </p:spPr>
      </p:pic>
      <p:pic>
        <p:nvPicPr>
          <p:cNvPr id="3" name="Picture 2" descr="skd186802sdc.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13542" y="5115370"/>
            <a:ext cx="459183" cy="492919"/>
          </a:xfrm>
          <a:prstGeom prst="rect">
            <a:avLst/>
          </a:prstGeom>
        </p:spPr>
      </p:pic>
    </p:spTree>
    <p:extLst>
      <p:ext uri="{BB962C8B-B14F-4D97-AF65-F5344CB8AC3E}">
        <p14:creationId xmlns:p14="http://schemas.microsoft.com/office/powerpoint/2010/main" val="198474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NLP Tasks</a:t>
            </a:r>
            <a:endParaRPr lang="en-US" dirty="0"/>
          </a:p>
        </p:txBody>
      </p:sp>
      <p:sp>
        <p:nvSpPr>
          <p:cNvPr id="3" name="Content Placeholder 2"/>
          <p:cNvSpPr>
            <a:spLocks noGrp="1"/>
          </p:cNvSpPr>
          <p:nvPr>
            <p:ph idx="1"/>
          </p:nvPr>
        </p:nvSpPr>
        <p:spPr>
          <a:xfrm>
            <a:off x="514350" y="990600"/>
            <a:ext cx="4705350" cy="4525963"/>
          </a:xfrm>
        </p:spPr>
        <p:txBody>
          <a:bodyPr/>
          <a:lstStyle/>
          <a:p>
            <a:r>
              <a:rPr lang="en-US" dirty="0"/>
              <a:t>Discourse analysis</a:t>
            </a:r>
          </a:p>
          <a:p>
            <a:r>
              <a:rPr lang="en-US" dirty="0"/>
              <a:t>Morphological segmentation</a:t>
            </a:r>
          </a:p>
          <a:p>
            <a:r>
              <a:rPr lang="en-US" dirty="0"/>
              <a:t>Natural language generation</a:t>
            </a:r>
          </a:p>
          <a:p>
            <a:r>
              <a:rPr lang="en-US" dirty="0"/>
              <a:t>Natural language understanding</a:t>
            </a:r>
          </a:p>
          <a:p>
            <a:r>
              <a:rPr lang="en-US" dirty="0"/>
              <a:t>Optical character recognition (OCR)</a:t>
            </a:r>
          </a:p>
          <a:p>
            <a:r>
              <a:rPr lang="en-US" dirty="0"/>
              <a:t>Relationship extraction</a:t>
            </a:r>
          </a:p>
          <a:p>
            <a:r>
              <a:rPr lang="en-US" dirty="0"/>
              <a:t>Sentence breaking</a:t>
            </a:r>
          </a:p>
          <a:p>
            <a:r>
              <a:rPr lang="en-US" dirty="0"/>
              <a:t>Speech recognition</a:t>
            </a:r>
          </a:p>
          <a:p>
            <a:r>
              <a:rPr lang="en-US" dirty="0"/>
              <a:t>Speech segmentation </a:t>
            </a:r>
          </a:p>
          <a:p>
            <a:r>
              <a:rPr lang="en-US" dirty="0"/>
              <a:t>Topic segmentation and recognition</a:t>
            </a:r>
          </a:p>
        </p:txBody>
      </p:sp>
      <p:sp>
        <p:nvSpPr>
          <p:cNvPr id="4" name="Content Placeholder 2"/>
          <p:cNvSpPr txBox="1">
            <a:spLocks/>
          </p:cNvSpPr>
          <p:nvPr/>
        </p:nvSpPr>
        <p:spPr bwMode="auto">
          <a:xfrm>
            <a:off x="5067300" y="965200"/>
            <a:ext cx="470535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inion" pitchFamily="18" charset="0"/>
                <a:ea typeface="Verdana" pitchFamily="34" charset="0"/>
                <a:cs typeface="Verdana" pitchFamily="34" charset="0"/>
              </a:defRPr>
            </a:lvl1pPr>
            <a:lvl2pPr marL="742950" indent="-285750" algn="l" rtl="0" eaLnBrk="0" fontAlgn="base" hangingPunct="0">
              <a:spcBef>
                <a:spcPct val="20000"/>
              </a:spcBef>
              <a:spcAft>
                <a:spcPct val="0"/>
              </a:spcAft>
              <a:buChar char="–"/>
              <a:defRPr sz="2000">
                <a:solidFill>
                  <a:schemeClr val="tx1"/>
                </a:solidFill>
                <a:latin typeface="Minion" pitchFamily="18" charset="0"/>
                <a:ea typeface="Verdana" pitchFamily="34" charset="0"/>
                <a:cs typeface="Verdana" pitchFamily="34" charset="0"/>
              </a:defRPr>
            </a:lvl2pPr>
            <a:lvl3pPr marL="1143000" indent="-228600" algn="l" rtl="0" eaLnBrk="0" fontAlgn="base" hangingPunct="0">
              <a:spcBef>
                <a:spcPct val="20000"/>
              </a:spcBef>
              <a:spcAft>
                <a:spcPct val="0"/>
              </a:spcAft>
              <a:buChar char="•"/>
              <a:defRPr sz="1600">
                <a:solidFill>
                  <a:schemeClr val="tx1"/>
                </a:solidFill>
                <a:latin typeface="Minion" pitchFamily="18" charset="0"/>
                <a:ea typeface="Verdana" pitchFamily="34" charset="0"/>
                <a:cs typeface="Verdana" pitchFamily="34" charset="0"/>
              </a:defRPr>
            </a:lvl3pPr>
            <a:lvl4pPr marL="1600200" indent="-228600" algn="l" rtl="0" eaLnBrk="0" fontAlgn="base" hangingPunct="0">
              <a:spcBef>
                <a:spcPct val="20000"/>
              </a:spcBef>
              <a:spcAft>
                <a:spcPct val="0"/>
              </a:spcAft>
              <a:buChar char="–"/>
              <a:defRPr sz="1200">
                <a:solidFill>
                  <a:schemeClr val="tx1"/>
                </a:solidFill>
                <a:latin typeface="Minion" pitchFamily="18" charset="0"/>
                <a:ea typeface="Verdana" pitchFamily="34" charset="0"/>
                <a:cs typeface="Verdana" pitchFamily="34" charset="0"/>
              </a:defRPr>
            </a:lvl4pPr>
            <a:lvl5pPr marL="2057400" indent="-228600" algn="l" rtl="0" eaLnBrk="0" fontAlgn="base" hangingPunct="0">
              <a:spcBef>
                <a:spcPct val="20000"/>
              </a:spcBef>
              <a:spcAft>
                <a:spcPct val="0"/>
              </a:spcAft>
              <a:buChar char="»"/>
              <a:defRPr sz="1000">
                <a:solidFill>
                  <a:schemeClr val="tx1"/>
                </a:solidFill>
                <a:latin typeface="Minion" pitchFamily="18"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dirty="0"/>
              <a:t>Word segmentation</a:t>
            </a:r>
          </a:p>
          <a:p>
            <a:r>
              <a:rPr lang="en-US" dirty="0"/>
              <a:t>Speech processing</a:t>
            </a:r>
          </a:p>
          <a:p>
            <a:r>
              <a:rPr lang="en-US" dirty="0"/>
              <a:t>Native Language Identification</a:t>
            </a:r>
          </a:p>
          <a:p>
            <a:r>
              <a:rPr lang="en-US" dirty="0"/>
              <a:t>Stemming</a:t>
            </a:r>
          </a:p>
          <a:p>
            <a:r>
              <a:rPr lang="en-US" dirty="0"/>
              <a:t>Text simplification</a:t>
            </a:r>
          </a:p>
          <a:p>
            <a:r>
              <a:rPr lang="en-US" dirty="0"/>
              <a:t>Text-to-speech</a:t>
            </a:r>
          </a:p>
          <a:p>
            <a:r>
              <a:rPr lang="en-US" dirty="0"/>
              <a:t>Text-proofing</a:t>
            </a:r>
          </a:p>
          <a:p>
            <a:r>
              <a:rPr lang="en-US" dirty="0"/>
              <a:t>Natural language search</a:t>
            </a:r>
          </a:p>
          <a:p>
            <a:r>
              <a:rPr lang="en-US" dirty="0"/>
              <a:t>Query expansion</a:t>
            </a:r>
          </a:p>
          <a:p>
            <a:r>
              <a:rPr lang="en-US" dirty="0"/>
              <a:t>Automated essay scoring</a:t>
            </a:r>
          </a:p>
          <a:p>
            <a:r>
              <a:rPr lang="en-US" dirty="0" err="1"/>
              <a:t>Truecasing</a:t>
            </a:r>
            <a:endParaRPr lang="en-US" dirty="0"/>
          </a:p>
        </p:txBody>
      </p:sp>
    </p:spTree>
    <p:extLst>
      <p:ext uri="{BB962C8B-B14F-4D97-AF65-F5344CB8AC3E}">
        <p14:creationId xmlns:p14="http://schemas.microsoft.com/office/powerpoint/2010/main" val="3161653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Why is NLP challenging?</a:t>
            </a:r>
          </a:p>
        </p:txBody>
      </p:sp>
    </p:spTree>
    <p:extLst>
      <p:ext uri="{BB962C8B-B14F-4D97-AF65-F5344CB8AC3E}">
        <p14:creationId xmlns:p14="http://schemas.microsoft.com/office/powerpoint/2010/main" val="167061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Lucida Sans" charset="0"/>
                <a:ea typeface="ＭＳ Ｐゴシック" charset="0"/>
                <a:cs typeface="ＭＳ Ｐゴシック" charset="0"/>
              </a:rPr>
              <a:t>NLP Challenges</a:t>
            </a:r>
            <a:endParaRPr lang="en-US" dirty="0"/>
          </a:p>
        </p:txBody>
      </p:sp>
      <p:sp>
        <p:nvSpPr>
          <p:cNvPr id="3" name="Content Placeholder 2"/>
          <p:cNvSpPr>
            <a:spLocks noGrp="1"/>
          </p:cNvSpPr>
          <p:nvPr>
            <p:ph idx="1"/>
          </p:nvPr>
        </p:nvSpPr>
        <p:spPr/>
        <p:txBody>
          <a:bodyPr/>
          <a:lstStyle/>
          <a:p>
            <a:pPr>
              <a:spcBef>
                <a:spcPts val="400"/>
              </a:spcBef>
            </a:pPr>
            <a:r>
              <a:rPr lang="en-US" dirty="0">
                <a:ea typeface="Arial" pitchFamily="-106" charset="0"/>
                <a:cs typeface="Calibri"/>
              </a:rPr>
              <a:t>Teacher Strikes Idle Kids</a:t>
            </a:r>
            <a:endParaRPr lang="en-US" dirty="0">
              <a:latin typeface="Calibri"/>
              <a:ea typeface="Arial" pitchFamily="-106" charset="0"/>
              <a:cs typeface="Calibri"/>
            </a:endParaRPr>
          </a:p>
          <a:p>
            <a:pPr>
              <a:spcBef>
                <a:spcPts val="400"/>
              </a:spcBef>
            </a:pPr>
            <a:r>
              <a:rPr lang="en-US" dirty="0">
                <a:latin typeface="Calibri"/>
                <a:ea typeface="Times New Roman" pitchFamily="-106" charset="0"/>
                <a:cs typeface="Calibri"/>
              </a:rPr>
              <a:t>Red Tape Holds Up New Bridges</a:t>
            </a:r>
          </a:p>
          <a:p>
            <a:pPr>
              <a:spcBef>
                <a:spcPts val="400"/>
              </a:spcBef>
            </a:pPr>
            <a:r>
              <a:rPr lang="en-US" dirty="0">
                <a:latin typeface="Calibri"/>
                <a:ea typeface="Times New Roman" pitchFamily="-106" charset="0"/>
                <a:cs typeface="Calibri"/>
              </a:rPr>
              <a:t>Hospitals Are Sued by 7 Foot Doctors</a:t>
            </a:r>
          </a:p>
          <a:p>
            <a:pPr>
              <a:spcBef>
                <a:spcPts val="400"/>
              </a:spcBef>
            </a:pPr>
            <a:r>
              <a:rPr lang="en-US" dirty="0">
                <a:latin typeface="Calibri"/>
                <a:ea typeface="Arial" pitchFamily="-106" charset="0"/>
                <a:cs typeface="Calibri"/>
              </a:rPr>
              <a:t>Juvenile Court to Try Shooting Defendant</a:t>
            </a:r>
          </a:p>
          <a:p>
            <a:pPr>
              <a:spcBef>
                <a:spcPts val="400"/>
              </a:spcBef>
            </a:pPr>
            <a:r>
              <a:rPr lang="en-US" dirty="0">
                <a:latin typeface="Calibri"/>
                <a:ea typeface="Arial" pitchFamily="-106" charset="0"/>
                <a:cs typeface="Calibri"/>
              </a:rPr>
              <a:t>Local High School Dropouts Cut in Half</a:t>
            </a:r>
          </a:p>
          <a:p>
            <a:endParaRPr lang="en-US" dirty="0"/>
          </a:p>
        </p:txBody>
      </p:sp>
      <p:sp>
        <p:nvSpPr>
          <p:cNvPr id="4" name="Rounded Rectangle 3"/>
          <p:cNvSpPr/>
          <p:nvPr/>
        </p:nvSpPr>
        <p:spPr>
          <a:xfrm>
            <a:off x="647700" y="3124200"/>
            <a:ext cx="2766060" cy="1605572"/>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5" name="Rounded Rectangle 4"/>
          <p:cNvSpPr/>
          <p:nvPr/>
        </p:nvSpPr>
        <p:spPr>
          <a:xfrm>
            <a:off x="3560128" y="3124200"/>
            <a:ext cx="2766060" cy="1605572"/>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6" name="TextBox 7"/>
          <p:cNvSpPr txBox="1"/>
          <p:nvPr/>
        </p:nvSpPr>
        <p:spPr>
          <a:xfrm>
            <a:off x="696743" y="3053372"/>
            <a:ext cx="2657974" cy="430887"/>
          </a:xfrm>
          <a:prstGeom prst="rect">
            <a:avLst/>
          </a:prstGeom>
          <a:noFill/>
        </p:spPr>
        <p:txBody>
          <a:bodyPr wrap="non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sz="2200" b="1" dirty="0">
                <a:latin typeface="Calibri"/>
                <a:cs typeface="Calibri"/>
              </a:rPr>
              <a:t>non-standard English</a:t>
            </a:r>
            <a:endParaRPr lang="en-US" sz="2200" dirty="0">
              <a:latin typeface="Calibri"/>
              <a:cs typeface="Calibri"/>
            </a:endParaRPr>
          </a:p>
        </p:txBody>
      </p:sp>
      <p:sp>
        <p:nvSpPr>
          <p:cNvPr id="7" name="TextBox 8"/>
          <p:cNvSpPr txBox="1"/>
          <p:nvPr/>
        </p:nvSpPr>
        <p:spPr>
          <a:xfrm>
            <a:off x="720270" y="3486382"/>
            <a:ext cx="2895600" cy="1246495"/>
          </a:xfrm>
          <a:prstGeom prst="rect">
            <a:avLst/>
          </a:prstGeom>
          <a:noFill/>
        </p:spPr>
        <p:txBody>
          <a:bodyPr wrap="squar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sz="1500" dirty="0">
                <a:latin typeface="Calibri"/>
                <a:cs typeface="Calibri"/>
              </a:rPr>
              <a:t>Great job @</a:t>
            </a:r>
            <a:r>
              <a:rPr lang="en-US" sz="1500" dirty="0" err="1">
                <a:latin typeface="Calibri"/>
                <a:cs typeface="Calibri"/>
              </a:rPr>
              <a:t>justinbieber</a:t>
            </a:r>
            <a:r>
              <a:rPr lang="en-US" sz="1500" dirty="0">
                <a:latin typeface="Calibri"/>
                <a:cs typeface="Calibri"/>
              </a:rPr>
              <a:t>! Were SOO PROUD of what </a:t>
            </a:r>
            <a:r>
              <a:rPr lang="en-US" sz="1500" dirty="0" err="1">
                <a:latin typeface="Calibri"/>
                <a:cs typeface="Calibri"/>
              </a:rPr>
              <a:t>youve</a:t>
            </a:r>
            <a:r>
              <a:rPr lang="en-US" sz="1500" dirty="0">
                <a:latin typeface="Calibri"/>
                <a:cs typeface="Calibri"/>
              </a:rPr>
              <a:t> accomplished! U taught us 2 #</a:t>
            </a:r>
            <a:r>
              <a:rPr lang="en-US" sz="1500" dirty="0" err="1">
                <a:latin typeface="Calibri"/>
                <a:cs typeface="Calibri"/>
              </a:rPr>
              <a:t>neversaynever</a:t>
            </a:r>
            <a:r>
              <a:rPr lang="en-US" sz="1500" dirty="0">
                <a:latin typeface="Calibri"/>
                <a:cs typeface="Calibri"/>
              </a:rPr>
              <a:t> &amp; you yourself should never give up either♥</a:t>
            </a:r>
          </a:p>
        </p:txBody>
      </p:sp>
      <p:sp>
        <p:nvSpPr>
          <p:cNvPr id="8" name="TextBox 9"/>
          <p:cNvSpPr txBox="1"/>
          <p:nvPr/>
        </p:nvSpPr>
        <p:spPr>
          <a:xfrm>
            <a:off x="3543300" y="3048907"/>
            <a:ext cx="2781831" cy="461665"/>
          </a:xfrm>
          <a:prstGeom prst="rect">
            <a:avLst/>
          </a:prstGeom>
          <a:noFill/>
        </p:spPr>
        <p:txBody>
          <a:bodyPr wrap="non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b="1" dirty="0">
                <a:latin typeface="Calibri"/>
                <a:cs typeface="Calibri"/>
              </a:rPr>
              <a:t>segmentation issues</a:t>
            </a:r>
          </a:p>
        </p:txBody>
      </p:sp>
      <p:sp>
        <p:nvSpPr>
          <p:cNvPr id="9" name="Rounded Rectangle 8"/>
          <p:cNvSpPr/>
          <p:nvPr/>
        </p:nvSpPr>
        <p:spPr>
          <a:xfrm>
            <a:off x="6416040" y="3124200"/>
            <a:ext cx="2766060" cy="1605572"/>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10" name="TextBox 10"/>
          <p:cNvSpPr txBox="1"/>
          <p:nvPr/>
        </p:nvSpPr>
        <p:spPr>
          <a:xfrm>
            <a:off x="7228082" y="3053372"/>
            <a:ext cx="1039618" cy="461665"/>
          </a:xfrm>
          <a:prstGeom prst="rect">
            <a:avLst/>
          </a:prstGeom>
          <a:noFill/>
        </p:spPr>
        <p:txBody>
          <a:bodyPr wrap="non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b="1" dirty="0">
                <a:latin typeface="Calibri"/>
                <a:cs typeface="Calibri"/>
              </a:rPr>
              <a:t>idioms</a:t>
            </a:r>
          </a:p>
        </p:txBody>
      </p:sp>
      <p:sp>
        <p:nvSpPr>
          <p:cNvPr id="11" name="TextBox 12"/>
          <p:cNvSpPr txBox="1"/>
          <p:nvPr/>
        </p:nvSpPr>
        <p:spPr>
          <a:xfrm>
            <a:off x="6416040" y="3612966"/>
            <a:ext cx="2766060" cy="1077218"/>
          </a:xfrm>
          <a:prstGeom prst="rect">
            <a:avLst/>
          </a:prstGeom>
          <a:noFill/>
        </p:spPr>
        <p:txBody>
          <a:bodyPr>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lgn="ctr">
              <a:defRPr/>
            </a:pPr>
            <a:r>
              <a:rPr lang="en-US" sz="1600" dirty="0">
                <a:latin typeface="Calibri"/>
                <a:cs typeface="Calibri"/>
              </a:rPr>
              <a:t>dark horse</a:t>
            </a:r>
          </a:p>
          <a:p>
            <a:pPr algn="ctr">
              <a:defRPr/>
            </a:pPr>
            <a:r>
              <a:rPr lang="en-US" sz="1600" dirty="0">
                <a:latin typeface="Calibri"/>
                <a:cs typeface="Calibri"/>
              </a:rPr>
              <a:t>get cold feet</a:t>
            </a:r>
          </a:p>
          <a:p>
            <a:pPr algn="ctr">
              <a:defRPr/>
            </a:pPr>
            <a:r>
              <a:rPr lang="en-US" sz="1600" dirty="0">
                <a:latin typeface="Calibri"/>
                <a:cs typeface="Calibri"/>
              </a:rPr>
              <a:t>lose face</a:t>
            </a:r>
          </a:p>
          <a:p>
            <a:pPr algn="ctr">
              <a:defRPr/>
            </a:pPr>
            <a:r>
              <a:rPr lang="en-US" sz="1600" dirty="0">
                <a:latin typeface="Calibri"/>
                <a:cs typeface="Calibri"/>
              </a:rPr>
              <a:t>throw in the towel</a:t>
            </a:r>
          </a:p>
        </p:txBody>
      </p:sp>
      <p:sp>
        <p:nvSpPr>
          <p:cNvPr id="12" name="Rounded Rectangle 11"/>
          <p:cNvSpPr/>
          <p:nvPr/>
        </p:nvSpPr>
        <p:spPr>
          <a:xfrm>
            <a:off x="647700" y="4879121"/>
            <a:ext cx="2766060" cy="1603251"/>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13" name="TextBox 16"/>
          <p:cNvSpPr txBox="1"/>
          <p:nvPr/>
        </p:nvSpPr>
        <p:spPr>
          <a:xfrm>
            <a:off x="1152579" y="4801507"/>
            <a:ext cx="1628721" cy="461665"/>
          </a:xfrm>
          <a:prstGeom prst="rect">
            <a:avLst/>
          </a:prstGeom>
          <a:noFill/>
        </p:spPr>
        <p:txBody>
          <a:bodyPr wrap="non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b="1" dirty="0">
                <a:latin typeface="Calibri"/>
                <a:cs typeface="Calibri"/>
              </a:rPr>
              <a:t>neologisms</a:t>
            </a:r>
          </a:p>
        </p:txBody>
      </p:sp>
      <p:sp>
        <p:nvSpPr>
          <p:cNvPr id="14" name="TextBox 17"/>
          <p:cNvSpPr txBox="1"/>
          <p:nvPr/>
        </p:nvSpPr>
        <p:spPr>
          <a:xfrm>
            <a:off x="647700" y="5273380"/>
            <a:ext cx="2766060" cy="1077218"/>
          </a:xfrm>
          <a:prstGeom prst="rect">
            <a:avLst/>
          </a:prstGeom>
          <a:noFill/>
        </p:spPr>
        <p:txBody>
          <a:bodyPr>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lgn="ctr">
              <a:defRPr/>
            </a:pPr>
            <a:r>
              <a:rPr lang="en-US" sz="1600" dirty="0" err="1">
                <a:latin typeface="Calibri"/>
                <a:cs typeface="Calibri"/>
              </a:rPr>
              <a:t>unfriend</a:t>
            </a:r>
            <a:endParaRPr lang="en-US" sz="1600" dirty="0">
              <a:latin typeface="Calibri"/>
              <a:cs typeface="Calibri"/>
            </a:endParaRPr>
          </a:p>
          <a:p>
            <a:pPr algn="ctr">
              <a:defRPr/>
            </a:pPr>
            <a:r>
              <a:rPr lang="en-US" sz="1600" dirty="0" err="1">
                <a:latin typeface="Calibri"/>
                <a:cs typeface="Calibri"/>
              </a:rPr>
              <a:t>Retweet</a:t>
            </a:r>
            <a:endParaRPr lang="en-US" sz="1600" dirty="0">
              <a:latin typeface="Calibri"/>
              <a:cs typeface="Calibri"/>
            </a:endParaRPr>
          </a:p>
          <a:p>
            <a:pPr algn="ctr">
              <a:defRPr/>
            </a:pPr>
            <a:r>
              <a:rPr lang="en-US" sz="1600" dirty="0" err="1">
                <a:latin typeface="Calibri"/>
                <a:cs typeface="Calibri"/>
              </a:rPr>
              <a:t>bromance</a:t>
            </a:r>
            <a:endParaRPr lang="en-US" sz="1600" dirty="0">
              <a:latin typeface="Calibri"/>
              <a:cs typeface="Calibri"/>
            </a:endParaRPr>
          </a:p>
          <a:p>
            <a:pPr algn="ctr">
              <a:defRPr/>
            </a:pPr>
            <a:endParaRPr lang="en-US" sz="1600" dirty="0">
              <a:latin typeface="Calibri"/>
              <a:cs typeface="Calibri"/>
            </a:endParaRPr>
          </a:p>
        </p:txBody>
      </p:sp>
      <p:sp>
        <p:nvSpPr>
          <p:cNvPr id="15" name="Rounded Rectangle 14"/>
          <p:cNvSpPr/>
          <p:nvPr/>
        </p:nvSpPr>
        <p:spPr>
          <a:xfrm>
            <a:off x="6416040" y="4864266"/>
            <a:ext cx="2766060" cy="1605572"/>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16" name="TextBox 24"/>
          <p:cNvSpPr txBox="1"/>
          <p:nvPr/>
        </p:nvSpPr>
        <p:spPr>
          <a:xfrm>
            <a:off x="6515100" y="4750757"/>
            <a:ext cx="2396144" cy="419695"/>
          </a:xfrm>
          <a:prstGeom prst="rect">
            <a:avLst/>
          </a:prstGeom>
          <a:noFill/>
        </p:spPr>
        <p:txBody>
          <a:bodyPr wrap="non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b="1" dirty="0">
                <a:latin typeface="Calibri"/>
                <a:cs typeface="Calibri"/>
              </a:rPr>
              <a:t>tricky entity names</a:t>
            </a:r>
          </a:p>
        </p:txBody>
      </p:sp>
      <p:sp>
        <p:nvSpPr>
          <p:cNvPr id="17" name="TextBox 25"/>
          <p:cNvSpPr txBox="1"/>
          <p:nvPr/>
        </p:nvSpPr>
        <p:spPr>
          <a:xfrm>
            <a:off x="6515100" y="5315343"/>
            <a:ext cx="2805430" cy="907941"/>
          </a:xfrm>
          <a:prstGeom prst="rect">
            <a:avLst/>
          </a:prstGeom>
          <a:noFill/>
        </p:spPr>
        <p:txBody>
          <a:bodyPr wrap="squar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spcBef>
                <a:spcPts val="300"/>
              </a:spcBef>
              <a:defRPr/>
            </a:pPr>
            <a:r>
              <a:rPr lang="en-US" sz="1600" dirty="0">
                <a:latin typeface="Calibri"/>
                <a:cs typeface="Calibri"/>
              </a:rPr>
              <a:t>Where is </a:t>
            </a:r>
            <a:r>
              <a:rPr lang="en-US" sz="1600" i="1" dirty="0">
                <a:latin typeface="Calibri"/>
                <a:cs typeface="Calibri"/>
              </a:rPr>
              <a:t>A Bug’s Life</a:t>
            </a:r>
            <a:r>
              <a:rPr lang="en-US" sz="1600" dirty="0">
                <a:latin typeface="Calibri"/>
                <a:cs typeface="Calibri"/>
              </a:rPr>
              <a:t> playing …</a:t>
            </a:r>
            <a:endParaRPr lang="en-US" sz="1600" i="1" dirty="0">
              <a:latin typeface="Calibri"/>
              <a:cs typeface="Calibri"/>
            </a:endParaRPr>
          </a:p>
          <a:p>
            <a:pPr>
              <a:spcBef>
                <a:spcPts val="300"/>
              </a:spcBef>
              <a:defRPr/>
            </a:pPr>
            <a:r>
              <a:rPr lang="en-US" sz="1600" i="1" dirty="0">
                <a:latin typeface="Calibri"/>
                <a:cs typeface="Calibri"/>
              </a:rPr>
              <a:t>Let It Be</a:t>
            </a:r>
            <a:r>
              <a:rPr lang="en-US" sz="1600" dirty="0">
                <a:latin typeface="Calibri"/>
                <a:cs typeface="Calibri"/>
              </a:rPr>
              <a:t> was recorded …</a:t>
            </a:r>
          </a:p>
          <a:p>
            <a:pPr>
              <a:spcBef>
                <a:spcPts val="300"/>
              </a:spcBef>
              <a:defRPr/>
            </a:pPr>
            <a:r>
              <a:rPr lang="en-US" sz="1600" dirty="0">
                <a:latin typeface="Calibri"/>
                <a:cs typeface="Calibri"/>
              </a:rPr>
              <a:t>… a mutation on the </a:t>
            </a:r>
            <a:r>
              <a:rPr lang="en-US" sz="1600" i="1" dirty="0">
                <a:latin typeface="Calibri"/>
                <a:cs typeface="Calibri"/>
              </a:rPr>
              <a:t>for</a:t>
            </a:r>
            <a:r>
              <a:rPr lang="en-US" sz="1600" dirty="0">
                <a:latin typeface="Calibri"/>
                <a:cs typeface="Calibri"/>
              </a:rPr>
              <a:t> gene …</a:t>
            </a:r>
            <a:endParaRPr lang="en-US" sz="1600" i="1" dirty="0">
              <a:latin typeface="Calibri"/>
              <a:cs typeface="Calibri"/>
            </a:endParaRPr>
          </a:p>
        </p:txBody>
      </p:sp>
      <p:sp>
        <p:nvSpPr>
          <p:cNvPr id="18" name="Rounded Rectangle 17"/>
          <p:cNvSpPr/>
          <p:nvPr/>
        </p:nvSpPr>
        <p:spPr>
          <a:xfrm>
            <a:off x="3596640" y="4850545"/>
            <a:ext cx="2766060" cy="1603251"/>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19" name="TextBox 28"/>
          <p:cNvSpPr txBox="1"/>
          <p:nvPr/>
        </p:nvSpPr>
        <p:spPr>
          <a:xfrm>
            <a:off x="3848100" y="4753962"/>
            <a:ext cx="2403422" cy="461665"/>
          </a:xfrm>
          <a:prstGeom prst="rect">
            <a:avLst/>
          </a:prstGeom>
          <a:noFill/>
        </p:spPr>
        <p:txBody>
          <a:bodyPr wrap="non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defRPr/>
            </a:pPr>
            <a:r>
              <a:rPr lang="en-US" b="1" dirty="0">
                <a:latin typeface="Calibri"/>
                <a:cs typeface="Calibri"/>
              </a:rPr>
              <a:t>world knowledge</a:t>
            </a:r>
          </a:p>
        </p:txBody>
      </p:sp>
      <p:sp>
        <p:nvSpPr>
          <p:cNvPr id="20" name="TextBox 29"/>
          <p:cNvSpPr txBox="1"/>
          <p:nvPr/>
        </p:nvSpPr>
        <p:spPr>
          <a:xfrm>
            <a:off x="3596640" y="5328149"/>
            <a:ext cx="2766060" cy="623248"/>
          </a:xfrm>
          <a:prstGeom prst="rect">
            <a:avLst/>
          </a:prstGeom>
          <a:noFill/>
        </p:spPr>
        <p:txBody>
          <a:bodyPr>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lgn="ctr">
              <a:spcBef>
                <a:spcPts val="300"/>
              </a:spcBef>
              <a:defRPr/>
            </a:pPr>
            <a:r>
              <a:rPr lang="en-US" sz="1600" dirty="0">
                <a:latin typeface="Calibri"/>
                <a:cs typeface="Calibri"/>
              </a:rPr>
              <a:t>Mary and Sue are sisters.</a:t>
            </a:r>
          </a:p>
          <a:p>
            <a:pPr algn="ctr">
              <a:spcBef>
                <a:spcPts val="300"/>
              </a:spcBef>
              <a:defRPr/>
            </a:pPr>
            <a:r>
              <a:rPr lang="en-US" sz="1600" dirty="0">
                <a:latin typeface="Calibri"/>
                <a:cs typeface="Calibri"/>
              </a:rPr>
              <a:t>Mary and Sue are mothers.</a:t>
            </a:r>
          </a:p>
        </p:txBody>
      </p:sp>
      <p:grpSp>
        <p:nvGrpSpPr>
          <p:cNvPr id="21" name="Group 20"/>
          <p:cNvGrpSpPr>
            <a:grpSpLocks/>
          </p:cNvGrpSpPr>
          <p:nvPr/>
        </p:nvGrpSpPr>
        <p:grpSpPr bwMode="auto">
          <a:xfrm>
            <a:off x="3555385" y="3791182"/>
            <a:ext cx="2755290" cy="533400"/>
            <a:chOff x="3686175" y="2535809"/>
            <a:chExt cx="1774825" cy="337261"/>
          </a:xfrm>
        </p:grpSpPr>
        <p:sp>
          <p:nvSpPr>
            <p:cNvPr id="23" name="Rectangle 22"/>
            <p:cNvSpPr/>
            <p:nvPr/>
          </p:nvSpPr>
          <p:spPr>
            <a:xfrm>
              <a:off x="3686175" y="2535809"/>
              <a:ext cx="182101"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24" name="Rectangle 23"/>
            <p:cNvSpPr/>
            <p:nvPr/>
          </p:nvSpPr>
          <p:spPr>
            <a:xfrm>
              <a:off x="3897307" y="2535809"/>
              <a:ext cx="237523"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25" name="Rectangle 24"/>
            <p:cNvSpPr/>
            <p:nvPr/>
          </p:nvSpPr>
          <p:spPr>
            <a:xfrm>
              <a:off x="4159901" y="2535809"/>
              <a:ext cx="493520"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26" name="Rectangle 25"/>
            <p:cNvSpPr/>
            <p:nvPr/>
          </p:nvSpPr>
          <p:spPr>
            <a:xfrm>
              <a:off x="4678494" y="2535809"/>
              <a:ext cx="328573"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27" name="Rectangle 26"/>
            <p:cNvSpPr/>
            <p:nvPr/>
          </p:nvSpPr>
          <p:spPr>
            <a:xfrm>
              <a:off x="5029500" y="2535809"/>
              <a:ext cx="431500"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28" name="Rectangle 27"/>
            <p:cNvSpPr/>
            <p:nvPr/>
          </p:nvSpPr>
          <p:spPr>
            <a:xfrm>
              <a:off x="3686175" y="2727808"/>
              <a:ext cx="182101"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29" name="Rectangle 28"/>
            <p:cNvSpPr/>
            <p:nvPr/>
          </p:nvSpPr>
          <p:spPr>
            <a:xfrm>
              <a:off x="3897307" y="2727808"/>
              <a:ext cx="484283"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30" name="Rectangle 29"/>
            <p:cNvSpPr/>
            <p:nvPr/>
          </p:nvSpPr>
          <p:spPr>
            <a:xfrm>
              <a:off x="4413259" y="2727808"/>
              <a:ext cx="593808"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sp>
          <p:nvSpPr>
            <p:cNvPr id="31" name="Rectangle 30"/>
            <p:cNvSpPr/>
            <p:nvPr/>
          </p:nvSpPr>
          <p:spPr>
            <a:xfrm>
              <a:off x="5029500" y="2727808"/>
              <a:ext cx="431500" cy="145262"/>
            </a:xfrm>
            <a:prstGeom prst="rect">
              <a:avLst/>
            </a:prstGeom>
            <a:solidFill>
              <a:srgbClr val="7A9FE1"/>
            </a:solidFill>
            <a:ln w="9525" cap="flat" cmpd="sng" algn="ctr">
              <a:no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ysClr val="window" lastClr="FFFFFF"/>
                </a:solidFill>
                <a:effectLst/>
                <a:uLnTx/>
                <a:uFillTx/>
                <a:latin typeface="Calibri"/>
                <a:ea typeface="+mn-ea"/>
                <a:cs typeface="Calibri"/>
              </a:endParaRPr>
            </a:p>
          </p:txBody>
        </p:sp>
      </p:grpSp>
      <p:sp>
        <p:nvSpPr>
          <p:cNvPr id="22" name="TextBox 11"/>
          <p:cNvSpPr txBox="1"/>
          <p:nvPr/>
        </p:nvSpPr>
        <p:spPr>
          <a:xfrm>
            <a:off x="3479195" y="3739172"/>
            <a:ext cx="2895600" cy="609600"/>
          </a:xfrm>
          <a:prstGeom prst="rect">
            <a:avLst/>
          </a:prstGeom>
          <a:noFill/>
        </p:spPr>
        <p:txBody>
          <a:bodyPr wrap="square">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algn="ctr">
              <a:spcBef>
                <a:spcPts val="300"/>
              </a:spcBef>
              <a:defRPr/>
            </a:pPr>
            <a:r>
              <a:rPr lang="en-US" sz="1500" dirty="0">
                <a:latin typeface="Calibri"/>
                <a:cs typeface="Calibri"/>
              </a:rPr>
              <a:t>the New York-New Haven Railroad</a:t>
            </a:r>
          </a:p>
          <a:p>
            <a:pPr algn="ctr">
              <a:spcBef>
                <a:spcPts val="300"/>
              </a:spcBef>
              <a:defRPr/>
            </a:pPr>
            <a:r>
              <a:rPr lang="en-US" sz="1500" dirty="0">
                <a:latin typeface="Calibri"/>
                <a:cs typeface="Calibri"/>
              </a:rPr>
              <a:t>the New York-New Haven Railroad</a:t>
            </a:r>
          </a:p>
        </p:txBody>
      </p:sp>
      <p:sp>
        <p:nvSpPr>
          <p:cNvPr id="32" name="Rounded Rectangle 31"/>
          <p:cNvSpPr/>
          <p:nvPr/>
        </p:nvSpPr>
        <p:spPr>
          <a:xfrm>
            <a:off x="6412133" y="1126473"/>
            <a:ext cx="2766060" cy="1605572"/>
          </a:xfrm>
          <a:prstGeom prst="roundRect">
            <a:avLst/>
          </a:prstGeom>
          <a:solidFill>
            <a:srgbClr val="605435">
              <a:lumMod val="20000"/>
              <a:lumOff val="80000"/>
            </a:srgbClr>
          </a:solidFill>
          <a:ln w="9525" cap="flat" cmpd="sng" algn="ctr">
            <a:solidFill>
              <a:srgbClr val="A4001D">
                <a:shade val="95000"/>
                <a:satMod val="105000"/>
              </a:srgbClr>
            </a:solidFill>
            <a:prstDash val="solid"/>
          </a:ln>
          <a:effectLst>
            <a:outerShdw blurRad="40000" dist="23000" dir="5400000" rotWithShape="0">
              <a:srgbClr val="000000">
                <a:alpha val="35000"/>
              </a:srgbClr>
            </a:outerShdw>
          </a:effectLst>
        </p:spPr>
        <p:txBody>
          <a:bodyPr anchor="ctr"/>
          <a:lstStyle>
            <a:defPPr>
              <a:defRPr lang="en-US"/>
            </a:defPPr>
            <a:lvl1pPr algn="l" rtl="0" fontAlgn="base">
              <a:spcBef>
                <a:spcPct val="0"/>
              </a:spcBef>
              <a:spcAft>
                <a:spcPct val="0"/>
              </a:spcAft>
              <a:defRPr sz="2400" kern="1200">
                <a:solidFill>
                  <a:schemeClr val="lt1"/>
                </a:solidFill>
                <a:latin typeface="+mn-lt"/>
                <a:ea typeface="+mn-ea"/>
                <a:cs typeface="+mn-cs"/>
              </a:defRPr>
            </a:lvl1pPr>
            <a:lvl2pPr marL="457200" algn="l" rtl="0" fontAlgn="base">
              <a:spcBef>
                <a:spcPct val="0"/>
              </a:spcBef>
              <a:spcAft>
                <a:spcPct val="0"/>
              </a:spcAft>
              <a:defRPr sz="2400" kern="1200">
                <a:solidFill>
                  <a:schemeClr val="lt1"/>
                </a:solidFill>
                <a:latin typeface="+mn-lt"/>
                <a:ea typeface="+mn-ea"/>
                <a:cs typeface="+mn-cs"/>
              </a:defRPr>
            </a:lvl2pPr>
            <a:lvl3pPr marL="914400" algn="l" rtl="0" fontAlgn="base">
              <a:spcBef>
                <a:spcPct val="0"/>
              </a:spcBef>
              <a:spcAft>
                <a:spcPct val="0"/>
              </a:spcAft>
              <a:defRPr sz="2400" kern="1200">
                <a:solidFill>
                  <a:schemeClr val="lt1"/>
                </a:solidFill>
                <a:latin typeface="+mn-lt"/>
                <a:ea typeface="+mn-ea"/>
                <a:cs typeface="+mn-cs"/>
              </a:defRPr>
            </a:lvl3pPr>
            <a:lvl4pPr marL="1371600" algn="l" rtl="0" fontAlgn="base">
              <a:spcBef>
                <a:spcPct val="0"/>
              </a:spcBef>
              <a:spcAft>
                <a:spcPct val="0"/>
              </a:spcAft>
              <a:defRPr sz="2400" kern="1200">
                <a:solidFill>
                  <a:schemeClr val="lt1"/>
                </a:solidFill>
                <a:latin typeface="+mn-lt"/>
                <a:ea typeface="+mn-ea"/>
                <a:cs typeface="+mn-cs"/>
              </a:defRPr>
            </a:lvl4pPr>
            <a:lvl5pPr marL="1828800" algn="l" rtl="0" fontAlgn="base">
              <a:spcBef>
                <a:spcPct val="0"/>
              </a:spcBef>
              <a:spcAft>
                <a:spcPct val="0"/>
              </a:spcAft>
              <a:defRPr sz="2400" kern="1200">
                <a:solidFill>
                  <a:schemeClr val="lt1"/>
                </a:solidFill>
                <a:latin typeface="+mn-lt"/>
                <a:ea typeface="+mn-ea"/>
                <a:cs typeface="+mn-cs"/>
              </a:defRPr>
            </a:lvl5pPr>
            <a:lvl6pPr marL="2286000" algn="l" defTabSz="457200" rtl="0" eaLnBrk="1" latinLnBrk="0" hangingPunct="1">
              <a:defRPr sz="2400" kern="1200">
                <a:solidFill>
                  <a:schemeClr val="lt1"/>
                </a:solidFill>
                <a:latin typeface="+mn-lt"/>
                <a:ea typeface="+mn-ea"/>
                <a:cs typeface="+mn-cs"/>
              </a:defRPr>
            </a:lvl6pPr>
            <a:lvl7pPr marL="2743200" algn="l" defTabSz="457200" rtl="0" eaLnBrk="1" latinLnBrk="0" hangingPunct="1">
              <a:defRPr sz="2400" kern="1200">
                <a:solidFill>
                  <a:schemeClr val="lt1"/>
                </a:solidFill>
                <a:latin typeface="+mn-lt"/>
                <a:ea typeface="+mn-ea"/>
                <a:cs typeface="+mn-cs"/>
              </a:defRPr>
            </a:lvl7pPr>
            <a:lvl8pPr marL="3200400" algn="l" defTabSz="457200" rtl="0" eaLnBrk="1" latinLnBrk="0" hangingPunct="1">
              <a:defRPr sz="2400" kern="1200">
                <a:solidFill>
                  <a:schemeClr val="lt1"/>
                </a:solidFill>
                <a:latin typeface="+mn-lt"/>
                <a:ea typeface="+mn-ea"/>
                <a:cs typeface="+mn-cs"/>
              </a:defRPr>
            </a:lvl8pPr>
            <a:lvl9pPr marL="3657600" algn="l" defTabSz="457200" rtl="0" eaLnBrk="1" latinLnBrk="0" hangingPunct="1">
              <a:defRPr sz="2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IN" b="0" i="0" u="none" strike="noStrike" kern="1200" cap="none" spc="0" normalizeH="0" baseline="0" noProof="0" dirty="0">
                <a:ln>
                  <a:noFill/>
                </a:ln>
                <a:solidFill>
                  <a:schemeClr val="tx1"/>
                </a:solidFill>
                <a:effectLst/>
                <a:uLnTx/>
                <a:uFillTx/>
                <a:latin typeface="Calibri"/>
                <a:ea typeface="+mn-ea"/>
                <a:cs typeface="Calibri"/>
              </a:rPr>
              <a:t>Ambiguity</a:t>
            </a:r>
            <a:endParaRPr kumimoji="0" lang="en-US" b="0" i="0" u="none" strike="noStrike" kern="1200" cap="none" spc="0" normalizeH="0" baseline="0" noProof="0" dirty="0">
              <a:ln>
                <a:noFill/>
              </a:ln>
              <a:solidFill>
                <a:schemeClr val="tx1"/>
              </a:solidFill>
              <a:effectLst/>
              <a:uLnTx/>
              <a:uFillTx/>
              <a:latin typeface="Calibri"/>
              <a:ea typeface="+mn-ea"/>
              <a:cs typeface="Calibri"/>
            </a:endParaRPr>
          </a:p>
        </p:txBody>
      </p:sp>
    </p:spTree>
    <p:extLst>
      <p:ext uri="{BB962C8B-B14F-4D97-AF65-F5344CB8AC3E}">
        <p14:creationId xmlns:p14="http://schemas.microsoft.com/office/powerpoint/2010/main" val="1140875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Tokenization</a:t>
            </a:r>
          </a:p>
        </p:txBody>
      </p:sp>
    </p:spTree>
    <p:extLst>
      <p:ext uri="{BB962C8B-B14F-4D97-AF65-F5344CB8AC3E}">
        <p14:creationId xmlns:p14="http://schemas.microsoft.com/office/powerpoint/2010/main" val="496106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Tokenization</a:t>
            </a:r>
            <a:endParaRPr lang="en-US" dirty="0"/>
          </a:p>
        </p:txBody>
      </p:sp>
      <p:sp>
        <p:nvSpPr>
          <p:cNvPr id="3" name="Content Placeholder 2"/>
          <p:cNvSpPr>
            <a:spLocks noGrp="1"/>
          </p:cNvSpPr>
          <p:nvPr>
            <p:ph idx="1"/>
          </p:nvPr>
        </p:nvSpPr>
        <p:spPr/>
        <p:txBody>
          <a:bodyPr/>
          <a:lstStyle/>
          <a:p>
            <a:r>
              <a:rPr lang="en-IN" dirty="0"/>
              <a:t>Issues in English tokenization</a:t>
            </a:r>
          </a:p>
          <a:p>
            <a:pPr lvl="1"/>
            <a:r>
              <a:rPr lang="en-US" sz="1600" dirty="0">
                <a:latin typeface="Courier"/>
                <a:cs typeface="Courier"/>
              </a:rPr>
              <a:t>Finland’s capital </a:t>
            </a:r>
            <a:r>
              <a:rPr lang="en-US" sz="1600" dirty="0">
                <a:latin typeface="Courier"/>
                <a:cs typeface="Courier"/>
                <a:sym typeface="Symbol" charset="2"/>
              </a:rPr>
              <a:t>   </a:t>
            </a:r>
            <a:r>
              <a:rPr lang="en-US" sz="1600" i="1" dirty="0">
                <a:latin typeface="Courier"/>
                <a:cs typeface="Courier"/>
                <a:sym typeface="Symbol" charset="2"/>
              </a:rPr>
              <a:t>  </a:t>
            </a:r>
            <a:r>
              <a:rPr lang="en-US" sz="1600" dirty="0">
                <a:latin typeface="Courier"/>
                <a:cs typeface="Courier"/>
                <a:sym typeface="Symbol" charset="2"/>
              </a:rPr>
              <a:t>Finland </a:t>
            </a:r>
            <a:r>
              <a:rPr lang="en-US" sz="1600" dirty="0" err="1">
                <a:latin typeface="Courier"/>
                <a:cs typeface="Courier"/>
                <a:sym typeface="Symbol" charset="2"/>
              </a:rPr>
              <a:t>Finlands</a:t>
            </a:r>
            <a:r>
              <a:rPr lang="en-US" sz="1600" dirty="0">
                <a:latin typeface="Courier"/>
                <a:cs typeface="Courier"/>
                <a:sym typeface="Symbol" charset="2"/>
              </a:rPr>
              <a:t> Finland’s </a:t>
            </a:r>
            <a:r>
              <a:rPr lang="en-US" sz="1600" dirty="0">
                <a:latin typeface="Calibri"/>
                <a:cs typeface="Calibri"/>
                <a:sym typeface="Symbol" charset="2"/>
              </a:rPr>
              <a:t> </a:t>
            </a:r>
            <a:r>
              <a:rPr lang="en-US" sz="1600" i="1" dirty="0">
                <a:latin typeface="Calibri"/>
                <a:cs typeface="Calibri"/>
                <a:sym typeface="Symbol" charset="2"/>
              </a:rPr>
              <a:t>?</a:t>
            </a:r>
            <a:endParaRPr lang="en-US" sz="1600" dirty="0">
              <a:latin typeface="Calibri"/>
              <a:cs typeface="Calibri"/>
              <a:sym typeface="Symbol" charset="2"/>
            </a:endParaRPr>
          </a:p>
          <a:p>
            <a:pPr lvl="1"/>
            <a:r>
              <a:rPr lang="en-US" sz="1600" dirty="0">
                <a:latin typeface="Courier"/>
                <a:cs typeface="Courier"/>
              </a:rPr>
              <a:t>what’re, I’m, isn’t  </a:t>
            </a:r>
            <a:r>
              <a:rPr lang="en-US" sz="1600" dirty="0">
                <a:latin typeface="Courier"/>
                <a:cs typeface="Courier"/>
                <a:sym typeface="Symbol" charset="2"/>
              </a:rPr>
              <a:t></a:t>
            </a:r>
            <a:r>
              <a:rPr lang="en-US" sz="1600" i="1" dirty="0">
                <a:latin typeface="Courier"/>
                <a:cs typeface="Courier"/>
              </a:rPr>
              <a:t>  </a:t>
            </a:r>
            <a:r>
              <a:rPr lang="en-US" sz="1600" dirty="0">
                <a:latin typeface="Courier"/>
                <a:cs typeface="Courier"/>
                <a:sym typeface="Symbol" charset="2"/>
              </a:rPr>
              <a:t>What are, I am, is not</a:t>
            </a:r>
          </a:p>
          <a:p>
            <a:pPr lvl="1"/>
            <a:r>
              <a:rPr lang="en-US" sz="1600" dirty="0">
                <a:latin typeface="Courier"/>
                <a:cs typeface="Courier"/>
                <a:sym typeface="Symbol" charset="2"/>
              </a:rPr>
              <a:t>Hewlett-Packard        Hewlett Packard </a:t>
            </a:r>
            <a:r>
              <a:rPr lang="en-US" sz="1600" dirty="0">
                <a:cs typeface="Calibri"/>
                <a:sym typeface="Symbol" charset="2"/>
              </a:rPr>
              <a:t>?</a:t>
            </a:r>
            <a:endParaRPr lang="en-US" sz="1600" dirty="0">
              <a:latin typeface="Courier"/>
              <a:cs typeface="Courier"/>
              <a:sym typeface="Symbol" charset="2"/>
            </a:endParaRPr>
          </a:p>
          <a:p>
            <a:pPr lvl="1"/>
            <a:r>
              <a:rPr lang="en-US" sz="1600" dirty="0">
                <a:latin typeface="Courier"/>
                <a:cs typeface="Courier"/>
                <a:sym typeface="Symbol" charset="2"/>
              </a:rPr>
              <a:t>state-of-the-art       state of the art </a:t>
            </a:r>
            <a:r>
              <a:rPr lang="en-US" sz="1600" dirty="0">
                <a:latin typeface="Calibri"/>
                <a:cs typeface="Calibri"/>
                <a:sym typeface="Symbol" charset="2"/>
              </a:rPr>
              <a:t>?</a:t>
            </a:r>
          </a:p>
          <a:p>
            <a:pPr lvl="1"/>
            <a:r>
              <a:rPr lang="en-US" sz="1600" dirty="0">
                <a:latin typeface="Courier"/>
                <a:cs typeface="Courier"/>
                <a:sym typeface="Symbol" charset="2"/>
              </a:rPr>
              <a:t>Lowercase		  lower-case lowercase lower case </a:t>
            </a:r>
            <a:r>
              <a:rPr lang="en-US" sz="1600" dirty="0">
                <a:latin typeface="Calibri"/>
                <a:cs typeface="Calibri"/>
                <a:sym typeface="Symbol" charset="2"/>
              </a:rPr>
              <a:t>?</a:t>
            </a:r>
          </a:p>
          <a:p>
            <a:pPr lvl="1"/>
            <a:r>
              <a:rPr lang="en-US" sz="1600" dirty="0">
                <a:latin typeface="Courier"/>
                <a:cs typeface="Courier"/>
                <a:sym typeface="Symbol" charset="2"/>
              </a:rPr>
              <a:t>San Francisco	  </a:t>
            </a:r>
            <a:r>
              <a:rPr lang="en-US" sz="1800" dirty="0">
                <a:latin typeface="Calibri"/>
                <a:cs typeface="Calibri"/>
                <a:sym typeface="Symbol" charset="2"/>
              </a:rPr>
              <a:t>one token or two?</a:t>
            </a:r>
          </a:p>
          <a:p>
            <a:pPr lvl="1"/>
            <a:r>
              <a:rPr lang="en-US" sz="1600" dirty="0">
                <a:latin typeface="Calibri"/>
                <a:cs typeface="Calibri"/>
                <a:sym typeface="Symbol" charset="2"/>
              </a:rPr>
              <a:t>Acronyms: m.p.h., PhD.		</a:t>
            </a:r>
            <a:r>
              <a:rPr lang="en-US" sz="1600" dirty="0">
                <a:latin typeface="Courier"/>
                <a:cs typeface="Courier"/>
                <a:sym typeface="Symbol" charset="2"/>
              </a:rPr>
              <a:t>  </a:t>
            </a:r>
            <a:r>
              <a:rPr lang="en-US" sz="1600" dirty="0">
                <a:latin typeface="Calibri"/>
                <a:cs typeface="Calibri"/>
                <a:sym typeface="Symbol" charset="2"/>
              </a:rPr>
              <a:t>??</a:t>
            </a:r>
          </a:p>
          <a:p>
            <a:pPr eaLnBrk="1" hangingPunct="1"/>
            <a:r>
              <a:rPr lang="en-US" dirty="0"/>
              <a:t>French</a:t>
            </a:r>
          </a:p>
          <a:p>
            <a:pPr lvl="1" eaLnBrk="1" hangingPunct="1"/>
            <a:r>
              <a:rPr lang="en-US" b="1" i="1" dirty="0" err="1"/>
              <a:t>L'ensemble</a:t>
            </a:r>
            <a:r>
              <a:rPr lang="en-US" dirty="0"/>
              <a:t> </a:t>
            </a:r>
            <a:r>
              <a:rPr lang="en-US" dirty="0">
                <a:sym typeface="Symbol" charset="2"/>
              </a:rPr>
              <a:t> one token or two? </a:t>
            </a:r>
            <a:r>
              <a:rPr lang="en-US" b="1" i="1" dirty="0">
                <a:sym typeface="Symbol" charset="2"/>
              </a:rPr>
              <a:t>L </a:t>
            </a:r>
            <a:r>
              <a:rPr lang="en-US" dirty="0">
                <a:sym typeface="Symbol" charset="2"/>
              </a:rPr>
              <a:t>? </a:t>
            </a:r>
            <a:r>
              <a:rPr lang="en-US" b="1" i="1" dirty="0">
                <a:sym typeface="Symbol" charset="2"/>
              </a:rPr>
              <a:t>L’ </a:t>
            </a:r>
            <a:r>
              <a:rPr lang="en-US" dirty="0">
                <a:sym typeface="Symbol" charset="2"/>
              </a:rPr>
              <a:t>? </a:t>
            </a:r>
            <a:r>
              <a:rPr lang="en-US" b="1" i="1" dirty="0">
                <a:sym typeface="Symbol" charset="2"/>
              </a:rPr>
              <a:t>Le </a:t>
            </a:r>
            <a:r>
              <a:rPr lang="en-US" dirty="0">
                <a:sym typeface="Symbol" charset="2"/>
              </a:rPr>
              <a:t>?</a:t>
            </a:r>
          </a:p>
          <a:p>
            <a:pPr lvl="2" eaLnBrk="1" hangingPunct="1"/>
            <a:r>
              <a:rPr lang="fr-FR" dirty="0">
                <a:sym typeface="Symbol" charset="2"/>
              </a:rPr>
              <a:t>La - </a:t>
            </a:r>
            <a:r>
              <a:rPr lang="fr-FR" dirty="0" err="1">
                <a:sym typeface="Symbol" charset="2"/>
              </a:rPr>
              <a:t>feminine</a:t>
            </a:r>
            <a:r>
              <a:rPr lang="fr-FR" dirty="0">
                <a:sym typeface="Symbol" charset="2"/>
              </a:rPr>
              <a:t>, Le - masculine, L' - </a:t>
            </a:r>
            <a:r>
              <a:rPr lang="fr-FR" dirty="0" err="1">
                <a:sym typeface="Symbol" charset="2"/>
              </a:rPr>
              <a:t>starting</a:t>
            </a:r>
            <a:r>
              <a:rPr lang="fr-FR" dirty="0">
                <a:sym typeface="Symbol" charset="2"/>
              </a:rPr>
              <a:t> a </a:t>
            </a:r>
            <a:r>
              <a:rPr lang="fr-FR" dirty="0" err="1">
                <a:sym typeface="Symbol" charset="2"/>
              </a:rPr>
              <a:t>vowel</a:t>
            </a:r>
            <a:r>
              <a:rPr lang="fr-FR" dirty="0">
                <a:sym typeface="Symbol" charset="2"/>
              </a:rPr>
              <a:t>, Les - plural, Un - masculine a, Une - </a:t>
            </a:r>
            <a:r>
              <a:rPr lang="fr-FR" dirty="0" err="1">
                <a:sym typeface="Symbol" charset="2"/>
              </a:rPr>
              <a:t>feminine</a:t>
            </a:r>
            <a:r>
              <a:rPr lang="fr-FR" dirty="0">
                <a:sym typeface="Symbol" charset="2"/>
              </a:rPr>
              <a:t> a, Des - plural a </a:t>
            </a:r>
            <a:endParaRPr lang="en-US" dirty="0">
              <a:sym typeface="Symbol" charset="2"/>
            </a:endParaRPr>
          </a:p>
          <a:p>
            <a:pPr eaLnBrk="1" hangingPunct="1"/>
            <a:r>
              <a:rPr lang="en-US" dirty="0">
                <a:sym typeface="Symbol" charset="2"/>
              </a:rPr>
              <a:t>German noun compounds are not segmented</a:t>
            </a:r>
          </a:p>
          <a:p>
            <a:pPr lvl="1" eaLnBrk="1" hangingPunct="1"/>
            <a:r>
              <a:rPr lang="en-US" b="1" i="1" dirty="0" err="1">
                <a:sym typeface="Symbol" charset="2"/>
              </a:rPr>
              <a:t>Lebensversicherungsgesellschaftsangestellter</a:t>
            </a:r>
            <a:endParaRPr lang="en-US" b="1" i="1" dirty="0">
              <a:sym typeface="Symbol" charset="2"/>
            </a:endParaRPr>
          </a:p>
          <a:p>
            <a:pPr lvl="1" eaLnBrk="1" hangingPunct="1"/>
            <a:r>
              <a:rPr lang="en-US" dirty="0">
                <a:sym typeface="Symbol" charset="2"/>
              </a:rPr>
              <a:t>‘life insurance company employee’</a:t>
            </a:r>
          </a:p>
          <a:p>
            <a:pPr lvl="1" eaLnBrk="1" hangingPunct="1"/>
            <a:r>
              <a:rPr lang="en-US" dirty="0">
                <a:sym typeface="Symbol" charset="2"/>
              </a:rPr>
              <a:t>German information retrieval needs </a:t>
            </a:r>
            <a:r>
              <a:rPr lang="en-US" b="1" dirty="0">
                <a:sym typeface="Symbol" charset="2"/>
              </a:rPr>
              <a:t>compound splitter</a:t>
            </a:r>
            <a:endParaRPr lang="en-US" dirty="0">
              <a:sym typeface="Symbol" charset="2"/>
            </a:endParaRPr>
          </a:p>
          <a:p>
            <a:endParaRPr lang="en-IN" dirty="0"/>
          </a:p>
          <a:p>
            <a:pPr lvl="1"/>
            <a:endParaRPr lang="en-US" dirty="0"/>
          </a:p>
        </p:txBody>
      </p:sp>
    </p:spTree>
    <p:extLst>
      <p:ext uri="{BB962C8B-B14F-4D97-AF65-F5344CB8AC3E}">
        <p14:creationId xmlns:p14="http://schemas.microsoft.com/office/powerpoint/2010/main" val="2149430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Tokenization: Language issues</a:t>
            </a:r>
            <a:endParaRPr lang="en-US" dirty="0"/>
          </a:p>
        </p:txBody>
      </p:sp>
      <p:sp>
        <p:nvSpPr>
          <p:cNvPr id="4" name="Rectangle 3"/>
          <p:cNvSpPr>
            <a:spLocks noGrp="1" noChangeArrowheads="1"/>
          </p:cNvSpPr>
          <p:nvPr/>
        </p:nvSpPr>
        <p:spPr bwMode="auto">
          <a:xfrm>
            <a:off x="1257300" y="1257300"/>
            <a:ext cx="8610600" cy="4343400"/>
          </a:xfrm>
          <a:prstGeom prst="rect">
            <a:avLst/>
          </a:prstGeom>
          <a:noFill/>
          <a:ln>
            <a:noFill/>
          </a:ln>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9525">
                <a:solidFill>
                  <a:srgbClr val="000000"/>
                </a:solidFill>
                <a:miter lim="800000"/>
                <a:headEnd/>
                <a:tailEnd/>
              </a14:hiddenLine>
            </a:ext>
            <a:ext uri="{FAA26D3D-D897-4be2-8F04-BA451C77F1D7}">
              <ma14:placeholderFlag xmlns="" xmlns:ma14="http://schemas.microsoft.com/office/mac/drawingml/2011/main" xmlns:lc="http://schemas.openxmlformats.org/drawingml/2006/lockedCanvas"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eaLnBrk="1" hangingPunct="1"/>
            <a:r>
              <a:rPr lang="en-US" dirty="0">
                <a:sym typeface="Symbol" charset="2"/>
              </a:rPr>
              <a:t>Chinese and Japanese no spaces between words:</a:t>
            </a:r>
          </a:p>
          <a:p>
            <a:pPr lvl="1" eaLnBrk="1" hangingPunct="1"/>
            <a:r>
              <a:rPr lang="ja-JP" altLang="en-US" dirty="0">
                <a:latin typeface="华文黑体"/>
                <a:ea typeface="华文黑体"/>
                <a:cs typeface="华文黑体"/>
                <a:sym typeface="Symbol" charset="2"/>
              </a:rPr>
              <a:t>莎拉波娃现在居住在美国东南部的佛罗里达。</a:t>
            </a:r>
            <a:endParaRPr lang="en-US" altLang="ja-JP" dirty="0">
              <a:latin typeface="华文黑体"/>
              <a:ea typeface="华文黑体"/>
              <a:cs typeface="华文黑体"/>
              <a:sym typeface="Symbol" charset="2"/>
            </a:endParaRPr>
          </a:p>
          <a:p>
            <a:pPr lvl="1" eaLnBrk="1" hangingPunct="1"/>
            <a:r>
              <a:rPr lang="ja-JP" altLang="en-US" dirty="0">
                <a:latin typeface="华文黑体"/>
                <a:ea typeface="华文黑体"/>
                <a:cs typeface="华文黑体"/>
                <a:sym typeface="Symbol" charset="2"/>
              </a:rPr>
              <a:t>莎拉波娃</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现在</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居住</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在</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美国</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东南部</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的</a:t>
            </a:r>
            <a:r>
              <a:rPr lang="en-US" altLang="ja-JP" dirty="0">
                <a:latin typeface="华文黑体"/>
                <a:ea typeface="华文黑体"/>
                <a:cs typeface="华文黑体"/>
                <a:sym typeface="Symbol" charset="2"/>
              </a:rPr>
              <a:t>    </a:t>
            </a:r>
            <a:r>
              <a:rPr lang="ja-JP" altLang="en-US" dirty="0">
                <a:latin typeface="华文黑体"/>
                <a:ea typeface="华文黑体"/>
                <a:cs typeface="华文黑体"/>
                <a:sym typeface="Symbol" charset="2"/>
              </a:rPr>
              <a:t>佛罗里达</a:t>
            </a:r>
          </a:p>
          <a:p>
            <a:pPr lvl="1" eaLnBrk="1" hangingPunct="1"/>
            <a:r>
              <a:rPr lang="en-US" dirty="0" err="1">
                <a:solidFill>
                  <a:srgbClr val="595959"/>
                </a:solidFill>
                <a:sym typeface="Symbol" charset="2"/>
              </a:rPr>
              <a:t>Sharapova</a:t>
            </a:r>
            <a:r>
              <a:rPr lang="en-US" dirty="0">
                <a:solidFill>
                  <a:srgbClr val="595959"/>
                </a:solidFill>
                <a:sym typeface="Symbol" charset="2"/>
              </a:rPr>
              <a:t> now     lives in       US       southeastern     Florida</a:t>
            </a:r>
          </a:p>
          <a:p>
            <a:pPr eaLnBrk="1" hangingPunct="1"/>
            <a:r>
              <a:rPr lang="en-US" dirty="0">
                <a:sym typeface="Symbol" charset="2"/>
              </a:rPr>
              <a:t>Further complicated in Japanese, with multiple alphabets intermingled</a:t>
            </a:r>
          </a:p>
          <a:p>
            <a:pPr lvl="1" eaLnBrk="1" hangingPunct="1"/>
            <a:r>
              <a:rPr lang="en-US" dirty="0">
                <a:sym typeface="Symbol" charset="2"/>
              </a:rPr>
              <a:t>Dates/amounts in multiple formats</a:t>
            </a:r>
          </a:p>
        </p:txBody>
      </p:sp>
      <p:sp>
        <p:nvSpPr>
          <p:cNvPr id="5" name="Text Box 1037"/>
          <p:cNvSpPr txBox="1">
            <a:spLocks noChangeArrowheads="1"/>
          </p:cNvSpPr>
          <p:nvPr/>
        </p:nvSpPr>
        <p:spPr bwMode="auto">
          <a:xfrm>
            <a:off x="419100" y="4095750"/>
            <a:ext cx="8307275" cy="415498"/>
          </a:xfrm>
          <a:prstGeom prst="rect">
            <a:avLst/>
          </a:prstGeom>
          <a:noFill/>
          <a:ln w="9525">
            <a:noFill/>
            <a:miter lim="800000"/>
            <a:headEnd/>
            <a:tailEnd/>
          </a:ln>
        </p:spPr>
        <p:txBody>
          <a:bodyPr wrap="none">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pPr lvl="1">
              <a:spcBef>
                <a:spcPct val="20000"/>
              </a:spcBef>
              <a:buClr>
                <a:schemeClr val="tx1"/>
              </a:buClr>
              <a:buSzPct val="55000"/>
              <a:buFont typeface="Wingdings" charset="2"/>
              <a:buNone/>
            </a:pPr>
            <a:r>
              <a:rPr lang="ja-JP" altLang="en-US" sz="2100" b="1" i="1" dirty="0"/>
              <a:t>フォーチュン</a:t>
            </a:r>
            <a:r>
              <a:rPr lang="en-US" altLang="ja-JP" sz="2100" b="1" i="1" dirty="0"/>
              <a:t>500</a:t>
            </a:r>
            <a:r>
              <a:rPr lang="ja-JP" altLang="en-US" sz="2100" b="1" i="1" dirty="0"/>
              <a:t>社は情報不足のため時間あた</a:t>
            </a:r>
            <a:r>
              <a:rPr lang="en-US" altLang="ja-JP" sz="2100" b="1" i="1" dirty="0"/>
              <a:t>$500K(</a:t>
            </a:r>
            <a:r>
              <a:rPr lang="ja-JP" altLang="en-US" sz="2100" b="1" i="1" dirty="0"/>
              <a:t>約</a:t>
            </a:r>
            <a:r>
              <a:rPr lang="en-US" altLang="ja-JP" sz="2100" b="1" i="1" dirty="0"/>
              <a:t>6,000</a:t>
            </a:r>
            <a:r>
              <a:rPr lang="ja-JP" altLang="en-US" sz="2100" b="1" i="1" dirty="0"/>
              <a:t>万円</a:t>
            </a:r>
            <a:r>
              <a:rPr lang="en-US" altLang="ja-JP" sz="2100" b="1" i="1" dirty="0"/>
              <a:t>)</a:t>
            </a:r>
            <a:endParaRPr lang="en-US" sz="2100" b="1" i="1" dirty="0"/>
          </a:p>
        </p:txBody>
      </p:sp>
      <p:grpSp>
        <p:nvGrpSpPr>
          <p:cNvPr id="6" name="Group 5"/>
          <p:cNvGrpSpPr>
            <a:grpSpLocks/>
          </p:cNvGrpSpPr>
          <p:nvPr/>
        </p:nvGrpSpPr>
        <p:grpSpPr bwMode="auto">
          <a:xfrm>
            <a:off x="1714501" y="4686300"/>
            <a:ext cx="5435601" cy="400050"/>
            <a:chOff x="422" y="3792"/>
            <a:chExt cx="3424" cy="336"/>
          </a:xfrm>
        </p:grpSpPr>
        <p:sp>
          <p:nvSpPr>
            <p:cNvPr id="16" name="Text Box 1028"/>
            <p:cNvSpPr txBox="1">
              <a:spLocks noChangeArrowheads="1"/>
            </p:cNvSpPr>
            <p:nvPr/>
          </p:nvSpPr>
          <p:spPr bwMode="auto">
            <a:xfrm>
              <a:off x="422" y="3792"/>
              <a:ext cx="722" cy="336"/>
            </a:xfrm>
            <a:prstGeom prst="rect">
              <a:avLst/>
            </a:prstGeom>
            <a:solidFill>
              <a:schemeClr val="accent1">
                <a:alpha val="50195"/>
              </a:schemeClr>
            </a:solidFill>
            <a:ln w="9525">
              <a:noFill/>
              <a:miter lim="800000"/>
              <a:headEnd/>
              <a:tailEnd/>
            </a:ln>
          </p:spPr>
          <p:txBody>
            <a:bodyPr wrap="none">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r>
                <a:rPr lang="en-US" sz="2000" dirty="0">
                  <a:latin typeface="Calibri"/>
                  <a:cs typeface="Calibri"/>
                </a:rPr>
                <a:t>Katakana</a:t>
              </a:r>
            </a:p>
          </p:txBody>
        </p:sp>
        <p:sp>
          <p:nvSpPr>
            <p:cNvPr id="17" name="Text Box 1029"/>
            <p:cNvSpPr txBox="1">
              <a:spLocks noChangeArrowheads="1"/>
            </p:cNvSpPr>
            <p:nvPr/>
          </p:nvSpPr>
          <p:spPr bwMode="auto">
            <a:xfrm>
              <a:off x="1499" y="3792"/>
              <a:ext cx="703" cy="336"/>
            </a:xfrm>
            <a:prstGeom prst="rect">
              <a:avLst/>
            </a:prstGeom>
            <a:solidFill>
              <a:schemeClr val="accent1">
                <a:alpha val="50195"/>
              </a:schemeClr>
            </a:solidFill>
            <a:ln w="9525">
              <a:noFill/>
              <a:miter lim="800000"/>
              <a:headEnd/>
              <a:tailEnd/>
            </a:ln>
          </p:spPr>
          <p:txBody>
            <a:bodyPr wrap="none">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r>
                <a:rPr lang="en-US" sz="2000">
                  <a:latin typeface="Calibri"/>
                  <a:cs typeface="Calibri"/>
                </a:rPr>
                <a:t>Hiragana</a:t>
              </a:r>
            </a:p>
          </p:txBody>
        </p:sp>
        <p:sp>
          <p:nvSpPr>
            <p:cNvPr id="18" name="Text Box 1030"/>
            <p:cNvSpPr txBox="1">
              <a:spLocks noChangeArrowheads="1"/>
            </p:cNvSpPr>
            <p:nvPr/>
          </p:nvSpPr>
          <p:spPr bwMode="auto">
            <a:xfrm>
              <a:off x="2603" y="3792"/>
              <a:ext cx="438" cy="336"/>
            </a:xfrm>
            <a:prstGeom prst="rect">
              <a:avLst/>
            </a:prstGeom>
            <a:solidFill>
              <a:schemeClr val="accent1">
                <a:alpha val="50195"/>
              </a:schemeClr>
            </a:solidFill>
            <a:ln w="9525">
              <a:noFill/>
              <a:miter lim="800000"/>
              <a:headEnd/>
              <a:tailEnd/>
            </a:ln>
          </p:spPr>
          <p:txBody>
            <a:bodyPr wrap="none">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r>
                <a:rPr lang="en-US" sz="2000">
                  <a:latin typeface="Calibri"/>
                  <a:cs typeface="Calibri"/>
                </a:rPr>
                <a:t>Kanji</a:t>
              </a:r>
            </a:p>
          </p:txBody>
        </p:sp>
        <p:sp>
          <p:nvSpPr>
            <p:cNvPr id="19" name="Text Box 1031"/>
            <p:cNvSpPr txBox="1">
              <a:spLocks noChangeArrowheads="1"/>
            </p:cNvSpPr>
            <p:nvPr/>
          </p:nvSpPr>
          <p:spPr bwMode="auto">
            <a:xfrm>
              <a:off x="3275" y="3792"/>
              <a:ext cx="571" cy="336"/>
            </a:xfrm>
            <a:prstGeom prst="rect">
              <a:avLst/>
            </a:prstGeom>
            <a:solidFill>
              <a:schemeClr val="accent1">
                <a:alpha val="50195"/>
              </a:schemeClr>
            </a:solidFill>
            <a:ln w="9525">
              <a:noFill/>
              <a:miter lim="800000"/>
              <a:headEnd/>
              <a:tailEnd/>
            </a:ln>
          </p:spPr>
          <p:txBody>
            <a:bodyPr wrap="none">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r>
                <a:rPr lang="en-US" sz="2000" dirty="0" err="1">
                  <a:latin typeface="Calibri"/>
                  <a:cs typeface="Calibri"/>
                </a:rPr>
                <a:t>Romaji</a:t>
              </a:r>
              <a:endParaRPr lang="en-US" sz="2000" dirty="0">
                <a:latin typeface="Calibri"/>
                <a:cs typeface="Calibri"/>
              </a:endParaRPr>
            </a:p>
          </p:txBody>
        </p:sp>
      </p:grpSp>
      <p:sp>
        <p:nvSpPr>
          <p:cNvPr id="7" name="Rectangle 6"/>
          <p:cNvSpPr>
            <a:spLocks noChangeArrowheads="1"/>
          </p:cNvSpPr>
          <p:nvPr/>
        </p:nvSpPr>
        <p:spPr bwMode="auto">
          <a:xfrm>
            <a:off x="952500" y="4057205"/>
            <a:ext cx="1447800" cy="461665"/>
          </a:xfrm>
          <a:prstGeom prst="rect">
            <a:avLst/>
          </a:prstGeom>
          <a:noFill/>
          <a:ln w="9525">
            <a:solidFill>
              <a:schemeClr val="tx1"/>
            </a:solidFill>
            <a:miter lim="800000"/>
            <a:headEnd/>
            <a:tailEnd/>
          </a:ln>
        </p:spPr>
        <p:txBody>
          <a:bodyPr anchor="ctr">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endParaRPr lang="en-US"/>
          </a:p>
        </p:txBody>
      </p:sp>
      <p:cxnSp>
        <p:nvCxnSpPr>
          <p:cNvPr id="8" name="AutoShape 1041"/>
          <p:cNvCxnSpPr>
            <a:cxnSpLocks noChangeShapeType="1"/>
            <a:stCxn id="16" idx="0"/>
            <a:endCxn id="7" idx="2"/>
          </p:cNvCxnSpPr>
          <p:nvPr/>
        </p:nvCxnSpPr>
        <p:spPr bwMode="auto">
          <a:xfrm flipH="1" flipV="1">
            <a:off x="1676400" y="4518870"/>
            <a:ext cx="611189" cy="167430"/>
          </a:xfrm>
          <a:prstGeom prst="straightConnector1">
            <a:avLst/>
          </a:prstGeom>
          <a:noFill/>
          <a:ln w="9525">
            <a:solidFill>
              <a:schemeClr val="tx1"/>
            </a:solidFill>
            <a:miter lim="800000"/>
            <a:headEnd/>
            <a:tailEnd type="triangle" w="med" len="med"/>
          </a:ln>
        </p:spPr>
      </p:cxnSp>
      <p:sp>
        <p:nvSpPr>
          <p:cNvPr id="9" name="Rectangle 8"/>
          <p:cNvSpPr>
            <a:spLocks noChangeArrowheads="1"/>
          </p:cNvSpPr>
          <p:nvPr/>
        </p:nvSpPr>
        <p:spPr bwMode="auto">
          <a:xfrm>
            <a:off x="4762500" y="4057205"/>
            <a:ext cx="533400" cy="461665"/>
          </a:xfrm>
          <a:prstGeom prst="rect">
            <a:avLst/>
          </a:prstGeom>
          <a:noFill/>
          <a:ln w="9525">
            <a:solidFill>
              <a:schemeClr val="tx1"/>
            </a:solidFill>
            <a:miter lim="800000"/>
            <a:headEnd/>
            <a:tailEnd/>
          </a:ln>
        </p:spPr>
        <p:txBody>
          <a:bodyPr anchor="ctr">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endParaRPr lang="en-US"/>
          </a:p>
        </p:txBody>
      </p:sp>
      <p:cxnSp>
        <p:nvCxnSpPr>
          <p:cNvPr id="10" name="AutoShape 1045"/>
          <p:cNvCxnSpPr>
            <a:cxnSpLocks noChangeShapeType="1"/>
            <a:stCxn id="17" idx="0"/>
            <a:endCxn id="9" idx="2"/>
          </p:cNvCxnSpPr>
          <p:nvPr/>
        </p:nvCxnSpPr>
        <p:spPr bwMode="auto">
          <a:xfrm flipV="1">
            <a:off x="3982246" y="4518870"/>
            <a:ext cx="1046954" cy="167430"/>
          </a:xfrm>
          <a:prstGeom prst="straightConnector1">
            <a:avLst/>
          </a:prstGeom>
          <a:noFill/>
          <a:ln w="9525">
            <a:solidFill>
              <a:schemeClr val="tx1"/>
            </a:solidFill>
            <a:miter lim="800000"/>
            <a:headEnd/>
            <a:tailEnd type="triangle" w="med" len="med"/>
          </a:ln>
        </p:spPr>
      </p:cxnSp>
      <p:sp>
        <p:nvSpPr>
          <p:cNvPr id="11" name="Rectangle 10"/>
          <p:cNvSpPr>
            <a:spLocks noChangeArrowheads="1"/>
          </p:cNvSpPr>
          <p:nvPr/>
        </p:nvSpPr>
        <p:spPr bwMode="auto">
          <a:xfrm>
            <a:off x="5295900" y="4057205"/>
            <a:ext cx="533400" cy="461665"/>
          </a:xfrm>
          <a:prstGeom prst="rect">
            <a:avLst/>
          </a:prstGeom>
          <a:noFill/>
          <a:ln w="9525">
            <a:solidFill>
              <a:schemeClr val="tx1"/>
            </a:solidFill>
            <a:miter lim="800000"/>
            <a:headEnd/>
            <a:tailEnd/>
          </a:ln>
        </p:spPr>
        <p:txBody>
          <a:bodyPr wrap="square" anchor="ctr">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endParaRPr lang="en-US"/>
          </a:p>
        </p:txBody>
      </p:sp>
      <p:cxnSp>
        <p:nvCxnSpPr>
          <p:cNvPr id="12" name="AutoShape 1047"/>
          <p:cNvCxnSpPr>
            <a:cxnSpLocks noChangeShapeType="1"/>
            <a:stCxn id="18" idx="0"/>
            <a:endCxn id="11" idx="2"/>
          </p:cNvCxnSpPr>
          <p:nvPr/>
        </p:nvCxnSpPr>
        <p:spPr bwMode="auto">
          <a:xfrm flipV="1">
            <a:off x="5524502" y="4518870"/>
            <a:ext cx="38098" cy="167430"/>
          </a:xfrm>
          <a:prstGeom prst="straightConnector1">
            <a:avLst/>
          </a:prstGeom>
          <a:noFill/>
          <a:ln w="9525">
            <a:solidFill>
              <a:schemeClr val="tx1"/>
            </a:solidFill>
            <a:miter lim="800000"/>
            <a:headEnd/>
            <a:tailEnd type="triangle" w="med" len="med"/>
          </a:ln>
        </p:spPr>
      </p:cxnSp>
      <p:sp>
        <p:nvSpPr>
          <p:cNvPr id="13" name="Rectangle 12"/>
          <p:cNvSpPr>
            <a:spLocks noChangeArrowheads="1"/>
          </p:cNvSpPr>
          <p:nvPr/>
        </p:nvSpPr>
        <p:spPr bwMode="auto">
          <a:xfrm>
            <a:off x="6972300" y="4026843"/>
            <a:ext cx="228600" cy="461665"/>
          </a:xfrm>
          <a:prstGeom prst="rect">
            <a:avLst/>
          </a:prstGeom>
          <a:noFill/>
          <a:ln w="9525">
            <a:solidFill>
              <a:schemeClr val="tx1"/>
            </a:solidFill>
            <a:miter lim="800000"/>
            <a:headEnd/>
            <a:tailEnd/>
          </a:ln>
        </p:spPr>
        <p:txBody>
          <a:bodyPr anchor="ctr">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endParaRPr lang="en-US"/>
          </a:p>
        </p:txBody>
      </p:sp>
      <p:cxnSp>
        <p:nvCxnSpPr>
          <p:cNvPr id="14" name="AutoShape 1049"/>
          <p:cNvCxnSpPr>
            <a:cxnSpLocks noChangeShapeType="1"/>
            <a:stCxn id="19" idx="0"/>
            <a:endCxn id="13" idx="2"/>
          </p:cNvCxnSpPr>
          <p:nvPr/>
        </p:nvCxnSpPr>
        <p:spPr bwMode="auto">
          <a:xfrm flipV="1">
            <a:off x="6696871" y="4488508"/>
            <a:ext cx="389729" cy="197792"/>
          </a:xfrm>
          <a:prstGeom prst="straightConnector1">
            <a:avLst/>
          </a:prstGeom>
          <a:noFill/>
          <a:ln w="9525">
            <a:solidFill>
              <a:schemeClr val="tx1"/>
            </a:solidFill>
            <a:miter lim="800000"/>
            <a:headEnd/>
            <a:tailEnd type="triangle" w="med" len="med"/>
          </a:ln>
        </p:spPr>
      </p:cxnSp>
      <p:sp>
        <p:nvSpPr>
          <p:cNvPr id="15" name="Text Box 1051"/>
          <p:cNvSpPr txBox="1">
            <a:spLocks noChangeArrowheads="1"/>
          </p:cNvSpPr>
          <p:nvPr/>
        </p:nvSpPr>
        <p:spPr bwMode="auto">
          <a:xfrm>
            <a:off x="1100138" y="5086350"/>
            <a:ext cx="6202089" cy="461665"/>
          </a:xfrm>
          <a:prstGeom prst="rect">
            <a:avLst/>
          </a:prstGeom>
          <a:noFill/>
          <a:ln w="9525">
            <a:noFill/>
            <a:miter lim="800000"/>
            <a:headEnd/>
            <a:tailEnd/>
          </a:ln>
        </p:spPr>
        <p:txBody>
          <a:bodyPr wrap="none">
            <a:prstTxWarp prst="textNoShape">
              <a:avLst/>
            </a:prstTxWarp>
            <a:spAutoFit/>
          </a:bodyPr>
          <a:ls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a:lstStyle>
          <a:p>
            <a:r>
              <a:rPr lang="en-US" dirty="0">
                <a:latin typeface="Calibri"/>
                <a:cs typeface="Calibri"/>
              </a:rPr>
              <a:t>End-user can express query entirely in hiragana!</a:t>
            </a:r>
          </a:p>
        </p:txBody>
      </p:sp>
    </p:spTree>
    <p:extLst>
      <p:ext uri="{BB962C8B-B14F-4D97-AF65-F5344CB8AC3E}">
        <p14:creationId xmlns:p14="http://schemas.microsoft.com/office/powerpoint/2010/main" val="2072195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Word Tokenization in Chinese</a:t>
            </a:r>
          </a:p>
        </p:txBody>
      </p:sp>
      <p:sp>
        <p:nvSpPr>
          <p:cNvPr id="29699" name="Rectangle 3"/>
          <p:cNvSpPr>
            <a:spLocks noGrp="1" noChangeArrowheads="1"/>
          </p:cNvSpPr>
          <p:nvPr>
            <p:ph idx="1"/>
          </p:nvPr>
        </p:nvSpPr>
        <p:spPr/>
        <p:txBody>
          <a:bodyPr/>
          <a:lstStyle/>
          <a:p>
            <a:r>
              <a:rPr lang="en-US" dirty="0"/>
              <a:t>Also called </a:t>
            </a:r>
            <a:r>
              <a:rPr lang="en-US" b="1" dirty="0"/>
              <a:t>Word Segmentation</a:t>
            </a:r>
          </a:p>
          <a:p>
            <a:r>
              <a:rPr lang="en-US" dirty="0"/>
              <a:t>Chinese words are composed of characters</a:t>
            </a:r>
          </a:p>
          <a:p>
            <a:pPr lvl="1"/>
            <a:r>
              <a:rPr lang="en-US" dirty="0"/>
              <a:t>Characters are generally 1 syllable and 1 morpheme.</a:t>
            </a:r>
          </a:p>
          <a:p>
            <a:pPr lvl="1"/>
            <a:r>
              <a:rPr lang="en-US" dirty="0"/>
              <a:t>Average word is 2.4 characters long.</a:t>
            </a:r>
          </a:p>
          <a:p>
            <a:r>
              <a:rPr lang="en-US" dirty="0"/>
              <a:t>Standard baseline segmentation algorithm: </a:t>
            </a:r>
          </a:p>
          <a:p>
            <a:pPr lvl="1"/>
            <a:r>
              <a:rPr lang="en-US" dirty="0"/>
              <a:t>Maximum Matching  (also called Greedy)</a:t>
            </a:r>
          </a:p>
        </p:txBody>
      </p:sp>
    </p:spTree>
    <p:extLst>
      <p:ext uri="{BB962C8B-B14F-4D97-AF65-F5344CB8AC3E}">
        <p14:creationId xmlns:p14="http://schemas.microsoft.com/office/powerpoint/2010/main" val="1125199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90500" y="152400"/>
            <a:ext cx="9448800" cy="762431"/>
          </a:xfrm>
        </p:spPr>
        <p:txBody>
          <a:bodyPr/>
          <a:lstStyle/>
          <a:p>
            <a:r>
              <a:rPr lang="en-US" dirty="0"/>
              <a:t>Max-match segmentation illustration</a:t>
            </a:r>
          </a:p>
        </p:txBody>
      </p:sp>
      <p:sp>
        <p:nvSpPr>
          <p:cNvPr id="33795" name="Rectangle 3"/>
          <p:cNvSpPr>
            <a:spLocks noGrp="1" noChangeArrowheads="1"/>
          </p:cNvSpPr>
          <p:nvPr>
            <p:ph idx="1"/>
          </p:nvPr>
        </p:nvSpPr>
        <p:spPr/>
        <p:txBody>
          <a:bodyPr/>
          <a:lstStyle/>
          <a:p>
            <a:r>
              <a:rPr lang="en-US" sz="3150" dirty="0" err="1"/>
              <a:t>Thecatinthehat</a:t>
            </a:r>
            <a:endParaRPr lang="en-US" sz="3150" dirty="0"/>
          </a:p>
          <a:p>
            <a:r>
              <a:rPr lang="en-US" sz="3150" dirty="0" err="1"/>
              <a:t>Thetabledownthere</a:t>
            </a:r>
            <a:endParaRPr lang="en-US" sz="3150" dirty="0"/>
          </a:p>
          <a:p>
            <a:endParaRPr lang="en-US" dirty="0"/>
          </a:p>
          <a:p>
            <a:r>
              <a:rPr lang="en-US" dirty="0"/>
              <a:t>Doesn’t generally work in English!</a:t>
            </a:r>
          </a:p>
          <a:p>
            <a:endParaRPr lang="en-US" dirty="0"/>
          </a:p>
          <a:p>
            <a:r>
              <a:rPr lang="en-US" dirty="0"/>
              <a:t>But works astonishingly well in Chinese</a:t>
            </a:r>
          </a:p>
          <a:p>
            <a:pPr lvl="1" eaLnBrk="1" hangingPunct="1"/>
            <a:r>
              <a:rPr lang="ja-JP" altLang="en-US" dirty="0">
                <a:cs typeface="ＭＳ Ｐゴシック" charset="-128"/>
                <a:sym typeface="Symbol" charset="2"/>
              </a:rPr>
              <a:t>莎拉波娃现在居住在美国东南部的佛罗里达。</a:t>
            </a:r>
            <a:endParaRPr lang="en-US" altLang="ja-JP" dirty="0">
              <a:cs typeface="ＭＳ Ｐゴシック" charset="-128"/>
              <a:sym typeface="Symbol" charset="2"/>
            </a:endParaRPr>
          </a:p>
          <a:p>
            <a:pPr lvl="1" eaLnBrk="1" hangingPunct="1"/>
            <a:r>
              <a:rPr lang="ja-JP" altLang="en-US" dirty="0">
                <a:cs typeface="ＭＳ Ｐゴシック" charset="-128"/>
                <a:sym typeface="Symbol" charset="2"/>
              </a:rPr>
              <a:t>莎拉波娃</a:t>
            </a:r>
            <a:r>
              <a:rPr lang="en-US" altLang="ja-JP" dirty="0">
                <a:cs typeface="ＭＳ Ｐゴシック" charset="-128"/>
                <a:sym typeface="Symbol" charset="2"/>
              </a:rPr>
              <a:t>  </a:t>
            </a:r>
            <a:r>
              <a:rPr lang="ja-JP" altLang="en-US" dirty="0">
                <a:cs typeface="ＭＳ Ｐゴシック" charset="-128"/>
                <a:sym typeface="Symbol" charset="2"/>
              </a:rPr>
              <a:t>现在</a:t>
            </a:r>
            <a:r>
              <a:rPr lang="en-US" altLang="ja-JP" dirty="0">
                <a:cs typeface="ＭＳ Ｐゴシック" charset="-128"/>
                <a:sym typeface="Symbol" charset="2"/>
              </a:rPr>
              <a:t>   </a:t>
            </a:r>
            <a:r>
              <a:rPr lang="ja-JP" altLang="en-US" dirty="0">
                <a:cs typeface="ＭＳ Ｐゴシック" charset="-128"/>
                <a:sym typeface="Symbol" charset="2"/>
              </a:rPr>
              <a:t>居住</a:t>
            </a:r>
            <a:r>
              <a:rPr lang="en-US" altLang="ja-JP" dirty="0">
                <a:cs typeface="ＭＳ Ｐゴシック" charset="-128"/>
                <a:sym typeface="Symbol" charset="2"/>
              </a:rPr>
              <a:t>   </a:t>
            </a:r>
            <a:r>
              <a:rPr lang="ja-JP" altLang="en-US" dirty="0">
                <a:cs typeface="ＭＳ Ｐゴシック" charset="-128"/>
                <a:sym typeface="Symbol" charset="2"/>
              </a:rPr>
              <a:t>在</a:t>
            </a:r>
            <a:r>
              <a:rPr lang="en-US" altLang="ja-JP" dirty="0">
                <a:cs typeface="ＭＳ Ｐゴシック" charset="-128"/>
                <a:sym typeface="Symbol" charset="2"/>
              </a:rPr>
              <a:t>  </a:t>
            </a:r>
            <a:r>
              <a:rPr lang="ja-JP" altLang="en-US" dirty="0">
                <a:cs typeface="ＭＳ Ｐゴシック" charset="-128"/>
                <a:sym typeface="Symbol" charset="2"/>
              </a:rPr>
              <a:t>美国</a:t>
            </a:r>
            <a:r>
              <a:rPr lang="en-US" altLang="ja-JP" dirty="0">
                <a:cs typeface="ＭＳ Ｐゴシック" charset="-128"/>
                <a:sym typeface="Symbol" charset="2"/>
              </a:rPr>
              <a:t>   </a:t>
            </a:r>
            <a:r>
              <a:rPr lang="ja-JP" altLang="en-US" dirty="0">
                <a:cs typeface="ＭＳ Ｐゴシック" charset="-128"/>
                <a:sym typeface="Symbol" charset="2"/>
              </a:rPr>
              <a:t>东南部</a:t>
            </a:r>
            <a:r>
              <a:rPr lang="en-US" altLang="ja-JP" dirty="0">
                <a:cs typeface="ＭＳ Ｐゴシック" charset="-128"/>
                <a:sym typeface="Symbol" charset="2"/>
              </a:rPr>
              <a:t>     </a:t>
            </a:r>
            <a:r>
              <a:rPr lang="ja-JP" altLang="en-US" dirty="0">
                <a:cs typeface="ＭＳ Ｐゴシック" charset="-128"/>
                <a:sym typeface="Symbol" charset="2"/>
              </a:rPr>
              <a:t>的</a:t>
            </a:r>
            <a:r>
              <a:rPr lang="en-US" altLang="ja-JP" dirty="0">
                <a:cs typeface="ＭＳ Ｐゴシック" charset="-128"/>
                <a:sym typeface="Symbol" charset="2"/>
              </a:rPr>
              <a:t>  </a:t>
            </a:r>
            <a:r>
              <a:rPr lang="ja-JP" altLang="en-US" dirty="0">
                <a:cs typeface="ＭＳ Ｐゴシック" charset="-128"/>
                <a:sym typeface="Symbol" charset="2"/>
              </a:rPr>
              <a:t>佛罗里达</a:t>
            </a:r>
            <a:endParaRPr lang="en-US" altLang="ja-JP" sz="2700" dirty="0"/>
          </a:p>
          <a:p>
            <a:r>
              <a:rPr lang="en-US" dirty="0"/>
              <a:t>Modern probabilistic segmentation algorithms even better</a:t>
            </a:r>
          </a:p>
        </p:txBody>
      </p:sp>
      <p:sp>
        <p:nvSpPr>
          <p:cNvPr id="2" name="TextBox 1"/>
          <p:cNvSpPr txBox="1"/>
          <p:nvPr/>
        </p:nvSpPr>
        <p:spPr>
          <a:xfrm>
            <a:off x="5572125" y="1657350"/>
            <a:ext cx="3771900" cy="438582"/>
          </a:xfrm>
          <a:prstGeom prst="rect">
            <a:avLst/>
          </a:prstGeom>
          <a:noFill/>
        </p:spPr>
        <p:txBody>
          <a:bodyPr wrap="square" rtlCol="0">
            <a:spAutoFit/>
          </a:bodyPr>
          <a:lstStyle/>
          <a:p>
            <a:pPr marL="0" lvl="1"/>
            <a:r>
              <a:rPr lang="en-US" sz="2250" dirty="0"/>
              <a:t>the table down there</a:t>
            </a:r>
          </a:p>
        </p:txBody>
      </p:sp>
      <p:sp>
        <p:nvSpPr>
          <p:cNvPr id="5" name="TextBox 4"/>
          <p:cNvSpPr txBox="1"/>
          <p:nvPr/>
        </p:nvSpPr>
        <p:spPr>
          <a:xfrm>
            <a:off x="5572125" y="1143000"/>
            <a:ext cx="3343275" cy="438582"/>
          </a:xfrm>
          <a:prstGeom prst="rect">
            <a:avLst/>
          </a:prstGeom>
          <a:noFill/>
        </p:spPr>
        <p:txBody>
          <a:bodyPr wrap="square" rtlCol="0">
            <a:spAutoFit/>
          </a:bodyPr>
          <a:lstStyle/>
          <a:p>
            <a:pPr marL="0" lvl="1"/>
            <a:r>
              <a:rPr lang="en-US" sz="2250" dirty="0"/>
              <a:t>the cat in the hat</a:t>
            </a:r>
          </a:p>
        </p:txBody>
      </p:sp>
      <p:sp>
        <p:nvSpPr>
          <p:cNvPr id="6" name="TextBox 5"/>
          <p:cNvSpPr txBox="1"/>
          <p:nvPr/>
        </p:nvSpPr>
        <p:spPr>
          <a:xfrm>
            <a:off x="5572125" y="2171700"/>
            <a:ext cx="3771900" cy="438582"/>
          </a:xfrm>
          <a:prstGeom prst="rect">
            <a:avLst/>
          </a:prstGeom>
          <a:noFill/>
        </p:spPr>
        <p:txBody>
          <a:bodyPr wrap="square" rtlCol="0">
            <a:spAutoFit/>
          </a:bodyPr>
          <a:lstStyle/>
          <a:p>
            <a:pPr marL="0" lvl="1"/>
            <a:r>
              <a:rPr lang="en-US" sz="2250" dirty="0"/>
              <a:t>theta bled own there</a:t>
            </a:r>
          </a:p>
        </p:txBody>
      </p:sp>
    </p:spTree>
    <p:extLst>
      <p:ext uri="{BB962C8B-B14F-4D97-AF65-F5344CB8AC3E}">
        <p14:creationId xmlns:p14="http://schemas.microsoft.com/office/powerpoint/2010/main" val="384638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795">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795">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79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7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2"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90500" y="427038"/>
            <a:ext cx="8210550" cy="533400"/>
          </a:xfrm>
        </p:spPr>
        <p:txBody>
          <a:bodyPr/>
          <a:lstStyle/>
          <a:p>
            <a:r>
              <a:rPr lang="en-US" dirty="0"/>
              <a:t>Maximum Matching</a:t>
            </a:r>
            <a:br>
              <a:rPr lang="en-US" dirty="0"/>
            </a:br>
            <a:r>
              <a:rPr lang="en-US" dirty="0"/>
              <a:t>Word Segmentation Algorithm</a:t>
            </a:r>
          </a:p>
        </p:txBody>
      </p:sp>
      <p:sp>
        <p:nvSpPr>
          <p:cNvPr id="31747" name="Rectangle 3"/>
          <p:cNvSpPr>
            <a:spLocks noGrp="1" noChangeArrowheads="1"/>
          </p:cNvSpPr>
          <p:nvPr>
            <p:ph idx="1"/>
          </p:nvPr>
        </p:nvSpPr>
        <p:spPr>
          <a:xfrm>
            <a:off x="514350" y="1265237"/>
            <a:ext cx="9258300" cy="4525963"/>
          </a:xfrm>
        </p:spPr>
        <p:txBody>
          <a:bodyPr/>
          <a:lstStyle/>
          <a:p>
            <a:pPr marL="600075" indent="-600075"/>
            <a:r>
              <a:rPr lang="en-US" dirty="0"/>
              <a:t>Given a wordlist of Chinese, and a string.</a:t>
            </a:r>
          </a:p>
          <a:p>
            <a:pPr marL="600075" indent="-600075">
              <a:buClr>
                <a:schemeClr val="tx1"/>
              </a:buClr>
              <a:buFont typeface="Arial" charset="0"/>
              <a:buAutoNum type="arabicParenR"/>
            </a:pPr>
            <a:r>
              <a:rPr lang="en-US" dirty="0"/>
              <a:t>Start a pointer at the beginning of the string</a:t>
            </a:r>
          </a:p>
          <a:p>
            <a:pPr marL="600075" indent="-600075">
              <a:buClr>
                <a:schemeClr val="tx1"/>
              </a:buClr>
              <a:buFont typeface="Arial" charset="0"/>
              <a:buAutoNum type="arabicParenR"/>
            </a:pPr>
            <a:r>
              <a:rPr lang="en-US" dirty="0"/>
              <a:t>Find the longest word in dictionary that matches the string starting at pointer</a:t>
            </a:r>
          </a:p>
          <a:p>
            <a:pPr marL="600075" indent="-600075">
              <a:buClr>
                <a:schemeClr val="tx1"/>
              </a:buClr>
              <a:buFont typeface="Arial" charset="0"/>
              <a:buAutoNum type="arabicParenR"/>
            </a:pPr>
            <a:r>
              <a:rPr lang="en-US" dirty="0"/>
              <a:t>Move the pointer over the word in string</a:t>
            </a:r>
          </a:p>
          <a:p>
            <a:pPr marL="600075" indent="-600075">
              <a:buClr>
                <a:schemeClr val="tx1"/>
              </a:buClr>
              <a:buFont typeface="Arial" charset="0"/>
              <a:buAutoNum type="arabicParenR"/>
            </a:pPr>
            <a:r>
              <a:rPr lang="en-US" dirty="0"/>
              <a:t>Go to 2</a:t>
            </a:r>
          </a:p>
        </p:txBody>
      </p:sp>
    </p:spTree>
    <p:extLst>
      <p:ext uri="{BB962C8B-B14F-4D97-AF65-F5344CB8AC3E}">
        <p14:creationId xmlns:p14="http://schemas.microsoft.com/office/powerpoint/2010/main" val="3947633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Lemmatization and Stemming</a:t>
            </a:r>
          </a:p>
        </p:txBody>
      </p:sp>
    </p:spTree>
    <p:extLst>
      <p:ext uri="{BB962C8B-B14F-4D97-AF65-F5344CB8AC3E}">
        <p14:creationId xmlns:p14="http://schemas.microsoft.com/office/powerpoint/2010/main" val="3512026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Lemmatization</a:t>
            </a:r>
          </a:p>
        </p:txBody>
      </p:sp>
      <p:sp>
        <p:nvSpPr>
          <p:cNvPr id="37891" name="Rectangle 3"/>
          <p:cNvSpPr>
            <a:spLocks noGrp="1" noChangeArrowheads="1"/>
          </p:cNvSpPr>
          <p:nvPr>
            <p:ph idx="1"/>
          </p:nvPr>
        </p:nvSpPr>
        <p:spPr/>
        <p:txBody>
          <a:bodyPr/>
          <a:lstStyle/>
          <a:p>
            <a:pPr eaLnBrk="1" hangingPunct="1"/>
            <a:r>
              <a:rPr lang="en-US" dirty="0"/>
              <a:t>Reduce inflections or variant forms to base form</a:t>
            </a:r>
          </a:p>
          <a:p>
            <a:pPr lvl="1" eaLnBrk="1" hangingPunct="1">
              <a:spcBef>
                <a:spcPts val="563"/>
              </a:spcBef>
              <a:spcAft>
                <a:spcPts val="563"/>
              </a:spcAft>
            </a:pPr>
            <a:r>
              <a:rPr lang="en-US" sz="2700" i="1" dirty="0"/>
              <a:t>am, are,</a:t>
            </a:r>
            <a:r>
              <a:rPr lang="en-US" sz="2700" dirty="0"/>
              <a:t> </a:t>
            </a:r>
            <a:r>
              <a:rPr lang="en-US" sz="2700" i="1" dirty="0"/>
              <a:t>is </a:t>
            </a:r>
            <a:r>
              <a:rPr lang="en-US" sz="2700" dirty="0">
                <a:sym typeface="Symbol" charset="2"/>
              </a:rPr>
              <a:t></a:t>
            </a:r>
            <a:r>
              <a:rPr lang="en-US" sz="2700" dirty="0"/>
              <a:t> </a:t>
            </a:r>
            <a:r>
              <a:rPr lang="en-US" sz="2700" i="1" dirty="0"/>
              <a:t>be</a:t>
            </a:r>
            <a:endParaRPr lang="en-US" sz="2700" dirty="0"/>
          </a:p>
          <a:p>
            <a:pPr lvl="1" eaLnBrk="1" hangingPunct="1">
              <a:spcBef>
                <a:spcPts val="563"/>
              </a:spcBef>
              <a:spcAft>
                <a:spcPts val="563"/>
              </a:spcAft>
            </a:pPr>
            <a:r>
              <a:rPr lang="en-US" sz="2700" i="1" dirty="0"/>
              <a:t>car, cars, car's</a:t>
            </a:r>
            <a:r>
              <a:rPr lang="en-US" sz="2700" dirty="0"/>
              <a:t>, </a:t>
            </a:r>
            <a:r>
              <a:rPr lang="en-US" sz="2700" i="1" dirty="0"/>
              <a:t>cars'</a:t>
            </a:r>
            <a:r>
              <a:rPr lang="en-US" sz="2700" dirty="0"/>
              <a:t> </a:t>
            </a:r>
            <a:r>
              <a:rPr lang="en-US" sz="2700" dirty="0">
                <a:sym typeface="Symbol" charset="2"/>
              </a:rPr>
              <a:t></a:t>
            </a:r>
            <a:r>
              <a:rPr lang="en-US" sz="2700" dirty="0"/>
              <a:t> </a:t>
            </a:r>
            <a:r>
              <a:rPr lang="en-US" sz="2700" i="1" dirty="0"/>
              <a:t>car</a:t>
            </a:r>
          </a:p>
          <a:p>
            <a:pPr eaLnBrk="1" hangingPunct="1">
              <a:spcBef>
                <a:spcPts val="563"/>
              </a:spcBef>
              <a:spcAft>
                <a:spcPts val="563"/>
              </a:spcAft>
            </a:pPr>
            <a:r>
              <a:rPr lang="en-US" i="1" dirty="0"/>
              <a:t>the boy's cars are different colors</a:t>
            </a:r>
            <a:r>
              <a:rPr lang="en-US" dirty="0"/>
              <a:t> </a:t>
            </a:r>
            <a:r>
              <a:rPr lang="en-US" dirty="0">
                <a:sym typeface="Symbol" charset="2"/>
              </a:rPr>
              <a:t></a:t>
            </a:r>
            <a:r>
              <a:rPr lang="en-US" dirty="0"/>
              <a:t> </a:t>
            </a:r>
            <a:r>
              <a:rPr lang="en-US" i="1" dirty="0"/>
              <a:t>the boy car be different color</a:t>
            </a:r>
          </a:p>
          <a:p>
            <a:pPr eaLnBrk="1" hangingPunct="1">
              <a:spcBef>
                <a:spcPts val="563"/>
              </a:spcBef>
              <a:spcAft>
                <a:spcPts val="563"/>
              </a:spcAft>
            </a:pPr>
            <a:r>
              <a:rPr lang="en-US" dirty="0"/>
              <a:t>Lemmatization: have to find correct dictionary headword form</a:t>
            </a:r>
          </a:p>
          <a:p>
            <a:pPr>
              <a:lnSpc>
                <a:spcPct val="90000"/>
              </a:lnSpc>
            </a:pPr>
            <a:r>
              <a:rPr lang="en-US" dirty="0"/>
              <a:t>Machine translation</a:t>
            </a:r>
          </a:p>
          <a:p>
            <a:pPr lvl="1">
              <a:lnSpc>
                <a:spcPct val="90000"/>
              </a:lnSpc>
            </a:pPr>
            <a:r>
              <a:rPr lang="en-US" dirty="0"/>
              <a:t>Spanish </a:t>
            </a:r>
            <a:r>
              <a:rPr lang="en-US" dirty="0" err="1">
                <a:solidFill>
                  <a:srgbClr val="A50021"/>
                </a:solidFill>
              </a:rPr>
              <a:t>quiero</a:t>
            </a:r>
            <a:r>
              <a:rPr lang="en-US" dirty="0"/>
              <a:t> (‘I want’), </a:t>
            </a:r>
            <a:r>
              <a:rPr lang="en-US" dirty="0" err="1">
                <a:solidFill>
                  <a:srgbClr val="A50021"/>
                </a:solidFill>
              </a:rPr>
              <a:t>quieres</a:t>
            </a:r>
            <a:r>
              <a:rPr lang="en-US" dirty="0"/>
              <a:t> (‘you want’) same lemma as </a:t>
            </a:r>
            <a:r>
              <a:rPr lang="en-US" dirty="0" err="1">
                <a:solidFill>
                  <a:srgbClr val="A50021"/>
                </a:solidFill>
              </a:rPr>
              <a:t>querer</a:t>
            </a:r>
            <a:r>
              <a:rPr lang="en-US" dirty="0"/>
              <a:t> ‘want’</a:t>
            </a:r>
          </a:p>
          <a:p>
            <a:pPr lvl="1">
              <a:spcBef>
                <a:spcPts val="563"/>
              </a:spcBef>
              <a:spcAft>
                <a:spcPts val="563"/>
              </a:spcAft>
            </a:pPr>
            <a:endParaRPr lang="en-US" dirty="0"/>
          </a:p>
        </p:txBody>
      </p:sp>
    </p:spTree>
    <p:extLst>
      <p:ext uri="{BB962C8B-B14F-4D97-AF65-F5344CB8AC3E}">
        <p14:creationId xmlns:p14="http://schemas.microsoft.com/office/powerpoint/2010/main" val="195952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89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8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Stemming</a:t>
            </a:r>
          </a:p>
        </p:txBody>
      </p:sp>
      <p:sp>
        <p:nvSpPr>
          <p:cNvPr id="38915" name="Rectangle 3"/>
          <p:cNvSpPr>
            <a:spLocks noGrp="1" noChangeArrowheads="1"/>
          </p:cNvSpPr>
          <p:nvPr>
            <p:ph idx="1"/>
          </p:nvPr>
        </p:nvSpPr>
        <p:spPr/>
        <p:txBody>
          <a:bodyPr/>
          <a:lstStyle/>
          <a:p>
            <a:pPr eaLnBrk="1" hangingPunct="1"/>
            <a:r>
              <a:rPr lang="en-US" dirty="0"/>
              <a:t>Reduce terms to their stems in information retrieval</a:t>
            </a:r>
          </a:p>
          <a:p>
            <a:pPr eaLnBrk="1" hangingPunct="1"/>
            <a:r>
              <a:rPr lang="en-US" i="1" dirty="0"/>
              <a:t>Stemming</a:t>
            </a:r>
            <a:r>
              <a:rPr lang="en-US" dirty="0"/>
              <a:t> is crude chopping of affixes</a:t>
            </a:r>
          </a:p>
          <a:p>
            <a:pPr lvl="1" eaLnBrk="1" hangingPunct="1"/>
            <a:r>
              <a:rPr lang="en-US" dirty="0"/>
              <a:t>language dependent</a:t>
            </a:r>
          </a:p>
          <a:p>
            <a:pPr lvl="1" eaLnBrk="1" hangingPunct="1"/>
            <a:r>
              <a:rPr lang="en-US" dirty="0"/>
              <a:t>e.g., </a:t>
            </a:r>
            <a:r>
              <a:rPr lang="en-US" b="1" i="1" dirty="0"/>
              <a:t>automate(s), automatic, automation</a:t>
            </a:r>
            <a:r>
              <a:rPr lang="en-US" dirty="0"/>
              <a:t> all reduced to </a:t>
            </a:r>
            <a:r>
              <a:rPr lang="en-US" b="1" i="1" dirty="0"/>
              <a:t>automat</a:t>
            </a:r>
            <a:r>
              <a:rPr lang="en-US" dirty="0"/>
              <a:t>.</a:t>
            </a:r>
          </a:p>
        </p:txBody>
      </p:sp>
      <p:sp>
        <p:nvSpPr>
          <p:cNvPr id="38916" name="Rectangle 4"/>
          <p:cNvSpPr>
            <a:spLocks noChangeArrowheads="1"/>
          </p:cNvSpPr>
          <p:nvPr/>
        </p:nvSpPr>
        <p:spPr bwMode="auto">
          <a:xfrm>
            <a:off x="875110" y="1946227"/>
            <a:ext cx="184731" cy="369332"/>
          </a:xfrm>
          <a:prstGeom prst="rect">
            <a:avLst/>
          </a:prstGeom>
          <a:noFill/>
          <a:ln w="9525">
            <a:noFill/>
            <a:miter lim="800000"/>
            <a:headEnd/>
            <a:tailEnd/>
          </a:ln>
        </p:spPr>
        <p:txBody>
          <a:bodyPr wrap="none">
            <a:prstTxWarp prst="textNoShape">
              <a:avLst/>
            </a:prstTxWarp>
            <a:spAutoFit/>
          </a:bodyPr>
          <a:lstStyle/>
          <a:p>
            <a:endParaRPr lang="en-US">
              <a:latin typeface="Arial" charset="0"/>
            </a:endParaRPr>
          </a:p>
        </p:txBody>
      </p:sp>
      <p:sp>
        <p:nvSpPr>
          <p:cNvPr id="38917" name="Rectangle 5"/>
          <p:cNvSpPr>
            <a:spLocks noChangeArrowheads="1"/>
          </p:cNvSpPr>
          <p:nvPr/>
        </p:nvSpPr>
        <p:spPr bwMode="auto">
          <a:xfrm>
            <a:off x="428625" y="4268285"/>
            <a:ext cx="4029075" cy="1546834"/>
          </a:xfrm>
          <a:prstGeom prst="rect">
            <a:avLst/>
          </a:prstGeom>
          <a:solidFill>
            <a:schemeClr val="accent1">
              <a:alpha val="50195"/>
            </a:schemeClr>
          </a:solidFill>
          <a:ln w="9525">
            <a:solidFill>
              <a:schemeClr val="tx1"/>
            </a:solidFill>
            <a:miter lim="800000"/>
            <a:headEnd/>
            <a:tailEnd/>
          </a:ln>
        </p:spPr>
        <p:txBody>
          <a:bodyPr anchor="ctr">
            <a:prstTxWarp prst="textNoShape">
              <a:avLst/>
            </a:prstTxWarp>
            <a:spAutoFit/>
          </a:bodyPr>
          <a:lstStyle/>
          <a:p>
            <a:r>
              <a:rPr lang="en-US" sz="2363" i="1" dirty="0">
                <a:solidFill>
                  <a:srgbClr val="404040"/>
                </a:solidFill>
                <a:latin typeface="Calibri"/>
                <a:cs typeface="Calibri"/>
              </a:rPr>
              <a:t>for example compressed </a:t>
            </a:r>
          </a:p>
          <a:p>
            <a:r>
              <a:rPr lang="en-US" sz="2363" i="1" dirty="0">
                <a:solidFill>
                  <a:srgbClr val="404040"/>
                </a:solidFill>
                <a:latin typeface="Calibri"/>
                <a:cs typeface="Calibri"/>
              </a:rPr>
              <a:t>and compression are both </a:t>
            </a:r>
          </a:p>
          <a:p>
            <a:r>
              <a:rPr lang="en-US" sz="2363" i="1" dirty="0">
                <a:solidFill>
                  <a:srgbClr val="404040"/>
                </a:solidFill>
                <a:latin typeface="Calibri"/>
                <a:cs typeface="Calibri"/>
              </a:rPr>
              <a:t>accepted as equivalent to </a:t>
            </a:r>
          </a:p>
          <a:p>
            <a:r>
              <a:rPr lang="en-US" sz="2363" i="1" dirty="0">
                <a:solidFill>
                  <a:srgbClr val="404040"/>
                </a:solidFill>
                <a:latin typeface="Calibri"/>
                <a:cs typeface="Calibri"/>
              </a:rPr>
              <a:t>compress</a:t>
            </a:r>
            <a:r>
              <a:rPr lang="en-US" sz="2363" dirty="0">
                <a:solidFill>
                  <a:srgbClr val="404040"/>
                </a:solidFill>
                <a:latin typeface="Calibri"/>
                <a:cs typeface="Calibri"/>
              </a:rPr>
              <a:t>.</a:t>
            </a:r>
          </a:p>
        </p:txBody>
      </p:sp>
      <p:sp>
        <p:nvSpPr>
          <p:cNvPr id="38918" name="Rectangle 6"/>
          <p:cNvSpPr>
            <a:spLocks noChangeArrowheads="1"/>
          </p:cNvSpPr>
          <p:nvPr/>
        </p:nvSpPr>
        <p:spPr bwMode="auto">
          <a:xfrm>
            <a:off x="5625705" y="4393406"/>
            <a:ext cx="4061222" cy="1285875"/>
          </a:xfrm>
          <a:prstGeom prst="rect">
            <a:avLst/>
          </a:prstGeom>
          <a:solidFill>
            <a:schemeClr val="accent1">
              <a:alpha val="50195"/>
            </a:schemeClr>
          </a:solidFill>
          <a:ln w="9525">
            <a:solidFill>
              <a:schemeClr val="tx1"/>
            </a:solidFill>
            <a:miter lim="800000"/>
            <a:headEnd/>
            <a:tailEnd/>
          </a:ln>
        </p:spPr>
        <p:txBody>
          <a:bodyPr wrap="none">
            <a:prstTxWarp prst="textNoShape">
              <a:avLst/>
            </a:prstTxWarp>
          </a:bodyPr>
          <a:lstStyle/>
          <a:p>
            <a:r>
              <a:rPr lang="en-US" sz="2363" dirty="0">
                <a:solidFill>
                  <a:srgbClr val="404040"/>
                </a:solidFill>
                <a:latin typeface="Calibri"/>
                <a:cs typeface="Calibri"/>
              </a:rPr>
              <a:t>for </a:t>
            </a:r>
            <a:r>
              <a:rPr lang="en-US" sz="2363" dirty="0" err="1">
                <a:solidFill>
                  <a:srgbClr val="404040"/>
                </a:solidFill>
                <a:latin typeface="Calibri"/>
                <a:cs typeface="Calibri"/>
              </a:rPr>
              <a:t>exampl</a:t>
            </a:r>
            <a:r>
              <a:rPr lang="en-US" sz="2363" dirty="0">
                <a:solidFill>
                  <a:srgbClr val="404040"/>
                </a:solidFill>
                <a:latin typeface="Calibri"/>
                <a:cs typeface="Calibri"/>
              </a:rPr>
              <a:t> compress and</a:t>
            </a:r>
          </a:p>
          <a:p>
            <a:r>
              <a:rPr lang="en-US" sz="2363" dirty="0">
                <a:solidFill>
                  <a:srgbClr val="404040"/>
                </a:solidFill>
                <a:latin typeface="Calibri"/>
                <a:cs typeface="Calibri"/>
              </a:rPr>
              <a:t>compress </a:t>
            </a:r>
            <a:r>
              <a:rPr lang="en-US" sz="2363" dirty="0" err="1">
                <a:solidFill>
                  <a:srgbClr val="404040"/>
                </a:solidFill>
                <a:latin typeface="Calibri"/>
                <a:cs typeface="Calibri"/>
              </a:rPr>
              <a:t>ar</a:t>
            </a:r>
            <a:r>
              <a:rPr lang="en-US" sz="2363" dirty="0">
                <a:solidFill>
                  <a:srgbClr val="404040"/>
                </a:solidFill>
                <a:latin typeface="Calibri"/>
                <a:cs typeface="Calibri"/>
              </a:rPr>
              <a:t> both accept</a:t>
            </a:r>
          </a:p>
          <a:p>
            <a:r>
              <a:rPr lang="en-US" sz="2363" dirty="0">
                <a:solidFill>
                  <a:srgbClr val="404040"/>
                </a:solidFill>
                <a:latin typeface="Calibri"/>
                <a:cs typeface="Calibri"/>
              </a:rPr>
              <a:t>as </a:t>
            </a:r>
            <a:r>
              <a:rPr lang="en-US" sz="2363" dirty="0" err="1">
                <a:solidFill>
                  <a:srgbClr val="404040"/>
                </a:solidFill>
                <a:latin typeface="Calibri"/>
                <a:cs typeface="Calibri"/>
              </a:rPr>
              <a:t>equival</a:t>
            </a:r>
            <a:r>
              <a:rPr lang="en-US" sz="2363" dirty="0">
                <a:solidFill>
                  <a:srgbClr val="404040"/>
                </a:solidFill>
                <a:latin typeface="Calibri"/>
                <a:cs typeface="Calibri"/>
              </a:rPr>
              <a:t> to compress</a:t>
            </a:r>
          </a:p>
        </p:txBody>
      </p:sp>
      <p:sp>
        <p:nvSpPr>
          <p:cNvPr id="38919" name="AutoShape 7"/>
          <p:cNvSpPr>
            <a:spLocks noChangeArrowheads="1"/>
          </p:cNvSpPr>
          <p:nvPr/>
        </p:nvSpPr>
        <p:spPr bwMode="auto">
          <a:xfrm>
            <a:off x="4972050" y="4843464"/>
            <a:ext cx="342900" cy="40987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US"/>
          </a:p>
        </p:txBody>
      </p:sp>
    </p:spTree>
    <p:extLst>
      <p:ext uri="{BB962C8B-B14F-4D97-AF65-F5344CB8AC3E}">
        <p14:creationId xmlns:p14="http://schemas.microsoft.com/office/powerpoint/2010/main" val="335135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P spid="38918" grpId="0" animBg="1"/>
      <p:bldP spid="389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0500" y="228600"/>
            <a:ext cx="8210550" cy="533400"/>
          </a:xfrm>
        </p:spPr>
        <p:txBody>
          <a:bodyPr/>
          <a:lstStyle/>
          <a:p>
            <a:pPr eaLnBrk="1" hangingPunct="1"/>
            <a:r>
              <a:rPr lang="en-US" dirty="0"/>
              <a:t>Porter’s algorithm</a:t>
            </a:r>
            <a:br>
              <a:rPr lang="en-US" dirty="0"/>
            </a:br>
            <a:r>
              <a:rPr lang="en-US" dirty="0"/>
              <a:t>The most common English stemmer</a:t>
            </a:r>
          </a:p>
        </p:txBody>
      </p:sp>
      <p:sp>
        <p:nvSpPr>
          <p:cNvPr id="39939" name="Rectangle 3"/>
          <p:cNvSpPr>
            <a:spLocks noGrp="1" noChangeArrowheads="1"/>
          </p:cNvSpPr>
          <p:nvPr>
            <p:ph idx="1"/>
          </p:nvPr>
        </p:nvSpPr>
        <p:spPr>
          <a:xfrm>
            <a:off x="190500" y="1447800"/>
            <a:ext cx="5524500" cy="4525963"/>
          </a:xfrm>
        </p:spPr>
        <p:txBody>
          <a:bodyPr/>
          <a:lstStyle/>
          <a:p>
            <a:pPr marL="0" indent="0">
              <a:buNone/>
            </a:pPr>
            <a:r>
              <a:rPr lang="en-US" sz="2250" dirty="0"/>
              <a:t>   Step 1a</a:t>
            </a:r>
          </a:p>
          <a:p>
            <a:pPr marL="514350" lvl="1" indent="0">
              <a:buNone/>
            </a:pPr>
            <a:r>
              <a:rPr lang="en-US" sz="1800" dirty="0" err="1">
                <a:latin typeface="Courier"/>
                <a:cs typeface="Courier"/>
              </a:rPr>
              <a:t>sses</a:t>
            </a:r>
            <a:r>
              <a:rPr lang="en-US" sz="1800" dirty="0">
                <a:latin typeface="Courier"/>
                <a:cs typeface="Courier"/>
              </a:rPr>
              <a:t> </a:t>
            </a:r>
            <a:r>
              <a:rPr lang="en-US" sz="1800" dirty="0">
                <a:latin typeface="Courier"/>
                <a:cs typeface="Courier"/>
                <a:sym typeface="Symbol" charset="2"/>
              </a:rPr>
              <a:t> </a:t>
            </a:r>
            <a:r>
              <a:rPr lang="en-US" sz="1800" dirty="0" err="1">
                <a:latin typeface="Courier"/>
                <a:cs typeface="Courier"/>
                <a:sym typeface="Symbol" charset="2"/>
              </a:rPr>
              <a:t>ss</a:t>
            </a:r>
            <a:r>
              <a:rPr lang="en-US" sz="1800" dirty="0">
                <a:latin typeface="Courier"/>
                <a:cs typeface="Courier"/>
                <a:sym typeface="Symbol" charset="2"/>
              </a:rPr>
              <a:t> </a:t>
            </a:r>
            <a:r>
              <a:rPr lang="en-US" sz="1800" dirty="0">
                <a:solidFill>
                  <a:schemeClr val="accent5">
                    <a:lumMod val="75000"/>
                  </a:schemeClr>
                </a:solidFill>
                <a:latin typeface="Courier"/>
                <a:cs typeface="Courier"/>
                <a:sym typeface="Symbol" charset="2"/>
              </a:rPr>
              <a:t>caresses  caress</a:t>
            </a:r>
          </a:p>
          <a:p>
            <a:pPr marL="514350" lvl="1" indent="0">
              <a:buNone/>
            </a:pPr>
            <a:r>
              <a:rPr lang="en-US" sz="1800" dirty="0" err="1">
                <a:latin typeface="Courier"/>
                <a:cs typeface="Courier"/>
              </a:rPr>
              <a:t>ies</a:t>
            </a:r>
            <a:r>
              <a:rPr lang="en-US" sz="1800" dirty="0">
                <a:latin typeface="Courier"/>
                <a:cs typeface="Courier"/>
              </a:rPr>
              <a:t>  </a:t>
            </a:r>
            <a:r>
              <a:rPr lang="en-US" sz="1800" dirty="0">
                <a:latin typeface="Courier"/>
                <a:cs typeface="Courier"/>
                <a:sym typeface="Symbol" charset="2"/>
              </a:rPr>
              <a:t> </a:t>
            </a:r>
            <a:r>
              <a:rPr lang="en-US" sz="1800" dirty="0" err="1">
                <a:latin typeface="Courier"/>
                <a:cs typeface="Courier"/>
                <a:sym typeface="Symbol" charset="2"/>
              </a:rPr>
              <a:t>i</a:t>
            </a:r>
            <a:r>
              <a:rPr lang="en-US" sz="1800" dirty="0">
                <a:latin typeface="Courier"/>
                <a:cs typeface="Courier"/>
                <a:sym typeface="Symbol" charset="2"/>
              </a:rPr>
              <a:t> </a:t>
            </a:r>
            <a:r>
              <a:rPr lang="en-US" sz="1800" dirty="0">
                <a:solidFill>
                  <a:schemeClr val="accent5">
                    <a:lumMod val="75000"/>
                  </a:schemeClr>
                </a:solidFill>
                <a:latin typeface="Courier"/>
                <a:cs typeface="Courier"/>
                <a:sym typeface="Symbol" charset="2"/>
              </a:rPr>
              <a:t>ponies    </a:t>
            </a:r>
            <a:r>
              <a:rPr lang="en-US" sz="1800" dirty="0" err="1">
                <a:solidFill>
                  <a:schemeClr val="accent5">
                    <a:lumMod val="75000"/>
                  </a:schemeClr>
                </a:solidFill>
                <a:latin typeface="Courier"/>
                <a:cs typeface="Courier"/>
                <a:sym typeface="Symbol" charset="2"/>
              </a:rPr>
              <a:t>poni</a:t>
            </a:r>
            <a:endParaRPr lang="en-US" sz="1800" dirty="0">
              <a:solidFill>
                <a:schemeClr val="accent5">
                  <a:lumMod val="75000"/>
                </a:schemeClr>
              </a:solidFill>
              <a:latin typeface="Courier"/>
              <a:cs typeface="Courier"/>
              <a:sym typeface="Symbol" charset="2"/>
            </a:endParaRPr>
          </a:p>
          <a:p>
            <a:pPr marL="514350" lvl="1" indent="0">
              <a:buNone/>
            </a:pPr>
            <a:r>
              <a:rPr lang="en-US" sz="1800" dirty="0" err="1">
                <a:latin typeface="Courier"/>
                <a:cs typeface="Courier"/>
                <a:sym typeface="Symbol" charset="2"/>
              </a:rPr>
              <a:t>ss</a:t>
            </a:r>
            <a:r>
              <a:rPr lang="en-US" sz="1800" dirty="0">
                <a:latin typeface="Courier"/>
                <a:cs typeface="Courier"/>
                <a:sym typeface="Symbol" charset="2"/>
              </a:rPr>
              <a:t>    </a:t>
            </a:r>
            <a:r>
              <a:rPr lang="en-US" sz="1800" dirty="0" err="1">
                <a:latin typeface="Courier"/>
                <a:cs typeface="Courier"/>
                <a:sym typeface="Symbol" charset="2"/>
              </a:rPr>
              <a:t>ss</a:t>
            </a:r>
            <a:r>
              <a:rPr lang="en-US" sz="1800" dirty="0">
                <a:latin typeface="Courier"/>
                <a:cs typeface="Courier"/>
                <a:sym typeface="Symbol" charset="2"/>
              </a:rPr>
              <a:t> </a:t>
            </a:r>
            <a:r>
              <a:rPr lang="en-US" sz="1800" dirty="0">
                <a:solidFill>
                  <a:schemeClr val="accent5">
                    <a:lumMod val="75000"/>
                  </a:schemeClr>
                </a:solidFill>
                <a:latin typeface="Courier"/>
                <a:cs typeface="Courier"/>
                <a:sym typeface="Symbol" charset="2"/>
              </a:rPr>
              <a:t>caress    caress</a:t>
            </a:r>
          </a:p>
          <a:p>
            <a:pPr marL="514350" lvl="1" indent="0">
              <a:buNone/>
            </a:pPr>
            <a:r>
              <a:rPr lang="en-US" sz="1800" dirty="0">
                <a:latin typeface="Courier"/>
                <a:cs typeface="Courier"/>
                <a:sym typeface="Symbol" charset="2"/>
              </a:rPr>
              <a:t>s     </a:t>
            </a:r>
            <a:r>
              <a:rPr lang="en-US" sz="1800" dirty="0">
                <a:sym typeface="Symbol" charset="2"/>
              </a:rPr>
              <a:t>ø </a:t>
            </a:r>
            <a:r>
              <a:rPr lang="en-US" sz="1800" dirty="0">
                <a:solidFill>
                  <a:schemeClr val="accent5">
                    <a:lumMod val="75000"/>
                  </a:schemeClr>
                </a:solidFill>
                <a:latin typeface="Courier"/>
                <a:cs typeface="Courier"/>
                <a:sym typeface="Symbol" charset="2"/>
              </a:rPr>
              <a:t>cats       cat</a:t>
            </a:r>
          </a:p>
          <a:p>
            <a:pPr marL="0" indent="0">
              <a:buNone/>
            </a:pPr>
            <a:r>
              <a:rPr lang="en-US" sz="2250" dirty="0">
                <a:latin typeface="Calibri"/>
                <a:cs typeface="Calibri"/>
                <a:sym typeface="Symbol" charset="2"/>
              </a:rPr>
              <a:t>  Step 1b</a:t>
            </a:r>
          </a:p>
          <a:p>
            <a:pPr marL="514350" lvl="1" indent="0">
              <a:buNone/>
            </a:pPr>
            <a:r>
              <a:rPr lang="en-US" sz="1800" dirty="0">
                <a:latin typeface="Courier"/>
                <a:cs typeface="Courier"/>
                <a:sym typeface="Symbol" charset="2"/>
              </a:rPr>
              <a:t>(*v*)</a:t>
            </a:r>
            <a:r>
              <a:rPr lang="en-US" sz="1800" dirty="0" err="1">
                <a:latin typeface="Courier"/>
                <a:cs typeface="Courier"/>
                <a:sym typeface="Symbol" charset="2"/>
              </a:rPr>
              <a:t>ing</a:t>
            </a:r>
            <a:r>
              <a:rPr lang="en-US" sz="1800" dirty="0">
                <a:latin typeface="Courier"/>
                <a:cs typeface="Courier"/>
                <a:sym typeface="Symbol" charset="2"/>
              </a:rPr>
              <a:t>  </a:t>
            </a:r>
            <a:r>
              <a:rPr lang="en-US" sz="1800" dirty="0">
                <a:sym typeface="Symbol" charset="2"/>
              </a:rPr>
              <a:t>ø    </a:t>
            </a:r>
          </a:p>
          <a:p>
            <a:pPr marL="514350" lvl="1" indent="0">
              <a:buNone/>
            </a:pPr>
            <a:r>
              <a:rPr lang="en-US" sz="1800" dirty="0">
                <a:solidFill>
                  <a:schemeClr val="accent5">
                    <a:lumMod val="75000"/>
                  </a:schemeClr>
                </a:solidFill>
                <a:latin typeface="Courier"/>
                <a:cs typeface="Courier"/>
                <a:sym typeface="Symbol" charset="2"/>
              </a:rPr>
              <a:t>walking    walk</a:t>
            </a:r>
          </a:p>
          <a:p>
            <a:pPr marL="514350" lvl="1" indent="0">
              <a:buNone/>
            </a:pPr>
            <a:r>
              <a:rPr lang="en-US" sz="1800" dirty="0">
                <a:solidFill>
                  <a:schemeClr val="accent5">
                    <a:lumMod val="75000"/>
                  </a:schemeClr>
                </a:solidFill>
                <a:latin typeface="Courier"/>
                <a:cs typeface="Courier"/>
                <a:sym typeface="Symbol" charset="2"/>
              </a:rPr>
              <a:t>sing       sing</a:t>
            </a:r>
          </a:p>
          <a:p>
            <a:pPr marL="514350" lvl="1" indent="0">
              <a:buNone/>
            </a:pPr>
            <a:r>
              <a:rPr lang="en-US" sz="1800" dirty="0">
                <a:latin typeface="Courier"/>
                <a:cs typeface="Courier"/>
                <a:sym typeface="Symbol" charset="2"/>
              </a:rPr>
              <a:t>(*v*)</a:t>
            </a:r>
            <a:r>
              <a:rPr lang="en-US" sz="1800" dirty="0" err="1">
                <a:latin typeface="Courier"/>
                <a:cs typeface="Courier"/>
                <a:sym typeface="Symbol" charset="2"/>
              </a:rPr>
              <a:t>ed</a:t>
            </a:r>
            <a:r>
              <a:rPr lang="en-US" sz="1800" dirty="0">
                <a:latin typeface="Courier"/>
                <a:cs typeface="Courier"/>
                <a:sym typeface="Symbol" charset="2"/>
              </a:rPr>
              <a:t>   </a:t>
            </a:r>
            <a:r>
              <a:rPr lang="en-US" sz="1800" dirty="0">
                <a:sym typeface="Symbol" charset="2"/>
              </a:rPr>
              <a:t>ø    </a:t>
            </a:r>
          </a:p>
          <a:p>
            <a:pPr marL="514350" lvl="1" indent="0">
              <a:buNone/>
            </a:pPr>
            <a:r>
              <a:rPr lang="en-US" sz="1800" dirty="0">
                <a:solidFill>
                  <a:schemeClr val="accent5">
                    <a:lumMod val="75000"/>
                  </a:schemeClr>
                </a:solidFill>
                <a:latin typeface="Courier"/>
                <a:cs typeface="Courier"/>
                <a:sym typeface="Symbol" charset="2"/>
              </a:rPr>
              <a:t>plastered  plaster</a:t>
            </a:r>
          </a:p>
          <a:p>
            <a:pPr marL="514350" lvl="1" indent="0">
              <a:buNone/>
            </a:pPr>
            <a:r>
              <a:rPr lang="en-US" sz="2025" dirty="0">
                <a:solidFill>
                  <a:schemeClr val="accent5">
                    <a:lumMod val="75000"/>
                  </a:schemeClr>
                </a:solidFill>
                <a:latin typeface="Courier"/>
                <a:cs typeface="Courier"/>
                <a:sym typeface="Symbol" charset="2"/>
              </a:rPr>
              <a:t>…</a:t>
            </a:r>
          </a:p>
          <a:p>
            <a:endParaRPr lang="en-US" sz="2475" dirty="0">
              <a:latin typeface="Courier"/>
              <a:cs typeface="Courier"/>
              <a:sym typeface="Symbol" charset="2"/>
            </a:endParaRPr>
          </a:p>
        </p:txBody>
      </p:sp>
      <p:sp>
        <p:nvSpPr>
          <p:cNvPr id="5" name="Rectangle 3"/>
          <p:cNvSpPr txBox="1">
            <a:spLocks noChangeArrowheads="1"/>
          </p:cNvSpPr>
          <p:nvPr/>
        </p:nvSpPr>
        <p:spPr bwMode="auto">
          <a:xfrm>
            <a:off x="4914900" y="1507331"/>
            <a:ext cx="5486400" cy="37504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02870" tIns="51435" rIns="102870" bIns="51435"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buNone/>
            </a:pPr>
            <a:r>
              <a:rPr lang="en-US" sz="2250" dirty="0"/>
              <a:t>   Step 2 (for long stems)</a:t>
            </a:r>
          </a:p>
          <a:p>
            <a:pPr marL="514350" lvl="1" indent="0">
              <a:buNone/>
            </a:pPr>
            <a:r>
              <a:rPr lang="en-US" sz="1800" dirty="0" err="1">
                <a:latin typeface="Courier"/>
                <a:cs typeface="Courier"/>
              </a:rPr>
              <a:t>ational</a:t>
            </a:r>
            <a:r>
              <a:rPr lang="en-US" sz="1800" dirty="0">
                <a:latin typeface="Courier"/>
                <a:cs typeface="Courier"/>
                <a:sym typeface="Symbol" charset="2"/>
              </a:rPr>
              <a:t> ate </a:t>
            </a:r>
            <a:r>
              <a:rPr lang="en-US" sz="1800" dirty="0">
                <a:solidFill>
                  <a:schemeClr val="accent5">
                    <a:lumMod val="75000"/>
                  </a:schemeClr>
                </a:solidFill>
                <a:latin typeface="Courier"/>
                <a:cs typeface="Courier"/>
                <a:sym typeface="Symbol" charset="2"/>
              </a:rPr>
              <a:t>relational relate</a:t>
            </a:r>
          </a:p>
          <a:p>
            <a:pPr marL="514350" lvl="1" indent="0">
              <a:buNone/>
            </a:pPr>
            <a:r>
              <a:rPr lang="en-US" sz="1800" dirty="0" err="1">
                <a:latin typeface="Courier"/>
                <a:cs typeface="Courier"/>
              </a:rPr>
              <a:t>izer</a:t>
            </a:r>
            <a:r>
              <a:rPr lang="en-US" sz="1800" dirty="0">
                <a:latin typeface="Courier"/>
                <a:cs typeface="Courier"/>
                <a:sym typeface="Symbol" charset="2"/>
              </a:rPr>
              <a:t> </a:t>
            </a:r>
            <a:r>
              <a:rPr lang="en-US" sz="1800" dirty="0" err="1">
                <a:latin typeface="Courier"/>
                <a:cs typeface="Courier"/>
                <a:sym typeface="Symbol" charset="2"/>
              </a:rPr>
              <a:t>ize</a:t>
            </a:r>
            <a:r>
              <a:rPr lang="en-US" sz="1800" dirty="0">
                <a:latin typeface="Courier"/>
                <a:cs typeface="Courier"/>
                <a:sym typeface="Symbol" charset="2"/>
              </a:rPr>
              <a:t> </a:t>
            </a:r>
            <a:r>
              <a:rPr lang="en-US" sz="1800" dirty="0">
                <a:solidFill>
                  <a:schemeClr val="accent5">
                    <a:lumMod val="75000"/>
                  </a:schemeClr>
                </a:solidFill>
                <a:latin typeface="Courier"/>
                <a:cs typeface="Courier"/>
                <a:sym typeface="Symbol" charset="2"/>
              </a:rPr>
              <a:t>digitizer  digitize</a:t>
            </a:r>
          </a:p>
          <a:p>
            <a:pPr marL="514350" lvl="1" indent="0">
              <a:buNone/>
            </a:pPr>
            <a:r>
              <a:rPr lang="en-US" sz="1800" dirty="0" err="1">
                <a:latin typeface="Courier"/>
                <a:cs typeface="Courier"/>
                <a:sym typeface="Symbol" charset="2"/>
              </a:rPr>
              <a:t>ator</a:t>
            </a:r>
            <a:r>
              <a:rPr lang="en-US" sz="1800" dirty="0">
                <a:latin typeface="Courier"/>
                <a:cs typeface="Courier"/>
                <a:sym typeface="Symbol" charset="2"/>
              </a:rPr>
              <a:t> ate </a:t>
            </a:r>
            <a:r>
              <a:rPr lang="en-US" sz="1800" dirty="0">
                <a:solidFill>
                  <a:schemeClr val="accent5">
                    <a:lumMod val="75000"/>
                  </a:schemeClr>
                </a:solidFill>
                <a:latin typeface="Courier"/>
                <a:cs typeface="Courier"/>
                <a:sym typeface="Symbol" charset="2"/>
              </a:rPr>
              <a:t>operator   operate</a:t>
            </a:r>
          </a:p>
          <a:p>
            <a:pPr marL="514350" lvl="1" indent="0">
              <a:buNone/>
            </a:pPr>
            <a:r>
              <a:rPr lang="en-US" sz="1800" dirty="0">
                <a:latin typeface="Courier"/>
                <a:cs typeface="Courier"/>
                <a:sym typeface="Symbol" charset="2"/>
              </a:rPr>
              <a:t>…</a:t>
            </a:r>
            <a:endParaRPr lang="en-US" sz="1800" dirty="0">
              <a:solidFill>
                <a:schemeClr val="accent5">
                  <a:lumMod val="75000"/>
                </a:schemeClr>
              </a:solidFill>
              <a:latin typeface="Courier"/>
              <a:cs typeface="Courier"/>
              <a:sym typeface="Symbol" charset="2"/>
            </a:endParaRPr>
          </a:p>
          <a:p>
            <a:pPr marL="0" indent="0">
              <a:buNone/>
            </a:pPr>
            <a:r>
              <a:rPr lang="en-US" sz="2250" dirty="0">
                <a:latin typeface="Calibri"/>
                <a:cs typeface="Calibri"/>
                <a:sym typeface="Symbol" charset="2"/>
              </a:rPr>
              <a:t>    Step 3 (for longer stems)</a:t>
            </a:r>
          </a:p>
          <a:p>
            <a:pPr marL="514350" lvl="1" indent="0">
              <a:buNone/>
            </a:pPr>
            <a:r>
              <a:rPr lang="en-US" sz="1800" dirty="0">
                <a:latin typeface="Courier"/>
                <a:cs typeface="Courier"/>
                <a:sym typeface="Symbol" charset="2"/>
              </a:rPr>
              <a:t>al     </a:t>
            </a:r>
            <a:r>
              <a:rPr lang="en-US" sz="1800" dirty="0" err="1">
                <a:sym typeface="Symbol" charset="2"/>
              </a:rPr>
              <a:t>ø</a:t>
            </a:r>
            <a:r>
              <a:rPr lang="en-US" sz="1800" dirty="0">
                <a:sym typeface="Symbol" charset="2"/>
              </a:rPr>
              <a:t>      </a:t>
            </a:r>
            <a:r>
              <a:rPr lang="en-US" sz="1800" dirty="0">
                <a:solidFill>
                  <a:schemeClr val="accent5">
                    <a:lumMod val="75000"/>
                  </a:schemeClr>
                </a:solidFill>
                <a:latin typeface="Courier"/>
                <a:cs typeface="Courier"/>
                <a:sym typeface="Symbol" charset="2"/>
              </a:rPr>
              <a:t>revival     </a:t>
            </a:r>
            <a:r>
              <a:rPr lang="en-US" sz="1800" dirty="0" err="1">
                <a:solidFill>
                  <a:schemeClr val="accent5">
                    <a:lumMod val="75000"/>
                  </a:schemeClr>
                </a:solidFill>
                <a:latin typeface="Courier"/>
                <a:cs typeface="Courier"/>
                <a:sym typeface="Symbol" charset="2"/>
              </a:rPr>
              <a:t>reviv</a:t>
            </a:r>
            <a:endParaRPr lang="en-US" sz="1800" dirty="0">
              <a:solidFill>
                <a:schemeClr val="accent5">
                  <a:lumMod val="75000"/>
                </a:schemeClr>
              </a:solidFill>
              <a:latin typeface="Courier"/>
              <a:cs typeface="Courier"/>
              <a:sym typeface="Symbol" charset="2"/>
            </a:endParaRPr>
          </a:p>
          <a:p>
            <a:pPr marL="514350" lvl="1" indent="0">
              <a:buNone/>
            </a:pPr>
            <a:r>
              <a:rPr lang="en-US" sz="1800" dirty="0">
                <a:latin typeface="Courier"/>
                <a:cs typeface="Courier"/>
                <a:sym typeface="Symbol" charset="2"/>
              </a:rPr>
              <a:t>able   </a:t>
            </a:r>
            <a:r>
              <a:rPr lang="en-US" sz="1800" dirty="0" err="1">
                <a:sym typeface="Symbol" charset="2"/>
              </a:rPr>
              <a:t>ø</a:t>
            </a:r>
            <a:r>
              <a:rPr lang="en-US" sz="1800" dirty="0">
                <a:sym typeface="Symbol" charset="2"/>
              </a:rPr>
              <a:t>      </a:t>
            </a:r>
            <a:r>
              <a:rPr lang="en-US" sz="1800" dirty="0">
                <a:solidFill>
                  <a:schemeClr val="accent5">
                    <a:lumMod val="75000"/>
                  </a:schemeClr>
                </a:solidFill>
                <a:latin typeface="Courier"/>
                <a:cs typeface="Courier"/>
                <a:sym typeface="Symbol" charset="2"/>
              </a:rPr>
              <a:t>adjustable  adjust</a:t>
            </a:r>
          </a:p>
          <a:p>
            <a:pPr marL="514350" lvl="1" indent="0">
              <a:buNone/>
            </a:pPr>
            <a:r>
              <a:rPr lang="en-US" sz="1800" dirty="0">
                <a:latin typeface="Courier"/>
                <a:cs typeface="Courier"/>
                <a:sym typeface="Symbol" charset="2"/>
              </a:rPr>
              <a:t>ate    </a:t>
            </a:r>
            <a:r>
              <a:rPr lang="en-US" sz="1800" dirty="0" err="1">
                <a:latin typeface="Courier"/>
                <a:cs typeface="Courier"/>
                <a:sym typeface="Symbol" charset="2"/>
              </a:rPr>
              <a:t>ø</a:t>
            </a:r>
            <a:r>
              <a:rPr lang="en-US" sz="1800" dirty="0">
                <a:latin typeface="Courier"/>
                <a:cs typeface="Courier"/>
                <a:sym typeface="Symbol" charset="2"/>
              </a:rPr>
              <a:t>  </a:t>
            </a:r>
            <a:r>
              <a:rPr lang="en-US" sz="1800" dirty="0">
                <a:solidFill>
                  <a:schemeClr val="accent5">
                    <a:lumMod val="75000"/>
                  </a:schemeClr>
                </a:solidFill>
                <a:latin typeface="Courier"/>
                <a:cs typeface="Courier"/>
                <a:sym typeface="Symbol" charset="2"/>
              </a:rPr>
              <a:t>activate    </a:t>
            </a:r>
            <a:r>
              <a:rPr lang="en-US" sz="1800" dirty="0" err="1">
                <a:solidFill>
                  <a:schemeClr val="accent5">
                    <a:lumMod val="75000"/>
                  </a:schemeClr>
                </a:solidFill>
                <a:latin typeface="Courier"/>
                <a:cs typeface="Courier"/>
                <a:sym typeface="Symbol" charset="2"/>
              </a:rPr>
              <a:t>activ</a:t>
            </a:r>
            <a:endParaRPr lang="en-US" sz="1800" dirty="0">
              <a:solidFill>
                <a:schemeClr val="accent5">
                  <a:lumMod val="75000"/>
                </a:schemeClr>
              </a:solidFill>
              <a:latin typeface="Courier"/>
              <a:cs typeface="Courier"/>
              <a:sym typeface="Symbol" charset="2"/>
            </a:endParaRPr>
          </a:p>
          <a:p>
            <a:pPr marL="514350" lvl="1" indent="0">
              <a:buNone/>
            </a:pPr>
            <a:r>
              <a:rPr lang="en-US" sz="1800" dirty="0">
                <a:latin typeface="Courier"/>
                <a:cs typeface="Courier"/>
                <a:sym typeface="Symbol" charset="2"/>
              </a:rPr>
              <a:t>…</a:t>
            </a:r>
            <a:endParaRPr lang="en-US" sz="1800" dirty="0">
              <a:solidFill>
                <a:schemeClr val="accent5">
                  <a:lumMod val="75000"/>
                </a:schemeClr>
              </a:solidFill>
              <a:latin typeface="Courier"/>
              <a:cs typeface="Courier"/>
              <a:sym typeface="Symbol" charset="2"/>
            </a:endParaRPr>
          </a:p>
          <a:p>
            <a:endParaRPr lang="en-US" sz="2475" dirty="0">
              <a:latin typeface="Courier"/>
              <a:cs typeface="Courier"/>
              <a:sym typeface="Symbol" charset="2"/>
            </a:endParaRPr>
          </a:p>
        </p:txBody>
      </p:sp>
    </p:spTree>
    <p:extLst>
      <p:ext uri="{BB962C8B-B14F-4D97-AF65-F5344CB8AC3E}">
        <p14:creationId xmlns:p14="http://schemas.microsoft.com/office/powerpoint/2010/main" val="366092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3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9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3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93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93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93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939">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939">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939">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381000"/>
            <a:ext cx="9753600" cy="533400"/>
          </a:xfrm>
        </p:spPr>
        <p:txBody>
          <a:bodyPr/>
          <a:lstStyle/>
          <a:p>
            <a:r>
              <a:rPr lang="en-US" dirty="0"/>
              <a:t>Viewing morphology in a corpus</a:t>
            </a:r>
            <a:br>
              <a:rPr lang="en-US" dirty="0"/>
            </a:br>
            <a:r>
              <a:rPr lang="en-US" dirty="0"/>
              <a:t>Why only strip –</a:t>
            </a:r>
            <a:r>
              <a:rPr lang="en-US" dirty="0" err="1"/>
              <a:t>ing</a:t>
            </a:r>
            <a:r>
              <a:rPr lang="en-US" dirty="0"/>
              <a:t> if there is a vowel?</a:t>
            </a:r>
          </a:p>
        </p:txBody>
      </p:sp>
      <p:sp>
        <p:nvSpPr>
          <p:cNvPr id="3" name="Content Placeholder 2"/>
          <p:cNvSpPr>
            <a:spLocks noGrp="1"/>
          </p:cNvSpPr>
          <p:nvPr>
            <p:ph idx="1"/>
          </p:nvPr>
        </p:nvSpPr>
        <p:spPr>
          <a:xfrm>
            <a:off x="514350" y="1676400"/>
            <a:ext cx="9258300" cy="3840163"/>
          </a:xfrm>
        </p:spPr>
        <p:txBody>
          <a:bodyPr/>
          <a:lstStyle/>
          <a:p>
            <a:pPr marL="514350" lvl="1" indent="0">
              <a:buNone/>
            </a:pPr>
            <a:r>
              <a:rPr lang="en-US" sz="1800" dirty="0">
                <a:latin typeface="Courier"/>
                <a:cs typeface="Courier"/>
                <a:sym typeface="Symbol" charset="2"/>
              </a:rPr>
              <a:t>(*v*)</a:t>
            </a:r>
            <a:r>
              <a:rPr lang="en-US" sz="1800" dirty="0" err="1">
                <a:latin typeface="Courier"/>
                <a:cs typeface="Courier"/>
                <a:sym typeface="Symbol" charset="2"/>
              </a:rPr>
              <a:t>ing</a:t>
            </a:r>
            <a:r>
              <a:rPr lang="en-US" sz="1800" dirty="0">
                <a:latin typeface="Courier"/>
                <a:cs typeface="Courier"/>
                <a:sym typeface="Symbol" charset="2"/>
              </a:rPr>
              <a:t>  </a:t>
            </a:r>
            <a:r>
              <a:rPr lang="en-US" sz="1800" dirty="0" err="1">
                <a:sym typeface="Symbol" charset="2"/>
              </a:rPr>
              <a:t>ø</a:t>
            </a:r>
            <a:r>
              <a:rPr lang="en-US" sz="1800" dirty="0">
                <a:sym typeface="Symbol" charset="2"/>
              </a:rPr>
              <a:t>    </a:t>
            </a:r>
            <a:r>
              <a:rPr lang="en-US" sz="1800" dirty="0">
                <a:solidFill>
                  <a:schemeClr val="accent5">
                    <a:lumMod val="75000"/>
                  </a:schemeClr>
                </a:solidFill>
                <a:latin typeface="Courier"/>
                <a:cs typeface="Courier"/>
                <a:sym typeface="Symbol" charset="2"/>
              </a:rPr>
              <a:t>walking    walk</a:t>
            </a:r>
          </a:p>
          <a:p>
            <a:pPr marL="514350" lvl="1" indent="0">
              <a:buNone/>
            </a:pPr>
            <a:r>
              <a:rPr lang="en-US" sz="1800" dirty="0">
                <a:solidFill>
                  <a:schemeClr val="accent5">
                    <a:lumMod val="75000"/>
                  </a:schemeClr>
                </a:solidFill>
                <a:latin typeface="Courier"/>
                <a:cs typeface="Courier"/>
                <a:sym typeface="Symbol" charset="2"/>
              </a:rPr>
              <a:t>              sing       sing</a:t>
            </a:r>
          </a:p>
          <a:p>
            <a:pPr marL="514350" lvl="1" indent="0">
              <a:buNone/>
            </a:pPr>
            <a:endParaRPr lang="en-US" sz="1800" dirty="0">
              <a:solidFill>
                <a:schemeClr val="accent5">
                  <a:lumMod val="75000"/>
                </a:schemeClr>
              </a:solidFill>
              <a:latin typeface="Courier"/>
              <a:cs typeface="Courier"/>
              <a:sym typeface="Symbol" charset="2"/>
            </a:endParaRPr>
          </a:p>
        </p:txBody>
      </p:sp>
      <p:sp>
        <p:nvSpPr>
          <p:cNvPr id="7" name="TextBox 6"/>
          <p:cNvSpPr txBox="1"/>
          <p:nvPr/>
        </p:nvSpPr>
        <p:spPr>
          <a:xfrm>
            <a:off x="4541025" y="2857500"/>
            <a:ext cx="1539204" cy="1962076"/>
          </a:xfrm>
          <a:prstGeom prst="rect">
            <a:avLst/>
          </a:prstGeom>
          <a:noFill/>
        </p:spPr>
        <p:txBody>
          <a:bodyPr wrap="none" rtlCol="0">
            <a:spAutoFit/>
          </a:bodyPr>
          <a:lstStyle/>
          <a:p>
            <a:pPr>
              <a:lnSpc>
                <a:spcPct val="90000"/>
              </a:lnSpc>
            </a:pPr>
            <a:r>
              <a:rPr lang="en-US" sz="1350" dirty="0">
                <a:latin typeface="Courier"/>
                <a:cs typeface="Courier"/>
              </a:rPr>
              <a:t>548 being</a:t>
            </a:r>
          </a:p>
          <a:p>
            <a:pPr>
              <a:lnSpc>
                <a:spcPct val="90000"/>
              </a:lnSpc>
            </a:pPr>
            <a:r>
              <a:rPr lang="en-US" sz="1350" dirty="0">
                <a:solidFill>
                  <a:srgbClr val="A6A6A6"/>
                </a:solidFill>
                <a:latin typeface="Courier"/>
                <a:cs typeface="Courier"/>
              </a:rPr>
              <a:t>541 nothing</a:t>
            </a:r>
          </a:p>
          <a:p>
            <a:pPr>
              <a:lnSpc>
                <a:spcPct val="90000"/>
              </a:lnSpc>
            </a:pPr>
            <a:r>
              <a:rPr lang="en-US" sz="1350" dirty="0">
                <a:solidFill>
                  <a:srgbClr val="A6A6A6"/>
                </a:solidFill>
                <a:latin typeface="Courier"/>
                <a:cs typeface="Courier"/>
              </a:rPr>
              <a:t>152 something</a:t>
            </a:r>
          </a:p>
          <a:p>
            <a:pPr>
              <a:lnSpc>
                <a:spcPct val="90000"/>
              </a:lnSpc>
            </a:pPr>
            <a:r>
              <a:rPr lang="en-US" sz="1350" dirty="0">
                <a:latin typeface="Courier"/>
                <a:cs typeface="Courier"/>
              </a:rPr>
              <a:t>145 coming</a:t>
            </a:r>
          </a:p>
          <a:p>
            <a:pPr>
              <a:lnSpc>
                <a:spcPct val="90000"/>
              </a:lnSpc>
            </a:pPr>
            <a:r>
              <a:rPr lang="en-US" sz="1350" dirty="0">
                <a:solidFill>
                  <a:srgbClr val="A6A6A6"/>
                </a:solidFill>
                <a:latin typeface="Courier"/>
                <a:cs typeface="Courier"/>
              </a:rPr>
              <a:t>130 morning</a:t>
            </a:r>
          </a:p>
          <a:p>
            <a:pPr>
              <a:lnSpc>
                <a:spcPct val="90000"/>
              </a:lnSpc>
            </a:pPr>
            <a:r>
              <a:rPr lang="en-US" sz="1350" dirty="0">
                <a:latin typeface="Courier"/>
                <a:cs typeface="Courier"/>
              </a:rPr>
              <a:t>122 having</a:t>
            </a:r>
          </a:p>
          <a:p>
            <a:pPr>
              <a:lnSpc>
                <a:spcPct val="90000"/>
              </a:lnSpc>
            </a:pPr>
            <a:r>
              <a:rPr lang="en-US" sz="1350" dirty="0">
                <a:latin typeface="Courier"/>
                <a:cs typeface="Courier"/>
              </a:rPr>
              <a:t>120 living</a:t>
            </a:r>
          </a:p>
          <a:p>
            <a:pPr>
              <a:lnSpc>
                <a:spcPct val="90000"/>
              </a:lnSpc>
            </a:pPr>
            <a:r>
              <a:rPr lang="en-US" sz="1350" dirty="0">
                <a:latin typeface="Courier"/>
                <a:cs typeface="Courier"/>
              </a:rPr>
              <a:t>117 loving</a:t>
            </a:r>
          </a:p>
          <a:p>
            <a:pPr>
              <a:lnSpc>
                <a:spcPct val="90000"/>
              </a:lnSpc>
            </a:pPr>
            <a:r>
              <a:rPr lang="en-US" sz="1350" dirty="0">
                <a:latin typeface="Courier"/>
                <a:cs typeface="Courier"/>
              </a:rPr>
              <a:t>116 Being</a:t>
            </a:r>
          </a:p>
          <a:p>
            <a:pPr>
              <a:lnSpc>
                <a:spcPct val="90000"/>
              </a:lnSpc>
            </a:pPr>
            <a:r>
              <a:rPr lang="en-US" sz="1350" dirty="0">
                <a:latin typeface="Courier"/>
                <a:cs typeface="Courier"/>
              </a:rPr>
              <a:t>102 going</a:t>
            </a:r>
          </a:p>
        </p:txBody>
      </p:sp>
      <p:sp>
        <p:nvSpPr>
          <p:cNvPr id="8" name="TextBox 7"/>
          <p:cNvSpPr txBox="1"/>
          <p:nvPr/>
        </p:nvSpPr>
        <p:spPr>
          <a:xfrm>
            <a:off x="2055001" y="2857500"/>
            <a:ext cx="1643399" cy="1962076"/>
          </a:xfrm>
          <a:prstGeom prst="rect">
            <a:avLst/>
          </a:prstGeom>
          <a:noFill/>
        </p:spPr>
        <p:txBody>
          <a:bodyPr wrap="none" rtlCol="0">
            <a:spAutoFit/>
          </a:bodyPr>
          <a:lstStyle/>
          <a:p>
            <a:pPr>
              <a:lnSpc>
                <a:spcPct val="90000"/>
              </a:lnSpc>
            </a:pPr>
            <a:r>
              <a:rPr lang="en-US" sz="1350" dirty="0">
                <a:solidFill>
                  <a:schemeClr val="bg1">
                    <a:lumMod val="65000"/>
                  </a:schemeClr>
                </a:solidFill>
                <a:latin typeface="Courier"/>
                <a:cs typeface="Courier"/>
              </a:rPr>
              <a:t>1312 King</a:t>
            </a:r>
          </a:p>
          <a:p>
            <a:pPr>
              <a:lnSpc>
                <a:spcPct val="90000"/>
              </a:lnSpc>
            </a:pPr>
            <a:r>
              <a:rPr lang="en-US" sz="1350" dirty="0">
                <a:latin typeface="Courier"/>
                <a:cs typeface="Courier"/>
              </a:rPr>
              <a:t> 548 being</a:t>
            </a:r>
          </a:p>
          <a:p>
            <a:pPr>
              <a:lnSpc>
                <a:spcPct val="90000"/>
              </a:lnSpc>
            </a:pPr>
            <a:r>
              <a:rPr lang="en-US" sz="1350" dirty="0">
                <a:solidFill>
                  <a:srgbClr val="7CD7CF"/>
                </a:solidFill>
                <a:latin typeface="Courier"/>
                <a:cs typeface="Courier"/>
              </a:rPr>
              <a:t> </a:t>
            </a:r>
            <a:r>
              <a:rPr lang="en-US" sz="1350" dirty="0">
                <a:solidFill>
                  <a:schemeClr val="bg1">
                    <a:lumMod val="65000"/>
                  </a:schemeClr>
                </a:solidFill>
                <a:latin typeface="Courier"/>
                <a:cs typeface="Courier"/>
              </a:rPr>
              <a:t>541 nothing</a:t>
            </a:r>
          </a:p>
          <a:p>
            <a:pPr>
              <a:lnSpc>
                <a:spcPct val="90000"/>
              </a:lnSpc>
            </a:pPr>
            <a:r>
              <a:rPr lang="en-US" sz="1350" dirty="0">
                <a:solidFill>
                  <a:schemeClr val="bg1">
                    <a:lumMod val="65000"/>
                  </a:schemeClr>
                </a:solidFill>
                <a:latin typeface="Courier"/>
                <a:cs typeface="Courier"/>
              </a:rPr>
              <a:t> 388 king</a:t>
            </a:r>
          </a:p>
          <a:p>
            <a:pPr>
              <a:lnSpc>
                <a:spcPct val="90000"/>
              </a:lnSpc>
            </a:pPr>
            <a:r>
              <a:rPr lang="en-US" sz="1350" dirty="0">
                <a:solidFill>
                  <a:schemeClr val="bg1">
                    <a:lumMod val="65000"/>
                  </a:schemeClr>
                </a:solidFill>
                <a:latin typeface="Courier"/>
                <a:cs typeface="Courier"/>
              </a:rPr>
              <a:t> 375 bring</a:t>
            </a:r>
          </a:p>
          <a:p>
            <a:pPr>
              <a:lnSpc>
                <a:spcPct val="90000"/>
              </a:lnSpc>
            </a:pPr>
            <a:r>
              <a:rPr lang="en-US" sz="1350" dirty="0">
                <a:solidFill>
                  <a:schemeClr val="bg1">
                    <a:lumMod val="65000"/>
                  </a:schemeClr>
                </a:solidFill>
                <a:latin typeface="Courier"/>
                <a:cs typeface="Courier"/>
              </a:rPr>
              <a:t> 358 thing</a:t>
            </a:r>
          </a:p>
          <a:p>
            <a:pPr>
              <a:lnSpc>
                <a:spcPct val="90000"/>
              </a:lnSpc>
            </a:pPr>
            <a:r>
              <a:rPr lang="en-US" sz="1350" dirty="0">
                <a:solidFill>
                  <a:schemeClr val="bg1">
                    <a:lumMod val="65000"/>
                  </a:schemeClr>
                </a:solidFill>
                <a:latin typeface="Courier"/>
                <a:cs typeface="Courier"/>
              </a:rPr>
              <a:t> 307 ring</a:t>
            </a:r>
          </a:p>
          <a:p>
            <a:pPr>
              <a:lnSpc>
                <a:spcPct val="90000"/>
              </a:lnSpc>
            </a:pPr>
            <a:r>
              <a:rPr lang="en-US" sz="1350" dirty="0">
                <a:solidFill>
                  <a:schemeClr val="bg1">
                    <a:lumMod val="65000"/>
                  </a:schemeClr>
                </a:solidFill>
                <a:latin typeface="Courier"/>
                <a:cs typeface="Courier"/>
              </a:rPr>
              <a:t> 152 something</a:t>
            </a:r>
          </a:p>
          <a:p>
            <a:pPr>
              <a:lnSpc>
                <a:spcPct val="90000"/>
              </a:lnSpc>
            </a:pPr>
            <a:r>
              <a:rPr lang="en-US" sz="1350" dirty="0">
                <a:latin typeface="Courier"/>
                <a:cs typeface="Courier"/>
              </a:rPr>
              <a:t> 145 coming</a:t>
            </a:r>
          </a:p>
          <a:p>
            <a:pPr>
              <a:lnSpc>
                <a:spcPct val="90000"/>
              </a:lnSpc>
            </a:pPr>
            <a:r>
              <a:rPr lang="en-US" sz="1350" dirty="0">
                <a:solidFill>
                  <a:schemeClr val="bg1">
                    <a:lumMod val="65000"/>
                  </a:schemeClr>
                </a:solidFill>
                <a:latin typeface="Courier"/>
                <a:cs typeface="Courier"/>
              </a:rPr>
              <a:t> 130 morning </a:t>
            </a:r>
          </a:p>
        </p:txBody>
      </p:sp>
    </p:spTree>
    <p:extLst>
      <p:ext uri="{BB962C8B-B14F-4D97-AF65-F5344CB8AC3E}">
        <p14:creationId xmlns:p14="http://schemas.microsoft.com/office/powerpoint/2010/main" val="405496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lstStyle/>
          <a:p>
            <a:r>
              <a:rPr lang="en-US"/>
              <a:t>Problems with stemming</a:t>
            </a:r>
          </a:p>
        </p:txBody>
      </p:sp>
      <p:sp>
        <p:nvSpPr>
          <p:cNvPr id="906243" name="Rectangle 3"/>
          <p:cNvSpPr>
            <a:spLocks noGrp="1" noChangeArrowheads="1"/>
          </p:cNvSpPr>
          <p:nvPr>
            <p:ph idx="1"/>
          </p:nvPr>
        </p:nvSpPr>
        <p:spPr/>
        <p:txBody>
          <a:bodyPr>
            <a:normAutofit/>
          </a:bodyPr>
          <a:lstStyle/>
          <a:p>
            <a:r>
              <a:rPr lang="en-US" sz="2000" dirty="0"/>
              <a:t>Lack of domain-specificity and context can lead to occasional serious retrieval failures (which “stocking” is meant)</a:t>
            </a:r>
          </a:p>
          <a:p>
            <a:r>
              <a:rPr lang="en-US" sz="2000" dirty="0"/>
              <a:t>Stemmers are often difficult to understand and modify</a:t>
            </a:r>
          </a:p>
          <a:p>
            <a:r>
              <a:rPr lang="en-US" sz="2000" dirty="0"/>
              <a:t>Sometimes too aggressive in conflation </a:t>
            </a:r>
          </a:p>
          <a:p>
            <a:pPr lvl="1"/>
            <a:r>
              <a:rPr lang="en-US" sz="1800" dirty="0"/>
              <a:t>e.g., “policy”/“police”, “execute”/“executive”, “university”/“universe”, “organization”/“organ” are conflated by Porter</a:t>
            </a:r>
          </a:p>
          <a:p>
            <a:r>
              <a:rPr lang="en-US" sz="2000" dirty="0"/>
              <a:t>Miss good conflations</a:t>
            </a:r>
          </a:p>
          <a:p>
            <a:pPr lvl="1"/>
            <a:r>
              <a:rPr lang="en-US" sz="1800" dirty="0"/>
              <a:t>e.g., “European”/“Europe”, “matrices”/“matrix”, “machine”/“machinery” are not conflated by Porter</a:t>
            </a:r>
            <a:r>
              <a:rPr lang="en-US" sz="1800" dirty="0">
                <a:latin typeface="Courier New" pitchFamily="49" charset="0"/>
              </a:rPr>
              <a:t> </a:t>
            </a:r>
          </a:p>
          <a:p>
            <a:r>
              <a:rPr lang="en-US" sz="2000" dirty="0"/>
              <a:t>Produce stems that are not words and are often difficult for a user to interpret</a:t>
            </a:r>
          </a:p>
          <a:p>
            <a:pPr lvl="1"/>
            <a:r>
              <a:rPr lang="en-US" sz="1800" dirty="0"/>
              <a:t> e.g., with Porter, “iteration” produces “</a:t>
            </a:r>
            <a:r>
              <a:rPr lang="en-US" sz="1800" dirty="0" err="1"/>
              <a:t>iter</a:t>
            </a:r>
            <a:r>
              <a:rPr lang="en-US" sz="1800" dirty="0"/>
              <a:t>” and “general”  produces “</a:t>
            </a:r>
            <a:r>
              <a:rPr lang="en-US" sz="1800" dirty="0" err="1"/>
              <a:t>gener</a:t>
            </a:r>
            <a:r>
              <a:rPr lang="en-US" sz="1800" dirty="0"/>
              <a:t>”</a:t>
            </a:r>
          </a:p>
        </p:txBody>
      </p:sp>
    </p:spTree>
    <p:extLst>
      <p:ext uri="{BB962C8B-B14F-4D97-AF65-F5344CB8AC3E}">
        <p14:creationId xmlns:p14="http://schemas.microsoft.com/office/powerpoint/2010/main" val="2989467917"/>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067800" cy="533399"/>
          </a:xfrm>
        </p:spPr>
        <p:txBody>
          <a:bodyPr/>
          <a:lstStyle/>
          <a:p>
            <a:r>
              <a:rPr lang="en-IN" sz="4000"/>
              <a:t>Stemming </a:t>
            </a:r>
            <a:r>
              <a:rPr lang="en-IN" sz="4000" dirty="0"/>
              <a:t>vs lemmatization</a:t>
            </a:r>
          </a:p>
        </p:txBody>
      </p:sp>
      <p:sp>
        <p:nvSpPr>
          <p:cNvPr id="3" name="Content Placeholder 2"/>
          <p:cNvSpPr>
            <a:spLocks noGrp="1"/>
          </p:cNvSpPr>
          <p:nvPr>
            <p:ph idx="1"/>
          </p:nvPr>
        </p:nvSpPr>
        <p:spPr/>
        <p:txBody>
          <a:bodyPr/>
          <a:lstStyle/>
          <a:p>
            <a:r>
              <a:rPr lang="en-US" sz="2400" dirty="0"/>
              <a:t>Stemming:</a:t>
            </a:r>
          </a:p>
          <a:p>
            <a:pPr lvl="1"/>
            <a:r>
              <a:rPr lang="en-US" sz="2000" dirty="0"/>
              <a:t>crude heuristic process </a:t>
            </a:r>
          </a:p>
          <a:p>
            <a:pPr lvl="1"/>
            <a:r>
              <a:rPr lang="en-US" sz="2000" dirty="0"/>
              <a:t>chops off the ends of words in the hope of achieving this goal correctly most of the time.</a:t>
            </a:r>
          </a:p>
          <a:p>
            <a:r>
              <a:rPr lang="en-US" sz="2400" dirty="0"/>
              <a:t>Lemmatization:</a:t>
            </a:r>
          </a:p>
          <a:p>
            <a:pPr lvl="1"/>
            <a:r>
              <a:rPr lang="en-US" sz="2000" dirty="0"/>
              <a:t>does things properly with the use of a vocabulary and morphological analysis of words</a:t>
            </a:r>
          </a:p>
          <a:p>
            <a:pPr lvl="1"/>
            <a:r>
              <a:rPr lang="en-US" sz="2000" dirty="0"/>
              <a:t>normally aims to remove inflectional endings only</a:t>
            </a:r>
          </a:p>
          <a:p>
            <a:pPr lvl="1"/>
            <a:r>
              <a:rPr lang="en-US" sz="2000" dirty="0"/>
              <a:t>returns the base or dictionary form of a word, which is known as the lemma. </a:t>
            </a:r>
          </a:p>
          <a:p>
            <a:r>
              <a:rPr lang="en-US" sz="2400" dirty="0"/>
              <a:t>For the token “saw”</a:t>
            </a:r>
          </a:p>
          <a:p>
            <a:pPr lvl="1"/>
            <a:r>
              <a:rPr lang="en-US" sz="2000" dirty="0"/>
              <a:t>stemming might return just “s”</a:t>
            </a:r>
          </a:p>
          <a:p>
            <a:pPr lvl="1"/>
            <a:r>
              <a:rPr lang="en-US" sz="2000" dirty="0"/>
              <a:t>lemmatization would attempt to return either “see” or “saw” depending on whether the use of the token was as a verb or a noun.</a:t>
            </a:r>
          </a:p>
          <a:p>
            <a:endParaRPr lang="en-US" sz="2400" dirty="0"/>
          </a:p>
          <a:p>
            <a:endParaRPr lang="en-IN" sz="2400" dirty="0"/>
          </a:p>
          <a:p>
            <a:endParaRPr lang="en-IN" sz="2400" dirty="0"/>
          </a:p>
        </p:txBody>
      </p:sp>
    </p:spTree>
    <p:extLst>
      <p:ext uri="{BB962C8B-B14F-4D97-AF65-F5344CB8AC3E}">
        <p14:creationId xmlns:p14="http://schemas.microsoft.com/office/powerpoint/2010/main" val="2611363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Sentence Segmentation</a:t>
            </a:r>
          </a:p>
        </p:txBody>
      </p:sp>
    </p:spTree>
    <p:extLst>
      <p:ext uri="{BB962C8B-B14F-4D97-AF65-F5344CB8AC3E}">
        <p14:creationId xmlns:p14="http://schemas.microsoft.com/office/powerpoint/2010/main" val="1746959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Sentence Segmentation</a:t>
            </a:r>
          </a:p>
        </p:txBody>
      </p:sp>
      <p:sp>
        <p:nvSpPr>
          <p:cNvPr id="59395" name="Rectangle 3"/>
          <p:cNvSpPr>
            <a:spLocks noGrp="1" noChangeArrowheads="1"/>
          </p:cNvSpPr>
          <p:nvPr>
            <p:ph idx="1"/>
          </p:nvPr>
        </p:nvSpPr>
        <p:spPr/>
        <p:txBody>
          <a:bodyPr/>
          <a:lstStyle/>
          <a:p>
            <a:r>
              <a:rPr lang="en-US" dirty="0"/>
              <a:t>!, ? are relatively unambiguous</a:t>
            </a:r>
          </a:p>
          <a:p>
            <a:r>
              <a:rPr lang="en-US" dirty="0"/>
              <a:t>Period “.” is quite ambiguous</a:t>
            </a:r>
          </a:p>
          <a:p>
            <a:pPr lvl="1"/>
            <a:r>
              <a:rPr lang="en-US" dirty="0"/>
              <a:t>Sentence boundary</a:t>
            </a:r>
          </a:p>
          <a:p>
            <a:pPr lvl="1"/>
            <a:r>
              <a:rPr lang="en-US" dirty="0"/>
              <a:t>Abbreviations like Inc. or Dr.</a:t>
            </a:r>
          </a:p>
          <a:p>
            <a:pPr lvl="1"/>
            <a:r>
              <a:rPr lang="en-US" dirty="0"/>
              <a:t>Numbers like .02% or 4.3</a:t>
            </a:r>
          </a:p>
          <a:p>
            <a:r>
              <a:rPr lang="en-US" dirty="0"/>
              <a:t>Build a binary classifier</a:t>
            </a:r>
          </a:p>
          <a:p>
            <a:pPr lvl="1"/>
            <a:r>
              <a:rPr lang="en-US" dirty="0"/>
              <a:t>Looks at a “.”</a:t>
            </a:r>
          </a:p>
          <a:p>
            <a:pPr lvl="1"/>
            <a:r>
              <a:rPr lang="en-US" dirty="0"/>
              <a:t>Decides </a:t>
            </a:r>
            <a:r>
              <a:rPr lang="en-US" dirty="0" err="1"/>
              <a:t>EndOfSentence</a:t>
            </a:r>
            <a:r>
              <a:rPr lang="en-US" dirty="0"/>
              <a:t>/</a:t>
            </a:r>
            <a:r>
              <a:rPr lang="en-US" dirty="0" err="1"/>
              <a:t>NotEndOfSentence</a:t>
            </a:r>
            <a:endParaRPr lang="en-US" dirty="0"/>
          </a:p>
          <a:p>
            <a:pPr lvl="1"/>
            <a:r>
              <a:rPr lang="en-US" dirty="0"/>
              <a:t>Classifiers: hand-written rules, regular expressions, or machine-learning</a:t>
            </a:r>
          </a:p>
        </p:txBody>
      </p:sp>
    </p:spTree>
    <p:extLst>
      <p:ext uri="{BB962C8B-B14F-4D97-AF65-F5344CB8AC3E}">
        <p14:creationId xmlns:p14="http://schemas.microsoft.com/office/powerpoint/2010/main" val="234953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939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3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90500" y="152400"/>
            <a:ext cx="9677400" cy="685799"/>
          </a:xfrm>
        </p:spPr>
        <p:txBody>
          <a:bodyPr/>
          <a:lstStyle/>
          <a:p>
            <a:pPr>
              <a:lnSpc>
                <a:spcPct val="80000"/>
              </a:lnSpc>
            </a:pPr>
            <a:r>
              <a:rPr lang="en-US" dirty="0"/>
              <a:t>Determining if a Word is End-of-sentence: A Decision Tree</a:t>
            </a:r>
          </a:p>
        </p:txBody>
      </p:sp>
      <p:pic>
        <p:nvPicPr>
          <p:cNvPr id="4" name="Picture 3" descr="periodDT"/>
          <p:cNvPicPr>
            <a:picLocks noChangeAspect="1" noChangeArrowheads="1"/>
          </p:cNvPicPr>
          <p:nvPr/>
        </p:nvPicPr>
        <p:blipFill>
          <a:blip r:embed="rId3"/>
          <a:srcRect/>
          <a:stretch>
            <a:fillRect/>
          </a:stretch>
        </p:blipFill>
        <p:spPr bwMode="auto">
          <a:xfrm>
            <a:off x="495300" y="1447800"/>
            <a:ext cx="5058070" cy="4172126"/>
          </a:xfrm>
          <a:prstGeom prst="rect">
            <a:avLst/>
          </a:prstGeom>
          <a:noFill/>
          <a:ln w="9525">
            <a:noFill/>
            <a:miter lim="800000"/>
            <a:headEnd/>
            <a:tailEnd/>
          </a:ln>
        </p:spPr>
      </p:pic>
      <p:sp>
        <p:nvSpPr>
          <p:cNvPr id="5" name="Rectangle 3"/>
          <p:cNvSpPr>
            <a:spLocks noGrp="1" noChangeArrowheads="1"/>
          </p:cNvSpPr>
          <p:nvPr>
            <p:ph idx="1"/>
          </p:nvPr>
        </p:nvSpPr>
        <p:spPr>
          <a:xfrm>
            <a:off x="5566070" y="1371600"/>
            <a:ext cx="4400550" cy="3124199"/>
          </a:xfrm>
        </p:spPr>
        <p:txBody>
          <a:bodyPr/>
          <a:lstStyle/>
          <a:p>
            <a:pPr>
              <a:lnSpc>
                <a:spcPct val="90000"/>
              </a:lnSpc>
            </a:pPr>
            <a:r>
              <a:rPr lang="en-IN" sz="3150" dirty="0"/>
              <a:t>Other features</a:t>
            </a:r>
            <a:endParaRPr lang="en-US" sz="3150" dirty="0"/>
          </a:p>
          <a:p>
            <a:pPr lvl="1">
              <a:lnSpc>
                <a:spcPct val="90000"/>
              </a:lnSpc>
            </a:pPr>
            <a:r>
              <a:rPr lang="en-US" sz="2750" dirty="0"/>
              <a:t>Case of word with/after “.”: Upper, Lower, Cap, Number</a:t>
            </a:r>
          </a:p>
          <a:p>
            <a:pPr lvl="1">
              <a:lnSpc>
                <a:spcPct val="90000"/>
              </a:lnSpc>
            </a:pPr>
            <a:r>
              <a:rPr lang="en-US" sz="2700" dirty="0"/>
              <a:t>Length of word with “.”</a:t>
            </a:r>
          </a:p>
        </p:txBody>
      </p:sp>
    </p:spTree>
    <p:extLst>
      <p:ext uri="{BB962C8B-B14F-4D97-AF65-F5344CB8AC3E}">
        <p14:creationId xmlns:p14="http://schemas.microsoft.com/office/powerpoint/2010/main" val="418338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Phrase Identification</a:t>
            </a:r>
          </a:p>
        </p:txBody>
      </p:sp>
    </p:spTree>
    <p:extLst>
      <p:ext uri="{BB962C8B-B14F-4D97-AF65-F5344CB8AC3E}">
        <p14:creationId xmlns:p14="http://schemas.microsoft.com/office/powerpoint/2010/main" val="3136764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70" name="Rectangle 6"/>
          <p:cNvSpPr>
            <a:spLocks noGrp="1" noChangeArrowheads="1"/>
          </p:cNvSpPr>
          <p:nvPr>
            <p:ph type="title"/>
          </p:nvPr>
        </p:nvSpPr>
        <p:spPr/>
        <p:txBody>
          <a:bodyPr/>
          <a:lstStyle/>
          <a:p>
            <a:r>
              <a:rPr lang="en-US" dirty="0"/>
              <a:t>Phrase Identification</a:t>
            </a:r>
          </a:p>
        </p:txBody>
      </p:sp>
      <p:sp>
        <p:nvSpPr>
          <p:cNvPr id="907271" name="Rectangle 7"/>
          <p:cNvSpPr>
            <a:spLocks noGrp="1" noChangeArrowheads="1"/>
          </p:cNvSpPr>
          <p:nvPr>
            <p:ph idx="1"/>
          </p:nvPr>
        </p:nvSpPr>
        <p:spPr/>
        <p:txBody>
          <a:bodyPr>
            <a:normAutofit/>
          </a:bodyPr>
          <a:lstStyle/>
          <a:p>
            <a:pPr>
              <a:lnSpc>
                <a:spcPct val="80000"/>
              </a:lnSpc>
            </a:pPr>
            <a:r>
              <a:rPr lang="en-US" sz="2800"/>
              <a:t>Goal is to use phrases as indexing units</a:t>
            </a:r>
          </a:p>
          <a:p>
            <a:pPr lvl="1">
              <a:lnSpc>
                <a:spcPct val="80000"/>
              </a:lnSpc>
            </a:pPr>
            <a:r>
              <a:rPr lang="en-US" sz="2400"/>
              <a:t>Makes general words more specific</a:t>
            </a:r>
          </a:p>
          <a:p>
            <a:pPr lvl="1">
              <a:lnSpc>
                <a:spcPct val="80000"/>
              </a:lnSpc>
            </a:pPr>
            <a:r>
              <a:rPr lang="en-US" sz="2400"/>
              <a:t>blood </a:t>
            </a:r>
            <a:r>
              <a:rPr lang="en-US" sz="2400">
                <a:sym typeface="Symbol" pitchFamily="18" charset="2"/>
              </a:rPr>
              <a:t> blood hound, blood test, blood brother, …</a:t>
            </a:r>
          </a:p>
          <a:p>
            <a:pPr>
              <a:lnSpc>
                <a:spcPct val="80000"/>
              </a:lnSpc>
            </a:pPr>
            <a:r>
              <a:rPr lang="en-US" sz="2800"/>
              <a:t>Statistical approach</a:t>
            </a:r>
          </a:p>
          <a:p>
            <a:pPr lvl="1">
              <a:lnSpc>
                <a:spcPct val="80000"/>
              </a:lnSpc>
            </a:pPr>
            <a:r>
              <a:rPr lang="en-US" sz="2400"/>
              <a:t>Index all pairs of adjacent words (“bigrams”)</a:t>
            </a:r>
          </a:p>
          <a:p>
            <a:pPr lvl="1">
              <a:lnSpc>
                <a:spcPct val="80000"/>
              </a:lnSpc>
            </a:pPr>
            <a:r>
              <a:rPr lang="en-US" sz="2400"/>
              <a:t>Explosion in index elements makes this non-feasible</a:t>
            </a:r>
          </a:p>
          <a:p>
            <a:pPr lvl="1">
              <a:lnSpc>
                <a:spcPct val="80000"/>
              </a:lnSpc>
            </a:pPr>
            <a:r>
              <a:rPr lang="en-US" sz="2400"/>
              <a:t>Also, it adds lots of “nonsense” phrases</a:t>
            </a:r>
          </a:p>
          <a:p>
            <a:pPr lvl="2">
              <a:lnSpc>
                <a:spcPct val="80000"/>
              </a:lnSpc>
            </a:pPr>
            <a:r>
              <a:rPr lang="en-US" sz="2000"/>
              <a:t>“also it”, “it adds”, “adds lots”, “lots of”, “of nonsense”, “nonsense phrases”</a:t>
            </a:r>
          </a:p>
          <a:p>
            <a:pPr>
              <a:lnSpc>
                <a:spcPct val="80000"/>
              </a:lnSpc>
            </a:pPr>
            <a:r>
              <a:rPr lang="en-US" sz="2800"/>
              <a:t>NLP approaches</a:t>
            </a:r>
          </a:p>
          <a:p>
            <a:pPr lvl="1">
              <a:lnSpc>
                <a:spcPct val="80000"/>
              </a:lnSpc>
            </a:pPr>
            <a:r>
              <a:rPr lang="en-US" sz="2400"/>
              <a:t>Runs of words</a:t>
            </a:r>
          </a:p>
          <a:p>
            <a:pPr lvl="1">
              <a:lnSpc>
                <a:spcPct val="80000"/>
              </a:lnSpc>
            </a:pPr>
            <a:r>
              <a:rPr lang="en-US" sz="2400"/>
              <a:t>Sentence parsing</a:t>
            </a:r>
          </a:p>
          <a:p>
            <a:pPr lvl="1">
              <a:lnSpc>
                <a:spcPct val="80000"/>
              </a:lnSpc>
            </a:pPr>
            <a:r>
              <a:rPr lang="en-US" sz="2400"/>
              <a:t>Statistical models</a:t>
            </a:r>
          </a:p>
        </p:txBody>
      </p:sp>
    </p:spTree>
    <p:extLst>
      <p:ext uri="{BB962C8B-B14F-4D97-AF65-F5344CB8AC3E}">
        <p14:creationId xmlns:p14="http://schemas.microsoft.com/office/powerpoint/2010/main" val="531568566"/>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4" name="Rectangle 6"/>
          <p:cNvSpPr>
            <a:spLocks noGrp="1" noChangeArrowheads="1"/>
          </p:cNvSpPr>
          <p:nvPr>
            <p:ph type="title"/>
          </p:nvPr>
        </p:nvSpPr>
        <p:spPr/>
        <p:txBody>
          <a:bodyPr/>
          <a:lstStyle/>
          <a:p>
            <a:r>
              <a:rPr lang="en-US" dirty="0"/>
              <a:t>Phrases as Runs of Words</a:t>
            </a:r>
          </a:p>
        </p:txBody>
      </p:sp>
      <p:sp>
        <p:nvSpPr>
          <p:cNvPr id="908295" name="Rectangle 7"/>
          <p:cNvSpPr>
            <a:spLocks noGrp="1" noChangeArrowheads="1"/>
          </p:cNvSpPr>
          <p:nvPr>
            <p:ph idx="1"/>
          </p:nvPr>
        </p:nvSpPr>
        <p:spPr/>
        <p:txBody>
          <a:bodyPr/>
          <a:lstStyle/>
          <a:p>
            <a:r>
              <a:rPr lang="en-US"/>
              <a:t>Consider all runs of words between stop words</a:t>
            </a:r>
          </a:p>
          <a:p>
            <a:pPr lvl="1"/>
            <a:r>
              <a:rPr lang="en-US"/>
              <a:t>Can easily be extended to allow some stopwords</a:t>
            </a:r>
          </a:p>
          <a:p>
            <a:pPr lvl="2"/>
            <a:r>
              <a:rPr lang="en-US"/>
              <a:t>e.g., Library of Congress, cats and dogs</a:t>
            </a:r>
          </a:p>
          <a:p>
            <a:r>
              <a:rPr lang="en-US"/>
              <a:t>Scan a large body of text for occurrences of phrases</a:t>
            </a:r>
          </a:p>
          <a:p>
            <a:r>
              <a:rPr lang="en-US"/>
              <a:t>Any that occur more than n times are valid</a:t>
            </a:r>
          </a:p>
          <a:p>
            <a:pPr lvl="1"/>
            <a:r>
              <a:rPr lang="en-US"/>
              <a:t>Small n (e.g., 4) works impressively well</a:t>
            </a:r>
          </a:p>
        </p:txBody>
      </p:sp>
    </p:spTree>
    <p:extLst>
      <p:ext uri="{BB962C8B-B14F-4D97-AF65-F5344CB8AC3E}">
        <p14:creationId xmlns:p14="http://schemas.microsoft.com/office/powerpoint/2010/main" val="852713"/>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70" name="Rectangle 6"/>
          <p:cNvSpPr>
            <a:spLocks noGrp="1" noChangeArrowheads="1"/>
          </p:cNvSpPr>
          <p:nvPr>
            <p:ph type="title"/>
          </p:nvPr>
        </p:nvSpPr>
        <p:spPr/>
        <p:txBody>
          <a:bodyPr/>
          <a:lstStyle/>
          <a:p>
            <a:r>
              <a:rPr lang="en-US" dirty="0"/>
              <a:t>“Phrase identification”</a:t>
            </a:r>
          </a:p>
        </p:txBody>
      </p:sp>
      <p:sp>
        <p:nvSpPr>
          <p:cNvPr id="907271" name="Rectangle 7"/>
          <p:cNvSpPr>
            <a:spLocks noGrp="1" noChangeArrowheads="1"/>
          </p:cNvSpPr>
          <p:nvPr>
            <p:ph idx="1"/>
          </p:nvPr>
        </p:nvSpPr>
        <p:spPr/>
        <p:txBody>
          <a:bodyPr>
            <a:normAutofit/>
          </a:bodyPr>
          <a:lstStyle/>
          <a:p>
            <a:pPr>
              <a:lnSpc>
                <a:spcPct val="80000"/>
              </a:lnSpc>
            </a:pPr>
            <a:r>
              <a:rPr lang="en-US" sz="2800" dirty="0"/>
              <a:t>“Goal” is to “use phrases” as “indexing units”</a:t>
            </a:r>
          </a:p>
          <a:p>
            <a:pPr lvl="1">
              <a:lnSpc>
                <a:spcPct val="80000"/>
              </a:lnSpc>
            </a:pPr>
            <a:r>
              <a:rPr lang="en-US" sz="2400" dirty="0"/>
              <a:t>Makes “general words” more “specific”</a:t>
            </a:r>
          </a:p>
          <a:p>
            <a:pPr lvl="1">
              <a:lnSpc>
                <a:spcPct val="80000"/>
              </a:lnSpc>
            </a:pPr>
            <a:r>
              <a:rPr lang="en-US" sz="2400" dirty="0"/>
              <a:t>“blood” </a:t>
            </a:r>
            <a:r>
              <a:rPr lang="en-US" sz="2400" dirty="0">
                <a:sym typeface="Symbol" pitchFamily="18" charset="2"/>
              </a:rPr>
              <a:t> “blood hound”, “blood test”, “blood brother”, …</a:t>
            </a:r>
          </a:p>
          <a:p>
            <a:pPr>
              <a:lnSpc>
                <a:spcPct val="80000"/>
              </a:lnSpc>
            </a:pPr>
            <a:r>
              <a:rPr lang="en-US" sz="2800" dirty="0"/>
              <a:t>“Statistical approach”</a:t>
            </a:r>
          </a:p>
          <a:p>
            <a:pPr lvl="1">
              <a:lnSpc>
                <a:spcPct val="80000"/>
              </a:lnSpc>
            </a:pPr>
            <a:r>
              <a:rPr lang="en-US" sz="2400" dirty="0"/>
              <a:t>“Index” all “pairs” of “adjacent words” (“bigrams”)</a:t>
            </a:r>
          </a:p>
          <a:p>
            <a:pPr lvl="1">
              <a:lnSpc>
                <a:spcPct val="80000"/>
              </a:lnSpc>
            </a:pPr>
            <a:r>
              <a:rPr lang="en-US" sz="2400" dirty="0"/>
              <a:t>“Explosion” in “index elements” makes this “non-feasible”</a:t>
            </a:r>
          </a:p>
          <a:p>
            <a:pPr>
              <a:lnSpc>
                <a:spcPct val="80000"/>
              </a:lnSpc>
            </a:pPr>
            <a:r>
              <a:rPr lang="en-US" sz="2800" dirty="0"/>
              <a:t>“NLP approaches”</a:t>
            </a:r>
          </a:p>
          <a:p>
            <a:pPr lvl="1">
              <a:lnSpc>
                <a:spcPct val="80000"/>
              </a:lnSpc>
            </a:pPr>
            <a:r>
              <a:rPr lang="en-US" sz="2400" dirty="0"/>
              <a:t>“Runs” of “words”</a:t>
            </a:r>
          </a:p>
          <a:p>
            <a:pPr lvl="1">
              <a:lnSpc>
                <a:spcPct val="80000"/>
              </a:lnSpc>
            </a:pPr>
            <a:r>
              <a:rPr lang="en-US" sz="2400" dirty="0"/>
              <a:t>“Sentence parsing”</a:t>
            </a:r>
          </a:p>
          <a:p>
            <a:pPr lvl="1">
              <a:lnSpc>
                <a:spcPct val="80000"/>
              </a:lnSpc>
            </a:pPr>
            <a:r>
              <a:rPr lang="en-US" sz="2400" dirty="0"/>
              <a:t>“Statistical models”</a:t>
            </a:r>
          </a:p>
        </p:txBody>
      </p:sp>
    </p:spTree>
    <p:extLst>
      <p:ext uri="{BB962C8B-B14F-4D97-AF65-F5344CB8AC3E}">
        <p14:creationId xmlns:p14="http://schemas.microsoft.com/office/powerpoint/2010/main" val="2825911479"/>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p:txBody>
          <a:bodyPr/>
          <a:lstStyle/>
          <a:p>
            <a:r>
              <a:rPr lang="en-US" dirty="0"/>
              <a:t>Phrases and Their Counts</a:t>
            </a:r>
          </a:p>
        </p:txBody>
      </p:sp>
      <p:sp>
        <p:nvSpPr>
          <p:cNvPr id="909315" name="Rectangle 3"/>
          <p:cNvSpPr>
            <a:spLocks noChangeArrowheads="1"/>
          </p:cNvSpPr>
          <p:nvPr/>
        </p:nvSpPr>
        <p:spPr bwMode="auto">
          <a:xfrm>
            <a:off x="266700" y="1371600"/>
            <a:ext cx="2072555" cy="4708981"/>
          </a:xfrm>
          <a:prstGeom prst="rect">
            <a:avLst/>
          </a:prstGeom>
          <a:noFill/>
          <a:ln w="12700">
            <a:noFill/>
            <a:miter lim="800000"/>
            <a:headEnd type="none" w="sm" len="sm"/>
            <a:tailEnd type="none" w="sm" len="sm"/>
          </a:ln>
          <a:effectLst/>
        </p:spPr>
        <p:txBody>
          <a:bodyPr wrap="none">
            <a:spAutoFit/>
          </a:bodyPr>
          <a:lstStyle/>
          <a:p>
            <a:pPr eaLnBrk="0" hangingPunct="0"/>
            <a:r>
              <a:rPr lang="en-US" sz="1200" b="1" dirty="0"/>
              <a:t>65824 United States</a:t>
            </a:r>
          </a:p>
          <a:p>
            <a:pPr eaLnBrk="0" hangingPunct="0"/>
            <a:r>
              <a:rPr lang="en-US" sz="1200" b="1" dirty="0"/>
              <a:t>61327 Article Type</a:t>
            </a:r>
          </a:p>
          <a:p>
            <a:pPr eaLnBrk="0" hangingPunct="0"/>
            <a:r>
              <a:rPr lang="en-US" sz="1200" b="1" dirty="0"/>
              <a:t>33864 Los Angeles</a:t>
            </a:r>
          </a:p>
          <a:p>
            <a:pPr eaLnBrk="0" hangingPunct="0"/>
            <a:r>
              <a:rPr lang="en-US" sz="1200" b="1" dirty="0"/>
              <a:t>18062 Hong Kong</a:t>
            </a:r>
          </a:p>
          <a:p>
            <a:pPr eaLnBrk="0" hangingPunct="0"/>
            <a:r>
              <a:rPr lang="en-US" sz="1200" b="1" dirty="0"/>
              <a:t>17788 North Korea</a:t>
            </a:r>
          </a:p>
          <a:p>
            <a:pPr eaLnBrk="0" hangingPunct="0"/>
            <a:r>
              <a:rPr lang="en-US" sz="1200" b="1" dirty="0"/>
              <a:t>17308 New York</a:t>
            </a:r>
          </a:p>
          <a:p>
            <a:pPr eaLnBrk="0" hangingPunct="0"/>
            <a:r>
              <a:rPr lang="en-US" sz="1200" b="1" dirty="0"/>
              <a:t>15513 San Diego</a:t>
            </a:r>
          </a:p>
          <a:p>
            <a:pPr eaLnBrk="0" hangingPunct="0"/>
            <a:r>
              <a:rPr lang="en-US" sz="1200" b="1" dirty="0"/>
              <a:t>15009 Orange County</a:t>
            </a:r>
          </a:p>
          <a:p>
            <a:pPr eaLnBrk="0" hangingPunct="0"/>
            <a:r>
              <a:rPr lang="en-US" sz="1200" b="1" dirty="0"/>
              <a:t>12869 prime minister</a:t>
            </a:r>
          </a:p>
          <a:p>
            <a:pPr eaLnBrk="0" hangingPunct="0"/>
            <a:r>
              <a:rPr lang="en-US" sz="1200" b="1" dirty="0"/>
              <a:t>12799 first time</a:t>
            </a:r>
          </a:p>
          <a:p>
            <a:pPr eaLnBrk="0" hangingPunct="0"/>
            <a:r>
              <a:rPr lang="en-US" sz="1200" b="1" dirty="0"/>
              <a:t>12067 Soviet Union</a:t>
            </a:r>
          </a:p>
          <a:p>
            <a:pPr eaLnBrk="0" hangingPunct="0"/>
            <a:r>
              <a:rPr lang="en-US" sz="1200" b="1" dirty="0"/>
              <a:t>10811 Russian Federation</a:t>
            </a:r>
          </a:p>
          <a:p>
            <a:pPr eaLnBrk="0" hangingPunct="0"/>
            <a:r>
              <a:rPr lang="en-US" sz="1200" b="1" dirty="0"/>
              <a:t>9912 United Nations</a:t>
            </a:r>
          </a:p>
          <a:p>
            <a:pPr eaLnBrk="0" hangingPunct="0"/>
            <a:r>
              <a:rPr lang="en-US" sz="1200" b="1" dirty="0"/>
              <a:t>8127 Southern California</a:t>
            </a:r>
          </a:p>
          <a:p>
            <a:pPr eaLnBrk="0" hangingPunct="0"/>
            <a:r>
              <a:rPr lang="en-US" sz="1200" b="1" dirty="0"/>
              <a:t>7640 South Korea</a:t>
            </a:r>
          </a:p>
          <a:p>
            <a:pPr eaLnBrk="0" hangingPunct="0"/>
            <a:r>
              <a:rPr lang="en-US" sz="1200" b="1" dirty="0"/>
              <a:t>7620 end recording</a:t>
            </a:r>
          </a:p>
          <a:p>
            <a:pPr eaLnBrk="0" hangingPunct="0"/>
            <a:r>
              <a:rPr lang="en-US" sz="1200" b="1" dirty="0"/>
              <a:t>7524 European Union</a:t>
            </a:r>
          </a:p>
          <a:p>
            <a:pPr eaLnBrk="0" hangingPunct="0"/>
            <a:r>
              <a:rPr lang="en-US" sz="1200" b="1" dirty="0"/>
              <a:t>7436 South Africa</a:t>
            </a:r>
          </a:p>
          <a:p>
            <a:pPr eaLnBrk="0" hangingPunct="0"/>
            <a:r>
              <a:rPr lang="en-US" sz="1200" b="1" dirty="0"/>
              <a:t>7362 San Francisco</a:t>
            </a:r>
          </a:p>
          <a:p>
            <a:pPr eaLnBrk="0" hangingPunct="0"/>
            <a:r>
              <a:rPr lang="en-US" sz="1200" b="1" dirty="0"/>
              <a:t>7086 news conference</a:t>
            </a:r>
          </a:p>
          <a:p>
            <a:pPr eaLnBrk="0" hangingPunct="0"/>
            <a:r>
              <a:rPr lang="en-US" sz="1200" b="1" dirty="0"/>
              <a:t>6792 City Council</a:t>
            </a:r>
          </a:p>
          <a:p>
            <a:pPr eaLnBrk="0" hangingPunct="0"/>
            <a:r>
              <a:rPr lang="en-US" sz="1200" b="1" dirty="0"/>
              <a:t>6348 Middle East</a:t>
            </a:r>
          </a:p>
          <a:p>
            <a:pPr eaLnBrk="0" hangingPunct="0"/>
            <a:r>
              <a:rPr lang="en-US" sz="1200" b="1" dirty="0"/>
              <a:t>6157 peace process</a:t>
            </a:r>
          </a:p>
          <a:p>
            <a:pPr eaLnBrk="0" hangingPunct="0"/>
            <a:r>
              <a:rPr lang="en-US" sz="1200" b="1" dirty="0"/>
              <a:t>5955 human rights</a:t>
            </a:r>
          </a:p>
          <a:p>
            <a:pPr eaLnBrk="0" hangingPunct="0"/>
            <a:r>
              <a:rPr lang="en-US" sz="1200" b="1" dirty="0"/>
              <a:t>5837 White House</a:t>
            </a:r>
          </a:p>
        </p:txBody>
      </p:sp>
      <p:sp>
        <p:nvSpPr>
          <p:cNvPr id="909316" name="Rectangle 4"/>
          <p:cNvSpPr>
            <a:spLocks noChangeArrowheads="1"/>
          </p:cNvSpPr>
          <p:nvPr/>
        </p:nvSpPr>
        <p:spPr bwMode="auto">
          <a:xfrm>
            <a:off x="2363120" y="1371600"/>
            <a:ext cx="2356735" cy="4893647"/>
          </a:xfrm>
          <a:prstGeom prst="rect">
            <a:avLst/>
          </a:prstGeom>
          <a:noFill/>
          <a:ln w="12700">
            <a:noFill/>
            <a:miter lim="800000"/>
            <a:headEnd type="none" w="sm" len="sm"/>
            <a:tailEnd type="none" w="sm" len="sm"/>
          </a:ln>
          <a:effectLst/>
        </p:spPr>
        <p:txBody>
          <a:bodyPr wrap="none">
            <a:spAutoFit/>
          </a:bodyPr>
          <a:lstStyle/>
          <a:p>
            <a:pPr eaLnBrk="0" hangingPunct="0"/>
            <a:r>
              <a:rPr lang="en-US" sz="1200" b="1" dirty="0"/>
              <a:t>5778 long time</a:t>
            </a:r>
          </a:p>
          <a:p>
            <a:pPr eaLnBrk="0" hangingPunct="0"/>
            <a:r>
              <a:rPr lang="en-US" sz="1200" b="1" dirty="0"/>
              <a:t>5776 Armed Forces</a:t>
            </a:r>
          </a:p>
          <a:p>
            <a:pPr eaLnBrk="0" hangingPunct="0"/>
            <a:r>
              <a:rPr lang="en-US" sz="1200" b="1" dirty="0"/>
              <a:t>5636 Santa Ana</a:t>
            </a:r>
          </a:p>
          <a:p>
            <a:pPr eaLnBrk="0" hangingPunct="0"/>
            <a:r>
              <a:rPr lang="en-US" sz="1200" b="1" dirty="0"/>
              <a:t>5619 Foreign Ministry</a:t>
            </a:r>
          </a:p>
          <a:p>
            <a:pPr eaLnBrk="0" hangingPunct="0"/>
            <a:r>
              <a:rPr lang="en-US" sz="1200" b="1" dirty="0"/>
              <a:t>5527 Bosnia-Herzegovina</a:t>
            </a:r>
          </a:p>
          <a:p>
            <a:pPr eaLnBrk="0" hangingPunct="0"/>
            <a:r>
              <a:rPr lang="en-US" sz="1200" b="1" dirty="0"/>
              <a:t>5458 words indistinct</a:t>
            </a:r>
          </a:p>
          <a:p>
            <a:pPr eaLnBrk="0" hangingPunct="0"/>
            <a:r>
              <a:rPr lang="en-US" sz="1200" b="1" dirty="0"/>
              <a:t>5452 international community</a:t>
            </a:r>
          </a:p>
          <a:p>
            <a:pPr eaLnBrk="0" hangingPunct="0"/>
            <a:r>
              <a:rPr lang="en-US" sz="1200" b="1" dirty="0"/>
              <a:t>5443 vice president</a:t>
            </a:r>
          </a:p>
          <a:p>
            <a:pPr eaLnBrk="0" hangingPunct="0"/>
            <a:r>
              <a:rPr lang="en-US" sz="1200" b="1" dirty="0"/>
              <a:t>5247 Security Council</a:t>
            </a:r>
          </a:p>
          <a:p>
            <a:pPr eaLnBrk="0" hangingPunct="0"/>
            <a:r>
              <a:rPr lang="en-US" sz="1200" b="1" dirty="0"/>
              <a:t>5098 North Korean</a:t>
            </a:r>
          </a:p>
          <a:p>
            <a:pPr eaLnBrk="0" hangingPunct="0"/>
            <a:r>
              <a:rPr lang="en-US" sz="1200" b="1" dirty="0"/>
              <a:t>5023 Long Beach</a:t>
            </a:r>
          </a:p>
          <a:p>
            <a:pPr eaLnBrk="0" hangingPunct="0"/>
            <a:r>
              <a:rPr lang="en-US" sz="1200" b="1" dirty="0"/>
              <a:t>4981 Central Committee</a:t>
            </a:r>
          </a:p>
          <a:p>
            <a:pPr eaLnBrk="0" hangingPunct="0"/>
            <a:r>
              <a:rPr lang="en-US" sz="1200" b="1" dirty="0"/>
              <a:t>4872 economic development</a:t>
            </a:r>
          </a:p>
          <a:p>
            <a:pPr eaLnBrk="0" hangingPunct="0"/>
            <a:r>
              <a:rPr lang="en-US" sz="1200" b="1" dirty="0"/>
              <a:t>4808 President Bush</a:t>
            </a:r>
          </a:p>
          <a:p>
            <a:pPr eaLnBrk="0" hangingPunct="0"/>
            <a:r>
              <a:rPr lang="en-US" sz="1200" b="1" dirty="0"/>
              <a:t>4652 press conference</a:t>
            </a:r>
          </a:p>
          <a:p>
            <a:pPr eaLnBrk="0" hangingPunct="0"/>
            <a:r>
              <a:rPr lang="en-US" sz="1200" b="1" dirty="0"/>
              <a:t>4602 first half</a:t>
            </a:r>
          </a:p>
          <a:p>
            <a:pPr eaLnBrk="0" hangingPunct="0"/>
            <a:r>
              <a:rPr lang="en-US" sz="1200" b="1" dirty="0"/>
              <a:t>4565 second half</a:t>
            </a:r>
          </a:p>
          <a:p>
            <a:pPr eaLnBrk="0" hangingPunct="0"/>
            <a:r>
              <a:rPr lang="en-US" sz="1200" b="1" dirty="0"/>
              <a:t>4495 nuclear weapons</a:t>
            </a:r>
          </a:p>
          <a:p>
            <a:pPr eaLnBrk="0" hangingPunct="0"/>
            <a:r>
              <a:rPr lang="en-US" sz="1200" b="1" dirty="0"/>
              <a:t>4448 UN Security Council</a:t>
            </a:r>
          </a:p>
          <a:p>
            <a:pPr eaLnBrk="0" hangingPunct="0"/>
            <a:r>
              <a:rPr lang="en-US" sz="1200" b="1" dirty="0"/>
              <a:t>4426 South Korean</a:t>
            </a:r>
          </a:p>
          <a:p>
            <a:pPr eaLnBrk="0" hangingPunct="0"/>
            <a:r>
              <a:rPr lang="en-US" sz="1200" b="1" dirty="0"/>
              <a:t>4219 first quarter</a:t>
            </a:r>
          </a:p>
          <a:p>
            <a:pPr eaLnBrk="0" hangingPunct="0"/>
            <a:r>
              <a:rPr lang="en-US" sz="1200" b="1" dirty="0"/>
              <a:t>4166 Los Angeles County</a:t>
            </a:r>
          </a:p>
          <a:p>
            <a:pPr eaLnBrk="0" hangingPunct="0"/>
            <a:r>
              <a:rPr lang="en-US" sz="1200" b="1" dirty="0"/>
              <a:t>4107 State Duma</a:t>
            </a:r>
          </a:p>
          <a:p>
            <a:pPr eaLnBrk="0" hangingPunct="0"/>
            <a:r>
              <a:rPr lang="en-US" sz="1200" b="1" dirty="0"/>
              <a:t>4085 State Council</a:t>
            </a:r>
          </a:p>
          <a:p>
            <a:pPr eaLnBrk="0" hangingPunct="0"/>
            <a:r>
              <a:rPr lang="en-US" sz="1200" b="1" dirty="0"/>
              <a:t>3969 market economy</a:t>
            </a:r>
          </a:p>
          <a:p>
            <a:pPr eaLnBrk="0" hangingPunct="0"/>
            <a:r>
              <a:rPr lang="en-US" sz="1200" b="1" dirty="0"/>
              <a:t>3941 World War II</a:t>
            </a:r>
          </a:p>
        </p:txBody>
      </p:sp>
      <p:sp>
        <p:nvSpPr>
          <p:cNvPr id="3" name="Rectangle 2"/>
          <p:cNvSpPr/>
          <p:nvPr/>
        </p:nvSpPr>
        <p:spPr>
          <a:xfrm>
            <a:off x="2171700" y="875016"/>
            <a:ext cx="813043" cy="369332"/>
          </a:xfrm>
          <a:prstGeom prst="rect">
            <a:avLst/>
          </a:prstGeom>
        </p:spPr>
        <p:txBody>
          <a:bodyPr wrap="none">
            <a:spAutoFit/>
          </a:bodyPr>
          <a:lstStyle/>
          <a:p>
            <a:r>
              <a:rPr lang="en-US" dirty="0"/>
              <a:t>TREC</a:t>
            </a:r>
          </a:p>
        </p:txBody>
      </p:sp>
      <p:sp>
        <p:nvSpPr>
          <p:cNvPr id="4" name="Rectangle 3"/>
          <p:cNvSpPr/>
          <p:nvPr/>
        </p:nvSpPr>
        <p:spPr>
          <a:xfrm>
            <a:off x="6946806" y="875016"/>
            <a:ext cx="1454244" cy="369332"/>
          </a:xfrm>
          <a:prstGeom prst="rect">
            <a:avLst/>
          </a:prstGeom>
        </p:spPr>
        <p:txBody>
          <a:bodyPr wrap="none">
            <a:spAutoFit/>
          </a:bodyPr>
          <a:lstStyle/>
          <a:p>
            <a:r>
              <a:rPr lang="en-US" dirty="0"/>
              <a:t>U.S. patents</a:t>
            </a:r>
          </a:p>
        </p:txBody>
      </p:sp>
      <p:sp>
        <p:nvSpPr>
          <p:cNvPr id="8" name="Rectangle 3"/>
          <p:cNvSpPr>
            <a:spLocks noChangeArrowheads="1"/>
          </p:cNvSpPr>
          <p:nvPr/>
        </p:nvSpPr>
        <p:spPr bwMode="auto">
          <a:xfrm>
            <a:off x="4765910" y="1373238"/>
            <a:ext cx="2505622" cy="5078313"/>
          </a:xfrm>
          <a:prstGeom prst="rect">
            <a:avLst/>
          </a:prstGeom>
          <a:noFill/>
          <a:ln w="12700">
            <a:noFill/>
            <a:miter lim="800000"/>
            <a:headEnd type="none" w="sm" len="sm"/>
            <a:tailEnd type="none" w="sm" len="sm"/>
          </a:ln>
          <a:effectLst/>
        </p:spPr>
        <p:txBody>
          <a:bodyPr wrap="none">
            <a:spAutoFit/>
          </a:bodyPr>
          <a:lstStyle/>
          <a:p>
            <a:pPr eaLnBrk="0" hangingPunct="0"/>
            <a:r>
              <a:rPr lang="en-US" sz="1200" b="1" dirty="0"/>
              <a:t>975362 present invention</a:t>
            </a:r>
          </a:p>
          <a:p>
            <a:pPr eaLnBrk="0" hangingPunct="0"/>
            <a:r>
              <a:rPr lang="en-US" sz="1200" b="1" dirty="0"/>
              <a:t>191625 U.S. Pat</a:t>
            </a:r>
          </a:p>
          <a:p>
            <a:pPr eaLnBrk="0" hangingPunct="0"/>
            <a:r>
              <a:rPr lang="en-US" sz="1200" b="1" dirty="0"/>
              <a:t>147352 preferred embodiment</a:t>
            </a:r>
          </a:p>
          <a:p>
            <a:pPr eaLnBrk="0" hangingPunct="0"/>
            <a:r>
              <a:rPr lang="en-US" sz="1200" b="1" dirty="0"/>
              <a:t>95097 carbon atoms</a:t>
            </a:r>
          </a:p>
          <a:p>
            <a:pPr eaLnBrk="0" hangingPunct="0"/>
            <a:r>
              <a:rPr lang="en-US" sz="1200" b="1" dirty="0"/>
              <a:t>87903 group consisting</a:t>
            </a:r>
          </a:p>
          <a:p>
            <a:pPr eaLnBrk="0" hangingPunct="0"/>
            <a:r>
              <a:rPr lang="en-US" sz="1200" b="1" dirty="0"/>
              <a:t>81809 room temperature</a:t>
            </a:r>
          </a:p>
          <a:p>
            <a:pPr eaLnBrk="0" hangingPunct="0"/>
            <a:r>
              <a:rPr lang="en-US" sz="1200" b="1" dirty="0"/>
              <a:t>78458 SEQ ID</a:t>
            </a:r>
          </a:p>
          <a:p>
            <a:pPr eaLnBrk="0" hangingPunct="0"/>
            <a:r>
              <a:rPr lang="en-US" sz="1200" b="1" dirty="0"/>
              <a:t>75850 BRIEF DESCRIPTION</a:t>
            </a:r>
          </a:p>
          <a:p>
            <a:pPr eaLnBrk="0" hangingPunct="0"/>
            <a:r>
              <a:rPr lang="en-US" sz="1200" b="1" dirty="0"/>
              <a:t>66407 prior art</a:t>
            </a:r>
          </a:p>
          <a:p>
            <a:pPr eaLnBrk="0" hangingPunct="0"/>
            <a:r>
              <a:rPr lang="en-US" sz="1200" b="1" dirty="0"/>
              <a:t>59828 perspective view</a:t>
            </a:r>
          </a:p>
          <a:p>
            <a:pPr eaLnBrk="0" hangingPunct="0"/>
            <a:r>
              <a:rPr lang="en-US" sz="1200" b="1" dirty="0"/>
              <a:t>58724 first embodiment</a:t>
            </a:r>
          </a:p>
          <a:p>
            <a:pPr eaLnBrk="0" hangingPunct="0"/>
            <a:r>
              <a:rPr lang="en-US" sz="1200" b="1" dirty="0"/>
              <a:t>56715 reaction mixture</a:t>
            </a:r>
          </a:p>
          <a:p>
            <a:pPr eaLnBrk="0" hangingPunct="0"/>
            <a:r>
              <a:rPr lang="en-US" sz="1200" b="1" dirty="0"/>
              <a:t>54619 DETAILED DESCRIPTION</a:t>
            </a:r>
          </a:p>
          <a:p>
            <a:pPr eaLnBrk="0" hangingPunct="0"/>
            <a:r>
              <a:rPr lang="en-US" sz="1200" b="1" dirty="0"/>
              <a:t>54117 ethyl acetate</a:t>
            </a:r>
          </a:p>
          <a:p>
            <a:pPr eaLnBrk="0" hangingPunct="0"/>
            <a:r>
              <a:rPr lang="en-US" sz="1200" b="1" dirty="0"/>
              <a:t>52195 Example 1</a:t>
            </a:r>
          </a:p>
          <a:p>
            <a:pPr eaLnBrk="0" hangingPunct="0"/>
            <a:r>
              <a:rPr lang="en-US" sz="1200" b="1" dirty="0"/>
              <a:t>52003 block diagram</a:t>
            </a:r>
          </a:p>
          <a:p>
            <a:pPr eaLnBrk="0" hangingPunct="0"/>
            <a:r>
              <a:rPr lang="en-US" sz="1200" b="1" dirty="0"/>
              <a:t>46299 second embodiment</a:t>
            </a:r>
          </a:p>
          <a:p>
            <a:pPr eaLnBrk="0" hangingPunct="0"/>
            <a:r>
              <a:rPr lang="en-US" sz="1200" b="1" dirty="0"/>
              <a:t>41694 accompanying drawings</a:t>
            </a:r>
          </a:p>
          <a:p>
            <a:pPr eaLnBrk="0" hangingPunct="0"/>
            <a:r>
              <a:rPr lang="en-US" sz="1200" b="1" dirty="0"/>
              <a:t>40554 output signal</a:t>
            </a:r>
          </a:p>
          <a:p>
            <a:pPr eaLnBrk="0" hangingPunct="0"/>
            <a:r>
              <a:rPr lang="en-US" sz="1200" b="1" dirty="0"/>
              <a:t>37911 first end</a:t>
            </a:r>
          </a:p>
          <a:p>
            <a:pPr eaLnBrk="0" hangingPunct="0"/>
            <a:r>
              <a:rPr lang="en-US" sz="1200" b="1" dirty="0"/>
              <a:t>35827 second end</a:t>
            </a:r>
          </a:p>
          <a:p>
            <a:pPr eaLnBrk="0" hangingPunct="0"/>
            <a:r>
              <a:rPr lang="en-US" sz="1200" b="1" dirty="0"/>
              <a:t>34881 appended claims</a:t>
            </a:r>
          </a:p>
          <a:p>
            <a:pPr eaLnBrk="0" hangingPunct="0"/>
            <a:r>
              <a:rPr lang="en-US" sz="1200" b="1" dirty="0"/>
              <a:t>33947 distal end</a:t>
            </a:r>
          </a:p>
          <a:p>
            <a:pPr eaLnBrk="0" hangingPunct="0"/>
            <a:r>
              <a:rPr lang="en-US" sz="1200" b="1" dirty="0"/>
              <a:t>32338 cross-sectional view</a:t>
            </a:r>
          </a:p>
          <a:p>
            <a:pPr eaLnBrk="0" hangingPunct="0"/>
            <a:r>
              <a:rPr lang="en-US" sz="1200" b="1" dirty="0"/>
              <a:t>30193 outer surface</a:t>
            </a:r>
          </a:p>
          <a:p>
            <a:pPr eaLnBrk="0" hangingPunct="0"/>
            <a:r>
              <a:rPr lang="en-US" sz="1200" b="1" dirty="0"/>
              <a:t>29635 upper surface</a:t>
            </a:r>
          </a:p>
          <a:p>
            <a:pPr eaLnBrk="0" hangingPunct="0"/>
            <a:endParaRPr lang="en-US" sz="1200" b="1" dirty="0"/>
          </a:p>
        </p:txBody>
      </p:sp>
      <p:sp>
        <p:nvSpPr>
          <p:cNvPr id="9" name="Rectangle 4"/>
          <p:cNvSpPr>
            <a:spLocks noChangeArrowheads="1"/>
          </p:cNvSpPr>
          <p:nvPr/>
        </p:nvSpPr>
        <p:spPr bwMode="auto">
          <a:xfrm>
            <a:off x="7124700" y="1371600"/>
            <a:ext cx="3026791" cy="4708981"/>
          </a:xfrm>
          <a:prstGeom prst="rect">
            <a:avLst/>
          </a:prstGeom>
          <a:noFill/>
          <a:ln w="12700">
            <a:noFill/>
            <a:miter lim="800000"/>
            <a:headEnd type="none" w="sm" len="sm"/>
            <a:tailEnd type="none" w="sm" len="sm"/>
          </a:ln>
          <a:effectLst/>
        </p:spPr>
        <p:txBody>
          <a:bodyPr wrap="none">
            <a:spAutoFit/>
          </a:bodyPr>
          <a:lstStyle/>
          <a:p>
            <a:pPr eaLnBrk="0" hangingPunct="0"/>
            <a:r>
              <a:rPr lang="en-US" sz="1200" b="1"/>
              <a:t>29535 preferred embodiments</a:t>
            </a:r>
          </a:p>
          <a:p>
            <a:pPr eaLnBrk="0" hangingPunct="0"/>
            <a:r>
              <a:rPr lang="en-US" sz="1200" b="1"/>
              <a:t>29252 present invention provides</a:t>
            </a:r>
          </a:p>
          <a:p>
            <a:pPr eaLnBrk="0" hangingPunct="0"/>
            <a:r>
              <a:rPr lang="en-US" sz="1200" b="1"/>
              <a:t>29025 sectional view</a:t>
            </a:r>
          </a:p>
          <a:p>
            <a:pPr eaLnBrk="0" hangingPunct="0"/>
            <a:r>
              <a:rPr lang="en-US" sz="1200" b="1"/>
              <a:t>28961 longitudinal axis</a:t>
            </a:r>
          </a:p>
          <a:p>
            <a:pPr eaLnBrk="0" hangingPunct="0"/>
            <a:r>
              <a:rPr lang="en-US" sz="1200" b="1"/>
              <a:t>27703 title compound</a:t>
            </a:r>
          </a:p>
          <a:p>
            <a:pPr eaLnBrk="0" hangingPunct="0"/>
            <a:r>
              <a:rPr lang="en-US" sz="1200" b="1"/>
              <a:t>27434 PREFERRED EMBODIMENTS</a:t>
            </a:r>
          </a:p>
          <a:p>
            <a:pPr eaLnBrk="0" hangingPunct="0"/>
            <a:r>
              <a:rPr lang="en-US" sz="1200" b="1"/>
              <a:t>27184 side view</a:t>
            </a:r>
          </a:p>
          <a:p>
            <a:pPr eaLnBrk="0" hangingPunct="0"/>
            <a:r>
              <a:rPr lang="en-US" sz="1200" b="1"/>
              <a:t>25903 inner surface</a:t>
            </a:r>
          </a:p>
          <a:p>
            <a:pPr eaLnBrk="0" hangingPunct="0"/>
            <a:r>
              <a:rPr lang="en-US" sz="1200" b="1"/>
              <a:t>25802 Table 1</a:t>
            </a:r>
          </a:p>
          <a:p>
            <a:pPr eaLnBrk="0" hangingPunct="0"/>
            <a:r>
              <a:rPr lang="en-US" sz="1200" b="1"/>
              <a:t>25047 lower end</a:t>
            </a:r>
          </a:p>
          <a:p>
            <a:pPr eaLnBrk="0" hangingPunct="0"/>
            <a:r>
              <a:rPr lang="en-US" sz="1200" b="1"/>
              <a:t>25047 plan view</a:t>
            </a:r>
          </a:p>
          <a:p>
            <a:pPr eaLnBrk="0" hangingPunct="0"/>
            <a:r>
              <a:rPr lang="en-US" sz="1200" b="1"/>
              <a:t>24513 third embodiment</a:t>
            </a:r>
          </a:p>
          <a:p>
            <a:pPr eaLnBrk="0" hangingPunct="0"/>
            <a:r>
              <a:rPr lang="en-US" sz="1200" b="1"/>
              <a:t>24432 control signal</a:t>
            </a:r>
          </a:p>
          <a:p>
            <a:pPr eaLnBrk="0" hangingPunct="0"/>
            <a:r>
              <a:rPr lang="en-US" sz="1200" b="1"/>
              <a:t>24296 upper end</a:t>
            </a:r>
          </a:p>
          <a:p>
            <a:pPr eaLnBrk="0" hangingPunct="0"/>
            <a:r>
              <a:rPr lang="en-US" sz="1200" b="1"/>
              <a:t>24275 methylene chloride</a:t>
            </a:r>
          </a:p>
          <a:p>
            <a:pPr eaLnBrk="0" hangingPunct="0"/>
            <a:r>
              <a:rPr lang="en-US" sz="1200" b="1"/>
              <a:t>24117 reduced pressure</a:t>
            </a:r>
          </a:p>
          <a:p>
            <a:pPr eaLnBrk="0" hangingPunct="0"/>
            <a:r>
              <a:rPr lang="en-US" sz="1200" b="1"/>
              <a:t>23831 aqueous solution</a:t>
            </a:r>
          </a:p>
          <a:p>
            <a:pPr eaLnBrk="0" hangingPunct="0"/>
            <a:r>
              <a:rPr lang="en-US" sz="1200" b="1"/>
              <a:t>23618 SEQUENCE DESCRIPTION</a:t>
            </a:r>
          </a:p>
          <a:p>
            <a:pPr eaLnBrk="0" hangingPunct="0"/>
            <a:r>
              <a:rPr lang="en-US" sz="1200" b="1"/>
              <a:t>23616 SEQUENCE CHARACTERISTICS</a:t>
            </a:r>
          </a:p>
          <a:p>
            <a:pPr eaLnBrk="0" hangingPunct="0"/>
            <a:r>
              <a:rPr lang="en-US" sz="1200" b="1"/>
              <a:t>22382 weight percent</a:t>
            </a:r>
          </a:p>
          <a:p>
            <a:pPr eaLnBrk="0" hangingPunct="0"/>
            <a:r>
              <a:rPr lang="en-US" sz="1200" b="1"/>
              <a:t>22070 closed position</a:t>
            </a:r>
          </a:p>
          <a:p>
            <a:pPr eaLnBrk="0" hangingPunct="0"/>
            <a:r>
              <a:rPr lang="en-US" sz="1200" b="1"/>
              <a:t>21356 light source</a:t>
            </a:r>
          </a:p>
          <a:p>
            <a:pPr eaLnBrk="0" hangingPunct="0"/>
            <a:r>
              <a:rPr lang="en-US" sz="1200" b="1"/>
              <a:t>21329 image data</a:t>
            </a:r>
          </a:p>
          <a:p>
            <a:pPr eaLnBrk="0" hangingPunct="0"/>
            <a:r>
              <a:rPr lang="en-US" sz="1200" b="1"/>
              <a:t>21026 flow chart</a:t>
            </a:r>
          </a:p>
          <a:p>
            <a:pPr eaLnBrk="0" hangingPunct="0"/>
            <a:r>
              <a:rPr lang="en-US" sz="1200" b="1"/>
              <a:t>21003 PREFERRED EMBODIMENT</a:t>
            </a:r>
          </a:p>
        </p:txBody>
      </p:sp>
      <p:cxnSp>
        <p:nvCxnSpPr>
          <p:cNvPr id="5" name="Straight Connector 4"/>
          <p:cNvCxnSpPr/>
          <p:nvPr/>
        </p:nvCxnSpPr>
        <p:spPr>
          <a:xfrm>
            <a:off x="4686300" y="875016"/>
            <a:ext cx="33555" cy="539023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642242"/>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p:nvPr>
        </p:nvSpPr>
        <p:spPr/>
        <p:txBody>
          <a:bodyPr/>
          <a:lstStyle/>
          <a:p>
            <a:r>
              <a:rPr lang="en-US" dirty="0"/>
              <a:t>Phrases from Sentence Parsing</a:t>
            </a:r>
          </a:p>
        </p:txBody>
      </p:sp>
      <p:sp>
        <p:nvSpPr>
          <p:cNvPr id="911363" name="Rectangle 3"/>
          <p:cNvSpPr>
            <a:spLocks noGrp="1" noChangeArrowheads="1"/>
          </p:cNvSpPr>
          <p:nvPr>
            <p:ph idx="1"/>
          </p:nvPr>
        </p:nvSpPr>
        <p:spPr/>
        <p:txBody>
          <a:bodyPr/>
          <a:lstStyle/>
          <a:p>
            <a:r>
              <a:rPr lang="en-US"/>
              <a:t>Run a shallow or deep parsing system</a:t>
            </a:r>
          </a:p>
          <a:p>
            <a:pPr lvl="1"/>
            <a:r>
              <a:rPr lang="en-US"/>
              <a:t>Simplest and common approach uses noun phrases</a:t>
            </a:r>
          </a:p>
          <a:p>
            <a:pPr lvl="1"/>
            <a:r>
              <a:rPr lang="en-US"/>
              <a:t>Can use other types, too, of course</a:t>
            </a:r>
          </a:p>
          <a:p>
            <a:pPr lvl="2"/>
            <a:r>
              <a:rPr lang="en-US"/>
              <a:t>Verb phrases, noun phrases with adjectives, prepositional phrases, noun+verb phrases, …</a:t>
            </a:r>
          </a:p>
          <a:p>
            <a:endParaRPr lang="en-US"/>
          </a:p>
        </p:txBody>
      </p:sp>
      <p:pic>
        <p:nvPicPr>
          <p:cNvPr id="5" name="Picture 2" descr="https://www.cs.utexas.edu/users/novak/parsetre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2819400"/>
            <a:ext cx="4724400" cy="3190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349040"/>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90" name="Rectangle 6"/>
          <p:cNvSpPr>
            <a:spLocks noGrp="1" noChangeArrowheads="1"/>
          </p:cNvSpPr>
          <p:nvPr>
            <p:ph type="title"/>
          </p:nvPr>
        </p:nvSpPr>
        <p:spPr/>
        <p:txBody>
          <a:bodyPr/>
          <a:lstStyle/>
          <a:p>
            <a:r>
              <a:rPr lang="en-US"/>
              <a:t>Phrases from statistical models</a:t>
            </a:r>
          </a:p>
        </p:txBody>
      </p:sp>
      <mc:AlternateContent xmlns:mc="http://schemas.openxmlformats.org/markup-compatibility/2006" xmlns:a14="http://schemas.microsoft.com/office/drawing/2010/main">
        <mc:Choice Requires="a14">
          <p:sp>
            <p:nvSpPr>
              <p:cNvPr id="912391" name="Rectangle 7"/>
              <p:cNvSpPr>
                <a:spLocks noGrp="1" noChangeArrowheads="1"/>
              </p:cNvSpPr>
              <p:nvPr>
                <p:ph idx="1"/>
              </p:nvPr>
            </p:nvSpPr>
            <p:spPr/>
            <p:txBody>
              <a:bodyPr/>
              <a:lstStyle/>
              <a:p>
                <a:pPr>
                  <a:lnSpc>
                    <a:spcPct val="80000"/>
                  </a:lnSpc>
                </a:pPr>
                <a:r>
                  <a:rPr lang="en-US" sz="2800" dirty="0"/>
                  <a:t>Build a dictionary of phrases using heuristic methods</a:t>
                </a:r>
              </a:p>
              <a:p>
                <a:pPr lvl="1">
                  <a:lnSpc>
                    <a:spcPct val="80000"/>
                  </a:lnSpc>
                </a:pPr>
                <a:r>
                  <a:rPr lang="en-US" sz="2400" dirty="0"/>
                  <a:t>High-frequency phrases (1-6 words) that occur frequently</a:t>
                </a:r>
              </a:p>
              <a:p>
                <a:pPr lvl="1">
                  <a:lnSpc>
                    <a:spcPct val="80000"/>
                  </a:lnSpc>
                </a:pPr>
                <a:r>
                  <a:rPr lang="en-US" sz="2400" dirty="0"/>
                  <a:t>Some POS tagging for some lower-frequency phrases</a:t>
                </a:r>
              </a:p>
              <a:p>
                <a:pPr lvl="2">
                  <a:lnSpc>
                    <a:spcPct val="80000"/>
                  </a:lnSpc>
                </a:pPr>
                <a:r>
                  <a:rPr lang="en-US" sz="2000" dirty="0"/>
                  <a:t>e.g., throw away verbs or phrases ending with adjectives</a:t>
                </a:r>
              </a:p>
              <a:p>
                <a:pPr>
                  <a:lnSpc>
                    <a:spcPct val="80000"/>
                  </a:lnSpc>
                </a:pPr>
                <a:r>
                  <a:rPr lang="en-US" sz="2800" dirty="0"/>
                  <a:t>Estimate probabilities for Markov model</a:t>
                </a:r>
              </a:p>
              <a:p>
                <a:pPr lvl="1">
                  <a:lnSpc>
                    <a:spcPct val="80000"/>
                  </a:lnSpc>
                </a:pPr>
                <a:r>
                  <a:rPr lang="en-US" sz="2400" dirty="0"/>
                  <a:t>…that first word is the start of a phrase</a:t>
                </a:r>
              </a:p>
              <a:p>
                <a:pPr lvl="1">
                  <a:lnSpc>
                    <a:spcPct val="80000"/>
                  </a:lnSpc>
                </a:pPr>
                <a:r>
                  <a:rPr lang="en-US" sz="2400" dirty="0"/>
                  <a:t>…that next word is part of the same phrase</a:t>
                </a:r>
              </a:p>
              <a:p>
                <a:pPr lvl="1">
                  <a:lnSpc>
                    <a:spcPct val="80000"/>
                  </a:lnSpc>
                </a:pPr>
                <a:r>
                  <a:rPr lang="en-US" sz="2400" dirty="0"/>
                  <a:t>…that a phrase follows this phrase</a:t>
                </a:r>
              </a:p>
              <a:p>
                <a:pPr>
                  <a:lnSpc>
                    <a:spcPct val="80000"/>
                  </a:lnSpc>
                </a:pPr>
                <a:r>
                  <a:rPr lang="en-IN" sz="2800" dirty="0"/>
                  <a:t>Using pointwise mutual information</a:t>
                </a:r>
              </a:p>
              <a:p>
                <a:pPr lvl="1">
                  <a:lnSpc>
                    <a:spcPct val="80000"/>
                  </a:lnSpc>
                </a:pPr>
                <a:r>
                  <a:rPr lang="en-IN" sz="2400" b="0" dirty="0"/>
                  <a:t>MI</a:t>
                </a:r>
                <a14:m>
                  <m:oMath xmlns:m="http://schemas.openxmlformats.org/officeDocument/2006/math">
                    <m:d>
                      <m:dPr>
                        <m:ctrlPr>
                          <a:rPr lang="en-IN" sz="2400" b="0" i="1" smtClean="0">
                            <a:latin typeface="Cambria Math" panose="02040503050406030204" pitchFamily="18" charset="0"/>
                          </a:rPr>
                        </m:ctrlPr>
                      </m:dPr>
                      <m:e>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IN" sz="2400" b="0" i="1" smtClean="0">
                                <a:latin typeface="Cambria Math" panose="02040503050406030204" pitchFamily="18" charset="0"/>
                              </a:rPr>
                              <m:t>𝑖</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IN" sz="2400" b="0" i="1" smtClean="0">
                                <a:latin typeface="Cambria Math" panose="02040503050406030204" pitchFamily="18" charset="0"/>
                              </a:rPr>
                              <m:t>𝑗</m:t>
                            </m:r>
                          </m:sub>
                        </m:sSub>
                      </m:e>
                    </m:d>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𝑃</m:t>
                        </m:r>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IN" sz="2400" b="0" i="1" smtClean="0">
                                <a:latin typeface="Cambria Math" panose="02040503050406030204" pitchFamily="18" charset="0"/>
                              </a:rPr>
                              <m:t>𝑖</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IN" sz="2400" b="0" i="1" smtClean="0">
                                <a:latin typeface="Cambria Math" panose="02040503050406030204" pitchFamily="18" charset="0"/>
                              </a:rPr>
                              <m:t>𝑗</m:t>
                            </m:r>
                          </m:sub>
                        </m:sSub>
                        <m:r>
                          <a:rPr lang="en-IN" sz="2400" b="0" i="1" smtClean="0">
                            <a:latin typeface="Cambria Math" panose="02040503050406030204" pitchFamily="18" charset="0"/>
                          </a:rPr>
                          <m:t>)</m:t>
                        </m:r>
                      </m:num>
                      <m:den>
                        <m:r>
                          <a:rPr lang="en-IN" sz="2400" b="0" i="1" smtClean="0">
                            <a:latin typeface="Cambria Math" panose="02040503050406030204" pitchFamily="18" charset="0"/>
                          </a:rPr>
                          <m:t>𝑃</m:t>
                        </m:r>
                        <m:d>
                          <m:dPr>
                            <m:ctrlPr>
                              <a:rPr lang="en-IN" sz="2400" b="0" i="1" smtClean="0">
                                <a:latin typeface="Cambria Math" panose="02040503050406030204" pitchFamily="18" charset="0"/>
                              </a:rPr>
                            </m:ctrlPr>
                          </m:dPr>
                          <m:e>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IN" sz="2400" b="0" i="1" smtClean="0">
                                    <a:latin typeface="Cambria Math" panose="02040503050406030204" pitchFamily="18" charset="0"/>
                                  </a:rPr>
                                  <m:t>𝑖</m:t>
                                </m:r>
                              </m:sub>
                            </m:sSub>
                          </m:e>
                        </m:d>
                        <m:r>
                          <a:rPr lang="en-IN" sz="2400" b="0" i="1" smtClean="0">
                            <a:latin typeface="Cambria Math" panose="02040503050406030204" pitchFamily="18" charset="0"/>
                          </a:rPr>
                          <m:t>𝑃</m:t>
                        </m:r>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𝑤</m:t>
                            </m:r>
                          </m:e>
                          <m:sub>
                            <m:r>
                              <a:rPr lang="en-IN" sz="2400" b="0" i="1" smtClean="0">
                                <a:latin typeface="Cambria Math" panose="02040503050406030204" pitchFamily="18" charset="0"/>
                              </a:rPr>
                              <m:t>𝑗</m:t>
                            </m:r>
                          </m:sub>
                        </m:sSub>
                        <m:r>
                          <a:rPr lang="en-IN" sz="2400" b="0" i="1" smtClean="0">
                            <a:latin typeface="Cambria Math" panose="02040503050406030204" pitchFamily="18" charset="0"/>
                          </a:rPr>
                          <m:t>)</m:t>
                        </m:r>
                      </m:den>
                    </m:f>
                  </m:oMath>
                </a14:m>
                <a:endParaRPr lang="en-US" sz="2400" dirty="0"/>
              </a:p>
            </p:txBody>
          </p:sp>
        </mc:Choice>
        <mc:Fallback xmlns="">
          <p:sp>
            <p:nvSpPr>
              <p:cNvPr id="912391" name="Rectangle 7"/>
              <p:cNvSpPr>
                <a:spLocks noGrp="1" noRot="1" noChangeAspect="1" noMove="1" noResize="1" noEditPoints="1" noAdjustHandles="1" noChangeArrowheads="1" noChangeShapeType="1" noTextEdit="1"/>
              </p:cNvSpPr>
              <p:nvPr>
                <p:ph idx="1"/>
              </p:nvPr>
            </p:nvSpPr>
            <p:spPr>
              <a:blipFill>
                <a:blip r:embed="rId3"/>
                <a:stretch>
                  <a:fillRect l="-1185" t="-3369"/>
                </a:stretch>
              </a:blipFill>
            </p:spPr>
            <p:txBody>
              <a:bodyPr/>
              <a:lstStyle/>
              <a:p>
                <a:r>
                  <a:rPr lang="en-US">
                    <a:noFill/>
                  </a:rPr>
                  <a:t> </a:t>
                </a:r>
              </a:p>
            </p:txBody>
          </p:sp>
        </mc:Fallback>
      </mc:AlternateContent>
    </p:spTree>
    <p:extLst>
      <p:ext uri="{BB962C8B-B14F-4D97-AF65-F5344CB8AC3E}">
        <p14:creationId xmlns:p14="http://schemas.microsoft.com/office/powerpoint/2010/main" val="1584924577"/>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Word Sense Disambiguation</a:t>
            </a:r>
          </a:p>
          <a:p>
            <a:pPr marL="0" indent="0" algn="ctr">
              <a:buNone/>
            </a:pPr>
            <a:r>
              <a:rPr lang="en-IN" sz="4400" b="1" dirty="0">
                <a:solidFill>
                  <a:srgbClr val="7030A0"/>
                </a:solidFill>
              </a:rPr>
              <a:t>Part 1</a:t>
            </a:r>
          </a:p>
        </p:txBody>
      </p:sp>
    </p:spTree>
    <p:extLst>
      <p:ext uri="{BB962C8B-B14F-4D97-AF65-F5344CB8AC3E}">
        <p14:creationId xmlns:p14="http://schemas.microsoft.com/office/powerpoint/2010/main" val="3207085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bwMode="auto"/>
        <p:txBody>
          <a:bodyPr vert="horz" wrap="square" lIns="91440" tIns="45720" rIns="91440" bIns="45720" numCol="1" anchor="ctr" anchorCtr="0" compatLnSpc="1">
            <a:prstTxWarp prst="textNoShape">
              <a:avLst/>
            </a:prstTxWarp>
          </a:bodyPr>
          <a:lstStyle/>
          <a:p>
            <a:pPr eaLnBrk="1" hangingPunct="1"/>
            <a:r>
              <a:rPr lang="en-US" altLang="en-US" b="1" cap="none" dirty="0"/>
              <a:t>Word Sense Disambiguation</a:t>
            </a:r>
            <a:endParaRPr lang="en-US" altLang="en-US" sz="2400" dirty="0"/>
          </a:p>
        </p:txBody>
      </p:sp>
      <p:sp>
        <p:nvSpPr>
          <p:cNvPr id="9220" name="Content Placeholder 2"/>
          <p:cNvSpPr>
            <a:spLocks noGrp="1"/>
          </p:cNvSpPr>
          <p:nvPr>
            <p:ph idx="1"/>
          </p:nvPr>
        </p:nvSpPr>
        <p:spPr/>
        <p:txBody>
          <a:bodyPr/>
          <a:lstStyle/>
          <a:p>
            <a:pPr eaLnBrk="1" hangingPunct="1"/>
            <a:r>
              <a:rPr lang="en-US" altLang="en-US" sz="2000" dirty="0"/>
              <a:t>Computationally determining which </a:t>
            </a:r>
            <a:r>
              <a:rPr lang="en-US" altLang="en-US" sz="2000" b="1" i="1" u="sng" dirty="0"/>
              <a:t>sense</a:t>
            </a:r>
            <a:r>
              <a:rPr lang="en-US" altLang="en-US" sz="2000" dirty="0"/>
              <a:t> of a word is activated by its use in a particular </a:t>
            </a:r>
            <a:r>
              <a:rPr lang="en-US" altLang="en-US" sz="2000" b="1" i="1" u="sng" dirty="0"/>
              <a:t>context</a:t>
            </a:r>
            <a:r>
              <a:rPr lang="en-US" altLang="en-US" sz="2000" dirty="0"/>
              <a:t>.</a:t>
            </a:r>
          </a:p>
          <a:p>
            <a:pPr lvl="1" eaLnBrk="1" hangingPunct="1"/>
            <a:r>
              <a:rPr lang="en-US" altLang="en-US" sz="2400" dirty="0"/>
              <a:t>E.g. I am going to withdraw money from the </a:t>
            </a:r>
            <a:r>
              <a:rPr lang="en-US" altLang="en-US" sz="2400" b="1" i="1" dirty="0"/>
              <a:t>bank.</a:t>
            </a:r>
          </a:p>
          <a:p>
            <a:pPr eaLnBrk="1" hangingPunct="1"/>
            <a:r>
              <a:rPr lang="en-US" altLang="en-US" sz="2000" dirty="0"/>
              <a:t>A classification problem:</a:t>
            </a:r>
          </a:p>
          <a:p>
            <a:pPr lvl="1" eaLnBrk="1" hangingPunct="1"/>
            <a:r>
              <a:rPr lang="en-US" altLang="en-US" sz="2400" dirty="0"/>
              <a:t>Senses </a:t>
            </a:r>
            <a:r>
              <a:rPr lang="en-US" altLang="en-US" sz="2400" dirty="0">
                <a:sym typeface="Wingdings" panose="05000000000000000000" pitchFamily="2" charset="2"/>
              </a:rPr>
              <a:t> Classes</a:t>
            </a:r>
          </a:p>
          <a:p>
            <a:pPr lvl="1" eaLnBrk="1" hangingPunct="1"/>
            <a:r>
              <a:rPr lang="en-US" altLang="en-US" sz="2400" dirty="0">
                <a:sym typeface="Wingdings" panose="05000000000000000000" pitchFamily="2" charset="2"/>
              </a:rPr>
              <a:t>Context  Used to compute features</a:t>
            </a:r>
          </a:p>
        </p:txBody>
      </p:sp>
      <p:sp>
        <p:nvSpPr>
          <p:cNvPr id="2" name="Slide Number Placeholder 3"/>
          <p:cNvSpPr txBox="1">
            <a:spLocks noGrp="1"/>
          </p:cNvSpPr>
          <p:nvPr/>
        </p:nvSpPr>
        <p:spPr bwMode="auto">
          <a:xfrm>
            <a:off x="8701088" y="5734050"/>
            <a:ext cx="609600" cy="520700"/>
          </a:xfrm>
          <a:prstGeom prst="rect">
            <a:avLst/>
          </a:prstGeom>
          <a:noFill/>
          <a:ln>
            <a:miter lim="800000"/>
            <a:headEnd/>
            <a:tailEnd/>
          </a:ln>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A2DADD9A-5EEA-483B-817E-75BB8777E133}" type="slidenum">
              <a:rPr lang="en-US" altLang="en-US" sz="1400" b="1">
                <a:solidFill>
                  <a:srgbClr val="FFFFFF"/>
                </a:solidFill>
              </a:rPr>
              <a:pPr eaLnBrk="1" hangingPunct="1">
                <a:spcBef>
                  <a:spcPct val="0"/>
                </a:spcBef>
                <a:buClrTx/>
                <a:buSzTx/>
                <a:buFontTx/>
                <a:buNone/>
              </a:pPr>
              <a:t>36</a:t>
            </a:fld>
            <a:endParaRPr lang="en-US" altLang="en-US" sz="1400" b="1">
              <a:solidFill>
                <a:srgbClr val="FFFFFF"/>
              </a:solidFill>
            </a:endParaRPr>
          </a:p>
        </p:txBody>
      </p:sp>
    </p:spTree>
    <p:extLst>
      <p:ext uri="{BB962C8B-B14F-4D97-AF65-F5344CB8AC3E}">
        <p14:creationId xmlns:p14="http://schemas.microsoft.com/office/powerpoint/2010/main" val="29392261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bwMode="auto">
          <a:xfrm>
            <a:off x="190500" y="152400"/>
            <a:ext cx="10096500" cy="761999"/>
          </a:xfrm>
        </p:spPr>
        <p:txBody>
          <a:bodyPr vert="horz" wrap="square" lIns="91440" tIns="45720" rIns="91440" bIns="45720" numCol="1" anchor="ctr" anchorCtr="0" compatLnSpc="1">
            <a:prstTxWarp prst="textNoShape">
              <a:avLst/>
            </a:prstTxWarp>
          </a:bodyPr>
          <a:lstStyle/>
          <a:p>
            <a:pPr eaLnBrk="1" hangingPunct="1"/>
            <a:r>
              <a:rPr lang="en-GB" altLang="en-US" b="1" cap="none" dirty="0"/>
              <a:t>W</a:t>
            </a:r>
            <a:r>
              <a:rPr lang="en-GB" altLang="en-US" sz="2400" dirty="0"/>
              <a:t>SD</a:t>
            </a:r>
            <a:r>
              <a:rPr lang="en-GB" altLang="en-US" b="1" cap="none" dirty="0"/>
              <a:t> U</a:t>
            </a:r>
            <a:r>
              <a:rPr lang="en-GB" altLang="en-US" sz="2400" dirty="0"/>
              <a:t>SING</a:t>
            </a:r>
            <a:r>
              <a:rPr lang="en-GB" altLang="en-US" b="1" cap="none" dirty="0"/>
              <a:t> S</a:t>
            </a:r>
            <a:r>
              <a:rPr lang="en-GB" altLang="en-US" sz="2400" dirty="0"/>
              <a:t>ELECTIONAL</a:t>
            </a:r>
            <a:r>
              <a:rPr lang="en-GB" altLang="en-US" b="1" cap="none" dirty="0"/>
              <a:t> P</a:t>
            </a:r>
            <a:r>
              <a:rPr lang="en-GB" altLang="en-US" sz="2400" dirty="0"/>
              <a:t>REFERENCES</a:t>
            </a:r>
            <a:r>
              <a:rPr lang="en-GB" altLang="en-US" b="1" cap="none" dirty="0"/>
              <a:t> &amp; A</a:t>
            </a:r>
            <a:r>
              <a:rPr lang="en-GB" altLang="en-US" sz="2400" dirty="0"/>
              <a:t>RGUMENTS</a:t>
            </a:r>
            <a:endParaRPr lang="en-US" altLang="en-US" sz="2400" dirty="0"/>
          </a:p>
        </p:txBody>
      </p:sp>
      <p:sp>
        <p:nvSpPr>
          <p:cNvPr id="17" name="Content Placeholder 4"/>
          <p:cNvSpPr txBox="1">
            <a:spLocks/>
          </p:cNvSpPr>
          <p:nvPr/>
        </p:nvSpPr>
        <p:spPr bwMode="auto">
          <a:xfrm>
            <a:off x="952500" y="1554162"/>
            <a:ext cx="3657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273050" marR="0" lvl="0" indent="-273050" algn="l" defTabSz="914400" rtl="0" eaLnBrk="1" fontAlgn="base" latinLnBrk="0" hangingPunct="1">
              <a:lnSpc>
                <a:spcPct val="98000"/>
              </a:lnSpc>
              <a:spcBef>
                <a:spcPts val="600"/>
              </a:spcBef>
              <a:spcAft>
                <a:spcPct val="0"/>
              </a:spcAft>
              <a:buClr>
                <a:srgbClr val="FE8637"/>
              </a:buClr>
              <a:buSzPct val="70000"/>
              <a:buFont typeface="Wingdings" panose="05000000000000000000" pitchFamily="2"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dirty="0">
                <a:ln>
                  <a:noFill/>
                </a:ln>
                <a:solidFill>
                  <a:sysClr val="windowText" lastClr="000000"/>
                </a:solidFill>
                <a:effectLst/>
                <a:uLnTx/>
                <a:uFillTx/>
                <a:latin typeface="Century Schoolbook"/>
                <a:ea typeface="+mn-ea"/>
                <a:cs typeface="+mn-cs"/>
              </a:rPr>
              <a:t>This airlines </a:t>
            </a:r>
            <a:r>
              <a:rPr kumimoji="0" lang="en-GB" altLang="en-US" sz="2000" b="1" i="1" u="none" strike="noStrike" kern="1200" cap="none" spc="0" normalizeH="0" baseline="0" noProof="0" dirty="0">
                <a:ln>
                  <a:noFill/>
                </a:ln>
                <a:solidFill>
                  <a:sysClr val="windowText" lastClr="000000"/>
                </a:solidFill>
                <a:effectLst/>
                <a:uLnTx/>
                <a:uFillTx/>
                <a:latin typeface="Century Schoolbook"/>
                <a:ea typeface="+mn-ea"/>
                <a:cs typeface="+mn-cs"/>
              </a:rPr>
              <a:t>serves</a:t>
            </a:r>
            <a:r>
              <a:rPr kumimoji="0" lang="en-GB" altLang="en-US" sz="2000" b="0" i="0" u="none" strike="noStrike" kern="1200" cap="none" spc="0" normalizeH="0" baseline="0" noProof="0" dirty="0">
                <a:ln>
                  <a:noFill/>
                </a:ln>
                <a:solidFill>
                  <a:sysClr val="windowText" lastClr="000000"/>
                </a:solidFill>
                <a:effectLst/>
                <a:uLnTx/>
                <a:uFillTx/>
                <a:latin typeface="Century Schoolbook"/>
                <a:ea typeface="+mn-ea"/>
                <a:cs typeface="+mn-cs"/>
              </a:rPr>
              <a:t> dinner in the evening flight.</a:t>
            </a:r>
          </a:p>
          <a:p>
            <a:pPr marL="273050" marR="0" lvl="0" indent="-273050" algn="l" defTabSz="914400" rtl="0" eaLnBrk="1" fontAlgn="base" latinLnBrk="0" hangingPunct="1">
              <a:lnSpc>
                <a:spcPct val="97000"/>
              </a:lnSpc>
              <a:spcBef>
                <a:spcPts val="600"/>
              </a:spcBef>
              <a:spcAft>
                <a:spcPct val="0"/>
              </a:spcAft>
              <a:buClr>
                <a:srgbClr val="FE8637"/>
              </a:buClr>
              <a:buSzPct val="70000"/>
              <a:buFont typeface="Wingdings" panose="05000000000000000000" pitchFamily="2"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dirty="0">
                <a:ln>
                  <a:noFill/>
                </a:ln>
                <a:solidFill>
                  <a:sysClr val="windowText" lastClr="000000"/>
                </a:solidFill>
                <a:effectLst/>
                <a:uLnTx/>
                <a:uFillTx/>
                <a:latin typeface="Century Schoolbook"/>
                <a:ea typeface="+mn-ea"/>
                <a:cs typeface="+mn-cs"/>
              </a:rPr>
              <a:t>serve (Verb)</a:t>
            </a:r>
          </a:p>
          <a:p>
            <a:pPr marL="639763" marR="0" lvl="1" indent="-273050" algn="l" defTabSz="914400" rtl="0" eaLnBrk="1" fontAlgn="base" latinLnBrk="0" hangingPunct="1">
              <a:lnSpc>
                <a:spcPct val="97000"/>
              </a:lnSpc>
              <a:spcBef>
                <a:spcPct val="20000"/>
              </a:spcBef>
              <a:spcAft>
                <a:spcPct val="0"/>
              </a:spcAft>
              <a:buClr>
                <a:srgbClr val="FE8637"/>
              </a:buClr>
              <a:buSzPct val="80000"/>
              <a:buFont typeface="Wingdings 2" panose="05020102010507070707" pitchFamily="18"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dirty="0">
                <a:ln>
                  <a:noFill/>
                </a:ln>
                <a:solidFill>
                  <a:sysClr val="windowText" lastClr="000000"/>
                </a:solidFill>
                <a:effectLst/>
                <a:uLnTx/>
                <a:uFillTx/>
                <a:latin typeface="Century Schoolbook"/>
                <a:ea typeface="+mn-ea"/>
                <a:cs typeface="+mn-cs"/>
              </a:rPr>
              <a:t>agent</a:t>
            </a:r>
          </a:p>
          <a:p>
            <a:pPr marL="639763" marR="0" lvl="1" indent="-273050" algn="l" defTabSz="914400" rtl="0" eaLnBrk="1" fontAlgn="base" latinLnBrk="0" hangingPunct="1">
              <a:lnSpc>
                <a:spcPct val="97000"/>
              </a:lnSpc>
              <a:spcBef>
                <a:spcPct val="20000"/>
              </a:spcBef>
              <a:spcAft>
                <a:spcPct val="0"/>
              </a:spcAft>
              <a:buClr>
                <a:srgbClr val="FE8637"/>
              </a:buClr>
              <a:buSzPct val="80000"/>
              <a:buFont typeface="Wingdings 2" panose="05020102010507070707" pitchFamily="18"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dirty="0">
                <a:ln>
                  <a:noFill/>
                </a:ln>
                <a:solidFill>
                  <a:sysClr val="windowText" lastClr="000000"/>
                </a:solidFill>
                <a:effectLst/>
                <a:uLnTx/>
                <a:uFillTx/>
                <a:latin typeface="Century Schoolbook"/>
                <a:ea typeface="+mn-ea"/>
                <a:cs typeface="+mn-cs"/>
              </a:rPr>
              <a:t>object – dinner</a:t>
            </a:r>
          </a:p>
          <a:p>
            <a:pPr marL="273050" marR="0" lvl="0" indent="-273050" algn="l" defTabSz="914400" rtl="0" eaLnBrk="1" fontAlgn="base" latinLnBrk="0" hangingPunct="1">
              <a:lnSpc>
                <a:spcPct val="100000"/>
              </a:lnSpc>
              <a:spcBef>
                <a:spcPts val="600"/>
              </a:spcBef>
              <a:spcAft>
                <a:spcPct val="0"/>
              </a:spcAft>
              <a:buClr>
                <a:srgbClr val="FE8637"/>
              </a:buClr>
              <a:buSzPct val="70000"/>
              <a:buFont typeface="Wingdings" panose="05000000000000000000" pitchFamily="2"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endParaRPr kumimoji="0" lang="en-US" altLang="en-US" sz="2000" b="0" i="0" u="none" strike="noStrike" kern="1200" cap="none" spc="0" normalizeH="0" baseline="0" noProof="0" dirty="0">
              <a:ln>
                <a:noFill/>
              </a:ln>
              <a:solidFill>
                <a:sysClr val="windowText" lastClr="000000"/>
              </a:solidFill>
              <a:effectLst/>
              <a:uLnTx/>
              <a:uFillTx/>
              <a:latin typeface="Century Schoolbook"/>
              <a:ea typeface="+mn-ea"/>
              <a:cs typeface="+mn-cs"/>
            </a:endParaRPr>
          </a:p>
        </p:txBody>
      </p:sp>
      <p:sp>
        <p:nvSpPr>
          <p:cNvPr id="18" name="Content Placeholder 5"/>
          <p:cNvSpPr txBox="1">
            <a:spLocks/>
          </p:cNvSpPr>
          <p:nvPr/>
        </p:nvSpPr>
        <p:spPr bwMode="auto">
          <a:xfrm>
            <a:off x="4686300" y="1554162"/>
            <a:ext cx="3962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273050" marR="0" lvl="0" indent="-273050" algn="l" defTabSz="914400" rtl="0" eaLnBrk="1" fontAlgn="base" latinLnBrk="0" hangingPunct="1">
              <a:lnSpc>
                <a:spcPct val="98000"/>
              </a:lnSpc>
              <a:spcBef>
                <a:spcPts val="600"/>
              </a:spcBef>
              <a:spcAft>
                <a:spcPct val="0"/>
              </a:spcAft>
              <a:buClr>
                <a:srgbClr val="FE8637"/>
              </a:buClr>
              <a:buSzPct val="70000"/>
              <a:buFont typeface="Wingdings" panose="05000000000000000000" pitchFamily="2"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a:ln>
                  <a:noFill/>
                </a:ln>
                <a:solidFill>
                  <a:sysClr val="windowText" lastClr="000000"/>
                </a:solidFill>
                <a:effectLst/>
                <a:uLnTx/>
                <a:uFillTx/>
                <a:latin typeface="Century Schoolbook"/>
                <a:ea typeface="+mn-ea"/>
                <a:cs typeface="+mn-cs"/>
              </a:rPr>
              <a:t>This airlines </a:t>
            </a:r>
            <a:r>
              <a:rPr kumimoji="0" lang="en-GB" altLang="en-US" sz="2000" b="1" i="1" u="none" strike="noStrike" kern="1200" cap="none" spc="0" normalizeH="0" baseline="0" noProof="0">
                <a:ln>
                  <a:noFill/>
                </a:ln>
                <a:solidFill>
                  <a:sysClr val="windowText" lastClr="000000"/>
                </a:solidFill>
                <a:effectLst/>
                <a:uLnTx/>
                <a:uFillTx/>
                <a:latin typeface="Century Schoolbook"/>
                <a:ea typeface="+mn-ea"/>
                <a:cs typeface="+mn-cs"/>
              </a:rPr>
              <a:t>serves</a:t>
            </a:r>
            <a:r>
              <a:rPr kumimoji="0" lang="en-GB" altLang="en-US" sz="2000" b="0" i="0" u="none" strike="noStrike" kern="1200" cap="none" spc="0" normalizeH="0" baseline="0" noProof="0">
                <a:ln>
                  <a:noFill/>
                </a:ln>
                <a:solidFill>
                  <a:sysClr val="windowText" lastClr="000000"/>
                </a:solidFill>
                <a:effectLst/>
                <a:uLnTx/>
                <a:uFillTx/>
                <a:latin typeface="Century Schoolbook"/>
                <a:ea typeface="+mn-ea"/>
                <a:cs typeface="+mn-cs"/>
              </a:rPr>
              <a:t> the sector between Agra &amp; Delhi.</a:t>
            </a:r>
          </a:p>
          <a:p>
            <a:pPr marL="273050" marR="0" lvl="0" indent="-273050" algn="l" defTabSz="914400" rtl="0" eaLnBrk="1" fontAlgn="base" latinLnBrk="0" hangingPunct="1">
              <a:lnSpc>
                <a:spcPct val="97000"/>
              </a:lnSpc>
              <a:spcBef>
                <a:spcPts val="600"/>
              </a:spcBef>
              <a:spcAft>
                <a:spcPct val="0"/>
              </a:spcAft>
              <a:buClr>
                <a:srgbClr val="FE8637"/>
              </a:buClr>
              <a:buSzPct val="70000"/>
              <a:buFont typeface="Wingdings" panose="05000000000000000000" pitchFamily="2"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a:ln>
                  <a:noFill/>
                </a:ln>
                <a:solidFill>
                  <a:sysClr val="windowText" lastClr="000000"/>
                </a:solidFill>
                <a:effectLst/>
                <a:uLnTx/>
                <a:uFillTx/>
                <a:latin typeface="Century Schoolbook"/>
                <a:ea typeface="+mn-ea"/>
                <a:cs typeface="+mn-cs"/>
              </a:rPr>
              <a:t>serve (Verb)</a:t>
            </a:r>
          </a:p>
          <a:p>
            <a:pPr marL="639763" marR="0" lvl="1" indent="-273050" algn="l" defTabSz="914400" rtl="0" eaLnBrk="1" fontAlgn="base" latinLnBrk="0" hangingPunct="1">
              <a:lnSpc>
                <a:spcPct val="97000"/>
              </a:lnSpc>
              <a:spcBef>
                <a:spcPct val="20000"/>
              </a:spcBef>
              <a:spcAft>
                <a:spcPct val="0"/>
              </a:spcAft>
              <a:buClr>
                <a:srgbClr val="FE8637"/>
              </a:buClr>
              <a:buSzPct val="80000"/>
              <a:buFont typeface="Wingdings 2" panose="05020102010507070707" pitchFamily="18"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a:ln>
                  <a:noFill/>
                </a:ln>
                <a:solidFill>
                  <a:sysClr val="windowText" lastClr="000000"/>
                </a:solidFill>
                <a:effectLst/>
                <a:uLnTx/>
                <a:uFillTx/>
                <a:latin typeface="Century Schoolbook"/>
                <a:ea typeface="+mn-ea"/>
                <a:cs typeface="+mn-cs"/>
              </a:rPr>
              <a:t>agent</a:t>
            </a:r>
          </a:p>
          <a:p>
            <a:pPr marL="639763" marR="0" lvl="1" indent="-273050" algn="l" defTabSz="914400" rtl="0" eaLnBrk="1" fontAlgn="base" latinLnBrk="0" hangingPunct="1">
              <a:lnSpc>
                <a:spcPct val="97000"/>
              </a:lnSpc>
              <a:spcBef>
                <a:spcPct val="20000"/>
              </a:spcBef>
              <a:spcAft>
                <a:spcPct val="0"/>
              </a:spcAft>
              <a:buClr>
                <a:srgbClr val="FE8637"/>
              </a:buClr>
              <a:buSzPct val="80000"/>
              <a:buFont typeface="Wingdings 2" panose="05020102010507070707" pitchFamily="18" charset="2"/>
              <a:buChar char=""/>
              <a:tabLst>
                <a:tab pos="411163" algn="l"/>
                <a:tab pos="825500" algn="l"/>
                <a:tab pos="1239838" algn="l"/>
                <a:tab pos="1655763" algn="l"/>
                <a:tab pos="2070100" algn="l"/>
                <a:tab pos="2484438" algn="l"/>
                <a:tab pos="2898775" algn="l"/>
                <a:tab pos="3314700" algn="l"/>
                <a:tab pos="3729038" algn="l"/>
                <a:tab pos="4143375" algn="l"/>
                <a:tab pos="4557713" algn="l"/>
                <a:tab pos="4973638" algn="l"/>
                <a:tab pos="5387975" algn="l"/>
                <a:tab pos="5802313" algn="l"/>
                <a:tab pos="6216650" algn="l"/>
                <a:tab pos="6632575" algn="l"/>
                <a:tab pos="7046913" algn="l"/>
                <a:tab pos="7461250" algn="l"/>
                <a:tab pos="7875588" algn="l"/>
                <a:tab pos="8291513" algn="l"/>
              </a:tabLst>
              <a:defRPr/>
            </a:pPr>
            <a:r>
              <a:rPr kumimoji="0" lang="en-GB" altLang="en-US" sz="2000" b="0" i="0" u="none" strike="noStrike" kern="1200" cap="none" spc="0" normalizeH="0" baseline="0" noProof="0">
                <a:ln>
                  <a:noFill/>
                </a:ln>
                <a:solidFill>
                  <a:sysClr val="windowText" lastClr="000000"/>
                </a:solidFill>
                <a:effectLst/>
                <a:uLnTx/>
                <a:uFillTx/>
                <a:latin typeface="Century Schoolbook"/>
                <a:ea typeface="+mn-ea"/>
                <a:cs typeface="+mn-cs"/>
              </a:rPr>
              <a:t>object – sector</a:t>
            </a:r>
            <a:endParaRPr kumimoji="0" lang="en-US" altLang="en-US" sz="1900" b="0" i="0" u="none" strike="noStrike" kern="1200" cap="none" spc="0" normalizeH="0" baseline="0" noProof="0">
              <a:ln>
                <a:noFill/>
              </a:ln>
              <a:solidFill>
                <a:sysClr val="windowText" lastClr="000000"/>
              </a:solidFill>
              <a:effectLst/>
              <a:uLnTx/>
              <a:uFillTx/>
              <a:latin typeface="Century Schoolbook"/>
              <a:ea typeface="+mn-ea"/>
              <a:cs typeface="+mn-cs"/>
            </a:endParaRPr>
          </a:p>
        </p:txBody>
      </p:sp>
      <p:sp>
        <p:nvSpPr>
          <p:cNvPr id="19" name="Text Placeholder 6"/>
          <p:cNvSpPr txBox="1">
            <a:spLocks/>
          </p:cNvSpPr>
          <p:nvPr/>
        </p:nvSpPr>
        <p:spPr bwMode="auto">
          <a:xfrm>
            <a:off x="952500" y="1219200"/>
            <a:ext cx="3657600" cy="334962"/>
          </a:xfrm>
          <a:prstGeom prst="roundRect">
            <a:avLst>
              <a:gd name="adj" fmla="val 16667"/>
            </a:avLst>
          </a:prstGeom>
          <a:solidFill>
            <a:srgbClr val="FE86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marL="0" indent="0" algn="l" rtl="0" eaLnBrk="0" fontAlgn="base" hangingPunct="0">
              <a:spcBef>
                <a:spcPts val="600"/>
              </a:spcBef>
              <a:spcAft>
                <a:spcPct val="0"/>
              </a:spcAft>
              <a:buClr>
                <a:schemeClr val="accent1"/>
              </a:buClr>
              <a:buSzPct val="70000"/>
              <a:buFontTx/>
              <a:buNone/>
              <a:defRPr sz="2000" b="1" kern="1200">
                <a:solidFill>
                  <a:srgbClr val="FFFFFF"/>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marR="0" lvl="0" indent="0" algn="ctr" defTabSz="914400" rtl="0" eaLnBrk="1" fontAlgn="base" latinLnBrk="0" hangingPunct="1">
              <a:lnSpc>
                <a:spcPct val="100000"/>
              </a:lnSpc>
              <a:spcBef>
                <a:spcPts val="600"/>
              </a:spcBef>
              <a:spcAft>
                <a:spcPct val="0"/>
              </a:spcAft>
              <a:buClr>
                <a:srgbClr val="FE8637"/>
              </a:buClr>
              <a:buSzPct val="70000"/>
              <a:buFontTx/>
              <a:buNone/>
              <a:tabLst/>
              <a:defRPr/>
            </a:pPr>
            <a:r>
              <a:rPr kumimoji="0" lang="en-US" altLang="en-US" sz="2000" b="1" i="0" u="none" strike="noStrike" kern="1200" cap="none" spc="0" normalizeH="0" baseline="0" noProof="0">
                <a:ln>
                  <a:noFill/>
                </a:ln>
                <a:solidFill>
                  <a:srgbClr val="FFFFFF"/>
                </a:solidFill>
                <a:effectLst/>
                <a:uLnTx/>
                <a:uFillTx/>
                <a:latin typeface="Century Schoolbook"/>
                <a:ea typeface="+mn-ea"/>
                <a:cs typeface="+mn-cs"/>
              </a:rPr>
              <a:t>Sense 1</a:t>
            </a:r>
          </a:p>
        </p:txBody>
      </p:sp>
      <p:sp>
        <p:nvSpPr>
          <p:cNvPr id="20" name="Text Placeholder 7"/>
          <p:cNvSpPr txBox="1">
            <a:spLocks/>
          </p:cNvSpPr>
          <p:nvPr/>
        </p:nvSpPr>
        <p:spPr bwMode="auto">
          <a:xfrm>
            <a:off x="4838700" y="1219200"/>
            <a:ext cx="3657600" cy="334962"/>
          </a:xfrm>
          <a:prstGeom prst="roundRect">
            <a:avLst>
              <a:gd name="adj" fmla="val 16667"/>
            </a:avLst>
          </a:prstGeom>
          <a:solidFill>
            <a:srgbClr val="FE86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marL="0" indent="0" algn="l" rtl="0" eaLnBrk="0" fontAlgn="base" hangingPunct="0">
              <a:spcBef>
                <a:spcPts val="600"/>
              </a:spcBef>
              <a:spcAft>
                <a:spcPct val="0"/>
              </a:spcAft>
              <a:buClr>
                <a:schemeClr val="accent1"/>
              </a:buClr>
              <a:buSzPct val="70000"/>
              <a:buFontTx/>
              <a:buNone/>
              <a:defRPr sz="2000" b="1" kern="1200">
                <a:solidFill>
                  <a:srgbClr val="FFFFFF"/>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marR="0" lvl="0" indent="0" algn="ctr" defTabSz="914400" rtl="0" eaLnBrk="1" fontAlgn="base" latinLnBrk="0" hangingPunct="1">
              <a:lnSpc>
                <a:spcPct val="100000"/>
              </a:lnSpc>
              <a:spcBef>
                <a:spcPts val="600"/>
              </a:spcBef>
              <a:spcAft>
                <a:spcPct val="0"/>
              </a:spcAft>
              <a:buClr>
                <a:srgbClr val="FE8637"/>
              </a:buClr>
              <a:buSzPct val="70000"/>
              <a:buFontTx/>
              <a:buNone/>
              <a:tabLst/>
              <a:defRPr/>
            </a:pPr>
            <a:r>
              <a:rPr kumimoji="0" lang="en-US" altLang="en-US" sz="2000" b="1" i="0" u="none" strike="noStrike" kern="1200" cap="none" spc="0" normalizeH="0" baseline="0" noProof="0">
                <a:ln>
                  <a:noFill/>
                </a:ln>
                <a:solidFill>
                  <a:srgbClr val="FFFFFF"/>
                </a:solidFill>
                <a:effectLst/>
                <a:uLnTx/>
                <a:uFillTx/>
                <a:latin typeface="Century Schoolbook"/>
                <a:ea typeface="+mn-ea"/>
                <a:cs typeface="+mn-cs"/>
              </a:rPr>
              <a:t>Sense 2</a:t>
            </a:r>
          </a:p>
        </p:txBody>
      </p:sp>
      <p:sp>
        <p:nvSpPr>
          <p:cNvPr id="21" name="Content Placeholder 4"/>
          <p:cNvSpPr txBox="1">
            <a:spLocks/>
          </p:cNvSpPr>
          <p:nvPr/>
        </p:nvSpPr>
        <p:spPr bwMode="auto">
          <a:xfrm>
            <a:off x="1104900" y="3306762"/>
            <a:ext cx="7391400" cy="2667000"/>
          </a:xfrm>
          <a:prstGeom prst="rect">
            <a:avLst/>
          </a:prstGeom>
          <a:noFill/>
          <a:ln w="9525">
            <a:noFill/>
            <a:miter lim="800000"/>
            <a:headEnd/>
            <a:tailEnd/>
          </a:ln>
        </p:spPr>
        <p:txBody>
          <a:bodyPr/>
          <a:lstStyle/>
          <a:p>
            <a:pPr>
              <a:lnSpc>
                <a:spcPct val="102000"/>
              </a:lnSpc>
              <a:spcBef>
                <a:spcPts val="600"/>
              </a:spcBef>
              <a:buClr>
                <a:srgbClr val="FE8637"/>
              </a:buClr>
              <a:buSzPct val="70000"/>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dirty="0">
              <a:solidFill>
                <a:prstClr val="black"/>
              </a:solidFill>
              <a:latin typeface="Century Schoolbook" panose="02040604050505020304" pitchFamily="18" charset="0"/>
            </a:endParaRPr>
          </a:p>
          <a:p>
            <a:pPr>
              <a:lnSpc>
                <a:spcPct val="102000"/>
              </a:lnSpc>
              <a:spcBef>
                <a:spcPts val="600"/>
              </a:spcBef>
              <a:buClr>
                <a:srgbClr val="FE8637"/>
              </a:buClr>
              <a:buSzPct val="70000"/>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dirty="0">
                <a:solidFill>
                  <a:prstClr val="black"/>
                </a:solidFill>
                <a:latin typeface="Century Schoolbook" panose="02040604050505020304" pitchFamily="18" charset="0"/>
              </a:rPr>
              <a:t>Requires exhaustive enumeration of:</a:t>
            </a:r>
          </a:p>
          <a:p>
            <a:pPr lvl="1">
              <a:lnSpc>
                <a:spcPct val="102000"/>
              </a:lnSpc>
              <a:spcBef>
                <a:spcPts val="600"/>
              </a:spcBef>
              <a:buClr>
                <a:srgbClr val="FE8637"/>
              </a:buClr>
              <a:buSzPct val="70000"/>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400" dirty="0">
                <a:solidFill>
                  <a:prstClr val="black"/>
                </a:solidFill>
                <a:latin typeface="Century Schoolbook"/>
              </a:rPr>
              <a:t>Argument-structure of verbs.</a:t>
            </a:r>
          </a:p>
          <a:p>
            <a:pPr lvl="1">
              <a:lnSpc>
                <a:spcPct val="102000"/>
              </a:lnSpc>
              <a:spcBef>
                <a:spcPts val="600"/>
              </a:spcBef>
              <a:buClr>
                <a:srgbClr val="FE8637"/>
              </a:buClr>
              <a:buSzPct val="70000"/>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400" dirty="0">
                <a:solidFill>
                  <a:prstClr val="black"/>
                </a:solidFill>
                <a:latin typeface="Century Schoolbook"/>
              </a:rPr>
              <a:t>Selectional preferences of arguments.</a:t>
            </a:r>
          </a:p>
          <a:p>
            <a:pPr lvl="1">
              <a:lnSpc>
                <a:spcPct val="102000"/>
              </a:lnSpc>
              <a:spcBef>
                <a:spcPts val="600"/>
              </a:spcBef>
              <a:buClr>
                <a:srgbClr val="FE8637"/>
              </a:buClr>
              <a:buSzPct val="70000"/>
              <a:buFont typeface="Wingdings" pitchFamily="2" charset="2"/>
              <a:buChar char="Ø"/>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400" dirty="0">
                <a:solidFill>
                  <a:prstClr val="black"/>
                </a:solidFill>
                <a:latin typeface="Century Schoolbook"/>
              </a:rPr>
              <a:t>Description of properties of words such that meeting the selectional preference criteria can be decided.</a:t>
            </a:r>
          </a:p>
          <a:p>
            <a:pPr marL="1143000" lvl="2" indent="-228600">
              <a:lnSpc>
                <a:spcPct val="102000"/>
              </a:lnSpc>
              <a:spcBef>
                <a:spcPts val="600"/>
              </a:spcBef>
              <a:buClr>
                <a:srgbClr val="FE8637"/>
              </a:buClr>
              <a:buSzPct val="70000"/>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200" dirty="0">
                <a:solidFill>
                  <a:prstClr val="black"/>
                </a:solidFill>
                <a:latin typeface="Century Schoolbook" panose="02040604050505020304" pitchFamily="18" charset="0"/>
              </a:rPr>
              <a:t>E.g. This flight serves the “</a:t>
            </a:r>
            <a:r>
              <a:rPr lang="en-GB" sz="1200" b="1" dirty="0">
                <a:solidFill>
                  <a:prstClr val="black"/>
                </a:solidFill>
                <a:latin typeface="Century Schoolbook" panose="02040604050505020304" pitchFamily="18" charset="0"/>
              </a:rPr>
              <a:t>region”</a:t>
            </a:r>
            <a:r>
              <a:rPr lang="en-GB" sz="1200" dirty="0">
                <a:solidFill>
                  <a:prstClr val="black"/>
                </a:solidFill>
                <a:latin typeface="Century Schoolbook" panose="02040604050505020304" pitchFamily="18" charset="0"/>
              </a:rPr>
              <a:t> between Mumbai and Delhi</a:t>
            </a:r>
          </a:p>
          <a:p>
            <a:pPr marL="1143000" lvl="2" indent="-228600">
              <a:lnSpc>
                <a:spcPct val="102000"/>
              </a:lnSpc>
              <a:spcBef>
                <a:spcPts val="600"/>
              </a:spcBef>
              <a:buClr>
                <a:srgbClr val="FE8637"/>
              </a:buClr>
              <a:buSzPct val="70000"/>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200" dirty="0">
                <a:solidFill>
                  <a:prstClr val="black"/>
                </a:solidFill>
                <a:latin typeface="Century Schoolbook" panose="02040604050505020304" pitchFamily="18" charset="0"/>
              </a:rPr>
              <a:t>How do you decide if “region” is compatible with “sector”</a:t>
            </a:r>
          </a:p>
          <a:p>
            <a:pPr marL="1143000" lvl="2" indent="-228600">
              <a:lnSpc>
                <a:spcPct val="102000"/>
              </a:lnSpc>
              <a:spcBef>
                <a:spcPts val="600"/>
              </a:spcBef>
              <a:buClr>
                <a:srgbClr val="FE8637"/>
              </a:buClr>
              <a:buSzPct val="70000"/>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1200" dirty="0">
              <a:solidFill>
                <a:prstClr val="black"/>
              </a:solidFill>
              <a:latin typeface="Century Schoolbook" panose="02040604050505020304" pitchFamily="18" charset="0"/>
            </a:endParaRPr>
          </a:p>
          <a:p>
            <a:pPr marL="1143000" lvl="2" indent="-228600">
              <a:lnSpc>
                <a:spcPct val="102000"/>
              </a:lnSpc>
              <a:spcBef>
                <a:spcPts val="600"/>
              </a:spcBef>
              <a:buClr>
                <a:srgbClr val="FE8637"/>
              </a:buClr>
              <a:buSzPct val="70000"/>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US" sz="1200" dirty="0">
              <a:solidFill>
                <a:prstClr val="black"/>
              </a:solidFill>
              <a:latin typeface="Century Schoolbook"/>
            </a:endParaRPr>
          </a:p>
        </p:txBody>
      </p:sp>
    </p:spTree>
    <p:extLst>
      <p:ext uri="{BB962C8B-B14F-4D97-AF65-F5344CB8AC3E}">
        <p14:creationId xmlns:p14="http://schemas.microsoft.com/office/powerpoint/2010/main" val="949490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p:cNvSpPr>
            <a:spLocks noGrp="1"/>
          </p:cNvSpPr>
          <p:nvPr>
            <p:ph type="title"/>
          </p:nvPr>
        </p:nvSpPr>
        <p:spPr bwMode="auto"/>
        <p:txBody>
          <a:bodyPr vert="horz" wrap="square" lIns="91440" tIns="45720" rIns="91440" bIns="45720" numCol="1" anchor="ctr" anchorCtr="0" compatLnSpc="1">
            <a:prstTxWarp prst="textNoShape">
              <a:avLst/>
            </a:prstTxWarp>
          </a:bodyPr>
          <a:lstStyle/>
          <a:p>
            <a:pPr eaLnBrk="1" hangingPunct="1"/>
            <a:r>
              <a:rPr lang="en-US" altLang="en-US" b="1" cap="none" dirty="0"/>
              <a:t>O</a:t>
            </a:r>
            <a:r>
              <a:rPr lang="en-US" altLang="en-US" sz="2400" dirty="0"/>
              <a:t>VERLAP</a:t>
            </a:r>
            <a:r>
              <a:rPr lang="en-US" altLang="en-US" b="1" cap="none" dirty="0"/>
              <a:t> B</a:t>
            </a:r>
            <a:r>
              <a:rPr lang="en-US" altLang="en-US" sz="2400" dirty="0"/>
              <a:t>ASED</a:t>
            </a:r>
            <a:r>
              <a:rPr lang="en-US" altLang="en-US" b="1" cap="none" dirty="0"/>
              <a:t> A</a:t>
            </a:r>
            <a:r>
              <a:rPr lang="en-US" altLang="en-US" sz="2400" dirty="0"/>
              <a:t>PPROACHES</a:t>
            </a:r>
          </a:p>
        </p:txBody>
      </p:sp>
      <p:sp>
        <p:nvSpPr>
          <p:cNvPr id="15364" name="Content Placeholder 2"/>
          <p:cNvSpPr>
            <a:spLocks noGrp="1"/>
          </p:cNvSpPr>
          <p:nvPr>
            <p:ph idx="1"/>
          </p:nvPr>
        </p:nvSpPr>
        <p:spPr/>
        <p:txBody>
          <a:bodyPr/>
          <a:lstStyle/>
          <a:p>
            <a:pPr eaLnBrk="1" hangingPunct="1"/>
            <a:r>
              <a:rPr lang="en-US" altLang="en-US" sz="2000" dirty="0"/>
              <a:t>Require a </a:t>
            </a:r>
            <a:r>
              <a:rPr lang="en-US" altLang="en-US" sz="2000" b="1" i="1" dirty="0"/>
              <a:t>Machine Readable Dictionary </a:t>
            </a:r>
            <a:r>
              <a:rPr lang="en-US" altLang="en-US" sz="2000" i="1" dirty="0"/>
              <a:t>(MRD).</a:t>
            </a:r>
          </a:p>
          <a:p>
            <a:pPr algn="just" eaLnBrk="1" hangingPunct="1"/>
            <a:r>
              <a:rPr lang="en-US" altLang="en-US" sz="2000" dirty="0"/>
              <a:t>Find the overlap between the features of different senses of an ambiguous word (sense bag) and the features of the words in its context (context bag).</a:t>
            </a:r>
          </a:p>
          <a:p>
            <a:pPr eaLnBrk="1" hangingPunct="1"/>
            <a:r>
              <a:rPr lang="en-US" altLang="en-US" sz="2000" dirty="0"/>
              <a:t>These features could be sense definitions, example sentences, hypernyms etc.</a:t>
            </a:r>
          </a:p>
          <a:p>
            <a:pPr eaLnBrk="1" hangingPunct="1"/>
            <a:r>
              <a:rPr lang="en-US" altLang="en-US" sz="2000" dirty="0"/>
              <a:t>The features could also be given weights.</a:t>
            </a:r>
          </a:p>
          <a:p>
            <a:pPr eaLnBrk="1" hangingPunct="1"/>
            <a:r>
              <a:rPr lang="en-US" altLang="en-US" sz="2000" dirty="0"/>
              <a:t>The sense which has the maximum overlap is selected as the contextually appropriate sense.</a:t>
            </a:r>
          </a:p>
          <a:p>
            <a:pPr eaLnBrk="1" hangingPunct="1"/>
            <a:endParaRPr lang="en-US" altLang="en-US" sz="2000" dirty="0"/>
          </a:p>
          <a:p>
            <a:pPr eaLnBrk="1" hangingPunct="1"/>
            <a:r>
              <a:rPr lang="en-US" altLang="en-US" sz="2000" dirty="0" err="1"/>
              <a:t>Lesk’s</a:t>
            </a:r>
            <a:r>
              <a:rPr lang="en-US" altLang="en-US" sz="2000" dirty="0"/>
              <a:t> and Walker’s algorithms.</a:t>
            </a:r>
          </a:p>
        </p:txBody>
      </p:sp>
      <p:sp>
        <p:nvSpPr>
          <p:cNvPr id="17412" name="Slide Number Placeholder 3"/>
          <p:cNvSpPr txBox="1">
            <a:spLocks noGrp="1"/>
          </p:cNvSpPr>
          <p:nvPr/>
        </p:nvSpPr>
        <p:spPr bwMode="auto">
          <a:xfrm>
            <a:off x="8701088" y="5734050"/>
            <a:ext cx="609600" cy="520700"/>
          </a:xfrm>
          <a:prstGeom prst="rect">
            <a:avLst/>
          </a:prstGeom>
          <a:noFill/>
          <a:ln>
            <a:miter lim="800000"/>
            <a:headEnd/>
            <a:tailEnd/>
          </a:ln>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356AE2BF-3485-4A97-943D-A37DFCF62771}" type="slidenum">
              <a:rPr lang="en-US" altLang="en-US" sz="1400" b="1">
                <a:solidFill>
                  <a:srgbClr val="FFFFFF"/>
                </a:solidFill>
              </a:rPr>
              <a:pPr eaLnBrk="1" hangingPunct="1">
                <a:spcBef>
                  <a:spcPct val="0"/>
                </a:spcBef>
                <a:buClrTx/>
                <a:buSzTx/>
                <a:buFontTx/>
                <a:buNone/>
              </a:pPr>
              <a:t>38</a:t>
            </a:fld>
            <a:endParaRPr lang="en-US" altLang="en-US" sz="1400" b="1">
              <a:solidFill>
                <a:srgbClr val="FFFFFF"/>
              </a:solidFill>
            </a:endParaRPr>
          </a:p>
        </p:txBody>
      </p:sp>
    </p:spTree>
    <p:extLst>
      <p:ext uri="{BB962C8B-B14F-4D97-AF65-F5344CB8AC3E}">
        <p14:creationId xmlns:p14="http://schemas.microsoft.com/office/powerpoint/2010/main" val="160342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bwMode="auto"/>
        <p:txBody>
          <a:bodyPr vert="horz" wrap="square" lIns="91440" tIns="45720" rIns="91440" bIns="45720" numCol="1" anchor="ctr" anchorCtr="0" compatLnSpc="1">
            <a:prstTxWarp prst="textNoShape">
              <a:avLst/>
            </a:prstTxWarp>
          </a:bodyPr>
          <a:lstStyle/>
          <a:p>
            <a:pPr eaLnBrk="1" hangingPunct="1"/>
            <a:r>
              <a:rPr lang="en-GB" altLang="en-US" sz="2800" dirty="0"/>
              <a:t>L</a:t>
            </a:r>
            <a:r>
              <a:rPr lang="en-GB" altLang="en-US" sz="2400" dirty="0"/>
              <a:t>ESK’S</a:t>
            </a:r>
            <a:r>
              <a:rPr lang="en-GB" altLang="en-US" sz="2800" dirty="0"/>
              <a:t> A</a:t>
            </a:r>
            <a:r>
              <a:rPr lang="en-GB" altLang="en-US" sz="2400" dirty="0"/>
              <a:t>LGORITHM</a:t>
            </a:r>
            <a:endParaRPr lang="en-US" altLang="en-US" sz="2400" dirty="0"/>
          </a:p>
        </p:txBody>
      </p:sp>
      <p:sp>
        <p:nvSpPr>
          <p:cNvPr id="19" name="Content Placeholder 4"/>
          <p:cNvSpPr txBox="1">
            <a:spLocks/>
          </p:cNvSpPr>
          <p:nvPr/>
        </p:nvSpPr>
        <p:spPr bwMode="auto">
          <a:xfrm>
            <a:off x="1028700" y="3048000"/>
            <a:ext cx="3581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Char char=""/>
              <a:tabLst/>
              <a:defRPr/>
            </a:pPr>
            <a:r>
              <a:rPr kumimoji="0" lang="en-US" altLang="en-US" sz="2200" b="0" i="0" u="none" strike="noStrike" kern="1200" cap="none" spc="0" normalizeH="0" baseline="0" noProof="0">
                <a:ln>
                  <a:noFill/>
                </a:ln>
                <a:solidFill>
                  <a:sysClr val="windowText" lastClr="000000"/>
                </a:solidFill>
                <a:effectLst/>
                <a:uLnTx/>
                <a:uFillTx/>
                <a:latin typeface="Century Schoolbook"/>
                <a:ea typeface="+mn-ea"/>
                <a:cs typeface="+mn-cs"/>
              </a:rPr>
              <a:t>Sense 1</a:t>
            </a:r>
          </a:p>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None/>
              <a:tabLst/>
              <a:defRPr/>
            </a:pP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Trees of the olive family with pinnate leaves, thin furrowed bark and gray branches.</a:t>
            </a:r>
          </a:p>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Char char=""/>
              <a:tabLst/>
              <a:defRPr/>
            </a:pPr>
            <a:r>
              <a:rPr kumimoji="0" lang="en-US" altLang="en-US" sz="2200" b="0" i="0" u="none" strike="noStrike" kern="1200" cap="none" spc="0" normalizeH="0" baseline="0" noProof="0">
                <a:ln>
                  <a:noFill/>
                </a:ln>
                <a:solidFill>
                  <a:sysClr val="windowText" lastClr="000000"/>
                </a:solidFill>
                <a:effectLst/>
                <a:uLnTx/>
                <a:uFillTx/>
                <a:latin typeface="Century Schoolbook"/>
                <a:ea typeface="+mn-ea"/>
                <a:cs typeface="+mn-cs"/>
              </a:rPr>
              <a:t>Sense 2</a:t>
            </a:r>
          </a:p>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None/>
              <a:tabLst/>
              <a:defRPr/>
            </a:pP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The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solid</a:t>
            </a: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residue left when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combustible</a:t>
            </a: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material is thoroughly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burn</a:t>
            </a: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ed or oxidized.</a:t>
            </a:r>
          </a:p>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Char char=""/>
              <a:tabLst/>
              <a:defRPr/>
            </a:pPr>
            <a:r>
              <a:rPr kumimoji="0" lang="en-US" altLang="en-US" sz="2200" b="0" i="0" u="none" strike="noStrike" kern="1200" cap="none" spc="0" normalizeH="0" baseline="0" noProof="0">
                <a:ln>
                  <a:noFill/>
                </a:ln>
                <a:solidFill>
                  <a:sysClr val="windowText" lastClr="000000"/>
                </a:solidFill>
                <a:effectLst/>
                <a:uLnTx/>
                <a:uFillTx/>
                <a:latin typeface="Century Schoolbook"/>
                <a:ea typeface="+mn-ea"/>
                <a:cs typeface="+mn-cs"/>
              </a:rPr>
              <a:t>Sense 3</a:t>
            </a:r>
          </a:p>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None/>
              <a:tabLst/>
              <a:defRPr/>
            </a:pP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To convert into ash</a:t>
            </a:r>
          </a:p>
        </p:txBody>
      </p:sp>
      <p:sp>
        <p:nvSpPr>
          <p:cNvPr id="20" name="Content Placeholder 5"/>
          <p:cNvSpPr txBox="1">
            <a:spLocks/>
          </p:cNvSpPr>
          <p:nvPr/>
        </p:nvSpPr>
        <p:spPr bwMode="auto">
          <a:xfrm>
            <a:off x="4914900" y="3048000"/>
            <a:ext cx="3657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273050" marR="0" lvl="0" indent="-273050" algn="l" defTabSz="914400" rtl="0" eaLnBrk="1" fontAlgn="base" latinLnBrk="0" hangingPunct="1">
              <a:lnSpc>
                <a:spcPct val="90000"/>
              </a:lnSpc>
              <a:spcBef>
                <a:spcPct val="0"/>
              </a:spcBef>
              <a:spcAft>
                <a:spcPct val="0"/>
              </a:spcAft>
              <a:buClr>
                <a:srgbClr val="FE8637"/>
              </a:buClr>
              <a:buSzPct val="70000"/>
              <a:buFont typeface="Wingdings" panose="05000000000000000000" pitchFamily="2" charset="2"/>
              <a:buChar char=""/>
              <a:tabLst/>
              <a:defRPr/>
            </a:pPr>
            <a:r>
              <a:rPr kumimoji="0" lang="en-US" altLang="en-US" sz="2200" b="0" i="0" u="none" strike="noStrike" kern="1200" cap="none" spc="0" normalizeH="0" baseline="0" noProof="0">
                <a:ln>
                  <a:noFill/>
                </a:ln>
                <a:solidFill>
                  <a:sysClr val="windowText" lastClr="000000"/>
                </a:solidFill>
                <a:effectLst/>
                <a:uLnTx/>
                <a:uFillTx/>
                <a:latin typeface="Century Schoolbook"/>
                <a:ea typeface="+mn-ea"/>
                <a:cs typeface="+mn-cs"/>
              </a:rPr>
              <a:t>Sense 1</a:t>
            </a:r>
          </a:p>
          <a:p>
            <a:pPr marL="273050" marR="0" lvl="0" indent="-273050" algn="l" defTabSz="914400" rtl="0" eaLnBrk="1" fontAlgn="base" latinLnBrk="0" hangingPunct="1">
              <a:lnSpc>
                <a:spcPct val="90000"/>
              </a:lnSpc>
              <a:spcBef>
                <a:spcPct val="0"/>
              </a:spcBef>
              <a:spcAft>
                <a:spcPct val="0"/>
              </a:spcAft>
              <a:buClr>
                <a:srgbClr val="FE8637"/>
              </a:buClr>
              <a:buSzPct val="70000"/>
              <a:buFont typeface="Wingdings" panose="05000000000000000000" pitchFamily="2" charset="2"/>
              <a:buNone/>
              <a:tabLst/>
              <a:defRPr/>
            </a:pP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A piece of glowing carbon or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burn</a:t>
            </a: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t wood.</a:t>
            </a:r>
          </a:p>
          <a:p>
            <a:pPr marL="273050" marR="0" lvl="0" indent="-273050" algn="l" defTabSz="914400" rtl="0" eaLnBrk="1" fontAlgn="base" latinLnBrk="0" hangingPunct="1">
              <a:lnSpc>
                <a:spcPct val="90000"/>
              </a:lnSpc>
              <a:spcBef>
                <a:spcPts val="600"/>
              </a:spcBef>
              <a:spcAft>
                <a:spcPct val="0"/>
              </a:spcAft>
              <a:buClr>
                <a:srgbClr val="FE8637"/>
              </a:buClr>
              <a:buSzPct val="70000"/>
              <a:buFont typeface="Wingdings" panose="05000000000000000000" pitchFamily="2" charset="2"/>
              <a:buChar char=""/>
              <a:tabLst/>
              <a:defRPr/>
            </a:pPr>
            <a:r>
              <a:rPr kumimoji="0" lang="en-US" altLang="en-US" sz="2200" b="0" i="0" u="none" strike="noStrike" kern="1200" cap="none" spc="0" normalizeH="0" baseline="0" noProof="0">
                <a:ln>
                  <a:noFill/>
                </a:ln>
                <a:solidFill>
                  <a:sysClr val="windowText" lastClr="000000"/>
                </a:solidFill>
                <a:effectLst/>
                <a:uLnTx/>
                <a:uFillTx/>
                <a:latin typeface="Century Schoolbook"/>
                <a:ea typeface="+mn-ea"/>
                <a:cs typeface="+mn-cs"/>
              </a:rPr>
              <a:t>Sense 2</a:t>
            </a:r>
          </a:p>
          <a:p>
            <a:pPr marL="273050" marR="0" lvl="0" indent="-273050" algn="l" defTabSz="914400" rtl="0" eaLnBrk="1" fontAlgn="base" latinLnBrk="0" hangingPunct="1">
              <a:lnSpc>
                <a:spcPct val="90000"/>
              </a:lnSpc>
              <a:spcBef>
                <a:spcPct val="0"/>
              </a:spcBef>
              <a:spcAft>
                <a:spcPct val="0"/>
              </a:spcAft>
              <a:buClr>
                <a:srgbClr val="FE8637"/>
              </a:buClr>
              <a:buSzPct val="70000"/>
              <a:buFont typeface="Wingdings" panose="05000000000000000000" pitchFamily="2" charset="2"/>
              <a:buNone/>
              <a:tabLst/>
              <a:defRPr/>
            </a:pP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charcoal.</a:t>
            </a:r>
          </a:p>
          <a:p>
            <a:pPr marL="273050" marR="0" lvl="0" indent="-273050" algn="l" defTabSz="914400" rtl="0" eaLnBrk="1" fontAlgn="base" latinLnBrk="0" hangingPunct="1">
              <a:lnSpc>
                <a:spcPct val="90000"/>
              </a:lnSpc>
              <a:spcBef>
                <a:spcPct val="0"/>
              </a:spcBef>
              <a:spcAft>
                <a:spcPct val="0"/>
              </a:spcAft>
              <a:buClr>
                <a:srgbClr val="FE8637"/>
              </a:buClr>
              <a:buSzPct val="70000"/>
              <a:buFont typeface="Wingdings" panose="05000000000000000000" pitchFamily="2" charset="2"/>
              <a:buChar char=""/>
              <a:tabLst/>
              <a:defRPr/>
            </a:pPr>
            <a:r>
              <a:rPr kumimoji="0" lang="en-US" altLang="en-US" sz="2200" b="0" i="0" u="none" strike="noStrike" kern="1200" cap="none" spc="0" normalizeH="0" baseline="0" noProof="0">
                <a:ln>
                  <a:noFill/>
                </a:ln>
                <a:solidFill>
                  <a:sysClr val="windowText" lastClr="000000"/>
                </a:solidFill>
                <a:effectLst/>
                <a:uLnTx/>
                <a:uFillTx/>
                <a:latin typeface="Century Schoolbook"/>
                <a:ea typeface="+mn-ea"/>
                <a:cs typeface="+mn-cs"/>
              </a:rPr>
              <a:t>Sense 3</a:t>
            </a:r>
          </a:p>
          <a:p>
            <a:pPr marL="273050" marR="0" lvl="0" indent="-273050" algn="l" defTabSz="914400" rtl="0" eaLnBrk="1" fontAlgn="base" latinLnBrk="0" hangingPunct="1">
              <a:lnSpc>
                <a:spcPct val="100000"/>
              </a:lnSpc>
              <a:spcBef>
                <a:spcPct val="0"/>
              </a:spcBef>
              <a:spcAft>
                <a:spcPct val="0"/>
              </a:spcAft>
              <a:buClr>
                <a:srgbClr val="FE8637"/>
              </a:buClr>
              <a:buSzPct val="70000"/>
              <a:buFont typeface="Wingdings" panose="05000000000000000000" pitchFamily="2" charset="2"/>
              <a:buNone/>
              <a:tabLst/>
              <a:defRPr/>
            </a:pP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A black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solid</a:t>
            </a:r>
            <a:r>
              <a:rPr kumimoji="0" lang="en-US" altLang="en-US" sz="1200" b="1" i="1" u="none" strike="noStrike" kern="1200" cap="none" spc="0" normalizeH="0" baseline="0" noProof="0">
                <a:ln>
                  <a:noFill/>
                </a:ln>
                <a:solidFill>
                  <a:sysClr val="windowText" lastClr="000000"/>
                </a:solidFill>
                <a:effectLst/>
                <a:uLnTx/>
                <a:uFillTx/>
                <a:latin typeface="Century Schoolbook"/>
                <a:ea typeface="+mn-ea"/>
                <a:cs typeface="+mn-cs"/>
              </a:rPr>
              <a:t>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combustible</a:t>
            </a: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 substance formed by the partial decomposition of vegetable matter without free access to air and under the influence of moisture and often increased pressure and temperature that is widely used as a fuel for </a:t>
            </a:r>
            <a:r>
              <a:rPr kumimoji="0" lang="en-US" altLang="en-US" sz="1200" b="1" i="1" u="none" strike="noStrike" kern="1200" cap="none" spc="0" normalizeH="0" baseline="0" noProof="0">
                <a:ln>
                  <a:noFill/>
                </a:ln>
                <a:solidFill>
                  <a:srgbClr val="FF0000"/>
                </a:solidFill>
                <a:effectLst/>
                <a:uLnTx/>
                <a:uFillTx/>
                <a:latin typeface="Century Schoolbook"/>
                <a:ea typeface="+mn-ea"/>
                <a:cs typeface="+mn-cs"/>
              </a:rPr>
              <a:t>burn</a:t>
            </a:r>
            <a:r>
              <a:rPr kumimoji="0" lang="en-US" altLang="en-US" sz="1200" b="0" i="0" u="none" strike="noStrike" kern="1200" cap="none" spc="0" normalizeH="0" baseline="0" noProof="0">
                <a:ln>
                  <a:noFill/>
                </a:ln>
                <a:solidFill>
                  <a:sysClr val="windowText" lastClr="000000"/>
                </a:solidFill>
                <a:effectLst/>
                <a:uLnTx/>
                <a:uFillTx/>
                <a:latin typeface="Century Schoolbook"/>
                <a:ea typeface="+mn-ea"/>
                <a:cs typeface="+mn-cs"/>
              </a:rPr>
              <a:t>ing</a:t>
            </a:r>
          </a:p>
        </p:txBody>
      </p:sp>
      <p:sp>
        <p:nvSpPr>
          <p:cNvPr id="21" name="Text Placeholder 6"/>
          <p:cNvSpPr txBox="1">
            <a:spLocks/>
          </p:cNvSpPr>
          <p:nvPr/>
        </p:nvSpPr>
        <p:spPr bwMode="auto">
          <a:xfrm>
            <a:off x="1028700" y="2590800"/>
            <a:ext cx="3581400" cy="430213"/>
          </a:xfrm>
          <a:prstGeom prst="roundRect">
            <a:avLst>
              <a:gd name="adj" fmla="val 16667"/>
            </a:avLst>
          </a:prstGeom>
          <a:solidFill>
            <a:srgbClr val="FE86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marL="0" indent="0" algn="l" rtl="0" eaLnBrk="0" fontAlgn="base" hangingPunct="0">
              <a:spcBef>
                <a:spcPts val="600"/>
              </a:spcBef>
              <a:spcAft>
                <a:spcPct val="0"/>
              </a:spcAft>
              <a:buClr>
                <a:schemeClr val="accent1"/>
              </a:buClr>
              <a:buSzPct val="70000"/>
              <a:buFontTx/>
              <a:buNone/>
              <a:defRPr sz="2000" b="1" kern="1200">
                <a:solidFill>
                  <a:srgbClr val="FFFFFF"/>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marR="0" lvl="0" indent="0" algn="ctr" defTabSz="914400" rtl="0" eaLnBrk="1" fontAlgn="base" latinLnBrk="0" hangingPunct="1">
              <a:lnSpc>
                <a:spcPct val="100000"/>
              </a:lnSpc>
              <a:spcBef>
                <a:spcPts val="600"/>
              </a:spcBef>
              <a:spcAft>
                <a:spcPct val="0"/>
              </a:spcAft>
              <a:buClr>
                <a:srgbClr val="FE8637"/>
              </a:buClr>
              <a:buSzPct val="70000"/>
              <a:buFontTx/>
              <a:buNone/>
              <a:tabLst/>
              <a:defRPr/>
            </a:pPr>
            <a:r>
              <a:rPr kumimoji="0" lang="en-US" altLang="en-US" sz="2000" b="1" i="0" u="none" strike="noStrike" kern="1200" cap="none" spc="0" normalizeH="0" baseline="0" noProof="0">
                <a:ln>
                  <a:noFill/>
                </a:ln>
                <a:solidFill>
                  <a:srgbClr val="FFFFFF"/>
                </a:solidFill>
                <a:effectLst/>
                <a:uLnTx/>
                <a:uFillTx/>
                <a:latin typeface="Century Schoolbook"/>
                <a:ea typeface="+mn-ea"/>
                <a:cs typeface="+mn-cs"/>
              </a:rPr>
              <a:t>Ash</a:t>
            </a:r>
          </a:p>
        </p:txBody>
      </p:sp>
      <p:sp>
        <p:nvSpPr>
          <p:cNvPr id="22" name="Text Placeholder 7"/>
          <p:cNvSpPr txBox="1">
            <a:spLocks/>
          </p:cNvSpPr>
          <p:nvPr/>
        </p:nvSpPr>
        <p:spPr bwMode="auto">
          <a:xfrm>
            <a:off x="4914900" y="2590800"/>
            <a:ext cx="3657600" cy="430213"/>
          </a:xfrm>
          <a:prstGeom prst="roundRect">
            <a:avLst>
              <a:gd name="adj" fmla="val 16667"/>
            </a:avLst>
          </a:prstGeom>
          <a:solidFill>
            <a:srgbClr val="FE863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marL="0" indent="0" algn="l" rtl="0" eaLnBrk="0" fontAlgn="base" hangingPunct="0">
              <a:spcBef>
                <a:spcPts val="600"/>
              </a:spcBef>
              <a:spcAft>
                <a:spcPct val="0"/>
              </a:spcAft>
              <a:buClr>
                <a:schemeClr val="accent1"/>
              </a:buClr>
              <a:buSzPct val="70000"/>
              <a:buFontTx/>
              <a:buNone/>
              <a:defRPr sz="2000" b="1" kern="1200">
                <a:solidFill>
                  <a:srgbClr val="FFFFFF"/>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anose="05020102010507070707"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anose="05000000000000000000"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anose="05000000000000000000"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anose="05020102010507070707"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marR="0" lvl="0" indent="0" algn="ctr" defTabSz="914400" rtl="0" eaLnBrk="1" fontAlgn="base" latinLnBrk="0" hangingPunct="1">
              <a:lnSpc>
                <a:spcPct val="100000"/>
              </a:lnSpc>
              <a:spcBef>
                <a:spcPts val="600"/>
              </a:spcBef>
              <a:spcAft>
                <a:spcPct val="0"/>
              </a:spcAft>
              <a:buClr>
                <a:srgbClr val="FE8637"/>
              </a:buClr>
              <a:buSzPct val="70000"/>
              <a:buFontTx/>
              <a:buNone/>
              <a:tabLst/>
              <a:defRPr/>
            </a:pPr>
            <a:r>
              <a:rPr kumimoji="0" lang="en-US" altLang="en-US" sz="2000" b="1" i="0" u="none" strike="noStrike" kern="1200" cap="none" spc="0" normalizeH="0" baseline="0" noProof="0">
                <a:ln>
                  <a:noFill/>
                </a:ln>
                <a:solidFill>
                  <a:srgbClr val="FFFFFF"/>
                </a:solidFill>
                <a:effectLst/>
                <a:uLnTx/>
                <a:uFillTx/>
                <a:latin typeface="Century Schoolbook"/>
                <a:ea typeface="+mn-ea"/>
                <a:cs typeface="+mn-cs"/>
              </a:rPr>
              <a:t>Coal</a:t>
            </a:r>
          </a:p>
        </p:txBody>
      </p:sp>
      <p:sp>
        <p:nvSpPr>
          <p:cNvPr id="23" name="Rectangle 9"/>
          <p:cNvSpPr>
            <a:spLocks noChangeArrowheads="1"/>
          </p:cNvSpPr>
          <p:nvPr/>
        </p:nvSpPr>
        <p:spPr bwMode="auto">
          <a:xfrm>
            <a:off x="1028700" y="1066800"/>
            <a:ext cx="7543800"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marL="0" marR="0" lvl="0" indent="0" algn="l" defTabSz="914400" eaLnBrk="0" fontAlgn="auto" latinLnBrk="0" hangingPunct="0">
              <a:lnSpc>
                <a:spcPct val="100000"/>
              </a:lnSpc>
              <a:spcBef>
                <a:spcPts val="600"/>
              </a:spcBef>
              <a:spcAft>
                <a:spcPts val="0"/>
              </a:spcAft>
              <a:buClr>
                <a:srgbClr val="FE8637"/>
              </a:buClr>
              <a:buSzPct val="70000"/>
              <a:buFont typeface="Wingdings" panose="05000000000000000000" pitchFamily="2" charset="2"/>
              <a:buNone/>
              <a:tabLst/>
              <a:defRPr/>
            </a:pPr>
            <a:r>
              <a:rPr kumimoji="0" lang="en-GB" altLang="en-US" sz="1600" b="1" i="0" u="sng" strike="noStrike" kern="0" cap="none" spc="0" normalizeH="0" baseline="0" noProof="0">
                <a:ln>
                  <a:noFill/>
                </a:ln>
                <a:solidFill>
                  <a:prstClr val="black"/>
                </a:solidFill>
                <a:effectLst/>
                <a:uLnTx/>
                <a:uFillTx/>
                <a:latin typeface="Century Schoolbook" panose="02040604050505020304" pitchFamily="18" charset="0"/>
              </a:rPr>
              <a:t>Sense Bag</a:t>
            </a:r>
            <a:r>
              <a:rPr kumimoji="0" lang="en-GB" altLang="en-US" sz="1600" b="0" i="0" u="none" strike="noStrike" kern="0" cap="none" spc="0" normalizeH="0" baseline="0" noProof="0">
                <a:ln>
                  <a:noFill/>
                </a:ln>
                <a:solidFill>
                  <a:prstClr val="black"/>
                </a:solidFill>
                <a:effectLst/>
                <a:uLnTx/>
                <a:uFillTx/>
                <a:latin typeface="Century Schoolbook" panose="02040604050505020304" pitchFamily="18" charset="0"/>
              </a:rPr>
              <a:t>: </a:t>
            </a:r>
            <a:r>
              <a:rPr kumimoji="0" lang="en-US" altLang="en-US" sz="1600" b="0" i="1" u="none" strike="noStrike" kern="0" cap="none" spc="0" normalizeH="0" baseline="0" noProof="0">
                <a:ln>
                  <a:noFill/>
                </a:ln>
                <a:solidFill>
                  <a:prstClr val="black"/>
                </a:solidFill>
                <a:effectLst/>
                <a:uLnTx/>
                <a:uFillTx/>
                <a:latin typeface="Century Schoolbook" panose="02040604050505020304" pitchFamily="18" charset="0"/>
              </a:rPr>
              <a:t>contains the words in the definition of a candidate sense of the ambiguous word.</a:t>
            </a:r>
          </a:p>
          <a:p>
            <a:pPr marL="0" marR="0" lvl="0" indent="0" algn="l" defTabSz="914400" eaLnBrk="0" fontAlgn="auto" latinLnBrk="0" hangingPunct="0">
              <a:lnSpc>
                <a:spcPct val="100000"/>
              </a:lnSpc>
              <a:spcBef>
                <a:spcPts val="600"/>
              </a:spcBef>
              <a:spcAft>
                <a:spcPts val="0"/>
              </a:spcAft>
              <a:buClr>
                <a:srgbClr val="FE8637"/>
              </a:buClr>
              <a:buSzPct val="70000"/>
              <a:buFont typeface="Wingdings" panose="05000000000000000000" pitchFamily="2" charset="2"/>
              <a:buNone/>
              <a:tabLst/>
              <a:defRPr/>
            </a:pPr>
            <a:r>
              <a:rPr kumimoji="0" lang="en-GB" altLang="en-US" sz="1600" b="1" i="0" u="sng" strike="noStrike" kern="0" cap="none" spc="0" normalizeH="0" baseline="0" noProof="0">
                <a:ln>
                  <a:noFill/>
                </a:ln>
                <a:solidFill>
                  <a:prstClr val="black"/>
                </a:solidFill>
                <a:effectLst/>
                <a:uLnTx/>
                <a:uFillTx/>
                <a:latin typeface="Century Schoolbook" panose="02040604050505020304" pitchFamily="18" charset="0"/>
              </a:rPr>
              <a:t>Context Bag</a:t>
            </a:r>
            <a:r>
              <a:rPr kumimoji="0" lang="en-GB" altLang="en-US" sz="1600" b="0" i="0" u="none" strike="noStrike" kern="0" cap="none" spc="0" normalizeH="0" baseline="0" noProof="0">
                <a:ln>
                  <a:noFill/>
                </a:ln>
                <a:solidFill>
                  <a:prstClr val="black"/>
                </a:solidFill>
                <a:effectLst/>
                <a:uLnTx/>
                <a:uFillTx/>
                <a:latin typeface="Century Schoolbook" panose="02040604050505020304" pitchFamily="18" charset="0"/>
              </a:rPr>
              <a:t>: </a:t>
            </a:r>
            <a:r>
              <a:rPr kumimoji="0" lang="en-US" altLang="en-US" sz="1600" b="0" i="1" u="none" strike="noStrike" kern="0" cap="none" spc="0" normalizeH="0" baseline="0" noProof="0">
                <a:ln>
                  <a:noFill/>
                </a:ln>
                <a:solidFill>
                  <a:prstClr val="black"/>
                </a:solidFill>
                <a:effectLst/>
                <a:uLnTx/>
                <a:uFillTx/>
                <a:latin typeface="Century Schoolbook" panose="02040604050505020304" pitchFamily="18" charset="0"/>
              </a:rPr>
              <a:t>contains the words in the definition of each sense of each context word.</a:t>
            </a:r>
          </a:p>
          <a:p>
            <a:pPr marL="0" marR="0" lvl="0" indent="0" algn="l" defTabSz="914400" eaLnBrk="1" fontAlgn="auto" latinLnBrk="0" hangingPunct="1">
              <a:lnSpc>
                <a:spcPct val="102000"/>
              </a:lnSpc>
              <a:spcBef>
                <a:spcPct val="0"/>
              </a:spcBef>
              <a:spcAft>
                <a:spcPts val="0"/>
              </a:spcAft>
              <a:buClrTx/>
              <a:buSzTx/>
              <a:buFontTx/>
              <a:buNone/>
              <a:tabLst/>
              <a:defRPr/>
            </a:pPr>
            <a:r>
              <a:rPr kumimoji="0" lang="en-GB" altLang="en-US" sz="1800" b="0" i="0" u="none" strike="noStrike" kern="0" cap="none" spc="0" normalizeH="0" baseline="0" noProof="0">
                <a:ln>
                  <a:noFill/>
                </a:ln>
                <a:solidFill>
                  <a:prstClr val="black"/>
                </a:solidFill>
                <a:effectLst/>
                <a:uLnTx/>
                <a:uFillTx/>
                <a:latin typeface="Century Schoolbook" panose="02040604050505020304" pitchFamily="18" charset="0"/>
              </a:rPr>
              <a:t>	E.g. “On burning </a:t>
            </a:r>
            <a:r>
              <a:rPr kumimoji="0" lang="en-GB" altLang="en-US" sz="1800" b="1" i="1" u="none" strike="noStrike" kern="0" cap="none" spc="0" normalizeH="0" baseline="0" noProof="0">
                <a:ln>
                  <a:noFill/>
                </a:ln>
                <a:solidFill>
                  <a:prstClr val="black"/>
                </a:solidFill>
                <a:effectLst/>
                <a:uLnTx/>
                <a:uFillTx/>
                <a:latin typeface="Century Schoolbook" panose="02040604050505020304" pitchFamily="18" charset="0"/>
              </a:rPr>
              <a:t>coal</a:t>
            </a:r>
            <a:r>
              <a:rPr kumimoji="0" lang="en-GB" altLang="en-US" sz="1800" b="0" i="0" u="none" strike="noStrike" kern="0" cap="none" spc="0" normalizeH="0" baseline="0" noProof="0">
                <a:ln>
                  <a:noFill/>
                </a:ln>
                <a:solidFill>
                  <a:prstClr val="black"/>
                </a:solidFill>
                <a:effectLst/>
                <a:uLnTx/>
                <a:uFillTx/>
                <a:latin typeface="Century Schoolbook" panose="02040604050505020304" pitchFamily="18" charset="0"/>
              </a:rPr>
              <a:t> we get </a:t>
            </a:r>
            <a:r>
              <a:rPr kumimoji="0" lang="en-GB" altLang="en-US" sz="1800" b="1" i="1" u="none" strike="noStrike" kern="0" cap="none" spc="0" normalizeH="0" baseline="0" noProof="0">
                <a:ln>
                  <a:noFill/>
                </a:ln>
                <a:solidFill>
                  <a:srgbClr val="FF0000"/>
                </a:solidFill>
                <a:effectLst/>
                <a:uLnTx/>
                <a:uFillTx/>
                <a:latin typeface="Century Schoolbook" panose="02040604050505020304" pitchFamily="18" charset="0"/>
              </a:rPr>
              <a:t>ash</a:t>
            </a:r>
            <a:r>
              <a:rPr kumimoji="0" lang="en-GB" altLang="en-US" sz="1800" b="0" i="0" u="none" strike="noStrike" kern="0" cap="none" spc="0" normalizeH="0" baseline="0" noProof="0">
                <a:ln>
                  <a:noFill/>
                </a:ln>
                <a:solidFill>
                  <a:prstClr val="black"/>
                </a:solidFill>
                <a:effectLst/>
                <a:uLnTx/>
                <a:uFillTx/>
                <a:latin typeface="Century Schoolbook" panose="02040604050505020304" pitchFamily="18" charset="0"/>
              </a:rPr>
              <a:t>.”</a:t>
            </a:r>
          </a:p>
        </p:txBody>
      </p:sp>
      <p:sp>
        <p:nvSpPr>
          <p:cNvPr id="24" name="Text Placeholder 6"/>
          <p:cNvSpPr>
            <a:spLocks/>
          </p:cNvSpPr>
          <p:nvPr/>
        </p:nvSpPr>
        <p:spPr bwMode="auto">
          <a:xfrm>
            <a:off x="1181100" y="5715000"/>
            <a:ext cx="7467600" cy="457200"/>
          </a:xfrm>
          <a:prstGeom prst="roundRect">
            <a:avLst>
              <a:gd name="adj" fmla="val 16667"/>
            </a:avLst>
          </a:prstGeom>
          <a:solidFill>
            <a:srgbClr val="FE863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marL="0" marR="0" lvl="0" indent="0" algn="ctr" defTabSz="914400" eaLnBrk="1" fontAlgn="auto" latinLnBrk="0" hangingPunct="1">
              <a:lnSpc>
                <a:spcPct val="100000"/>
              </a:lnSpc>
              <a:spcBef>
                <a:spcPts val="600"/>
              </a:spcBef>
              <a:spcAft>
                <a:spcPts val="0"/>
              </a:spcAft>
              <a:buClr>
                <a:srgbClr val="FE8637"/>
              </a:buClr>
              <a:buSzPct val="70000"/>
              <a:buFontTx/>
              <a:buNone/>
              <a:tabLst/>
              <a:defRPr/>
            </a:pPr>
            <a:r>
              <a:rPr kumimoji="0" lang="en-US" altLang="en-US" sz="2000" b="0" i="0" u="none" strike="noStrike" kern="0" cap="none" spc="0" normalizeH="0" baseline="0" noProof="0">
                <a:ln>
                  <a:noFill/>
                </a:ln>
                <a:solidFill>
                  <a:srgbClr val="FFFFFF"/>
                </a:solidFill>
                <a:effectLst/>
                <a:uLnTx/>
                <a:uFillTx/>
                <a:latin typeface="Century Schoolbook" panose="02040604050505020304" pitchFamily="18" charset="0"/>
              </a:rPr>
              <a:t>In this case Sense 2 of ash would be the winner sense.</a:t>
            </a:r>
          </a:p>
        </p:txBody>
      </p:sp>
    </p:spTree>
    <p:extLst>
      <p:ext uri="{BB962C8B-B14F-4D97-AF65-F5344CB8AC3E}">
        <p14:creationId xmlns:p14="http://schemas.microsoft.com/office/powerpoint/2010/main" val="3158626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en-US" b="1" cap="none" dirty="0"/>
              <a:t>W</a:t>
            </a:r>
            <a:r>
              <a:rPr lang="en-US" altLang="en-US" sz="2400" dirty="0"/>
              <a:t>ALKER’S</a:t>
            </a:r>
            <a:r>
              <a:rPr lang="en-US" altLang="en-US" b="1" cap="none" dirty="0"/>
              <a:t> A</a:t>
            </a:r>
            <a:r>
              <a:rPr lang="en-US" altLang="en-US" sz="2400" dirty="0"/>
              <a:t>LGORITHM</a:t>
            </a:r>
          </a:p>
        </p:txBody>
      </p:sp>
      <p:sp>
        <p:nvSpPr>
          <p:cNvPr id="9" name="Rectangle 3"/>
          <p:cNvSpPr txBox="1">
            <a:spLocks/>
          </p:cNvSpPr>
          <p:nvPr/>
        </p:nvSpPr>
        <p:spPr bwMode="auto">
          <a:xfrm>
            <a:off x="800100" y="1143000"/>
            <a:ext cx="74676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Verdana" pitchFamily="34" charset="0"/>
                <a:ea typeface="Verdana" pitchFamily="34" charset="0"/>
                <a:cs typeface="Verdana" pitchFamily="34" charset="0"/>
              </a:defRPr>
            </a:lvl1pPr>
            <a:lvl2pPr marL="742950" indent="-285750" algn="l" rtl="0" eaLnBrk="0" fontAlgn="base" hangingPunct="0">
              <a:spcBef>
                <a:spcPct val="20000"/>
              </a:spcBef>
              <a:spcAft>
                <a:spcPct val="0"/>
              </a:spcAft>
              <a:buChar char="–"/>
              <a:defRPr sz="28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har char="•"/>
              <a:defRPr sz="24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Char char="»"/>
              <a:defRPr sz="2000">
                <a:solidFill>
                  <a:schemeClr val="tx1"/>
                </a:solidFill>
                <a:latin typeface="Verdana" pitchFamily="34" charset="0"/>
                <a:ea typeface="Verdana" pitchFamily="34" charset="0"/>
                <a:cs typeface="Verdana"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90000"/>
              </a:lnSpc>
            </a:pPr>
            <a:r>
              <a:rPr lang="en-GB" altLang="en-US" sz="2000" kern="0" dirty="0"/>
              <a:t>A Thesaurus Based approach</a:t>
            </a:r>
            <a:r>
              <a:rPr lang="en-GB" altLang="en-US" sz="2000" i="1" kern="0" dirty="0"/>
              <a:t>.</a:t>
            </a:r>
          </a:p>
          <a:p>
            <a:pPr>
              <a:lnSpc>
                <a:spcPct val="90000"/>
              </a:lnSpc>
            </a:pPr>
            <a:r>
              <a:rPr lang="en-GB" altLang="en-US" sz="2000" b="1" i="1" u="sng" kern="0" dirty="0"/>
              <a:t>Step 1</a:t>
            </a:r>
            <a:r>
              <a:rPr lang="en-GB" altLang="en-US" sz="2000" b="1" i="1" kern="0" dirty="0"/>
              <a:t>:</a:t>
            </a:r>
            <a:r>
              <a:rPr lang="en-GB" altLang="en-US" sz="2000" i="1" kern="0" dirty="0"/>
              <a:t> </a:t>
            </a:r>
            <a:r>
              <a:rPr lang="en-GB" altLang="en-US" sz="1600" i="1" kern="0" dirty="0"/>
              <a:t>For each sense of the target word find the thesaurus category to which that sense belongs.</a:t>
            </a:r>
          </a:p>
          <a:p>
            <a:pPr>
              <a:lnSpc>
                <a:spcPct val="90000"/>
              </a:lnSpc>
            </a:pPr>
            <a:r>
              <a:rPr lang="en-GB" altLang="en-US" sz="2000" b="1" i="1" u="sng" kern="0" dirty="0"/>
              <a:t>Step 2</a:t>
            </a:r>
            <a:r>
              <a:rPr lang="en-GB" altLang="en-US" sz="2000" b="1" i="1" kern="0" dirty="0"/>
              <a:t>: </a:t>
            </a:r>
            <a:r>
              <a:rPr lang="en-GB" altLang="en-US" sz="1600" i="1" kern="0" dirty="0"/>
              <a:t>Calculate the score for each sense by using the context words</a:t>
            </a:r>
            <a:r>
              <a:rPr lang="en-GB" altLang="en-US" sz="1600" b="1" i="1" kern="0" dirty="0"/>
              <a:t>. </a:t>
            </a:r>
            <a:r>
              <a:rPr lang="en-GB" altLang="en-US" sz="1600" i="1" kern="0" dirty="0"/>
              <a:t>A c</a:t>
            </a:r>
            <a:r>
              <a:rPr lang="en-GB" altLang="en-US" sz="1600" i="1" kern="0" dirty="0">
                <a:solidFill>
                  <a:srgbClr val="000000"/>
                </a:solidFill>
              </a:rPr>
              <a:t>ontext word will add 1 to the score of  the sense if the thesaurus category of the word matches that of the sense.</a:t>
            </a:r>
          </a:p>
          <a:p>
            <a:pPr lvl="1">
              <a:lnSpc>
                <a:spcPct val="90000"/>
              </a:lnSpc>
            </a:pPr>
            <a:r>
              <a:rPr lang="en-GB" altLang="en-US" sz="1700" i="1" kern="0" dirty="0"/>
              <a:t>E.g. The money in this </a:t>
            </a:r>
            <a:r>
              <a:rPr lang="en-GB" altLang="en-US" sz="1700" b="1" i="1" u="sng" kern="0" dirty="0"/>
              <a:t>bank</a:t>
            </a:r>
            <a:r>
              <a:rPr lang="en-GB" altLang="en-US" sz="1700" i="1" kern="0" dirty="0"/>
              <a:t> fetches an interest of 8% per annum</a:t>
            </a:r>
          </a:p>
          <a:p>
            <a:pPr lvl="1">
              <a:lnSpc>
                <a:spcPct val="97000"/>
              </a:lnSpc>
            </a:pPr>
            <a:r>
              <a:rPr lang="en-GB" altLang="en-US" sz="1700" kern="0" dirty="0"/>
              <a:t>Target word: </a:t>
            </a:r>
            <a:r>
              <a:rPr lang="en-GB" altLang="en-US" sz="1700" b="1" i="1" kern="0" dirty="0"/>
              <a:t>bank</a:t>
            </a:r>
          </a:p>
          <a:p>
            <a:pPr lvl="1">
              <a:lnSpc>
                <a:spcPct val="97000"/>
              </a:lnSpc>
            </a:pPr>
            <a:r>
              <a:rPr lang="en-GB" altLang="en-US" sz="1700" kern="0" dirty="0"/>
              <a:t>Clue words from the context: </a:t>
            </a:r>
            <a:r>
              <a:rPr lang="en-GB" altLang="en-US" sz="1700" b="1" i="1" kern="0" dirty="0"/>
              <a:t>money</a:t>
            </a:r>
            <a:r>
              <a:rPr lang="en-GB" altLang="en-US" sz="1700" b="1" kern="0" dirty="0"/>
              <a:t>, </a:t>
            </a:r>
            <a:r>
              <a:rPr lang="en-GB" altLang="en-US" sz="1700" b="1" i="1" kern="0" dirty="0"/>
              <a:t>interest</a:t>
            </a:r>
            <a:r>
              <a:rPr lang="en-GB" altLang="en-US" sz="1700" b="1" kern="0" dirty="0"/>
              <a:t>, </a:t>
            </a:r>
            <a:r>
              <a:rPr lang="en-GB" altLang="en-US" sz="1700" b="1" i="1" kern="0" dirty="0"/>
              <a:t>annum, fetch</a:t>
            </a:r>
            <a:endParaRPr lang="en-US" altLang="en-US" sz="1700" b="1" i="1" kern="0" dirty="0"/>
          </a:p>
        </p:txBody>
      </p:sp>
      <p:graphicFrame>
        <p:nvGraphicFramePr>
          <p:cNvPr id="10" name="Group 4"/>
          <p:cNvGraphicFramePr>
            <a:graphicFrameLocks noGrp="1"/>
          </p:cNvGraphicFramePr>
          <p:nvPr>
            <p:ph sz="half" idx="4294967295"/>
            <p:extLst>
              <p:ext uri="{D42A27DB-BD31-4B8C-83A1-F6EECF244321}">
                <p14:modId xmlns:p14="http://schemas.microsoft.com/office/powerpoint/2010/main" val="1455340094"/>
              </p:ext>
            </p:extLst>
          </p:nvPr>
        </p:nvGraphicFramePr>
        <p:xfrm>
          <a:off x="2471737" y="4267200"/>
          <a:ext cx="4495800" cy="1951040"/>
        </p:xfrm>
        <a:graphic>
          <a:graphicData uri="http://schemas.openxmlformats.org/drawingml/2006/table">
            <a:tbl>
              <a:tblPr/>
              <a:tblGrid>
                <a:gridCol w="1295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27436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rgbClr val="FFFFFF"/>
                        </a:solidFill>
                        <a:effectLst/>
                        <a:latin typeface="Century Schoolbook"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FFFFFF"/>
                          </a:solidFill>
                          <a:effectLst/>
                          <a:latin typeface="Century Schoolbook" pitchFamily="18" charset="0"/>
                        </a:rPr>
                        <a:t>Sense1: Finance</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FFFFFF"/>
                          </a:solidFill>
                          <a:effectLst/>
                          <a:latin typeface="Century Schoolbook" pitchFamily="18" charset="0"/>
                        </a:rPr>
                        <a:t>Sense2: Location</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53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2"/>
                          </a:solidFill>
                          <a:effectLst/>
                          <a:latin typeface="Century Schoolbook" pitchFamily="18" charset="0"/>
                        </a:rPr>
                        <a:t>Money</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extLst>
                  <a:ext uri="{0D108BD9-81ED-4DB2-BD59-A6C34878D82A}">
                    <a16:rowId xmlns:a16="http://schemas.microsoft.com/office/drawing/2014/main" val="10001"/>
                  </a:ext>
                </a:extLst>
              </a:tr>
              <a:tr h="3353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2"/>
                          </a:solidFill>
                          <a:effectLst/>
                          <a:latin typeface="Century Schoolbook" pitchFamily="18" charset="0"/>
                        </a:rPr>
                        <a:t>Interest</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extLst>
                  <a:ext uri="{0D108BD9-81ED-4DB2-BD59-A6C34878D82A}">
                    <a16:rowId xmlns:a16="http://schemas.microsoft.com/office/drawing/2014/main" val="10002"/>
                  </a:ext>
                </a:extLst>
              </a:tr>
              <a:tr h="3353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2"/>
                          </a:solidFill>
                          <a:effectLst/>
                          <a:latin typeface="Century Schoolbook" pitchFamily="18" charset="0"/>
                        </a:rPr>
                        <a:t>Fetch</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extLst>
                  <a:ext uri="{0D108BD9-81ED-4DB2-BD59-A6C34878D82A}">
                    <a16:rowId xmlns:a16="http://schemas.microsoft.com/office/drawing/2014/main" val="10003"/>
                  </a:ext>
                </a:extLst>
              </a:tr>
              <a:tr h="3353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2"/>
                          </a:solidFill>
                          <a:effectLst/>
                          <a:latin typeface="Century Schoolbook" pitchFamily="18" charset="0"/>
                        </a:rPr>
                        <a:t>Annum</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+1</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extLst>
                  <a:ext uri="{0D108BD9-81ED-4DB2-BD59-A6C34878D82A}">
                    <a16:rowId xmlns:a16="http://schemas.microsoft.com/office/drawing/2014/main" val="10004"/>
                  </a:ext>
                </a:extLst>
              </a:tr>
              <a:tr h="33533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accent2"/>
                          </a:solidFill>
                          <a:effectLst/>
                          <a:latin typeface="Century Schoolbook" pitchFamily="18" charset="0"/>
                        </a:rPr>
                        <a:t>Total</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3</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Century Schoolbook" pitchFamily="18" charset="0"/>
                        </a:rPr>
                        <a:t>0</a:t>
                      </a: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extLst>
                  <a:ext uri="{0D108BD9-81ED-4DB2-BD59-A6C34878D82A}">
                    <a16:rowId xmlns:a16="http://schemas.microsoft.com/office/drawing/2014/main" val="10005"/>
                  </a:ext>
                </a:extLst>
              </a:tr>
            </a:tbl>
          </a:graphicData>
        </a:graphic>
      </p:graphicFrame>
      <p:sp>
        <p:nvSpPr>
          <p:cNvPr id="11" name="Text Box 34"/>
          <p:cNvSpPr txBox="1">
            <a:spLocks noChangeArrowheads="1"/>
          </p:cNvSpPr>
          <p:nvPr/>
        </p:nvSpPr>
        <p:spPr bwMode="auto">
          <a:xfrm>
            <a:off x="7196137" y="4419600"/>
            <a:ext cx="1223963" cy="1014413"/>
          </a:xfrm>
          <a:prstGeom prst="rect">
            <a:avLst/>
          </a:prstGeom>
          <a:solidFill>
            <a:srgbClr val="FFFFFF"/>
          </a:solidFill>
          <a:ln w="9360">
            <a:solidFill>
              <a:srgbClr val="000000"/>
            </a:solidFill>
            <a:round/>
            <a:headEnd/>
            <a:tailEnd/>
          </a:ln>
        </p:spPr>
        <p:txBody>
          <a:bodyPr wrap="none" lIns="90000" tIns="45000" rIns="90000" bIns="45000">
            <a:spAutoFit/>
          </a:bodyPr>
          <a:lstStyle>
            <a:lvl1pPr algn="ctr" defTabSz="457200" eaLnBrk="0" hangingPunct="0">
              <a:spcBef>
                <a:spcPts val="600"/>
              </a:spcBef>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1pPr>
            <a:lvl2pPr marL="742950" indent="-285750" algn="ctr" defTabSz="457200" eaLnBrk="0" hangingPunct="0">
              <a:spcBef>
                <a:spcPts val="600"/>
              </a:spcBef>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2pPr>
            <a:lvl3pPr marL="1143000" indent="-228600" algn="ctr" defTabSz="457200" eaLnBrk="0" hangingPunct="0">
              <a:spcBef>
                <a:spcPts val="600"/>
              </a:spcBef>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3pPr>
            <a:lvl4pPr marL="1600200" indent="-228600" algn="ctr" defTabSz="457200" eaLnBrk="0" hangingPunct="0">
              <a:spcBef>
                <a:spcPts val="600"/>
              </a:spcBef>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4pPr>
            <a:lvl5pPr marL="2057400" indent="-228600" algn="ctr" defTabSz="457200" eaLnBrk="0" hangingPunct="0">
              <a:spcBef>
                <a:spcPts val="600"/>
              </a:spcBef>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5pPr>
            <a:lvl6pPr marL="2514600" indent="-228600" algn="ctr" defTabSz="457200" eaLnBrk="0" fontAlgn="base" hangingPunct="0">
              <a:spcBef>
                <a:spcPts val="600"/>
              </a:spcBef>
              <a:spcAft>
                <a:spcPct val="0"/>
              </a:spcAft>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6pPr>
            <a:lvl7pPr marL="2971800" indent="-228600" algn="ctr" defTabSz="457200" eaLnBrk="0" fontAlgn="base" hangingPunct="0">
              <a:spcBef>
                <a:spcPts val="600"/>
              </a:spcBef>
              <a:spcAft>
                <a:spcPct val="0"/>
              </a:spcAft>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7pPr>
            <a:lvl8pPr marL="3429000" indent="-228600" algn="ctr" defTabSz="457200" eaLnBrk="0" fontAlgn="base" hangingPunct="0">
              <a:spcBef>
                <a:spcPts val="600"/>
              </a:spcBef>
              <a:spcAft>
                <a:spcPct val="0"/>
              </a:spcAft>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8pPr>
            <a:lvl9pPr marL="3886200" indent="-228600" algn="ctr" defTabSz="457200" eaLnBrk="0" fontAlgn="base" hangingPunct="0">
              <a:spcBef>
                <a:spcPts val="600"/>
              </a:spcBef>
              <a:spcAft>
                <a:spcPct val="0"/>
              </a:spcAft>
              <a:buClr>
                <a:schemeClr val="accent1"/>
              </a:buClr>
              <a:buSzPct val="70000"/>
              <a:buFont typeface="Wingdings" panose="05000000000000000000" pitchFamily="2"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entury Schoolbook" panose="02040604050505020304" pitchFamily="18" charset="0"/>
              </a:defRPr>
            </a:lvl9pPr>
          </a:lstStyle>
          <a:p>
            <a:pPr algn="l" eaLnBrk="1">
              <a:spcBef>
                <a:spcPct val="0"/>
              </a:spcBef>
              <a:buClr>
                <a:srgbClr val="000000"/>
              </a:buClr>
              <a:buSzPct val="45000"/>
            </a:pPr>
            <a:r>
              <a:rPr lang="en-GB" altLang="en-US" sz="1000">
                <a:solidFill>
                  <a:srgbClr val="000000"/>
                </a:solidFill>
                <a:latin typeface="Bitstream Vera Sans" pitchFamily="34" charset="0"/>
              </a:rPr>
              <a:t>Context words</a:t>
            </a:r>
          </a:p>
          <a:p>
            <a:pPr algn="l" eaLnBrk="1">
              <a:spcBef>
                <a:spcPct val="0"/>
              </a:spcBef>
              <a:buClr>
                <a:srgbClr val="000000"/>
              </a:buClr>
              <a:buSzPct val="45000"/>
            </a:pPr>
            <a:r>
              <a:rPr lang="en-GB" altLang="en-US" sz="1000">
                <a:solidFill>
                  <a:srgbClr val="000000"/>
                </a:solidFill>
                <a:latin typeface="Bitstream Vera Sans" pitchFamily="34" charset="0"/>
              </a:rPr>
              <a:t>add 1 to the</a:t>
            </a:r>
          </a:p>
          <a:p>
            <a:pPr algn="l" eaLnBrk="1">
              <a:spcBef>
                <a:spcPct val="0"/>
              </a:spcBef>
              <a:buClr>
                <a:srgbClr val="000000"/>
              </a:buClr>
              <a:buSzPct val="45000"/>
            </a:pPr>
            <a:r>
              <a:rPr lang="en-GB" altLang="en-US" sz="1000">
                <a:solidFill>
                  <a:srgbClr val="000000"/>
                </a:solidFill>
                <a:latin typeface="Bitstream Vera Sans" pitchFamily="34" charset="0"/>
              </a:rPr>
              <a:t>sense when </a:t>
            </a:r>
          </a:p>
          <a:p>
            <a:pPr algn="l" eaLnBrk="1">
              <a:spcBef>
                <a:spcPct val="0"/>
              </a:spcBef>
              <a:buClr>
                <a:srgbClr val="000000"/>
              </a:buClr>
              <a:buSzPct val="45000"/>
            </a:pPr>
            <a:r>
              <a:rPr lang="en-GB" altLang="en-US" sz="1000">
                <a:solidFill>
                  <a:srgbClr val="000000"/>
                </a:solidFill>
                <a:latin typeface="Bitstream Vera Sans" pitchFamily="34" charset="0"/>
              </a:rPr>
              <a:t>the topic of the</a:t>
            </a:r>
          </a:p>
          <a:p>
            <a:pPr algn="l" eaLnBrk="1">
              <a:spcBef>
                <a:spcPct val="0"/>
              </a:spcBef>
              <a:buClr>
                <a:srgbClr val="000000"/>
              </a:buClr>
              <a:buSzPct val="45000"/>
            </a:pPr>
            <a:r>
              <a:rPr lang="en-GB" altLang="en-US" sz="1000">
                <a:solidFill>
                  <a:srgbClr val="000000"/>
                </a:solidFill>
                <a:latin typeface="Bitstream Vera Sans" pitchFamily="34" charset="0"/>
              </a:rPr>
              <a:t>word matches that</a:t>
            </a:r>
          </a:p>
          <a:p>
            <a:pPr algn="l" eaLnBrk="1">
              <a:spcBef>
                <a:spcPct val="0"/>
              </a:spcBef>
              <a:buClr>
                <a:srgbClr val="000000"/>
              </a:buClr>
              <a:buSzPct val="45000"/>
            </a:pPr>
            <a:r>
              <a:rPr lang="en-GB" altLang="en-US" sz="1000">
                <a:solidFill>
                  <a:srgbClr val="000000"/>
                </a:solidFill>
                <a:latin typeface="Bitstream Vera Sans" pitchFamily="34" charset="0"/>
              </a:rPr>
              <a:t>of the sense</a:t>
            </a:r>
            <a:endParaRPr lang="en-GB" altLang="en-US" sz="1800">
              <a:solidFill>
                <a:srgbClr val="000000"/>
              </a:solidFill>
              <a:latin typeface="Bitstream Vera Sans" pitchFamily="34" charset="0"/>
            </a:endParaRPr>
          </a:p>
        </p:txBody>
      </p:sp>
      <p:sp>
        <p:nvSpPr>
          <p:cNvPr id="12" name="Line 35"/>
          <p:cNvSpPr>
            <a:spLocks noChangeShapeType="1"/>
          </p:cNvSpPr>
          <p:nvPr/>
        </p:nvSpPr>
        <p:spPr bwMode="auto">
          <a:xfrm flipH="1" flipV="1">
            <a:off x="4071937" y="4724400"/>
            <a:ext cx="3124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36814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Word Sense Disambiguation</a:t>
            </a:r>
          </a:p>
          <a:p>
            <a:pPr marL="0" indent="0" algn="ctr">
              <a:buNone/>
            </a:pPr>
            <a:r>
              <a:rPr lang="en-IN" sz="4400" b="1" dirty="0">
                <a:solidFill>
                  <a:srgbClr val="7030A0"/>
                </a:solidFill>
              </a:rPr>
              <a:t>Part 2</a:t>
            </a:r>
          </a:p>
        </p:txBody>
      </p:sp>
    </p:spTree>
    <p:extLst>
      <p:ext uri="{BB962C8B-B14F-4D97-AF65-F5344CB8AC3E}">
        <p14:creationId xmlns:p14="http://schemas.microsoft.com/office/powerpoint/2010/main" val="669617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en-US" b="1" cap="none" dirty="0"/>
              <a:t>WSD U</a:t>
            </a:r>
            <a:r>
              <a:rPr lang="en-US" altLang="en-US" sz="2400" dirty="0"/>
              <a:t>SING</a:t>
            </a:r>
            <a:r>
              <a:rPr lang="en-US" altLang="en-US" b="1" cap="none" dirty="0"/>
              <a:t> C</a:t>
            </a:r>
            <a:r>
              <a:rPr lang="en-US" altLang="en-US" sz="2400" dirty="0"/>
              <a:t>ONCEPTUAL</a:t>
            </a:r>
            <a:r>
              <a:rPr lang="en-US" altLang="en-US" b="1" cap="none" dirty="0"/>
              <a:t> D</a:t>
            </a:r>
            <a:r>
              <a:rPr lang="en-US" altLang="en-US" sz="2400" dirty="0"/>
              <a:t>ENSITY</a:t>
            </a:r>
          </a:p>
        </p:txBody>
      </p:sp>
      <p:sp>
        <p:nvSpPr>
          <p:cNvPr id="18436" name="Rectangle 3"/>
          <p:cNvSpPr>
            <a:spLocks noGrp="1"/>
          </p:cNvSpPr>
          <p:nvPr>
            <p:ph idx="1"/>
          </p:nvPr>
        </p:nvSpPr>
        <p:spPr/>
        <p:txBody>
          <a:bodyPr/>
          <a:lstStyle/>
          <a:p>
            <a:r>
              <a:rPr lang="en-US" altLang="en-US" sz="2000"/>
              <a:t>Select a sense based on the </a:t>
            </a:r>
            <a:r>
              <a:rPr lang="en-US" altLang="en-US" sz="2000" i="1" u="sng"/>
              <a:t>relatedness</a:t>
            </a:r>
            <a:r>
              <a:rPr lang="en-US" altLang="en-US" sz="2000"/>
              <a:t> of that word-sense to the context.</a:t>
            </a:r>
          </a:p>
          <a:p>
            <a:r>
              <a:rPr lang="en-US" altLang="en-US" sz="2000"/>
              <a:t>Relatedness is measured in terms of conceptual distance</a:t>
            </a:r>
            <a:r>
              <a:rPr lang="en-US" altLang="en-US"/>
              <a:t> </a:t>
            </a:r>
          </a:p>
          <a:p>
            <a:pPr lvl="1"/>
            <a:r>
              <a:rPr lang="en-US" altLang="en-US" sz="1500"/>
              <a:t>(i.e. how close the concept represented by the </a:t>
            </a:r>
            <a:r>
              <a:rPr lang="en-US" altLang="en-US" sz="1500" b="1" i="1"/>
              <a:t>word</a:t>
            </a:r>
            <a:r>
              <a:rPr lang="en-US" altLang="en-US" sz="1500"/>
              <a:t> and the concept represented by its </a:t>
            </a:r>
            <a:r>
              <a:rPr lang="en-US" altLang="en-US" sz="1500" b="1" i="1"/>
              <a:t>context words</a:t>
            </a:r>
            <a:r>
              <a:rPr lang="en-US" altLang="en-US" sz="1500"/>
              <a:t> are)</a:t>
            </a:r>
          </a:p>
          <a:p>
            <a:r>
              <a:rPr lang="en-US" altLang="en-US" sz="2000"/>
              <a:t>This approach uses a structured hierarchical semantic net (</a:t>
            </a:r>
            <a:r>
              <a:rPr lang="en-US" altLang="en-US" sz="2000" i="1"/>
              <a:t>WordNet</a:t>
            </a:r>
            <a:r>
              <a:rPr lang="en-US" altLang="en-US" sz="2000"/>
              <a:t>) for finding the conceptual distance.</a:t>
            </a:r>
          </a:p>
          <a:p>
            <a:r>
              <a:rPr lang="en-US" altLang="en-US" sz="2000"/>
              <a:t>Smaller the conceptual distance higher will be the conceptual density.</a:t>
            </a:r>
          </a:p>
          <a:p>
            <a:pPr lvl="1"/>
            <a:r>
              <a:rPr lang="en-US" altLang="en-US" sz="1500"/>
              <a:t>(i.e. if all words in the context are strong indicators of a particular concept then that concept will have a higher density.)</a:t>
            </a:r>
          </a:p>
          <a:p>
            <a:pPr lvl="1"/>
            <a:endParaRPr lang="en-US" altLang="en-US"/>
          </a:p>
          <a:p>
            <a:endParaRPr lang="en-US" altLang="en-US"/>
          </a:p>
        </p:txBody>
      </p:sp>
      <p:sp>
        <p:nvSpPr>
          <p:cNvPr id="6" name="Slide Number Placeholder 8"/>
          <p:cNvSpPr>
            <a:spLocks noGrp="1"/>
          </p:cNvSpPr>
          <p:nvPr>
            <p:ph type="sldNum" sz="quarter" idx="429496729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C4F62122-0E65-401C-812D-CDCB2EAA6A8B}" type="slidenum">
              <a:rPr lang="en-US" altLang="en-US" sz="1400">
                <a:solidFill>
                  <a:srgbClr val="FFFFFF"/>
                </a:solidFill>
              </a:rPr>
              <a:pPr eaLnBrk="1" hangingPunct="1">
                <a:spcBef>
                  <a:spcPct val="0"/>
                </a:spcBef>
                <a:buClrTx/>
                <a:buSzTx/>
                <a:buFontTx/>
                <a:buNone/>
              </a:pPr>
              <a:t>42</a:t>
            </a:fld>
            <a:endParaRPr lang="en-US" altLang="en-US" sz="1400">
              <a:solidFill>
                <a:srgbClr val="FFFFFF"/>
              </a:solidFill>
            </a:endParaRPr>
          </a:p>
        </p:txBody>
      </p:sp>
      <p:sp>
        <p:nvSpPr>
          <p:cNvPr id="4" name="Slide Number Placeholder 3"/>
          <p:cNvSpPr txBox="1">
            <a:spLocks noGrp="1"/>
          </p:cNvSpPr>
          <p:nvPr/>
        </p:nvSpPr>
        <p:spPr>
          <a:xfrm>
            <a:off x="8701088" y="5734050"/>
            <a:ext cx="609600" cy="520700"/>
          </a:xfrm>
          <a:prstGeom prst="rect">
            <a:avLst/>
          </a:prstGeom>
          <a:noFill/>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384F5A13-6E8F-4FA7-BD31-437186A1BFA8}" type="slidenum">
              <a:rPr lang="en-US" altLang="en-US" sz="1400" b="1">
                <a:solidFill>
                  <a:srgbClr val="FFFFFF"/>
                </a:solidFill>
              </a:rPr>
              <a:pPr eaLnBrk="1" hangingPunct="1">
                <a:spcBef>
                  <a:spcPct val="0"/>
                </a:spcBef>
                <a:buClrTx/>
                <a:buSzTx/>
                <a:buFontTx/>
                <a:buNone/>
              </a:pPr>
              <a:t>42</a:t>
            </a:fld>
            <a:endParaRPr lang="en-US" altLang="en-US" sz="1400" b="1">
              <a:solidFill>
                <a:srgbClr val="FFFFFF"/>
              </a:solidFill>
            </a:endParaRPr>
          </a:p>
        </p:txBody>
      </p:sp>
    </p:spTree>
    <p:extLst>
      <p:ext uri="{BB962C8B-B14F-4D97-AF65-F5344CB8AC3E}">
        <p14:creationId xmlns:p14="http://schemas.microsoft.com/office/powerpoint/2010/main" val="7783676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en-US" b="1" cap="none"/>
              <a:t>C</a:t>
            </a:r>
            <a:r>
              <a:rPr lang="en-US" altLang="en-US" sz="2400"/>
              <a:t>ONCEPTUAL</a:t>
            </a:r>
            <a:r>
              <a:rPr lang="en-US" altLang="en-US" b="1" cap="none"/>
              <a:t> D</a:t>
            </a:r>
            <a:r>
              <a:rPr lang="en-US" altLang="en-US" sz="2400"/>
              <a:t>ENSITY</a:t>
            </a:r>
            <a:r>
              <a:rPr lang="en-US" altLang="en-US" b="1" cap="none"/>
              <a:t> (E</a:t>
            </a:r>
            <a:r>
              <a:rPr lang="en-US" altLang="en-US" sz="2400"/>
              <a:t>XAMPLE</a:t>
            </a:r>
            <a:r>
              <a:rPr lang="en-US" altLang="en-US" b="1" cap="none"/>
              <a:t>)</a:t>
            </a:r>
          </a:p>
        </p:txBody>
      </p:sp>
      <p:sp>
        <p:nvSpPr>
          <p:cNvPr id="8" name="Slide Number Placeholder 8"/>
          <p:cNvSpPr>
            <a:spLocks noGrp="1"/>
          </p:cNvSpPr>
          <p:nvPr>
            <p:ph type="sldNum" sz="quarter" idx="429496729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E8F494F7-24A8-4B05-94E3-52824E7A70E3}" type="slidenum">
              <a:rPr lang="en-US" altLang="en-US" sz="1400">
                <a:solidFill>
                  <a:srgbClr val="FFFFFF"/>
                </a:solidFill>
              </a:rPr>
              <a:pPr eaLnBrk="1" hangingPunct="1">
                <a:spcBef>
                  <a:spcPct val="0"/>
                </a:spcBef>
                <a:buClrTx/>
                <a:buSzTx/>
                <a:buFontTx/>
                <a:buNone/>
              </a:pPr>
              <a:t>43</a:t>
            </a:fld>
            <a:endParaRPr lang="en-US" altLang="en-US" sz="1400">
              <a:solidFill>
                <a:srgbClr val="FFFFFF"/>
              </a:solidFill>
            </a:endParaRPr>
          </a:p>
        </p:txBody>
      </p:sp>
      <p:sp>
        <p:nvSpPr>
          <p:cNvPr id="4" name="Slide Number Placeholder 3"/>
          <p:cNvSpPr txBox="1">
            <a:spLocks noGrp="1"/>
          </p:cNvSpPr>
          <p:nvPr/>
        </p:nvSpPr>
        <p:spPr>
          <a:xfrm>
            <a:off x="8701088" y="5734050"/>
            <a:ext cx="609600" cy="520700"/>
          </a:xfrm>
          <a:prstGeom prst="rect">
            <a:avLst/>
          </a:prstGeom>
          <a:noFill/>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FA3F0E82-FEE2-4B6C-A68F-47EA000E30BA}" type="slidenum">
              <a:rPr lang="en-US" altLang="en-US" sz="1400" b="1">
                <a:solidFill>
                  <a:srgbClr val="FFFFFF"/>
                </a:solidFill>
              </a:rPr>
              <a:pPr eaLnBrk="1" hangingPunct="1">
                <a:spcBef>
                  <a:spcPct val="0"/>
                </a:spcBef>
                <a:buClrTx/>
                <a:buSzTx/>
                <a:buFontTx/>
                <a:buNone/>
              </a:pPr>
              <a:t>43</a:t>
            </a:fld>
            <a:endParaRPr lang="en-US" altLang="en-US" sz="1400" b="1">
              <a:solidFill>
                <a:srgbClr val="FFFFFF"/>
              </a:solidFill>
            </a:endParaRPr>
          </a:p>
        </p:txBody>
      </p:sp>
      <p:sp>
        <p:nvSpPr>
          <p:cNvPr id="19462" name="Rectangle 3"/>
          <p:cNvSpPr txBox="1">
            <a:spLocks/>
          </p:cNvSpPr>
          <p:nvPr/>
        </p:nvSpPr>
        <p:spPr bwMode="auto">
          <a:xfrm>
            <a:off x="723900" y="1253067"/>
            <a:ext cx="3886200" cy="522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2563"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buFont typeface="Wingdings" panose="05000000000000000000" pitchFamily="2" charset="2"/>
              <a:buChar char=""/>
            </a:pPr>
            <a:r>
              <a:rPr lang="en-US" altLang="en-US"/>
              <a:t>The dots in the figure represent the senses of the word to be disambiguated or the senses of the words in context.</a:t>
            </a:r>
          </a:p>
          <a:p>
            <a:pPr algn="l">
              <a:buFont typeface="Wingdings" panose="05000000000000000000" pitchFamily="2" charset="2"/>
              <a:buChar char=""/>
            </a:pPr>
            <a:r>
              <a:rPr lang="en-US" altLang="en-US"/>
              <a:t>The CD formula will yield highest density for the sub-hierarchy containing more senses.</a:t>
            </a:r>
          </a:p>
          <a:p>
            <a:pPr algn="l">
              <a:buFont typeface="Wingdings" panose="05000000000000000000" pitchFamily="2" charset="2"/>
              <a:buChar char=""/>
            </a:pPr>
            <a:r>
              <a:rPr lang="en-US" altLang="en-US"/>
              <a:t>The sense of W contained in the sub-hierarchy with the highest CD will be chosen.</a:t>
            </a:r>
          </a:p>
        </p:txBody>
      </p:sp>
      <p:pic>
        <p:nvPicPr>
          <p:cNvPr id="1946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1253067"/>
            <a:ext cx="4648200" cy="444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360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altLang="en-US" b="1" cap="none"/>
              <a:t>C</a:t>
            </a:r>
            <a:r>
              <a:rPr lang="en-US" altLang="en-US" sz="2400"/>
              <a:t>ONCEPTUAL</a:t>
            </a:r>
            <a:r>
              <a:rPr lang="en-US" altLang="en-US" b="1" cap="none"/>
              <a:t> D</a:t>
            </a:r>
            <a:r>
              <a:rPr lang="en-US" altLang="en-US" sz="2400"/>
              <a:t>ENSITY</a:t>
            </a:r>
            <a:r>
              <a:rPr lang="en-US" altLang="en-US" b="1" cap="none"/>
              <a:t> (E</a:t>
            </a:r>
            <a:r>
              <a:rPr lang="en-US" altLang="en-US" sz="2400"/>
              <a:t>XAMPLE</a:t>
            </a:r>
            <a:r>
              <a:rPr lang="en-US" altLang="en-US" b="1" cap="none"/>
              <a:t>)</a:t>
            </a:r>
          </a:p>
        </p:txBody>
      </p:sp>
      <p:sp>
        <p:nvSpPr>
          <p:cNvPr id="20483" name="Rectangle 23"/>
          <p:cNvSpPr>
            <a:spLocks noGrp="1"/>
          </p:cNvSpPr>
          <p:nvPr>
            <p:ph idx="1"/>
          </p:nvPr>
        </p:nvSpPr>
        <p:spPr>
          <a:xfrm>
            <a:off x="514350" y="838200"/>
            <a:ext cx="9258300" cy="4525963"/>
          </a:xfrm>
        </p:spPr>
        <p:txBody>
          <a:bodyPr/>
          <a:lstStyle/>
          <a:p>
            <a:pPr>
              <a:lnSpc>
                <a:spcPct val="90000"/>
              </a:lnSpc>
              <a:buFont typeface="Wingdings" panose="05000000000000000000" pitchFamily="2" charset="2"/>
              <a:buNone/>
            </a:pPr>
            <a:r>
              <a:rPr lang="en-US" altLang="en-US" sz="1400"/>
              <a:t>	The </a:t>
            </a:r>
            <a:r>
              <a:rPr lang="en-US" altLang="en-US" sz="1400" u="sng"/>
              <a:t>jury</a:t>
            </a:r>
            <a:r>
              <a:rPr lang="en-US" altLang="en-US" sz="1400"/>
              <a:t>(2) praised the </a:t>
            </a:r>
            <a:r>
              <a:rPr lang="en-US" altLang="en-US" sz="1400" u="sng"/>
              <a:t>administration</a:t>
            </a:r>
            <a:r>
              <a:rPr lang="en-US" altLang="en-US" sz="1400"/>
              <a:t>(3) and </a:t>
            </a:r>
            <a:r>
              <a:rPr lang="en-US" altLang="en-US" sz="1400" b="1" u="sng">
                <a:solidFill>
                  <a:srgbClr val="FF0000"/>
                </a:solidFill>
              </a:rPr>
              <a:t>operation</a:t>
            </a:r>
            <a:r>
              <a:rPr lang="en-US" altLang="en-US" sz="1400"/>
              <a:t> (8) of Atlanta </a:t>
            </a:r>
            <a:r>
              <a:rPr lang="en-US" altLang="en-US" sz="1400" u="sng"/>
              <a:t>Police Department(1)</a:t>
            </a:r>
          </a:p>
        </p:txBody>
      </p:sp>
      <p:sp>
        <p:nvSpPr>
          <p:cNvPr id="37" name="Slide Number Placeholder 8"/>
          <p:cNvSpPr>
            <a:spLocks noGrp="1"/>
          </p:cNvSpPr>
          <p:nvPr>
            <p:ph type="sldNum" sz="quarter" idx="429496729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CEFA43CA-6A01-48AD-8FEC-CF1AA41BF7F6}" type="slidenum">
              <a:rPr lang="en-US" altLang="en-US" sz="1400">
                <a:solidFill>
                  <a:srgbClr val="FFFFFF"/>
                </a:solidFill>
              </a:rPr>
              <a:pPr eaLnBrk="1" hangingPunct="1">
                <a:spcBef>
                  <a:spcPct val="0"/>
                </a:spcBef>
                <a:buClrTx/>
                <a:buSzTx/>
                <a:buFontTx/>
                <a:buNone/>
              </a:pPr>
              <a:t>44</a:t>
            </a:fld>
            <a:endParaRPr lang="en-US" altLang="en-US" sz="1400">
              <a:solidFill>
                <a:srgbClr val="FFFFFF"/>
              </a:solidFill>
            </a:endParaRPr>
          </a:p>
        </p:txBody>
      </p:sp>
      <p:sp>
        <p:nvSpPr>
          <p:cNvPr id="75857" name="Rectangle 81"/>
          <p:cNvSpPr>
            <a:spLocks/>
          </p:cNvSpPr>
          <p:nvPr/>
        </p:nvSpPr>
        <p:spPr bwMode="auto">
          <a:xfrm>
            <a:off x="457200" y="4945063"/>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a:t>Step 1: 	</a:t>
            </a:r>
            <a:r>
              <a:rPr lang="en-US" altLang="en-US" sz="1600"/>
              <a:t>Make a lattice of the nouns 	in the context, their senses  	and hypernyms.</a:t>
            </a:r>
          </a:p>
        </p:txBody>
      </p:sp>
      <p:sp>
        <p:nvSpPr>
          <p:cNvPr id="75859" name="Rectangle 83"/>
          <p:cNvSpPr>
            <a:spLocks/>
          </p:cNvSpPr>
          <p:nvPr/>
        </p:nvSpPr>
        <p:spPr bwMode="auto">
          <a:xfrm>
            <a:off x="419100" y="5715000"/>
            <a:ext cx="373380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dirty="0"/>
              <a:t>Step 2: C</a:t>
            </a:r>
            <a:r>
              <a:rPr lang="en-US" altLang="en-US" sz="1600" dirty="0"/>
              <a:t>ompute the conceptual density of resultant concepts    (sub-hierarchies).</a:t>
            </a:r>
          </a:p>
        </p:txBody>
      </p:sp>
      <p:sp>
        <p:nvSpPr>
          <p:cNvPr id="75860" name="Rectangle 84"/>
          <p:cNvSpPr>
            <a:spLocks/>
          </p:cNvSpPr>
          <p:nvPr/>
        </p:nvSpPr>
        <p:spPr bwMode="auto">
          <a:xfrm>
            <a:off x="5185084" y="4845524"/>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a:t>Step 3: 	</a:t>
            </a:r>
            <a:r>
              <a:rPr lang="en-US" altLang="en-US" sz="1600"/>
              <a:t>The concept with highest 	CD is selected.</a:t>
            </a:r>
          </a:p>
        </p:txBody>
      </p:sp>
      <p:sp>
        <p:nvSpPr>
          <p:cNvPr id="75861" name="Rectangle 85"/>
          <p:cNvSpPr>
            <a:spLocks/>
          </p:cNvSpPr>
          <p:nvPr/>
        </p:nvSpPr>
        <p:spPr bwMode="auto">
          <a:xfrm>
            <a:off x="5185084" y="5600700"/>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dirty="0"/>
              <a:t>Step 4: 	</a:t>
            </a:r>
            <a:r>
              <a:rPr lang="en-US" altLang="en-US" sz="1600" dirty="0"/>
              <a:t>Select the senses below the selected concept as the correct sense for the respective words.</a:t>
            </a:r>
          </a:p>
        </p:txBody>
      </p:sp>
      <p:sp>
        <p:nvSpPr>
          <p:cNvPr id="55" name="Oval 24"/>
          <p:cNvSpPr>
            <a:spLocks noChangeArrowheads="1"/>
          </p:cNvSpPr>
          <p:nvPr/>
        </p:nvSpPr>
        <p:spPr bwMode="auto">
          <a:xfrm>
            <a:off x="3009900" y="38862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operation</a:t>
            </a:r>
          </a:p>
        </p:txBody>
      </p:sp>
      <p:sp>
        <p:nvSpPr>
          <p:cNvPr id="57" name="Oval 24"/>
          <p:cNvSpPr>
            <a:spLocks noChangeArrowheads="1"/>
          </p:cNvSpPr>
          <p:nvPr/>
        </p:nvSpPr>
        <p:spPr bwMode="auto">
          <a:xfrm>
            <a:off x="3009900" y="20574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division</a:t>
            </a:r>
          </a:p>
        </p:txBody>
      </p:sp>
      <p:sp>
        <p:nvSpPr>
          <p:cNvPr id="58" name="Oval 24"/>
          <p:cNvSpPr>
            <a:spLocks noChangeArrowheads="1"/>
          </p:cNvSpPr>
          <p:nvPr/>
        </p:nvSpPr>
        <p:spPr bwMode="auto">
          <a:xfrm>
            <a:off x="2933700" y="14478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administrative_unit</a:t>
            </a:r>
          </a:p>
        </p:txBody>
      </p:sp>
      <p:sp>
        <p:nvSpPr>
          <p:cNvPr id="59" name="Oval 24"/>
          <p:cNvSpPr>
            <a:spLocks noChangeArrowheads="1"/>
          </p:cNvSpPr>
          <p:nvPr/>
        </p:nvSpPr>
        <p:spPr bwMode="auto">
          <a:xfrm>
            <a:off x="2019300" y="38862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jury</a:t>
            </a:r>
          </a:p>
        </p:txBody>
      </p:sp>
      <p:sp>
        <p:nvSpPr>
          <p:cNvPr id="60" name="Oval 24"/>
          <p:cNvSpPr>
            <a:spLocks noChangeArrowheads="1"/>
          </p:cNvSpPr>
          <p:nvPr/>
        </p:nvSpPr>
        <p:spPr bwMode="auto">
          <a:xfrm>
            <a:off x="2247900" y="25146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committee</a:t>
            </a:r>
          </a:p>
        </p:txBody>
      </p:sp>
      <p:sp>
        <p:nvSpPr>
          <p:cNvPr id="61" name="Oval 24"/>
          <p:cNvSpPr>
            <a:spLocks noChangeArrowheads="1"/>
          </p:cNvSpPr>
          <p:nvPr/>
        </p:nvSpPr>
        <p:spPr bwMode="auto">
          <a:xfrm>
            <a:off x="4457700" y="38862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police department</a:t>
            </a:r>
          </a:p>
        </p:txBody>
      </p:sp>
      <p:sp>
        <p:nvSpPr>
          <p:cNvPr id="62" name="Oval 24"/>
          <p:cNvSpPr>
            <a:spLocks noChangeArrowheads="1"/>
          </p:cNvSpPr>
          <p:nvPr/>
        </p:nvSpPr>
        <p:spPr bwMode="auto">
          <a:xfrm>
            <a:off x="4076700" y="34290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local department</a:t>
            </a:r>
          </a:p>
        </p:txBody>
      </p:sp>
      <p:sp>
        <p:nvSpPr>
          <p:cNvPr id="63" name="Oval 24"/>
          <p:cNvSpPr>
            <a:spLocks noChangeArrowheads="1"/>
          </p:cNvSpPr>
          <p:nvPr/>
        </p:nvSpPr>
        <p:spPr bwMode="auto">
          <a:xfrm>
            <a:off x="3771900" y="29718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government department</a:t>
            </a:r>
          </a:p>
        </p:txBody>
      </p:sp>
      <p:sp>
        <p:nvSpPr>
          <p:cNvPr id="64" name="Oval 24"/>
          <p:cNvSpPr>
            <a:spLocks noChangeArrowheads="1"/>
          </p:cNvSpPr>
          <p:nvPr/>
        </p:nvSpPr>
        <p:spPr bwMode="auto">
          <a:xfrm>
            <a:off x="3467100" y="25146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department</a:t>
            </a:r>
          </a:p>
        </p:txBody>
      </p:sp>
      <p:sp>
        <p:nvSpPr>
          <p:cNvPr id="65" name="Oval 24"/>
          <p:cNvSpPr>
            <a:spLocks noChangeArrowheads="1"/>
          </p:cNvSpPr>
          <p:nvPr/>
        </p:nvSpPr>
        <p:spPr bwMode="auto">
          <a:xfrm>
            <a:off x="5905500" y="38862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jury</a:t>
            </a:r>
          </a:p>
        </p:txBody>
      </p:sp>
      <p:sp>
        <p:nvSpPr>
          <p:cNvPr id="66" name="Oval 24"/>
          <p:cNvSpPr>
            <a:spLocks noChangeArrowheads="1"/>
          </p:cNvSpPr>
          <p:nvPr/>
        </p:nvSpPr>
        <p:spPr bwMode="auto">
          <a:xfrm>
            <a:off x="8267700" y="38862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administration</a:t>
            </a:r>
          </a:p>
        </p:txBody>
      </p:sp>
      <p:sp>
        <p:nvSpPr>
          <p:cNvPr id="67" name="Oval 24"/>
          <p:cNvSpPr>
            <a:spLocks noChangeArrowheads="1"/>
          </p:cNvSpPr>
          <p:nvPr/>
        </p:nvSpPr>
        <p:spPr bwMode="auto">
          <a:xfrm>
            <a:off x="6972300" y="1676400"/>
            <a:ext cx="381000" cy="457200"/>
          </a:xfrm>
          <a:prstGeom prst="ellipse">
            <a:avLst/>
          </a:prstGeom>
          <a:solidFill>
            <a:schemeClr val="accent1"/>
          </a:solidFill>
          <a:ln w="9525">
            <a:solidFill>
              <a:schemeClr val="bg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b="1"/>
              <a:t>body</a:t>
            </a:r>
          </a:p>
        </p:txBody>
      </p:sp>
      <p:cxnSp>
        <p:nvCxnSpPr>
          <p:cNvPr id="69" name="Straight Connector 68"/>
          <p:cNvCxnSpPr>
            <a:stCxn id="59" idx="0"/>
            <a:endCxn id="60" idx="4"/>
          </p:cNvCxnSpPr>
          <p:nvPr/>
        </p:nvCxnSpPr>
        <p:spPr>
          <a:xfrm rot="5400000" flipH="1" flipV="1">
            <a:off x="1866900" y="3314700"/>
            <a:ext cx="91440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endCxn id="58" idx="3"/>
          </p:cNvCxnSpPr>
          <p:nvPr/>
        </p:nvCxnSpPr>
        <p:spPr>
          <a:xfrm rot="5400000" flipH="1" flipV="1">
            <a:off x="2394745" y="1996282"/>
            <a:ext cx="752475" cy="436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55" idx="0"/>
            <a:endCxn id="57" idx="4"/>
          </p:cNvCxnSpPr>
          <p:nvPr/>
        </p:nvCxnSpPr>
        <p:spPr>
          <a:xfrm rot="5400000" flipH="1" flipV="1">
            <a:off x="2514601" y="3200401"/>
            <a:ext cx="1371600"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57" idx="0"/>
            <a:endCxn id="58" idx="4"/>
          </p:cNvCxnSpPr>
          <p:nvPr/>
        </p:nvCxnSpPr>
        <p:spPr>
          <a:xfrm rot="16200000" flipV="1">
            <a:off x="3086100" y="1943100"/>
            <a:ext cx="1524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61" idx="1"/>
          </p:cNvCxnSpPr>
          <p:nvPr/>
        </p:nvCxnSpPr>
        <p:spPr>
          <a:xfrm rot="16200000" flipV="1">
            <a:off x="4375945" y="3815557"/>
            <a:ext cx="142875" cy="1317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62" idx="1"/>
            <a:endCxn id="63" idx="5"/>
          </p:cNvCxnSpPr>
          <p:nvPr/>
        </p:nvCxnSpPr>
        <p:spPr>
          <a:xfrm rot="16200000" flipV="1">
            <a:off x="4048126" y="3411538"/>
            <a:ext cx="133350" cy="34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63" idx="1"/>
            <a:endCxn id="64" idx="5"/>
          </p:cNvCxnSpPr>
          <p:nvPr/>
        </p:nvCxnSpPr>
        <p:spPr>
          <a:xfrm rot="16200000" flipV="1">
            <a:off x="3743326" y="2954338"/>
            <a:ext cx="133350" cy="34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64" idx="1"/>
            <a:endCxn id="57" idx="5"/>
          </p:cNvCxnSpPr>
          <p:nvPr/>
        </p:nvCxnSpPr>
        <p:spPr>
          <a:xfrm rot="16200000" flipV="1">
            <a:off x="3362326" y="2420938"/>
            <a:ext cx="133350" cy="1873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65" idx="0"/>
            <a:endCxn id="67" idx="4"/>
          </p:cNvCxnSpPr>
          <p:nvPr/>
        </p:nvCxnSpPr>
        <p:spPr>
          <a:xfrm rot="5400000" flipH="1" flipV="1">
            <a:off x="5753100" y="2476500"/>
            <a:ext cx="1752600" cy="1066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66" idx="0"/>
            <a:endCxn id="67" idx="4"/>
          </p:cNvCxnSpPr>
          <p:nvPr/>
        </p:nvCxnSpPr>
        <p:spPr>
          <a:xfrm rot="16200000" flipV="1">
            <a:off x="6934200" y="2362200"/>
            <a:ext cx="1752600" cy="1295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Isosceles Triangle 100"/>
          <p:cNvSpPr/>
          <p:nvPr/>
        </p:nvSpPr>
        <p:spPr>
          <a:xfrm>
            <a:off x="5295900" y="1219200"/>
            <a:ext cx="3733800" cy="3200400"/>
          </a:xfrm>
          <a:prstGeom prst="triangle">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dirty="0"/>
          </a:p>
        </p:txBody>
      </p:sp>
      <p:sp>
        <p:nvSpPr>
          <p:cNvPr id="106" name="Rectangle 105"/>
          <p:cNvSpPr/>
          <p:nvPr/>
        </p:nvSpPr>
        <p:spPr>
          <a:xfrm>
            <a:off x="3771900" y="2057400"/>
            <a:ext cx="1066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rgbClr val="FF0000"/>
                </a:solidFill>
              </a:rPr>
              <a:t>CD = 0.256</a:t>
            </a:r>
          </a:p>
        </p:txBody>
      </p:sp>
      <p:sp>
        <p:nvSpPr>
          <p:cNvPr id="108" name="Rectangle 107"/>
          <p:cNvSpPr/>
          <p:nvPr/>
        </p:nvSpPr>
        <p:spPr>
          <a:xfrm>
            <a:off x="5448300" y="1981200"/>
            <a:ext cx="1066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rgbClr val="FF0000"/>
                </a:solidFill>
              </a:rPr>
              <a:t>CD = 0.062</a:t>
            </a:r>
          </a:p>
        </p:txBody>
      </p:sp>
      <p:sp>
        <p:nvSpPr>
          <p:cNvPr id="110" name="Isosceles Triangle 109"/>
          <p:cNvSpPr/>
          <p:nvPr/>
        </p:nvSpPr>
        <p:spPr>
          <a:xfrm>
            <a:off x="1104900" y="1143000"/>
            <a:ext cx="4114800" cy="3276600"/>
          </a:xfrm>
          <a:prstGeom prst="triangle">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dirty="0"/>
          </a:p>
        </p:txBody>
      </p:sp>
      <p:sp>
        <p:nvSpPr>
          <p:cNvPr id="35" name="Slide Number Placeholder 34"/>
          <p:cNvSpPr txBox="1">
            <a:spLocks noGrp="1"/>
          </p:cNvSpPr>
          <p:nvPr/>
        </p:nvSpPr>
        <p:spPr>
          <a:xfrm>
            <a:off x="8701088" y="5734050"/>
            <a:ext cx="609600" cy="520700"/>
          </a:xfrm>
          <a:prstGeom prst="rect">
            <a:avLst/>
          </a:prstGeom>
          <a:noFill/>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7C5019AD-2A09-43F8-AFF1-0381E8B31CAE}" type="slidenum">
              <a:rPr lang="en-US" altLang="en-US" sz="1400" b="1">
                <a:solidFill>
                  <a:srgbClr val="FFFFFF"/>
                </a:solidFill>
              </a:rPr>
              <a:pPr eaLnBrk="1" hangingPunct="1">
                <a:spcBef>
                  <a:spcPct val="0"/>
                </a:spcBef>
                <a:buClrTx/>
                <a:buSzTx/>
                <a:buFontTx/>
                <a:buNone/>
              </a:pPr>
              <a:t>44</a:t>
            </a:fld>
            <a:endParaRPr lang="en-US" altLang="en-US" sz="1400" b="1">
              <a:solidFill>
                <a:srgbClr val="FFFFFF"/>
              </a:solidFill>
            </a:endParaRPr>
          </a:p>
        </p:txBody>
      </p:sp>
    </p:spTree>
    <p:extLst>
      <p:ext uri="{BB962C8B-B14F-4D97-AF65-F5344CB8AC3E}">
        <p14:creationId xmlns:p14="http://schemas.microsoft.com/office/powerpoint/2010/main" val="2509449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85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iterate type="lt">
                                    <p:tmAbs val="0"/>
                                  </p:iterate>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grpId="0" nodeType="withEffect">
                                  <p:stCondLst>
                                    <p:cond delay="0"/>
                                  </p:stCondLst>
                                  <p:iterate type="lt">
                                    <p:tmAbs val="0"/>
                                  </p:iterate>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2"/>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75857"/>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7585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6"/>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75859"/>
                                        </p:tgtEl>
                                        <p:attrNameLst>
                                          <p:attrName>style.visibility</p:attrName>
                                        </p:attrNameLst>
                                      </p:cBhvr>
                                      <p:to>
                                        <p:strVal val="hidden"/>
                                      </p:to>
                                    </p:set>
                                  </p:childTnLst>
                                </p:cTn>
                              </p:par>
                            </p:childTnLst>
                          </p:cTn>
                        </p:par>
                        <p:par>
                          <p:cTn id="75" fill="hold" nodeType="afterGroup">
                            <p:stCondLst>
                              <p:cond delay="0"/>
                            </p:stCondLst>
                            <p:childTnLst>
                              <p:par>
                                <p:cTn id="76" presetID="1" presetClass="entr" presetSubtype="0" fill="hold" grpId="0" nodeType="afterEffect">
                                  <p:stCondLst>
                                    <p:cond delay="0"/>
                                  </p:stCondLst>
                                  <p:childTnLst>
                                    <p:set>
                                      <p:cBhvr>
                                        <p:cTn id="77" dur="1" fill="hold">
                                          <p:stCondLst>
                                            <p:cond delay="0"/>
                                          </p:stCondLst>
                                        </p:cTn>
                                        <p:tgtEl>
                                          <p:spTgt spid="75860"/>
                                        </p:tgtEl>
                                        <p:attrNameLst>
                                          <p:attrName>style.visibility</p:attrName>
                                        </p:attrNameLst>
                                      </p:cBhvr>
                                      <p:to>
                                        <p:strVal val="visible"/>
                                      </p:to>
                                    </p:set>
                                  </p:childTnLst>
                                </p:cTn>
                              </p:par>
                              <p:par>
                                <p:cTn id="78" presetID="26" presetClass="emph" presetSubtype="0" fill="hold" grpId="1" nodeType="withEffect">
                                  <p:stCondLst>
                                    <p:cond delay="0"/>
                                  </p:stCondLst>
                                  <p:childTnLst>
                                    <p:animEffect transition="out" filter="fade">
                                      <p:cBhvr>
                                        <p:cTn id="79" dur="500" tmFilter="0, 0; .2, .5; .8, .5; 1, 0"/>
                                        <p:tgtEl>
                                          <p:spTgt spid="110"/>
                                        </p:tgtEl>
                                      </p:cBhvr>
                                    </p:animEffect>
                                    <p:animScale>
                                      <p:cBhvr>
                                        <p:cTn id="80" dur="250" autoRev="1" fill="hold"/>
                                        <p:tgtEl>
                                          <p:spTgt spid="110"/>
                                        </p:tgtEl>
                                      </p:cBhvr>
                                      <p:by x="105000" y="105000"/>
                                    </p:animScale>
                                  </p:childTnLst>
                                </p:cTn>
                              </p:par>
                              <p:par>
                                <p:cTn id="81" presetID="7" presetClass="emph" presetSubtype="2" fill="hold" nodeType="withEffect">
                                  <p:stCondLst>
                                    <p:cond delay="0"/>
                                  </p:stCondLst>
                                  <p:childTnLst>
                                    <p:animClr clrSpc="rgb" dir="cw">
                                      <p:cBhvr>
                                        <p:cTn id="82" dur="2000" fill="hold"/>
                                        <p:tgtEl>
                                          <p:spTgt spid="110"/>
                                        </p:tgtEl>
                                        <p:attrNameLst>
                                          <p:attrName>stroke.color</p:attrName>
                                        </p:attrNameLst>
                                      </p:cBhvr>
                                      <p:to>
                                        <a:schemeClr val="accent2"/>
                                      </p:to>
                                    </p:animClr>
                                    <p:set>
                                      <p:cBhvr>
                                        <p:cTn id="83" dur="2000" fill="hold"/>
                                        <p:tgtEl>
                                          <p:spTgt spid="110"/>
                                        </p:tgtEl>
                                        <p:attrNameLst>
                                          <p:attrName>stroke.on</p:attrName>
                                        </p:attrNameLst>
                                      </p:cBhvr>
                                      <p:to>
                                        <p:strVal val="tru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8" presetClass="emph" presetSubtype="0" fill="hold" grpId="1" nodeType="clickEffect">
                                  <p:stCondLst>
                                    <p:cond delay="0"/>
                                  </p:stCondLst>
                                  <p:iterate type="lt">
                                    <p:tmPct val="0"/>
                                  </p:iterate>
                                  <p:childTnLst>
                                    <p:animRot by="21600000">
                                      <p:cBhvr>
                                        <p:cTn id="87" dur="2000" fill="hold"/>
                                        <p:tgtEl>
                                          <p:spTgt spid="59"/>
                                        </p:tgtEl>
                                        <p:attrNameLst>
                                          <p:attrName>r</p:attrName>
                                        </p:attrNameLst>
                                      </p:cBhvr>
                                    </p:animRot>
                                  </p:childTnLst>
                                </p:cTn>
                              </p:par>
                              <p:par>
                                <p:cTn id="88" presetID="8" presetClass="emph" presetSubtype="0" fill="hold" grpId="1" nodeType="withEffect">
                                  <p:stCondLst>
                                    <p:cond delay="0"/>
                                  </p:stCondLst>
                                  <p:iterate type="lt">
                                    <p:tmPct val="0"/>
                                  </p:iterate>
                                  <p:childTnLst>
                                    <p:animRot by="21600000">
                                      <p:cBhvr>
                                        <p:cTn id="89" dur="2000" fill="hold"/>
                                        <p:tgtEl>
                                          <p:spTgt spid="55"/>
                                        </p:tgtEl>
                                        <p:attrNameLst>
                                          <p:attrName>r</p:attrName>
                                        </p:attrNameLst>
                                      </p:cBhvr>
                                    </p:animRot>
                                  </p:childTnLst>
                                </p:cTn>
                              </p:par>
                              <p:par>
                                <p:cTn id="90" presetID="8" presetClass="emph" presetSubtype="0" fill="hold" grpId="1" nodeType="withEffect">
                                  <p:stCondLst>
                                    <p:cond delay="0"/>
                                  </p:stCondLst>
                                  <p:iterate type="lt">
                                    <p:tmPct val="0"/>
                                  </p:iterate>
                                  <p:childTnLst>
                                    <p:animRot by="21600000">
                                      <p:cBhvr>
                                        <p:cTn id="91" dur="2000" fill="hold"/>
                                        <p:tgtEl>
                                          <p:spTgt spid="61"/>
                                        </p:tgtEl>
                                        <p:attrNameLst>
                                          <p:attrName>r</p:attrName>
                                        </p:attrNameLst>
                                      </p:cBhvr>
                                    </p:animRot>
                                  </p:childTnLst>
                                </p:cTn>
                              </p:par>
                              <p:par>
                                <p:cTn id="92" presetID="21" presetClass="emph" presetSubtype="0" fill="hold" grpId="2" nodeType="withEffect">
                                  <p:stCondLst>
                                    <p:cond delay="0"/>
                                  </p:stCondLst>
                                  <p:iterate type="lt">
                                    <p:tmPct val="0"/>
                                  </p:iterate>
                                  <p:childTnLst>
                                    <p:animClr clrSpc="hsl" dir="cw">
                                      <p:cBhvr override="childStyle">
                                        <p:cTn id="93" dur="500" fill="hold"/>
                                        <p:tgtEl>
                                          <p:spTgt spid="59"/>
                                        </p:tgtEl>
                                        <p:attrNameLst>
                                          <p:attrName>style.color</p:attrName>
                                        </p:attrNameLst>
                                      </p:cBhvr>
                                      <p:by>
                                        <p:hsl h="7200000" s="0" l="0"/>
                                      </p:by>
                                    </p:animClr>
                                    <p:animClr clrSpc="hsl" dir="cw">
                                      <p:cBhvr>
                                        <p:cTn id="94" dur="500" fill="hold"/>
                                        <p:tgtEl>
                                          <p:spTgt spid="59"/>
                                        </p:tgtEl>
                                        <p:attrNameLst>
                                          <p:attrName>fillcolor</p:attrName>
                                        </p:attrNameLst>
                                      </p:cBhvr>
                                      <p:by>
                                        <p:hsl h="7200000" s="0" l="0"/>
                                      </p:by>
                                    </p:animClr>
                                    <p:animClr clrSpc="hsl" dir="cw">
                                      <p:cBhvr>
                                        <p:cTn id="95" dur="500" fill="hold"/>
                                        <p:tgtEl>
                                          <p:spTgt spid="59"/>
                                        </p:tgtEl>
                                        <p:attrNameLst>
                                          <p:attrName>stroke.color</p:attrName>
                                        </p:attrNameLst>
                                      </p:cBhvr>
                                      <p:by>
                                        <p:hsl h="7200000" s="0" l="0"/>
                                      </p:by>
                                    </p:animClr>
                                    <p:set>
                                      <p:cBhvr>
                                        <p:cTn id="96" dur="500" fill="hold"/>
                                        <p:tgtEl>
                                          <p:spTgt spid="59"/>
                                        </p:tgtEl>
                                        <p:attrNameLst>
                                          <p:attrName>fill.type</p:attrName>
                                        </p:attrNameLst>
                                      </p:cBhvr>
                                      <p:to>
                                        <p:strVal val="solid"/>
                                      </p:to>
                                    </p:set>
                                  </p:childTnLst>
                                </p:cTn>
                              </p:par>
                              <p:par>
                                <p:cTn id="97" presetID="21" presetClass="emph" presetSubtype="0" fill="hold" grpId="2" nodeType="withEffect">
                                  <p:stCondLst>
                                    <p:cond delay="0"/>
                                  </p:stCondLst>
                                  <p:iterate type="lt">
                                    <p:tmPct val="0"/>
                                  </p:iterate>
                                  <p:childTnLst>
                                    <p:animClr clrSpc="hsl" dir="cw">
                                      <p:cBhvr override="childStyle">
                                        <p:cTn id="98" dur="500" fill="hold"/>
                                        <p:tgtEl>
                                          <p:spTgt spid="55"/>
                                        </p:tgtEl>
                                        <p:attrNameLst>
                                          <p:attrName>style.color</p:attrName>
                                        </p:attrNameLst>
                                      </p:cBhvr>
                                      <p:by>
                                        <p:hsl h="7200000" s="0" l="0"/>
                                      </p:by>
                                    </p:animClr>
                                    <p:animClr clrSpc="hsl" dir="cw">
                                      <p:cBhvr>
                                        <p:cTn id="99" dur="500" fill="hold"/>
                                        <p:tgtEl>
                                          <p:spTgt spid="55"/>
                                        </p:tgtEl>
                                        <p:attrNameLst>
                                          <p:attrName>fillcolor</p:attrName>
                                        </p:attrNameLst>
                                      </p:cBhvr>
                                      <p:by>
                                        <p:hsl h="7200000" s="0" l="0"/>
                                      </p:by>
                                    </p:animClr>
                                    <p:animClr clrSpc="hsl" dir="cw">
                                      <p:cBhvr>
                                        <p:cTn id="100" dur="500" fill="hold"/>
                                        <p:tgtEl>
                                          <p:spTgt spid="55"/>
                                        </p:tgtEl>
                                        <p:attrNameLst>
                                          <p:attrName>stroke.color</p:attrName>
                                        </p:attrNameLst>
                                      </p:cBhvr>
                                      <p:by>
                                        <p:hsl h="7200000" s="0" l="0"/>
                                      </p:by>
                                    </p:animClr>
                                    <p:set>
                                      <p:cBhvr>
                                        <p:cTn id="101" dur="500" fill="hold"/>
                                        <p:tgtEl>
                                          <p:spTgt spid="55"/>
                                        </p:tgtEl>
                                        <p:attrNameLst>
                                          <p:attrName>fill.type</p:attrName>
                                        </p:attrNameLst>
                                      </p:cBhvr>
                                      <p:to>
                                        <p:strVal val="solid"/>
                                      </p:to>
                                    </p:set>
                                  </p:childTnLst>
                                </p:cTn>
                              </p:par>
                              <p:par>
                                <p:cTn id="102" presetID="21" presetClass="emph" presetSubtype="0" fill="hold" grpId="2" nodeType="withEffect">
                                  <p:stCondLst>
                                    <p:cond delay="0"/>
                                  </p:stCondLst>
                                  <p:iterate type="lt">
                                    <p:tmPct val="0"/>
                                  </p:iterate>
                                  <p:childTnLst>
                                    <p:animClr clrSpc="hsl" dir="cw">
                                      <p:cBhvr override="childStyle">
                                        <p:cTn id="103" dur="500" fill="hold"/>
                                        <p:tgtEl>
                                          <p:spTgt spid="61"/>
                                        </p:tgtEl>
                                        <p:attrNameLst>
                                          <p:attrName>style.color</p:attrName>
                                        </p:attrNameLst>
                                      </p:cBhvr>
                                      <p:by>
                                        <p:hsl h="7200000" s="0" l="0"/>
                                      </p:by>
                                    </p:animClr>
                                    <p:animClr clrSpc="hsl" dir="cw">
                                      <p:cBhvr>
                                        <p:cTn id="104" dur="500" fill="hold"/>
                                        <p:tgtEl>
                                          <p:spTgt spid="61"/>
                                        </p:tgtEl>
                                        <p:attrNameLst>
                                          <p:attrName>fillcolor</p:attrName>
                                        </p:attrNameLst>
                                      </p:cBhvr>
                                      <p:by>
                                        <p:hsl h="7200000" s="0" l="0"/>
                                      </p:by>
                                    </p:animClr>
                                    <p:animClr clrSpc="hsl" dir="cw">
                                      <p:cBhvr>
                                        <p:cTn id="105" dur="500" fill="hold"/>
                                        <p:tgtEl>
                                          <p:spTgt spid="61"/>
                                        </p:tgtEl>
                                        <p:attrNameLst>
                                          <p:attrName>stroke.color</p:attrName>
                                        </p:attrNameLst>
                                      </p:cBhvr>
                                      <p:by>
                                        <p:hsl h="7200000" s="0" l="0"/>
                                      </p:by>
                                    </p:animClr>
                                    <p:set>
                                      <p:cBhvr>
                                        <p:cTn id="106" dur="500" fill="hold"/>
                                        <p:tgtEl>
                                          <p:spTgt spid="61"/>
                                        </p:tgtEl>
                                        <p:attrNameLst>
                                          <p:attrName>fill.type</p:attrName>
                                        </p:attrNameLst>
                                      </p:cBhvr>
                                      <p:to>
                                        <p:strVal val="solid"/>
                                      </p:to>
                                    </p:set>
                                  </p:childTnLst>
                                </p:cTn>
                              </p:par>
                              <p:par>
                                <p:cTn id="107" presetID="1" presetClass="entr" presetSubtype="0" fill="hold" grpId="0" nodeType="withEffect">
                                  <p:stCondLst>
                                    <p:cond delay="0"/>
                                  </p:stCondLst>
                                  <p:childTnLst>
                                    <p:set>
                                      <p:cBhvr>
                                        <p:cTn id="108" dur="1" fill="hold">
                                          <p:stCondLst>
                                            <p:cond delay="0"/>
                                          </p:stCondLst>
                                        </p:cTn>
                                        <p:tgtEl>
                                          <p:spTgt spid="75861"/>
                                        </p:tgtEl>
                                        <p:attrNameLst>
                                          <p:attrName>style.visibility</p:attrName>
                                        </p:attrNameLst>
                                      </p:cBhvr>
                                      <p:to>
                                        <p:strVal val="visible"/>
                                      </p:to>
                                    </p:set>
                                  </p:childTnLst>
                                </p:cTn>
                              </p:par>
                              <p:par>
                                <p:cTn id="109" presetID="1" presetClass="exit" presetSubtype="0" fill="hold" grpId="1" nodeType="withEffect">
                                  <p:stCondLst>
                                    <p:cond delay="0"/>
                                  </p:stCondLst>
                                  <p:childTnLst>
                                    <p:set>
                                      <p:cBhvr>
                                        <p:cTn id="110" dur="1" fill="hold">
                                          <p:stCondLst>
                                            <p:cond delay="0"/>
                                          </p:stCondLst>
                                        </p:cTn>
                                        <p:tgtEl>
                                          <p:spTgt spid="758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57" grpId="0"/>
      <p:bldP spid="75857" grpId="1"/>
      <p:bldP spid="75859" grpId="0"/>
      <p:bldP spid="75859" grpId="1"/>
      <p:bldP spid="75860" grpId="0"/>
      <p:bldP spid="75860" grpId="1"/>
      <p:bldP spid="75861" grpId="0"/>
      <p:bldP spid="55" grpId="0" animBg="1"/>
      <p:bldP spid="55" grpId="1" animBg="1"/>
      <p:bldP spid="55" grpId="2" animBg="1"/>
      <p:bldP spid="57" grpId="0" animBg="1"/>
      <p:bldP spid="58" grpId="0" animBg="1"/>
      <p:bldP spid="59" grpId="0" animBg="1"/>
      <p:bldP spid="59" grpId="1" animBg="1"/>
      <p:bldP spid="59" grpId="2" animBg="1"/>
      <p:bldP spid="60" grpId="0" animBg="1"/>
      <p:bldP spid="61" grpId="0" animBg="1"/>
      <p:bldP spid="61" grpId="1" animBg="1"/>
      <p:bldP spid="61" grpId="2" animBg="1"/>
      <p:bldP spid="62" grpId="0" animBg="1"/>
      <p:bldP spid="63" grpId="0" animBg="1"/>
      <p:bldP spid="64" grpId="0" animBg="1"/>
      <p:bldP spid="65" grpId="0" animBg="1"/>
      <p:bldP spid="66" grpId="0" animBg="1"/>
      <p:bldP spid="67" grpId="0" animBg="1"/>
      <p:bldP spid="101" grpId="0" animBg="1"/>
      <p:bldP spid="106" grpId="0"/>
      <p:bldP spid="108" grpId="0"/>
      <p:bldP spid="110" grpId="0" animBg="1"/>
      <p:bldP spid="110"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p:cNvSpPr>
          <p:nvPr>
            <p:ph type="title"/>
          </p:nvPr>
        </p:nvSpPr>
        <p:spPr bwMode="auto"/>
        <p:txBody>
          <a:bodyPr vert="horz" wrap="square" lIns="91440" tIns="45720" rIns="91440" bIns="45720" numCol="1" anchor="ctr" anchorCtr="0" compatLnSpc="1">
            <a:prstTxWarp prst="textNoShape">
              <a:avLst/>
            </a:prstTxWarp>
            <a:normAutofit fontScale="90000"/>
          </a:bodyPr>
          <a:lstStyle/>
          <a:p>
            <a:pPr>
              <a:defRPr/>
            </a:pPr>
            <a:r>
              <a:rPr lang="en-US" b="1" cap="none" dirty="0"/>
              <a:t>WSD U</a:t>
            </a:r>
            <a:r>
              <a:rPr lang="en-US" sz="2400" dirty="0"/>
              <a:t>SING</a:t>
            </a:r>
            <a:r>
              <a:rPr lang="en-US" b="1" cap="none" dirty="0"/>
              <a:t> R</a:t>
            </a:r>
            <a:r>
              <a:rPr lang="en-US" sz="2400" dirty="0"/>
              <a:t>ANDOM</a:t>
            </a:r>
            <a:r>
              <a:rPr lang="en-US" b="1" cap="none" dirty="0"/>
              <a:t> W</a:t>
            </a:r>
            <a:r>
              <a:rPr lang="en-US" sz="2400" dirty="0"/>
              <a:t>ALK</a:t>
            </a:r>
            <a:r>
              <a:rPr lang="en-US" b="1" cap="none" dirty="0"/>
              <a:t> A</a:t>
            </a:r>
            <a:r>
              <a:rPr lang="en-US" sz="2400" dirty="0"/>
              <a:t>LGORITHM</a:t>
            </a:r>
          </a:p>
        </p:txBody>
      </p:sp>
      <p:sp>
        <p:nvSpPr>
          <p:cNvPr id="21510" name="Rectangle 23"/>
          <p:cNvSpPr>
            <a:spLocks noGrp="1"/>
          </p:cNvSpPr>
          <p:nvPr>
            <p:ph idx="1"/>
          </p:nvPr>
        </p:nvSpPr>
        <p:spPr/>
        <p:txBody>
          <a:bodyPr/>
          <a:lstStyle/>
          <a:p>
            <a:pPr>
              <a:lnSpc>
                <a:spcPct val="90000"/>
              </a:lnSpc>
              <a:buFont typeface="Wingdings" panose="05000000000000000000" pitchFamily="2" charset="2"/>
              <a:buNone/>
            </a:pPr>
            <a:r>
              <a:rPr lang="en-US" altLang="en-US" sz="1800" b="1"/>
              <a:t>Bell       ring   church  Sunday</a:t>
            </a:r>
          </a:p>
        </p:txBody>
      </p:sp>
      <p:sp>
        <p:nvSpPr>
          <p:cNvPr id="54" name="Slide Number Placeholder 8"/>
          <p:cNvSpPr>
            <a:spLocks noGrp="1"/>
          </p:cNvSpPr>
          <p:nvPr>
            <p:ph type="sldNum" sz="quarter" idx="429496729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96D540CE-6078-40A1-A888-D9A1C05C52B8}" type="slidenum">
              <a:rPr lang="en-US" altLang="en-US" sz="1400">
                <a:solidFill>
                  <a:srgbClr val="FFFFFF"/>
                </a:solidFill>
              </a:rPr>
              <a:pPr eaLnBrk="1" hangingPunct="1">
                <a:spcBef>
                  <a:spcPct val="0"/>
                </a:spcBef>
                <a:buClrTx/>
                <a:buSzTx/>
                <a:buFontTx/>
                <a:buNone/>
              </a:pPr>
              <a:t>45</a:t>
            </a:fld>
            <a:endParaRPr lang="en-US" altLang="en-US" sz="1400">
              <a:solidFill>
                <a:srgbClr val="FFFFFF"/>
              </a:solidFill>
            </a:endParaRPr>
          </a:p>
        </p:txBody>
      </p:sp>
      <p:pic>
        <p:nvPicPr>
          <p:cNvPr id="215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1600201"/>
            <a:ext cx="36957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3" name="Oval 7"/>
          <p:cNvSpPr>
            <a:spLocks noChangeArrowheads="1"/>
          </p:cNvSpPr>
          <p:nvPr/>
        </p:nvSpPr>
        <p:spPr bwMode="auto">
          <a:xfrm>
            <a:off x="4991100" y="1600200"/>
            <a:ext cx="381000" cy="457200"/>
          </a:xfrm>
          <a:prstGeom prst="ellipse">
            <a:avLst/>
          </a:prstGeom>
          <a:solidFill>
            <a:schemeClr val="accent1"/>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S3</a:t>
            </a:r>
          </a:p>
        </p:txBody>
      </p:sp>
      <p:sp>
        <p:nvSpPr>
          <p:cNvPr id="75800" name="Oval 24"/>
          <p:cNvSpPr>
            <a:spLocks noChangeArrowheads="1"/>
          </p:cNvSpPr>
          <p:nvPr/>
        </p:nvSpPr>
        <p:spPr bwMode="auto">
          <a:xfrm>
            <a:off x="4991100" y="2819400"/>
            <a:ext cx="381000" cy="457200"/>
          </a:xfrm>
          <a:prstGeom prst="ellipse">
            <a:avLst/>
          </a:prstGeom>
          <a:solidFill>
            <a:schemeClr val="accent1"/>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S2</a:t>
            </a:r>
          </a:p>
        </p:txBody>
      </p:sp>
      <p:sp>
        <p:nvSpPr>
          <p:cNvPr id="75801" name="Oval 25"/>
          <p:cNvSpPr>
            <a:spLocks noChangeArrowheads="1"/>
          </p:cNvSpPr>
          <p:nvPr/>
        </p:nvSpPr>
        <p:spPr bwMode="auto">
          <a:xfrm>
            <a:off x="4991100" y="3962400"/>
            <a:ext cx="381000" cy="457200"/>
          </a:xfrm>
          <a:prstGeom prst="ellipse">
            <a:avLst/>
          </a:prstGeom>
          <a:solidFill>
            <a:srgbClr val="FF0000"/>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S1</a:t>
            </a:r>
          </a:p>
        </p:txBody>
      </p:sp>
      <p:sp>
        <p:nvSpPr>
          <p:cNvPr id="75802" name="Oval 26"/>
          <p:cNvSpPr>
            <a:spLocks noChangeArrowheads="1"/>
          </p:cNvSpPr>
          <p:nvPr/>
        </p:nvSpPr>
        <p:spPr bwMode="auto">
          <a:xfrm>
            <a:off x="5981700" y="1600200"/>
            <a:ext cx="381000" cy="457200"/>
          </a:xfrm>
          <a:prstGeom prst="ellipse">
            <a:avLst/>
          </a:prstGeom>
          <a:solidFill>
            <a:srgbClr val="FF0000"/>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S3</a:t>
            </a:r>
          </a:p>
        </p:txBody>
      </p:sp>
      <p:sp>
        <p:nvSpPr>
          <p:cNvPr id="75803" name="Oval 27"/>
          <p:cNvSpPr>
            <a:spLocks noChangeArrowheads="1"/>
          </p:cNvSpPr>
          <p:nvPr/>
        </p:nvSpPr>
        <p:spPr bwMode="auto">
          <a:xfrm>
            <a:off x="5981700" y="2819400"/>
            <a:ext cx="381000" cy="457200"/>
          </a:xfrm>
          <a:prstGeom prst="ellipse">
            <a:avLst/>
          </a:prstGeom>
          <a:solidFill>
            <a:schemeClr val="accent1"/>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S2</a:t>
            </a:r>
          </a:p>
        </p:txBody>
      </p:sp>
      <p:sp>
        <p:nvSpPr>
          <p:cNvPr id="75804" name="Oval 28"/>
          <p:cNvSpPr>
            <a:spLocks noChangeArrowheads="1"/>
          </p:cNvSpPr>
          <p:nvPr/>
        </p:nvSpPr>
        <p:spPr bwMode="auto">
          <a:xfrm>
            <a:off x="6057900" y="3962400"/>
            <a:ext cx="381000" cy="457200"/>
          </a:xfrm>
          <a:prstGeom prst="ellipse">
            <a:avLst/>
          </a:prstGeom>
          <a:solidFill>
            <a:schemeClr val="accent1"/>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S1</a:t>
            </a:r>
          </a:p>
        </p:txBody>
      </p:sp>
      <p:sp>
        <p:nvSpPr>
          <p:cNvPr id="75805" name="Oval 29"/>
          <p:cNvSpPr>
            <a:spLocks noChangeArrowheads="1"/>
          </p:cNvSpPr>
          <p:nvPr/>
        </p:nvSpPr>
        <p:spPr bwMode="auto">
          <a:xfrm>
            <a:off x="6896100" y="1600200"/>
            <a:ext cx="381000" cy="457200"/>
          </a:xfrm>
          <a:prstGeom prst="ellipse">
            <a:avLst/>
          </a:prstGeom>
          <a:solidFill>
            <a:schemeClr val="accent1"/>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S3</a:t>
            </a:r>
          </a:p>
        </p:txBody>
      </p:sp>
      <p:sp>
        <p:nvSpPr>
          <p:cNvPr id="75806" name="Oval 30"/>
          <p:cNvSpPr>
            <a:spLocks noChangeArrowheads="1"/>
          </p:cNvSpPr>
          <p:nvPr/>
        </p:nvSpPr>
        <p:spPr bwMode="auto">
          <a:xfrm>
            <a:off x="6972300" y="2819400"/>
            <a:ext cx="381000" cy="457200"/>
          </a:xfrm>
          <a:prstGeom prst="ellipse">
            <a:avLst/>
          </a:prstGeom>
          <a:solidFill>
            <a:srgbClr val="FF0000"/>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S2</a:t>
            </a:r>
          </a:p>
        </p:txBody>
      </p:sp>
      <p:sp>
        <p:nvSpPr>
          <p:cNvPr id="75807" name="Oval 31"/>
          <p:cNvSpPr>
            <a:spLocks noChangeArrowheads="1"/>
          </p:cNvSpPr>
          <p:nvPr/>
        </p:nvSpPr>
        <p:spPr bwMode="auto">
          <a:xfrm>
            <a:off x="7048500" y="3962400"/>
            <a:ext cx="381000" cy="457200"/>
          </a:xfrm>
          <a:prstGeom prst="ellipse">
            <a:avLst/>
          </a:prstGeom>
          <a:solidFill>
            <a:schemeClr val="accent1"/>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a:t>S1</a:t>
            </a:r>
          </a:p>
        </p:txBody>
      </p:sp>
      <p:sp>
        <p:nvSpPr>
          <p:cNvPr id="75810" name="Oval 34"/>
          <p:cNvSpPr>
            <a:spLocks noChangeArrowheads="1"/>
          </p:cNvSpPr>
          <p:nvPr/>
        </p:nvSpPr>
        <p:spPr bwMode="auto">
          <a:xfrm>
            <a:off x="7886700" y="3962400"/>
            <a:ext cx="381000" cy="457200"/>
          </a:xfrm>
          <a:prstGeom prst="ellipse">
            <a:avLst/>
          </a:prstGeom>
          <a:solidFill>
            <a:srgbClr val="FF0000"/>
          </a:solidFill>
          <a:ln w="9525">
            <a:solidFill>
              <a:schemeClr val="tx1"/>
            </a:solidFill>
            <a:round/>
            <a:headEnd/>
            <a:tailEnd/>
          </a:ln>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dirty="0"/>
              <a:t>S4</a:t>
            </a:r>
          </a:p>
        </p:txBody>
      </p:sp>
      <p:sp>
        <p:nvSpPr>
          <p:cNvPr id="75821" name="AutoShape 45"/>
          <p:cNvSpPr>
            <a:spLocks noChangeArrowheads="1"/>
          </p:cNvSpPr>
          <p:nvPr/>
        </p:nvSpPr>
        <p:spPr bwMode="auto">
          <a:xfrm>
            <a:off x="5448300" y="16764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a</a:t>
            </a:r>
          </a:p>
        </p:txBody>
      </p:sp>
      <p:sp>
        <p:nvSpPr>
          <p:cNvPr id="75822" name="AutoShape 46"/>
          <p:cNvSpPr>
            <a:spLocks noChangeArrowheads="1"/>
          </p:cNvSpPr>
          <p:nvPr/>
        </p:nvSpPr>
        <p:spPr bwMode="auto">
          <a:xfrm>
            <a:off x="5219700" y="22098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c</a:t>
            </a:r>
          </a:p>
        </p:txBody>
      </p:sp>
      <p:sp>
        <p:nvSpPr>
          <p:cNvPr id="75823" name="AutoShape 47"/>
          <p:cNvSpPr>
            <a:spLocks noChangeArrowheads="1"/>
          </p:cNvSpPr>
          <p:nvPr/>
        </p:nvSpPr>
        <p:spPr bwMode="auto">
          <a:xfrm>
            <a:off x="5372100" y="19050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b</a:t>
            </a:r>
          </a:p>
        </p:txBody>
      </p:sp>
      <p:sp>
        <p:nvSpPr>
          <p:cNvPr id="75824" name="AutoShape 48"/>
          <p:cNvSpPr>
            <a:spLocks noChangeArrowheads="1"/>
          </p:cNvSpPr>
          <p:nvPr/>
        </p:nvSpPr>
        <p:spPr bwMode="auto">
          <a:xfrm>
            <a:off x="5219700" y="26670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e</a:t>
            </a:r>
          </a:p>
        </p:txBody>
      </p:sp>
      <p:sp>
        <p:nvSpPr>
          <p:cNvPr id="75825" name="AutoShape 49"/>
          <p:cNvSpPr>
            <a:spLocks noChangeArrowheads="1"/>
          </p:cNvSpPr>
          <p:nvPr/>
        </p:nvSpPr>
        <p:spPr bwMode="auto">
          <a:xfrm>
            <a:off x="5524500" y="29718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f</a:t>
            </a:r>
          </a:p>
        </p:txBody>
      </p:sp>
      <p:sp>
        <p:nvSpPr>
          <p:cNvPr id="75826" name="AutoShape 50"/>
          <p:cNvSpPr>
            <a:spLocks noChangeArrowheads="1"/>
          </p:cNvSpPr>
          <p:nvPr/>
        </p:nvSpPr>
        <p:spPr bwMode="auto">
          <a:xfrm>
            <a:off x="5448300" y="33528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g</a:t>
            </a:r>
          </a:p>
        </p:txBody>
      </p:sp>
      <p:sp>
        <p:nvSpPr>
          <p:cNvPr id="75827" name="AutoShape 51"/>
          <p:cNvSpPr>
            <a:spLocks noChangeArrowheads="1"/>
          </p:cNvSpPr>
          <p:nvPr/>
        </p:nvSpPr>
        <p:spPr bwMode="auto">
          <a:xfrm>
            <a:off x="5067300" y="3657600"/>
            <a:ext cx="4572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h</a:t>
            </a:r>
          </a:p>
        </p:txBody>
      </p:sp>
      <p:sp>
        <p:nvSpPr>
          <p:cNvPr id="75828" name="AutoShape 52"/>
          <p:cNvSpPr>
            <a:spLocks noChangeArrowheads="1"/>
          </p:cNvSpPr>
          <p:nvPr/>
        </p:nvSpPr>
        <p:spPr bwMode="auto">
          <a:xfrm>
            <a:off x="5372100" y="38100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i</a:t>
            </a:r>
          </a:p>
        </p:txBody>
      </p:sp>
      <p:sp>
        <p:nvSpPr>
          <p:cNvPr id="75829" name="AutoShape 53"/>
          <p:cNvSpPr>
            <a:spLocks noChangeArrowheads="1"/>
          </p:cNvSpPr>
          <p:nvPr/>
        </p:nvSpPr>
        <p:spPr bwMode="auto">
          <a:xfrm>
            <a:off x="5524500" y="40386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j</a:t>
            </a:r>
          </a:p>
        </p:txBody>
      </p:sp>
      <p:sp>
        <p:nvSpPr>
          <p:cNvPr id="75830" name="Line 54"/>
          <p:cNvSpPr>
            <a:spLocks noChangeShapeType="1"/>
          </p:cNvSpPr>
          <p:nvPr/>
        </p:nvSpPr>
        <p:spPr bwMode="auto">
          <a:xfrm>
            <a:off x="5372100" y="1828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1" name="Line 55"/>
          <p:cNvSpPr>
            <a:spLocks noChangeShapeType="1"/>
          </p:cNvSpPr>
          <p:nvPr/>
        </p:nvSpPr>
        <p:spPr bwMode="auto">
          <a:xfrm>
            <a:off x="5372100" y="1828800"/>
            <a:ext cx="6096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2" name="Line 56"/>
          <p:cNvSpPr>
            <a:spLocks noChangeShapeType="1"/>
          </p:cNvSpPr>
          <p:nvPr/>
        </p:nvSpPr>
        <p:spPr bwMode="auto">
          <a:xfrm>
            <a:off x="5372100" y="1828800"/>
            <a:ext cx="76200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3" name="Line 57"/>
          <p:cNvSpPr>
            <a:spLocks noChangeShapeType="1"/>
          </p:cNvSpPr>
          <p:nvPr/>
        </p:nvSpPr>
        <p:spPr bwMode="auto">
          <a:xfrm flipV="1">
            <a:off x="5372100" y="1905000"/>
            <a:ext cx="6096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4" name="Line 58"/>
          <p:cNvSpPr>
            <a:spLocks noChangeShapeType="1"/>
          </p:cNvSpPr>
          <p:nvPr/>
        </p:nvSpPr>
        <p:spPr bwMode="auto">
          <a:xfrm>
            <a:off x="5372100" y="2971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5" name="Line 59"/>
          <p:cNvSpPr>
            <a:spLocks noChangeShapeType="1"/>
          </p:cNvSpPr>
          <p:nvPr/>
        </p:nvSpPr>
        <p:spPr bwMode="auto">
          <a:xfrm>
            <a:off x="5372100" y="2971800"/>
            <a:ext cx="7620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6" name="Line 60"/>
          <p:cNvSpPr>
            <a:spLocks noChangeShapeType="1"/>
          </p:cNvSpPr>
          <p:nvPr/>
        </p:nvSpPr>
        <p:spPr bwMode="auto">
          <a:xfrm flipV="1">
            <a:off x="5295900" y="1905000"/>
            <a:ext cx="6858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7" name="Line 61"/>
          <p:cNvSpPr>
            <a:spLocks noChangeShapeType="1"/>
          </p:cNvSpPr>
          <p:nvPr/>
        </p:nvSpPr>
        <p:spPr bwMode="auto">
          <a:xfrm flipV="1">
            <a:off x="5295900" y="32766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38" name="Line 62"/>
          <p:cNvSpPr>
            <a:spLocks noChangeShapeType="1"/>
          </p:cNvSpPr>
          <p:nvPr/>
        </p:nvSpPr>
        <p:spPr bwMode="auto">
          <a:xfrm>
            <a:off x="5295900" y="40386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40" name="Line 64"/>
          <p:cNvSpPr>
            <a:spLocks noChangeShapeType="1"/>
          </p:cNvSpPr>
          <p:nvPr/>
        </p:nvSpPr>
        <p:spPr bwMode="auto">
          <a:xfrm>
            <a:off x="7353300" y="3048000"/>
            <a:ext cx="6858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41" name="Line 65"/>
          <p:cNvSpPr>
            <a:spLocks noChangeShapeType="1"/>
          </p:cNvSpPr>
          <p:nvPr/>
        </p:nvSpPr>
        <p:spPr bwMode="auto">
          <a:xfrm flipV="1">
            <a:off x="7429500" y="3962400"/>
            <a:ext cx="6096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42" name="AutoShape 66"/>
          <p:cNvSpPr>
            <a:spLocks noChangeArrowheads="1"/>
          </p:cNvSpPr>
          <p:nvPr/>
        </p:nvSpPr>
        <p:spPr bwMode="auto">
          <a:xfrm>
            <a:off x="7505700" y="32766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k</a:t>
            </a:r>
          </a:p>
        </p:txBody>
      </p:sp>
      <p:sp>
        <p:nvSpPr>
          <p:cNvPr id="75843" name="AutoShape 67"/>
          <p:cNvSpPr>
            <a:spLocks noChangeArrowheads="1"/>
          </p:cNvSpPr>
          <p:nvPr/>
        </p:nvSpPr>
        <p:spPr bwMode="auto">
          <a:xfrm>
            <a:off x="7505700" y="38862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l</a:t>
            </a:r>
          </a:p>
        </p:txBody>
      </p:sp>
      <p:sp>
        <p:nvSpPr>
          <p:cNvPr id="75844" name="AutoShape 68"/>
          <p:cNvSpPr>
            <a:spLocks noChangeArrowheads="1"/>
          </p:cNvSpPr>
          <p:nvPr/>
        </p:nvSpPr>
        <p:spPr bwMode="auto">
          <a:xfrm>
            <a:off x="4914900" y="14478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0.46</a:t>
            </a:r>
          </a:p>
        </p:txBody>
      </p:sp>
      <p:sp>
        <p:nvSpPr>
          <p:cNvPr id="75845" name="AutoShape 69"/>
          <p:cNvSpPr>
            <a:spLocks noChangeArrowheads="1"/>
          </p:cNvSpPr>
          <p:nvPr/>
        </p:nvSpPr>
        <p:spPr bwMode="auto">
          <a:xfrm>
            <a:off x="5600700" y="19050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a</a:t>
            </a:r>
          </a:p>
        </p:txBody>
      </p:sp>
      <p:sp>
        <p:nvSpPr>
          <p:cNvPr id="75846" name="AutoShape 70"/>
          <p:cNvSpPr>
            <a:spLocks noChangeArrowheads="1"/>
          </p:cNvSpPr>
          <p:nvPr/>
        </p:nvSpPr>
        <p:spPr bwMode="auto">
          <a:xfrm>
            <a:off x="4914900" y="25908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0.49</a:t>
            </a:r>
          </a:p>
        </p:txBody>
      </p:sp>
      <p:sp>
        <p:nvSpPr>
          <p:cNvPr id="75847" name="AutoShape 71"/>
          <p:cNvSpPr>
            <a:spLocks noChangeArrowheads="1"/>
          </p:cNvSpPr>
          <p:nvPr/>
        </p:nvSpPr>
        <p:spPr bwMode="auto">
          <a:xfrm>
            <a:off x="4762500" y="38862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0.92</a:t>
            </a:r>
          </a:p>
        </p:txBody>
      </p:sp>
      <p:sp>
        <p:nvSpPr>
          <p:cNvPr id="75848" name="AutoShape 72"/>
          <p:cNvSpPr>
            <a:spLocks noChangeArrowheads="1"/>
          </p:cNvSpPr>
          <p:nvPr/>
        </p:nvSpPr>
        <p:spPr bwMode="auto">
          <a:xfrm>
            <a:off x="6210300" y="14478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0.97</a:t>
            </a:r>
          </a:p>
        </p:txBody>
      </p:sp>
      <p:sp>
        <p:nvSpPr>
          <p:cNvPr id="75849" name="AutoShape 73"/>
          <p:cNvSpPr>
            <a:spLocks noChangeArrowheads="1"/>
          </p:cNvSpPr>
          <p:nvPr/>
        </p:nvSpPr>
        <p:spPr bwMode="auto">
          <a:xfrm>
            <a:off x="6286500" y="27432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0.35</a:t>
            </a:r>
          </a:p>
        </p:txBody>
      </p:sp>
      <p:sp>
        <p:nvSpPr>
          <p:cNvPr id="75850" name="AutoShape 74"/>
          <p:cNvSpPr>
            <a:spLocks noChangeArrowheads="1"/>
          </p:cNvSpPr>
          <p:nvPr/>
        </p:nvSpPr>
        <p:spPr bwMode="auto">
          <a:xfrm>
            <a:off x="6286500" y="38862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0.56</a:t>
            </a:r>
          </a:p>
        </p:txBody>
      </p:sp>
      <p:sp>
        <p:nvSpPr>
          <p:cNvPr id="75851" name="AutoShape 75"/>
          <p:cNvSpPr>
            <a:spLocks noChangeArrowheads="1"/>
          </p:cNvSpPr>
          <p:nvPr/>
        </p:nvSpPr>
        <p:spPr bwMode="auto">
          <a:xfrm>
            <a:off x="7200900" y="15240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0.42</a:t>
            </a:r>
          </a:p>
        </p:txBody>
      </p:sp>
      <p:sp>
        <p:nvSpPr>
          <p:cNvPr id="75852" name="AutoShape 76"/>
          <p:cNvSpPr>
            <a:spLocks noChangeArrowheads="1"/>
          </p:cNvSpPr>
          <p:nvPr/>
        </p:nvSpPr>
        <p:spPr bwMode="auto">
          <a:xfrm>
            <a:off x="7200900" y="27432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0.63</a:t>
            </a:r>
          </a:p>
        </p:txBody>
      </p:sp>
      <p:sp>
        <p:nvSpPr>
          <p:cNvPr id="75853" name="AutoShape 77"/>
          <p:cNvSpPr>
            <a:spLocks noChangeArrowheads="1"/>
          </p:cNvSpPr>
          <p:nvPr/>
        </p:nvSpPr>
        <p:spPr bwMode="auto">
          <a:xfrm>
            <a:off x="7277100" y="38100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0.58</a:t>
            </a:r>
          </a:p>
        </p:txBody>
      </p:sp>
      <p:sp>
        <p:nvSpPr>
          <p:cNvPr id="75854" name="AutoShape 78"/>
          <p:cNvSpPr>
            <a:spLocks noChangeArrowheads="1"/>
          </p:cNvSpPr>
          <p:nvPr/>
        </p:nvSpPr>
        <p:spPr bwMode="auto">
          <a:xfrm>
            <a:off x="8115300" y="3886200"/>
            <a:ext cx="381000" cy="152400"/>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r>
              <a:rPr lang="en-US" altLang="en-US" sz="1000"/>
              <a:t>0.67</a:t>
            </a:r>
          </a:p>
        </p:txBody>
      </p:sp>
      <p:sp>
        <p:nvSpPr>
          <p:cNvPr id="75857" name="Rectangle 81"/>
          <p:cNvSpPr>
            <a:spLocks/>
          </p:cNvSpPr>
          <p:nvPr/>
        </p:nvSpPr>
        <p:spPr bwMode="auto">
          <a:xfrm>
            <a:off x="561975" y="4998637"/>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a:t>Step 1: 	</a:t>
            </a:r>
            <a:r>
              <a:rPr lang="en-US" altLang="en-US" sz="1600"/>
              <a:t>Add a vertex for each 	possible 	sense of each word in the text.</a:t>
            </a:r>
          </a:p>
        </p:txBody>
      </p:sp>
      <p:sp>
        <p:nvSpPr>
          <p:cNvPr id="75859" name="Rectangle 83"/>
          <p:cNvSpPr>
            <a:spLocks/>
          </p:cNvSpPr>
          <p:nvPr/>
        </p:nvSpPr>
        <p:spPr bwMode="auto">
          <a:xfrm>
            <a:off x="476250" y="5750731"/>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a:t>Step 2: 	</a:t>
            </a:r>
            <a:r>
              <a:rPr lang="en-US" altLang="en-US" sz="1600"/>
              <a:t>Add weighted edges using 	definition based semantic 	similarity (Lesk’s method).</a:t>
            </a:r>
          </a:p>
        </p:txBody>
      </p:sp>
      <p:sp>
        <p:nvSpPr>
          <p:cNvPr id="75860" name="Rectangle 84"/>
          <p:cNvSpPr>
            <a:spLocks/>
          </p:cNvSpPr>
          <p:nvPr/>
        </p:nvSpPr>
        <p:spPr bwMode="auto">
          <a:xfrm>
            <a:off x="4724400" y="5010943"/>
            <a:ext cx="4914900" cy="656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a:t>Step 3: 	</a:t>
            </a:r>
            <a:r>
              <a:rPr lang="en-US" altLang="en-US" sz="1600"/>
              <a:t>Apply graph based ranking 	algorithm to find score of 	each vertex (i.e. for each word 	sense).</a:t>
            </a:r>
          </a:p>
        </p:txBody>
      </p:sp>
      <p:sp>
        <p:nvSpPr>
          <p:cNvPr id="75861" name="Rectangle 85"/>
          <p:cNvSpPr>
            <a:spLocks/>
          </p:cNvSpPr>
          <p:nvPr/>
        </p:nvSpPr>
        <p:spPr bwMode="auto">
          <a:xfrm>
            <a:off x="4686300" y="5750731"/>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algn="l">
              <a:lnSpc>
                <a:spcPct val="90000"/>
              </a:lnSpc>
            </a:pPr>
            <a:r>
              <a:rPr lang="en-US" altLang="en-US" sz="1600" b="1"/>
              <a:t>Step 4: 	</a:t>
            </a:r>
            <a:r>
              <a:rPr lang="en-US" altLang="en-US" sz="1600"/>
              <a:t>Select the vertex (sense) which 	has the highest score.</a:t>
            </a:r>
          </a:p>
        </p:txBody>
      </p:sp>
      <p:sp>
        <p:nvSpPr>
          <p:cNvPr id="52" name="Slide Number Placeholder 51"/>
          <p:cNvSpPr txBox="1">
            <a:spLocks noGrp="1"/>
          </p:cNvSpPr>
          <p:nvPr/>
        </p:nvSpPr>
        <p:spPr>
          <a:xfrm>
            <a:off x="8701088" y="5734050"/>
            <a:ext cx="609600" cy="520700"/>
          </a:xfrm>
          <a:prstGeom prst="rect">
            <a:avLst/>
          </a:prstGeom>
          <a:noFill/>
        </p:spPr>
        <p:txBody>
          <a:bodyPr anchor="ct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861B9407-3A20-4AA0-B7EE-F6FED7D1DF4B}" type="slidenum">
              <a:rPr lang="en-US" altLang="en-US" sz="1400" b="1">
                <a:solidFill>
                  <a:srgbClr val="FFFFFF"/>
                </a:solidFill>
              </a:rPr>
              <a:pPr eaLnBrk="1" hangingPunct="1">
                <a:spcBef>
                  <a:spcPct val="0"/>
                </a:spcBef>
                <a:buClrTx/>
                <a:buSzTx/>
                <a:buFontTx/>
                <a:buNone/>
              </a:pPr>
              <a:t>45</a:t>
            </a:fld>
            <a:endParaRPr lang="en-US" altLang="en-US" sz="1400" b="1">
              <a:solidFill>
                <a:srgbClr val="FFFFFF"/>
              </a:solidFill>
            </a:endParaRPr>
          </a:p>
        </p:txBody>
      </p:sp>
      <p:cxnSp>
        <p:nvCxnSpPr>
          <p:cNvPr id="56" name="Straight Connector 55"/>
          <p:cNvCxnSpPr>
            <a:stCxn id="75802" idx="5"/>
            <a:endCxn id="75806" idx="1"/>
          </p:cNvCxnSpPr>
          <p:nvPr/>
        </p:nvCxnSpPr>
        <p:spPr>
          <a:xfrm rot="16200000" flipH="1">
            <a:off x="6219826" y="2078038"/>
            <a:ext cx="895350" cy="7207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028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8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8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8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7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58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58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8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58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8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58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585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58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58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58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58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58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58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58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58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58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58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58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58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58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58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58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583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583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583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584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584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584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584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5845"/>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75857"/>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75859"/>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58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584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584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584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7585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7585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7584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7585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7585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5854"/>
                                        </p:tgtEl>
                                        <p:attrNameLst>
                                          <p:attrName>style.visibility</p:attrName>
                                        </p:attrNameLst>
                                      </p:cBhvr>
                                      <p:to>
                                        <p:strVal val="visible"/>
                                      </p:to>
                                    </p:set>
                                  </p:childTnLst>
                                </p:cTn>
                              </p:par>
                              <p:par>
                                <p:cTn id="103" presetID="1" presetClass="exit" presetSubtype="0" fill="hold" grpId="1" nodeType="withEffect">
                                  <p:stCondLst>
                                    <p:cond delay="0"/>
                                  </p:stCondLst>
                                  <p:childTnLst>
                                    <p:set>
                                      <p:cBhvr>
                                        <p:cTn id="104" dur="1" fill="hold">
                                          <p:stCondLst>
                                            <p:cond delay="0"/>
                                          </p:stCondLst>
                                        </p:cTn>
                                        <p:tgtEl>
                                          <p:spTgt spid="75859"/>
                                        </p:tgtEl>
                                        <p:attrNameLst>
                                          <p:attrName>style.visibility</p:attrName>
                                        </p:attrNameLst>
                                      </p:cBhvr>
                                      <p:to>
                                        <p:strVal val="hidden"/>
                                      </p:to>
                                    </p:set>
                                  </p:childTnLst>
                                </p:cTn>
                              </p:par>
                              <p:par>
                                <p:cTn id="105" presetID="1" presetClass="entr" presetSubtype="0" fill="hold" grpId="0" nodeType="withEffect">
                                  <p:stCondLst>
                                    <p:cond delay="0"/>
                                  </p:stCondLst>
                                  <p:childTnLst>
                                    <p:set>
                                      <p:cBhvr>
                                        <p:cTn id="106" dur="1" fill="hold">
                                          <p:stCondLst>
                                            <p:cond delay="0"/>
                                          </p:stCondLst>
                                        </p:cTn>
                                        <p:tgtEl>
                                          <p:spTgt spid="75860"/>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8" presetClass="emph" presetSubtype="0" fill="hold" grpId="1" nodeType="clickEffect">
                                  <p:stCondLst>
                                    <p:cond delay="0"/>
                                  </p:stCondLst>
                                  <p:childTnLst>
                                    <p:animRot by="21600000">
                                      <p:cBhvr>
                                        <p:cTn id="110" dur="2000" fill="hold"/>
                                        <p:tgtEl>
                                          <p:spTgt spid="75801"/>
                                        </p:tgtEl>
                                        <p:attrNameLst>
                                          <p:attrName>r</p:attrName>
                                        </p:attrNameLst>
                                      </p:cBhvr>
                                    </p:animRot>
                                  </p:childTnLst>
                                </p:cTn>
                              </p:par>
                              <p:par>
                                <p:cTn id="111" presetID="8" presetClass="emph" presetSubtype="0" fill="hold" grpId="1" nodeType="withEffect">
                                  <p:stCondLst>
                                    <p:cond delay="0"/>
                                  </p:stCondLst>
                                  <p:childTnLst>
                                    <p:animRot by="21600000">
                                      <p:cBhvr>
                                        <p:cTn id="112" dur="2000" fill="hold"/>
                                        <p:tgtEl>
                                          <p:spTgt spid="75802"/>
                                        </p:tgtEl>
                                        <p:attrNameLst>
                                          <p:attrName>r</p:attrName>
                                        </p:attrNameLst>
                                      </p:cBhvr>
                                    </p:animRot>
                                  </p:childTnLst>
                                </p:cTn>
                              </p:par>
                              <p:par>
                                <p:cTn id="113" presetID="8" presetClass="emph" presetSubtype="0" fill="hold" grpId="1" nodeType="withEffect">
                                  <p:stCondLst>
                                    <p:cond delay="0"/>
                                  </p:stCondLst>
                                  <p:childTnLst>
                                    <p:animRot by="21600000">
                                      <p:cBhvr>
                                        <p:cTn id="114" dur="2000" fill="hold"/>
                                        <p:tgtEl>
                                          <p:spTgt spid="75806"/>
                                        </p:tgtEl>
                                        <p:attrNameLst>
                                          <p:attrName>r</p:attrName>
                                        </p:attrNameLst>
                                      </p:cBhvr>
                                    </p:animRot>
                                  </p:childTnLst>
                                </p:cTn>
                              </p:par>
                              <p:par>
                                <p:cTn id="115" presetID="8" presetClass="emph" presetSubtype="0" fill="hold" grpId="1" nodeType="withEffect">
                                  <p:stCondLst>
                                    <p:cond delay="0"/>
                                  </p:stCondLst>
                                  <p:childTnLst>
                                    <p:animRot by="21600000">
                                      <p:cBhvr>
                                        <p:cTn id="116" dur="2000" fill="hold"/>
                                        <p:tgtEl>
                                          <p:spTgt spid="75810"/>
                                        </p:tgtEl>
                                        <p:attrNameLst>
                                          <p:attrName>r</p:attrName>
                                        </p:attrNameLst>
                                      </p:cBhvr>
                                    </p:animRot>
                                  </p:childTnLst>
                                </p:cTn>
                              </p:par>
                              <p:par>
                                <p:cTn id="117" presetID="21" presetClass="emph" presetSubtype="0" fill="hold" grpId="2" nodeType="withEffect">
                                  <p:stCondLst>
                                    <p:cond delay="0"/>
                                  </p:stCondLst>
                                  <p:childTnLst>
                                    <p:animClr clrSpc="hsl" dir="cw">
                                      <p:cBhvr override="childStyle">
                                        <p:cTn id="118" dur="500" fill="hold"/>
                                        <p:tgtEl>
                                          <p:spTgt spid="75801"/>
                                        </p:tgtEl>
                                        <p:attrNameLst>
                                          <p:attrName>style.color</p:attrName>
                                        </p:attrNameLst>
                                      </p:cBhvr>
                                      <p:by>
                                        <p:hsl h="7200000" s="0" l="0"/>
                                      </p:by>
                                    </p:animClr>
                                    <p:animClr clrSpc="hsl" dir="cw">
                                      <p:cBhvr>
                                        <p:cTn id="119" dur="500" fill="hold"/>
                                        <p:tgtEl>
                                          <p:spTgt spid="75801"/>
                                        </p:tgtEl>
                                        <p:attrNameLst>
                                          <p:attrName>fillcolor</p:attrName>
                                        </p:attrNameLst>
                                      </p:cBhvr>
                                      <p:by>
                                        <p:hsl h="7200000" s="0" l="0"/>
                                      </p:by>
                                    </p:animClr>
                                    <p:animClr clrSpc="hsl" dir="cw">
                                      <p:cBhvr>
                                        <p:cTn id="120" dur="500" fill="hold"/>
                                        <p:tgtEl>
                                          <p:spTgt spid="75801"/>
                                        </p:tgtEl>
                                        <p:attrNameLst>
                                          <p:attrName>stroke.color</p:attrName>
                                        </p:attrNameLst>
                                      </p:cBhvr>
                                      <p:by>
                                        <p:hsl h="7200000" s="0" l="0"/>
                                      </p:by>
                                    </p:animClr>
                                    <p:set>
                                      <p:cBhvr>
                                        <p:cTn id="121" dur="500" fill="hold"/>
                                        <p:tgtEl>
                                          <p:spTgt spid="75801"/>
                                        </p:tgtEl>
                                        <p:attrNameLst>
                                          <p:attrName>fill.type</p:attrName>
                                        </p:attrNameLst>
                                      </p:cBhvr>
                                      <p:to>
                                        <p:strVal val="solid"/>
                                      </p:to>
                                    </p:set>
                                  </p:childTnLst>
                                </p:cTn>
                              </p:par>
                              <p:par>
                                <p:cTn id="122" presetID="21" presetClass="emph" presetSubtype="0" fill="hold" grpId="2" nodeType="withEffect">
                                  <p:stCondLst>
                                    <p:cond delay="0"/>
                                  </p:stCondLst>
                                  <p:childTnLst>
                                    <p:animClr clrSpc="hsl" dir="cw">
                                      <p:cBhvr override="childStyle">
                                        <p:cTn id="123" dur="500" fill="hold"/>
                                        <p:tgtEl>
                                          <p:spTgt spid="75802"/>
                                        </p:tgtEl>
                                        <p:attrNameLst>
                                          <p:attrName>style.color</p:attrName>
                                        </p:attrNameLst>
                                      </p:cBhvr>
                                      <p:by>
                                        <p:hsl h="7200000" s="0" l="0"/>
                                      </p:by>
                                    </p:animClr>
                                    <p:animClr clrSpc="hsl" dir="cw">
                                      <p:cBhvr>
                                        <p:cTn id="124" dur="500" fill="hold"/>
                                        <p:tgtEl>
                                          <p:spTgt spid="75802"/>
                                        </p:tgtEl>
                                        <p:attrNameLst>
                                          <p:attrName>fillcolor</p:attrName>
                                        </p:attrNameLst>
                                      </p:cBhvr>
                                      <p:by>
                                        <p:hsl h="7200000" s="0" l="0"/>
                                      </p:by>
                                    </p:animClr>
                                    <p:animClr clrSpc="hsl" dir="cw">
                                      <p:cBhvr>
                                        <p:cTn id="125" dur="500" fill="hold"/>
                                        <p:tgtEl>
                                          <p:spTgt spid="75802"/>
                                        </p:tgtEl>
                                        <p:attrNameLst>
                                          <p:attrName>stroke.color</p:attrName>
                                        </p:attrNameLst>
                                      </p:cBhvr>
                                      <p:by>
                                        <p:hsl h="7200000" s="0" l="0"/>
                                      </p:by>
                                    </p:animClr>
                                    <p:set>
                                      <p:cBhvr>
                                        <p:cTn id="126" dur="500" fill="hold"/>
                                        <p:tgtEl>
                                          <p:spTgt spid="75802"/>
                                        </p:tgtEl>
                                        <p:attrNameLst>
                                          <p:attrName>fill.type</p:attrName>
                                        </p:attrNameLst>
                                      </p:cBhvr>
                                      <p:to>
                                        <p:strVal val="solid"/>
                                      </p:to>
                                    </p:set>
                                  </p:childTnLst>
                                </p:cTn>
                              </p:par>
                              <p:par>
                                <p:cTn id="127" presetID="21" presetClass="emph" presetSubtype="0" fill="hold" grpId="2" nodeType="withEffect">
                                  <p:stCondLst>
                                    <p:cond delay="0"/>
                                  </p:stCondLst>
                                  <p:childTnLst>
                                    <p:animClr clrSpc="hsl" dir="cw">
                                      <p:cBhvr override="childStyle">
                                        <p:cTn id="128" dur="500" fill="hold"/>
                                        <p:tgtEl>
                                          <p:spTgt spid="75806"/>
                                        </p:tgtEl>
                                        <p:attrNameLst>
                                          <p:attrName>style.color</p:attrName>
                                        </p:attrNameLst>
                                      </p:cBhvr>
                                      <p:by>
                                        <p:hsl h="7200000" s="0" l="0"/>
                                      </p:by>
                                    </p:animClr>
                                    <p:animClr clrSpc="hsl" dir="cw">
                                      <p:cBhvr>
                                        <p:cTn id="129" dur="500" fill="hold"/>
                                        <p:tgtEl>
                                          <p:spTgt spid="75806"/>
                                        </p:tgtEl>
                                        <p:attrNameLst>
                                          <p:attrName>fillcolor</p:attrName>
                                        </p:attrNameLst>
                                      </p:cBhvr>
                                      <p:by>
                                        <p:hsl h="7200000" s="0" l="0"/>
                                      </p:by>
                                    </p:animClr>
                                    <p:animClr clrSpc="hsl" dir="cw">
                                      <p:cBhvr>
                                        <p:cTn id="130" dur="500" fill="hold"/>
                                        <p:tgtEl>
                                          <p:spTgt spid="75806"/>
                                        </p:tgtEl>
                                        <p:attrNameLst>
                                          <p:attrName>stroke.color</p:attrName>
                                        </p:attrNameLst>
                                      </p:cBhvr>
                                      <p:by>
                                        <p:hsl h="7200000" s="0" l="0"/>
                                      </p:by>
                                    </p:animClr>
                                    <p:set>
                                      <p:cBhvr>
                                        <p:cTn id="131" dur="500" fill="hold"/>
                                        <p:tgtEl>
                                          <p:spTgt spid="75806"/>
                                        </p:tgtEl>
                                        <p:attrNameLst>
                                          <p:attrName>fill.type</p:attrName>
                                        </p:attrNameLst>
                                      </p:cBhvr>
                                      <p:to>
                                        <p:strVal val="solid"/>
                                      </p:to>
                                    </p:set>
                                  </p:childTnLst>
                                </p:cTn>
                              </p:par>
                              <p:par>
                                <p:cTn id="132" presetID="21" presetClass="emph" presetSubtype="0" fill="hold" grpId="2" nodeType="withEffect">
                                  <p:stCondLst>
                                    <p:cond delay="0"/>
                                  </p:stCondLst>
                                  <p:childTnLst>
                                    <p:animClr clrSpc="hsl" dir="cw">
                                      <p:cBhvr override="childStyle">
                                        <p:cTn id="133" dur="500" fill="hold"/>
                                        <p:tgtEl>
                                          <p:spTgt spid="75810"/>
                                        </p:tgtEl>
                                        <p:attrNameLst>
                                          <p:attrName>style.color</p:attrName>
                                        </p:attrNameLst>
                                      </p:cBhvr>
                                      <p:by>
                                        <p:hsl h="7200000" s="0" l="0"/>
                                      </p:by>
                                    </p:animClr>
                                    <p:animClr clrSpc="hsl" dir="cw">
                                      <p:cBhvr>
                                        <p:cTn id="134" dur="500" fill="hold"/>
                                        <p:tgtEl>
                                          <p:spTgt spid="75810"/>
                                        </p:tgtEl>
                                        <p:attrNameLst>
                                          <p:attrName>fillcolor</p:attrName>
                                        </p:attrNameLst>
                                      </p:cBhvr>
                                      <p:by>
                                        <p:hsl h="7200000" s="0" l="0"/>
                                      </p:by>
                                    </p:animClr>
                                    <p:animClr clrSpc="hsl" dir="cw">
                                      <p:cBhvr>
                                        <p:cTn id="135" dur="500" fill="hold"/>
                                        <p:tgtEl>
                                          <p:spTgt spid="75810"/>
                                        </p:tgtEl>
                                        <p:attrNameLst>
                                          <p:attrName>stroke.color</p:attrName>
                                        </p:attrNameLst>
                                      </p:cBhvr>
                                      <p:by>
                                        <p:hsl h="7200000" s="0" l="0"/>
                                      </p:by>
                                    </p:animClr>
                                    <p:set>
                                      <p:cBhvr>
                                        <p:cTn id="136" dur="500" fill="hold"/>
                                        <p:tgtEl>
                                          <p:spTgt spid="75810"/>
                                        </p:tgtEl>
                                        <p:attrNameLst>
                                          <p:attrName>fill.type</p:attrName>
                                        </p:attrNameLst>
                                      </p:cBhvr>
                                      <p:to>
                                        <p:strVal val="solid"/>
                                      </p:to>
                                    </p:set>
                                  </p:childTnLst>
                                </p:cTn>
                              </p:par>
                              <p:par>
                                <p:cTn id="137" presetID="1" presetClass="exit" presetSubtype="0" fill="hold" grpId="1" nodeType="withEffect">
                                  <p:stCondLst>
                                    <p:cond delay="0"/>
                                  </p:stCondLst>
                                  <p:childTnLst>
                                    <p:set>
                                      <p:cBhvr>
                                        <p:cTn id="138" dur="1" fill="hold">
                                          <p:stCondLst>
                                            <p:cond delay="0"/>
                                          </p:stCondLst>
                                        </p:cTn>
                                        <p:tgtEl>
                                          <p:spTgt spid="75860"/>
                                        </p:tgtEl>
                                        <p:attrNameLst>
                                          <p:attrName>style.visibility</p:attrName>
                                        </p:attrNameLst>
                                      </p:cBhvr>
                                      <p:to>
                                        <p:strVal val="hidden"/>
                                      </p:to>
                                    </p:set>
                                  </p:childTnLst>
                                </p:cTn>
                              </p:par>
                              <p:par>
                                <p:cTn id="139" presetID="1" presetClass="entr" presetSubtype="0" fill="hold" grpId="0" nodeType="withEffect">
                                  <p:stCondLst>
                                    <p:cond delay="0"/>
                                  </p:stCondLst>
                                  <p:childTnLst>
                                    <p:set>
                                      <p:cBhvr>
                                        <p:cTn id="140" dur="1" fill="hold">
                                          <p:stCondLst>
                                            <p:cond delay="0"/>
                                          </p:stCondLst>
                                        </p:cTn>
                                        <p:tgtEl>
                                          <p:spTgt spid="75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3" grpId="0" animBg="1"/>
      <p:bldP spid="75800" grpId="0" animBg="1"/>
      <p:bldP spid="75801" grpId="0" animBg="1"/>
      <p:bldP spid="75801" grpId="1" animBg="1"/>
      <p:bldP spid="75801" grpId="2" animBg="1"/>
      <p:bldP spid="75802" grpId="0" animBg="1"/>
      <p:bldP spid="75802" grpId="1" animBg="1"/>
      <p:bldP spid="75802" grpId="2" animBg="1"/>
      <p:bldP spid="75803" grpId="0" animBg="1"/>
      <p:bldP spid="75804" grpId="0" animBg="1"/>
      <p:bldP spid="75805" grpId="0" animBg="1"/>
      <p:bldP spid="75806" grpId="0" animBg="1"/>
      <p:bldP spid="75806" grpId="1" animBg="1"/>
      <p:bldP spid="75806" grpId="2" animBg="1"/>
      <p:bldP spid="75807" grpId="0" animBg="1"/>
      <p:bldP spid="75810" grpId="0" animBg="1"/>
      <p:bldP spid="75810" grpId="1" animBg="1"/>
      <p:bldP spid="75810" grpId="2" animBg="1"/>
      <p:bldP spid="75844" grpId="0"/>
      <p:bldP spid="75846" grpId="0"/>
      <p:bldP spid="75847" grpId="0"/>
      <p:bldP spid="75848" grpId="0"/>
      <p:bldP spid="75849" grpId="0"/>
      <p:bldP spid="75850" grpId="0"/>
      <p:bldP spid="75851" grpId="0"/>
      <p:bldP spid="75852" grpId="0"/>
      <p:bldP spid="75853" grpId="0"/>
      <p:bldP spid="75854" grpId="0"/>
      <p:bldP spid="75857" grpId="0"/>
      <p:bldP spid="75857" grpId="1"/>
      <p:bldP spid="75859" grpId="0"/>
      <p:bldP spid="75859" grpId="1"/>
      <p:bldP spid="75860" grpId="0"/>
      <p:bldP spid="75860" grpId="1"/>
      <p:bldP spid="7586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WSD Using Parallel Corpora</a:t>
            </a:r>
          </a:p>
        </p:txBody>
      </p:sp>
      <p:sp>
        <p:nvSpPr>
          <p:cNvPr id="50179" name="Content Placeholder 2"/>
          <p:cNvSpPr>
            <a:spLocks noGrp="1"/>
          </p:cNvSpPr>
          <p:nvPr>
            <p:ph idx="1"/>
          </p:nvPr>
        </p:nvSpPr>
        <p:spPr/>
        <p:txBody>
          <a:bodyPr/>
          <a:lstStyle/>
          <a:p>
            <a:r>
              <a:rPr lang="en-US" altLang="en-US" sz="2000" dirty="0"/>
              <a:t>A word having multiple senses in one language will have distinct translations in another language, based on the context in which it is used.</a:t>
            </a:r>
          </a:p>
          <a:p>
            <a:r>
              <a:rPr lang="en-US" altLang="en-US" sz="2000" dirty="0"/>
              <a:t>The translations can thus be considered as contextual indicators of the sense of the word.</a:t>
            </a:r>
          </a:p>
          <a:p>
            <a:endParaRPr lang="en-US" altLang="en-US" sz="2000" dirty="0"/>
          </a:p>
        </p:txBody>
      </p:sp>
      <p:sp>
        <p:nvSpPr>
          <p:cNvPr id="4" name="Slide Number Placeholder 3"/>
          <p:cNvSpPr>
            <a:spLocks noGrp="1"/>
          </p:cNvSpPr>
          <p:nvPr>
            <p:ph type="sldNum" sz="quarter" idx="4294967295"/>
          </p:nvPr>
        </p:nvSpPr>
        <p:spPr/>
        <p:txBody>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pPr eaLnBrk="1" hangingPunct="1">
              <a:spcBef>
                <a:spcPct val="0"/>
              </a:spcBef>
              <a:buClrTx/>
              <a:buSzTx/>
              <a:buFontTx/>
              <a:buNone/>
            </a:pPr>
            <a:fld id="{BE9AD45D-4C4F-4E22-88A9-975D34362440}" type="slidenum">
              <a:rPr lang="en-US" altLang="en-US" sz="1400">
                <a:solidFill>
                  <a:srgbClr val="FFFFFF"/>
                </a:solidFill>
              </a:rPr>
              <a:pPr eaLnBrk="1" hangingPunct="1">
                <a:spcBef>
                  <a:spcPct val="0"/>
                </a:spcBef>
                <a:buClrTx/>
                <a:buSzTx/>
                <a:buFontTx/>
                <a:buNone/>
              </a:pPr>
              <a:t>46</a:t>
            </a:fld>
            <a:endParaRPr lang="en-US" altLang="en-US" sz="1400">
              <a:solidFill>
                <a:srgbClr val="FFFFFF"/>
              </a:solidFill>
            </a:endParaRPr>
          </a:p>
        </p:txBody>
      </p:sp>
      <p:sp>
        <p:nvSpPr>
          <p:cNvPr id="50183" name="Rectangle 14"/>
          <p:cNvSpPr>
            <a:spLocks noChangeArrowheads="1"/>
          </p:cNvSpPr>
          <p:nvPr/>
        </p:nvSpPr>
        <p:spPr bwMode="auto">
          <a:xfrm>
            <a:off x="5051135" y="-20005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endParaRPr lang="en-US" altLang="en-US"/>
          </a:p>
        </p:txBody>
      </p:sp>
      <p:sp>
        <p:nvSpPr>
          <p:cNvPr id="50186" name="Rectangle 19"/>
          <p:cNvSpPr>
            <a:spLocks noChangeArrowheads="1"/>
          </p:cNvSpPr>
          <p:nvPr/>
        </p:nvSpPr>
        <p:spPr bwMode="auto">
          <a:xfrm>
            <a:off x="5051135" y="-20005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1pPr>
            <a:lvl2pPr marL="742950" indent="-28575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2pPr>
            <a:lvl3pPr marL="11430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3pPr>
            <a:lvl4pPr marL="16002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4pPr>
            <a:lvl5pPr marL="2057400" indent="-228600" algn="ctr" eaLnBrk="0" hangingPunct="0">
              <a:spcBef>
                <a:spcPts val="600"/>
              </a:spcBef>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5pPr>
            <a:lvl6pPr marL="25146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6pPr>
            <a:lvl7pPr marL="29718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7pPr>
            <a:lvl8pPr marL="34290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8pPr>
            <a:lvl9pPr marL="3886200" indent="-228600" algn="ctr" eaLnBrk="0" fontAlgn="base" hangingPunct="0">
              <a:spcBef>
                <a:spcPts val="600"/>
              </a:spcBef>
              <a:spcAft>
                <a:spcPct val="0"/>
              </a:spcAft>
              <a:buClr>
                <a:schemeClr val="accent1"/>
              </a:buClr>
              <a:buSzPct val="70000"/>
              <a:buFont typeface="Wingdings" panose="05000000000000000000" pitchFamily="2" charset="2"/>
              <a:defRPr sz="2000">
                <a:solidFill>
                  <a:schemeClr val="tx1"/>
                </a:solidFill>
                <a:latin typeface="Century Schoolbook" panose="02040604050505020304" pitchFamily="18" charset="0"/>
              </a:defRPr>
            </a:lvl9pPr>
          </a:lstStyle>
          <a:p>
            <a:endParaRPr lang="en-US" altLang="en-US"/>
          </a:p>
        </p:txBody>
      </p:sp>
    </p:spTree>
    <p:extLst>
      <p:ext uri="{BB962C8B-B14F-4D97-AF65-F5344CB8AC3E}">
        <p14:creationId xmlns:p14="http://schemas.microsoft.com/office/powerpoint/2010/main" val="2140785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350" y="2895600"/>
            <a:ext cx="9258300" cy="761999"/>
          </a:xfrm>
        </p:spPr>
        <p:txBody>
          <a:bodyPr/>
          <a:lstStyle/>
          <a:p>
            <a:pPr marL="0" indent="0" algn="ctr">
              <a:buNone/>
            </a:pPr>
            <a:r>
              <a:rPr lang="en-IN" sz="4400" b="1" dirty="0">
                <a:solidFill>
                  <a:srgbClr val="7030A0"/>
                </a:solidFill>
              </a:rPr>
              <a:t>Parsing</a:t>
            </a:r>
          </a:p>
        </p:txBody>
      </p:sp>
    </p:spTree>
    <p:extLst>
      <p:ext uri="{BB962C8B-B14F-4D97-AF65-F5344CB8AC3E}">
        <p14:creationId xmlns:p14="http://schemas.microsoft.com/office/powerpoint/2010/main" val="19844426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9448800" cy="761999"/>
          </a:xfrm>
        </p:spPr>
        <p:txBody>
          <a:bodyPr/>
          <a:lstStyle/>
          <a:p>
            <a:r>
              <a:rPr lang="en-US" dirty="0"/>
              <a:t>Two views of linguistic structure: </a:t>
            </a:r>
            <a:br>
              <a:rPr lang="en-US" dirty="0"/>
            </a:br>
            <a:r>
              <a:rPr lang="en-US" dirty="0"/>
              <a:t>1. Constituency (phrase structure)</a:t>
            </a:r>
          </a:p>
        </p:txBody>
      </p:sp>
      <p:pic>
        <p:nvPicPr>
          <p:cNvPr id="6" name="Picture 2" descr="https://www.cs.utexas.edu/users/novak/parsetree.gif">
            <a:extLst>
              <a:ext uri="{FF2B5EF4-FFF2-40B4-BE49-F238E27FC236}">
                <a16:creationId xmlns:a16="http://schemas.microsoft.com/office/drawing/2014/main" id="{98930547-C641-4559-8FB4-FD8905753F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2057400"/>
            <a:ext cx="5791200" cy="3911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901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190500" y="152400"/>
            <a:ext cx="8915400" cy="685799"/>
          </a:xfrm>
        </p:spPr>
        <p:txBody>
          <a:bodyPr/>
          <a:lstStyle/>
          <a:p>
            <a:r>
              <a:rPr lang="en-US" dirty="0"/>
              <a:t>Two views of linguistic structure: </a:t>
            </a:r>
            <a:br>
              <a:rPr lang="en-US" dirty="0"/>
            </a:br>
            <a:r>
              <a:rPr lang="en-US" dirty="0"/>
              <a:t>2. Dependency structure</a:t>
            </a:r>
          </a:p>
        </p:txBody>
      </p:sp>
      <p:sp>
        <p:nvSpPr>
          <p:cNvPr id="20482" name="Rectangle 3"/>
          <p:cNvSpPr>
            <a:spLocks noGrp="1" noChangeArrowheads="1"/>
          </p:cNvSpPr>
          <p:nvPr>
            <p:ph idx="1"/>
          </p:nvPr>
        </p:nvSpPr>
        <p:spPr>
          <a:xfrm>
            <a:off x="514350" y="1143000"/>
            <a:ext cx="9258300" cy="4373563"/>
          </a:xfrm>
        </p:spPr>
        <p:txBody>
          <a:bodyPr/>
          <a:lstStyle/>
          <a:p>
            <a:r>
              <a:rPr lang="en-US" dirty="0"/>
              <a:t>Dependency structure shows which words depend on (modify or are arguments of) which other words.</a:t>
            </a:r>
          </a:p>
          <a:p>
            <a:endParaRPr lang="en-US" dirty="0"/>
          </a:p>
          <a:p>
            <a:endParaRPr lang="en-US" dirty="0"/>
          </a:p>
          <a:p>
            <a:endParaRPr lang="en-US" dirty="0"/>
          </a:p>
          <a:p>
            <a:endParaRPr lang="en-US" dirty="0"/>
          </a:p>
          <a:p>
            <a:endParaRPr lang="en-US" dirty="0"/>
          </a:p>
          <a:p>
            <a:pPr marL="0" indent="0">
              <a:buNone/>
            </a:pPr>
            <a:endParaRPr lang="en-US" dirty="0"/>
          </a:p>
          <a:p>
            <a:pPr marL="0" indent="0" algn="ctr">
              <a:buNone/>
            </a:pPr>
            <a:r>
              <a:rPr lang="en-US" sz="3600" i="1" dirty="0"/>
              <a:t>The  boy  put  the  tortoise  on  the  rug</a:t>
            </a:r>
          </a:p>
          <a:p>
            <a:pPr marL="0" indent="0">
              <a:buNone/>
            </a:pPr>
            <a:endParaRPr lang="en-US" dirty="0"/>
          </a:p>
          <a:p>
            <a:r>
              <a:rPr lang="en-US" dirty="0"/>
              <a:t>http://nlp.stanford.edu:8080/corenlp/process</a:t>
            </a:r>
          </a:p>
        </p:txBody>
      </p:sp>
      <p:pic>
        <p:nvPicPr>
          <p:cNvPr id="2" name="Picture 1"/>
          <p:cNvPicPr>
            <a:picLocks noChangeAspect="1"/>
          </p:cNvPicPr>
          <p:nvPr/>
        </p:nvPicPr>
        <p:blipFill>
          <a:blip r:embed="rId3"/>
          <a:stretch>
            <a:fillRect/>
          </a:stretch>
        </p:blipFill>
        <p:spPr>
          <a:xfrm>
            <a:off x="947737" y="2633662"/>
            <a:ext cx="8391525" cy="1590675"/>
          </a:xfrm>
          <a:prstGeom prst="rect">
            <a:avLst/>
          </a:prstGeom>
        </p:spPr>
      </p:pic>
    </p:spTree>
    <p:extLst>
      <p:ext uri="{BB962C8B-B14F-4D97-AF65-F5344CB8AC3E}">
        <p14:creationId xmlns:p14="http://schemas.microsoft.com/office/powerpoint/2010/main" val="14714004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9677400" cy="747891"/>
          </a:xfrm>
        </p:spPr>
        <p:txBody>
          <a:bodyPr/>
          <a:lstStyle/>
          <a:p>
            <a:r>
              <a:rPr lang="en-US" dirty="0"/>
              <a:t>Dependency Grammar and Dependency Structure</a:t>
            </a:r>
          </a:p>
        </p:txBody>
      </p:sp>
      <p:sp>
        <p:nvSpPr>
          <p:cNvPr id="3" name="Content Placeholder 2"/>
          <p:cNvSpPr>
            <a:spLocks noGrp="1"/>
          </p:cNvSpPr>
          <p:nvPr>
            <p:ph idx="1"/>
          </p:nvPr>
        </p:nvSpPr>
        <p:spPr>
          <a:xfrm>
            <a:off x="495300" y="1104585"/>
            <a:ext cx="9258300" cy="932878"/>
          </a:xfrm>
        </p:spPr>
        <p:txBody>
          <a:bodyPr/>
          <a:lstStyle/>
          <a:p>
            <a:pPr marL="0" indent="0">
              <a:buNone/>
            </a:pPr>
            <a:r>
              <a:rPr lang="en-US" sz="2000" dirty="0"/>
              <a:t>Dependency syntax postulates that syntactic structure consists of lexical items linked by binary asymmetric relations (“arrows”) called dependencies</a:t>
            </a:r>
          </a:p>
        </p:txBody>
      </p:sp>
      <p:sp>
        <p:nvSpPr>
          <p:cNvPr id="92" name="Text Placeholder 91"/>
          <p:cNvSpPr>
            <a:spLocks noGrp="1"/>
          </p:cNvSpPr>
          <p:nvPr>
            <p:ph type="body" sz="half" idx="4294967295"/>
          </p:nvPr>
        </p:nvSpPr>
        <p:spPr>
          <a:xfrm>
            <a:off x="570938" y="2382552"/>
            <a:ext cx="2743200" cy="2667000"/>
          </a:xfrm>
        </p:spPr>
        <p:txBody>
          <a:bodyPr/>
          <a:lstStyle/>
          <a:p>
            <a:pPr marL="0" indent="0">
              <a:buNone/>
            </a:pPr>
            <a:r>
              <a:rPr lang="en-US" sz="2000" dirty="0"/>
              <a:t>The arrows are commonly </a:t>
            </a:r>
            <a:r>
              <a:rPr lang="en-US" sz="2000" dirty="0">
                <a:solidFill>
                  <a:srgbClr val="35ACA2"/>
                </a:solidFill>
              </a:rPr>
              <a:t>typed </a:t>
            </a:r>
            <a:r>
              <a:rPr lang="en-US" sz="2000" dirty="0"/>
              <a:t>with the name of grammatical relations (subject, prepositional object, apposition, etc.)</a:t>
            </a:r>
          </a:p>
        </p:txBody>
      </p:sp>
      <p:grpSp>
        <p:nvGrpSpPr>
          <p:cNvPr id="91" name="Group 90"/>
          <p:cNvGrpSpPr/>
          <p:nvPr/>
        </p:nvGrpSpPr>
        <p:grpSpPr>
          <a:xfrm>
            <a:off x="3848100" y="2243791"/>
            <a:ext cx="5463211" cy="3684092"/>
            <a:chOff x="1693904" y="2682996"/>
            <a:chExt cx="5661931" cy="4032131"/>
          </a:xfrm>
        </p:grpSpPr>
        <p:sp>
          <p:nvSpPr>
            <p:cNvPr id="50" name="Line 15"/>
            <p:cNvSpPr>
              <a:spLocks noChangeShapeType="1"/>
            </p:cNvSpPr>
            <p:nvPr/>
          </p:nvSpPr>
          <p:spPr bwMode="auto">
            <a:xfrm>
              <a:off x="3992563" y="3051176"/>
              <a:ext cx="0" cy="6223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51" name="Text Box 16"/>
            <p:cNvSpPr txBox="1">
              <a:spLocks noChangeArrowheads="1"/>
            </p:cNvSpPr>
            <p:nvPr/>
          </p:nvSpPr>
          <p:spPr bwMode="auto">
            <a:xfrm>
              <a:off x="3303010" y="2682996"/>
              <a:ext cx="162675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dirty="0">
                  <a:solidFill>
                    <a:srgbClr val="3333CC"/>
                  </a:solidFill>
                  <a:latin typeface="Courier" charset="0"/>
                </a:rPr>
                <a:t>submitted</a:t>
              </a:r>
              <a:endParaRPr lang="en-US" kern="0" dirty="0">
                <a:solidFill>
                  <a:sysClr val="windowText" lastClr="000000"/>
                </a:solidFill>
                <a:latin typeface="Lucida Sans" charset="0"/>
              </a:endParaRPr>
            </a:p>
          </p:txBody>
        </p:sp>
        <p:sp>
          <p:nvSpPr>
            <p:cNvPr id="52" name="Text Box 17"/>
            <p:cNvSpPr txBox="1">
              <a:spLocks noChangeArrowheads="1"/>
            </p:cNvSpPr>
            <p:nvPr/>
          </p:nvSpPr>
          <p:spPr bwMode="auto">
            <a:xfrm>
              <a:off x="2066232" y="3530721"/>
              <a:ext cx="98881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Bills</a:t>
              </a:r>
              <a:endParaRPr lang="en-US" kern="0">
                <a:solidFill>
                  <a:sysClr val="windowText" lastClr="000000"/>
                </a:solidFill>
                <a:latin typeface="Lucida Sans" charset="0"/>
              </a:endParaRPr>
            </a:p>
          </p:txBody>
        </p:sp>
        <p:sp>
          <p:nvSpPr>
            <p:cNvPr id="53" name="Text Box 18"/>
            <p:cNvSpPr txBox="1">
              <a:spLocks noChangeArrowheads="1"/>
            </p:cNvSpPr>
            <p:nvPr/>
          </p:nvSpPr>
          <p:spPr bwMode="auto">
            <a:xfrm>
              <a:off x="3619174" y="3546596"/>
              <a:ext cx="82932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were</a:t>
              </a:r>
              <a:endParaRPr lang="en-US" kern="0">
                <a:solidFill>
                  <a:sysClr val="windowText" lastClr="000000"/>
                </a:solidFill>
                <a:latin typeface="Lucida Sans" charset="0"/>
              </a:endParaRPr>
            </a:p>
          </p:txBody>
        </p:sp>
        <p:sp>
          <p:nvSpPr>
            <p:cNvPr id="54" name="Text Box 19"/>
            <p:cNvSpPr txBox="1">
              <a:spLocks noChangeArrowheads="1"/>
            </p:cNvSpPr>
            <p:nvPr/>
          </p:nvSpPr>
          <p:spPr bwMode="auto">
            <a:xfrm>
              <a:off x="4865110" y="4273672"/>
              <a:ext cx="162675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Brownback</a:t>
              </a:r>
              <a:endParaRPr lang="en-US" kern="0">
                <a:solidFill>
                  <a:sysClr val="windowText" lastClr="000000"/>
                </a:solidFill>
                <a:latin typeface="Lucida Sans" charset="0"/>
              </a:endParaRPr>
            </a:p>
          </p:txBody>
        </p:sp>
        <p:sp>
          <p:nvSpPr>
            <p:cNvPr id="55" name="Text Box 20"/>
            <p:cNvSpPr txBox="1">
              <a:spLocks noChangeArrowheads="1"/>
            </p:cNvSpPr>
            <p:nvPr/>
          </p:nvSpPr>
          <p:spPr bwMode="auto">
            <a:xfrm>
              <a:off x="4062275" y="4959471"/>
              <a:ext cx="139251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Lucida Sans" charset="0"/>
                </a:rPr>
                <a:t> </a:t>
              </a:r>
              <a:r>
                <a:rPr lang="en-US" sz="2000" kern="0">
                  <a:solidFill>
                    <a:srgbClr val="3333CC"/>
                  </a:solidFill>
                  <a:latin typeface="Courier" charset="0"/>
                </a:rPr>
                <a:t>Senator</a:t>
              </a:r>
              <a:endParaRPr lang="en-US" kern="0">
                <a:solidFill>
                  <a:sysClr val="windowText" lastClr="000000"/>
                </a:solidFill>
                <a:latin typeface="Lucida Sans" charset="0"/>
              </a:endParaRPr>
            </a:p>
          </p:txBody>
        </p:sp>
        <p:sp>
          <p:nvSpPr>
            <p:cNvPr id="56" name="Text Box 21"/>
            <p:cNvSpPr txBox="1">
              <a:spLocks noChangeArrowheads="1"/>
            </p:cNvSpPr>
            <p:nvPr/>
          </p:nvSpPr>
          <p:spPr bwMode="auto">
            <a:xfrm>
              <a:off x="1852569" y="3072108"/>
              <a:ext cx="1352639"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i="1" kern="0">
                  <a:solidFill>
                    <a:sysClr val="windowText" lastClr="000000"/>
                  </a:solidFill>
                  <a:latin typeface="Lucida Sans" charset="0"/>
                </a:rPr>
                <a:t>nsubjpass</a:t>
              </a:r>
              <a:endParaRPr lang="en-US" kern="0">
                <a:solidFill>
                  <a:sysClr val="windowText" lastClr="000000"/>
                </a:solidFill>
                <a:latin typeface="Lucida Sans" charset="0"/>
              </a:endParaRPr>
            </a:p>
          </p:txBody>
        </p:sp>
        <p:sp>
          <p:nvSpPr>
            <p:cNvPr id="57" name="Text Box 22"/>
            <p:cNvSpPr txBox="1">
              <a:spLocks noChangeArrowheads="1"/>
            </p:cNvSpPr>
            <p:nvPr/>
          </p:nvSpPr>
          <p:spPr bwMode="auto">
            <a:xfrm>
              <a:off x="3899610" y="3080046"/>
              <a:ext cx="1139992"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i="1" kern="0">
                  <a:solidFill>
                    <a:sysClr val="windowText" lastClr="000000"/>
                  </a:solidFill>
                  <a:latin typeface="Lucida Sans" charset="0"/>
                </a:rPr>
                <a:t>auxpass</a:t>
              </a:r>
              <a:endParaRPr lang="en-US" kern="0">
                <a:solidFill>
                  <a:sysClr val="windowText" lastClr="000000"/>
                </a:solidFill>
                <a:latin typeface="Lucida Sans" charset="0"/>
              </a:endParaRPr>
            </a:p>
          </p:txBody>
        </p:sp>
        <p:sp>
          <p:nvSpPr>
            <p:cNvPr id="58" name="Text Box 23"/>
            <p:cNvSpPr txBox="1">
              <a:spLocks noChangeArrowheads="1"/>
            </p:cNvSpPr>
            <p:nvPr/>
          </p:nvSpPr>
          <p:spPr bwMode="auto">
            <a:xfrm>
              <a:off x="5247894" y="3030833"/>
              <a:ext cx="724664"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i="1" kern="0">
                  <a:solidFill>
                    <a:sysClr val="windowText" lastClr="000000"/>
                  </a:solidFill>
                  <a:latin typeface="Lucida Sans" charset="0"/>
                </a:rPr>
                <a:t>prep</a:t>
              </a:r>
              <a:endParaRPr lang="en-US" kern="0">
                <a:solidFill>
                  <a:sysClr val="windowText" lastClr="000000"/>
                </a:solidFill>
                <a:latin typeface="Lucida Sans" charset="0"/>
              </a:endParaRPr>
            </a:p>
          </p:txBody>
        </p:sp>
        <p:sp>
          <p:nvSpPr>
            <p:cNvPr id="59" name="Text Box 24"/>
            <p:cNvSpPr txBox="1">
              <a:spLocks noChangeArrowheads="1"/>
            </p:cNvSpPr>
            <p:nvPr/>
          </p:nvSpPr>
          <p:spPr bwMode="auto">
            <a:xfrm>
              <a:off x="4900747" y="4550071"/>
              <a:ext cx="487096"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nn</a:t>
              </a:r>
              <a:endParaRPr lang="en-US" kern="0">
                <a:solidFill>
                  <a:sysClr val="windowText" lastClr="000000"/>
                </a:solidFill>
                <a:latin typeface="Lucida Sans" charset="0"/>
                <a:cs typeface="ＭＳ Ｐゴシック" charset="0"/>
              </a:endParaRPr>
            </a:p>
          </p:txBody>
        </p:sp>
        <p:sp>
          <p:nvSpPr>
            <p:cNvPr id="60" name="Line 29"/>
            <p:cNvSpPr>
              <a:spLocks noChangeShapeType="1"/>
            </p:cNvSpPr>
            <p:nvPr/>
          </p:nvSpPr>
          <p:spPr bwMode="auto">
            <a:xfrm flipH="1">
              <a:off x="2684463" y="3089276"/>
              <a:ext cx="927100" cy="5334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1" name="Line 30"/>
            <p:cNvSpPr>
              <a:spLocks noChangeShapeType="1"/>
            </p:cNvSpPr>
            <p:nvPr/>
          </p:nvSpPr>
          <p:spPr bwMode="auto">
            <a:xfrm>
              <a:off x="4788047" y="3081997"/>
              <a:ext cx="850900" cy="6223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nvGrpSpPr>
            <p:cNvPr id="62" name="Group 39"/>
            <p:cNvGrpSpPr>
              <a:grpSpLocks/>
            </p:cNvGrpSpPr>
            <p:nvPr/>
          </p:nvGrpSpPr>
          <p:grpSpPr bwMode="auto">
            <a:xfrm>
              <a:off x="2544763" y="5183191"/>
              <a:ext cx="2011363" cy="795338"/>
              <a:chOff x="969" y="2702"/>
              <a:chExt cx="1267" cy="501"/>
            </a:xfrm>
          </p:grpSpPr>
          <p:sp>
            <p:nvSpPr>
              <p:cNvPr id="88" name="Text Box 27"/>
              <p:cNvSpPr txBox="1">
                <a:spLocks noChangeArrowheads="1"/>
              </p:cNvSpPr>
              <p:nvPr/>
            </p:nvSpPr>
            <p:spPr bwMode="auto">
              <a:xfrm>
                <a:off x="1010" y="2927"/>
                <a:ext cx="1226"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immigration</a:t>
                </a:r>
                <a:endParaRPr lang="en-US" kern="0">
                  <a:solidFill>
                    <a:sysClr val="windowText" lastClr="000000"/>
                  </a:solidFill>
                  <a:latin typeface="Lucida Sans" charset="0"/>
                </a:endParaRPr>
              </a:p>
            </p:txBody>
          </p:sp>
          <p:sp>
            <p:nvSpPr>
              <p:cNvPr id="89" name="Text Box 28"/>
              <p:cNvSpPr txBox="1">
                <a:spLocks noChangeArrowheads="1"/>
              </p:cNvSpPr>
              <p:nvPr/>
            </p:nvSpPr>
            <p:spPr bwMode="auto">
              <a:xfrm>
                <a:off x="1065" y="2702"/>
                <a:ext cx="424"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conj</a:t>
                </a:r>
                <a:endParaRPr lang="en-US" kern="0">
                  <a:solidFill>
                    <a:sysClr val="windowText" lastClr="000000"/>
                  </a:solidFill>
                  <a:latin typeface="Lucida Sans" charset="0"/>
                  <a:cs typeface="ＭＳ Ｐゴシック" charset="0"/>
                </a:endParaRPr>
              </a:p>
            </p:txBody>
          </p:sp>
          <p:sp>
            <p:nvSpPr>
              <p:cNvPr id="90" name="Line 33"/>
              <p:cNvSpPr>
                <a:spLocks noChangeShapeType="1"/>
              </p:cNvSpPr>
              <p:nvPr/>
            </p:nvSpPr>
            <p:spPr bwMode="auto">
              <a:xfrm>
                <a:off x="969" y="2759"/>
                <a:ext cx="256" cy="24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63" name="Text Box 26"/>
            <p:cNvSpPr txBox="1">
              <a:spLocks noChangeArrowheads="1"/>
            </p:cNvSpPr>
            <p:nvPr/>
          </p:nvSpPr>
          <p:spPr bwMode="auto">
            <a:xfrm>
              <a:off x="5304248" y="3533896"/>
              <a:ext cx="51035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by</a:t>
              </a:r>
              <a:endParaRPr lang="en-US" kern="0">
                <a:solidFill>
                  <a:sysClr val="windowText" lastClr="000000"/>
                </a:solidFill>
                <a:latin typeface="Lucida Sans" charset="0"/>
              </a:endParaRPr>
            </a:p>
          </p:txBody>
        </p:sp>
        <p:sp>
          <p:nvSpPr>
            <p:cNvPr id="64" name="Line 36"/>
            <p:cNvSpPr>
              <a:spLocks noChangeShapeType="1"/>
            </p:cNvSpPr>
            <p:nvPr/>
          </p:nvSpPr>
          <p:spPr bwMode="auto">
            <a:xfrm>
              <a:off x="5618163" y="3965576"/>
              <a:ext cx="0" cy="3937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5" name="Text Box 37"/>
            <p:cNvSpPr txBox="1">
              <a:spLocks noChangeArrowheads="1"/>
            </p:cNvSpPr>
            <p:nvPr/>
          </p:nvSpPr>
          <p:spPr bwMode="auto">
            <a:xfrm>
              <a:off x="1880988" y="5145383"/>
              <a:ext cx="430611"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cc</a:t>
              </a:r>
              <a:endParaRPr lang="en-US" kern="0">
                <a:solidFill>
                  <a:sysClr val="windowText" lastClr="000000"/>
                </a:solidFill>
                <a:latin typeface="Lucida Sans" charset="0"/>
                <a:cs typeface="ＭＳ Ｐゴシック" charset="0"/>
              </a:endParaRPr>
            </a:p>
          </p:txBody>
        </p:sp>
        <p:sp>
          <p:nvSpPr>
            <p:cNvPr id="66" name="Line 38"/>
            <p:cNvSpPr>
              <a:spLocks noChangeShapeType="1"/>
            </p:cNvSpPr>
            <p:nvPr/>
          </p:nvSpPr>
          <p:spPr bwMode="auto">
            <a:xfrm flipH="1">
              <a:off x="2074863" y="5286376"/>
              <a:ext cx="406400" cy="3841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7" name="Text Box 40"/>
            <p:cNvSpPr txBox="1">
              <a:spLocks noChangeArrowheads="1"/>
            </p:cNvSpPr>
            <p:nvPr/>
          </p:nvSpPr>
          <p:spPr bwMode="auto">
            <a:xfrm>
              <a:off x="1693904" y="5540496"/>
              <a:ext cx="66984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and</a:t>
              </a:r>
              <a:endParaRPr lang="en-US" kern="0">
                <a:solidFill>
                  <a:sysClr val="windowText" lastClr="000000"/>
                </a:solidFill>
                <a:latin typeface="Lucida Sans" charset="0"/>
              </a:endParaRPr>
            </a:p>
          </p:txBody>
        </p:sp>
        <p:sp>
          <p:nvSpPr>
            <p:cNvPr id="68" name="Line 41"/>
            <p:cNvSpPr>
              <a:spLocks noChangeShapeType="1"/>
            </p:cNvSpPr>
            <p:nvPr/>
          </p:nvSpPr>
          <p:spPr bwMode="auto">
            <a:xfrm flipH="1">
              <a:off x="5135563" y="4676776"/>
              <a:ext cx="406400" cy="3841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9" name="Line 43"/>
            <p:cNvSpPr>
              <a:spLocks noChangeShapeType="1"/>
            </p:cNvSpPr>
            <p:nvPr/>
          </p:nvSpPr>
          <p:spPr bwMode="auto">
            <a:xfrm>
              <a:off x="5630863" y="4676776"/>
              <a:ext cx="406400" cy="3841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nvGrpSpPr>
            <p:cNvPr id="70" name="Group 51"/>
            <p:cNvGrpSpPr>
              <a:grpSpLocks/>
            </p:cNvGrpSpPr>
            <p:nvPr/>
          </p:nvGrpSpPr>
          <p:grpSpPr bwMode="auto">
            <a:xfrm>
              <a:off x="1833563" y="3849689"/>
              <a:ext cx="1260475" cy="1455738"/>
              <a:chOff x="417" y="1862"/>
              <a:chExt cx="794" cy="917"/>
            </a:xfrm>
          </p:grpSpPr>
          <p:sp>
            <p:nvSpPr>
              <p:cNvPr id="82" name="Text Box 34"/>
              <p:cNvSpPr txBox="1">
                <a:spLocks noChangeArrowheads="1"/>
              </p:cNvSpPr>
              <p:nvPr/>
            </p:nvSpPr>
            <p:spPr bwMode="auto">
              <a:xfrm>
                <a:off x="588" y="2503"/>
                <a:ext cx="623"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ports</a:t>
                </a:r>
                <a:endParaRPr lang="en-US" kern="0">
                  <a:solidFill>
                    <a:sysClr val="windowText" lastClr="000000"/>
                  </a:solidFill>
                  <a:latin typeface="Lucida Sans" charset="0"/>
                </a:endParaRPr>
              </a:p>
            </p:txBody>
          </p:sp>
          <p:sp>
            <p:nvSpPr>
              <p:cNvPr id="83" name="Text Box 25"/>
              <p:cNvSpPr txBox="1">
                <a:spLocks noChangeArrowheads="1"/>
              </p:cNvSpPr>
              <p:nvPr/>
            </p:nvSpPr>
            <p:spPr bwMode="auto">
              <a:xfrm>
                <a:off x="433" y="2262"/>
                <a:ext cx="440"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pobj</a:t>
                </a:r>
                <a:endParaRPr lang="en-US" kern="0">
                  <a:solidFill>
                    <a:sysClr val="windowText" lastClr="000000"/>
                  </a:solidFill>
                  <a:latin typeface="Lucida Sans" charset="0"/>
                  <a:cs typeface="ＭＳ Ｐゴシック" charset="0"/>
                </a:endParaRPr>
              </a:p>
            </p:txBody>
          </p:sp>
          <p:sp>
            <p:nvSpPr>
              <p:cNvPr id="84" name="Text Box 45"/>
              <p:cNvSpPr txBox="1">
                <a:spLocks noChangeArrowheads="1"/>
              </p:cNvSpPr>
              <p:nvPr/>
            </p:nvSpPr>
            <p:spPr bwMode="auto">
              <a:xfrm>
                <a:off x="417" y="1862"/>
                <a:ext cx="456"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prep</a:t>
                </a:r>
                <a:endParaRPr lang="en-US" kern="0">
                  <a:solidFill>
                    <a:sysClr val="windowText" lastClr="000000"/>
                  </a:solidFill>
                  <a:latin typeface="Lucida Sans" charset="0"/>
                  <a:cs typeface="ＭＳ Ｐゴシック" charset="0"/>
                </a:endParaRPr>
              </a:p>
            </p:txBody>
          </p:sp>
          <p:sp>
            <p:nvSpPr>
              <p:cNvPr id="85" name="Text Box 46"/>
              <p:cNvSpPr txBox="1">
                <a:spLocks noChangeArrowheads="1"/>
              </p:cNvSpPr>
              <p:nvPr/>
            </p:nvSpPr>
            <p:spPr bwMode="auto">
              <a:xfrm>
                <a:off x="691" y="2079"/>
                <a:ext cx="321"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dirty="0">
                    <a:solidFill>
                      <a:srgbClr val="3333CC"/>
                    </a:solidFill>
                    <a:latin typeface="Courier" charset="0"/>
                  </a:rPr>
                  <a:t>on</a:t>
                </a:r>
                <a:endParaRPr lang="en-US" kern="0" dirty="0">
                  <a:solidFill>
                    <a:sysClr val="windowText" lastClr="000000"/>
                  </a:solidFill>
                  <a:latin typeface="Lucida Sans" charset="0"/>
                </a:endParaRPr>
              </a:p>
            </p:txBody>
          </p:sp>
          <p:sp>
            <p:nvSpPr>
              <p:cNvPr id="86" name="Line 47"/>
              <p:cNvSpPr>
                <a:spLocks noChangeShapeType="1"/>
              </p:cNvSpPr>
              <p:nvPr/>
            </p:nvSpPr>
            <p:spPr bwMode="auto">
              <a:xfrm>
                <a:off x="865" y="19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87" name="Line 48"/>
              <p:cNvSpPr>
                <a:spLocks noChangeShapeType="1"/>
              </p:cNvSpPr>
              <p:nvPr/>
            </p:nvSpPr>
            <p:spPr bwMode="auto">
              <a:xfrm>
                <a:off x="865" y="23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71" name="Text Box 49"/>
            <p:cNvSpPr txBox="1">
              <a:spLocks noChangeArrowheads="1"/>
            </p:cNvSpPr>
            <p:nvPr/>
          </p:nvSpPr>
          <p:spPr bwMode="auto">
            <a:xfrm>
              <a:off x="5554872" y="3862684"/>
              <a:ext cx="698083"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pobj</a:t>
              </a:r>
              <a:endParaRPr lang="en-US" kern="0">
                <a:solidFill>
                  <a:sysClr val="windowText" lastClr="000000"/>
                </a:solidFill>
                <a:latin typeface="Lucida Sans" charset="0"/>
                <a:cs typeface="ＭＳ Ｐゴシック" charset="0"/>
              </a:endParaRPr>
            </a:p>
          </p:txBody>
        </p:sp>
        <p:sp>
          <p:nvSpPr>
            <p:cNvPr id="73" name="Text Box 50"/>
            <p:cNvSpPr txBox="1">
              <a:spLocks noChangeArrowheads="1"/>
            </p:cNvSpPr>
            <p:nvPr/>
          </p:nvSpPr>
          <p:spPr bwMode="auto">
            <a:xfrm>
              <a:off x="5569593" y="4976934"/>
              <a:ext cx="178624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Republican</a:t>
              </a:r>
              <a:endParaRPr lang="en-US" kern="0">
                <a:solidFill>
                  <a:sysClr val="windowText" lastClr="000000"/>
                </a:solidFill>
                <a:latin typeface="Lucida Sans" charset="0"/>
              </a:endParaRPr>
            </a:p>
          </p:txBody>
        </p:sp>
        <p:grpSp>
          <p:nvGrpSpPr>
            <p:cNvPr id="74" name="Group 52"/>
            <p:cNvGrpSpPr>
              <a:grpSpLocks/>
            </p:cNvGrpSpPr>
            <p:nvPr/>
          </p:nvGrpSpPr>
          <p:grpSpPr bwMode="auto">
            <a:xfrm>
              <a:off x="5603237" y="5259389"/>
              <a:ext cx="1357319" cy="1455738"/>
              <a:chOff x="425" y="1862"/>
              <a:chExt cx="822" cy="917"/>
            </a:xfrm>
          </p:grpSpPr>
          <p:sp>
            <p:nvSpPr>
              <p:cNvPr id="76" name="Text Box 53"/>
              <p:cNvSpPr txBox="1">
                <a:spLocks noChangeArrowheads="1"/>
              </p:cNvSpPr>
              <p:nvPr/>
            </p:nvSpPr>
            <p:spPr bwMode="auto">
              <a:xfrm>
                <a:off x="552" y="2503"/>
                <a:ext cx="695"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Kansas</a:t>
                </a:r>
                <a:endParaRPr lang="en-US" kern="0">
                  <a:solidFill>
                    <a:sysClr val="windowText" lastClr="000000"/>
                  </a:solidFill>
                  <a:latin typeface="Lucida Sans" charset="0"/>
                </a:endParaRPr>
              </a:p>
            </p:txBody>
          </p:sp>
          <p:sp>
            <p:nvSpPr>
              <p:cNvPr id="77" name="Text Box 54"/>
              <p:cNvSpPr txBox="1">
                <a:spLocks noChangeArrowheads="1"/>
              </p:cNvSpPr>
              <p:nvPr/>
            </p:nvSpPr>
            <p:spPr bwMode="auto">
              <a:xfrm>
                <a:off x="442" y="2262"/>
                <a:ext cx="423"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pobj</a:t>
                </a:r>
                <a:endParaRPr lang="en-US" kern="0">
                  <a:solidFill>
                    <a:sysClr val="windowText" lastClr="000000"/>
                  </a:solidFill>
                  <a:latin typeface="Lucida Sans" charset="0"/>
                  <a:cs typeface="ＭＳ Ｐゴシック" charset="0"/>
                </a:endParaRPr>
              </a:p>
            </p:txBody>
          </p:sp>
          <p:sp>
            <p:nvSpPr>
              <p:cNvPr id="78" name="Text Box 55"/>
              <p:cNvSpPr txBox="1">
                <a:spLocks noChangeArrowheads="1"/>
              </p:cNvSpPr>
              <p:nvPr/>
            </p:nvSpPr>
            <p:spPr bwMode="auto">
              <a:xfrm>
                <a:off x="425" y="1862"/>
                <a:ext cx="439"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dirty="0">
                    <a:solidFill>
                      <a:sysClr val="windowText" lastClr="000000"/>
                    </a:solidFill>
                    <a:latin typeface="Lucida Sans" charset="0"/>
                    <a:cs typeface="ＭＳ Ｐゴシック" charset="0"/>
                  </a:rPr>
                  <a:t>prep</a:t>
                </a:r>
                <a:endParaRPr lang="en-US" kern="0" dirty="0">
                  <a:solidFill>
                    <a:sysClr val="windowText" lastClr="000000"/>
                  </a:solidFill>
                  <a:latin typeface="Lucida Sans" charset="0"/>
                  <a:cs typeface="ＭＳ Ｐゴシック" charset="0"/>
                </a:endParaRPr>
              </a:p>
            </p:txBody>
          </p:sp>
          <p:sp>
            <p:nvSpPr>
              <p:cNvPr id="79" name="Text Box 56"/>
              <p:cNvSpPr txBox="1">
                <a:spLocks noChangeArrowheads="1"/>
              </p:cNvSpPr>
              <p:nvPr/>
            </p:nvSpPr>
            <p:spPr bwMode="auto">
              <a:xfrm>
                <a:off x="696" y="2079"/>
                <a:ext cx="309"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of</a:t>
                </a:r>
                <a:endParaRPr lang="en-US" kern="0">
                  <a:solidFill>
                    <a:sysClr val="windowText" lastClr="000000"/>
                  </a:solidFill>
                  <a:latin typeface="Lucida Sans" charset="0"/>
                </a:endParaRPr>
              </a:p>
            </p:txBody>
          </p:sp>
          <p:sp>
            <p:nvSpPr>
              <p:cNvPr id="80" name="Line 57"/>
              <p:cNvSpPr>
                <a:spLocks noChangeShapeType="1"/>
              </p:cNvSpPr>
              <p:nvPr/>
            </p:nvSpPr>
            <p:spPr bwMode="auto">
              <a:xfrm>
                <a:off x="865" y="19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81" name="Line 58"/>
              <p:cNvSpPr>
                <a:spLocks noChangeShapeType="1"/>
              </p:cNvSpPr>
              <p:nvPr/>
            </p:nvSpPr>
            <p:spPr bwMode="auto">
              <a:xfrm>
                <a:off x="865" y="23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75" name="Text Box 59"/>
            <p:cNvSpPr txBox="1">
              <a:spLocks noChangeArrowheads="1"/>
            </p:cNvSpPr>
            <p:nvPr/>
          </p:nvSpPr>
          <p:spPr bwMode="auto">
            <a:xfrm>
              <a:off x="5730163" y="4535783"/>
              <a:ext cx="882489"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appos</a:t>
              </a:r>
              <a:endParaRPr lang="en-US" kern="0">
                <a:solidFill>
                  <a:sysClr val="windowText" lastClr="000000"/>
                </a:solidFill>
                <a:latin typeface="Lucida Sans" charset="0"/>
                <a:cs typeface="ＭＳ Ｐゴシック" charset="0"/>
              </a:endParaRPr>
            </a:p>
          </p:txBody>
        </p:sp>
      </p:grpSp>
    </p:spTree>
    <p:extLst>
      <p:ext uri="{BB962C8B-B14F-4D97-AF65-F5344CB8AC3E}">
        <p14:creationId xmlns:p14="http://schemas.microsoft.com/office/powerpoint/2010/main" val="49880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1"/>
            <a:ext cx="9677400" cy="678578"/>
          </a:xfrm>
        </p:spPr>
        <p:txBody>
          <a:bodyPr/>
          <a:lstStyle/>
          <a:p>
            <a:r>
              <a:rPr lang="en-US" dirty="0"/>
              <a:t>Dependency Grammar and Dependency Structure</a:t>
            </a:r>
          </a:p>
        </p:txBody>
      </p:sp>
      <p:sp>
        <p:nvSpPr>
          <p:cNvPr id="3" name="Content Placeholder 2"/>
          <p:cNvSpPr>
            <a:spLocks noGrp="1"/>
          </p:cNvSpPr>
          <p:nvPr>
            <p:ph idx="1"/>
          </p:nvPr>
        </p:nvSpPr>
        <p:spPr>
          <a:xfrm>
            <a:off x="570737" y="1083520"/>
            <a:ext cx="9258300" cy="1120294"/>
          </a:xfrm>
        </p:spPr>
        <p:txBody>
          <a:bodyPr/>
          <a:lstStyle/>
          <a:p>
            <a:pPr marL="0" indent="0">
              <a:buNone/>
            </a:pPr>
            <a:r>
              <a:rPr lang="en-US" sz="2000" dirty="0"/>
              <a:t>Dependency syntax postulates that syntactic structure consists of lexical items linked by binary asymmetric relations (“arrows”) called dependencies</a:t>
            </a:r>
          </a:p>
        </p:txBody>
      </p:sp>
      <p:sp>
        <p:nvSpPr>
          <p:cNvPr id="92" name="Text Placeholder 91"/>
          <p:cNvSpPr>
            <a:spLocks noGrp="1"/>
          </p:cNvSpPr>
          <p:nvPr>
            <p:ph type="body" sz="half" idx="4294967295"/>
          </p:nvPr>
        </p:nvSpPr>
        <p:spPr>
          <a:xfrm>
            <a:off x="610462" y="2019027"/>
            <a:ext cx="2743200" cy="3048000"/>
          </a:xfrm>
        </p:spPr>
        <p:txBody>
          <a:bodyPr/>
          <a:lstStyle/>
          <a:p>
            <a:pPr marL="0" indent="0">
              <a:buNone/>
            </a:pPr>
            <a:r>
              <a:rPr lang="en-US" sz="2000" dirty="0"/>
              <a:t>The arrow connects a </a:t>
            </a:r>
            <a:r>
              <a:rPr lang="en-US" sz="2000" dirty="0">
                <a:solidFill>
                  <a:schemeClr val="accent5"/>
                </a:solidFill>
              </a:rPr>
              <a:t>head</a:t>
            </a:r>
            <a:r>
              <a:rPr lang="en-US" sz="2000" dirty="0"/>
              <a:t> (governor, superior, regent) with a </a:t>
            </a:r>
            <a:r>
              <a:rPr lang="en-US" sz="2000" dirty="0">
                <a:solidFill>
                  <a:srgbClr val="35ACA2"/>
                </a:solidFill>
              </a:rPr>
              <a:t>dependent</a:t>
            </a:r>
            <a:r>
              <a:rPr lang="en-US" sz="2000" dirty="0"/>
              <a:t> (modifier, inferior, subordinate)</a:t>
            </a:r>
          </a:p>
          <a:p>
            <a:pPr marL="0" indent="0">
              <a:buNone/>
            </a:pPr>
            <a:endParaRPr lang="en-US" sz="2000" dirty="0"/>
          </a:p>
          <a:p>
            <a:pPr marL="0" indent="0">
              <a:buNone/>
            </a:pPr>
            <a:r>
              <a:rPr lang="en-US" sz="2000" dirty="0"/>
              <a:t>Usually, dependencies form a tree (connected, acyclic, single-head)</a:t>
            </a:r>
          </a:p>
        </p:txBody>
      </p:sp>
      <p:grpSp>
        <p:nvGrpSpPr>
          <p:cNvPr id="91" name="Group 90"/>
          <p:cNvGrpSpPr/>
          <p:nvPr/>
        </p:nvGrpSpPr>
        <p:grpSpPr>
          <a:xfrm>
            <a:off x="4000500" y="2362200"/>
            <a:ext cx="5463211" cy="3684092"/>
            <a:chOff x="1693904" y="2682996"/>
            <a:chExt cx="5661931" cy="4032131"/>
          </a:xfrm>
        </p:grpSpPr>
        <p:sp>
          <p:nvSpPr>
            <p:cNvPr id="50" name="Line 15"/>
            <p:cNvSpPr>
              <a:spLocks noChangeShapeType="1"/>
            </p:cNvSpPr>
            <p:nvPr/>
          </p:nvSpPr>
          <p:spPr bwMode="auto">
            <a:xfrm>
              <a:off x="3992563" y="3051176"/>
              <a:ext cx="0" cy="6223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51" name="Text Box 16"/>
            <p:cNvSpPr txBox="1">
              <a:spLocks noChangeArrowheads="1"/>
            </p:cNvSpPr>
            <p:nvPr/>
          </p:nvSpPr>
          <p:spPr bwMode="auto">
            <a:xfrm>
              <a:off x="3303010" y="2682996"/>
              <a:ext cx="162675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submitted</a:t>
              </a:r>
              <a:endParaRPr lang="en-US" kern="0">
                <a:solidFill>
                  <a:sysClr val="windowText" lastClr="000000"/>
                </a:solidFill>
                <a:latin typeface="Lucida Sans" charset="0"/>
              </a:endParaRPr>
            </a:p>
          </p:txBody>
        </p:sp>
        <p:sp>
          <p:nvSpPr>
            <p:cNvPr id="52" name="Text Box 17"/>
            <p:cNvSpPr txBox="1">
              <a:spLocks noChangeArrowheads="1"/>
            </p:cNvSpPr>
            <p:nvPr/>
          </p:nvSpPr>
          <p:spPr bwMode="auto">
            <a:xfrm>
              <a:off x="2066232" y="3530721"/>
              <a:ext cx="98881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Bills</a:t>
              </a:r>
              <a:endParaRPr lang="en-US" kern="0">
                <a:solidFill>
                  <a:sysClr val="windowText" lastClr="000000"/>
                </a:solidFill>
                <a:latin typeface="Lucida Sans" charset="0"/>
              </a:endParaRPr>
            </a:p>
          </p:txBody>
        </p:sp>
        <p:sp>
          <p:nvSpPr>
            <p:cNvPr id="53" name="Text Box 18"/>
            <p:cNvSpPr txBox="1">
              <a:spLocks noChangeArrowheads="1"/>
            </p:cNvSpPr>
            <p:nvPr/>
          </p:nvSpPr>
          <p:spPr bwMode="auto">
            <a:xfrm>
              <a:off x="3619174" y="3546596"/>
              <a:ext cx="82932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were</a:t>
              </a:r>
              <a:endParaRPr lang="en-US" kern="0">
                <a:solidFill>
                  <a:sysClr val="windowText" lastClr="000000"/>
                </a:solidFill>
                <a:latin typeface="Lucida Sans" charset="0"/>
              </a:endParaRPr>
            </a:p>
          </p:txBody>
        </p:sp>
        <p:sp>
          <p:nvSpPr>
            <p:cNvPr id="54" name="Text Box 19"/>
            <p:cNvSpPr txBox="1">
              <a:spLocks noChangeArrowheads="1"/>
            </p:cNvSpPr>
            <p:nvPr/>
          </p:nvSpPr>
          <p:spPr bwMode="auto">
            <a:xfrm>
              <a:off x="4865110" y="4273672"/>
              <a:ext cx="162675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Brownback</a:t>
              </a:r>
              <a:endParaRPr lang="en-US" kern="0">
                <a:solidFill>
                  <a:sysClr val="windowText" lastClr="000000"/>
                </a:solidFill>
                <a:latin typeface="Lucida Sans" charset="0"/>
              </a:endParaRPr>
            </a:p>
          </p:txBody>
        </p:sp>
        <p:sp>
          <p:nvSpPr>
            <p:cNvPr id="55" name="Text Box 20"/>
            <p:cNvSpPr txBox="1">
              <a:spLocks noChangeArrowheads="1"/>
            </p:cNvSpPr>
            <p:nvPr/>
          </p:nvSpPr>
          <p:spPr bwMode="auto">
            <a:xfrm>
              <a:off x="4062275" y="4959471"/>
              <a:ext cx="139251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Lucida Sans" charset="0"/>
                </a:rPr>
                <a:t> </a:t>
              </a:r>
              <a:r>
                <a:rPr lang="en-US" sz="2000" kern="0">
                  <a:solidFill>
                    <a:srgbClr val="3333CC"/>
                  </a:solidFill>
                  <a:latin typeface="Courier" charset="0"/>
                </a:rPr>
                <a:t>Senator</a:t>
              </a:r>
              <a:endParaRPr lang="en-US" kern="0">
                <a:solidFill>
                  <a:sysClr val="windowText" lastClr="000000"/>
                </a:solidFill>
                <a:latin typeface="Lucida Sans" charset="0"/>
              </a:endParaRPr>
            </a:p>
          </p:txBody>
        </p:sp>
        <p:sp>
          <p:nvSpPr>
            <p:cNvPr id="56" name="Text Box 21"/>
            <p:cNvSpPr txBox="1">
              <a:spLocks noChangeArrowheads="1"/>
            </p:cNvSpPr>
            <p:nvPr/>
          </p:nvSpPr>
          <p:spPr bwMode="auto">
            <a:xfrm>
              <a:off x="1852569" y="3072108"/>
              <a:ext cx="1352639"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i="1" kern="0" dirty="0" err="1">
                  <a:solidFill>
                    <a:sysClr val="windowText" lastClr="000000"/>
                  </a:solidFill>
                  <a:latin typeface="Lucida Sans" charset="0"/>
                </a:rPr>
                <a:t>nsubjpass</a:t>
              </a:r>
              <a:endParaRPr lang="en-US" kern="0" dirty="0">
                <a:solidFill>
                  <a:sysClr val="windowText" lastClr="000000"/>
                </a:solidFill>
                <a:latin typeface="Lucida Sans" charset="0"/>
              </a:endParaRPr>
            </a:p>
          </p:txBody>
        </p:sp>
        <p:sp>
          <p:nvSpPr>
            <p:cNvPr id="57" name="Text Box 22"/>
            <p:cNvSpPr txBox="1">
              <a:spLocks noChangeArrowheads="1"/>
            </p:cNvSpPr>
            <p:nvPr/>
          </p:nvSpPr>
          <p:spPr bwMode="auto">
            <a:xfrm>
              <a:off x="3899610" y="3080046"/>
              <a:ext cx="1139992"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i="1" kern="0">
                  <a:solidFill>
                    <a:sysClr val="windowText" lastClr="000000"/>
                  </a:solidFill>
                  <a:latin typeface="Lucida Sans" charset="0"/>
                </a:rPr>
                <a:t>auxpass</a:t>
              </a:r>
              <a:endParaRPr lang="en-US" kern="0">
                <a:solidFill>
                  <a:sysClr val="windowText" lastClr="000000"/>
                </a:solidFill>
                <a:latin typeface="Lucida Sans" charset="0"/>
              </a:endParaRPr>
            </a:p>
          </p:txBody>
        </p:sp>
        <p:sp>
          <p:nvSpPr>
            <p:cNvPr id="58" name="Text Box 23"/>
            <p:cNvSpPr txBox="1">
              <a:spLocks noChangeArrowheads="1"/>
            </p:cNvSpPr>
            <p:nvPr/>
          </p:nvSpPr>
          <p:spPr bwMode="auto">
            <a:xfrm>
              <a:off x="5247894" y="3030833"/>
              <a:ext cx="724664"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i="1" kern="0">
                  <a:solidFill>
                    <a:sysClr val="windowText" lastClr="000000"/>
                  </a:solidFill>
                  <a:latin typeface="Lucida Sans" charset="0"/>
                </a:rPr>
                <a:t>prep</a:t>
              </a:r>
              <a:endParaRPr lang="en-US" kern="0">
                <a:solidFill>
                  <a:sysClr val="windowText" lastClr="000000"/>
                </a:solidFill>
                <a:latin typeface="Lucida Sans" charset="0"/>
              </a:endParaRPr>
            </a:p>
          </p:txBody>
        </p:sp>
        <p:sp>
          <p:nvSpPr>
            <p:cNvPr id="59" name="Text Box 24"/>
            <p:cNvSpPr txBox="1">
              <a:spLocks noChangeArrowheads="1"/>
            </p:cNvSpPr>
            <p:nvPr/>
          </p:nvSpPr>
          <p:spPr bwMode="auto">
            <a:xfrm>
              <a:off x="4900747" y="4550071"/>
              <a:ext cx="487096"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nn</a:t>
              </a:r>
              <a:endParaRPr lang="en-US" kern="0">
                <a:solidFill>
                  <a:sysClr val="windowText" lastClr="000000"/>
                </a:solidFill>
                <a:latin typeface="Lucida Sans" charset="0"/>
                <a:cs typeface="ＭＳ Ｐゴシック" charset="0"/>
              </a:endParaRPr>
            </a:p>
          </p:txBody>
        </p:sp>
        <p:sp>
          <p:nvSpPr>
            <p:cNvPr id="60" name="Line 29"/>
            <p:cNvSpPr>
              <a:spLocks noChangeShapeType="1"/>
            </p:cNvSpPr>
            <p:nvPr/>
          </p:nvSpPr>
          <p:spPr bwMode="auto">
            <a:xfrm flipH="1">
              <a:off x="2684463" y="3089276"/>
              <a:ext cx="927100" cy="5334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1" name="Line 30"/>
            <p:cNvSpPr>
              <a:spLocks noChangeShapeType="1"/>
            </p:cNvSpPr>
            <p:nvPr/>
          </p:nvSpPr>
          <p:spPr bwMode="auto">
            <a:xfrm>
              <a:off x="4788047" y="3081997"/>
              <a:ext cx="850900" cy="6223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nvGrpSpPr>
            <p:cNvPr id="62" name="Group 39"/>
            <p:cNvGrpSpPr>
              <a:grpSpLocks/>
            </p:cNvGrpSpPr>
            <p:nvPr/>
          </p:nvGrpSpPr>
          <p:grpSpPr bwMode="auto">
            <a:xfrm>
              <a:off x="2544763" y="5183191"/>
              <a:ext cx="2011363" cy="795338"/>
              <a:chOff x="969" y="2702"/>
              <a:chExt cx="1267" cy="501"/>
            </a:xfrm>
          </p:grpSpPr>
          <p:sp>
            <p:nvSpPr>
              <p:cNvPr id="88" name="Text Box 27"/>
              <p:cNvSpPr txBox="1">
                <a:spLocks noChangeArrowheads="1"/>
              </p:cNvSpPr>
              <p:nvPr/>
            </p:nvSpPr>
            <p:spPr bwMode="auto">
              <a:xfrm>
                <a:off x="1010" y="2927"/>
                <a:ext cx="1226"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immigration</a:t>
                </a:r>
                <a:endParaRPr lang="en-US" kern="0">
                  <a:solidFill>
                    <a:sysClr val="windowText" lastClr="000000"/>
                  </a:solidFill>
                  <a:latin typeface="Lucida Sans" charset="0"/>
                </a:endParaRPr>
              </a:p>
            </p:txBody>
          </p:sp>
          <p:sp>
            <p:nvSpPr>
              <p:cNvPr id="89" name="Text Box 28"/>
              <p:cNvSpPr txBox="1">
                <a:spLocks noChangeArrowheads="1"/>
              </p:cNvSpPr>
              <p:nvPr/>
            </p:nvSpPr>
            <p:spPr bwMode="auto">
              <a:xfrm>
                <a:off x="1065" y="2702"/>
                <a:ext cx="424"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conj</a:t>
                </a:r>
                <a:endParaRPr lang="en-US" kern="0">
                  <a:solidFill>
                    <a:sysClr val="windowText" lastClr="000000"/>
                  </a:solidFill>
                  <a:latin typeface="Lucida Sans" charset="0"/>
                  <a:cs typeface="ＭＳ Ｐゴシック" charset="0"/>
                </a:endParaRPr>
              </a:p>
            </p:txBody>
          </p:sp>
          <p:sp>
            <p:nvSpPr>
              <p:cNvPr id="90" name="Line 33"/>
              <p:cNvSpPr>
                <a:spLocks noChangeShapeType="1"/>
              </p:cNvSpPr>
              <p:nvPr/>
            </p:nvSpPr>
            <p:spPr bwMode="auto">
              <a:xfrm>
                <a:off x="969" y="2759"/>
                <a:ext cx="256" cy="24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63" name="Text Box 26"/>
            <p:cNvSpPr txBox="1">
              <a:spLocks noChangeArrowheads="1"/>
            </p:cNvSpPr>
            <p:nvPr/>
          </p:nvSpPr>
          <p:spPr bwMode="auto">
            <a:xfrm>
              <a:off x="5304248" y="3533896"/>
              <a:ext cx="510356"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by</a:t>
              </a:r>
              <a:endParaRPr lang="en-US" kern="0">
                <a:solidFill>
                  <a:sysClr val="windowText" lastClr="000000"/>
                </a:solidFill>
                <a:latin typeface="Lucida Sans" charset="0"/>
              </a:endParaRPr>
            </a:p>
          </p:txBody>
        </p:sp>
        <p:sp>
          <p:nvSpPr>
            <p:cNvPr id="64" name="Line 36"/>
            <p:cNvSpPr>
              <a:spLocks noChangeShapeType="1"/>
            </p:cNvSpPr>
            <p:nvPr/>
          </p:nvSpPr>
          <p:spPr bwMode="auto">
            <a:xfrm>
              <a:off x="5618163" y="3965576"/>
              <a:ext cx="0" cy="39370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5" name="Text Box 37"/>
            <p:cNvSpPr txBox="1">
              <a:spLocks noChangeArrowheads="1"/>
            </p:cNvSpPr>
            <p:nvPr/>
          </p:nvSpPr>
          <p:spPr bwMode="auto">
            <a:xfrm>
              <a:off x="1880988" y="5145383"/>
              <a:ext cx="430611"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cc</a:t>
              </a:r>
              <a:endParaRPr lang="en-US" kern="0">
                <a:solidFill>
                  <a:sysClr val="windowText" lastClr="000000"/>
                </a:solidFill>
                <a:latin typeface="Lucida Sans" charset="0"/>
                <a:cs typeface="ＭＳ Ｐゴシック" charset="0"/>
              </a:endParaRPr>
            </a:p>
          </p:txBody>
        </p:sp>
        <p:sp>
          <p:nvSpPr>
            <p:cNvPr id="66" name="Line 38"/>
            <p:cNvSpPr>
              <a:spLocks noChangeShapeType="1"/>
            </p:cNvSpPr>
            <p:nvPr/>
          </p:nvSpPr>
          <p:spPr bwMode="auto">
            <a:xfrm flipH="1">
              <a:off x="2074863" y="5286376"/>
              <a:ext cx="406400" cy="3841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7" name="Text Box 40"/>
            <p:cNvSpPr txBox="1">
              <a:spLocks noChangeArrowheads="1"/>
            </p:cNvSpPr>
            <p:nvPr/>
          </p:nvSpPr>
          <p:spPr bwMode="auto">
            <a:xfrm>
              <a:off x="1693904" y="5540496"/>
              <a:ext cx="66984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and</a:t>
              </a:r>
              <a:endParaRPr lang="en-US" kern="0">
                <a:solidFill>
                  <a:sysClr val="windowText" lastClr="000000"/>
                </a:solidFill>
                <a:latin typeface="Lucida Sans" charset="0"/>
              </a:endParaRPr>
            </a:p>
          </p:txBody>
        </p:sp>
        <p:sp>
          <p:nvSpPr>
            <p:cNvPr id="68" name="Line 41"/>
            <p:cNvSpPr>
              <a:spLocks noChangeShapeType="1"/>
            </p:cNvSpPr>
            <p:nvPr/>
          </p:nvSpPr>
          <p:spPr bwMode="auto">
            <a:xfrm flipH="1">
              <a:off x="5135563" y="4676776"/>
              <a:ext cx="406400" cy="3841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69" name="Line 43"/>
            <p:cNvSpPr>
              <a:spLocks noChangeShapeType="1"/>
            </p:cNvSpPr>
            <p:nvPr/>
          </p:nvSpPr>
          <p:spPr bwMode="auto">
            <a:xfrm>
              <a:off x="5630863" y="4676776"/>
              <a:ext cx="406400" cy="3841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nvGrpSpPr>
            <p:cNvPr id="70" name="Group 51"/>
            <p:cNvGrpSpPr>
              <a:grpSpLocks/>
            </p:cNvGrpSpPr>
            <p:nvPr/>
          </p:nvGrpSpPr>
          <p:grpSpPr bwMode="auto">
            <a:xfrm>
              <a:off x="1833563" y="3849689"/>
              <a:ext cx="1260475" cy="1455738"/>
              <a:chOff x="417" y="1862"/>
              <a:chExt cx="794" cy="917"/>
            </a:xfrm>
          </p:grpSpPr>
          <p:sp>
            <p:nvSpPr>
              <p:cNvPr id="82" name="Text Box 34"/>
              <p:cNvSpPr txBox="1">
                <a:spLocks noChangeArrowheads="1"/>
              </p:cNvSpPr>
              <p:nvPr/>
            </p:nvSpPr>
            <p:spPr bwMode="auto">
              <a:xfrm>
                <a:off x="588" y="2503"/>
                <a:ext cx="623"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ports</a:t>
                </a:r>
                <a:endParaRPr lang="en-US" kern="0">
                  <a:solidFill>
                    <a:sysClr val="windowText" lastClr="000000"/>
                  </a:solidFill>
                  <a:latin typeface="Lucida Sans" charset="0"/>
                </a:endParaRPr>
              </a:p>
            </p:txBody>
          </p:sp>
          <p:sp>
            <p:nvSpPr>
              <p:cNvPr id="83" name="Text Box 25"/>
              <p:cNvSpPr txBox="1">
                <a:spLocks noChangeArrowheads="1"/>
              </p:cNvSpPr>
              <p:nvPr/>
            </p:nvSpPr>
            <p:spPr bwMode="auto">
              <a:xfrm>
                <a:off x="433" y="2262"/>
                <a:ext cx="440"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pobj</a:t>
                </a:r>
                <a:endParaRPr lang="en-US" kern="0">
                  <a:solidFill>
                    <a:sysClr val="windowText" lastClr="000000"/>
                  </a:solidFill>
                  <a:latin typeface="Lucida Sans" charset="0"/>
                  <a:cs typeface="ＭＳ Ｐゴシック" charset="0"/>
                </a:endParaRPr>
              </a:p>
            </p:txBody>
          </p:sp>
          <p:sp>
            <p:nvSpPr>
              <p:cNvPr id="84" name="Text Box 45"/>
              <p:cNvSpPr txBox="1">
                <a:spLocks noChangeArrowheads="1"/>
              </p:cNvSpPr>
              <p:nvPr/>
            </p:nvSpPr>
            <p:spPr bwMode="auto">
              <a:xfrm>
                <a:off x="417" y="1862"/>
                <a:ext cx="456"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prep</a:t>
                </a:r>
                <a:endParaRPr lang="en-US" kern="0">
                  <a:solidFill>
                    <a:sysClr val="windowText" lastClr="000000"/>
                  </a:solidFill>
                  <a:latin typeface="Lucida Sans" charset="0"/>
                  <a:cs typeface="ＭＳ Ｐゴシック" charset="0"/>
                </a:endParaRPr>
              </a:p>
            </p:txBody>
          </p:sp>
          <p:sp>
            <p:nvSpPr>
              <p:cNvPr id="85" name="Text Box 46"/>
              <p:cNvSpPr txBox="1">
                <a:spLocks noChangeArrowheads="1"/>
              </p:cNvSpPr>
              <p:nvPr/>
            </p:nvSpPr>
            <p:spPr bwMode="auto">
              <a:xfrm>
                <a:off x="691" y="2079"/>
                <a:ext cx="321"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dirty="0">
                    <a:solidFill>
                      <a:srgbClr val="3333CC"/>
                    </a:solidFill>
                    <a:latin typeface="Courier" charset="0"/>
                  </a:rPr>
                  <a:t>on</a:t>
                </a:r>
                <a:endParaRPr lang="en-US" kern="0" dirty="0">
                  <a:solidFill>
                    <a:sysClr val="windowText" lastClr="000000"/>
                  </a:solidFill>
                  <a:latin typeface="Lucida Sans" charset="0"/>
                </a:endParaRPr>
              </a:p>
            </p:txBody>
          </p:sp>
          <p:sp>
            <p:nvSpPr>
              <p:cNvPr id="86" name="Line 47"/>
              <p:cNvSpPr>
                <a:spLocks noChangeShapeType="1"/>
              </p:cNvSpPr>
              <p:nvPr/>
            </p:nvSpPr>
            <p:spPr bwMode="auto">
              <a:xfrm>
                <a:off x="865" y="19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87" name="Line 48"/>
              <p:cNvSpPr>
                <a:spLocks noChangeShapeType="1"/>
              </p:cNvSpPr>
              <p:nvPr/>
            </p:nvSpPr>
            <p:spPr bwMode="auto">
              <a:xfrm>
                <a:off x="865" y="23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71" name="Text Box 49"/>
            <p:cNvSpPr txBox="1">
              <a:spLocks noChangeArrowheads="1"/>
            </p:cNvSpPr>
            <p:nvPr/>
          </p:nvSpPr>
          <p:spPr bwMode="auto">
            <a:xfrm>
              <a:off x="5554872" y="3862684"/>
              <a:ext cx="698083"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pobj</a:t>
              </a:r>
              <a:endParaRPr lang="en-US" kern="0">
                <a:solidFill>
                  <a:sysClr val="windowText" lastClr="000000"/>
                </a:solidFill>
                <a:latin typeface="Lucida Sans" charset="0"/>
                <a:cs typeface="ＭＳ Ｐゴシック" charset="0"/>
              </a:endParaRPr>
            </a:p>
          </p:txBody>
        </p:sp>
        <p:sp>
          <p:nvSpPr>
            <p:cNvPr id="73" name="Text Box 50"/>
            <p:cNvSpPr txBox="1">
              <a:spLocks noChangeArrowheads="1"/>
            </p:cNvSpPr>
            <p:nvPr/>
          </p:nvSpPr>
          <p:spPr bwMode="auto">
            <a:xfrm>
              <a:off x="5569593" y="4976934"/>
              <a:ext cx="1786242" cy="437909"/>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Republican</a:t>
              </a:r>
              <a:endParaRPr lang="en-US" kern="0">
                <a:solidFill>
                  <a:sysClr val="windowText" lastClr="000000"/>
                </a:solidFill>
                <a:latin typeface="Lucida Sans" charset="0"/>
              </a:endParaRPr>
            </a:p>
          </p:txBody>
        </p:sp>
        <p:grpSp>
          <p:nvGrpSpPr>
            <p:cNvPr id="74" name="Group 52"/>
            <p:cNvGrpSpPr>
              <a:grpSpLocks/>
            </p:cNvGrpSpPr>
            <p:nvPr/>
          </p:nvGrpSpPr>
          <p:grpSpPr bwMode="auto">
            <a:xfrm>
              <a:off x="5603237" y="5259389"/>
              <a:ext cx="1357319" cy="1455738"/>
              <a:chOff x="425" y="1862"/>
              <a:chExt cx="822" cy="917"/>
            </a:xfrm>
          </p:grpSpPr>
          <p:sp>
            <p:nvSpPr>
              <p:cNvPr id="76" name="Text Box 53"/>
              <p:cNvSpPr txBox="1">
                <a:spLocks noChangeArrowheads="1"/>
              </p:cNvSpPr>
              <p:nvPr/>
            </p:nvSpPr>
            <p:spPr bwMode="auto">
              <a:xfrm>
                <a:off x="552" y="2503"/>
                <a:ext cx="695"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Kansas</a:t>
                </a:r>
                <a:endParaRPr lang="en-US" kern="0">
                  <a:solidFill>
                    <a:sysClr val="windowText" lastClr="000000"/>
                  </a:solidFill>
                  <a:latin typeface="Lucida Sans" charset="0"/>
                </a:endParaRPr>
              </a:p>
            </p:txBody>
          </p:sp>
          <p:sp>
            <p:nvSpPr>
              <p:cNvPr id="77" name="Text Box 54"/>
              <p:cNvSpPr txBox="1">
                <a:spLocks noChangeArrowheads="1"/>
              </p:cNvSpPr>
              <p:nvPr/>
            </p:nvSpPr>
            <p:spPr bwMode="auto">
              <a:xfrm>
                <a:off x="442" y="2262"/>
                <a:ext cx="423"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pobj</a:t>
                </a:r>
                <a:endParaRPr lang="en-US" kern="0">
                  <a:solidFill>
                    <a:sysClr val="windowText" lastClr="000000"/>
                  </a:solidFill>
                  <a:latin typeface="Lucida Sans" charset="0"/>
                  <a:cs typeface="ＭＳ Ｐゴシック" charset="0"/>
                </a:endParaRPr>
              </a:p>
            </p:txBody>
          </p:sp>
          <p:sp>
            <p:nvSpPr>
              <p:cNvPr id="78" name="Text Box 55"/>
              <p:cNvSpPr txBox="1">
                <a:spLocks noChangeArrowheads="1"/>
              </p:cNvSpPr>
              <p:nvPr/>
            </p:nvSpPr>
            <p:spPr bwMode="auto">
              <a:xfrm>
                <a:off x="425" y="1862"/>
                <a:ext cx="439" cy="255"/>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dirty="0">
                    <a:solidFill>
                      <a:sysClr val="windowText" lastClr="000000"/>
                    </a:solidFill>
                    <a:latin typeface="Lucida Sans" charset="0"/>
                    <a:cs typeface="ＭＳ Ｐゴシック" charset="0"/>
                  </a:rPr>
                  <a:t>prep</a:t>
                </a:r>
                <a:endParaRPr lang="en-US" kern="0" dirty="0">
                  <a:solidFill>
                    <a:sysClr val="windowText" lastClr="000000"/>
                  </a:solidFill>
                  <a:latin typeface="Lucida Sans" charset="0"/>
                  <a:cs typeface="ＭＳ Ｐゴシック" charset="0"/>
                </a:endParaRPr>
              </a:p>
            </p:txBody>
          </p:sp>
          <p:sp>
            <p:nvSpPr>
              <p:cNvPr id="79" name="Text Box 56"/>
              <p:cNvSpPr txBox="1">
                <a:spLocks noChangeArrowheads="1"/>
              </p:cNvSpPr>
              <p:nvPr/>
            </p:nvSpPr>
            <p:spPr bwMode="auto">
              <a:xfrm>
                <a:off x="696" y="2079"/>
                <a:ext cx="309" cy="276"/>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fontAlgn="auto">
                  <a:spcBef>
                    <a:spcPct val="50000"/>
                  </a:spcBef>
                  <a:spcAft>
                    <a:spcPts val="0"/>
                  </a:spcAft>
                  <a:defRPr/>
                </a:pPr>
                <a:r>
                  <a:rPr lang="en-US" sz="2000" kern="0">
                    <a:solidFill>
                      <a:srgbClr val="3333CC"/>
                    </a:solidFill>
                    <a:latin typeface="Courier" charset="0"/>
                  </a:rPr>
                  <a:t>of</a:t>
                </a:r>
                <a:endParaRPr lang="en-US" kern="0">
                  <a:solidFill>
                    <a:sysClr val="windowText" lastClr="000000"/>
                  </a:solidFill>
                  <a:latin typeface="Lucida Sans" charset="0"/>
                </a:endParaRPr>
              </a:p>
            </p:txBody>
          </p:sp>
          <p:sp>
            <p:nvSpPr>
              <p:cNvPr id="80" name="Line 57"/>
              <p:cNvSpPr>
                <a:spLocks noChangeShapeType="1"/>
              </p:cNvSpPr>
              <p:nvPr/>
            </p:nvSpPr>
            <p:spPr bwMode="auto">
              <a:xfrm>
                <a:off x="865" y="19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sp>
            <p:nvSpPr>
              <p:cNvPr id="81" name="Line 58"/>
              <p:cNvSpPr>
                <a:spLocks noChangeShapeType="1"/>
              </p:cNvSpPr>
              <p:nvPr/>
            </p:nvSpPr>
            <p:spPr bwMode="auto">
              <a:xfrm>
                <a:off x="865" y="2311"/>
                <a:ext cx="0" cy="24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lstStyle/>
              <a:p>
                <a:pPr fontAlgn="auto">
                  <a:spcBef>
                    <a:spcPts val="0"/>
                  </a:spcBef>
                  <a:spcAft>
                    <a:spcPts val="0"/>
                  </a:spcAft>
                  <a:defRPr/>
                </a:pPr>
                <a:endParaRPr lang="en-US" kern="0">
                  <a:solidFill>
                    <a:sysClr val="windowText" lastClr="000000"/>
                  </a:solidFill>
                </a:endParaRPr>
              </a:p>
            </p:txBody>
          </p:sp>
        </p:grpSp>
        <p:sp>
          <p:nvSpPr>
            <p:cNvPr id="75" name="Text Box 59"/>
            <p:cNvSpPr txBox="1">
              <a:spLocks noChangeArrowheads="1"/>
            </p:cNvSpPr>
            <p:nvPr/>
          </p:nvSpPr>
          <p:spPr bwMode="auto">
            <a:xfrm>
              <a:off x="5730163" y="4535783"/>
              <a:ext cx="882489" cy="404223"/>
            </a:xfrm>
            <a:prstGeom prst="rect">
              <a:avLst/>
            </a:prstGeom>
            <a:noFill/>
            <a:ln>
              <a:noFill/>
            </a:ln>
            <a:effectLst/>
            <a:extLst>
              <a:ext uri="{909E8E84-426E-40DD-AFC4-6F175D3DCCD1}">
                <a14:hiddenFill xmlns:a14="http://schemas.microsoft.com/office/drawing/2010/main">
                  <a:solidFill>
                    <a:srgbClr val="66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wrap="none" anchor="ctr">
              <a:spAutoFit/>
            </a:bodyPr>
            <a:lstStyle/>
            <a:p>
              <a:pPr algn="ctr" eaLnBrk="0" fontAlgn="auto" hangingPunct="0">
                <a:spcBef>
                  <a:spcPts val="0"/>
                </a:spcBef>
                <a:spcAft>
                  <a:spcPts val="0"/>
                </a:spcAft>
                <a:defRPr/>
              </a:pPr>
              <a:r>
                <a:rPr lang="en-US" i="1" kern="0">
                  <a:solidFill>
                    <a:sysClr val="windowText" lastClr="000000"/>
                  </a:solidFill>
                  <a:latin typeface="Lucida Sans" charset="0"/>
                  <a:cs typeface="ＭＳ Ｐゴシック" charset="0"/>
                </a:rPr>
                <a:t>appos</a:t>
              </a:r>
              <a:endParaRPr lang="en-US" kern="0">
                <a:solidFill>
                  <a:sysClr val="windowText" lastClr="000000"/>
                </a:solidFill>
                <a:latin typeface="Lucida Sans" charset="0"/>
                <a:cs typeface="ＭＳ Ｐゴシック" charset="0"/>
              </a:endParaRPr>
            </a:p>
          </p:txBody>
        </p:sp>
      </p:grpSp>
    </p:spTree>
    <p:extLst>
      <p:ext uri="{BB962C8B-B14F-4D97-AF65-F5344CB8AC3E}">
        <p14:creationId xmlns:p14="http://schemas.microsoft.com/office/powerpoint/2010/main" val="3378672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Take-</a:t>
            </a:r>
            <a:r>
              <a:rPr lang="en-IN" dirty="0" err="1"/>
              <a:t>aways</a:t>
            </a:r>
            <a:endParaRPr lang="en-US" dirty="0"/>
          </a:p>
        </p:txBody>
      </p:sp>
      <p:sp>
        <p:nvSpPr>
          <p:cNvPr id="3" name="Content Placeholder 2"/>
          <p:cNvSpPr>
            <a:spLocks noGrp="1"/>
          </p:cNvSpPr>
          <p:nvPr>
            <p:ph idx="1"/>
          </p:nvPr>
        </p:nvSpPr>
        <p:spPr/>
        <p:txBody>
          <a:bodyPr/>
          <a:lstStyle/>
          <a:p>
            <a:r>
              <a:rPr lang="en-IN" dirty="0"/>
              <a:t>NLP is set of tasks for natural language processing.</a:t>
            </a:r>
          </a:p>
          <a:p>
            <a:r>
              <a:rPr lang="en-IN" dirty="0"/>
              <a:t>We looked at a few of such tasks in detail</a:t>
            </a:r>
          </a:p>
          <a:p>
            <a:pPr lvl="1"/>
            <a:r>
              <a:rPr lang="en-IN" dirty="0"/>
              <a:t>Tokenization</a:t>
            </a:r>
          </a:p>
          <a:p>
            <a:pPr lvl="1"/>
            <a:r>
              <a:rPr lang="en-IN" dirty="0"/>
              <a:t>Stemming</a:t>
            </a:r>
          </a:p>
          <a:p>
            <a:pPr lvl="1"/>
            <a:r>
              <a:rPr lang="en-IN" dirty="0"/>
              <a:t>Sentence Segmentation</a:t>
            </a:r>
          </a:p>
          <a:p>
            <a:pPr lvl="1"/>
            <a:r>
              <a:rPr lang="en-IN" dirty="0"/>
              <a:t>Phrase Identification</a:t>
            </a:r>
          </a:p>
          <a:p>
            <a:pPr lvl="1"/>
            <a:r>
              <a:rPr lang="en-IN" dirty="0"/>
              <a:t>Word Sense Disambiguation</a:t>
            </a:r>
          </a:p>
          <a:p>
            <a:pPr lvl="1"/>
            <a:r>
              <a:rPr lang="en-IN" dirty="0"/>
              <a:t>Parsing</a:t>
            </a:r>
            <a:endParaRPr lang="en-US" dirty="0"/>
          </a:p>
        </p:txBody>
      </p:sp>
    </p:spTree>
    <p:extLst>
      <p:ext uri="{BB962C8B-B14F-4D97-AF65-F5344CB8AC3E}">
        <p14:creationId xmlns:p14="http://schemas.microsoft.com/office/powerpoint/2010/main" val="520925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Further Reading</a:t>
            </a:r>
            <a:endParaRPr lang="en-US" dirty="0"/>
          </a:p>
        </p:txBody>
      </p:sp>
      <p:sp>
        <p:nvSpPr>
          <p:cNvPr id="3" name="Content Placeholder 2"/>
          <p:cNvSpPr>
            <a:spLocks noGrp="1"/>
          </p:cNvSpPr>
          <p:nvPr>
            <p:ph idx="1"/>
          </p:nvPr>
        </p:nvSpPr>
        <p:spPr/>
        <p:txBody>
          <a:bodyPr/>
          <a:lstStyle/>
          <a:p>
            <a:r>
              <a:rPr lang="en-IN" dirty="0"/>
              <a:t>Books</a:t>
            </a:r>
          </a:p>
          <a:p>
            <a:pPr lvl="1"/>
            <a:r>
              <a:rPr lang="en-US" dirty="0"/>
              <a:t>Foundations of Statistical Natural Language Processing: Christopher D. Manning, </a:t>
            </a:r>
            <a:r>
              <a:rPr lang="en-US" dirty="0" err="1"/>
              <a:t>Hinrich</a:t>
            </a:r>
            <a:r>
              <a:rPr lang="en-US" dirty="0"/>
              <a:t> </a:t>
            </a:r>
            <a:r>
              <a:rPr lang="en-US" dirty="0" err="1"/>
              <a:t>Schütze</a:t>
            </a:r>
            <a:endParaRPr lang="en-US" dirty="0"/>
          </a:p>
          <a:p>
            <a:pPr lvl="1"/>
            <a:r>
              <a:rPr lang="en-US" dirty="0"/>
              <a:t>Speech and Language Processing, 2nd Edition: Daniel </a:t>
            </a:r>
            <a:r>
              <a:rPr lang="en-US" dirty="0" err="1"/>
              <a:t>Jurafsky</a:t>
            </a:r>
            <a:r>
              <a:rPr lang="en-US" dirty="0"/>
              <a:t>, James H. </a:t>
            </a:r>
            <a:r>
              <a:rPr lang="en-US"/>
              <a:t>Martin</a:t>
            </a:r>
            <a:endParaRPr lang="en-US" dirty="0"/>
          </a:p>
        </p:txBody>
      </p:sp>
    </p:spTree>
    <p:extLst>
      <p:ext uri="{BB962C8B-B14F-4D97-AF65-F5344CB8AC3E}">
        <p14:creationId xmlns:p14="http://schemas.microsoft.com/office/powerpoint/2010/main" val="221555728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31284</TotalTime>
  <Words>3779</Words>
  <Application>Microsoft Office PowerPoint</Application>
  <PresentationFormat>35mm Slides</PresentationFormat>
  <Paragraphs>731</Paragraphs>
  <Slides>53</Slides>
  <Notes>21</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53</vt:i4>
      </vt:variant>
    </vt:vector>
  </HeadingPairs>
  <TitlesOfParts>
    <vt:vector size="72" baseType="lpstr">
      <vt:lpstr>华文仿宋</vt:lpstr>
      <vt:lpstr>Andalus</vt:lpstr>
      <vt:lpstr>Arial</vt:lpstr>
      <vt:lpstr>Bitstream Vera Sans</vt:lpstr>
      <vt:lpstr>Calibri</vt:lpstr>
      <vt:lpstr>Cambria Math</vt:lpstr>
      <vt:lpstr>Century Schoolbook</vt:lpstr>
      <vt:lpstr>Courier</vt:lpstr>
      <vt:lpstr>Courier New</vt:lpstr>
      <vt:lpstr>Lucida Sans</vt:lpstr>
      <vt:lpstr>Minion</vt:lpstr>
      <vt:lpstr>Times</vt:lpstr>
      <vt:lpstr>Times New Roman</vt:lpstr>
      <vt:lpstr>Verdana</vt:lpstr>
      <vt:lpstr>Wingdings</vt:lpstr>
      <vt:lpstr>Wingdings 2</vt:lpstr>
      <vt:lpstr>Zapf Dingbats</vt:lpstr>
      <vt:lpstr>华文黑体</vt:lpstr>
      <vt:lpstr>Default Design</vt:lpstr>
      <vt:lpstr>PowerPoint Presentation</vt:lpstr>
      <vt:lpstr>PowerPoint Presentation</vt:lpstr>
      <vt:lpstr>Question Answering: IBM’s Watson</vt:lpstr>
      <vt:lpstr>Information Extraction</vt:lpstr>
      <vt:lpstr>Information Extraction &amp; Sentiment Analysis</vt:lpstr>
      <vt:lpstr>Machine Translation</vt:lpstr>
      <vt:lpstr>PowerPoint Presentation</vt:lpstr>
      <vt:lpstr>Language Technology</vt:lpstr>
      <vt:lpstr>Other NLP Tasks</vt:lpstr>
      <vt:lpstr>PowerPoint Presentation</vt:lpstr>
      <vt:lpstr>NLP Challenges</vt:lpstr>
      <vt:lpstr>PowerPoint Presentation</vt:lpstr>
      <vt:lpstr>Tokenization</vt:lpstr>
      <vt:lpstr>Tokenization: Language issues</vt:lpstr>
      <vt:lpstr>Word Tokenization in Chinese</vt:lpstr>
      <vt:lpstr>Max-match segmentation illustration</vt:lpstr>
      <vt:lpstr>Maximum Matching Word Segmentation Algorithm</vt:lpstr>
      <vt:lpstr>PowerPoint Presentation</vt:lpstr>
      <vt:lpstr>Lemmatization</vt:lpstr>
      <vt:lpstr>Stemming</vt:lpstr>
      <vt:lpstr>Porter’s algorithm The most common English stemmer</vt:lpstr>
      <vt:lpstr>Viewing morphology in a corpus Why only strip –ing if there is a vowel?</vt:lpstr>
      <vt:lpstr>Problems with stemming</vt:lpstr>
      <vt:lpstr>Stemming vs lemmatization</vt:lpstr>
      <vt:lpstr>PowerPoint Presentation</vt:lpstr>
      <vt:lpstr>Sentence Segmentation</vt:lpstr>
      <vt:lpstr>Determining if a Word is End-of-sentence: A Decision Tree</vt:lpstr>
      <vt:lpstr>PowerPoint Presentation</vt:lpstr>
      <vt:lpstr>Phrase Identification</vt:lpstr>
      <vt:lpstr>Phrases as Runs of Words</vt:lpstr>
      <vt:lpstr>“Phrase identification”</vt:lpstr>
      <vt:lpstr>Phrases and Their Counts</vt:lpstr>
      <vt:lpstr>Phrases from Sentence Parsing</vt:lpstr>
      <vt:lpstr>Phrases from statistical models</vt:lpstr>
      <vt:lpstr>PowerPoint Presentation</vt:lpstr>
      <vt:lpstr>Word Sense Disambiguation</vt:lpstr>
      <vt:lpstr>WSD USING SELECTIONAL PREFERENCES &amp; ARGUMENTS</vt:lpstr>
      <vt:lpstr>OVERLAP BASED APPROACHES</vt:lpstr>
      <vt:lpstr>LESK’S ALGORITHM</vt:lpstr>
      <vt:lpstr>WALKER’S ALGORITHM</vt:lpstr>
      <vt:lpstr>PowerPoint Presentation</vt:lpstr>
      <vt:lpstr>WSD USING CONCEPTUAL DENSITY</vt:lpstr>
      <vt:lpstr>CONCEPTUAL DENSITY (EXAMPLE)</vt:lpstr>
      <vt:lpstr>CONCEPTUAL DENSITY (EXAMPLE)</vt:lpstr>
      <vt:lpstr>WSD USING RANDOM WALK ALGORITHM</vt:lpstr>
      <vt:lpstr>WSD Using Parallel Corpora</vt:lpstr>
      <vt:lpstr>PowerPoint Presentation</vt:lpstr>
      <vt:lpstr>Two views of linguistic structure:  1. Constituency (phrase structure)</vt:lpstr>
      <vt:lpstr>Two views of linguistic structure:  2. Dependency structure</vt:lpstr>
      <vt:lpstr>Dependency Grammar and Dependency Structure</vt:lpstr>
      <vt:lpstr>Dependency Grammar and Dependency Structure</vt:lpstr>
      <vt:lpstr>Take-aways</vt:lpstr>
      <vt:lpstr>Further Reading</vt:lpstr>
    </vt:vector>
  </TitlesOfParts>
  <Company>Prithvi Information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Sridhar Pappu</dc:creator>
  <cp:lastModifiedBy>Manish Gupta (BING-IDC)</cp:lastModifiedBy>
  <cp:revision>1715</cp:revision>
  <dcterms:created xsi:type="dcterms:W3CDTF">2008-10-30T05:46:58Z</dcterms:created>
  <dcterms:modified xsi:type="dcterms:W3CDTF">2021-01-23T15:10:44Z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gmanish@microsoft.com</vt:lpwstr>
  </property>
  <property fmtid="{D5CDD505-2E9C-101B-9397-08002B2CF9AE}" pid="5" name="MSIP_Label_f42aa342-8706-4288-bd11-ebb85995028c_SetDate">
    <vt:lpwstr>2018-09-26T09:40:44.3506011Z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