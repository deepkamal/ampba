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375" r:id="rId3"/>
    <p:sldId id="264" r:id="rId4"/>
    <p:sldId id="376" r:id="rId5"/>
    <p:sldId id="304" r:id="rId6"/>
    <p:sldId id="306" r:id="rId7"/>
    <p:sldId id="307" r:id="rId8"/>
    <p:sldId id="308" r:id="rId9"/>
    <p:sldId id="309" r:id="rId10"/>
    <p:sldId id="310" r:id="rId11"/>
    <p:sldId id="378" r:id="rId12"/>
    <p:sldId id="324" r:id="rId13"/>
    <p:sldId id="325" r:id="rId14"/>
    <p:sldId id="327" r:id="rId15"/>
    <p:sldId id="328" r:id="rId16"/>
    <p:sldId id="329" r:id="rId17"/>
    <p:sldId id="330" r:id="rId18"/>
    <p:sldId id="331" r:id="rId19"/>
    <p:sldId id="382" r:id="rId20"/>
    <p:sldId id="383" r:id="rId21"/>
    <p:sldId id="379" r:id="rId22"/>
    <p:sldId id="333" r:id="rId23"/>
    <p:sldId id="334" r:id="rId24"/>
    <p:sldId id="336" r:id="rId25"/>
    <p:sldId id="337" r:id="rId26"/>
    <p:sldId id="338" r:id="rId27"/>
    <p:sldId id="380" r:id="rId28"/>
    <p:sldId id="366" r:id="rId29"/>
    <p:sldId id="289" r:id="rId30"/>
    <p:sldId id="303" r:id="rId31"/>
    <p:sldId id="37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A7292-FBAB-4E08-98DF-2431C470A0F8}" type="datetimeFigureOut">
              <a:rPr lang="en-US" smtClean="0"/>
              <a:t>Wed-20-Jan-21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C670F-86B7-47F5-9635-CFE5ABA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726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A243D813-CA9A-4FB6-8685-94B947A5BD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9C211B9-AC3F-4AA7-B64F-4C71BACD8379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A86564FA-59FF-4CE2-A722-B79BB80CD5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6075" y="698500"/>
            <a:ext cx="6192838" cy="3484563"/>
          </a:xfrm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7F8F4FA9-3941-4CC3-A5F1-FAD66BE34C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7575" y="4414838"/>
            <a:ext cx="5046663" cy="4183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r>
              <a:rPr lang="en-US" altLang="en-US"/>
              <a:t>May we categorize data along the following dimensions?</a:t>
            </a:r>
          </a:p>
          <a:p>
            <a:r>
              <a:rPr lang="en-US" altLang="en-US"/>
              <a:t>    - structured, semi-structured, and unstructured</a:t>
            </a:r>
          </a:p>
          <a:p>
            <a:r>
              <a:rPr lang="en-US" altLang="en-US"/>
              <a:t>    - numeric and categorical</a:t>
            </a:r>
          </a:p>
          <a:p>
            <a:r>
              <a:rPr lang="en-US" altLang="en-US"/>
              <a:t>    - static and dynamic (temporal?)</a:t>
            </a:r>
          </a:p>
          <a:p>
            <a:r>
              <a:rPr lang="en-US" altLang="en-US"/>
              <a:t>    - by application</a:t>
            </a:r>
          </a:p>
        </p:txBody>
      </p:sp>
    </p:spTree>
    <p:extLst>
      <p:ext uri="{BB962C8B-B14F-4D97-AF65-F5344CB8AC3E}">
        <p14:creationId xmlns:p14="http://schemas.microsoft.com/office/powerpoint/2010/main" val="388923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C4B1C097-1B9D-4490-81AE-9B67D57889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68D04F84-D1CA-4525-8AFE-EA7527059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7232887C-11FC-4764-8F3D-8D53437DA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242F83E-ED51-4AC5-A0DC-33B243C15412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3306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093C2408-F058-4821-96AA-FA80A161DF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3DDDE040-EBE5-476F-9B71-CF3A3850F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7A441462-EA42-4C0F-BFEF-79AB2F3ED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1F02117-B468-408D-9830-7A41D2E60667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9435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3B93C758-E2EB-4301-9048-CBA504BE7D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187F49D-E129-4A9F-A7C4-71D952593AA9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B23542C4-A55D-49CC-B978-51203F8012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6075" y="698500"/>
            <a:ext cx="6192838" cy="3484563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0585745A-575A-445C-BF48-209B715CF9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7575" y="4414838"/>
            <a:ext cx="5046663" cy="4183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8925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519F51B7-57E4-4C8F-959E-559DCE2303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907930F-DB6A-40A5-955D-1AD774811179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8281170-D2FE-43A6-9635-9C4A64A8F2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6075" y="698500"/>
            <a:ext cx="6192838" cy="3484563"/>
          </a:xfrm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7F3CEA7E-B389-4034-B130-80762813D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7575" y="4414838"/>
            <a:ext cx="5046663" cy="4183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2728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951975B8-F5D2-4445-8CAB-74E9DC0AE0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6A8174B-B346-44F0-B01B-42D67CA98846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59DE37EC-CB5B-4E19-9649-591C5EB593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6075" y="698500"/>
            <a:ext cx="6192838" cy="3484563"/>
          </a:xfrm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2E73779D-1B3A-4C66-9D25-59D80B59AC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7575" y="4414838"/>
            <a:ext cx="5046663" cy="4183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0598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38A04F52-E531-4E95-B2F6-E81F36D50D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78244A1-217A-48B8-823B-25E1741B844C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FA5F7540-59F3-419D-96D4-656256EB94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FCEECF3F-CCB5-466D-A107-17D596210C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488" tIns="46744" rIns="93488" bIns="46744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4745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EED00998-5A2C-4C02-BA7D-E2568B950E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7724BD6-3FBB-4993-B66E-1840C379D55A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157CD4F-86FB-4E1B-8F94-91CE147E35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3049698-3238-4C22-9B48-034C2B1B3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3481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D79139C6-3185-43CF-99FF-39F3B00DF6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7100315-9EB4-4E2A-9803-71DD8192DA25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CDEEDC7A-6A83-4C73-AE5B-DFBD08CE4C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E9EDA0D2-2F8C-4373-B00A-3A56EF0633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598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D5A59A45-9613-400B-B5DE-60308D2CAC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56D3C0B-04D9-46AD-BF13-1C040A717CBB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283095AE-F05D-43D0-B56E-26BDCD2371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6BE2F66F-E3C2-49C4-AD72-FC9E459C4B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2374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1F651927-871E-4A68-8827-33C6EB4BF9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40B0778-A983-421F-AB6A-4AC099604E23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D837F86-42CD-49E0-8C8F-3AACB724B9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EF11E10A-40BA-43CF-B0FE-CD326920C4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9707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891E7D01-A576-485D-975A-3DE3191B7C1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1E099966-DCD2-47BE-9E6D-F4274FE9DE30}" type="slidenum">
              <a:rPr lang="en-US" altLang="en-US"/>
              <a:pPr algn="r"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C1E31B53-8B08-4232-903F-9E06585FE5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8C593285-1819-4709-A7C1-B83D23DE30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5131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FAE26655-3B61-498D-8252-DD8C263AD2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E1C99F7-85C0-4C82-BDA1-57E0C65D0BE5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946BA15B-DDE7-4AC3-8B1B-0F02383E82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0DFD273E-B34A-4B00-8AE3-2851C54059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Enrich using data integration research!!</a:t>
            </a:r>
          </a:p>
        </p:txBody>
      </p:sp>
    </p:spTree>
    <p:extLst>
      <p:ext uri="{BB962C8B-B14F-4D97-AF65-F5344CB8AC3E}">
        <p14:creationId xmlns:p14="http://schemas.microsoft.com/office/powerpoint/2010/main" val="40142925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3354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2910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CA410CBC-1BC5-42D2-801D-7134158A9B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4D47450-6171-45F6-887B-CE6E1D86C533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F710868B-5E8F-4714-8739-E5A3D30643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994B1FD7-8345-4F47-8A69-3703A8F195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Should ask students to do some survey on data integration.  -JH</a:t>
            </a:r>
          </a:p>
        </p:txBody>
      </p:sp>
    </p:spTree>
    <p:extLst>
      <p:ext uri="{BB962C8B-B14F-4D97-AF65-F5344CB8AC3E}">
        <p14:creationId xmlns:p14="http://schemas.microsoft.com/office/powerpoint/2010/main" val="41690782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2C08524A-C683-4E01-BC11-19FF2F11E6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B80326B-B2D5-4D9B-8C67-B79CDFD00082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475A4AED-9E26-4788-B510-C039CDBD36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76E40298-79DE-4668-8DAA-D1330CEFDF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93263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8126CF75-D195-4D27-AF71-CEF996E2A4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48FCD9F-A071-4C8C-848F-DB750BA498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86333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F723775B-5A76-4272-BD19-D4812B55ED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DA483E8E-CC6C-4A98-AD80-D454C2B592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61835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AC3FB36F-1CF1-40C3-852F-ED807F0172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7188" y="704850"/>
            <a:ext cx="6172200" cy="3471863"/>
          </a:xfrm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3627B34-1800-4D35-87F9-D92E074EE5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416425"/>
            <a:ext cx="5048250" cy="4179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86437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960B3476-3C7E-4D07-B94F-4B9876CCF0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65253D6-3815-46FB-89B4-C73117C3ABA9}" type="slidenum">
              <a:rPr lang="en-US" altLang="en-US" smtClean="0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9396CF4F-E52F-4D3E-BE46-F09632D86D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A3DD2C4E-F3F6-4422-AAA5-E4411F83A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5719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9A145-060B-497E-9506-A6D1244D4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7C01F-75DE-4148-8C85-0B3A98179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6739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609600" y="1371601"/>
            <a:ext cx="10972800" cy="4754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6666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1367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B84FBF-B27B-4477-92FA-C553D12D7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D28BD-EDB2-40B5-B543-76DDBCF91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050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4" Type="http://schemas.openxmlformats.org/officeDocument/2006/relationships/image" Target="../media/image10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6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7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://www-courses.cs.uiuc.edu/~cs491han/papers/dasu02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524000" y="993530"/>
            <a:ext cx="9144000" cy="1995854"/>
          </a:xfrm>
        </p:spPr>
        <p:txBody>
          <a:bodyPr>
            <a:normAutofit fontScale="90000"/>
          </a:bodyPr>
          <a:lstStyle/>
          <a:p>
            <a:r>
              <a:rPr lang="en-IN" sz="4400" b="1" dirty="0">
                <a:solidFill>
                  <a:srgbClr val="00B050"/>
                </a:solidFill>
              </a:rPr>
              <a:t>Data Collection Session 2</a:t>
            </a:r>
            <a:br>
              <a:rPr lang="en-IN" sz="4400" b="1" dirty="0">
                <a:solidFill>
                  <a:srgbClr val="00B05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Structured Data Collection and Pre-processing</a:t>
            </a:r>
            <a:endParaRPr lang="en-US" sz="2700" b="1" dirty="0">
              <a:solidFill>
                <a:srgbClr val="00B050"/>
              </a:solidFill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sz="3400" b="1" dirty="0">
              <a:solidFill>
                <a:srgbClr val="7030A0"/>
              </a:solidFill>
            </a:endParaRPr>
          </a:p>
          <a:p>
            <a:r>
              <a:rPr lang="en-IN" sz="4600" b="1" dirty="0">
                <a:solidFill>
                  <a:srgbClr val="7030A0"/>
                </a:solidFill>
              </a:rPr>
              <a:t>Manish Gupta</a:t>
            </a:r>
          </a:p>
        </p:txBody>
      </p:sp>
    </p:spTree>
    <p:extLst>
      <p:ext uri="{BB962C8B-B14F-4D97-AF65-F5344CB8AC3E}">
        <p14:creationId xmlns:p14="http://schemas.microsoft.com/office/powerpoint/2010/main" val="4172522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77D10-1A4C-44F8-A7F6-04259CBD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0F3CC-DA20-4815-A3D2-776F8854D24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data collection?</a:t>
            </a:r>
          </a:p>
          <a:p>
            <a:r>
              <a:rPr lang="en-US" dirty="0"/>
              <a:t>Data collection decisions, rules, approaches</a:t>
            </a:r>
          </a:p>
          <a:p>
            <a:pPr lvl="1"/>
            <a:r>
              <a:rPr lang="en-US" dirty="0"/>
              <a:t>Original vs available data, quantitative vs qualitative approach, </a:t>
            </a:r>
            <a:r>
              <a:rPr lang="en-US" altLang="en-US" dirty="0"/>
              <a:t>Obtrusive vs. Unobtrusive Methods</a:t>
            </a:r>
          </a:p>
          <a:p>
            <a:r>
              <a:rPr lang="en-US" dirty="0"/>
              <a:t>Data collection planning</a:t>
            </a:r>
          </a:p>
          <a:p>
            <a:pPr lvl="1"/>
            <a:r>
              <a:rPr lang="en-US" dirty="0"/>
              <a:t>Developing a plan, costs, meta data, data collection implementation</a:t>
            </a:r>
          </a:p>
          <a:p>
            <a:r>
              <a:rPr lang="en-US" dirty="0"/>
              <a:t>Hands-on data collection using shell script </a:t>
            </a:r>
            <a:r>
              <a:rPr lang="en-US"/>
              <a:t>and Python.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06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E45-AC58-43D9-A609-0ACA43F9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707C-A1E1-4947-B90A-F5C91A14AD9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394461"/>
            <a:ext cx="10972800" cy="4754563"/>
          </a:xfrm>
        </p:spPr>
        <p:txBody>
          <a:bodyPr/>
          <a:lstStyle/>
          <a:p>
            <a:pPr lvl="0"/>
            <a:r>
              <a:rPr lang="en-US" dirty="0"/>
              <a:t>Types of datasets, data, and attributes</a:t>
            </a:r>
          </a:p>
          <a:p>
            <a:pPr lvl="0"/>
            <a:r>
              <a:rPr lang="en-US" dirty="0"/>
              <a:t>Data pre-processing tasks</a:t>
            </a:r>
          </a:p>
          <a:p>
            <a:pPr lvl="1"/>
            <a:r>
              <a:rPr lang="en-US" dirty="0"/>
              <a:t>Data cleaning</a:t>
            </a:r>
          </a:p>
          <a:p>
            <a:pPr lvl="1"/>
            <a:r>
              <a:rPr lang="en-US" dirty="0"/>
              <a:t>Data integration</a:t>
            </a:r>
          </a:p>
          <a:p>
            <a:pPr lvl="1"/>
            <a:r>
              <a:rPr lang="en-US" dirty="0"/>
              <a:t>Data reduction</a:t>
            </a:r>
          </a:p>
          <a:p>
            <a:pPr lvl="1"/>
            <a:r>
              <a:rPr lang="en-US" dirty="0"/>
              <a:t>Data transformation</a:t>
            </a:r>
          </a:p>
          <a:p>
            <a:r>
              <a:rPr lang="en-US" dirty="0"/>
              <a:t>Take-aways</a:t>
            </a:r>
          </a:p>
        </p:txBody>
      </p:sp>
    </p:spTree>
    <p:extLst>
      <p:ext uri="{BB962C8B-B14F-4D97-AF65-F5344CB8AC3E}">
        <p14:creationId xmlns:p14="http://schemas.microsoft.com/office/powerpoint/2010/main" val="2364997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E45-AC58-43D9-A609-0ACA43F9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707C-A1E1-4947-B90A-F5C91A14AD9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394461"/>
            <a:ext cx="10972800" cy="4754563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Types of datasets, data, and attributes</a:t>
            </a:r>
          </a:p>
          <a:p>
            <a:pPr lvl="0"/>
            <a:r>
              <a:rPr lang="en-US" dirty="0"/>
              <a:t>Data pre-processing tasks</a:t>
            </a:r>
          </a:p>
          <a:p>
            <a:pPr lvl="1"/>
            <a:r>
              <a:rPr lang="en-US" dirty="0"/>
              <a:t>Data cleaning</a:t>
            </a:r>
          </a:p>
          <a:p>
            <a:pPr lvl="1"/>
            <a:r>
              <a:rPr lang="en-US" dirty="0"/>
              <a:t>Data integration</a:t>
            </a:r>
          </a:p>
          <a:p>
            <a:pPr lvl="1"/>
            <a:r>
              <a:rPr lang="en-US" dirty="0"/>
              <a:t>Data reduction</a:t>
            </a:r>
          </a:p>
          <a:p>
            <a:pPr lvl="1"/>
            <a:r>
              <a:rPr lang="en-US" dirty="0"/>
              <a:t>Data transformation</a:t>
            </a:r>
          </a:p>
          <a:p>
            <a:r>
              <a:rPr lang="en-US" dirty="0"/>
              <a:t>Take-aways</a:t>
            </a:r>
          </a:p>
        </p:txBody>
      </p:sp>
    </p:spTree>
    <p:extLst>
      <p:ext uri="{BB962C8B-B14F-4D97-AF65-F5344CB8AC3E}">
        <p14:creationId xmlns:p14="http://schemas.microsoft.com/office/powerpoint/2010/main" val="3774006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B2B72181-80BD-43F8-8797-5FBA02E01A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Types of Data Sets </a:t>
            </a:r>
          </a:p>
        </p:txBody>
      </p:sp>
      <p:graphicFrame>
        <p:nvGraphicFramePr>
          <p:cNvPr id="13317" name="Object 4">
            <a:extLst>
              <a:ext uri="{FF2B5EF4-FFF2-40B4-BE49-F238E27FC236}">
                <a16:creationId xmlns:a16="http://schemas.microsoft.com/office/drawing/2014/main" id="{5706ECA0-519F-4899-AFA2-1E4495297F69}"/>
              </a:ext>
            </a:extLst>
          </p:cNvPr>
          <p:cNvGraphicFramePr>
            <a:graphicFrameLocks noGrp="1" noChangeAspect="1"/>
          </p:cNvGraphicFramePr>
          <p:nvPr>
            <p:ph idx="13"/>
            <p:extLst>
              <p:ext uri="{D42A27DB-BD31-4B8C-83A1-F6EECF244321}">
                <p14:modId xmlns:p14="http://schemas.microsoft.com/office/powerpoint/2010/main" val="783402064"/>
              </p:ext>
            </p:extLst>
          </p:nvPr>
        </p:nvGraphicFramePr>
        <p:xfrm>
          <a:off x="5578158" y="1030288"/>
          <a:ext cx="5926137" cy="2693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925718" imgH="2693902" progId="Visio.Drawing.6">
                  <p:embed/>
                </p:oleObj>
              </mc:Choice>
              <mc:Fallback>
                <p:oleObj name="Visio" r:id="rId3" imgW="5925718" imgH="2693902" progId="Visio.Drawing.6">
                  <p:embed/>
                  <p:pic>
                    <p:nvPicPr>
                      <p:cNvPr id="13317" name="Object 4">
                        <a:extLst>
                          <a:ext uri="{FF2B5EF4-FFF2-40B4-BE49-F238E27FC236}">
                            <a16:creationId xmlns:a16="http://schemas.microsoft.com/office/drawing/2014/main" id="{5706ECA0-519F-4899-AFA2-1E4495297F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8158" y="1030288"/>
                        <a:ext cx="5926137" cy="2693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Rectangle 3">
            <a:extLst>
              <a:ext uri="{FF2B5EF4-FFF2-40B4-BE49-F238E27FC236}">
                <a16:creationId xmlns:a16="http://schemas.microsoft.com/office/drawing/2014/main" id="{718AE1C1-CB30-48E2-866F-D20E68877A74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77190" y="918210"/>
            <a:ext cx="5394960" cy="5181600"/>
          </a:xfrm>
          <a:noFill/>
        </p:spPr>
        <p:txBody>
          <a:bodyPr vert="horz" lIns="90488" tIns="44450" rIns="90488" bIns="44450" rtlCol="0">
            <a:noAutofit/>
          </a:bodyPr>
          <a:lstStyle/>
          <a:p>
            <a:pPr marL="285750" indent="-285750">
              <a:lnSpc>
                <a:spcPct val="105000"/>
              </a:lnSpc>
            </a:pPr>
            <a:r>
              <a:rPr lang="en-US" altLang="en-US" sz="1500" dirty="0">
                <a:cs typeface="Times New Roman" panose="02020603050405020304" pitchFamily="18" charset="0"/>
              </a:rPr>
              <a:t>Record</a:t>
            </a:r>
          </a:p>
          <a:p>
            <a:pPr marL="800100" lvl="1" indent="-342900">
              <a:lnSpc>
                <a:spcPct val="105000"/>
              </a:lnSpc>
            </a:pPr>
            <a:r>
              <a:rPr lang="en-US" altLang="en-US" sz="1500" dirty="0">
                <a:cs typeface="Times New Roman" panose="02020603050405020304" pitchFamily="18" charset="0"/>
              </a:rPr>
              <a:t>Relational records</a:t>
            </a:r>
          </a:p>
          <a:p>
            <a:pPr marL="800100" lvl="1" indent="-342900">
              <a:lnSpc>
                <a:spcPct val="105000"/>
              </a:lnSpc>
            </a:pPr>
            <a:r>
              <a:rPr lang="en-US" altLang="en-US" sz="1500" dirty="0">
                <a:cs typeface="Times New Roman" panose="02020603050405020304" pitchFamily="18" charset="0"/>
              </a:rPr>
              <a:t>Data matrix, e.g., numerical matrix, crosstabs</a:t>
            </a:r>
          </a:p>
          <a:p>
            <a:pPr marL="800100" lvl="1" indent="-342900">
              <a:lnSpc>
                <a:spcPct val="105000"/>
              </a:lnSpc>
            </a:pPr>
            <a:r>
              <a:rPr lang="en-US" altLang="en-US" sz="1500" dirty="0">
                <a:cs typeface="Times New Roman" panose="02020603050405020304" pitchFamily="18" charset="0"/>
              </a:rPr>
              <a:t>Document data: text documents: term-frequency vector</a:t>
            </a:r>
          </a:p>
          <a:p>
            <a:pPr marL="800100" lvl="1" indent="-342900">
              <a:lnSpc>
                <a:spcPct val="105000"/>
              </a:lnSpc>
            </a:pPr>
            <a:r>
              <a:rPr lang="en-US" altLang="en-US" sz="1500" dirty="0">
                <a:cs typeface="Times New Roman" panose="02020603050405020304" pitchFamily="18" charset="0"/>
              </a:rPr>
              <a:t>Transaction data</a:t>
            </a:r>
            <a:endParaRPr lang="en-US" altLang="en-US" sz="1500" dirty="0"/>
          </a:p>
          <a:p>
            <a:pPr marL="285750" indent="-285750">
              <a:lnSpc>
                <a:spcPct val="105000"/>
              </a:lnSpc>
            </a:pPr>
            <a:r>
              <a:rPr lang="en-US" altLang="en-US" sz="1500" dirty="0">
                <a:cs typeface="Times New Roman" panose="02020603050405020304" pitchFamily="18" charset="0"/>
              </a:rPr>
              <a:t>Graph and network</a:t>
            </a:r>
          </a:p>
          <a:p>
            <a:pPr marL="800100" lvl="1" indent="-342900">
              <a:lnSpc>
                <a:spcPct val="105000"/>
              </a:lnSpc>
            </a:pPr>
            <a:r>
              <a:rPr lang="en-US" altLang="en-US" sz="1500" dirty="0">
                <a:cs typeface="Times New Roman" panose="02020603050405020304" pitchFamily="18" charset="0"/>
              </a:rPr>
              <a:t>World Wide Web</a:t>
            </a:r>
          </a:p>
          <a:p>
            <a:pPr marL="800100" lvl="1" indent="-342900">
              <a:lnSpc>
                <a:spcPct val="105000"/>
              </a:lnSpc>
            </a:pPr>
            <a:r>
              <a:rPr lang="en-US" altLang="en-US" sz="1500" dirty="0">
                <a:cs typeface="Times New Roman" panose="02020603050405020304" pitchFamily="18" charset="0"/>
              </a:rPr>
              <a:t>Social or information networks</a:t>
            </a:r>
          </a:p>
          <a:p>
            <a:pPr marL="800100" lvl="1" indent="-342900">
              <a:lnSpc>
                <a:spcPct val="105000"/>
              </a:lnSpc>
            </a:pPr>
            <a:r>
              <a:rPr lang="en-US" altLang="en-US" sz="1500" dirty="0">
                <a:cs typeface="Times New Roman" panose="02020603050405020304" pitchFamily="18" charset="0"/>
              </a:rPr>
              <a:t>Molecular Structures</a:t>
            </a:r>
          </a:p>
          <a:p>
            <a:pPr marL="285750" indent="-285750">
              <a:lnSpc>
                <a:spcPct val="105000"/>
              </a:lnSpc>
            </a:pPr>
            <a:r>
              <a:rPr lang="en-US" altLang="en-US" sz="1500" dirty="0">
                <a:cs typeface="Times New Roman" panose="02020603050405020304" pitchFamily="18" charset="0"/>
              </a:rPr>
              <a:t>Ordered</a:t>
            </a:r>
          </a:p>
          <a:p>
            <a:pPr marL="800100" lvl="1" indent="-342900">
              <a:lnSpc>
                <a:spcPct val="105000"/>
              </a:lnSpc>
            </a:pPr>
            <a:r>
              <a:rPr lang="en-US" altLang="en-US" sz="1500" dirty="0">
                <a:cs typeface="Times New Roman" panose="02020603050405020304" pitchFamily="18" charset="0"/>
              </a:rPr>
              <a:t>Video data: sequence of images</a:t>
            </a:r>
          </a:p>
          <a:p>
            <a:pPr marL="800100" lvl="1" indent="-342900">
              <a:lnSpc>
                <a:spcPct val="105000"/>
              </a:lnSpc>
            </a:pPr>
            <a:r>
              <a:rPr lang="en-US" altLang="en-US" sz="1500" dirty="0">
                <a:cs typeface="Times New Roman" panose="02020603050405020304" pitchFamily="18" charset="0"/>
              </a:rPr>
              <a:t>Temporal data: time-series</a:t>
            </a:r>
          </a:p>
          <a:p>
            <a:pPr marL="800100" lvl="1" indent="-342900">
              <a:lnSpc>
                <a:spcPct val="105000"/>
              </a:lnSpc>
            </a:pPr>
            <a:r>
              <a:rPr lang="en-US" altLang="en-US" sz="1500" dirty="0">
                <a:cs typeface="Times New Roman" panose="02020603050405020304" pitchFamily="18" charset="0"/>
              </a:rPr>
              <a:t>Sequential Data: transaction sequences</a:t>
            </a:r>
          </a:p>
          <a:p>
            <a:pPr marL="800100" lvl="1" indent="-342900">
              <a:lnSpc>
                <a:spcPct val="105000"/>
              </a:lnSpc>
            </a:pPr>
            <a:r>
              <a:rPr lang="en-US" altLang="en-US" sz="1500" dirty="0">
                <a:cs typeface="Times New Roman" panose="02020603050405020304" pitchFamily="18" charset="0"/>
              </a:rPr>
              <a:t>Genetic sequence data</a:t>
            </a:r>
          </a:p>
          <a:p>
            <a:pPr marL="285750" indent="-285750">
              <a:lnSpc>
                <a:spcPct val="105000"/>
              </a:lnSpc>
            </a:pPr>
            <a:r>
              <a:rPr lang="en-US" altLang="en-US" sz="1500" dirty="0">
                <a:cs typeface="Times New Roman" panose="02020603050405020304" pitchFamily="18" charset="0"/>
              </a:rPr>
              <a:t>Spatial, image and multimedia:</a:t>
            </a:r>
          </a:p>
          <a:p>
            <a:pPr marL="800100" lvl="1" indent="-342900">
              <a:lnSpc>
                <a:spcPct val="105000"/>
              </a:lnSpc>
            </a:pPr>
            <a:r>
              <a:rPr lang="en-US" altLang="en-US" sz="1500" dirty="0">
                <a:cs typeface="Times New Roman" panose="02020603050405020304" pitchFamily="18" charset="0"/>
              </a:rPr>
              <a:t>Spatial data: maps</a:t>
            </a:r>
          </a:p>
          <a:p>
            <a:pPr marL="800100" lvl="1" indent="-342900">
              <a:lnSpc>
                <a:spcPct val="105000"/>
              </a:lnSpc>
            </a:pPr>
            <a:r>
              <a:rPr lang="en-US" altLang="en-US" sz="1500" dirty="0">
                <a:cs typeface="Times New Roman" panose="02020603050405020304" pitchFamily="18" charset="0"/>
              </a:rPr>
              <a:t>Image data</a:t>
            </a:r>
          </a:p>
          <a:p>
            <a:pPr marL="800100" lvl="1" indent="-342900">
              <a:lnSpc>
                <a:spcPct val="105000"/>
              </a:lnSpc>
            </a:pPr>
            <a:r>
              <a:rPr lang="en-US" altLang="en-US" sz="1500" dirty="0">
                <a:cs typeface="Times New Roman" panose="02020603050405020304" pitchFamily="18" charset="0"/>
              </a:rPr>
              <a:t>Video data</a:t>
            </a:r>
          </a:p>
        </p:txBody>
      </p:sp>
      <p:graphicFrame>
        <p:nvGraphicFramePr>
          <p:cNvPr id="13318" name="Object 6">
            <a:extLst>
              <a:ext uri="{FF2B5EF4-FFF2-40B4-BE49-F238E27FC236}">
                <a16:creationId xmlns:a16="http://schemas.microsoft.com/office/drawing/2014/main" id="{4221A2C2-5F53-44CE-AE2F-5FA94C682946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19079464"/>
              </p:ext>
            </p:extLst>
          </p:nvPr>
        </p:nvGraphicFramePr>
        <p:xfrm>
          <a:off x="5996146" y="4223861"/>
          <a:ext cx="3822700" cy="199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3823716" imgH="1999488" progId="Word.Document.8">
                  <p:embed/>
                </p:oleObj>
              </mc:Choice>
              <mc:Fallback>
                <p:oleObj name="Document" r:id="rId5" imgW="3823716" imgH="1999488" progId="Word.Document.8">
                  <p:embed/>
                  <p:pic>
                    <p:nvPicPr>
                      <p:cNvPr id="13318" name="Object 6">
                        <a:extLst>
                          <a:ext uri="{FF2B5EF4-FFF2-40B4-BE49-F238E27FC236}">
                            <a16:creationId xmlns:a16="http://schemas.microsoft.com/office/drawing/2014/main" id="{4221A2C2-5F53-44CE-AE2F-5FA94C6829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6146" y="4223861"/>
                        <a:ext cx="3822700" cy="199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1986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0C74BF05-215B-4631-9A71-E59548C451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Data Objects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C28409A4-2FE3-43BD-82C6-74988DD7190C}"/>
              </a:ext>
            </a:extLst>
          </p:cNvPr>
          <p:cNvSpPr>
            <a:spLocks noGrp="1" noChangeArrowheads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Data sets are made up of data objects.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A </a:t>
            </a:r>
            <a:r>
              <a:rPr lang="en-US" altLang="en-US" sz="2400" b="1"/>
              <a:t>data object</a:t>
            </a:r>
            <a:r>
              <a:rPr lang="en-US" altLang="en-US" sz="2400"/>
              <a:t> represents an entity.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Examples: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sales database:  customers, store items, sales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medical database: patients, treatments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university database: students, professors, courses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Also called </a:t>
            </a:r>
            <a:r>
              <a:rPr lang="en-US" altLang="en-US" sz="2400" i="1"/>
              <a:t>samples , examples, instances, data points, objects, tuples</a:t>
            </a:r>
            <a:r>
              <a:rPr lang="en-US" altLang="en-US" sz="2400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Data objects are described by </a:t>
            </a:r>
            <a:r>
              <a:rPr lang="en-US" altLang="en-US" sz="2400" b="1"/>
              <a:t>attributes</a:t>
            </a:r>
            <a:r>
              <a:rPr lang="en-US" altLang="en-US" sz="2400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Database rows -&gt; data objects; columns -&gt;attributes.</a:t>
            </a:r>
          </a:p>
        </p:txBody>
      </p:sp>
    </p:spTree>
    <p:extLst>
      <p:ext uri="{BB962C8B-B14F-4D97-AF65-F5344CB8AC3E}">
        <p14:creationId xmlns:p14="http://schemas.microsoft.com/office/powerpoint/2010/main" val="276645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FA95C2F8-A96E-42A9-8A36-CD8F1D75A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Attributes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A48C03E7-B445-470F-9F80-F0C8BB90CB92}"/>
              </a:ext>
            </a:extLst>
          </p:cNvPr>
          <p:cNvSpPr>
            <a:spLocks noGrp="1" noChangeArrowheads="1"/>
          </p:cNvSpPr>
          <p:nvPr>
            <p:ph idx="13"/>
          </p:nvPr>
        </p:nvSpPr>
        <p:spPr/>
        <p:txBody>
          <a:bodyPr/>
          <a:lstStyle/>
          <a:p>
            <a:pPr eaLnBrk="1" hangingPunct="1"/>
            <a:r>
              <a:rPr lang="en-US" altLang="en-US" sz="2400" b="1"/>
              <a:t>Attribute (</a:t>
            </a:r>
            <a:r>
              <a:rPr lang="en-US" altLang="en-US" sz="2400"/>
              <a:t>or</a:t>
            </a:r>
            <a:r>
              <a:rPr lang="en-US" altLang="en-US" sz="2400" b="1"/>
              <a:t> dimensions, features, variables</a:t>
            </a:r>
            <a:r>
              <a:rPr lang="en-US" altLang="en-US" sz="2400"/>
              <a:t>): a data field, representing a characteristic or feature of a data object.</a:t>
            </a:r>
          </a:p>
          <a:p>
            <a:pPr lvl="1" eaLnBrk="1" hangingPunct="1"/>
            <a:r>
              <a:rPr lang="en-US" altLang="en-US" i="1"/>
              <a:t>E.g., customer _ID, name, address</a:t>
            </a:r>
          </a:p>
          <a:p>
            <a:pPr eaLnBrk="1" hangingPunct="1"/>
            <a:r>
              <a:rPr lang="en-US" altLang="en-US" sz="2400"/>
              <a:t>Types:</a:t>
            </a:r>
          </a:p>
          <a:p>
            <a:pPr lvl="1" eaLnBrk="1" hangingPunct="1"/>
            <a:r>
              <a:rPr lang="en-US" altLang="en-US"/>
              <a:t>Nominal</a:t>
            </a:r>
          </a:p>
          <a:p>
            <a:pPr lvl="1" eaLnBrk="1" hangingPunct="1"/>
            <a:r>
              <a:rPr lang="en-US" altLang="en-US"/>
              <a:t>Binary</a:t>
            </a:r>
          </a:p>
          <a:p>
            <a:pPr lvl="1" eaLnBrk="1" hangingPunct="1"/>
            <a:r>
              <a:rPr lang="en-US" altLang="en-US"/>
              <a:t>Ordinal</a:t>
            </a:r>
          </a:p>
          <a:p>
            <a:pPr lvl="1" eaLnBrk="1" hangingPunct="1"/>
            <a:r>
              <a:rPr lang="en-US" altLang="en-US"/>
              <a:t>Numeric: quantitative</a:t>
            </a:r>
          </a:p>
          <a:p>
            <a:pPr lvl="2" eaLnBrk="1" hangingPunct="1"/>
            <a:r>
              <a:rPr lang="en-US" altLang="en-US"/>
              <a:t>Interval-scaled</a:t>
            </a:r>
          </a:p>
          <a:p>
            <a:pPr lvl="2" eaLnBrk="1" hangingPunct="1"/>
            <a:r>
              <a:rPr lang="en-US" altLang="en-US"/>
              <a:t>Ratio-scaled</a:t>
            </a:r>
          </a:p>
        </p:txBody>
      </p:sp>
    </p:spTree>
    <p:extLst>
      <p:ext uri="{BB962C8B-B14F-4D97-AF65-F5344CB8AC3E}">
        <p14:creationId xmlns:p14="http://schemas.microsoft.com/office/powerpoint/2010/main" val="2406549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>
            <a:extLst>
              <a:ext uri="{FF2B5EF4-FFF2-40B4-BE49-F238E27FC236}">
                <a16:creationId xmlns:a16="http://schemas.microsoft.com/office/drawing/2014/main" id="{F67E0E94-05C7-4B17-9150-BC6C78DAE6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Attribute Types 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B4EDAF3E-67DF-4EA1-8334-D1FF314F57E7}"/>
              </a:ext>
            </a:extLst>
          </p:cNvPr>
          <p:cNvSpPr>
            <a:spLocks noGrp="1" noChangeArrowheads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pPr marL="292100" indent="-292100"/>
            <a:r>
              <a:rPr lang="en-US" altLang="en-US" sz="2000" b="1"/>
              <a:t>Nominal:</a:t>
            </a:r>
            <a:r>
              <a:rPr lang="en-US" altLang="en-US" sz="2000"/>
              <a:t> categories, states, or “names of things”</a:t>
            </a:r>
          </a:p>
          <a:p>
            <a:pPr marL="749300" lvl="1" indent="-342900"/>
            <a:r>
              <a:rPr lang="en-US" altLang="en-US" sz="2000" i="1"/>
              <a:t>Hair_color = </a:t>
            </a:r>
            <a:r>
              <a:rPr lang="en-US" altLang="en-US" sz="2000"/>
              <a:t>{</a:t>
            </a:r>
            <a:r>
              <a:rPr lang="en-US" altLang="en-US" sz="2000" i="1"/>
              <a:t>auburn, black, blond, brown, grey, red, white</a:t>
            </a:r>
            <a:r>
              <a:rPr lang="en-US" altLang="en-US" sz="2000"/>
              <a:t>}</a:t>
            </a:r>
          </a:p>
          <a:p>
            <a:pPr marL="749300" lvl="1" indent="-342900"/>
            <a:r>
              <a:rPr lang="en-US" altLang="en-US" sz="2000"/>
              <a:t>marital status, occupation, ID numbers, zip codes</a:t>
            </a:r>
          </a:p>
          <a:p>
            <a:pPr marL="292100" indent="-292100"/>
            <a:r>
              <a:rPr lang="en-US" altLang="en-US" sz="2000" b="1"/>
              <a:t>Binary</a:t>
            </a:r>
          </a:p>
          <a:p>
            <a:pPr marL="749300" lvl="1" indent="-342900"/>
            <a:r>
              <a:rPr lang="en-US" altLang="en-US" sz="2000"/>
              <a:t>Nominal attribute with only 2 states (0 and 1)</a:t>
            </a:r>
          </a:p>
          <a:p>
            <a:pPr marL="749300" lvl="1" indent="-342900"/>
            <a:r>
              <a:rPr lang="en-US" altLang="en-US" sz="2000" u="sng"/>
              <a:t>Symmetric binary</a:t>
            </a:r>
            <a:r>
              <a:rPr lang="en-US" altLang="en-US" sz="2000"/>
              <a:t>: both outcomes equally important</a:t>
            </a:r>
          </a:p>
          <a:p>
            <a:pPr marL="1257300" lvl="2" indent="-393700"/>
            <a:r>
              <a:rPr lang="en-US" altLang="en-US"/>
              <a:t>e.g., gender</a:t>
            </a:r>
          </a:p>
          <a:p>
            <a:pPr marL="749300" lvl="1" indent="-342900"/>
            <a:r>
              <a:rPr lang="en-US" altLang="en-US" sz="2000" u="sng"/>
              <a:t>Asymmetric binary</a:t>
            </a:r>
            <a:r>
              <a:rPr lang="en-US" altLang="en-US" sz="2000"/>
              <a:t>: outcomes not equally important.  </a:t>
            </a:r>
          </a:p>
          <a:p>
            <a:pPr marL="1257300" lvl="2" indent="-393700"/>
            <a:r>
              <a:rPr lang="en-US" altLang="en-US"/>
              <a:t>e.g., medical test (positive vs. negative)</a:t>
            </a:r>
          </a:p>
          <a:p>
            <a:pPr marL="1257300" lvl="2" indent="-393700"/>
            <a:r>
              <a:rPr lang="en-US" altLang="en-US"/>
              <a:t>Convention: assign 1 to most important outcome (e.g., HIV positive)</a:t>
            </a:r>
          </a:p>
          <a:p>
            <a:pPr marL="292100" indent="-292100"/>
            <a:r>
              <a:rPr lang="en-US" altLang="en-US" sz="2000" b="1"/>
              <a:t>Ordinal</a:t>
            </a:r>
          </a:p>
          <a:p>
            <a:pPr marL="749300" lvl="1" indent="-342900"/>
            <a:r>
              <a:rPr lang="en-US" altLang="en-US" sz="2000"/>
              <a:t>Values have a meaningful order (ranking) but magnitude between successive values is not known.</a:t>
            </a:r>
          </a:p>
          <a:p>
            <a:pPr marL="749300" lvl="1" indent="-342900"/>
            <a:r>
              <a:rPr lang="en-US" altLang="en-US" sz="2000" i="1"/>
              <a:t>Size = </a:t>
            </a:r>
            <a:r>
              <a:rPr lang="en-US" altLang="en-US" sz="2000"/>
              <a:t>{</a:t>
            </a:r>
            <a:r>
              <a:rPr lang="en-US" altLang="en-US" sz="2000" i="1"/>
              <a:t>small, medium, large</a:t>
            </a:r>
            <a:r>
              <a:rPr lang="en-US" altLang="en-US" sz="2000"/>
              <a:t>}</a:t>
            </a:r>
            <a:r>
              <a:rPr lang="en-US" altLang="en-US" sz="2000" i="1"/>
              <a:t>,</a:t>
            </a:r>
            <a:r>
              <a:rPr lang="en-US" altLang="en-US" sz="2000"/>
              <a:t> grades, army rankings</a:t>
            </a:r>
          </a:p>
        </p:txBody>
      </p:sp>
    </p:spTree>
    <p:extLst>
      <p:ext uri="{BB962C8B-B14F-4D97-AF65-F5344CB8AC3E}">
        <p14:creationId xmlns:p14="http://schemas.microsoft.com/office/powerpoint/2010/main" val="2903448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AE98CECC-EA39-4A49-B0A0-65DE6F6998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Numeric Attribute Types 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137CBEB9-7D5D-4A85-BC1C-359A09B4765F}"/>
              </a:ext>
            </a:extLst>
          </p:cNvPr>
          <p:cNvSpPr>
            <a:spLocks noGrp="1" noChangeArrowheads="1"/>
          </p:cNvSpPr>
          <p:nvPr>
            <p:ph idx="13"/>
          </p:nvPr>
        </p:nvSpPr>
        <p:spPr/>
        <p:txBody>
          <a:bodyPr/>
          <a:lstStyle/>
          <a:p>
            <a:pPr marL="292100" indent="-292100"/>
            <a:r>
              <a:rPr lang="en-US" altLang="en-US" sz="2400"/>
              <a:t>Quantity (integer or real-valued)</a:t>
            </a:r>
          </a:p>
          <a:p>
            <a:pPr marL="292100" indent="-292100"/>
            <a:r>
              <a:rPr lang="en-US" altLang="en-US" sz="2400" b="1"/>
              <a:t>Interval</a:t>
            </a:r>
          </a:p>
          <a:p>
            <a:pPr marL="1257300" lvl="2" indent="-393700"/>
            <a:r>
              <a:rPr lang="en-US" altLang="en-US"/>
              <a:t>Measured on a scale of </a:t>
            </a:r>
            <a:r>
              <a:rPr lang="en-US" altLang="en-US" b="1"/>
              <a:t>equal-sized units</a:t>
            </a:r>
          </a:p>
          <a:p>
            <a:pPr marL="1257300" lvl="2" indent="-393700"/>
            <a:r>
              <a:rPr lang="en-US" altLang="en-US"/>
              <a:t>Values have order</a:t>
            </a:r>
          </a:p>
          <a:p>
            <a:pPr marL="1714500" lvl="3" indent="-393700"/>
            <a:r>
              <a:rPr lang="en-US" altLang="en-US" sz="2400"/>
              <a:t>E.g., </a:t>
            </a:r>
            <a:r>
              <a:rPr lang="en-US" altLang="en-US" sz="2400" i="1"/>
              <a:t>temperature in C</a:t>
            </a:r>
            <a:r>
              <a:rPr lang="en-US" altLang="en-US" sz="2400" i="1">
                <a:cs typeface="Tahoma" panose="020B0604030504040204" pitchFamily="34" charset="0"/>
              </a:rPr>
              <a:t>˚</a:t>
            </a:r>
            <a:r>
              <a:rPr lang="en-US" altLang="en-US" sz="2400" i="1"/>
              <a:t>or F</a:t>
            </a:r>
            <a:r>
              <a:rPr lang="en-US" altLang="en-US" sz="2400" i="1">
                <a:cs typeface="Tahoma" panose="020B0604030504040204" pitchFamily="34" charset="0"/>
              </a:rPr>
              <a:t>˚</a:t>
            </a:r>
            <a:r>
              <a:rPr lang="en-US" altLang="en-US" sz="2400" i="1"/>
              <a:t>, calendar dates</a:t>
            </a:r>
          </a:p>
          <a:p>
            <a:pPr marL="1257300" lvl="2" indent="-393700"/>
            <a:r>
              <a:rPr lang="en-US" altLang="en-US"/>
              <a:t>No true zero-point</a:t>
            </a:r>
          </a:p>
          <a:p>
            <a:pPr marL="292100" indent="-292100"/>
            <a:r>
              <a:rPr lang="en-US" altLang="en-US" sz="2400" b="1"/>
              <a:t>Ratio</a:t>
            </a:r>
          </a:p>
          <a:p>
            <a:pPr marL="1257300" lvl="2" indent="-393700"/>
            <a:r>
              <a:rPr lang="en-US" altLang="en-US"/>
              <a:t>Inherent </a:t>
            </a:r>
            <a:r>
              <a:rPr lang="en-US" altLang="en-US" b="1"/>
              <a:t>zero-point</a:t>
            </a:r>
          </a:p>
          <a:p>
            <a:pPr marL="1257300" lvl="2" indent="-393700"/>
            <a:r>
              <a:rPr lang="en-US" altLang="en-US"/>
              <a:t>We can speak of values as being an order of magnitude larger than the unit of measurement (10 K</a:t>
            </a:r>
            <a:r>
              <a:rPr lang="en-US" altLang="en-US">
                <a:cs typeface="Tahoma" panose="020B0604030504040204" pitchFamily="34" charset="0"/>
              </a:rPr>
              <a:t>˚</a:t>
            </a:r>
            <a:r>
              <a:rPr lang="en-US" altLang="en-US"/>
              <a:t> is twice as high as 5 K</a:t>
            </a:r>
            <a:r>
              <a:rPr lang="en-US" altLang="en-US">
                <a:cs typeface="Tahoma" panose="020B0604030504040204" pitchFamily="34" charset="0"/>
              </a:rPr>
              <a:t>˚</a:t>
            </a:r>
            <a:r>
              <a:rPr lang="en-US" altLang="en-US"/>
              <a:t>).</a:t>
            </a:r>
          </a:p>
          <a:p>
            <a:pPr marL="1714500" lvl="3" indent="-393700"/>
            <a:r>
              <a:rPr lang="en-US" altLang="en-US" sz="2400"/>
              <a:t>e.g., </a:t>
            </a:r>
            <a:r>
              <a:rPr lang="en-US" altLang="en-US" sz="2400" i="1"/>
              <a:t>temperature in Kelvin, length, counts, monetary quantities</a:t>
            </a:r>
            <a:endParaRPr lang="en-US" altLang="en-US" i="1"/>
          </a:p>
        </p:txBody>
      </p:sp>
    </p:spTree>
    <p:extLst>
      <p:ext uri="{BB962C8B-B14F-4D97-AF65-F5344CB8AC3E}">
        <p14:creationId xmlns:p14="http://schemas.microsoft.com/office/powerpoint/2010/main" val="3045339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00FFF30C-EE68-4B56-86FC-EE1270953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Discrete vs. Continuous Attributes 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8059521C-4D7A-4E7B-AB7D-F808640A1D52}"/>
              </a:ext>
            </a:extLst>
          </p:cNvPr>
          <p:cNvSpPr>
            <a:spLocks noGrp="1" noChangeArrowheads="1"/>
          </p:cNvSpPr>
          <p:nvPr>
            <p:ph idx="13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b="1"/>
              <a:t>Discrete</a:t>
            </a:r>
            <a:r>
              <a:rPr lang="en-US" altLang="en-US" sz="2400"/>
              <a:t> </a:t>
            </a:r>
            <a:r>
              <a:rPr lang="en-US" altLang="en-US" sz="2400" b="1"/>
              <a:t>Attribute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Has only a finite or countably infinite set of values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E.g., zip codes, profession, or the set of words in a collection of documents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Sometimes, represented as integer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Note: Binary attributes are a special case of discrete attributes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b="1"/>
              <a:t>Continuous</a:t>
            </a:r>
            <a:r>
              <a:rPr lang="en-US" altLang="en-US" sz="2400"/>
              <a:t> </a:t>
            </a:r>
            <a:r>
              <a:rPr lang="en-US" altLang="en-US" sz="2400" b="1"/>
              <a:t>Attribute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Has real numbers as attribute values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E.g., temperature, height, or weight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Practically, real values can only be measured and represented using a finite number of digits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Continuous attributes are typically represented as floating-point variables</a:t>
            </a:r>
          </a:p>
        </p:txBody>
      </p:sp>
    </p:spTree>
    <p:extLst>
      <p:ext uri="{BB962C8B-B14F-4D97-AF65-F5344CB8AC3E}">
        <p14:creationId xmlns:p14="http://schemas.microsoft.com/office/powerpoint/2010/main" val="416998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E45-AC58-43D9-A609-0ACA43F9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707C-A1E1-4947-B90A-F5C91A14AD9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394461"/>
            <a:ext cx="10972800" cy="4754563"/>
          </a:xfrm>
        </p:spPr>
        <p:txBody>
          <a:bodyPr/>
          <a:lstStyle/>
          <a:p>
            <a:pPr lvl="0"/>
            <a:r>
              <a:rPr lang="en-US" dirty="0"/>
              <a:t>Types of datasets, data, and attributes</a:t>
            </a:r>
          </a:p>
          <a:p>
            <a:pPr lvl="0"/>
            <a:r>
              <a:rPr lang="en-US" b="1" dirty="0">
                <a:solidFill>
                  <a:srgbClr val="FF0000"/>
                </a:solidFill>
              </a:rPr>
              <a:t>Data pre-processing tasks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Data cleaning</a:t>
            </a:r>
          </a:p>
          <a:p>
            <a:pPr lvl="1"/>
            <a:r>
              <a:rPr lang="en-US" dirty="0"/>
              <a:t>Data integration</a:t>
            </a:r>
          </a:p>
          <a:p>
            <a:pPr lvl="1"/>
            <a:r>
              <a:rPr lang="en-US" dirty="0"/>
              <a:t>Data reduction</a:t>
            </a:r>
          </a:p>
          <a:p>
            <a:pPr lvl="1"/>
            <a:r>
              <a:rPr lang="en-US" dirty="0"/>
              <a:t>Data transformation</a:t>
            </a:r>
          </a:p>
          <a:p>
            <a:r>
              <a:rPr lang="en-US" dirty="0"/>
              <a:t>Take-aways</a:t>
            </a:r>
          </a:p>
        </p:txBody>
      </p:sp>
    </p:spTree>
    <p:extLst>
      <p:ext uri="{BB962C8B-B14F-4D97-AF65-F5344CB8AC3E}">
        <p14:creationId xmlns:p14="http://schemas.microsoft.com/office/powerpoint/2010/main" val="1035601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43638BE6-DCAB-48CE-9D19-C37BE2571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Data Quality: Why Preprocess the Data?</a:t>
            </a:r>
            <a:endParaRPr lang="en-US" altLang="en-US"/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95F0CA67-E10B-4A4A-8688-F0C202C83076}"/>
              </a:ext>
            </a:extLst>
          </p:cNvPr>
          <p:cNvSpPr>
            <a:spLocks noGrp="1" noChangeArrowheads="1"/>
          </p:cNvSpPr>
          <p:nvPr>
            <p:ph idx="13"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en-US" sz="2600" dirty="0"/>
              <a:t>Measures for data quality: </a:t>
            </a:r>
          </a:p>
          <a:p>
            <a:pPr lvl="1">
              <a:lnSpc>
                <a:spcPct val="140000"/>
              </a:lnSpc>
            </a:pPr>
            <a:r>
              <a:rPr lang="en-US" altLang="en-US" sz="2200" dirty="0"/>
              <a:t>Accuracy: correct or wrong, accurate or not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 sz="2600" dirty="0"/>
              <a:t>Completeness: not recorded, unavailable, …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 sz="2600" dirty="0"/>
              <a:t>Consistency: some modified but some not, dangling, …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 sz="2600" dirty="0"/>
              <a:t>Timeliness: timely update? 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 sz="2600" dirty="0"/>
              <a:t>Believability: how trustable the data is?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 sz="2600" dirty="0"/>
              <a:t>Interpretability: how easily the data can be understood?</a:t>
            </a:r>
          </a:p>
        </p:txBody>
      </p:sp>
    </p:spTree>
    <p:extLst>
      <p:ext uri="{BB962C8B-B14F-4D97-AF65-F5344CB8AC3E}">
        <p14:creationId xmlns:p14="http://schemas.microsoft.com/office/powerpoint/2010/main" val="1315072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3261A379-D002-462D-92A2-CB05623D46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Major Tasks in Data Preprocessing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80BE494A-B924-45F8-9504-AC8FB47F0084}"/>
              </a:ext>
            </a:extLst>
          </p:cNvPr>
          <p:cNvSpPr>
            <a:spLocks noGrp="1" noChangeArrowheads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 b="1" dirty="0"/>
              <a:t>Data cleaning</a:t>
            </a:r>
          </a:p>
          <a:p>
            <a:pPr lvl="1" eaLnBrk="1" hangingPunct="1"/>
            <a:r>
              <a:rPr lang="en-US" altLang="en-US" dirty="0"/>
              <a:t>Fill in missing values, smooth noisy data, identify or remove outliers, and resolve inconsistencies</a:t>
            </a:r>
          </a:p>
          <a:p>
            <a:pPr eaLnBrk="1" hangingPunct="1"/>
            <a:r>
              <a:rPr lang="en-US" altLang="en-US" sz="2400" b="1" dirty="0"/>
              <a:t>Data integration</a:t>
            </a:r>
          </a:p>
          <a:p>
            <a:pPr lvl="1" eaLnBrk="1" hangingPunct="1"/>
            <a:r>
              <a:rPr lang="en-US" altLang="en-US" dirty="0"/>
              <a:t>Integration of multiple databases, or files</a:t>
            </a:r>
          </a:p>
          <a:p>
            <a:pPr eaLnBrk="1" hangingPunct="1"/>
            <a:r>
              <a:rPr lang="en-US" altLang="en-US" sz="2400" b="1" dirty="0"/>
              <a:t>Data reduction</a:t>
            </a:r>
          </a:p>
          <a:p>
            <a:pPr lvl="1" eaLnBrk="1" hangingPunct="1"/>
            <a:r>
              <a:rPr lang="en-US" altLang="en-US" dirty="0"/>
              <a:t>Dimensionality reduction</a:t>
            </a:r>
          </a:p>
          <a:p>
            <a:pPr lvl="1" eaLnBrk="1" hangingPunct="1"/>
            <a:r>
              <a:rPr lang="en-US" altLang="en-US" dirty="0" err="1"/>
              <a:t>Numerosity</a:t>
            </a:r>
            <a:r>
              <a:rPr lang="en-US" altLang="en-US" dirty="0"/>
              <a:t> reduction</a:t>
            </a:r>
          </a:p>
          <a:p>
            <a:pPr lvl="1" eaLnBrk="1" hangingPunct="1"/>
            <a:r>
              <a:rPr lang="en-US" altLang="en-US" dirty="0"/>
              <a:t>Data compression</a:t>
            </a:r>
          </a:p>
          <a:p>
            <a:pPr eaLnBrk="1" hangingPunct="1"/>
            <a:r>
              <a:rPr lang="en-US" altLang="en-US" sz="2400" b="1" dirty="0"/>
              <a:t>Data transformation</a:t>
            </a:r>
          </a:p>
          <a:p>
            <a:pPr lvl="1" eaLnBrk="1" hangingPunct="1"/>
            <a:r>
              <a:rPr lang="en-US" altLang="en-US" dirty="0"/>
              <a:t>Normalization </a:t>
            </a:r>
          </a:p>
          <a:p>
            <a:pPr lvl="1" eaLnBrk="1" hangingPunct="1"/>
            <a:r>
              <a:rPr lang="en-US" altLang="en-US" dirty="0"/>
              <a:t>Concept hierarchy generation</a:t>
            </a:r>
          </a:p>
        </p:txBody>
      </p:sp>
    </p:spTree>
    <p:extLst>
      <p:ext uri="{BB962C8B-B14F-4D97-AF65-F5344CB8AC3E}">
        <p14:creationId xmlns:p14="http://schemas.microsoft.com/office/powerpoint/2010/main" val="1785704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300B6CB9-1D79-41A4-8F0C-BF10B3383A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Data Cleaning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F5881AC6-F8FD-4C90-BCBC-78D07FEA7C61}"/>
              </a:ext>
            </a:extLst>
          </p:cNvPr>
          <p:cNvSpPr>
            <a:spLocks noGrp="1" noChangeArrowheads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200"/>
              <a:t>Data in the Real World Is Dirty: Lots of potentially incorrect data, e.g., instrument faulty, human or computer error, transmission error</a:t>
            </a:r>
          </a:p>
          <a:p>
            <a:pPr lvl="1" eaLnBrk="1" hangingPunct="1"/>
            <a:r>
              <a:rPr lang="en-US" altLang="en-US" sz="2200" u="sng"/>
              <a:t>incomplete</a:t>
            </a:r>
            <a:r>
              <a:rPr lang="en-US" altLang="en-US" sz="2200"/>
              <a:t>: lacking attribute values, lacking certain attributes of interest, or containing only aggregate data</a:t>
            </a:r>
          </a:p>
          <a:p>
            <a:pPr lvl="2" eaLnBrk="1" hangingPunct="1"/>
            <a:r>
              <a:rPr lang="en-US" altLang="en-US" sz="2200"/>
              <a:t>e.g., </a:t>
            </a:r>
            <a:r>
              <a:rPr lang="en-US" altLang="en-US" sz="2200" i="1"/>
              <a:t>Occupation </a:t>
            </a:r>
            <a:r>
              <a:rPr lang="en-US" altLang="en-US" sz="2200"/>
              <a:t>= “ ” (missing data)</a:t>
            </a:r>
          </a:p>
          <a:p>
            <a:pPr lvl="1" eaLnBrk="1" hangingPunct="1"/>
            <a:r>
              <a:rPr lang="en-US" altLang="en-US" sz="2200" u="sng"/>
              <a:t>noisy</a:t>
            </a:r>
            <a:r>
              <a:rPr lang="en-US" altLang="en-US" sz="2200"/>
              <a:t>: containing noise, errors, or outliers</a:t>
            </a:r>
          </a:p>
          <a:p>
            <a:pPr lvl="2" eaLnBrk="1" hangingPunct="1"/>
            <a:r>
              <a:rPr lang="en-US" altLang="en-US" sz="2200"/>
              <a:t>e.g., </a:t>
            </a:r>
            <a:r>
              <a:rPr lang="en-US" altLang="en-US" sz="2200" i="1"/>
              <a:t>Salary </a:t>
            </a:r>
            <a:r>
              <a:rPr lang="en-US" altLang="en-US" sz="2200"/>
              <a:t>= “</a:t>
            </a:r>
            <a:r>
              <a:rPr lang="en-US" altLang="en-US" sz="2200">
                <a:cs typeface="Tahoma" panose="020B0604030504040204" pitchFamily="34" charset="0"/>
              </a:rPr>
              <a:t>−</a:t>
            </a:r>
            <a:r>
              <a:rPr lang="en-US" altLang="en-US" sz="2200"/>
              <a:t>10” (an error)</a:t>
            </a:r>
          </a:p>
          <a:p>
            <a:pPr lvl="1" eaLnBrk="1" hangingPunct="1"/>
            <a:r>
              <a:rPr lang="en-US" altLang="en-US" sz="2200" u="sng"/>
              <a:t>inconsistent</a:t>
            </a:r>
            <a:r>
              <a:rPr lang="en-US" altLang="en-US" sz="2200"/>
              <a:t>: containing discrepancies in codes or names, e.g.,</a:t>
            </a:r>
          </a:p>
          <a:p>
            <a:pPr lvl="2" eaLnBrk="1" hangingPunct="1"/>
            <a:r>
              <a:rPr lang="en-US" altLang="en-US" sz="2200" i="1"/>
              <a:t>Age </a:t>
            </a:r>
            <a:r>
              <a:rPr lang="en-US" altLang="en-US" sz="2200"/>
              <a:t>= “42”, </a:t>
            </a:r>
            <a:r>
              <a:rPr lang="en-US" altLang="en-US" sz="2200" i="1"/>
              <a:t>Birthday </a:t>
            </a:r>
            <a:r>
              <a:rPr lang="en-US" altLang="en-US" sz="2200"/>
              <a:t>= “03/07/2010”</a:t>
            </a:r>
          </a:p>
          <a:p>
            <a:pPr lvl="2" eaLnBrk="1" hangingPunct="1"/>
            <a:r>
              <a:rPr lang="en-US" altLang="en-US" sz="2200"/>
              <a:t>Was rating “1, 2, 3”, now rating “A, B, C”</a:t>
            </a:r>
          </a:p>
          <a:p>
            <a:pPr lvl="2" eaLnBrk="1" hangingPunct="1"/>
            <a:r>
              <a:rPr lang="en-US" altLang="en-US" sz="2200"/>
              <a:t>discrepancy between duplicate records</a:t>
            </a:r>
          </a:p>
          <a:p>
            <a:pPr lvl="1" eaLnBrk="1" hangingPunct="1"/>
            <a:r>
              <a:rPr lang="en-US" altLang="en-US" sz="2200" u="sng"/>
              <a:t>Intentional</a:t>
            </a:r>
            <a:r>
              <a:rPr lang="en-US" altLang="en-US" sz="2200" b="1" u="sng"/>
              <a:t> </a:t>
            </a:r>
            <a:r>
              <a:rPr lang="en-US" altLang="en-US" sz="2200"/>
              <a:t>(e.g., </a:t>
            </a:r>
            <a:r>
              <a:rPr lang="en-US" altLang="en-US" sz="2200" i="1"/>
              <a:t>disguised missing</a:t>
            </a:r>
            <a:r>
              <a:rPr lang="en-US" altLang="en-US" sz="2200"/>
              <a:t> data)</a:t>
            </a:r>
          </a:p>
          <a:p>
            <a:pPr lvl="2" eaLnBrk="1" hangingPunct="1"/>
            <a:r>
              <a:rPr lang="en-US" altLang="en-US" sz="2200"/>
              <a:t>Jan. 1 as everyone’s birthday?</a:t>
            </a:r>
          </a:p>
        </p:txBody>
      </p:sp>
    </p:spTree>
    <p:extLst>
      <p:ext uri="{BB962C8B-B14F-4D97-AF65-F5344CB8AC3E}">
        <p14:creationId xmlns:p14="http://schemas.microsoft.com/office/powerpoint/2010/main" val="3785796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>
            <a:extLst>
              <a:ext uri="{FF2B5EF4-FFF2-40B4-BE49-F238E27FC236}">
                <a16:creationId xmlns:a16="http://schemas.microsoft.com/office/drawing/2014/main" id="{E4A798DC-BE08-4B80-8A69-2387348B53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Incomplete (Missing) Data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3848D45D-48B5-44D0-8962-913E6730105F}"/>
              </a:ext>
            </a:extLst>
          </p:cNvPr>
          <p:cNvSpPr>
            <a:spLocks noGrp="1" noChangeArrowheads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Data is not always available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E.g., many tuples have no recorded value for several attributes, such as customer income in sales data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Missing data may be due to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equipment malfunction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inconsistent with other recorded data and thus deleted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data not entered due to misunderstanding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certain data may not be considered important at the time of entry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not register history or changes of the data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Missing data may need to be inferred</a:t>
            </a:r>
          </a:p>
        </p:txBody>
      </p:sp>
    </p:spTree>
    <p:extLst>
      <p:ext uri="{BB962C8B-B14F-4D97-AF65-F5344CB8AC3E}">
        <p14:creationId xmlns:p14="http://schemas.microsoft.com/office/powerpoint/2010/main" val="4220337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17772776-5439-471C-A774-E229B42247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to Handle Missing Data?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B82DE254-D47B-4DEC-86F0-5FCA71CE3A3C}"/>
              </a:ext>
            </a:extLst>
          </p:cNvPr>
          <p:cNvSpPr>
            <a:spLocks noGrp="1" noChangeArrowheads="1"/>
          </p:cNvSpPr>
          <p:nvPr>
            <p:ph idx="13"/>
          </p:nvPr>
        </p:nvSpPr>
        <p:spPr>
          <a:xfrm>
            <a:off x="609600" y="3130225"/>
            <a:ext cx="10972800" cy="3040379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Ignore the tuple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Fill in the missing value manually: tedious + infeasible?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Fill in it automatically with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a global constant : e.g., “unknown”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the attribute mean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the attribute mean for all samples belonging to the same class: smarter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the most probable value: using decision trees or KNN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CD0BD5A2-5731-4964-A381-2F5F2F3A8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0" y="1257300"/>
            <a:ext cx="5404108" cy="175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059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771D3C54-BCE1-4E4C-B6DF-2CF95D8F72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Noisy Data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3C850725-4BED-47C5-857A-EA337D55B965}"/>
              </a:ext>
            </a:extLst>
          </p:cNvPr>
          <p:cNvSpPr>
            <a:spLocks noGrp="1" noChangeArrowheads="1"/>
          </p:cNvSpPr>
          <p:nvPr>
            <p:ph idx="13"/>
          </p:nvPr>
        </p:nvSpPr>
        <p:spPr/>
        <p:txBody>
          <a:bodyPr/>
          <a:lstStyle/>
          <a:p>
            <a:pPr eaLnBrk="1" hangingPunct="1"/>
            <a:r>
              <a:rPr lang="en-US" altLang="en-US" sz="2400">
                <a:solidFill>
                  <a:schemeClr val="folHlink"/>
                </a:solidFill>
                <a:latin typeface="Calibri" panose="020F0502020204030204" pitchFamily="34" charset="0"/>
              </a:rPr>
              <a:t>Noise</a:t>
            </a:r>
            <a:r>
              <a:rPr lang="en-US" altLang="en-US" sz="2400">
                <a:latin typeface="Calibri" panose="020F0502020204030204" pitchFamily="34" charset="0"/>
              </a:rPr>
              <a:t>: random error or variance in a measured variable</a:t>
            </a:r>
          </a:p>
          <a:p>
            <a:pPr eaLnBrk="1" hangingPunct="1"/>
            <a:r>
              <a:rPr lang="en-US" altLang="en-US" sz="2400">
                <a:solidFill>
                  <a:schemeClr val="folHlink"/>
                </a:solidFill>
                <a:latin typeface="Calibri" panose="020F0502020204030204" pitchFamily="34" charset="0"/>
              </a:rPr>
              <a:t>Incorrect attribute values</a:t>
            </a:r>
            <a:r>
              <a:rPr lang="en-US" altLang="en-US" sz="2400">
                <a:latin typeface="Calibri" panose="020F0502020204030204" pitchFamily="34" charset="0"/>
              </a:rPr>
              <a:t> may be due to</a:t>
            </a:r>
          </a:p>
          <a:p>
            <a:pPr lvl="1" eaLnBrk="1" hangingPunct="1"/>
            <a:r>
              <a:rPr lang="en-US" altLang="en-US">
                <a:latin typeface="Calibri" panose="020F0502020204030204" pitchFamily="34" charset="0"/>
              </a:rPr>
              <a:t>faulty data collection instruments</a:t>
            </a:r>
          </a:p>
          <a:p>
            <a:pPr lvl="1" eaLnBrk="1" hangingPunct="1"/>
            <a:r>
              <a:rPr lang="en-US" altLang="en-US">
                <a:latin typeface="Calibri" panose="020F0502020204030204" pitchFamily="34" charset="0"/>
              </a:rPr>
              <a:t>data entry problems</a:t>
            </a:r>
          </a:p>
          <a:p>
            <a:pPr lvl="1" eaLnBrk="1" hangingPunct="1"/>
            <a:r>
              <a:rPr lang="en-US" altLang="en-US">
                <a:latin typeface="Calibri" panose="020F0502020204030204" pitchFamily="34" charset="0"/>
              </a:rPr>
              <a:t>data transmission problems</a:t>
            </a:r>
          </a:p>
          <a:p>
            <a:pPr lvl="1" eaLnBrk="1" hangingPunct="1"/>
            <a:r>
              <a:rPr lang="en-US" altLang="en-US">
                <a:latin typeface="Calibri" panose="020F0502020204030204" pitchFamily="34" charset="0"/>
              </a:rPr>
              <a:t>technology limitation</a:t>
            </a:r>
          </a:p>
          <a:p>
            <a:pPr lvl="1" eaLnBrk="1" hangingPunct="1"/>
            <a:r>
              <a:rPr lang="en-US" altLang="en-US">
                <a:latin typeface="Calibri" panose="020F0502020204030204" pitchFamily="34" charset="0"/>
              </a:rPr>
              <a:t>inconsistency in naming convention </a:t>
            </a:r>
          </a:p>
          <a:p>
            <a:pPr eaLnBrk="1" hangingPunct="1"/>
            <a:r>
              <a:rPr lang="en-US" altLang="en-US" sz="2400">
                <a:solidFill>
                  <a:schemeClr val="folHlink"/>
                </a:solidFill>
                <a:latin typeface="Calibri" panose="020F0502020204030204" pitchFamily="34" charset="0"/>
              </a:rPr>
              <a:t>Other data problems</a:t>
            </a:r>
            <a:r>
              <a:rPr lang="en-US" altLang="en-US" sz="2400">
                <a:latin typeface="Calibri" panose="020F0502020204030204" pitchFamily="34" charset="0"/>
              </a:rPr>
              <a:t> which require data cleaning</a:t>
            </a:r>
          </a:p>
          <a:p>
            <a:pPr lvl="1" eaLnBrk="1" hangingPunct="1"/>
            <a:r>
              <a:rPr lang="en-US" altLang="en-US">
                <a:latin typeface="Calibri" panose="020F0502020204030204" pitchFamily="34" charset="0"/>
              </a:rPr>
              <a:t>duplicate records</a:t>
            </a:r>
          </a:p>
          <a:p>
            <a:pPr lvl="1" eaLnBrk="1" hangingPunct="1"/>
            <a:r>
              <a:rPr lang="en-US" altLang="en-US">
                <a:latin typeface="Calibri" panose="020F0502020204030204" pitchFamily="34" charset="0"/>
              </a:rPr>
              <a:t>incomplete data</a:t>
            </a:r>
          </a:p>
          <a:p>
            <a:pPr lvl="1" eaLnBrk="1" hangingPunct="1"/>
            <a:r>
              <a:rPr lang="en-US" altLang="en-US">
                <a:latin typeface="Calibri" panose="020F0502020204030204" pitchFamily="34" charset="0"/>
              </a:rPr>
              <a:t>inconsistent data</a:t>
            </a:r>
          </a:p>
        </p:txBody>
      </p:sp>
    </p:spTree>
    <p:extLst>
      <p:ext uri="{BB962C8B-B14F-4D97-AF65-F5344CB8AC3E}">
        <p14:creationId xmlns:p14="http://schemas.microsoft.com/office/powerpoint/2010/main" val="198965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0F4DDD9A-D27F-4505-9F37-F0454EDCB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/>
              <a:t>How to Handle Noisy Data?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4266DB7B-5448-4798-96CC-7CDD429EB5F7}"/>
              </a:ext>
            </a:extLst>
          </p:cNvPr>
          <p:cNvSpPr>
            <a:spLocks noGrp="1" noChangeArrowheads="1"/>
          </p:cNvSpPr>
          <p:nvPr>
            <p:ph idx="13"/>
          </p:nvPr>
        </p:nvSpPr>
        <p:spPr/>
        <p:txBody>
          <a:bodyPr/>
          <a:lstStyle/>
          <a:p>
            <a:pPr eaLnBrk="1" hangingPunct="1"/>
            <a:r>
              <a:rPr lang="en-US" altLang="en-US" sz="2400">
                <a:solidFill>
                  <a:schemeClr val="folHlink"/>
                </a:solidFill>
              </a:rPr>
              <a:t>Binning</a:t>
            </a:r>
          </a:p>
          <a:p>
            <a:pPr lvl="1" eaLnBrk="1" hangingPunct="1"/>
            <a:r>
              <a:rPr lang="en-US" altLang="en-US"/>
              <a:t>first sort data and partition into (equal-frequency) bins</a:t>
            </a:r>
          </a:p>
          <a:p>
            <a:pPr lvl="1" eaLnBrk="1" hangingPunct="1"/>
            <a:r>
              <a:rPr lang="en-US" altLang="en-US"/>
              <a:t>then one can </a:t>
            </a:r>
            <a:r>
              <a:rPr lang="en-US" altLang="en-US">
                <a:solidFill>
                  <a:schemeClr val="hlink"/>
                </a:solidFill>
              </a:rPr>
              <a:t>smooth by bin means, smooth by bin median, smooth by bin boundaries</a:t>
            </a:r>
            <a:r>
              <a:rPr lang="en-US" altLang="en-US"/>
              <a:t>, etc.</a:t>
            </a:r>
          </a:p>
          <a:p>
            <a:pPr eaLnBrk="1" hangingPunct="1"/>
            <a:r>
              <a:rPr lang="en-US" altLang="en-US" sz="2400">
                <a:solidFill>
                  <a:schemeClr val="folHlink"/>
                </a:solidFill>
              </a:rPr>
              <a:t>Regression</a:t>
            </a:r>
          </a:p>
          <a:p>
            <a:pPr lvl="1" eaLnBrk="1" hangingPunct="1"/>
            <a:r>
              <a:rPr lang="en-US" altLang="en-US"/>
              <a:t>smooth by fitting the data into regression functions</a:t>
            </a:r>
          </a:p>
          <a:p>
            <a:pPr eaLnBrk="1" hangingPunct="1"/>
            <a:r>
              <a:rPr lang="en-US" altLang="en-US" sz="2400">
                <a:solidFill>
                  <a:schemeClr val="folHlink"/>
                </a:solidFill>
              </a:rPr>
              <a:t>Clustering</a:t>
            </a:r>
          </a:p>
          <a:p>
            <a:pPr lvl="1" eaLnBrk="1" hangingPunct="1"/>
            <a:r>
              <a:rPr lang="en-US" altLang="en-US"/>
              <a:t>detect and remove outliers</a:t>
            </a:r>
          </a:p>
          <a:p>
            <a:pPr eaLnBrk="1" hangingPunct="1"/>
            <a:r>
              <a:rPr lang="en-US" altLang="en-US" sz="2400">
                <a:solidFill>
                  <a:schemeClr val="folHlink"/>
                </a:solidFill>
              </a:rPr>
              <a:t>Combined computer and human inspection</a:t>
            </a:r>
          </a:p>
          <a:p>
            <a:pPr lvl="1" eaLnBrk="1" hangingPunct="1"/>
            <a:r>
              <a:rPr lang="en-US" altLang="en-US"/>
              <a:t>detect suspicious values and check by human (e.g., deal with possible outliers)</a:t>
            </a:r>
          </a:p>
        </p:txBody>
      </p:sp>
    </p:spTree>
    <p:extLst>
      <p:ext uri="{BB962C8B-B14F-4D97-AF65-F5344CB8AC3E}">
        <p14:creationId xmlns:p14="http://schemas.microsoft.com/office/powerpoint/2010/main" val="3969338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805" y="851035"/>
            <a:ext cx="8404965" cy="480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Segoe"/>
              </a:rPr>
              <a:t>Identify Outliers and Errors</a:t>
            </a:r>
          </a:p>
        </p:txBody>
      </p:sp>
      <p:sp>
        <p:nvSpPr>
          <p:cNvPr id="4" name="Oval 3"/>
          <p:cNvSpPr/>
          <p:nvPr/>
        </p:nvSpPr>
        <p:spPr>
          <a:xfrm>
            <a:off x="2442575" y="3782860"/>
            <a:ext cx="871341" cy="132529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791188" y="3782860"/>
            <a:ext cx="1565753" cy="171112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829175" y="5800725"/>
            <a:ext cx="24288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Outliers?</a:t>
            </a:r>
          </a:p>
        </p:txBody>
      </p:sp>
      <p:cxnSp>
        <p:nvCxnSpPr>
          <p:cNvPr id="9" name="Straight Connector 8"/>
          <p:cNvCxnSpPr>
            <a:stCxn id="8" idx="3"/>
          </p:cNvCxnSpPr>
          <p:nvPr/>
        </p:nvCxnSpPr>
        <p:spPr>
          <a:xfrm flipH="1">
            <a:off x="7100891" y="5243392"/>
            <a:ext cx="919596" cy="77164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4" idx="5"/>
          </p:cNvCxnSpPr>
          <p:nvPr/>
        </p:nvCxnSpPr>
        <p:spPr>
          <a:xfrm>
            <a:off x="3186311" y="4914072"/>
            <a:ext cx="1824100" cy="11009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37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471" y="789140"/>
            <a:ext cx="9392135" cy="5774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Segoe"/>
              </a:rPr>
              <a:t>Identify Outliers and Errors</a:t>
            </a:r>
          </a:p>
        </p:txBody>
      </p:sp>
      <p:sp>
        <p:nvSpPr>
          <p:cNvPr id="4" name="Oval 3"/>
          <p:cNvSpPr/>
          <p:nvPr/>
        </p:nvSpPr>
        <p:spPr>
          <a:xfrm>
            <a:off x="1866378" y="1390388"/>
            <a:ext cx="1302708" cy="110229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850241" y="1494655"/>
            <a:ext cx="24288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Outliers?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7064679" y="2167003"/>
            <a:ext cx="1978330" cy="25351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495088" y="4702154"/>
            <a:ext cx="1556592" cy="133631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3169086" y="1848598"/>
            <a:ext cx="2818355" cy="9293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597058" y="2066795"/>
            <a:ext cx="787052" cy="77870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4384110" y="2066795"/>
            <a:ext cx="1603331" cy="30062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204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0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E45-AC58-43D9-A609-0ACA43F9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707C-A1E1-4947-B90A-F5C91A14AD9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394461"/>
            <a:ext cx="10972800" cy="4754563"/>
          </a:xfrm>
        </p:spPr>
        <p:txBody>
          <a:bodyPr/>
          <a:lstStyle/>
          <a:p>
            <a:pPr lvl="0"/>
            <a:r>
              <a:rPr lang="en-US" dirty="0"/>
              <a:t>Types of datasets, data, and attributes</a:t>
            </a:r>
          </a:p>
          <a:p>
            <a:pPr lvl="0"/>
            <a:r>
              <a:rPr lang="en-US" dirty="0"/>
              <a:t>Basic Statistical descriptions of data: histograms, box plots, Q-Q plots.</a:t>
            </a:r>
          </a:p>
          <a:p>
            <a:pPr lvl="0"/>
            <a:r>
              <a:rPr lang="en-US" dirty="0"/>
              <a:t>Data pre-processing tasks</a:t>
            </a:r>
          </a:p>
          <a:p>
            <a:pPr lvl="1"/>
            <a:r>
              <a:rPr lang="en-US" dirty="0"/>
              <a:t>Data cleaning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Data integration</a:t>
            </a:r>
          </a:p>
          <a:p>
            <a:pPr lvl="1"/>
            <a:r>
              <a:rPr lang="en-US" dirty="0"/>
              <a:t>Data reduction</a:t>
            </a:r>
          </a:p>
          <a:p>
            <a:pPr lvl="1"/>
            <a:r>
              <a:rPr lang="en-US" dirty="0"/>
              <a:t>Data transformation</a:t>
            </a:r>
          </a:p>
          <a:p>
            <a:r>
              <a:rPr lang="en-US" dirty="0"/>
              <a:t>Take-aways</a:t>
            </a:r>
          </a:p>
        </p:txBody>
      </p:sp>
    </p:spTree>
    <p:extLst>
      <p:ext uri="{BB962C8B-B14F-4D97-AF65-F5344CB8AC3E}">
        <p14:creationId xmlns:p14="http://schemas.microsoft.com/office/powerpoint/2010/main" val="2241630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C0C45A63-5605-42FC-ABBF-749B2C0C090F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3D24A3F7-A511-4C47-89F5-46517F6A0FE8}" type="slidenum">
              <a:rPr lang="en-US" altLang="en-US" sz="1200"/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200"/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4B622922-BA0E-45B4-B133-6AC2A28B0E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/>
              <a:t>Data Integration</a:t>
            </a:r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AECAD154-47CD-4C39-A1A4-EA198E5AC8D9}"/>
              </a:ext>
            </a:extLst>
          </p:cNvPr>
          <p:cNvSpPr>
            <a:spLocks noGrp="1" noChangeArrowheads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en-US" sz="2000" dirty="0"/>
              <a:t>Data integration: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 dirty="0"/>
              <a:t>Combines data from multiple sources into a coherent store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 dirty="0"/>
              <a:t>Schema integration: e.g., </a:t>
            </a:r>
            <a:r>
              <a:rPr lang="en-US" altLang="en-US" sz="2000" dirty="0" err="1"/>
              <a:t>A.cust</a:t>
            </a:r>
            <a:r>
              <a:rPr lang="en-US" altLang="en-US" sz="2000" dirty="0"/>
              <a:t>-id </a:t>
            </a:r>
            <a:r>
              <a:rPr lang="en-US" altLang="en-US" sz="2000" dirty="0">
                <a:sym typeface="Symbol" panose="05050102010706020507" pitchFamily="18" charset="2"/>
              </a:rPr>
              <a:t> </a:t>
            </a:r>
            <a:r>
              <a:rPr lang="en-US" altLang="en-US" sz="2000" dirty="0" err="1">
                <a:sym typeface="Symbol" panose="05050102010706020507" pitchFamily="18" charset="2"/>
              </a:rPr>
              <a:t>B.</a:t>
            </a:r>
            <a:r>
              <a:rPr lang="en-US" altLang="en-US" sz="2000" dirty="0" err="1"/>
              <a:t>cust</a:t>
            </a:r>
            <a:r>
              <a:rPr lang="en-US" altLang="en-US" sz="2000" dirty="0"/>
              <a:t>-#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 dirty="0"/>
              <a:t>Integrate metadata from different sources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 dirty="0"/>
              <a:t>Entity identification problem: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 dirty="0"/>
              <a:t>Identify real world entities from multiple data sources, e.g., Bill Clinton = William Clinton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 dirty="0"/>
              <a:t>Detecting and resolving data value conflicts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 dirty="0"/>
              <a:t>For the same real world entity, attribute values from different sources are different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 dirty="0"/>
              <a:t>Possible reasons: different representations, different scales, e.g., metric vs. British units</a:t>
            </a:r>
          </a:p>
        </p:txBody>
      </p:sp>
    </p:spTree>
    <p:extLst>
      <p:ext uri="{BB962C8B-B14F-4D97-AF65-F5344CB8AC3E}">
        <p14:creationId xmlns:p14="http://schemas.microsoft.com/office/powerpoint/2010/main" val="1720816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Slide Number Placeholder 5">
            <a:extLst>
              <a:ext uri="{FF2B5EF4-FFF2-40B4-BE49-F238E27FC236}">
                <a16:creationId xmlns:a16="http://schemas.microsoft.com/office/drawing/2014/main" id="{C8B03C97-A84B-433C-9B8C-EEC81FD68643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C31E25CD-32D4-4BB5-9C74-A536AC69E142}" type="slidenum">
              <a:rPr lang="en-US" altLang="en-US" sz="1200"/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200"/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74FFA5C6-CF96-4B9B-935D-78BDFACD73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Handling Redundancy in Data Integration</a:t>
            </a: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BB39C0C3-914E-4160-9057-065413041063}"/>
              </a:ext>
            </a:extLst>
          </p:cNvPr>
          <p:cNvSpPr>
            <a:spLocks noGrp="1" noChangeArrowheads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Redundant data occur often when integration of multiple databases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i="1" dirty="0"/>
              <a:t>Object identification</a:t>
            </a:r>
            <a:r>
              <a:rPr lang="en-US" altLang="en-US" dirty="0"/>
              <a:t>:  The same attribute or object may have different names in different databases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i="1" dirty="0"/>
              <a:t>Derivable data:</a:t>
            </a:r>
            <a:r>
              <a:rPr lang="en-US" altLang="en-US" dirty="0"/>
              <a:t> One attribute may be a “derived” attribute in another table, e.g., annual revenue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Redundancy should be removed when performing integration.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Redundant attributes may be detected by </a:t>
            </a:r>
            <a:r>
              <a:rPr lang="en-US" altLang="en-US" sz="2400" i="1" dirty="0"/>
              <a:t>correlation analysis.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90051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:a16="http://schemas.microsoft.com/office/drawing/2014/main" id="{1CE47419-276F-48E5-976C-E2BED0B208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Correlation Analysis (Nominal Data): Chi-Square Test</a:t>
            </a:r>
          </a:p>
        </p:txBody>
      </p:sp>
      <p:graphicFrame>
        <p:nvGraphicFramePr>
          <p:cNvPr id="37893" name="Object 4">
            <a:extLst>
              <a:ext uri="{FF2B5EF4-FFF2-40B4-BE49-F238E27FC236}">
                <a16:creationId xmlns:a16="http://schemas.microsoft.com/office/drawing/2014/main" id="{792B90B7-F2A3-4234-85D7-FC35091C5971}"/>
              </a:ext>
            </a:extLst>
          </p:cNvPr>
          <p:cNvGraphicFramePr>
            <a:graphicFrameLocks noGrp="1" noChangeAspect="1"/>
          </p:cNvGraphicFramePr>
          <p:nvPr>
            <p:ph idx="13"/>
            <p:extLst>
              <p:ext uri="{D42A27DB-BD31-4B8C-83A1-F6EECF244321}">
                <p14:modId xmlns:p14="http://schemas.microsoft.com/office/powerpoint/2010/main" val="4210525869"/>
              </p:ext>
            </p:extLst>
          </p:nvPr>
        </p:nvGraphicFramePr>
        <p:xfrm>
          <a:off x="5048250" y="4624605"/>
          <a:ext cx="5905062" cy="564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81500" imgH="419100" progId="Equation.3">
                  <p:embed/>
                </p:oleObj>
              </mc:Choice>
              <mc:Fallback>
                <p:oleObj name="Equation" r:id="rId3" imgW="4381500" imgH="419100" progId="Equation.3">
                  <p:embed/>
                  <p:pic>
                    <p:nvPicPr>
                      <p:cNvPr id="37893" name="Object 4">
                        <a:extLst>
                          <a:ext uri="{FF2B5EF4-FFF2-40B4-BE49-F238E27FC236}">
                            <a16:creationId xmlns:a16="http://schemas.microsoft.com/office/drawing/2014/main" id="{792B90B7-F2A3-4234-85D7-FC35091C59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0" y="4624605"/>
                        <a:ext cx="5905062" cy="5648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Rectangle 3">
            <a:extLst>
              <a:ext uri="{FF2B5EF4-FFF2-40B4-BE49-F238E27FC236}">
                <a16:creationId xmlns:a16="http://schemas.microsoft.com/office/drawing/2014/main" id="{FDA210C9-480B-460C-B1D4-6F8BBEE48486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17220" y="1710690"/>
            <a:ext cx="10789920" cy="50292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endParaRPr lang="en-US" altLang="en-US" sz="2400" dirty="0"/>
          </a:p>
          <a:p>
            <a:pPr>
              <a:lnSpc>
                <a:spcPct val="110000"/>
              </a:lnSpc>
            </a:pPr>
            <a:endParaRPr lang="en-US" altLang="en-US" sz="2400" dirty="0"/>
          </a:p>
          <a:p>
            <a:pPr>
              <a:lnSpc>
                <a:spcPct val="110000"/>
              </a:lnSpc>
            </a:pPr>
            <a:endParaRPr lang="en-US" altLang="en-US" sz="2400" dirty="0"/>
          </a:p>
          <a:p>
            <a:pPr>
              <a:lnSpc>
                <a:spcPct val="110000"/>
              </a:lnSpc>
            </a:pPr>
            <a:r>
              <a:rPr lang="el-GR" altLang="en-US" sz="2400" dirty="0">
                <a:latin typeface="Calibri" panose="020F0502020204030204" pitchFamily="34" charset="0"/>
              </a:rPr>
              <a:t>Χ</a:t>
            </a:r>
            <a:r>
              <a:rPr lang="en-US" altLang="en-US" sz="2400" baseline="30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 (chi-square) calculation (numbers in parenthesis are expected counts calculated based on the data distribution in the two categories)</a:t>
            </a:r>
            <a:endParaRPr lang="el-GR" altLang="en-US" sz="2400" dirty="0">
              <a:latin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507.93&gt;10.828 shows that </a:t>
            </a:r>
            <a:r>
              <a:rPr lang="en-US" altLang="en-US" sz="2400" dirty="0" err="1">
                <a:latin typeface="Calibri" panose="020F0502020204030204" pitchFamily="34" charset="0"/>
              </a:rPr>
              <a:t>like_science_fiction</a:t>
            </a:r>
            <a:r>
              <a:rPr lang="en-US" altLang="en-US" sz="2400" dirty="0">
                <a:latin typeface="Calibri" panose="020F0502020204030204" pitchFamily="34" charset="0"/>
              </a:rPr>
              <a:t> and </a:t>
            </a:r>
            <a:r>
              <a:rPr lang="en-US" altLang="en-US" sz="2400" dirty="0" err="1">
                <a:latin typeface="Calibri" panose="020F0502020204030204" pitchFamily="34" charset="0"/>
              </a:rPr>
              <a:t>play_chess</a:t>
            </a:r>
            <a:r>
              <a:rPr lang="en-US" altLang="en-US" sz="2400" dirty="0">
                <a:latin typeface="Calibri" panose="020F0502020204030204" pitchFamily="34" charset="0"/>
              </a:rPr>
              <a:t> are correlated in the group</a:t>
            </a:r>
          </a:p>
        </p:txBody>
      </p:sp>
      <p:graphicFrame>
        <p:nvGraphicFramePr>
          <p:cNvPr id="267269" name="Group 5">
            <a:extLst>
              <a:ext uri="{FF2B5EF4-FFF2-40B4-BE49-F238E27FC236}">
                <a16:creationId xmlns:a16="http://schemas.microsoft.com/office/drawing/2014/main" id="{441C0E5F-6C1C-4E37-BC1B-795C58AF3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986601"/>
              </p:ext>
            </p:extLst>
          </p:nvPr>
        </p:nvGraphicFramePr>
        <p:xfrm>
          <a:off x="603250" y="1350169"/>
          <a:ext cx="4648200" cy="1414464"/>
        </p:xfrm>
        <a:graphic>
          <a:graphicData uri="http://schemas.openxmlformats.org/drawingml/2006/table">
            <a:tbl>
              <a:tblPr/>
              <a:tblGrid>
                <a:gridCol w="1692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0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Play chess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 play chess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 (row)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07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Like science fiction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250(90)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200(360)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450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7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 like science fiction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50(210)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1000(840)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1050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07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Sum(col.)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1200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1500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7921" name="Picture 1">
            <a:extLst>
              <a:ext uri="{FF2B5EF4-FFF2-40B4-BE49-F238E27FC236}">
                <a16:creationId xmlns:a16="http://schemas.microsoft.com/office/drawing/2014/main" id="{148BC47C-BABF-4931-99B8-102BAB7AD7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223" y="952657"/>
            <a:ext cx="3897189" cy="788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22" name="Picture 2">
            <a:extLst>
              <a:ext uri="{FF2B5EF4-FFF2-40B4-BE49-F238E27FC236}">
                <a16:creationId xmlns:a16="http://schemas.microsoft.com/office/drawing/2014/main" id="{A9E01420-BE79-4671-A640-714310BA27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587" y="1814084"/>
            <a:ext cx="5458777" cy="702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23" name="Rectangle 3">
            <a:extLst>
              <a:ext uri="{FF2B5EF4-FFF2-40B4-BE49-F238E27FC236}">
                <a16:creationId xmlns:a16="http://schemas.microsoft.com/office/drawing/2014/main" id="{947DF708-D903-454D-94BF-47C75CABD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587" y="2560637"/>
            <a:ext cx="54311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CMR10"/>
              </a:rPr>
              <a:t>For this 2 </a:t>
            </a:r>
            <a:r>
              <a:rPr lang="en-US" altLang="en-US" sz="1200">
                <a:latin typeface="CMSY10"/>
              </a:rPr>
              <a:t>× </a:t>
            </a:r>
            <a:r>
              <a:rPr lang="en-US" altLang="en-US" sz="1200">
                <a:latin typeface="CMR10"/>
              </a:rPr>
              <a:t>2 table, the degrees of freedom are (2 </a:t>
            </a:r>
            <a:r>
              <a:rPr lang="en-US" altLang="en-US" sz="1200">
                <a:latin typeface="CMSY10"/>
              </a:rPr>
              <a:t>− </a:t>
            </a:r>
            <a:r>
              <a:rPr lang="en-US" altLang="en-US" sz="1200">
                <a:latin typeface="CMR10"/>
              </a:rPr>
              <a:t>1)(2 </a:t>
            </a:r>
            <a:r>
              <a:rPr lang="en-US" altLang="en-US" sz="1200">
                <a:latin typeface="CMSY10"/>
              </a:rPr>
              <a:t>− </a:t>
            </a:r>
            <a:r>
              <a:rPr lang="en-US" altLang="en-US" sz="1200">
                <a:latin typeface="CMR10"/>
              </a:rPr>
              <a:t>1) = 1. For 1 degree of freedom, the </a:t>
            </a:r>
            <a:r>
              <a:rPr lang="en-US" altLang="en-US" sz="1200">
                <a:latin typeface="CMR7"/>
              </a:rPr>
              <a:t>2 </a:t>
            </a:r>
            <a:r>
              <a:rPr lang="en-US" altLang="en-US" sz="1200">
                <a:latin typeface="CMR10"/>
              </a:rPr>
              <a:t>value needed to reject the hypothesis at the 0.001  significance level is 10.828</a:t>
            </a:r>
            <a:endParaRPr lang="en-US" altLang="en-US" sz="1200"/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B3BFDC13-2A6E-4C59-8C6D-FC519A383F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031147"/>
              </p:ext>
            </p:extLst>
          </p:nvPr>
        </p:nvGraphicFramePr>
        <p:xfrm>
          <a:off x="1021080" y="4624605"/>
          <a:ext cx="2803524" cy="60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57400" imgH="444500" progId="Equation.3">
                  <p:embed/>
                </p:oleObj>
              </mc:Choice>
              <mc:Fallback>
                <p:oleObj name="Equation" r:id="rId7" imgW="2057400" imgH="444500" progId="Equation.3">
                  <p:embed/>
                  <p:pic>
                    <p:nvPicPr>
                      <p:cNvPr id="35845" name="Object 4">
                        <a:extLst>
                          <a:ext uri="{FF2B5EF4-FFF2-40B4-BE49-F238E27FC236}">
                            <a16:creationId xmlns:a16="http://schemas.microsoft.com/office/drawing/2014/main" id="{FE7E6788-7D6F-4EFF-B3C2-1F2E557CC8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1080" y="4624605"/>
                        <a:ext cx="2803524" cy="60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6794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>
            <a:extLst>
              <a:ext uri="{FF2B5EF4-FFF2-40B4-BE49-F238E27FC236}">
                <a16:creationId xmlns:a16="http://schemas.microsoft.com/office/drawing/2014/main" id="{790F2693-FA2F-4117-9748-73239425B0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Correlation Analysis (Numeric Data)</a:t>
            </a:r>
          </a:p>
        </p:txBody>
      </p:sp>
      <p:graphicFrame>
        <p:nvGraphicFramePr>
          <p:cNvPr id="39941" name="Object 4">
            <a:extLst>
              <a:ext uri="{FF2B5EF4-FFF2-40B4-BE49-F238E27FC236}">
                <a16:creationId xmlns:a16="http://schemas.microsoft.com/office/drawing/2014/main" id="{0439C67B-998C-4A75-A404-00CFC0AEF05A}"/>
              </a:ext>
            </a:extLst>
          </p:cNvPr>
          <p:cNvGraphicFramePr>
            <a:graphicFrameLocks noGrp="1" noChangeAspect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088706652"/>
              </p:ext>
            </p:extLst>
          </p:nvPr>
        </p:nvGraphicFramePr>
        <p:xfrm>
          <a:off x="2489200" y="2053908"/>
          <a:ext cx="4927772" cy="872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70200" imgH="508000" progId="Equation.3">
                  <p:embed/>
                </p:oleObj>
              </mc:Choice>
              <mc:Fallback>
                <p:oleObj name="Equation" r:id="rId3" imgW="2870200" imgH="508000" progId="Equation.3">
                  <p:embed/>
                  <p:pic>
                    <p:nvPicPr>
                      <p:cNvPr id="39941" name="Object 4">
                        <a:extLst>
                          <a:ext uri="{FF2B5EF4-FFF2-40B4-BE49-F238E27FC236}">
                            <a16:creationId xmlns:a16="http://schemas.microsoft.com/office/drawing/2014/main" id="{0439C67B-998C-4A75-A404-00CFC0AEF0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2053908"/>
                        <a:ext cx="4927772" cy="8721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9940" name="Rectangle 3">
                <a:extLst>
                  <a:ext uri="{FF2B5EF4-FFF2-40B4-BE49-F238E27FC236}">
                    <a16:creationId xmlns:a16="http://schemas.microsoft.com/office/drawing/2014/main" id="{BF9FE817-FAC1-468B-895A-D36BD3001DD8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594360" y="1447800"/>
                <a:ext cx="11029950" cy="5029200"/>
              </a:xfrm>
            </p:spPr>
            <p:txBody>
              <a:bodyPr/>
              <a:lstStyle/>
              <a:p>
                <a:r>
                  <a:rPr lang="en-US" altLang="en-US" sz="2400" dirty="0">
                    <a:latin typeface="Calibri" panose="020F0502020204030204" pitchFamily="34" charset="0"/>
                  </a:rPr>
                  <a:t>Correlation coefficient (also called </a:t>
                </a:r>
                <a:r>
                  <a:rPr lang="en-US" altLang="en-US" sz="2400" dirty="0">
                    <a:solidFill>
                      <a:schemeClr val="folHlink"/>
                    </a:solidFill>
                    <a:latin typeface="Calibri" panose="020F0502020204030204" pitchFamily="34" charset="0"/>
                  </a:rPr>
                  <a:t>Pearson’s product moment coefficient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)</a:t>
                </a:r>
              </a:p>
              <a:p>
                <a:endParaRPr lang="en-US" altLang="en-US" sz="2400" dirty="0">
                  <a:latin typeface="Calibri" panose="020F0502020204030204" pitchFamily="34" charset="0"/>
                </a:endParaRPr>
              </a:p>
              <a:p>
                <a:endParaRPr lang="en-US" altLang="en-US" sz="2400" dirty="0">
                  <a:latin typeface="Calibri" panose="020F0502020204030204" pitchFamily="34" charset="0"/>
                </a:endParaRPr>
              </a:p>
              <a:p>
                <a:endParaRPr lang="en-US" altLang="en-US" sz="2400" dirty="0">
                  <a:latin typeface="Calibri" panose="020F0502020204030204" pitchFamily="34" charset="0"/>
                </a:endParaRPr>
              </a:p>
              <a:p>
                <a:pPr lvl="1">
                  <a:buFont typeface="Wingdings" panose="05000000000000000000" pitchFamily="2" charset="2"/>
                  <a:buNone/>
                </a:pPr>
                <a:r>
                  <a:rPr lang="en-US" altLang="en-US" dirty="0">
                    <a:latin typeface="Calibri" panose="020F0502020204030204" pitchFamily="34" charset="0"/>
                  </a:rPr>
                  <a:t>where n is the number of tuples, </a:t>
                </a:r>
                <a14:m>
                  <m:oMath xmlns:m="http://schemas.openxmlformats.org/officeDocument/2006/math"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en-US" dirty="0">
                    <a:latin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en-US" dirty="0">
                    <a:latin typeface="Calibri" panose="020F0502020204030204" pitchFamily="34" charset="0"/>
                  </a:rPr>
                  <a:t> are the respective means of A and B, </a:t>
                </a:r>
                <a:r>
                  <a:rPr lang="el-GR" altLang="en-US" dirty="0">
                    <a:latin typeface="Calibri" panose="020F0502020204030204" pitchFamily="34" charset="0"/>
                  </a:rPr>
                  <a:t>σ</a:t>
                </a:r>
                <a:r>
                  <a:rPr lang="en-US" altLang="en-US" baseline="-25000" dirty="0">
                    <a:latin typeface="Calibri" panose="020F0502020204030204" pitchFamily="34" charset="0"/>
                  </a:rPr>
                  <a:t>A</a:t>
                </a:r>
                <a:r>
                  <a:rPr lang="en-US" altLang="en-US" dirty="0">
                    <a:latin typeface="Calibri" panose="020F0502020204030204" pitchFamily="34" charset="0"/>
                  </a:rPr>
                  <a:t> and </a:t>
                </a:r>
                <a:r>
                  <a:rPr lang="el-GR" altLang="en-US" dirty="0">
                    <a:latin typeface="Calibri" panose="020F0502020204030204" pitchFamily="34" charset="0"/>
                  </a:rPr>
                  <a:t>σ</a:t>
                </a:r>
                <a:r>
                  <a:rPr lang="en-US" altLang="en-US" baseline="-25000" dirty="0">
                    <a:latin typeface="Calibri" panose="020F0502020204030204" pitchFamily="34" charset="0"/>
                  </a:rPr>
                  <a:t>B </a:t>
                </a:r>
                <a:r>
                  <a:rPr lang="en-US" altLang="en-US" dirty="0">
                    <a:latin typeface="Calibri" panose="020F0502020204030204" pitchFamily="34" charset="0"/>
                  </a:rPr>
                  <a:t>are the respective standard deviation of A and B, and </a:t>
                </a:r>
                <a:r>
                  <a:rPr lang="el-GR" altLang="en-US" dirty="0">
                    <a:latin typeface="Calibri" panose="020F0502020204030204" pitchFamily="34" charset="0"/>
                  </a:rPr>
                  <a:t>Σ</a:t>
                </a:r>
                <a:r>
                  <a:rPr lang="en-US" altLang="en-US" dirty="0">
                    <a:latin typeface="Calibri" panose="020F0502020204030204" pitchFamily="34" charset="0"/>
                  </a:rPr>
                  <a:t>(</a:t>
                </a:r>
                <a:r>
                  <a:rPr lang="en-US" altLang="en-US" dirty="0" err="1">
                    <a:latin typeface="Calibri" panose="020F0502020204030204" pitchFamily="34" charset="0"/>
                  </a:rPr>
                  <a:t>a</a:t>
                </a:r>
                <a:r>
                  <a:rPr lang="en-US" altLang="en-US" baseline="-25000" dirty="0" err="1">
                    <a:latin typeface="Calibri" panose="020F0502020204030204" pitchFamily="34" charset="0"/>
                  </a:rPr>
                  <a:t>i</a:t>
                </a:r>
                <a:r>
                  <a:rPr lang="en-US" altLang="en-US" dirty="0" err="1">
                    <a:latin typeface="Calibri" panose="020F0502020204030204" pitchFamily="34" charset="0"/>
                  </a:rPr>
                  <a:t>b</a:t>
                </a:r>
                <a:r>
                  <a:rPr lang="en-US" altLang="en-US" baseline="-25000" dirty="0" err="1">
                    <a:latin typeface="Calibri" panose="020F0502020204030204" pitchFamily="34" charset="0"/>
                  </a:rPr>
                  <a:t>i</a:t>
                </a:r>
                <a:r>
                  <a:rPr lang="en-US" altLang="en-US" dirty="0">
                    <a:latin typeface="Calibri" panose="020F0502020204030204" pitchFamily="34" charset="0"/>
                  </a:rPr>
                  <a:t>) is the sum of the AB cross-product.</a:t>
                </a:r>
              </a:p>
              <a:p>
                <a:r>
                  <a:rPr lang="en-US" altLang="en-US" sz="2400" dirty="0">
                    <a:latin typeface="Calibri" panose="020F0502020204030204" pitchFamily="34" charset="0"/>
                  </a:rPr>
                  <a:t>If </a:t>
                </a:r>
                <a:r>
                  <a:rPr lang="en-US" altLang="en-US" sz="2400" dirty="0" err="1">
                    <a:latin typeface="Calibri" panose="020F0502020204030204" pitchFamily="34" charset="0"/>
                  </a:rPr>
                  <a:t>r</a:t>
                </a:r>
                <a:r>
                  <a:rPr lang="en-US" altLang="en-US" sz="2400" baseline="-25000" dirty="0" err="1">
                    <a:latin typeface="Calibri" panose="020F0502020204030204" pitchFamily="34" charset="0"/>
                  </a:rPr>
                  <a:t>A,B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 &gt; 0, A and B are positively correlated (A’s values increase as B’s).  The higher, the stronger correlation.</a:t>
                </a:r>
              </a:p>
              <a:p>
                <a:r>
                  <a:rPr lang="en-US" altLang="en-US" sz="2400" dirty="0" err="1">
                    <a:latin typeface="Calibri" panose="020F0502020204030204" pitchFamily="34" charset="0"/>
                  </a:rPr>
                  <a:t>r</a:t>
                </a:r>
                <a:r>
                  <a:rPr lang="en-US" altLang="en-US" sz="2400" baseline="-25000" dirty="0" err="1">
                    <a:latin typeface="Calibri" panose="020F0502020204030204" pitchFamily="34" charset="0"/>
                  </a:rPr>
                  <a:t>A,B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 = 0: independent;  </a:t>
                </a:r>
                <a:r>
                  <a:rPr lang="en-US" altLang="en-US" sz="2400" dirty="0" err="1">
                    <a:latin typeface="Calibri" panose="020F0502020204030204" pitchFamily="34" charset="0"/>
                  </a:rPr>
                  <a:t>r</a:t>
                </a:r>
                <a:r>
                  <a:rPr lang="en-US" altLang="en-US" sz="2400" baseline="-25000" dirty="0" err="1">
                    <a:latin typeface="Calibri" panose="020F0502020204030204" pitchFamily="34" charset="0"/>
                  </a:rPr>
                  <a:t>AB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 &lt; 0: negatively correlated</a:t>
                </a:r>
              </a:p>
            </p:txBody>
          </p:sp>
        </mc:Choice>
        <mc:Fallback xmlns="">
          <p:sp>
            <p:nvSpPr>
              <p:cNvPr id="39940" name="Rectangle 3">
                <a:extLst>
                  <a:ext uri="{FF2B5EF4-FFF2-40B4-BE49-F238E27FC236}">
                    <a16:creationId xmlns:a16="http://schemas.microsoft.com/office/drawing/2014/main" id="{BF9FE817-FAC1-468B-895A-D36BD3001D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594360" y="1447800"/>
                <a:ext cx="11029950" cy="5029200"/>
              </a:xfrm>
              <a:blipFill>
                <a:blip r:embed="rId6"/>
                <a:stretch>
                  <a:fillRect l="-774" t="-1697" r="-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3761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C489C3A1-E723-491C-85F0-5F470FCC26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Visually Evaluating Correlation</a:t>
            </a:r>
          </a:p>
        </p:txBody>
      </p:sp>
      <p:graphicFrame>
        <p:nvGraphicFramePr>
          <p:cNvPr id="41988" name="Object 3">
            <a:extLst>
              <a:ext uri="{FF2B5EF4-FFF2-40B4-BE49-F238E27FC236}">
                <a16:creationId xmlns:a16="http://schemas.microsoft.com/office/drawing/2014/main" id="{1F9D4559-07A4-42E0-9FB6-A0CEE29BB9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88894"/>
              </p:ext>
            </p:extLst>
          </p:nvPr>
        </p:nvGraphicFramePr>
        <p:xfrm>
          <a:off x="331470" y="990601"/>
          <a:ext cx="8938260" cy="538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6035563" imgH="5784081" progId="Paint.Picture">
                  <p:embed/>
                </p:oleObj>
              </mc:Choice>
              <mc:Fallback>
                <p:oleObj name="Bitmap Image" r:id="rId3" imgW="6035563" imgH="5784081" progId="Paint.Picture">
                  <p:embed/>
                  <p:pic>
                    <p:nvPicPr>
                      <p:cNvPr id="41988" name="Object 3">
                        <a:extLst>
                          <a:ext uri="{FF2B5EF4-FFF2-40B4-BE49-F238E27FC236}">
                            <a16:creationId xmlns:a16="http://schemas.microsoft.com/office/drawing/2014/main" id="{1F9D4559-07A4-42E0-9FB6-A0CEE29BB9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7918"/>
                      <a:stretch>
                        <a:fillRect/>
                      </a:stretch>
                    </p:blipFill>
                    <p:spPr bwMode="auto">
                      <a:xfrm>
                        <a:off x="331470" y="990601"/>
                        <a:ext cx="8938260" cy="538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9" name="Text Box 4">
            <a:extLst>
              <a:ext uri="{FF2B5EF4-FFF2-40B4-BE49-F238E27FC236}">
                <a16:creationId xmlns:a16="http://schemas.microsoft.com/office/drawing/2014/main" id="{E70475A1-E973-4312-81B8-89C4B9B44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0660" y="3086100"/>
            <a:ext cx="18288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Scatter plots showing the similarity from –1 to 1.</a:t>
            </a:r>
          </a:p>
        </p:txBody>
      </p:sp>
    </p:spTree>
    <p:extLst>
      <p:ext uri="{BB962C8B-B14F-4D97-AF65-F5344CB8AC3E}">
        <p14:creationId xmlns:p14="http://schemas.microsoft.com/office/powerpoint/2010/main" val="1867983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E45-AC58-43D9-A609-0ACA43F9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707C-A1E1-4947-B90A-F5C91A14AD9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394461"/>
            <a:ext cx="10972800" cy="4754563"/>
          </a:xfrm>
        </p:spPr>
        <p:txBody>
          <a:bodyPr/>
          <a:lstStyle/>
          <a:p>
            <a:pPr lvl="0"/>
            <a:r>
              <a:rPr lang="en-US" dirty="0"/>
              <a:t>Types of datasets, data, and attributes</a:t>
            </a:r>
          </a:p>
          <a:p>
            <a:pPr lvl="0"/>
            <a:r>
              <a:rPr lang="en-US" dirty="0"/>
              <a:t>Basic Statistical descriptions of data: histograms, box plots, Q-Q plots.</a:t>
            </a:r>
          </a:p>
          <a:p>
            <a:pPr lvl="0"/>
            <a:r>
              <a:rPr lang="en-US" dirty="0"/>
              <a:t>Data pre-processing tasks</a:t>
            </a:r>
          </a:p>
          <a:p>
            <a:pPr lvl="1"/>
            <a:r>
              <a:rPr lang="en-US" dirty="0"/>
              <a:t>Data cleaning</a:t>
            </a:r>
          </a:p>
          <a:p>
            <a:pPr lvl="1"/>
            <a:r>
              <a:rPr lang="en-US" dirty="0"/>
              <a:t>Data integration</a:t>
            </a:r>
          </a:p>
          <a:p>
            <a:pPr lvl="1"/>
            <a:r>
              <a:rPr lang="en-US" dirty="0"/>
              <a:t>Data reduction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Data transformation</a:t>
            </a:r>
          </a:p>
          <a:p>
            <a:r>
              <a:rPr lang="en-US" dirty="0"/>
              <a:t>Take-aways</a:t>
            </a:r>
          </a:p>
        </p:txBody>
      </p:sp>
    </p:spTree>
    <p:extLst>
      <p:ext uri="{BB962C8B-B14F-4D97-AF65-F5344CB8AC3E}">
        <p14:creationId xmlns:p14="http://schemas.microsoft.com/office/powerpoint/2010/main" val="2915986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2">
            <a:extLst>
              <a:ext uri="{FF2B5EF4-FFF2-40B4-BE49-F238E27FC236}">
                <a16:creationId xmlns:a16="http://schemas.microsoft.com/office/drawing/2014/main" id="{7A5691E0-E557-40E5-98A4-7953E086EF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/>
              <a:t>Normalization</a:t>
            </a:r>
          </a:p>
        </p:txBody>
      </p:sp>
      <p:graphicFrame>
        <p:nvGraphicFramePr>
          <p:cNvPr id="98309" name="Object 4">
            <a:extLst>
              <a:ext uri="{FF2B5EF4-FFF2-40B4-BE49-F238E27FC236}">
                <a16:creationId xmlns:a16="http://schemas.microsoft.com/office/drawing/2014/main" id="{8F1D9B8C-AB0A-4C06-9E3F-D9C89001E709}"/>
              </a:ext>
            </a:extLst>
          </p:cNvPr>
          <p:cNvGraphicFramePr>
            <a:graphicFrameLocks noGrp="1" noChangeAspect="1"/>
          </p:cNvGraphicFramePr>
          <p:nvPr>
            <p:ph idx="13"/>
            <p:extLst>
              <p:ext uri="{D42A27DB-BD31-4B8C-83A1-F6EECF244321}">
                <p14:modId xmlns:p14="http://schemas.microsoft.com/office/powerpoint/2010/main" val="3832949419"/>
              </p:ext>
            </p:extLst>
          </p:nvPr>
        </p:nvGraphicFramePr>
        <p:xfrm>
          <a:off x="3855302" y="2998259"/>
          <a:ext cx="259817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22280" imgH="419040" progId="Equation.3">
                  <p:embed/>
                </p:oleObj>
              </mc:Choice>
              <mc:Fallback>
                <p:oleObj name="Equation" r:id="rId3" imgW="2222280" imgH="419040" progId="Equation.3">
                  <p:embed/>
                  <p:pic>
                    <p:nvPicPr>
                      <p:cNvPr id="98309" name="Object 4">
                        <a:extLst>
                          <a:ext uri="{FF2B5EF4-FFF2-40B4-BE49-F238E27FC236}">
                            <a16:creationId xmlns:a16="http://schemas.microsoft.com/office/drawing/2014/main" id="{8F1D9B8C-AB0A-4C06-9E3F-D9C89001E7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5302" y="2998259"/>
                        <a:ext cx="259817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08" name="Rectangle 3">
            <a:extLst>
              <a:ext uri="{FF2B5EF4-FFF2-40B4-BE49-F238E27FC236}">
                <a16:creationId xmlns:a16="http://schemas.microsoft.com/office/drawing/2014/main" id="{2D3BEF97-E617-4C11-BEBF-28D2B4E8EED6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26833" y="1295400"/>
            <a:ext cx="8305800" cy="50292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 b="1" dirty="0">
                <a:latin typeface="Calibri" panose="020F0502020204030204" pitchFamily="34" charset="0"/>
              </a:rPr>
              <a:t>Min-max normalization</a:t>
            </a:r>
            <a:r>
              <a:rPr lang="en-US" altLang="en-US" sz="2000" dirty="0">
                <a:latin typeface="Calibri" panose="020F0502020204030204" pitchFamily="34" charset="0"/>
              </a:rPr>
              <a:t>: to [</a:t>
            </a:r>
            <a:r>
              <a:rPr lang="en-US" altLang="en-US" sz="2000" dirty="0" err="1">
                <a:latin typeface="Calibri" panose="020F0502020204030204" pitchFamily="34" charset="0"/>
              </a:rPr>
              <a:t>new_min</a:t>
            </a:r>
            <a:r>
              <a:rPr lang="en-US" altLang="en-US" sz="2000" baseline="-25000" dirty="0" err="1">
                <a:latin typeface="Calibri" panose="020F0502020204030204" pitchFamily="34" charset="0"/>
              </a:rPr>
              <a:t>A</a:t>
            </a:r>
            <a:r>
              <a:rPr lang="en-US" altLang="en-US" sz="2000" dirty="0">
                <a:latin typeface="Calibri" panose="020F0502020204030204" pitchFamily="34" charset="0"/>
              </a:rPr>
              <a:t>, </a:t>
            </a:r>
            <a:r>
              <a:rPr lang="en-US" altLang="en-US" sz="2000" dirty="0" err="1">
                <a:latin typeface="Calibri" panose="020F0502020204030204" pitchFamily="34" charset="0"/>
              </a:rPr>
              <a:t>new_max</a:t>
            </a:r>
            <a:r>
              <a:rPr lang="en-US" altLang="en-US" sz="2000" baseline="-25000" dirty="0" err="1">
                <a:latin typeface="Calibri" panose="020F0502020204030204" pitchFamily="34" charset="0"/>
              </a:rPr>
              <a:t>A</a:t>
            </a:r>
            <a:r>
              <a:rPr lang="en-US" altLang="en-US" sz="2000" dirty="0">
                <a:latin typeface="Calibri" panose="020F0502020204030204" pitchFamily="34" charset="0"/>
              </a:rPr>
              <a:t>]</a:t>
            </a:r>
          </a:p>
          <a:p>
            <a:pPr lvl="1" eaLnBrk="1" hangingPunct="1">
              <a:lnSpc>
                <a:spcPct val="120000"/>
              </a:lnSpc>
            </a:pPr>
            <a:endParaRPr lang="en-US" altLang="en-US" sz="2000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120000"/>
              </a:lnSpc>
            </a:pPr>
            <a:endParaRPr lang="en-US" altLang="en-US" sz="2000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>
                <a:latin typeface="Calibri" panose="020F0502020204030204" pitchFamily="34" charset="0"/>
              </a:rPr>
              <a:t>Ex.  Let income range $12,000 to $98,000 normalized to [0.0, 1.0].  Then $73,000 is mapped to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 b="1" dirty="0">
                <a:latin typeface="Calibri" panose="020F0502020204030204" pitchFamily="34" charset="0"/>
              </a:rPr>
              <a:t>Z-score normalization</a:t>
            </a:r>
            <a:r>
              <a:rPr lang="en-US" altLang="en-US" sz="2000" dirty="0">
                <a:latin typeface="Calibri" panose="020F0502020204030204" pitchFamily="34" charset="0"/>
              </a:rPr>
              <a:t> (</a:t>
            </a:r>
            <a:r>
              <a:rPr lang="el-GR" altLang="en-US" sz="2000" dirty="0">
                <a:latin typeface="Calibri" panose="020F0502020204030204" pitchFamily="34" charset="0"/>
              </a:rPr>
              <a:t>μ</a:t>
            </a:r>
            <a:r>
              <a:rPr lang="en-US" altLang="en-US" sz="2000" dirty="0">
                <a:latin typeface="Calibri" panose="020F0502020204030204" pitchFamily="34" charset="0"/>
              </a:rPr>
              <a:t>: mean, </a:t>
            </a:r>
            <a:r>
              <a:rPr lang="el-GR" altLang="en-US" sz="2000" dirty="0">
                <a:latin typeface="Calibri" panose="020F0502020204030204" pitchFamily="34" charset="0"/>
              </a:rPr>
              <a:t>σ</a:t>
            </a:r>
            <a:r>
              <a:rPr lang="en-US" altLang="en-US" sz="2000" dirty="0">
                <a:latin typeface="Calibri" panose="020F0502020204030204" pitchFamily="34" charset="0"/>
              </a:rPr>
              <a:t>: standard deviation):</a:t>
            </a:r>
          </a:p>
          <a:p>
            <a:pPr eaLnBrk="1" hangingPunct="1">
              <a:lnSpc>
                <a:spcPct val="120000"/>
              </a:lnSpc>
            </a:pPr>
            <a:endParaRPr lang="en-US" altLang="en-US" sz="2000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120000"/>
              </a:lnSpc>
            </a:pPr>
            <a:endParaRPr lang="en-US" altLang="en-US" sz="2000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>
                <a:latin typeface="Calibri" panose="020F0502020204030204" pitchFamily="34" charset="0"/>
              </a:rPr>
              <a:t>Ex. Let </a:t>
            </a:r>
            <a:r>
              <a:rPr lang="el-GR" altLang="en-US" sz="2000" dirty="0">
                <a:latin typeface="Calibri" panose="020F0502020204030204" pitchFamily="34" charset="0"/>
              </a:rPr>
              <a:t>μ</a:t>
            </a:r>
            <a:r>
              <a:rPr lang="en-US" altLang="en-US" sz="2000" dirty="0">
                <a:latin typeface="Calibri" panose="020F0502020204030204" pitchFamily="34" charset="0"/>
              </a:rPr>
              <a:t> = 54,000, </a:t>
            </a:r>
            <a:r>
              <a:rPr lang="el-GR" altLang="en-US" sz="2000" dirty="0">
                <a:latin typeface="Calibri" panose="020F0502020204030204" pitchFamily="34" charset="0"/>
              </a:rPr>
              <a:t>σ</a:t>
            </a:r>
            <a:r>
              <a:rPr lang="en-US" altLang="en-US" sz="2000" dirty="0">
                <a:latin typeface="Calibri" panose="020F0502020204030204" pitchFamily="34" charset="0"/>
              </a:rPr>
              <a:t> = 16,000.  Then</a:t>
            </a:r>
            <a:endParaRPr lang="el-GR" altLang="en-US" sz="20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en-US" sz="2000" b="1" dirty="0">
                <a:latin typeface="Calibri" panose="020F0502020204030204" pitchFamily="34" charset="0"/>
              </a:rPr>
              <a:t>Normalization by decimal scaling</a:t>
            </a:r>
          </a:p>
        </p:txBody>
      </p:sp>
      <p:graphicFrame>
        <p:nvGraphicFramePr>
          <p:cNvPr id="98315" name="Object 10">
            <a:extLst>
              <a:ext uri="{FF2B5EF4-FFF2-40B4-BE49-F238E27FC236}">
                <a16:creationId xmlns:a16="http://schemas.microsoft.com/office/drawing/2014/main" id="{4AF484E7-3C37-4366-A89B-81F3A7062F76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889521525"/>
              </p:ext>
            </p:extLst>
          </p:nvPr>
        </p:nvGraphicFramePr>
        <p:xfrm>
          <a:off x="5306787" y="4773063"/>
          <a:ext cx="19526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98600" imgH="419100" progId="Equation.3">
                  <p:embed/>
                </p:oleObj>
              </mc:Choice>
              <mc:Fallback>
                <p:oleObj name="Equation" r:id="rId5" imgW="1498600" imgH="419100" progId="Equation.3">
                  <p:embed/>
                  <p:pic>
                    <p:nvPicPr>
                      <p:cNvPr id="98315" name="Object 10">
                        <a:extLst>
                          <a:ext uri="{FF2B5EF4-FFF2-40B4-BE49-F238E27FC236}">
                            <a16:creationId xmlns:a16="http://schemas.microsoft.com/office/drawing/2014/main" id="{4AF484E7-3C37-4366-A89B-81F3A7062F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6787" y="4773063"/>
                        <a:ext cx="195262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0" name="Object 5">
            <a:extLst>
              <a:ext uri="{FF2B5EF4-FFF2-40B4-BE49-F238E27FC236}">
                <a16:creationId xmlns:a16="http://schemas.microsoft.com/office/drawing/2014/main" id="{0BA8813C-BE6E-42BA-9133-556EB6BF3D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1828801"/>
          <a:ext cx="59436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40080" imgH="393480" progId="Equation.3">
                  <p:embed/>
                </p:oleObj>
              </mc:Choice>
              <mc:Fallback>
                <p:oleObj name="Equation" r:id="rId7" imgW="3340080" imgH="393480" progId="Equation.3">
                  <p:embed/>
                  <p:pic>
                    <p:nvPicPr>
                      <p:cNvPr id="98310" name="Object 5">
                        <a:extLst>
                          <a:ext uri="{FF2B5EF4-FFF2-40B4-BE49-F238E27FC236}">
                            <a16:creationId xmlns:a16="http://schemas.microsoft.com/office/drawing/2014/main" id="{0BA8813C-BE6E-42BA-9133-556EB6BF3D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828801"/>
                        <a:ext cx="594360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1" name="Object 6">
            <a:extLst>
              <a:ext uri="{FF2B5EF4-FFF2-40B4-BE49-F238E27FC236}">
                <a16:creationId xmlns:a16="http://schemas.microsoft.com/office/drawing/2014/main" id="{8FBF7CC6-424A-4283-810F-37F5AC8A56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104012"/>
              </p:ext>
            </p:extLst>
          </p:nvPr>
        </p:nvGraphicFramePr>
        <p:xfrm>
          <a:off x="4009289" y="3839308"/>
          <a:ext cx="14478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34725" imgH="393529" progId="Equation.3">
                  <p:embed/>
                </p:oleObj>
              </mc:Choice>
              <mc:Fallback>
                <p:oleObj name="Equation" r:id="rId9" imgW="634725" imgH="393529" progId="Equation.3">
                  <p:embed/>
                  <p:pic>
                    <p:nvPicPr>
                      <p:cNvPr id="98311" name="Object 6">
                        <a:extLst>
                          <a:ext uri="{FF2B5EF4-FFF2-40B4-BE49-F238E27FC236}">
                            <a16:creationId xmlns:a16="http://schemas.microsoft.com/office/drawing/2014/main" id="{8FBF7CC6-424A-4283-810F-37F5AC8A56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9289" y="3839308"/>
                        <a:ext cx="144780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2" name="Object 7">
            <a:extLst>
              <a:ext uri="{FF2B5EF4-FFF2-40B4-BE49-F238E27FC236}">
                <a16:creationId xmlns:a16="http://schemas.microsoft.com/office/drawing/2014/main" id="{4A184A5A-B4AC-4097-922A-D3E271B1E8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5486401"/>
          <a:ext cx="10668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95085" imgH="393529" progId="Equation.3">
                  <p:embed/>
                </p:oleObj>
              </mc:Choice>
              <mc:Fallback>
                <p:oleObj name="Equation" r:id="rId11" imgW="495085" imgH="393529" progId="Equation.3">
                  <p:embed/>
                  <p:pic>
                    <p:nvPicPr>
                      <p:cNvPr id="98312" name="Object 7">
                        <a:extLst>
                          <a:ext uri="{FF2B5EF4-FFF2-40B4-BE49-F238E27FC236}">
                            <a16:creationId xmlns:a16="http://schemas.microsoft.com/office/drawing/2014/main" id="{4A184A5A-B4AC-4097-922A-D3E271B1E8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486401"/>
                        <a:ext cx="106680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3" name="Object 8">
            <a:extLst>
              <a:ext uri="{FF2B5EF4-FFF2-40B4-BE49-F238E27FC236}">
                <a16:creationId xmlns:a16="http://schemas.microsoft.com/office/drawing/2014/main" id="{5081763A-7AE4-4D57-BEDA-F25530C2BA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541908"/>
              </p:ext>
            </p:extLst>
          </p:nvPr>
        </p:nvGraphicFramePr>
        <p:xfrm>
          <a:off x="6542940" y="3274159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4151" imgH="215619" progId="Equation.3">
                  <p:embed/>
                </p:oleObj>
              </mc:Choice>
              <mc:Fallback>
                <p:oleObj name="Equation" r:id="rId13" imgW="114151" imgH="215619" progId="Equation.3">
                  <p:embed/>
                  <p:pic>
                    <p:nvPicPr>
                      <p:cNvPr id="98313" name="Object 8">
                        <a:extLst>
                          <a:ext uri="{FF2B5EF4-FFF2-40B4-BE49-F238E27FC236}">
                            <a16:creationId xmlns:a16="http://schemas.microsoft.com/office/drawing/2014/main" id="{5081763A-7AE4-4D57-BEDA-F25530C2BA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2940" y="3274159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4" name="Text Box 9">
            <a:extLst>
              <a:ext uri="{FF2B5EF4-FFF2-40B4-BE49-F238E27FC236}">
                <a16:creationId xmlns:a16="http://schemas.microsoft.com/office/drawing/2014/main" id="{5A9FDCBE-6687-4010-9191-5024C788C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1" y="5638800"/>
            <a:ext cx="6126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Where </a:t>
            </a:r>
            <a:r>
              <a:rPr lang="en-US" altLang="en-US" sz="24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 is the smallest integer such that Max(|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en-US" sz="2000">
                <a:latin typeface="Times New Roman" panose="02020603050405020304" pitchFamily="18" charset="0"/>
              </a:rPr>
              <a:t>|) &lt; 1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33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A62FA-2E67-47D0-85ED-0E8ABB175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Take-aways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2EEEC-6E37-4605-881A-8AC37A2C019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sz="2400" dirty="0"/>
              <a:t>Data attribute types: nominal, binary, ordinal, interval-scaled, ratio-scaled</a:t>
            </a:r>
          </a:p>
          <a:p>
            <a:r>
              <a:rPr lang="en-US" altLang="en-US" sz="2400" dirty="0"/>
              <a:t>Many types of data sets, e.g., numerical, text, graph, Web, image.</a:t>
            </a:r>
          </a:p>
          <a:p>
            <a:r>
              <a:rPr lang="en-US" altLang="en-US" b="1" dirty="0"/>
              <a:t>Data quality</a:t>
            </a:r>
            <a:r>
              <a:rPr lang="en-US" altLang="en-US" dirty="0"/>
              <a:t>: accuracy, completeness, consistency, timeliness, believability, interpretability</a:t>
            </a:r>
          </a:p>
          <a:p>
            <a:r>
              <a:rPr lang="en-US" altLang="en-US" sz="2400" dirty="0"/>
              <a:t>Data pre-processing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dirty="0"/>
              <a:t>Data cleaning</a:t>
            </a:r>
            <a:r>
              <a:rPr lang="en-US" altLang="en-US" sz="2000" dirty="0"/>
              <a:t>: e.g. missing/noisy values, outliers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dirty="0"/>
              <a:t>Data integration</a:t>
            </a:r>
            <a:r>
              <a:rPr lang="en-US" altLang="en-US" sz="2000" dirty="0"/>
              <a:t> from multiple sources: 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en-US" dirty="0"/>
              <a:t>Entity identification problem; Remove redundancies; Detect inconsistencies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dirty="0"/>
              <a:t>Data reduction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en-US" dirty="0"/>
              <a:t>Dimensionality reduction; </a:t>
            </a:r>
            <a:r>
              <a:rPr lang="en-US" altLang="en-US" dirty="0" err="1"/>
              <a:t>Numerosity</a:t>
            </a:r>
            <a:r>
              <a:rPr lang="en-US" altLang="en-US" dirty="0"/>
              <a:t> reduction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b="1" dirty="0"/>
              <a:t>Data transformation</a:t>
            </a:r>
            <a:endParaRPr lang="en-US" altLang="en-US" dirty="0"/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en-US" dirty="0"/>
              <a:t>Normalization</a:t>
            </a:r>
          </a:p>
          <a:p>
            <a:pPr lvl="2">
              <a:lnSpc>
                <a:spcPct val="120000"/>
              </a:lnSpc>
            </a:pPr>
            <a:endParaRPr lang="en-US" altLang="en-US" sz="1200" dirty="0"/>
          </a:p>
          <a:p>
            <a:pPr lvl="1">
              <a:lnSpc>
                <a:spcPct val="120000"/>
              </a:lnSpc>
            </a:pPr>
            <a:endParaRPr lang="en-US" altLang="en-US" sz="1200" dirty="0"/>
          </a:p>
          <a:p>
            <a:pPr lvl="1">
              <a:lnSpc>
                <a:spcPct val="120000"/>
              </a:lnSpc>
              <a:buNone/>
            </a:pPr>
            <a:endParaRPr lang="en-US" altLang="en-US" sz="1200" dirty="0"/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13699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DADE8-F000-41B0-9944-C7B9DF71B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References: Data Types and Statistical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6ED31-677C-4689-8CD5-F6A32AA00A6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/>
            <a:r>
              <a:rPr lang="en-US" altLang="en-US" dirty="0"/>
              <a:t>W. Cleveland, Visualizing Data, Hobart Press, 1993</a:t>
            </a:r>
          </a:p>
          <a:p>
            <a:pPr marL="457200" indent="-457200"/>
            <a:r>
              <a:rPr lang="en-US" altLang="en-US" dirty="0">
                <a:solidFill>
                  <a:schemeClr val="hlink"/>
                </a:solidFill>
              </a:rPr>
              <a:t>T. </a:t>
            </a:r>
            <a:r>
              <a:rPr lang="en-US" altLang="en-US" dirty="0" err="1">
                <a:solidFill>
                  <a:schemeClr val="hlink"/>
                </a:solidFill>
              </a:rPr>
              <a:t>Dasu</a:t>
            </a:r>
            <a:r>
              <a:rPr lang="en-US" altLang="en-US" dirty="0">
                <a:solidFill>
                  <a:schemeClr val="hlink"/>
                </a:solidFill>
              </a:rPr>
              <a:t> and T. Johnson.  Exploratory Data Mining and Data Cleaning. John Wiley, 2003</a:t>
            </a:r>
          </a:p>
          <a:p>
            <a:pPr marL="457200" indent="-457200"/>
            <a:r>
              <a:rPr lang="en-US" altLang="en-US" dirty="0"/>
              <a:t>U. Fayyad, G. Grinstein, and A. </a:t>
            </a:r>
            <a:r>
              <a:rPr lang="en-US" altLang="en-US" dirty="0" err="1"/>
              <a:t>Wierse</a:t>
            </a:r>
            <a:r>
              <a:rPr lang="en-US" altLang="en-US" dirty="0"/>
              <a:t>. Information Visualization in Data Mining and Knowledge Discovery, Morgan Kaufmann, 2001</a:t>
            </a:r>
          </a:p>
          <a:p>
            <a:pPr marL="457200" indent="-457200"/>
            <a:r>
              <a:rPr lang="en-US" altLang="en-US" dirty="0">
                <a:solidFill>
                  <a:srgbClr val="FF0000"/>
                </a:solidFill>
              </a:rPr>
              <a:t>L. Kaufman and P. J. </a:t>
            </a:r>
            <a:r>
              <a:rPr lang="en-US" altLang="en-US" dirty="0" err="1">
                <a:solidFill>
                  <a:srgbClr val="FF0000"/>
                </a:solidFill>
              </a:rPr>
              <a:t>Rousseeuw</a:t>
            </a:r>
            <a:r>
              <a:rPr lang="en-US" altLang="en-US" dirty="0">
                <a:solidFill>
                  <a:srgbClr val="FF0000"/>
                </a:solidFill>
              </a:rPr>
              <a:t>. Finding Groups in Data: an Introduction to Cluster Analysis. John Wiley &amp; Sons, 1990</a:t>
            </a:r>
            <a:r>
              <a:rPr lang="en-US" altLang="en-US" dirty="0"/>
              <a:t>.</a:t>
            </a:r>
            <a:endParaRPr lang="en-US" altLang="en-US" dirty="0">
              <a:solidFill>
                <a:schemeClr val="hlink"/>
              </a:solidFill>
            </a:endParaRPr>
          </a:p>
          <a:p>
            <a:pPr marL="457200" indent="-457200"/>
            <a:r>
              <a:rPr lang="en-US" altLang="en-US" dirty="0"/>
              <a:t>H. V. Jagadish et al., Special Issue on Data Reduction Techniques.  Bulletin of the Tech. Committee on Data Eng., 20(4), Dec. 1997</a:t>
            </a:r>
          </a:p>
          <a:p>
            <a:pPr marL="457200" indent="-457200"/>
            <a:r>
              <a:rPr lang="en-US" altLang="en-US" dirty="0"/>
              <a:t>D. A. </a:t>
            </a:r>
            <a:r>
              <a:rPr lang="en-US" altLang="en-US" dirty="0" err="1"/>
              <a:t>Keim</a:t>
            </a:r>
            <a:r>
              <a:rPr lang="en-US" altLang="en-US" dirty="0"/>
              <a:t>. Information visualization and visual data mining, IEEE trans. on Visualization and Computer Graphics, 8(1), 2002</a:t>
            </a:r>
          </a:p>
          <a:p>
            <a:pPr marL="457200" indent="-457200"/>
            <a:r>
              <a:rPr lang="en-US" altLang="en-US" dirty="0"/>
              <a:t>D. Pyle. Data Preparation for Data Mining. Morgan Kaufmann, 1999</a:t>
            </a:r>
          </a:p>
          <a:p>
            <a:pPr marL="457200" indent="-457200"/>
            <a:r>
              <a:rPr lang="en-US" altLang="en-US" dirty="0"/>
              <a:t>S.  Santini and R. Jain,” Similarity measures”, IEEE Trans. on Pattern Analysis and Machine Intelligence, 21(9), 1999</a:t>
            </a:r>
          </a:p>
          <a:p>
            <a:pPr marL="457200" indent="-457200"/>
            <a:r>
              <a:rPr lang="en-US" altLang="en-US" dirty="0">
                <a:solidFill>
                  <a:srgbClr val="FF0000"/>
                </a:solidFill>
              </a:rPr>
              <a:t>E. R. </a:t>
            </a:r>
            <a:r>
              <a:rPr lang="en-US" altLang="en-US" dirty="0" err="1">
                <a:solidFill>
                  <a:srgbClr val="FF0000"/>
                </a:solidFill>
              </a:rPr>
              <a:t>Tufte</a:t>
            </a:r>
            <a:r>
              <a:rPr lang="en-US" altLang="en-US" dirty="0">
                <a:solidFill>
                  <a:srgbClr val="FF0000"/>
                </a:solidFill>
              </a:rPr>
              <a:t>. The Visual Display of Quantitative Information, 2</a:t>
            </a:r>
            <a:r>
              <a:rPr lang="en-US" altLang="en-US" baseline="30000" dirty="0">
                <a:solidFill>
                  <a:srgbClr val="FF0000"/>
                </a:solidFill>
              </a:rPr>
              <a:t>nd</a:t>
            </a:r>
            <a:r>
              <a:rPr lang="en-US" altLang="en-US" dirty="0">
                <a:solidFill>
                  <a:srgbClr val="FF0000"/>
                </a:solidFill>
              </a:rPr>
              <a:t> ed., Graphics Press, 2001</a:t>
            </a:r>
          </a:p>
          <a:p>
            <a:pPr marL="457200" indent="-457200"/>
            <a:r>
              <a:rPr lang="en-US" altLang="en-US" dirty="0"/>
              <a:t>C. Yu et al., Visual data mining of multimedia data for social and behavioral studies, Information Visualization, 8(1), 2009 </a:t>
            </a:r>
          </a:p>
        </p:txBody>
      </p:sp>
    </p:spTree>
    <p:extLst>
      <p:ext uri="{BB962C8B-B14F-4D97-AF65-F5344CB8AC3E}">
        <p14:creationId xmlns:p14="http://schemas.microsoft.com/office/powerpoint/2010/main" val="980502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143EE-1E3D-4C1C-A945-E2C8CC7C8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References: Data </a:t>
            </a:r>
            <a:r>
              <a:rPr lang="en-US" dirty="0"/>
              <a:t>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BC142-B489-4A48-94F8-75A5EF52965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/>
            <a:r>
              <a:rPr lang="en-US" altLang="en-US" dirty="0"/>
              <a:t>D. P. Ballou and G. K. </a:t>
            </a:r>
            <a:r>
              <a:rPr lang="en-US" altLang="en-US" dirty="0" err="1"/>
              <a:t>Tayi</a:t>
            </a:r>
            <a:r>
              <a:rPr lang="en-US" altLang="en-US" dirty="0"/>
              <a:t>. Enhancing data quality in data warehouse environments. Comm. of ACM, 42:73-78, 1999</a:t>
            </a:r>
          </a:p>
          <a:p>
            <a:pPr marL="457200" indent="-457200"/>
            <a:r>
              <a:rPr lang="en-US" altLang="en-US" dirty="0">
                <a:solidFill>
                  <a:schemeClr val="hlink"/>
                </a:solidFill>
              </a:rPr>
              <a:t>T. </a:t>
            </a:r>
            <a:r>
              <a:rPr lang="en-US" altLang="en-US" dirty="0" err="1">
                <a:solidFill>
                  <a:schemeClr val="hlink"/>
                </a:solidFill>
              </a:rPr>
              <a:t>Dasu</a:t>
            </a:r>
            <a:r>
              <a:rPr lang="en-US" altLang="en-US" dirty="0">
                <a:solidFill>
                  <a:schemeClr val="hlink"/>
                </a:solidFill>
              </a:rPr>
              <a:t> and T. Johnson.  Exploratory Data Mining and Data Cleaning. John Wiley, 2003</a:t>
            </a:r>
          </a:p>
          <a:p>
            <a:pPr marL="457200" indent="-457200"/>
            <a:r>
              <a:rPr lang="en-US" altLang="en-US" dirty="0">
                <a:solidFill>
                  <a:schemeClr val="hlink"/>
                </a:solidFill>
                <a:cs typeface="Times New Roman" panose="02020603050405020304" pitchFamily="18" charset="0"/>
              </a:rPr>
              <a:t>T. </a:t>
            </a:r>
            <a:r>
              <a:rPr lang="en-US" altLang="en-US" dirty="0" err="1">
                <a:solidFill>
                  <a:schemeClr val="hlink"/>
                </a:solidFill>
                <a:cs typeface="Times New Roman" panose="02020603050405020304" pitchFamily="18" charset="0"/>
              </a:rPr>
              <a:t>Dasu</a:t>
            </a:r>
            <a:r>
              <a:rPr lang="en-US" altLang="en-US" dirty="0">
                <a:solidFill>
                  <a:schemeClr val="hlink"/>
                </a:solidFill>
                <a:cs typeface="Times New Roman" panose="02020603050405020304" pitchFamily="18" charset="0"/>
              </a:rPr>
              <a:t>, T. Johnson, S. </a:t>
            </a:r>
            <a:r>
              <a:rPr lang="en-US" altLang="en-US" dirty="0" err="1">
                <a:solidFill>
                  <a:schemeClr val="hlink"/>
                </a:solidFill>
                <a:cs typeface="Times New Roman" panose="02020603050405020304" pitchFamily="18" charset="0"/>
              </a:rPr>
              <a:t>Muthukrishnan</a:t>
            </a:r>
            <a:r>
              <a:rPr lang="en-US" altLang="en-US" dirty="0">
                <a:solidFill>
                  <a:schemeClr val="hlink"/>
                </a:solidFill>
                <a:cs typeface="Times New Roman" panose="02020603050405020304" pitchFamily="18" charset="0"/>
              </a:rPr>
              <a:t>, V. </a:t>
            </a:r>
            <a:r>
              <a:rPr lang="en-US" altLang="en-US" dirty="0" err="1">
                <a:solidFill>
                  <a:schemeClr val="hlink"/>
                </a:solidFill>
                <a:cs typeface="Times New Roman" panose="02020603050405020304" pitchFamily="18" charset="0"/>
              </a:rPr>
              <a:t>Shkapenyuk</a:t>
            </a:r>
            <a:r>
              <a:rPr lang="en-US" altLang="en-US" dirty="0">
                <a:solidFill>
                  <a:schemeClr val="hlink"/>
                </a:solidFill>
                <a:cs typeface="Times New Roman" panose="02020603050405020304" pitchFamily="18" charset="0"/>
              </a:rPr>
              <a:t>. </a:t>
            </a:r>
            <a:r>
              <a:rPr lang="en-US" altLang="en-US" u="sng" dirty="0">
                <a:solidFill>
                  <a:srgbClr val="0000FF"/>
                </a:solidFill>
                <a:cs typeface="Times New Roman" panose="02020603050405020304" pitchFamily="18" charset="0"/>
                <a:hlinkClick r:id="rId2"/>
              </a:rPr>
              <a:t>Mining Database Structure; Or, How to Build a Data Quality Browser</a:t>
            </a:r>
            <a:r>
              <a:rPr lang="en-US" altLang="en-US" dirty="0">
                <a:solidFill>
                  <a:schemeClr val="hlink"/>
                </a:solidFill>
                <a:cs typeface="Times New Roman" panose="02020603050405020304" pitchFamily="18" charset="0"/>
              </a:rPr>
              <a:t>. SIGMOD’02</a:t>
            </a:r>
          </a:p>
          <a:p>
            <a:pPr marL="457200" indent="-457200"/>
            <a:r>
              <a:rPr lang="en-US" altLang="en-US" dirty="0">
                <a:solidFill>
                  <a:schemeClr val="hlink"/>
                </a:solidFill>
              </a:rPr>
              <a:t>H. V. Jagadish et al., Special Issue on Data Reduction Techniques.  Bulletin of the Technical Committee on Data Engineering, 20(4), Dec. 1997</a:t>
            </a:r>
          </a:p>
          <a:p>
            <a:pPr marL="457200" indent="-457200"/>
            <a:r>
              <a:rPr lang="en-US" altLang="en-US" dirty="0"/>
              <a:t>D. Pyle. Data Preparation for Data Mining. Morgan Kaufmann, 1999</a:t>
            </a:r>
          </a:p>
          <a:p>
            <a:pPr marL="457200" indent="-457200"/>
            <a:r>
              <a:rPr lang="en-US" altLang="en-US" dirty="0"/>
              <a:t>E. Rahm and H. H. Do. Data Cleaning: Problems and Current Approaches. </a:t>
            </a:r>
            <a:r>
              <a:rPr lang="en-US" altLang="en-US" i="1" dirty="0"/>
              <a:t>IEEE Bulletin of the Technical Committee on Data Engineering. Vol.23, No.4</a:t>
            </a:r>
          </a:p>
          <a:p>
            <a:pPr marL="457200" indent="-457200"/>
            <a:r>
              <a:rPr lang="en-US" altLang="en-US" dirty="0">
                <a:solidFill>
                  <a:schemeClr val="hlink"/>
                </a:solidFill>
              </a:rPr>
              <a:t>V. Raman and J. </a:t>
            </a:r>
            <a:r>
              <a:rPr lang="en-US" altLang="en-US" dirty="0" err="1">
                <a:solidFill>
                  <a:schemeClr val="hlink"/>
                </a:solidFill>
              </a:rPr>
              <a:t>Hellerstein</a:t>
            </a:r>
            <a:r>
              <a:rPr lang="en-US" altLang="en-US" dirty="0">
                <a:solidFill>
                  <a:schemeClr val="hlink"/>
                </a:solidFill>
              </a:rPr>
              <a:t>. Potters Wheel: An Interactive Framework for Data Cleaning and Transformation, VLDB’2001</a:t>
            </a:r>
            <a:endParaRPr lang="en-US" altLang="en-US" i="1" dirty="0">
              <a:solidFill>
                <a:schemeClr val="hlink"/>
              </a:solidFill>
            </a:endParaRPr>
          </a:p>
          <a:p>
            <a:pPr marL="457200" indent="-457200"/>
            <a:r>
              <a:rPr lang="en-US" altLang="en-US" dirty="0"/>
              <a:t>T. Redman. Data Quality: Management and Technology. Bantam Books, 1992</a:t>
            </a:r>
          </a:p>
          <a:p>
            <a:pPr marL="457200" indent="-457200"/>
            <a:r>
              <a:rPr lang="en-US" altLang="en-US" dirty="0"/>
              <a:t>R. Wang, V. </a:t>
            </a:r>
            <a:r>
              <a:rPr lang="en-US" altLang="en-US" dirty="0" err="1"/>
              <a:t>Storey</a:t>
            </a:r>
            <a:r>
              <a:rPr lang="en-US" altLang="en-US" dirty="0"/>
              <a:t>, and C. Firth. A framework for analysis of data quality research. IEEE Trans. Knowledge and Data Engineering, 7:623-640, 1995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470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2338</Words>
  <Application>Microsoft Office PowerPoint</Application>
  <PresentationFormat>Widescreen</PresentationFormat>
  <Paragraphs>326</Paragraphs>
  <Slides>31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31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CMR10</vt:lpstr>
      <vt:lpstr>CMR7</vt:lpstr>
      <vt:lpstr>CMSY10</vt:lpstr>
      <vt:lpstr>Segoe</vt:lpstr>
      <vt:lpstr>Tahoma</vt:lpstr>
      <vt:lpstr>Times New Roman</vt:lpstr>
      <vt:lpstr>Wingdings</vt:lpstr>
      <vt:lpstr>Office Theme</vt:lpstr>
      <vt:lpstr>Visio</vt:lpstr>
      <vt:lpstr>Document</vt:lpstr>
      <vt:lpstr>Equation</vt:lpstr>
      <vt:lpstr>Bitmap Image</vt:lpstr>
      <vt:lpstr>Data Collection Session 2 Structured Data Collection and Pre-processing</vt:lpstr>
      <vt:lpstr>Recap</vt:lpstr>
      <vt:lpstr>Agenda</vt:lpstr>
      <vt:lpstr>Agenda</vt:lpstr>
      <vt:lpstr>Types of Data Sets </vt:lpstr>
      <vt:lpstr>Data Objects</vt:lpstr>
      <vt:lpstr>Attributes</vt:lpstr>
      <vt:lpstr>Attribute Types </vt:lpstr>
      <vt:lpstr>Numeric Attribute Types </vt:lpstr>
      <vt:lpstr>Discrete vs. Continuous Attributes </vt:lpstr>
      <vt:lpstr>Agenda</vt:lpstr>
      <vt:lpstr>Data Quality: Why Preprocess the Data?</vt:lpstr>
      <vt:lpstr>Major Tasks in Data Preprocessing</vt:lpstr>
      <vt:lpstr>Data Cleaning</vt:lpstr>
      <vt:lpstr>Incomplete (Missing) Data</vt:lpstr>
      <vt:lpstr>How to Handle Missing Data?</vt:lpstr>
      <vt:lpstr>Noisy Data</vt:lpstr>
      <vt:lpstr>How to Handle Noisy Data?</vt:lpstr>
      <vt:lpstr>Identify Outliers and Errors</vt:lpstr>
      <vt:lpstr>Identify Outliers and Errors</vt:lpstr>
      <vt:lpstr>Agenda</vt:lpstr>
      <vt:lpstr>Data Integration</vt:lpstr>
      <vt:lpstr>Handling Redundancy in Data Integration</vt:lpstr>
      <vt:lpstr>Correlation Analysis (Nominal Data): Chi-Square Test</vt:lpstr>
      <vt:lpstr>Correlation Analysis (Numeric Data)</vt:lpstr>
      <vt:lpstr>Visually Evaluating Correlation</vt:lpstr>
      <vt:lpstr>Agenda</vt:lpstr>
      <vt:lpstr>Normalization</vt:lpstr>
      <vt:lpstr>Take-aways</vt:lpstr>
      <vt:lpstr>References: Data Types and Statistical Measures</vt:lpstr>
      <vt:lpstr>References: Data Pre-processing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Qualitative Data Collection</dc:title>
  <dc:creator>Manish Gupta (BING-IDC)</dc:creator>
  <cp:lastModifiedBy>Manish Gupta (BING-IDC)</cp:lastModifiedBy>
  <cp:revision>142</cp:revision>
  <dcterms:created xsi:type="dcterms:W3CDTF">2017-09-27T03:56:38Z</dcterms:created>
  <dcterms:modified xsi:type="dcterms:W3CDTF">2021-01-19T19:03:20Z</dcterms:modified>
</cp:coreProperties>
</file>