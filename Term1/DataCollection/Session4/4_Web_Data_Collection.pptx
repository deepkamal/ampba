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304" r:id="rId3"/>
    <p:sldId id="264" r:id="rId4"/>
    <p:sldId id="555" r:id="rId5"/>
    <p:sldId id="366" r:id="rId6"/>
    <p:sldId id="367" r:id="rId7"/>
    <p:sldId id="368" r:id="rId8"/>
    <p:sldId id="371" r:id="rId9"/>
    <p:sldId id="378" r:id="rId10"/>
    <p:sldId id="553" r:id="rId11"/>
    <p:sldId id="554" r:id="rId12"/>
    <p:sldId id="557" r:id="rId13"/>
    <p:sldId id="559" r:id="rId14"/>
    <p:sldId id="558" r:id="rId15"/>
    <p:sldId id="556" r:id="rId16"/>
    <p:sldId id="30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60" autoAdjust="0"/>
    <p:restoredTop sz="94660"/>
  </p:normalViewPr>
  <p:slideViewPr>
    <p:cSldViewPr snapToGrid="0">
      <p:cViewPr>
        <p:scale>
          <a:sx n="343" d="100"/>
          <a:sy n="343" d="100"/>
        </p:scale>
        <p:origin x="120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7A7292-FBAB-4E08-98DF-2431C470A0F8}" type="datetimeFigureOut">
              <a:rPr lang="en-US" smtClean="0"/>
              <a:t>3/11/21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1C670F-86B7-47F5-9635-CFE5ABA7DA2D}" type="slidenum">
              <a:rPr lang="en-US" smtClean="0"/>
              <a:t>‹#›</a:t>
            </a:fld>
            <a:endParaRPr lang="en-US"/>
          </a:p>
        </p:txBody>
      </p:sp>
    </p:spTree>
    <p:extLst>
      <p:ext uri="{BB962C8B-B14F-4D97-AF65-F5344CB8AC3E}">
        <p14:creationId xmlns:p14="http://schemas.microsoft.com/office/powerpoint/2010/main" val="5177263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2E26FC0-529E-4361-BB5B-22EB8EA8F4B6}" type="slidenum">
              <a:rPr lang="en-US" altLang="en-US"/>
              <a:pPr/>
              <a:t>7</a:t>
            </a:fld>
            <a:endParaRPr lang="en-US" altLang="en-US"/>
          </a:p>
        </p:txBody>
      </p:sp>
      <p:sp>
        <p:nvSpPr>
          <p:cNvPr id="1286146" name="Rectangle 2"/>
          <p:cNvSpPr>
            <a:spLocks noGrp="1" noRot="1" noChangeAspect="1" noChangeArrowheads="1" noTextEdit="1"/>
          </p:cNvSpPr>
          <p:nvPr>
            <p:ph type="sldImg"/>
          </p:nvPr>
        </p:nvSpPr>
        <p:spPr>
          <a:ln/>
        </p:spPr>
      </p:sp>
      <p:sp>
        <p:nvSpPr>
          <p:cNvPr id="1286147" name="Rectangle 3"/>
          <p:cNvSpPr>
            <a:spLocks noGrp="1" noChangeArrowheads="1"/>
          </p:cNvSpPr>
          <p:nvPr>
            <p:ph type="body" idx="1"/>
          </p:nvPr>
        </p:nvSpPr>
        <p:spPr/>
        <p:txBody>
          <a:bodyPr/>
          <a:lstStyle/>
          <a:p>
            <a:r>
              <a:rPr lang="en-US" altLang="en-US"/>
              <a:t>All this defines requirements, indirectly</a:t>
            </a:r>
          </a:p>
        </p:txBody>
      </p:sp>
    </p:spTree>
    <p:extLst>
      <p:ext uri="{BB962C8B-B14F-4D97-AF65-F5344CB8AC3E}">
        <p14:creationId xmlns:p14="http://schemas.microsoft.com/office/powerpoint/2010/main" val="15645303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79A145-060B-497E-9506-A6D1244D44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87C01F-75DE-4148-8C85-0B3A98179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467392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59E47-0841-4CB2-BEF1-429B7D12AB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E3C2CE-691C-4531-B063-FBC596BE630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4493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0D060-AD5E-44ED-9F9D-388E1502C5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5A3424B-030A-468B-8BFD-2B453DEE32A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B6C0639-DA7A-4E05-AD3B-4817A984642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89621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500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1143000"/>
          </a:xfrm>
        </p:spPr>
        <p:txBody>
          <a:bodyPr>
            <a:normAutofit/>
          </a:bodyPr>
          <a:lstStyle>
            <a:lvl1pPr>
              <a:defRPr sz="3600" b="1">
                <a:solidFill>
                  <a:srgbClr val="FF0000"/>
                </a:solidFill>
              </a:defRPr>
            </a:lvl1pPr>
          </a:lstStyle>
          <a:p>
            <a:r>
              <a:rPr lang="en-US" dirty="0"/>
              <a:t>Click to edit Master title style</a:t>
            </a:r>
          </a:p>
        </p:txBody>
      </p:sp>
      <p:sp>
        <p:nvSpPr>
          <p:cNvPr id="8" name="Content Placeholder 2"/>
          <p:cNvSpPr>
            <a:spLocks noGrp="1"/>
          </p:cNvSpPr>
          <p:nvPr>
            <p:ph idx="13"/>
          </p:nvPr>
        </p:nvSpPr>
        <p:spPr>
          <a:xfrm>
            <a:off x="609600" y="1371601"/>
            <a:ext cx="10972800" cy="4754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6666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914400" y="609600"/>
            <a:ext cx="103632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412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xfrm>
            <a:off x="-79364" y="-31812"/>
            <a:ext cx="12350727" cy="1399262"/>
          </a:xfrm>
          <a:prstGeom prst="rect">
            <a:avLst/>
          </a:prstGeom>
          <a:solidFill>
            <a:schemeClr val="accent6">
              <a:lumOff val="-21524"/>
              <a:alpha val="47232"/>
            </a:schemeClr>
          </a:solidFill>
          <a:effectLst>
            <a:outerShdw blurRad="38100" dist="25400" dir="5400000" rotWithShape="0">
              <a:srgbClr val="000000">
                <a:alpha val="50000"/>
              </a:srgbClr>
            </a:outerShdw>
          </a:effectLst>
        </p:spPr>
        <p:txBody>
          <a:bodyPr/>
          <a:lstStyle>
            <a:lvl1pPr>
              <a:defRPr sz="3700"/>
            </a:lvl1pPr>
          </a:lstStyle>
          <a:p>
            <a:r>
              <a:t>Title Text</a:t>
            </a:r>
          </a:p>
        </p:txBody>
      </p:sp>
      <p:sp>
        <p:nvSpPr>
          <p:cNvPr id="57" name="Shape 57"/>
          <p:cNvSpPr>
            <a:spLocks noGrp="1"/>
          </p:cNvSpPr>
          <p:nvPr>
            <p:ph type="body" idx="1"/>
          </p:nvPr>
        </p:nvSpPr>
        <p:spPr>
          <a:xfrm>
            <a:off x="892970" y="1692420"/>
            <a:ext cx="10406063" cy="3958399"/>
          </a:xfrm>
          <a:prstGeom prst="rect">
            <a:avLst/>
          </a:prstGeom>
        </p:spPr>
        <p:txBody>
          <a:bodyPr anchor="t"/>
          <a:lstStyle>
            <a:lvl1pPr>
              <a:defRPr>
                <a:latin typeface="+mj-lt"/>
                <a:ea typeface="+mj-ea"/>
                <a:cs typeface="+mj-cs"/>
                <a:sym typeface="Chaparral Pro"/>
              </a:defRPr>
            </a:lvl1pPr>
            <a:lvl2pPr>
              <a:spcBef>
                <a:spcPts val="1828"/>
              </a:spcBef>
              <a:defRPr sz="2400">
                <a:latin typeface="+mj-lt"/>
                <a:ea typeface="+mj-ea"/>
                <a:cs typeface="+mj-cs"/>
                <a:sym typeface="Chaparral Pro"/>
              </a:defRPr>
            </a:lvl2pPr>
            <a:lvl3pPr>
              <a:spcBef>
                <a:spcPts val="1828"/>
              </a:spcBef>
              <a:defRPr sz="2200">
                <a:latin typeface="+mj-lt"/>
                <a:ea typeface="+mj-ea"/>
                <a:cs typeface="+mj-cs"/>
                <a:sym typeface="Chaparral Pro"/>
              </a:defRPr>
            </a:lvl3pPr>
            <a:lvl4pPr>
              <a:spcBef>
                <a:spcPts val="1828"/>
              </a:spcBef>
              <a:defRPr sz="2100">
                <a:latin typeface="+mj-lt"/>
                <a:ea typeface="+mj-ea"/>
                <a:cs typeface="+mj-cs"/>
                <a:sym typeface="Chaparral Pro"/>
              </a:defRPr>
            </a:lvl4pPr>
            <a:lvl5pPr>
              <a:spcBef>
                <a:spcPts val="1828"/>
              </a:spcBef>
              <a:defRPr sz="2000">
                <a:latin typeface="+mj-lt"/>
                <a:ea typeface="+mj-ea"/>
                <a:cs typeface="+mj-cs"/>
                <a:sym typeface="Chaparral Pro"/>
              </a:defRPr>
            </a:lvl5pPr>
          </a:lstStyle>
          <a:p>
            <a:r>
              <a:t>Body Level One</a:t>
            </a:r>
          </a:p>
          <a:p>
            <a:pPr lvl="1"/>
            <a:r>
              <a:t>Body Level Two</a:t>
            </a:r>
          </a:p>
          <a:p>
            <a:pPr lvl="2"/>
            <a:r>
              <a:t>Body Level Three</a:t>
            </a:r>
          </a:p>
          <a:p>
            <a:pPr lvl="3"/>
            <a:r>
              <a:t>Body Level Four</a:t>
            </a:r>
          </a:p>
          <a:p>
            <a:pPr lvl="4"/>
            <a:r>
              <a:t>Body Level Five</a:t>
            </a:r>
          </a:p>
        </p:txBody>
      </p:sp>
    </p:spTree>
    <p:extLst>
      <p:ext uri="{BB962C8B-B14F-4D97-AF65-F5344CB8AC3E}">
        <p14:creationId xmlns:p14="http://schemas.microsoft.com/office/powerpoint/2010/main" val="394506394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B84FBF-B27B-4477-92FA-C553D12D7E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FD28BD-EDB2-40B5-B543-76DDBCF910B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050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5" r:id="rId4"/>
    <p:sldLayoutId id="2147483660" r:id="rId5"/>
    <p:sldLayoutId id="2147483661" r:id="rId6"/>
    <p:sldLayoutId id="2147483662" r:id="rId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hyperlink" Target="http://www.cse.iitb.ac.in/soumen/mining-the-web/" TargetMode="External"/><Relationship Id="rId2" Type="http://schemas.openxmlformats.org/officeDocument/2006/relationships/hyperlink" Target="http://nlp.stanford.edu/IR-book/" TargetMode="External"/><Relationship Id="rId1" Type="http://schemas.openxmlformats.org/officeDocument/2006/relationships/slideLayout" Target="../slideLayouts/slideLayout5.xml"/><Relationship Id="rId5" Type="http://schemas.openxmlformats.org/officeDocument/2006/relationships/hyperlink" Target="https://wiki.apache.org/nutch/NutchTutorial" TargetMode="External"/><Relationship Id="rId4" Type="http://schemas.openxmlformats.org/officeDocument/2006/relationships/hyperlink" Target="http://www.theatlantic.com/magazine/archive/1945/07/as-we-may-think/30388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1524000" y="993530"/>
            <a:ext cx="9144000" cy="1995854"/>
          </a:xfrm>
        </p:spPr>
        <p:txBody>
          <a:bodyPr>
            <a:normAutofit/>
          </a:bodyPr>
          <a:lstStyle/>
          <a:p>
            <a:r>
              <a:rPr lang="en-IN" sz="4400" b="1" dirty="0">
                <a:solidFill>
                  <a:srgbClr val="00B050"/>
                </a:solidFill>
              </a:rPr>
              <a:t>Data Collection Session 4</a:t>
            </a:r>
            <a:br>
              <a:rPr lang="en-IN" sz="4400" b="1" dirty="0">
                <a:solidFill>
                  <a:srgbClr val="00B050"/>
                </a:solidFill>
              </a:rPr>
            </a:br>
            <a:r>
              <a:rPr lang="en-US" b="1" dirty="0">
                <a:solidFill>
                  <a:srgbClr val="FF0000"/>
                </a:solidFill>
              </a:rPr>
              <a:t>Web Data Collection</a:t>
            </a:r>
            <a:endParaRPr lang="en-US" sz="2700" b="1" dirty="0">
              <a:solidFill>
                <a:srgbClr val="FF0000"/>
              </a:solidFill>
            </a:endParaRPr>
          </a:p>
        </p:txBody>
      </p:sp>
      <p:sp>
        <p:nvSpPr>
          <p:cNvPr id="6" name="Subtitle 5"/>
          <p:cNvSpPr>
            <a:spLocks noGrp="1"/>
          </p:cNvSpPr>
          <p:nvPr>
            <p:ph type="subTitle" idx="1"/>
          </p:nvPr>
        </p:nvSpPr>
        <p:spPr/>
        <p:txBody>
          <a:bodyPr>
            <a:normAutofit/>
          </a:bodyPr>
          <a:lstStyle/>
          <a:p>
            <a:r>
              <a:rPr lang="en-IN" sz="4600" b="1" dirty="0">
                <a:solidFill>
                  <a:srgbClr val="7030A0"/>
                </a:solidFill>
              </a:rPr>
              <a:t>Manish Gupta</a:t>
            </a:r>
          </a:p>
        </p:txBody>
      </p:sp>
    </p:spTree>
    <p:extLst>
      <p:ext uri="{BB962C8B-B14F-4D97-AF65-F5344CB8AC3E}">
        <p14:creationId xmlns:p14="http://schemas.microsoft.com/office/powerpoint/2010/main" val="4172522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47FC-3636-484C-B139-7CB1E6CBFB6F}"/>
              </a:ext>
            </a:extLst>
          </p:cNvPr>
          <p:cNvSpPr>
            <a:spLocks noGrp="1"/>
          </p:cNvSpPr>
          <p:nvPr>
            <p:ph type="title"/>
          </p:nvPr>
        </p:nvSpPr>
        <p:spPr/>
        <p:txBody>
          <a:bodyPr/>
          <a:lstStyle/>
          <a:p>
            <a:r>
              <a:rPr lang="en-US" dirty="0"/>
              <a:t>Recap</a:t>
            </a:r>
          </a:p>
        </p:txBody>
      </p:sp>
      <p:sp>
        <p:nvSpPr>
          <p:cNvPr id="3" name="Content Placeholder 2">
            <a:extLst>
              <a:ext uri="{FF2B5EF4-FFF2-40B4-BE49-F238E27FC236}">
                <a16:creationId xmlns:a16="http://schemas.microsoft.com/office/drawing/2014/main" id="{46C32829-EFE4-4848-BEBC-181CA951404B}"/>
              </a:ext>
            </a:extLst>
          </p:cNvPr>
          <p:cNvSpPr>
            <a:spLocks noGrp="1"/>
          </p:cNvSpPr>
          <p:nvPr>
            <p:ph idx="13"/>
          </p:nvPr>
        </p:nvSpPr>
        <p:spPr/>
        <p:txBody>
          <a:bodyPr>
            <a:normAutofit/>
          </a:bodyPr>
          <a:lstStyle/>
          <a:p>
            <a:r>
              <a:rPr lang="en-US" dirty="0"/>
              <a:t>Web scraping: various applications, DOM structure, different levels of data complexity, information extraction goals, techniques, methods to prevent.</a:t>
            </a:r>
          </a:p>
          <a:p>
            <a:r>
              <a:rPr lang="en-US" dirty="0"/>
              <a:t>Scraping using Python: Beautiful Soup and Scrapy.</a:t>
            </a:r>
          </a:p>
        </p:txBody>
      </p:sp>
    </p:spTree>
    <p:extLst>
      <p:ext uri="{BB962C8B-B14F-4D97-AF65-F5344CB8AC3E}">
        <p14:creationId xmlns:p14="http://schemas.microsoft.com/office/powerpoint/2010/main" val="40121317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5E45-AC58-43D9-A609-0ACA43F929C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111707C-A1E1-4947-B90A-F5C91A14AD9B}"/>
              </a:ext>
            </a:extLst>
          </p:cNvPr>
          <p:cNvSpPr>
            <a:spLocks noGrp="1"/>
          </p:cNvSpPr>
          <p:nvPr>
            <p:ph idx="13"/>
          </p:nvPr>
        </p:nvSpPr>
        <p:spPr/>
        <p:txBody>
          <a:bodyPr/>
          <a:lstStyle/>
          <a:p>
            <a:r>
              <a:rPr lang="en-US" dirty="0"/>
              <a:t>Data collection from the web</a:t>
            </a:r>
          </a:p>
          <a:p>
            <a:pPr lvl="1"/>
            <a:r>
              <a:rPr lang="en-US" dirty="0"/>
              <a:t>Crawling and </a:t>
            </a:r>
            <a:r>
              <a:rPr lang="en-US" dirty="0" err="1"/>
              <a:t>Nutch</a:t>
            </a:r>
            <a:r>
              <a:rPr lang="en-US" dirty="0"/>
              <a:t> demo</a:t>
            </a:r>
          </a:p>
          <a:p>
            <a:r>
              <a:rPr lang="en-US" dirty="0"/>
              <a:t>Collecting images and videos data from Instagram and </a:t>
            </a:r>
            <a:r>
              <a:rPr lang="en-US" dirty="0" err="1"/>
              <a:t>youtube</a:t>
            </a:r>
            <a:endParaRPr lang="en-US" dirty="0"/>
          </a:p>
          <a:p>
            <a:pPr lvl="1"/>
            <a:r>
              <a:rPr lang="en-US" dirty="0" err="1"/>
              <a:t>instaloader</a:t>
            </a:r>
            <a:r>
              <a:rPr lang="en-US" dirty="0"/>
              <a:t> to download </a:t>
            </a:r>
            <a:r>
              <a:rPr lang="en-US" dirty="0" err="1"/>
              <a:t>instagram</a:t>
            </a:r>
            <a:r>
              <a:rPr lang="en-US" dirty="0"/>
              <a:t> posts, comments, images.</a:t>
            </a:r>
          </a:p>
          <a:p>
            <a:pPr lvl="1"/>
            <a:r>
              <a:rPr lang="en-US" dirty="0"/>
              <a:t>Selenium to download </a:t>
            </a:r>
            <a:r>
              <a:rPr lang="en-US" dirty="0" err="1"/>
              <a:t>Youtube</a:t>
            </a:r>
            <a:r>
              <a:rPr lang="en-US" dirty="0"/>
              <a:t> videos, transcripts, extract shots and run entity linking.</a:t>
            </a:r>
          </a:p>
          <a:p>
            <a:endParaRPr lang="en-US" dirty="0"/>
          </a:p>
        </p:txBody>
      </p:sp>
    </p:spTree>
    <p:extLst>
      <p:ext uri="{BB962C8B-B14F-4D97-AF65-F5344CB8AC3E}">
        <p14:creationId xmlns:p14="http://schemas.microsoft.com/office/powerpoint/2010/main" val="2364997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5E45-AC58-43D9-A609-0ACA43F929C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111707C-A1E1-4947-B90A-F5C91A14AD9B}"/>
              </a:ext>
            </a:extLst>
          </p:cNvPr>
          <p:cNvSpPr>
            <a:spLocks noGrp="1"/>
          </p:cNvSpPr>
          <p:nvPr>
            <p:ph idx="13"/>
          </p:nvPr>
        </p:nvSpPr>
        <p:spPr/>
        <p:txBody>
          <a:bodyPr/>
          <a:lstStyle/>
          <a:p>
            <a:r>
              <a:rPr lang="en-US" dirty="0">
                <a:solidFill>
                  <a:srgbClr val="FF0000"/>
                </a:solidFill>
              </a:rPr>
              <a:t>Data collection from the web</a:t>
            </a:r>
          </a:p>
          <a:p>
            <a:pPr lvl="1"/>
            <a:r>
              <a:rPr lang="en-US" dirty="0">
                <a:solidFill>
                  <a:srgbClr val="FF0000"/>
                </a:solidFill>
              </a:rPr>
              <a:t>Crawling and </a:t>
            </a:r>
            <a:r>
              <a:rPr lang="en-US" dirty="0" err="1">
                <a:solidFill>
                  <a:srgbClr val="FF0000"/>
                </a:solidFill>
              </a:rPr>
              <a:t>Nutch</a:t>
            </a:r>
            <a:r>
              <a:rPr lang="en-US" dirty="0">
                <a:solidFill>
                  <a:srgbClr val="FF0000"/>
                </a:solidFill>
              </a:rPr>
              <a:t> demo</a:t>
            </a:r>
          </a:p>
          <a:p>
            <a:r>
              <a:rPr lang="en-US" dirty="0"/>
              <a:t>Collecting videos data from </a:t>
            </a:r>
            <a:r>
              <a:rPr lang="en-US" dirty="0" err="1"/>
              <a:t>youtube</a:t>
            </a:r>
            <a:endParaRPr lang="en-US" dirty="0"/>
          </a:p>
          <a:p>
            <a:pPr lvl="1"/>
            <a:r>
              <a:rPr lang="en-US" dirty="0"/>
              <a:t>Selenium to download </a:t>
            </a:r>
            <a:r>
              <a:rPr lang="en-US" dirty="0" err="1"/>
              <a:t>Youtube</a:t>
            </a:r>
            <a:r>
              <a:rPr lang="en-US" dirty="0"/>
              <a:t> videos, transcripts, extract shots and run entity linking.</a:t>
            </a:r>
          </a:p>
          <a:p>
            <a:endParaRPr lang="en-US" dirty="0"/>
          </a:p>
        </p:txBody>
      </p:sp>
    </p:spTree>
    <p:extLst>
      <p:ext uri="{BB962C8B-B14F-4D97-AF65-F5344CB8AC3E}">
        <p14:creationId xmlns:p14="http://schemas.microsoft.com/office/powerpoint/2010/main" val="4198645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922" name="Rectangle 2"/>
          <p:cNvSpPr>
            <a:spLocks noGrp="1" noChangeArrowheads="1"/>
          </p:cNvSpPr>
          <p:nvPr>
            <p:ph type="title"/>
          </p:nvPr>
        </p:nvSpPr>
        <p:spPr/>
        <p:txBody>
          <a:bodyPr/>
          <a:lstStyle/>
          <a:p>
            <a:r>
              <a:rPr lang="en-US" altLang="en-US" sz="4800"/>
              <a:t>Basic crawler operation</a:t>
            </a:r>
          </a:p>
        </p:txBody>
      </p:sp>
      <p:sp>
        <p:nvSpPr>
          <p:cNvPr id="977923" name="Rectangle 3"/>
          <p:cNvSpPr>
            <a:spLocks noGrp="1" noChangeArrowheads="1"/>
          </p:cNvSpPr>
          <p:nvPr>
            <p:ph idx="13"/>
          </p:nvPr>
        </p:nvSpPr>
        <p:spPr/>
        <p:txBody>
          <a:bodyPr/>
          <a:lstStyle/>
          <a:p>
            <a:r>
              <a:rPr lang="en-US" altLang="en-US" sz="3600" dirty="0"/>
              <a:t>Begin with known “seed” pages</a:t>
            </a:r>
          </a:p>
          <a:p>
            <a:r>
              <a:rPr lang="en-US" altLang="en-US" sz="3600" dirty="0"/>
              <a:t>Fetch and parse them</a:t>
            </a:r>
          </a:p>
          <a:p>
            <a:pPr lvl="1"/>
            <a:r>
              <a:rPr lang="en-US" altLang="en-US" sz="3600" dirty="0"/>
              <a:t>Extract URLs they point to</a:t>
            </a:r>
          </a:p>
          <a:p>
            <a:pPr lvl="1"/>
            <a:r>
              <a:rPr lang="en-US" altLang="en-US" sz="3600" dirty="0"/>
              <a:t>Place the extracted URLs on a queue</a:t>
            </a:r>
          </a:p>
          <a:p>
            <a:r>
              <a:rPr lang="en-US" altLang="en-US" sz="3600" dirty="0"/>
              <a:t>Fetch each URL on the queue and repeat</a:t>
            </a:r>
          </a:p>
        </p:txBody>
      </p:sp>
    </p:spTree>
    <p:extLst>
      <p:ext uri="{BB962C8B-B14F-4D97-AF65-F5344CB8AC3E}">
        <p14:creationId xmlns:p14="http://schemas.microsoft.com/office/powerpoint/2010/main" val="3518063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r>
              <a:rPr lang="en-US" altLang="en-US"/>
              <a:t>Crawling picture</a:t>
            </a:r>
          </a:p>
        </p:txBody>
      </p:sp>
      <p:grpSp>
        <p:nvGrpSpPr>
          <p:cNvPr id="983043" name="Group 3"/>
          <p:cNvGrpSpPr>
            <a:grpSpLocks/>
          </p:cNvGrpSpPr>
          <p:nvPr/>
        </p:nvGrpSpPr>
        <p:grpSpPr bwMode="auto">
          <a:xfrm>
            <a:off x="1876427" y="1028700"/>
            <a:ext cx="8448675" cy="5067300"/>
            <a:chOff x="222" y="1072"/>
            <a:chExt cx="5322" cy="3192"/>
          </a:xfrm>
        </p:grpSpPr>
        <p:sp>
          <p:nvSpPr>
            <p:cNvPr id="983044" name="Freeform 4"/>
            <p:cNvSpPr>
              <a:spLocks/>
            </p:cNvSpPr>
            <p:nvPr/>
          </p:nvSpPr>
          <p:spPr bwMode="auto">
            <a:xfrm>
              <a:off x="328" y="1072"/>
              <a:ext cx="5216" cy="3192"/>
            </a:xfrm>
            <a:custGeom>
              <a:avLst/>
              <a:gdLst>
                <a:gd name="T0" fmla="*/ 1208 w 5216"/>
                <a:gd name="T1" fmla="*/ 2768 h 3192"/>
                <a:gd name="T2" fmla="*/ 8 w 5216"/>
                <a:gd name="T3" fmla="*/ 1760 h 3192"/>
                <a:gd name="T4" fmla="*/ 1256 w 5216"/>
                <a:gd name="T5" fmla="*/ 224 h 3192"/>
                <a:gd name="T6" fmla="*/ 4472 w 5216"/>
                <a:gd name="T7" fmla="*/ 416 h 3192"/>
                <a:gd name="T8" fmla="*/ 5048 w 5216"/>
                <a:gd name="T9" fmla="*/ 2528 h 3192"/>
                <a:gd name="T10" fmla="*/ 3464 w 5216"/>
                <a:gd name="T11" fmla="*/ 3152 h 3192"/>
                <a:gd name="T12" fmla="*/ 1208 w 5216"/>
                <a:gd name="T13" fmla="*/ 2768 h 3192"/>
              </a:gdLst>
              <a:ahLst/>
              <a:cxnLst>
                <a:cxn ang="0">
                  <a:pos x="T0" y="T1"/>
                </a:cxn>
                <a:cxn ang="0">
                  <a:pos x="T2" y="T3"/>
                </a:cxn>
                <a:cxn ang="0">
                  <a:pos x="T4" y="T5"/>
                </a:cxn>
                <a:cxn ang="0">
                  <a:pos x="T6" y="T7"/>
                </a:cxn>
                <a:cxn ang="0">
                  <a:pos x="T8" y="T9"/>
                </a:cxn>
                <a:cxn ang="0">
                  <a:pos x="T10" y="T11"/>
                </a:cxn>
                <a:cxn ang="0">
                  <a:pos x="T12" y="T13"/>
                </a:cxn>
              </a:cxnLst>
              <a:rect l="0" t="0" r="r" b="b"/>
              <a:pathLst>
                <a:path w="5216" h="3192">
                  <a:moveTo>
                    <a:pt x="1208" y="2768"/>
                  </a:moveTo>
                  <a:cubicBezTo>
                    <a:pt x="632" y="2536"/>
                    <a:pt x="0" y="2184"/>
                    <a:pt x="8" y="1760"/>
                  </a:cubicBezTo>
                  <a:cubicBezTo>
                    <a:pt x="16" y="1336"/>
                    <a:pt x="512" y="448"/>
                    <a:pt x="1256" y="224"/>
                  </a:cubicBezTo>
                  <a:cubicBezTo>
                    <a:pt x="2000" y="0"/>
                    <a:pt x="3840" y="32"/>
                    <a:pt x="4472" y="416"/>
                  </a:cubicBezTo>
                  <a:cubicBezTo>
                    <a:pt x="5104" y="800"/>
                    <a:pt x="5216" y="2072"/>
                    <a:pt x="5048" y="2528"/>
                  </a:cubicBezTo>
                  <a:cubicBezTo>
                    <a:pt x="4880" y="2984"/>
                    <a:pt x="4104" y="3112"/>
                    <a:pt x="3464" y="3152"/>
                  </a:cubicBezTo>
                  <a:cubicBezTo>
                    <a:pt x="2824" y="3192"/>
                    <a:pt x="1784" y="3000"/>
                    <a:pt x="1208" y="2768"/>
                  </a:cubicBezTo>
                  <a:close/>
                </a:path>
              </a:pathLst>
            </a:custGeom>
            <a:noFill/>
            <a:ln w="31750"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45" name="Text Box 5"/>
            <p:cNvSpPr txBox="1">
              <a:spLocks noChangeArrowheads="1"/>
            </p:cNvSpPr>
            <p:nvPr/>
          </p:nvSpPr>
          <p:spPr bwMode="auto">
            <a:xfrm>
              <a:off x="222" y="3528"/>
              <a:ext cx="390" cy="23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Web</a:t>
              </a:r>
            </a:p>
          </p:txBody>
        </p:sp>
      </p:grpSp>
      <p:grpSp>
        <p:nvGrpSpPr>
          <p:cNvPr id="983046" name="Group 6"/>
          <p:cNvGrpSpPr>
            <a:grpSpLocks/>
          </p:cNvGrpSpPr>
          <p:nvPr/>
        </p:nvGrpSpPr>
        <p:grpSpPr bwMode="auto">
          <a:xfrm>
            <a:off x="2587627" y="1231900"/>
            <a:ext cx="2657475" cy="4419600"/>
            <a:chOff x="670" y="1200"/>
            <a:chExt cx="1674" cy="2784"/>
          </a:xfrm>
        </p:grpSpPr>
        <p:sp>
          <p:nvSpPr>
            <p:cNvPr id="983047" name="Freeform 7"/>
            <p:cNvSpPr>
              <a:spLocks/>
            </p:cNvSpPr>
            <p:nvPr/>
          </p:nvSpPr>
          <p:spPr bwMode="auto">
            <a:xfrm>
              <a:off x="1680" y="1200"/>
              <a:ext cx="664" cy="2784"/>
            </a:xfrm>
            <a:custGeom>
              <a:avLst/>
              <a:gdLst>
                <a:gd name="T0" fmla="*/ 288 w 664"/>
                <a:gd name="T1" fmla="*/ 0 h 2784"/>
                <a:gd name="T2" fmla="*/ 624 w 664"/>
                <a:gd name="T3" fmla="*/ 912 h 2784"/>
                <a:gd name="T4" fmla="*/ 48 w 664"/>
                <a:gd name="T5" fmla="*/ 1584 h 2784"/>
                <a:gd name="T6" fmla="*/ 336 w 664"/>
                <a:gd name="T7" fmla="*/ 2784 h 2784"/>
              </a:gdLst>
              <a:ahLst/>
              <a:cxnLst>
                <a:cxn ang="0">
                  <a:pos x="T0" y="T1"/>
                </a:cxn>
                <a:cxn ang="0">
                  <a:pos x="T2" y="T3"/>
                </a:cxn>
                <a:cxn ang="0">
                  <a:pos x="T4" y="T5"/>
                </a:cxn>
                <a:cxn ang="0">
                  <a:pos x="T6" y="T7"/>
                </a:cxn>
              </a:cxnLst>
              <a:rect l="0" t="0" r="r" b="b"/>
              <a:pathLst>
                <a:path w="664" h="2784">
                  <a:moveTo>
                    <a:pt x="288" y="0"/>
                  </a:moveTo>
                  <a:cubicBezTo>
                    <a:pt x="476" y="324"/>
                    <a:pt x="664" y="648"/>
                    <a:pt x="624" y="912"/>
                  </a:cubicBezTo>
                  <a:cubicBezTo>
                    <a:pt x="584" y="1176"/>
                    <a:pt x="96" y="1272"/>
                    <a:pt x="48" y="1584"/>
                  </a:cubicBezTo>
                  <a:cubicBezTo>
                    <a:pt x="0" y="1896"/>
                    <a:pt x="168" y="2340"/>
                    <a:pt x="336" y="2784"/>
                  </a:cubicBezTo>
                </a:path>
              </a:pathLst>
            </a:custGeom>
            <a:noFill/>
            <a:ln w="9525" cap="flat" cmpd="sng">
              <a:solidFill>
                <a:schemeClr val="tx1"/>
              </a:solidFill>
              <a:prstDash val="solid"/>
              <a:miter lim="800000"/>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48" name="Text Box 8"/>
            <p:cNvSpPr txBox="1">
              <a:spLocks noChangeArrowheads="1"/>
            </p:cNvSpPr>
            <p:nvPr/>
          </p:nvSpPr>
          <p:spPr bwMode="auto">
            <a:xfrm>
              <a:off x="670" y="1944"/>
              <a:ext cx="904" cy="407"/>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a:t>URLs crawled</a:t>
              </a:r>
            </a:p>
            <a:p>
              <a:pPr algn="l"/>
              <a:r>
                <a:rPr lang="en-US" altLang="en-US"/>
                <a:t>and parsed</a:t>
              </a:r>
            </a:p>
          </p:txBody>
        </p:sp>
      </p:grpSp>
      <p:pic>
        <p:nvPicPr>
          <p:cNvPr id="983052" name="Picture 12" descr="MCj02149840000[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14802" y="3517900"/>
            <a:ext cx="474663" cy="471488"/>
          </a:xfrm>
          <a:prstGeom prst="rect">
            <a:avLst/>
          </a:prstGeom>
          <a:noFill/>
          <a:extLst>
            <a:ext uri="{909E8E84-426E-40DD-AFC4-6F175D3DCCD1}">
              <a14:hiddenFill xmlns:a14="http://schemas.microsoft.com/office/drawing/2010/main">
                <a:solidFill>
                  <a:srgbClr val="FFFFFF"/>
                </a:solidFill>
              </a14:hiddenFill>
            </a:ext>
          </a:extLst>
        </p:spPr>
      </p:pic>
      <p:grpSp>
        <p:nvGrpSpPr>
          <p:cNvPr id="983054" name="Group 14"/>
          <p:cNvGrpSpPr>
            <a:grpSpLocks/>
          </p:cNvGrpSpPr>
          <p:nvPr/>
        </p:nvGrpSpPr>
        <p:grpSpPr bwMode="auto">
          <a:xfrm>
            <a:off x="3962400" y="1155700"/>
            <a:ext cx="3416300" cy="4800600"/>
            <a:chOff x="1536" y="1152"/>
            <a:chExt cx="2152" cy="3024"/>
          </a:xfrm>
        </p:grpSpPr>
        <p:grpSp>
          <p:nvGrpSpPr>
            <p:cNvPr id="983055" name="Group 15"/>
            <p:cNvGrpSpPr>
              <a:grpSpLocks/>
            </p:cNvGrpSpPr>
            <p:nvPr/>
          </p:nvGrpSpPr>
          <p:grpSpPr bwMode="auto">
            <a:xfrm>
              <a:off x="2064" y="1152"/>
              <a:ext cx="1624" cy="3024"/>
              <a:chOff x="2064" y="1152"/>
              <a:chExt cx="1624" cy="3024"/>
            </a:xfrm>
          </p:grpSpPr>
          <p:sp>
            <p:nvSpPr>
              <p:cNvPr id="983056" name="Freeform 16"/>
              <p:cNvSpPr>
                <a:spLocks/>
              </p:cNvSpPr>
              <p:nvPr/>
            </p:nvSpPr>
            <p:spPr bwMode="auto">
              <a:xfrm>
                <a:off x="2880" y="1152"/>
                <a:ext cx="808" cy="3024"/>
              </a:xfrm>
              <a:custGeom>
                <a:avLst/>
                <a:gdLst>
                  <a:gd name="T0" fmla="*/ 528 w 808"/>
                  <a:gd name="T1" fmla="*/ 0 h 3024"/>
                  <a:gd name="T2" fmla="*/ 0 w 808"/>
                  <a:gd name="T3" fmla="*/ 576 h 3024"/>
                  <a:gd name="T4" fmla="*/ 528 w 808"/>
                  <a:gd name="T5" fmla="*/ 1488 h 3024"/>
                  <a:gd name="T6" fmla="*/ 720 w 808"/>
                  <a:gd name="T7" fmla="*/ 2736 h 3024"/>
                  <a:gd name="T8" fmla="*/ 0 w 808"/>
                  <a:gd name="T9" fmla="*/ 3024 h 3024"/>
                </a:gdLst>
                <a:ahLst/>
                <a:cxnLst>
                  <a:cxn ang="0">
                    <a:pos x="T0" y="T1"/>
                  </a:cxn>
                  <a:cxn ang="0">
                    <a:pos x="T2" y="T3"/>
                  </a:cxn>
                  <a:cxn ang="0">
                    <a:pos x="T4" y="T5"/>
                  </a:cxn>
                  <a:cxn ang="0">
                    <a:pos x="T6" y="T7"/>
                  </a:cxn>
                  <a:cxn ang="0">
                    <a:pos x="T8" y="T9"/>
                  </a:cxn>
                </a:cxnLst>
                <a:rect l="0" t="0" r="r" b="b"/>
                <a:pathLst>
                  <a:path w="808" h="3024">
                    <a:moveTo>
                      <a:pt x="528" y="0"/>
                    </a:moveTo>
                    <a:cubicBezTo>
                      <a:pt x="264" y="164"/>
                      <a:pt x="0" y="328"/>
                      <a:pt x="0" y="576"/>
                    </a:cubicBezTo>
                    <a:cubicBezTo>
                      <a:pt x="0" y="824"/>
                      <a:pt x="408" y="1128"/>
                      <a:pt x="528" y="1488"/>
                    </a:cubicBezTo>
                    <a:cubicBezTo>
                      <a:pt x="648" y="1848"/>
                      <a:pt x="808" y="2480"/>
                      <a:pt x="720" y="2736"/>
                    </a:cubicBezTo>
                    <a:cubicBezTo>
                      <a:pt x="632" y="2992"/>
                      <a:pt x="316" y="3008"/>
                      <a:pt x="0" y="3024"/>
                    </a:cubicBezTo>
                  </a:path>
                </a:pathLst>
              </a:custGeom>
              <a:noFill/>
              <a:ln w="9525" cap="flat" cmpd="sng">
                <a:solidFill>
                  <a:schemeClr val="tx1"/>
                </a:solidFill>
                <a:prstDash val="dashDot"/>
                <a:miter lim="800000"/>
                <a:headEnd type="none" w="med" len="med"/>
                <a:tailEnd type="none"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57" name="Text Box 17"/>
              <p:cNvSpPr txBox="1">
                <a:spLocks noChangeArrowheads="1"/>
              </p:cNvSpPr>
              <p:nvPr/>
            </p:nvSpPr>
            <p:spPr bwMode="auto">
              <a:xfrm>
                <a:off x="2064" y="2904"/>
                <a:ext cx="882" cy="233"/>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URLs </a:t>
                </a:r>
                <a:r>
                  <a:rPr lang="en-US" altLang="en-US" i="1"/>
                  <a:t>frontier</a:t>
                </a:r>
              </a:p>
            </p:txBody>
          </p:sp>
        </p:grpSp>
        <p:sp>
          <p:nvSpPr>
            <p:cNvPr id="983058" name="Line 18"/>
            <p:cNvSpPr>
              <a:spLocks noChangeShapeType="1"/>
            </p:cNvSpPr>
            <p:nvPr/>
          </p:nvSpPr>
          <p:spPr bwMode="auto">
            <a:xfrm flipV="1">
              <a:off x="1536" y="3168"/>
              <a:ext cx="912" cy="24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59" name="Line 19"/>
            <p:cNvSpPr>
              <a:spLocks noChangeShapeType="1"/>
            </p:cNvSpPr>
            <p:nvPr/>
          </p:nvSpPr>
          <p:spPr bwMode="auto">
            <a:xfrm>
              <a:off x="1536" y="3408"/>
              <a:ext cx="912"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60" name="Line 20"/>
            <p:cNvSpPr>
              <a:spLocks noChangeShapeType="1"/>
            </p:cNvSpPr>
            <p:nvPr/>
          </p:nvSpPr>
          <p:spPr bwMode="auto">
            <a:xfrm>
              <a:off x="1632" y="2448"/>
              <a:ext cx="1104" cy="288"/>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61" name="Line 21"/>
            <p:cNvSpPr>
              <a:spLocks noChangeShapeType="1"/>
            </p:cNvSpPr>
            <p:nvPr/>
          </p:nvSpPr>
          <p:spPr bwMode="auto">
            <a:xfrm flipV="1">
              <a:off x="1968" y="1824"/>
              <a:ext cx="768" cy="96"/>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983062" name="Text Box 22"/>
          <p:cNvSpPr txBox="1">
            <a:spLocks noChangeArrowheads="1"/>
          </p:cNvSpPr>
          <p:nvPr/>
        </p:nvSpPr>
        <p:spPr bwMode="auto">
          <a:xfrm>
            <a:off x="7543801" y="3100388"/>
            <a:ext cx="1383264" cy="36933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Unseen Web</a:t>
            </a:r>
          </a:p>
        </p:txBody>
      </p:sp>
      <p:sp>
        <p:nvSpPr>
          <p:cNvPr id="983063" name="Oval 23"/>
          <p:cNvSpPr>
            <a:spLocks noChangeArrowheads="1"/>
          </p:cNvSpPr>
          <p:nvPr/>
        </p:nvSpPr>
        <p:spPr bwMode="auto">
          <a:xfrm>
            <a:off x="2961431" y="4012000"/>
            <a:ext cx="1025627" cy="908864"/>
          </a:xfrm>
          <a:prstGeom prst="ellipse">
            <a:avLst/>
          </a:prstGeom>
          <a:noFill/>
          <a:ln w="25400">
            <a:solidFill>
              <a:srgbClr val="489C62"/>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a:t>Seed</a:t>
            </a:r>
          </a:p>
          <a:p>
            <a:pPr algn="ctr"/>
            <a:r>
              <a:rPr lang="en-US" altLang="en-US"/>
              <a:t>pages</a:t>
            </a:r>
          </a:p>
        </p:txBody>
      </p:sp>
      <p:sp>
        <p:nvSpPr>
          <p:cNvPr id="983064" name="Line 24"/>
          <p:cNvSpPr>
            <a:spLocks noChangeShapeType="1"/>
          </p:cNvSpPr>
          <p:nvPr/>
        </p:nvSpPr>
        <p:spPr bwMode="auto">
          <a:xfrm flipV="1">
            <a:off x="3276600" y="3213100"/>
            <a:ext cx="0" cy="7620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83065" name="Line 25"/>
          <p:cNvSpPr>
            <a:spLocks noChangeShapeType="1"/>
          </p:cNvSpPr>
          <p:nvPr/>
        </p:nvSpPr>
        <p:spPr bwMode="auto">
          <a:xfrm flipV="1">
            <a:off x="3505200" y="3136900"/>
            <a:ext cx="304800" cy="8382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28057520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830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8304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9830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946" name="Rectangle 2"/>
          <p:cNvSpPr>
            <a:spLocks noGrp="1" noChangeArrowheads="1"/>
          </p:cNvSpPr>
          <p:nvPr>
            <p:ph type="title"/>
          </p:nvPr>
        </p:nvSpPr>
        <p:spPr/>
        <p:txBody>
          <a:bodyPr/>
          <a:lstStyle/>
          <a:p>
            <a:r>
              <a:rPr lang="en-US" altLang="en-US"/>
              <a:t>Simple picture – complications</a:t>
            </a:r>
          </a:p>
        </p:txBody>
      </p:sp>
      <p:sp>
        <p:nvSpPr>
          <p:cNvPr id="978947" name="Rectangle 3"/>
          <p:cNvSpPr>
            <a:spLocks noGrp="1" noChangeArrowheads="1"/>
          </p:cNvSpPr>
          <p:nvPr>
            <p:ph idx="13"/>
          </p:nvPr>
        </p:nvSpPr>
        <p:spPr/>
        <p:txBody>
          <a:bodyPr>
            <a:normAutofit/>
          </a:bodyPr>
          <a:lstStyle/>
          <a:p>
            <a:pPr>
              <a:lnSpc>
                <a:spcPct val="90000"/>
              </a:lnSpc>
            </a:pPr>
            <a:r>
              <a:rPr lang="en-US" altLang="en-US" dirty="0"/>
              <a:t>Web crawling isn’t feasible with one machine</a:t>
            </a:r>
          </a:p>
          <a:p>
            <a:pPr lvl="1">
              <a:lnSpc>
                <a:spcPct val="90000"/>
              </a:lnSpc>
            </a:pPr>
            <a:r>
              <a:rPr lang="en-US" altLang="en-US" dirty="0"/>
              <a:t>Hence, distributed operation</a:t>
            </a:r>
          </a:p>
          <a:p>
            <a:pPr>
              <a:lnSpc>
                <a:spcPct val="90000"/>
              </a:lnSpc>
            </a:pPr>
            <a:r>
              <a:rPr lang="en-US" altLang="en-US" dirty="0"/>
              <a:t>Even non-malicious pages pose challenges</a:t>
            </a:r>
          </a:p>
          <a:p>
            <a:pPr lvl="1">
              <a:lnSpc>
                <a:spcPct val="90000"/>
              </a:lnSpc>
            </a:pPr>
            <a:r>
              <a:rPr lang="en-US" altLang="en-US" dirty="0"/>
              <a:t>Latency/bandwidth to remote servers vary</a:t>
            </a:r>
          </a:p>
          <a:p>
            <a:pPr lvl="1">
              <a:lnSpc>
                <a:spcPct val="90000"/>
              </a:lnSpc>
            </a:pPr>
            <a:r>
              <a:rPr lang="en-US" altLang="en-US" dirty="0" err="1"/>
              <a:t>Webmasters’</a:t>
            </a:r>
            <a:r>
              <a:rPr lang="en-US" altLang="en-US" dirty="0"/>
              <a:t> stipulations</a:t>
            </a:r>
          </a:p>
          <a:p>
            <a:pPr lvl="2">
              <a:lnSpc>
                <a:spcPct val="90000"/>
              </a:lnSpc>
            </a:pPr>
            <a:r>
              <a:rPr lang="en-US" altLang="en-US" dirty="0"/>
              <a:t>How “deep” should you crawl a site’s URL hierarchy?</a:t>
            </a:r>
          </a:p>
          <a:p>
            <a:pPr lvl="1">
              <a:lnSpc>
                <a:spcPct val="90000"/>
              </a:lnSpc>
            </a:pPr>
            <a:r>
              <a:rPr lang="en-US" altLang="en-US" dirty="0"/>
              <a:t>Site mirrors and duplicate pages</a:t>
            </a:r>
          </a:p>
          <a:p>
            <a:pPr>
              <a:lnSpc>
                <a:spcPct val="90000"/>
              </a:lnSpc>
            </a:pPr>
            <a:r>
              <a:rPr lang="en-US" altLang="en-US" dirty="0"/>
              <a:t>Malicious pages</a:t>
            </a:r>
          </a:p>
          <a:p>
            <a:pPr lvl="1">
              <a:lnSpc>
                <a:spcPct val="90000"/>
              </a:lnSpc>
            </a:pPr>
            <a:r>
              <a:rPr lang="en-US" altLang="en-US" dirty="0"/>
              <a:t>Spam pages </a:t>
            </a:r>
          </a:p>
          <a:p>
            <a:pPr lvl="1">
              <a:lnSpc>
                <a:spcPct val="90000"/>
              </a:lnSpc>
            </a:pPr>
            <a:r>
              <a:rPr lang="en-US" altLang="en-US" dirty="0"/>
              <a:t>Spider traps – incl. dynamically generated</a:t>
            </a:r>
          </a:p>
          <a:p>
            <a:pPr>
              <a:lnSpc>
                <a:spcPct val="90000"/>
              </a:lnSpc>
            </a:pPr>
            <a:r>
              <a:rPr lang="en-US" altLang="en-US" dirty="0"/>
              <a:t>Politeness – don’t hit a server too often</a:t>
            </a:r>
          </a:p>
        </p:txBody>
      </p:sp>
    </p:spTree>
    <p:extLst>
      <p:ext uri="{BB962C8B-B14F-4D97-AF65-F5344CB8AC3E}">
        <p14:creationId xmlns:p14="http://schemas.microsoft.com/office/powerpoint/2010/main" val="12201725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5970" name="Rectangle 2"/>
          <p:cNvSpPr>
            <a:spLocks noGrp="1" noChangeArrowheads="1"/>
          </p:cNvSpPr>
          <p:nvPr>
            <p:ph type="title"/>
          </p:nvPr>
        </p:nvSpPr>
        <p:spPr/>
        <p:txBody>
          <a:bodyPr/>
          <a:lstStyle/>
          <a:p>
            <a:r>
              <a:rPr lang="en-US" altLang="en-US"/>
              <a:t>What any crawler </a:t>
            </a:r>
            <a:r>
              <a:rPr lang="en-US" altLang="en-US" i="1"/>
              <a:t>should</a:t>
            </a:r>
            <a:r>
              <a:rPr lang="en-US" altLang="en-US"/>
              <a:t> do</a:t>
            </a:r>
          </a:p>
        </p:txBody>
      </p:sp>
      <p:sp>
        <p:nvSpPr>
          <p:cNvPr id="1235971" name="Rectangle 3"/>
          <p:cNvSpPr>
            <a:spLocks noGrp="1" noChangeArrowheads="1"/>
          </p:cNvSpPr>
          <p:nvPr>
            <p:ph idx="13"/>
          </p:nvPr>
        </p:nvSpPr>
        <p:spPr/>
        <p:txBody>
          <a:bodyPr/>
          <a:lstStyle/>
          <a:p>
            <a:r>
              <a:rPr lang="en-US" altLang="en-US" sz="3400"/>
              <a:t>Fetch pages of “higher </a:t>
            </a:r>
            <a:r>
              <a:rPr lang="en-US" altLang="en-US" sz="3400" u="sng"/>
              <a:t>quality</a:t>
            </a:r>
            <a:r>
              <a:rPr lang="en-US" altLang="en-US" sz="3400"/>
              <a:t>” first</a:t>
            </a:r>
          </a:p>
          <a:p>
            <a:r>
              <a:rPr lang="en-US" altLang="en-US" sz="3400" u="sng"/>
              <a:t>Continuous</a:t>
            </a:r>
            <a:r>
              <a:rPr lang="en-US" altLang="en-US" sz="3400"/>
              <a:t> operation: Continue fetching fresh copies of a previously fetched page</a:t>
            </a:r>
          </a:p>
          <a:p>
            <a:r>
              <a:rPr lang="en-US" altLang="en-US" sz="3400" u="sng"/>
              <a:t>Extensible</a:t>
            </a:r>
            <a:r>
              <a:rPr lang="en-US" altLang="en-US" sz="3400"/>
              <a:t>: Adapt to new data formats, protocols</a:t>
            </a:r>
          </a:p>
        </p:txBody>
      </p:sp>
    </p:spTree>
    <p:extLst>
      <p:ext uri="{BB962C8B-B14F-4D97-AF65-F5344CB8AC3E}">
        <p14:creationId xmlns:p14="http://schemas.microsoft.com/office/powerpoint/2010/main" val="4267978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0066" name="Rectangle 2"/>
          <p:cNvSpPr>
            <a:spLocks noGrp="1" noChangeArrowheads="1"/>
          </p:cNvSpPr>
          <p:nvPr>
            <p:ph type="title"/>
          </p:nvPr>
        </p:nvSpPr>
        <p:spPr/>
        <p:txBody>
          <a:bodyPr/>
          <a:lstStyle/>
          <a:p>
            <a:r>
              <a:rPr lang="en-US" altLang="en-US"/>
              <a:t>Basic crawl architecture</a:t>
            </a:r>
          </a:p>
        </p:txBody>
      </p:sp>
      <p:sp>
        <p:nvSpPr>
          <p:cNvPr id="1240068" name="Rectangle 4"/>
          <p:cNvSpPr>
            <a:spLocks noChangeArrowheads="1"/>
          </p:cNvSpPr>
          <p:nvPr/>
        </p:nvSpPr>
        <p:spPr bwMode="auto">
          <a:xfrm>
            <a:off x="2055813" y="1068390"/>
            <a:ext cx="914400" cy="3729037"/>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WWW</a:t>
            </a:r>
          </a:p>
        </p:txBody>
      </p:sp>
      <p:sp>
        <p:nvSpPr>
          <p:cNvPr id="1240069" name="Rectangle 5"/>
          <p:cNvSpPr>
            <a:spLocks noChangeArrowheads="1"/>
          </p:cNvSpPr>
          <p:nvPr/>
        </p:nvSpPr>
        <p:spPr bwMode="auto">
          <a:xfrm>
            <a:off x="3429000" y="2286000"/>
            <a:ext cx="914400" cy="250983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Fetch</a:t>
            </a:r>
          </a:p>
        </p:txBody>
      </p:sp>
      <p:sp>
        <p:nvSpPr>
          <p:cNvPr id="1240070" name="Rectangle 6"/>
          <p:cNvSpPr>
            <a:spLocks noChangeArrowheads="1"/>
          </p:cNvSpPr>
          <p:nvPr/>
        </p:nvSpPr>
        <p:spPr bwMode="auto">
          <a:xfrm>
            <a:off x="3429000" y="1066800"/>
            <a:ext cx="914400" cy="7620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DNS</a:t>
            </a:r>
          </a:p>
        </p:txBody>
      </p:sp>
      <p:sp>
        <p:nvSpPr>
          <p:cNvPr id="1240071" name="Rectangle 7"/>
          <p:cNvSpPr>
            <a:spLocks noChangeArrowheads="1"/>
          </p:cNvSpPr>
          <p:nvPr/>
        </p:nvSpPr>
        <p:spPr bwMode="auto">
          <a:xfrm>
            <a:off x="4800600" y="1447800"/>
            <a:ext cx="914400" cy="3352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t>Parse </a:t>
            </a:r>
          </a:p>
          <a:p>
            <a:pPr algn="ctr"/>
            <a:r>
              <a:rPr lang="en-US" altLang="en-US" dirty="0"/>
              <a:t>(handle </a:t>
            </a:r>
          </a:p>
          <a:p>
            <a:pPr algn="ctr"/>
            <a:r>
              <a:rPr lang="en-US" altLang="en-US" dirty="0"/>
              <a:t>relative </a:t>
            </a:r>
          </a:p>
          <a:p>
            <a:pPr algn="ctr"/>
            <a:r>
              <a:rPr lang="en-US" altLang="en-US" dirty="0"/>
              <a:t>URLs)</a:t>
            </a:r>
          </a:p>
        </p:txBody>
      </p:sp>
      <p:sp>
        <p:nvSpPr>
          <p:cNvPr id="1240072" name="Rectangle 8"/>
          <p:cNvSpPr>
            <a:spLocks noChangeArrowheads="1"/>
          </p:cNvSpPr>
          <p:nvPr/>
        </p:nvSpPr>
        <p:spPr bwMode="auto">
          <a:xfrm>
            <a:off x="6172200" y="2819400"/>
            <a:ext cx="1062990" cy="197643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dirty="0"/>
              <a:t>Content</a:t>
            </a:r>
          </a:p>
          <a:p>
            <a:pPr algn="ctr"/>
            <a:r>
              <a:rPr lang="en-US" altLang="en-US" sz="2000" dirty="0"/>
              <a:t>seen?</a:t>
            </a:r>
          </a:p>
          <a:p>
            <a:pPr algn="ctr"/>
            <a:r>
              <a:rPr lang="en-US" altLang="en-US" sz="2000" dirty="0"/>
              <a:t>(Shingling,</a:t>
            </a:r>
          </a:p>
          <a:p>
            <a:pPr algn="ctr"/>
            <a:r>
              <a:rPr lang="en-US" altLang="en-US" sz="2000" dirty="0"/>
              <a:t>LSH)</a:t>
            </a:r>
          </a:p>
        </p:txBody>
      </p:sp>
      <p:sp>
        <p:nvSpPr>
          <p:cNvPr id="1240073" name="Rectangle 9"/>
          <p:cNvSpPr>
            <a:spLocks noChangeArrowheads="1"/>
          </p:cNvSpPr>
          <p:nvPr/>
        </p:nvSpPr>
        <p:spPr bwMode="auto">
          <a:xfrm>
            <a:off x="7467600" y="2819400"/>
            <a:ext cx="914400" cy="1976438"/>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URL</a:t>
            </a:r>
          </a:p>
          <a:p>
            <a:pPr algn="ctr"/>
            <a:r>
              <a:rPr lang="en-US" altLang="en-US"/>
              <a:t>filter</a:t>
            </a:r>
          </a:p>
        </p:txBody>
      </p:sp>
      <p:sp>
        <p:nvSpPr>
          <p:cNvPr id="1240074" name="Rectangle 10"/>
          <p:cNvSpPr>
            <a:spLocks noChangeArrowheads="1"/>
          </p:cNvSpPr>
          <p:nvPr/>
        </p:nvSpPr>
        <p:spPr bwMode="auto">
          <a:xfrm>
            <a:off x="8763000" y="2824165"/>
            <a:ext cx="914400" cy="1976437"/>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Dup</a:t>
            </a:r>
          </a:p>
          <a:p>
            <a:pPr algn="ctr"/>
            <a:r>
              <a:rPr lang="en-US" altLang="en-US"/>
              <a:t>URL</a:t>
            </a:r>
          </a:p>
          <a:p>
            <a:pPr algn="ctr"/>
            <a:r>
              <a:rPr lang="en-US" altLang="en-US"/>
              <a:t>elim</a:t>
            </a:r>
          </a:p>
        </p:txBody>
      </p:sp>
      <p:sp>
        <p:nvSpPr>
          <p:cNvPr id="1240075" name="AutoShape 11"/>
          <p:cNvSpPr>
            <a:spLocks noChangeArrowheads="1"/>
          </p:cNvSpPr>
          <p:nvPr/>
        </p:nvSpPr>
        <p:spPr bwMode="auto">
          <a:xfrm>
            <a:off x="6172200" y="1295400"/>
            <a:ext cx="914400" cy="990600"/>
          </a:xfrm>
          <a:prstGeom prst="can">
            <a:avLst>
              <a:gd name="adj" fmla="val 27083"/>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Doc</a:t>
            </a:r>
          </a:p>
          <a:p>
            <a:pPr algn="ctr"/>
            <a:r>
              <a:rPr lang="en-US" altLang="en-US"/>
              <a:t>FP’s</a:t>
            </a:r>
          </a:p>
        </p:txBody>
      </p:sp>
      <p:sp>
        <p:nvSpPr>
          <p:cNvPr id="1240076" name="AutoShape 12"/>
          <p:cNvSpPr>
            <a:spLocks noChangeArrowheads="1"/>
          </p:cNvSpPr>
          <p:nvPr/>
        </p:nvSpPr>
        <p:spPr bwMode="auto">
          <a:xfrm>
            <a:off x="8763000" y="1219200"/>
            <a:ext cx="914400" cy="1066800"/>
          </a:xfrm>
          <a:prstGeom prst="can">
            <a:avLst>
              <a:gd name="adj" fmla="val 29167"/>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URL</a:t>
            </a:r>
          </a:p>
          <a:p>
            <a:pPr algn="ctr"/>
            <a:r>
              <a:rPr lang="en-US" altLang="en-US"/>
              <a:t>set</a:t>
            </a:r>
          </a:p>
        </p:txBody>
      </p:sp>
      <p:sp>
        <p:nvSpPr>
          <p:cNvPr id="1240077" name="Rectangle 13"/>
          <p:cNvSpPr>
            <a:spLocks noChangeArrowheads="1"/>
          </p:cNvSpPr>
          <p:nvPr/>
        </p:nvSpPr>
        <p:spPr bwMode="auto">
          <a:xfrm>
            <a:off x="4572000" y="5105400"/>
            <a:ext cx="3962400" cy="685800"/>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URL Frontier</a:t>
            </a:r>
          </a:p>
        </p:txBody>
      </p:sp>
      <p:sp>
        <p:nvSpPr>
          <p:cNvPr id="1240078" name="Line 14"/>
          <p:cNvSpPr>
            <a:spLocks noChangeShapeType="1"/>
          </p:cNvSpPr>
          <p:nvPr/>
        </p:nvSpPr>
        <p:spPr bwMode="auto">
          <a:xfrm flipH="1">
            <a:off x="2970213" y="1443038"/>
            <a:ext cx="457200" cy="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79" name="Line 15"/>
          <p:cNvSpPr>
            <a:spLocks noChangeShapeType="1"/>
          </p:cNvSpPr>
          <p:nvPr/>
        </p:nvSpPr>
        <p:spPr bwMode="auto">
          <a:xfrm>
            <a:off x="3886200" y="1828800"/>
            <a:ext cx="0" cy="45720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0" name="Line 16"/>
          <p:cNvSpPr>
            <a:spLocks noChangeShapeType="1"/>
          </p:cNvSpPr>
          <p:nvPr/>
        </p:nvSpPr>
        <p:spPr bwMode="auto">
          <a:xfrm>
            <a:off x="2971800" y="31242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1" name="Line 17"/>
          <p:cNvSpPr>
            <a:spLocks noChangeShapeType="1"/>
          </p:cNvSpPr>
          <p:nvPr/>
        </p:nvSpPr>
        <p:spPr bwMode="auto">
          <a:xfrm>
            <a:off x="4343400" y="31242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2" name="Line 18"/>
          <p:cNvSpPr>
            <a:spLocks noChangeShapeType="1"/>
          </p:cNvSpPr>
          <p:nvPr/>
        </p:nvSpPr>
        <p:spPr bwMode="auto">
          <a:xfrm>
            <a:off x="5715000" y="3124200"/>
            <a:ext cx="4572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3" name="Line 19"/>
          <p:cNvSpPr>
            <a:spLocks noChangeShapeType="1"/>
          </p:cNvSpPr>
          <p:nvPr/>
        </p:nvSpPr>
        <p:spPr bwMode="auto">
          <a:xfrm>
            <a:off x="7242810" y="3124199"/>
            <a:ext cx="224790" cy="1"/>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4" name="Line 20"/>
          <p:cNvSpPr>
            <a:spLocks noChangeShapeType="1"/>
          </p:cNvSpPr>
          <p:nvPr/>
        </p:nvSpPr>
        <p:spPr bwMode="auto">
          <a:xfrm>
            <a:off x="8382000" y="3124200"/>
            <a:ext cx="3810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5" name="Line 21"/>
          <p:cNvSpPr>
            <a:spLocks noChangeShapeType="1"/>
          </p:cNvSpPr>
          <p:nvPr/>
        </p:nvSpPr>
        <p:spPr bwMode="auto">
          <a:xfrm>
            <a:off x="6629400" y="2286000"/>
            <a:ext cx="0" cy="53340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6" name="Line 22"/>
          <p:cNvSpPr>
            <a:spLocks noChangeShapeType="1"/>
          </p:cNvSpPr>
          <p:nvPr/>
        </p:nvSpPr>
        <p:spPr bwMode="auto">
          <a:xfrm>
            <a:off x="9220200" y="2286000"/>
            <a:ext cx="0" cy="53340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7" name="Line 23"/>
          <p:cNvSpPr>
            <a:spLocks noChangeShapeType="1"/>
          </p:cNvSpPr>
          <p:nvPr/>
        </p:nvSpPr>
        <p:spPr bwMode="auto">
          <a:xfrm flipH="1">
            <a:off x="8534400" y="5486400"/>
            <a:ext cx="685800" cy="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88" name="Line 24"/>
          <p:cNvSpPr>
            <a:spLocks noChangeShapeType="1"/>
          </p:cNvSpPr>
          <p:nvPr/>
        </p:nvSpPr>
        <p:spPr bwMode="auto">
          <a:xfrm flipV="1">
            <a:off x="9220200" y="4800600"/>
            <a:ext cx="0" cy="68580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90" name="Line 26"/>
          <p:cNvSpPr>
            <a:spLocks noChangeShapeType="1"/>
          </p:cNvSpPr>
          <p:nvPr/>
        </p:nvSpPr>
        <p:spPr bwMode="auto">
          <a:xfrm flipH="1">
            <a:off x="3962400" y="5486400"/>
            <a:ext cx="609600" cy="0"/>
          </a:xfrm>
          <a:prstGeom prst="line">
            <a:avLst/>
          </a:prstGeom>
          <a:noFill/>
          <a:ln w="9525">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91" name="Line 27"/>
          <p:cNvSpPr>
            <a:spLocks noChangeShapeType="1"/>
          </p:cNvSpPr>
          <p:nvPr/>
        </p:nvSpPr>
        <p:spPr bwMode="auto">
          <a:xfrm flipV="1">
            <a:off x="3962400" y="4800600"/>
            <a:ext cx="0" cy="685800"/>
          </a:xfrm>
          <a:prstGeom prst="line">
            <a:avLst/>
          </a:prstGeom>
          <a:noFill/>
          <a:ln w="9525">
            <a:solidFill>
              <a:schemeClr val="tx1"/>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240092" name="AutoShape 28"/>
          <p:cNvSpPr>
            <a:spLocks noChangeArrowheads="1"/>
          </p:cNvSpPr>
          <p:nvPr/>
        </p:nvSpPr>
        <p:spPr bwMode="auto">
          <a:xfrm>
            <a:off x="7467600" y="1295400"/>
            <a:ext cx="914400" cy="990600"/>
          </a:xfrm>
          <a:prstGeom prst="can">
            <a:avLst>
              <a:gd name="adj" fmla="val 27083"/>
            </a:avLst>
          </a:prstGeom>
          <a:noFill/>
          <a:ln w="25400">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a:t>robots</a:t>
            </a:r>
          </a:p>
          <a:p>
            <a:pPr algn="ctr"/>
            <a:r>
              <a:rPr lang="en-US" altLang="en-US"/>
              <a:t>filters</a:t>
            </a:r>
          </a:p>
        </p:txBody>
      </p:sp>
      <p:sp>
        <p:nvSpPr>
          <p:cNvPr id="1240093" name="Line 29"/>
          <p:cNvSpPr>
            <a:spLocks noChangeShapeType="1"/>
          </p:cNvSpPr>
          <p:nvPr/>
        </p:nvSpPr>
        <p:spPr bwMode="auto">
          <a:xfrm>
            <a:off x="7924800" y="2286000"/>
            <a:ext cx="0" cy="533400"/>
          </a:xfrm>
          <a:prstGeom prst="line">
            <a:avLst/>
          </a:prstGeom>
          <a:noFill/>
          <a:ln w="9525">
            <a:solidFill>
              <a:schemeClr val="tx1"/>
            </a:solidFill>
            <a:miter lim="800000"/>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extLst>
      <p:ext uri="{BB962C8B-B14F-4D97-AF65-F5344CB8AC3E}">
        <p14:creationId xmlns:p14="http://schemas.microsoft.com/office/powerpoint/2010/main" val="485461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7CD27-6244-4C05-BC3D-3963860839A6}"/>
              </a:ext>
            </a:extLst>
          </p:cNvPr>
          <p:cNvSpPr>
            <a:spLocks noGrp="1"/>
          </p:cNvSpPr>
          <p:nvPr>
            <p:ph type="title"/>
          </p:nvPr>
        </p:nvSpPr>
        <p:spPr/>
        <p:txBody>
          <a:bodyPr/>
          <a:lstStyle/>
          <a:p>
            <a:r>
              <a:rPr lang="en-US" dirty="0" err="1"/>
              <a:t>Nutch</a:t>
            </a:r>
            <a:r>
              <a:rPr lang="en-US" dirty="0"/>
              <a:t> demo</a:t>
            </a:r>
          </a:p>
        </p:txBody>
      </p:sp>
      <p:sp>
        <p:nvSpPr>
          <p:cNvPr id="3" name="Content Placeholder 2">
            <a:extLst>
              <a:ext uri="{FF2B5EF4-FFF2-40B4-BE49-F238E27FC236}">
                <a16:creationId xmlns:a16="http://schemas.microsoft.com/office/drawing/2014/main" id="{FF5077C8-167D-41CA-B197-1784954194D4}"/>
              </a:ext>
            </a:extLst>
          </p:cNvPr>
          <p:cNvSpPr>
            <a:spLocks noGrp="1"/>
          </p:cNvSpPr>
          <p:nvPr>
            <p:ph idx="13"/>
          </p:nvPr>
        </p:nvSpPr>
        <p:spPr/>
        <p:txBody>
          <a:bodyPr>
            <a:normAutofit fontScale="92500" lnSpcReduction="10000"/>
          </a:bodyPr>
          <a:lstStyle/>
          <a:p>
            <a:r>
              <a:rPr lang="en-US" dirty="0"/>
              <a:t>Download latest binaries from https://downloads.apache.org/nutch/1.17/</a:t>
            </a:r>
          </a:p>
          <a:p>
            <a:r>
              <a:rPr lang="en-US" dirty="0"/>
              <a:t>You may also have to update your /</a:t>
            </a:r>
            <a:r>
              <a:rPr lang="en-US" dirty="0" err="1"/>
              <a:t>etc</a:t>
            </a:r>
            <a:r>
              <a:rPr lang="en-US" dirty="0"/>
              <a:t>/hosts file. </a:t>
            </a:r>
          </a:p>
          <a:p>
            <a:pPr lvl="1"/>
            <a:r>
              <a:rPr lang="en-US" dirty="0"/>
              <a:t>127.0.0.1 localhost gmanish2</a:t>
            </a:r>
          </a:p>
          <a:p>
            <a:r>
              <a:rPr lang="en-US" dirty="0"/>
              <a:t>Make required directories</a:t>
            </a:r>
          </a:p>
          <a:p>
            <a:pPr lvl="1"/>
            <a:r>
              <a:rPr lang="en-US" dirty="0" err="1"/>
              <a:t>sudo</a:t>
            </a:r>
            <a:r>
              <a:rPr lang="en-US" dirty="0"/>
              <a:t> </a:t>
            </a:r>
            <a:r>
              <a:rPr lang="en-US" dirty="0" err="1"/>
              <a:t>mkdir</a:t>
            </a:r>
            <a:r>
              <a:rPr lang="en-US" dirty="0"/>
              <a:t> /</a:t>
            </a:r>
            <a:r>
              <a:rPr lang="en-US" dirty="0" err="1"/>
              <a:t>usr</a:t>
            </a:r>
            <a:r>
              <a:rPr lang="en-US" dirty="0"/>
              <a:t>/local/</a:t>
            </a:r>
            <a:r>
              <a:rPr lang="en-US" dirty="0" err="1"/>
              <a:t>nutch</a:t>
            </a:r>
            <a:endParaRPr lang="en-US" dirty="0"/>
          </a:p>
          <a:p>
            <a:pPr lvl="1"/>
            <a:r>
              <a:rPr lang="en-US" dirty="0" err="1"/>
              <a:t>sudo</a:t>
            </a:r>
            <a:r>
              <a:rPr lang="en-US" dirty="0"/>
              <a:t> </a:t>
            </a:r>
            <a:r>
              <a:rPr lang="en-US" dirty="0" err="1"/>
              <a:t>mkdir</a:t>
            </a:r>
            <a:r>
              <a:rPr lang="en-US" dirty="0"/>
              <a:t> /</a:t>
            </a:r>
            <a:r>
              <a:rPr lang="en-US" dirty="0" err="1"/>
              <a:t>usr</a:t>
            </a:r>
            <a:r>
              <a:rPr lang="en-US" dirty="0"/>
              <a:t>/local/</a:t>
            </a:r>
            <a:r>
              <a:rPr lang="en-US" dirty="0" err="1"/>
              <a:t>nutch</a:t>
            </a:r>
            <a:r>
              <a:rPr lang="en-US" dirty="0"/>
              <a:t>/framework</a:t>
            </a:r>
          </a:p>
          <a:p>
            <a:r>
              <a:rPr lang="en-US" dirty="0" err="1"/>
              <a:t>sudo</a:t>
            </a:r>
            <a:r>
              <a:rPr lang="en-US" dirty="0"/>
              <a:t> tar -</a:t>
            </a:r>
            <a:r>
              <a:rPr lang="en-US" dirty="0" err="1"/>
              <a:t>xvzf</a:t>
            </a:r>
            <a:r>
              <a:rPr lang="en-US" dirty="0"/>
              <a:t> apache-nutch-1.17-bin.tar.gz -C /</a:t>
            </a:r>
            <a:r>
              <a:rPr lang="en-US" dirty="0" err="1"/>
              <a:t>usr</a:t>
            </a:r>
            <a:r>
              <a:rPr lang="en-US" dirty="0"/>
              <a:t>/local/</a:t>
            </a:r>
            <a:r>
              <a:rPr lang="en-US" dirty="0" err="1"/>
              <a:t>nutch</a:t>
            </a:r>
            <a:r>
              <a:rPr lang="en-US" dirty="0"/>
              <a:t>/framework/</a:t>
            </a:r>
          </a:p>
          <a:p>
            <a:r>
              <a:rPr lang="en-US" dirty="0" err="1"/>
              <a:t>sudo</a:t>
            </a:r>
            <a:r>
              <a:rPr lang="en-US" dirty="0"/>
              <a:t> </a:t>
            </a:r>
            <a:r>
              <a:rPr lang="en-US" dirty="0" err="1"/>
              <a:t>chmod</a:t>
            </a:r>
            <a:r>
              <a:rPr lang="en-US" dirty="0"/>
              <a:t> +x /</a:t>
            </a:r>
            <a:r>
              <a:rPr lang="en-US" dirty="0" err="1"/>
              <a:t>usr</a:t>
            </a:r>
            <a:r>
              <a:rPr lang="en-US" dirty="0"/>
              <a:t>/local/</a:t>
            </a:r>
            <a:r>
              <a:rPr lang="en-US" dirty="0" err="1"/>
              <a:t>nutch</a:t>
            </a:r>
            <a:r>
              <a:rPr lang="en-US" dirty="0"/>
              <a:t>/framework/apache-nutch-1.17/bin/</a:t>
            </a:r>
            <a:r>
              <a:rPr lang="en-US" dirty="0" err="1"/>
              <a:t>nutch</a:t>
            </a:r>
            <a:endParaRPr lang="en-US" dirty="0"/>
          </a:p>
          <a:p>
            <a:r>
              <a:rPr lang="en-US" dirty="0"/>
              <a:t>Make seed </a:t>
            </a:r>
            <a:r>
              <a:rPr lang="en-US" dirty="0" err="1"/>
              <a:t>url</a:t>
            </a:r>
            <a:r>
              <a:rPr lang="en-US" dirty="0"/>
              <a:t> file</a:t>
            </a:r>
          </a:p>
          <a:p>
            <a:pPr lvl="1"/>
            <a:r>
              <a:rPr lang="en-US" dirty="0" err="1"/>
              <a:t>sudo</a:t>
            </a:r>
            <a:r>
              <a:rPr lang="en-US" dirty="0"/>
              <a:t> </a:t>
            </a:r>
            <a:r>
              <a:rPr lang="en-US" dirty="0" err="1"/>
              <a:t>mkdir</a:t>
            </a:r>
            <a:r>
              <a:rPr lang="en-US" dirty="0"/>
              <a:t> -p /</a:t>
            </a:r>
            <a:r>
              <a:rPr lang="en-US" dirty="0" err="1"/>
              <a:t>usr</a:t>
            </a:r>
            <a:r>
              <a:rPr lang="en-US" dirty="0"/>
              <a:t>/local/</a:t>
            </a:r>
            <a:r>
              <a:rPr lang="en-US" dirty="0" err="1"/>
              <a:t>nutch</a:t>
            </a:r>
            <a:r>
              <a:rPr lang="en-US" dirty="0"/>
              <a:t>/framework/apache-nutch-1.17/bin/</a:t>
            </a:r>
            <a:r>
              <a:rPr lang="en-US" dirty="0" err="1"/>
              <a:t>urls</a:t>
            </a:r>
            <a:endParaRPr lang="en-US" dirty="0"/>
          </a:p>
          <a:p>
            <a:pPr lvl="1"/>
            <a:r>
              <a:rPr lang="en-US" dirty="0" err="1"/>
              <a:t>sudo</a:t>
            </a:r>
            <a:r>
              <a:rPr lang="en-US" dirty="0"/>
              <a:t> vi /</a:t>
            </a:r>
            <a:r>
              <a:rPr lang="en-US" dirty="0" err="1"/>
              <a:t>usr</a:t>
            </a:r>
            <a:r>
              <a:rPr lang="en-US" dirty="0"/>
              <a:t>/local/</a:t>
            </a:r>
            <a:r>
              <a:rPr lang="en-US" dirty="0" err="1"/>
              <a:t>nutch</a:t>
            </a:r>
            <a:r>
              <a:rPr lang="en-US" dirty="0"/>
              <a:t>/framework/apache-nutch-1.17/bin/</a:t>
            </a:r>
            <a:r>
              <a:rPr lang="en-US" dirty="0" err="1"/>
              <a:t>urls</a:t>
            </a:r>
            <a:r>
              <a:rPr lang="en-US" dirty="0"/>
              <a:t>/nutch.txt</a:t>
            </a:r>
          </a:p>
          <a:p>
            <a:r>
              <a:rPr lang="en-US" dirty="0"/>
              <a:t>Add following to nutch.txt: http://www.gnu.org/</a:t>
            </a:r>
          </a:p>
        </p:txBody>
      </p:sp>
    </p:spTree>
    <p:extLst>
      <p:ext uri="{BB962C8B-B14F-4D97-AF65-F5344CB8AC3E}">
        <p14:creationId xmlns:p14="http://schemas.microsoft.com/office/powerpoint/2010/main" val="3925192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A2FAB-285B-4062-9C15-B0E764015A43}"/>
              </a:ext>
            </a:extLst>
          </p:cNvPr>
          <p:cNvSpPr>
            <a:spLocks noGrp="1"/>
          </p:cNvSpPr>
          <p:nvPr>
            <p:ph type="title"/>
          </p:nvPr>
        </p:nvSpPr>
        <p:spPr/>
        <p:txBody>
          <a:bodyPr/>
          <a:lstStyle/>
          <a:p>
            <a:r>
              <a:rPr lang="en-US" dirty="0" err="1"/>
              <a:t>Nutch</a:t>
            </a:r>
            <a:r>
              <a:rPr lang="en-US" dirty="0"/>
              <a:t> demo</a:t>
            </a:r>
          </a:p>
        </p:txBody>
      </p:sp>
      <p:sp>
        <p:nvSpPr>
          <p:cNvPr id="3" name="Content Placeholder 2">
            <a:extLst>
              <a:ext uri="{FF2B5EF4-FFF2-40B4-BE49-F238E27FC236}">
                <a16:creationId xmlns:a16="http://schemas.microsoft.com/office/drawing/2014/main" id="{8853A64C-EBB7-4804-BC35-DF91211104D5}"/>
              </a:ext>
            </a:extLst>
          </p:cNvPr>
          <p:cNvSpPr>
            <a:spLocks noGrp="1"/>
          </p:cNvSpPr>
          <p:nvPr>
            <p:ph idx="13"/>
          </p:nvPr>
        </p:nvSpPr>
        <p:spPr/>
        <p:txBody>
          <a:bodyPr>
            <a:normAutofit fontScale="85000" lnSpcReduction="10000"/>
          </a:bodyPr>
          <a:lstStyle/>
          <a:p>
            <a:r>
              <a:rPr lang="en-US" dirty="0"/>
              <a:t>Add this in Configuration</a:t>
            </a:r>
          </a:p>
          <a:p>
            <a:pPr lvl="1"/>
            <a:r>
              <a:rPr lang="en-US" dirty="0" err="1"/>
              <a:t>sudo</a:t>
            </a:r>
            <a:r>
              <a:rPr lang="en-US" dirty="0"/>
              <a:t> vi /</a:t>
            </a:r>
            <a:r>
              <a:rPr lang="en-US" dirty="0" err="1"/>
              <a:t>usr</a:t>
            </a:r>
            <a:r>
              <a:rPr lang="en-US" dirty="0"/>
              <a:t>/local/</a:t>
            </a:r>
            <a:r>
              <a:rPr lang="en-US" dirty="0" err="1"/>
              <a:t>nutch</a:t>
            </a:r>
            <a:r>
              <a:rPr lang="en-US" dirty="0"/>
              <a:t>/framework/apache-nutch-1.17/conf/nutch-site.xml</a:t>
            </a:r>
          </a:p>
          <a:p>
            <a:pPr lvl="1"/>
            <a:r>
              <a:rPr lang="en-US" dirty="0"/>
              <a:t>&lt;property&gt; &lt;name&gt;http.agent.name&lt;/name&gt; &lt;value&gt;My Spider&lt;/value&gt; &lt;/property&gt;</a:t>
            </a:r>
          </a:p>
          <a:p>
            <a:r>
              <a:rPr lang="en-US" dirty="0"/>
              <a:t>Edit regex</a:t>
            </a:r>
          </a:p>
          <a:p>
            <a:pPr lvl="1"/>
            <a:r>
              <a:rPr lang="en-US" dirty="0" err="1"/>
              <a:t>sudo</a:t>
            </a:r>
            <a:r>
              <a:rPr lang="en-US" dirty="0"/>
              <a:t> vi /</a:t>
            </a:r>
            <a:r>
              <a:rPr lang="en-US" dirty="0" err="1"/>
              <a:t>usr</a:t>
            </a:r>
            <a:r>
              <a:rPr lang="en-US" dirty="0"/>
              <a:t>/local/</a:t>
            </a:r>
            <a:r>
              <a:rPr lang="en-US" dirty="0" err="1"/>
              <a:t>nutch</a:t>
            </a:r>
            <a:r>
              <a:rPr lang="en-US" dirty="0"/>
              <a:t>/framework/apache-nutch-1.17/conf/regex-urlfilter.txt</a:t>
            </a:r>
          </a:p>
          <a:p>
            <a:pPr lvl="1"/>
            <a:r>
              <a:rPr lang="en-US" dirty="0"/>
              <a:t>Replace “+.” by  “+http://www.gnu.org/([a-z0-9]*\.)*”</a:t>
            </a:r>
          </a:p>
          <a:p>
            <a:r>
              <a:rPr lang="en-US" dirty="0"/>
              <a:t>Setup JDK &amp; set JAVA_HOME</a:t>
            </a:r>
          </a:p>
          <a:p>
            <a:pPr lvl="1"/>
            <a:r>
              <a:rPr lang="en-US" dirty="0"/>
              <a:t>export JAVA_HOME=/</a:t>
            </a:r>
            <a:r>
              <a:rPr lang="en-US" dirty="0" err="1"/>
              <a:t>usr</a:t>
            </a:r>
            <a:r>
              <a:rPr lang="en-US" dirty="0"/>
              <a:t>/lib/</a:t>
            </a:r>
            <a:r>
              <a:rPr lang="en-US" dirty="0" err="1"/>
              <a:t>jvm</a:t>
            </a:r>
            <a:r>
              <a:rPr lang="en-US" dirty="0"/>
              <a:t>/java-11-openjdk-amd64</a:t>
            </a:r>
          </a:p>
          <a:p>
            <a:r>
              <a:rPr lang="en-US" dirty="0"/>
              <a:t>Start Crawling!</a:t>
            </a:r>
          </a:p>
          <a:p>
            <a:pPr lvl="1"/>
            <a:r>
              <a:rPr lang="en-US" dirty="0"/>
              <a:t> /</a:t>
            </a:r>
            <a:r>
              <a:rPr lang="en-US" dirty="0" err="1"/>
              <a:t>usr</a:t>
            </a:r>
            <a:r>
              <a:rPr lang="en-US" dirty="0"/>
              <a:t>/local/</a:t>
            </a:r>
            <a:r>
              <a:rPr lang="en-US" dirty="0" err="1"/>
              <a:t>nutch</a:t>
            </a:r>
            <a:r>
              <a:rPr lang="en-US" dirty="0"/>
              <a:t>/framework/apache-nutch-1.17/bin/crawl -s /</a:t>
            </a:r>
            <a:r>
              <a:rPr lang="en-US" dirty="0" err="1"/>
              <a:t>usr</a:t>
            </a:r>
            <a:r>
              <a:rPr lang="en-US" dirty="0"/>
              <a:t>/local/</a:t>
            </a:r>
            <a:r>
              <a:rPr lang="en-US" dirty="0" err="1"/>
              <a:t>nutch</a:t>
            </a:r>
            <a:r>
              <a:rPr lang="en-US" dirty="0"/>
              <a:t>/framework/apache-nutch-1.17/bin/</a:t>
            </a:r>
            <a:r>
              <a:rPr lang="en-US" dirty="0" err="1"/>
              <a:t>urls</a:t>
            </a:r>
            <a:r>
              <a:rPr lang="en-US" dirty="0"/>
              <a:t> </a:t>
            </a:r>
            <a:r>
              <a:rPr lang="en-US" dirty="0" err="1"/>
              <a:t>crawlDir</a:t>
            </a:r>
            <a:r>
              <a:rPr lang="en-US" dirty="0"/>
              <a:t> 2</a:t>
            </a:r>
          </a:p>
          <a:p>
            <a:pPr lvl="1"/>
            <a:r>
              <a:rPr lang="en-US" dirty="0"/>
              <a:t>Get the text dump</a:t>
            </a:r>
          </a:p>
          <a:p>
            <a:pPr lvl="2"/>
            <a:r>
              <a:rPr lang="en-US" dirty="0"/>
              <a:t>/</a:t>
            </a:r>
            <a:r>
              <a:rPr lang="en-US" dirty="0" err="1"/>
              <a:t>usr</a:t>
            </a:r>
            <a:r>
              <a:rPr lang="en-US" dirty="0"/>
              <a:t>/local/</a:t>
            </a:r>
            <a:r>
              <a:rPr lang="en-US" dirty="0" err="1"/>
              <a:t>nutch</a:t>
            </a:r>
            <a:r>
              <a:rPr lang="en-US" dirty="0"/>
              <a:t>/framework/apache-nutch-1.17/bin/</a:t>
            </a:r>
            <a:r>
              <a:rPr lang="en-US" dirty="0" err="1"/>
              <a:t>nutch</a:t>
            </a:r>
            <a:r>
              <a:rPr lang="en-US" dirty="0"/>
              <a:t> dump -segment segments -</a:t>
            </a:r>
            <a:r>
              <a:rPr lang="en-US" dirty="0" err="1"/>
              <a:t>outputDir</a:t>
            </a:r>
            <a:r>
              <a:rPr lang="en-US" dirty="0"/>
              <a:t> dump/</a:t>
            </a:r>
          </a:p>
          <a:p>
            <a:r>
              <a:rPr lang="en-US" dirty="0"/>
              <a:t>https://cwiki.apache.org/confluence/display/nutch /CommandLineOptions#</a:t>
            </a:r>
          </a:p>
        </p:txBody>
      </p:sp>
    </p:spTree>
    <p:extLst>
      <p:ext uri="{BB962C8B-B14F-4D97-AF65-F5344CB8AC3E}">
        <p14:creationId xmlns:p14="http://schemas.microsoft.com/office/powerpoint/2010/main" val="612214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443DF-CCAB-46B1-B002-B38BDE509106}"/>
              </a:ext>
            </a:extLst>
          </p:cNvPr>
          <p:cNvSpPr>
            <a:spLocks noGrp="1"/>
          </p:cNvSpPr>
          <p:nvPr>
            <p:ph type="title"/>
          </p:nvPr>
        </p:nvSpPr>
        <p:spPr/>
        <p:txBody>
          <a:bodyPr/>
          <a:lstStyle/>
          <a:p>
            <a:r>
              <a:rPr lang="en-US" dirty="0"/>
              <a:t>How </a:t>
            </a:r>
            <a:r>
              <a:rPr lang="en-US" dirty="0" err="1"/>
              <a:t>Nutch</a:t>
            </a:r>
            <a:r>
              <a:rPr lang="en-US" dirty="0"/>
              <a:t> works</a:t>
            </a:r>
          </a:p>
        </p:txBody>
      </p:sp>
      <p:sp>
        <p:nvSpPr>
          <p:cNvPr id="5" name="TextBox 4">
            <a:extLst>
              <a:ext uri="{FF2B5EF4-FFF2-40B4-BE49-F238E27FC236}">
                <a16:creationId xmlns:a16="http://schemas.microsoft.com/office/drawing/2014/main" id="{92F24202-6AF4-4E37-93D5-21A56BA1B2F2}"/>
              </a:ext>
            </a:extLst>
          </p:cNvPr>
          <p:cNvSpPr txBox="1"/>
          <p:nvPr/>
        </p:nvSpPr>
        <p:spPr>
          <a:xfrm>
            <a:off x="164842" y="687788"/>
            <a:ext cx="11330205" cy="5632311"/>
          </a:xfrm>
          <a:prstGeom prst="rect">
            <a:avLst/>
          </a:prstGeom>
          <a:noFill/>
        </p:spPr>
        <p:txBody>
          <a:bodyPr wrap="square">
            <a:spAutoFit/>
          </a:bodyPr>
          <a:lstStyle/>
          <a:p>
            <a:pPr algn="l" fontAlgn="base">
              <a:buFont typeface="+mj-lt"/>
              <a:buAutoNum type="arabicPeriod"/>
            </a:pPr>
            <a:r>
              <a:rPr lang="en-US" b="0" i="0" dirty="0">
                <a:solidFill>
                  <a:srgbClr val="333333"/>
                </a:solidFill>
                <a:effectLst/>
                <a:latin typeface="inherit"/>
              </a:rPr>
              <a:t>The </a:t>
            </a:r>
            <a:r>
              <a:rPr lang="en-US" b="1" i="0" dirty="0">
                <a:solidFill>
                  <a:srgbClr val="333333"/>
                </a:solidFill>
                <a:effectLst/>
                <a:latin typeface="inherit"/>
              </a:rPr>
              <a:t>injector</a:t>
            </a:r>
            <a:r>
              <a:rPr lang="en-US" b="0" i="0" dirty="0">
                <a:solidFill>
                  <a:srgbClr val="333333"/>
                </a:solidFill>
                <a:effectLst/>
                <a:latin typeface="inherit"/>
              </a:rPr>
              <a:t> takes all the URLs of the </a:t>
            </a:r>
            <a:r>
              <a:rPr lang="en-US" b="1" i="0" dirty="0">
                <a:solidFill>
                  <a:srgbClr val="333333"/>
                </a:solidFill>
                <a:effectLst/>
                <a:latin typeface="inherit"/>
              </a:rPr>
              <a:t>nutch.txt</a:t>
            </a:r>
            <a:r>
              <a:rPr lang="en-US" b="0" i="0" dirty="0">
                <a:solidFill>
                  <a:srgbClr val="333333"/>
                </a:solidFill>
                <a:effectLst/>
                <a:latin typeface="inherit"/>
              </a:rPr>
              <a:t> file and adds them to the </a:t>
            </a:r>
            <a:r>
              <a:rPr lang="en-US" b="0" i="0" dirty="0" err="1">
                <a:solidFill>
                  <a:srgbClr val="333333"/>
                </a:solidFill>
                <a:effectLst/>
                <a:latin typeface="inherit"/>
              </a:rPr>
              <a:t>crawldb</a:t>
            </a:r>
            <a:r>
              <a:rPr lang="en-US" b="0" i="0" dirty="0">
                <a:solidFill>
                  <a:srgbClr val="333333"/>
                </a:solidFill>
                <a:effectLst/>
                <a:latin typeface="inherit"/>
              </a:rPr>
              <a:t>.</a:t>
            </a:r>
          </a:p>
          <a:p>
            <a:pPr lvl="1" fontAlgn="base">
              <a:buFont typeface="+mj-lt"/>
              <a:buAutoNum type="arabicPeriod"/>
            </a:pPr>
            <a:r>
              <a:rPr lang="en-US" b="0" i="0" dirty="0">
                <a:solidFill>
                  <a:srgbClr val="333333"/>
                </a:solidFill>
                <a:effectLst/>
                <a:latin typeface="inherit"/>
              </a:rPr>
              <a:t> As a central part of </a:t>
            </a:r>
            <a:r>
              <a:rPr lang="en-US" b="0" i="0" dirty="0" err="1">
                <a:solidFill>
                  <a:srgbClr val="333333"/>
                </a:solidFill>
                <a:effectLst/>
                <a:latin typeface="inherit"/>
              </a:rPr>
              <a:t>Nutch</a:t>
            </a:r>
            <a:r>
              <a:rPr lang="en-US" b="0" i="0" dirty="0">
                <a:solidFill>
                  <a:srgbClr val="333333"/>
                </a:solidFill>
                <a:effectLst/>
                <a:latin typeface="inherit"/>
              </a:rPr>
              <a:t>, the </a:t>
            </a:r>
            <a:r>
              <a:rPr lang="en-US" b="1" i="0" dirty="0" err="1">
                <a:solidFill>
                  <a:srgbClr val="333333"/>
                </a:solidFill>
                <a:effectLst/>
                <a:latin typeface="inherit"/>
              </a:rPr>
              <a:t>crawldb</a:t>
            </a:r>
            <a:r>
              <a:rPr lang="en-US" b="0" i="0" dirty="0">
                <a:solidFill>
                  <a:srgbClr val="333333"/>
                </a:solidFill>
                <a:effectLst/>
                <a:latin typeface="inherit"/>
              </a:rPr>
              <a:t> maintains information on all known URLs (fetch schedule, fetch status, metadata, …).</a:t>
            </a:r>
          </a:p>
          <a:p>
            <a:pPr lvl="1" fontAlgn="base">
              <a:buFont typeface="+mj-lt"/>
              <a:buAutoNum type="arabicPeriod"/>
            </a:pPr>
            <a:endParaRPr lang="en-US" b="0" i="0" dirty="0">
              <a:solidFill>
                <a:srgbClr val="333333"/>
              </a:solidFill>
              <a:effectLst/>
              <a:latin typeface="inherit"/>
            </a:endParaRPr>
          </a:p>
          <a:p>
            <a:pPr algn="l" fontAlgn="base">
              <a:buFont typeface="+mj-lt"/>
              <a:buAutoNum type="arabicPeriod"/>
            </a:pPr>
            <a:r>
              <a:rPr lang="en-US" b="0" i="0" dirty="0">
                <a:solidFill>
                  <a:srgbClr val="333333"/>
                </a:solidFill>
                <a:effectLst/>
                <a:latin typeface="inherit"/>
              </a:rPr>
              <a:t>Based on the data of </a:t>
            </a:r>
            <a:r>
              <a:rPr lang="en-US" b="0" i="0" dirty="0" err="1">
                <a:solidFill>
                  <a:srgbClr val="333333"/>
                </a:solidFill>
                <a:effectLst/>
                <a:latin typeface="inherit"/>
              </a:rPr>
              <a:t>crawldb</a:t>
            </a:r>
            <a:r>
              <a:rPr lang="en-US" b="0" i="0" dirty="0">
                <a:solidFill>
                  <a:srgbClr val="333333"/>
                </a:solidFill>
                <a:effectLst/>
                <a:latin typeface="inherit"/>
              </a:rPr>
              <a:t>, the generator creates a </a:t>
            </a:r>
            <a:r>
              <a:rPr lang="en-US" b="1" i="0" dirty="0" err="1">
                <a:solidFill>
                  <a:srgbClr val="333333"/>
                </a:solidFill>
                <a:effectLst/>
                <a:latin typeface="inherit"/>
              </a:rPr>
              <a:t>fetchlist</a:t>
            </a:r>
            <a:r>
              <a:rPr lang="en-US" b="0" i="0" dirty="0">
                <a:solidFill>
                  <a:srgbClr val="333333"/>
                </a:solidFill>
                <a:effectLst/>
                <a:latin typeface="inherit"/>
              </a:rPr>
              <a:t> and places it in a newly created </a:t>
            </a:r>
            <a:r>
              <a:rPr lang="en-US" b="1" i="0" dirty="0">
                <a:solidFill>
                  <a:srgbClr val="333333"/>
                </a:solidFill>
                <a:effectLst/>
                <a:latin typeface="inherit"/>
              </a:rPr>
              <a:t>segment directory.</a:t>
            </a:r>
          </a:p>
          <a:p>
            <a:pPr algn="l" fontAlgn="base">
              <a:buFont typeface="+mj-lt"/>
              <a:buAutoNum type="arabicPeriod"/>
            </a:pPr>
            <a:endParaRPr lang="en-US" b="0" i="0" dirty="0">
              <a:solidFill>
                <a:srgbClr val="333333"/>
              </a:solidFill>
              <a:effectLst/>
              <a:latin typeface="inherit"/>
            </a:endParaRPr>
          </a:p>
          <a:p>
            <a:pPr algn="l" fontAlgn="base">
              <a:buFont typeface="+mj-lt"/>
              <a:buAutoNum type="arabicPeriod"/>
            </a:pPr>
            <a:r>
              <a:rPr lang="en-US" b="0" i="0" dirty="0">
                <a:solidFill>
                  <a:srgbClr val="333333"/>
                </a:solidFill>
                <a:effectLst/>
                <a:latin typeface="inherit"/>
              </a:rPr>
              <a:t>Next, the </a:t>
            </a:r>
            <a:r>
              <a:rPr lang="en-US" b="1" i="0" dirty="0">
                <a:solidFill>
                  <a:srgbClr val="333333"/>
                </a:solidFill>
                <a:effectLst/>
                <a:latin typeface="inherit"/>
              </a:rPr>
              <a:t>fetcher</a:t>
            </a:r>
            <a:r>
              <a:rPr lang="en-US" b="0" i="0" dirty="0">
                <a:solidFill>
                  <a:srgbClr val="333333"/>
                </a:solidFill>
                <a:effectLst/>
                <a:latin typeface="inherit"/>
              </a:rPr>
              <a:t> gets the content of the URLs on the </a:t>
            </a:r>
            <a:r>
              <a:rPr lang="en-US" b="0" i="0" dirty="0" err="1">
                <a:solidFill>
                  <a:srgbClr val="333333"/>
                </a:solidFill>
                <a:effectLst/>
                <a:latin typeface="inherit"/>
              </a:rPr>
              <a:t>fetchlist</a:t>
            </a:r>
            <a:r>
              <a:rPr lang="en-US" b="0" i="0" dirty="0">
                <a:solidFill>
                  <a:srgbClr val="333333"/>
                </a:solidFill>
                <a:effectLst/>
                <a:latin typeface="inherit"/>
              </a:rPr>
              <a:t> and writes it back to the segment directory. This step usually is the most time-consuming one.</a:t>
            </a:r>
          </a:p>
          <a:p>
            <a:pPr algn="l" fontAlgn="base">
              <a:buFont typeface="+mj-lt"/>
              <a:buAutoNum type="arabicPeriod"/>
            </a:pPr>
            <a:endParaRPr lang="en-US" b="0" i="0" dirty="0">
              <a:solidFill>
                <a:srgbClr val="333333"/>
              </a:solidFill>
              <a:effectLst/>
              <a:latin typeface="inherit"/>
            </a:endParaRPr>
          </a:p>
          <a:p>
            <a:pPr algn="l" fontAlgn="base">
              <a:buFont typeface="+mj-lt"/>
              <a:buAutoNum type="arabicPeriod"/>
            </a:pPr>
            <a:r>
              <a:rPr lang="en-US" b="0" i="0" dirty="0">
                <a:solidFill>
                  <a:srgbClr val="333333"/>
                </a:solidFill>
                <a:effectLst/>
                <a:latin typeface="inherit"/>
              </a:rPr>
              <a:t>Now the </a:t>
            </a:r>
            <a:r>
              <a:rPr lang="en-US" b="1" i="0" dirty="0">
                <a:solidFill>
                  <a:srgbClr val="333333"/>
                </a:solidFill>
                <a:effectLst/>
                <a:latin typeface="inherit"/>
              </a:rPr>
              <a:t>parser</a:t>
            </a:r>
            <a:r>
              <a:rPr lang="en-US" b="0" i="0" dirty="0">
                <a:solidFill>
                  <a:srgbClr val="333333"/>
                </a:solidFill>
                <a:effectLst/>
                <a:latin typeface="inherit"/>
              </a:rPr>
              <a:t> processes the content of each web page and for example omits all html tags. If the crawl functions as an update or an extension to an already existing one (e.g. depth of 3), the </a:t>
            </a:r>
            <a:r>
              <a:rPr lang="en-US" b="1" i="0" dirty="0">
                <a:solidFill>
                  <a:srgbClr val="333333"/>
                </a:solidFill>
                <a:effectLst/>
                <a:latin typeface="inherit"/>
              </a:rPr>
              <a:t>updater</a:t>
            </a:r>
            <a:r>
              <a:rPr lang="en-US" b="0" i="0" dirty="0">
                <a:solidFill>
                  <a:srgbClr val="333333"/>
                </a:solidFill>
                <a:effectLst/>
                <a:latin typeface="inherit"/>
              </a:rPr>
              <a:t> would add the new data to the </a:t>
            </a:r>
            <a:r>
              <a:rPr lang="en-US" b="1" i="0" dirty="0" err="1">
                <a:solidFill>
                  <a:srgbClr val="333333"/>
                </a:solidFill>
                <a:effectLst/>
                <a:latin typeface="inherit"/>
              </a:rPr>
              <a:t>crawldb</a:t>
            </a:r>
            <a:r>
              <a:rPr lang="en-US" b="0" i="0" dirty="0">
                <a:solidFill>
                  <a:srgbClr val="333333"/>
                </a:solidFill>
                <a:effectLst/>
                <a:latin typeface="inherit"/>
              </a:rPr>
              <a:t> as a next step.</a:t>
            </a:r>
          </a:p>
          <a:p>
            <a:pPr algn="l" fontAlgn="base">
              <a:buFont typeface="+mj-lt"/>
              <a:buAutoNum type="arabicPeriod"/>
            </a:pPr>
            <a:endParaRPr lang="en-US" b="0" i="0" dirty="0">
              <a:solidFill>
                <a:srgbClr val="333333"/>
              </a:solidFill>
              <a:effectLst/>
              <a:latin typeface="inherit"/>
            </a:endParaRPr>
          </a:p>
          <a:p>
            <a:pPr algn="l" fontAlgn="base">
              <a:buFont typeface="+mj-lt"/>
              <a:buAutoNum type="arabicPeriod"/>
            </a:pPr>
            <a:r>
              <a:rPr lang="en-US" b="0" i="0" dirty="0">
                <a:solidFill>
                  <a:srgbClr val="333333"/>
                </a:solidFill>
                <a:effectLst/>
                <a:latin typeface="inherit"/>
              </a:rPr>
              <a:t>Before </a:t>
            </a:r>
            <a:r>
              <a:rPr lang="en-US" b="1" i="0" dirty="0">
                <a:solidFill>
                  <a:srgbClr val="333333"/>
                </a:solidFill>
                <a:effectLst/>
                <a:latin typeface="inherit"/>
              </a:rPr>
              <a:t>indexing</a:t>
            </a:r>
            <a:r>
              <a:rPr lang="en-US" b="0" i="0" dirty="0">
                <a:solidFill>
                  <a:srgbClr val="333333"/>
                </a:solidFill>
                <a:effectLst/>
                <a:latin typeface="inherit"/>
              </a:rPr>
              <a:t>, all the links need to be </a:t>
            </a:r>
            <a:r>
              <a:rPr lang="en-US" b="1" i="0" dirty="0">
                <a:solidFill>
                  <a:srgbClr val="333333"/>
                </a:solidFill>
                <a:effectLst/>
                <a:latin typeface="inherit"/>
              </a:rPr>
              <a:t>inverted</a:t>
            </a:r>
            <a:r>
              <a:rPr lang="en-US" b="0" i="0" dirty="0">
                <a:solidFill>
                  <a:srgbClr val="333333"/>
                </a:solidFill>
                <a:effectLst/>
                <a:latin typeface="inherit"/>
              </a:rPr>
              <a:t>, which takes into account that not the number of outgoing links of a web page is of interest, but rather the number of inbound links. This is quite similar to how Google PageRank works and is important for the scoring function. The inverted links are saved in the </a:t>
            </a:r>
            <a:r>
              <a:rPr lang="en-US" b="0" i="0" dirty="0" err="1">
                <a:solidFill>
                  <a:srgbClr val="333333"/>
                </a:solidFill>
                <a:effectLst/>
                <a:latin typeface="inherit"/>
              </a:rPr>
              <a:t>linkdb</a:t>
            </a:r>
            <a:r>
              <a:rPr lang="en-US" b="0" i="0" dirty="0">
                <a:solidFill>
                  <a:srgbClr val="333333"/>
                </a:solidFill>
                <a:effectLst/>
                <a:latin typeface="inherit"/>
              </a:rPr>
              <a:t>.</a:t>
            </a:r>
          </a:p>
          <a:p>
            <a:pPr algn="l" fontAlgn="base">
              <a:buFont typeface="+mj-lt"/>
              <a:buAutoNum type="arabicPeriod"/>
            </a:pPr>
            <a:endParaRPr lang="en-US" b="0" i="0" dirty="0">
              <a:solidFill>
                <a:srgbClr val="333333"/>
              </a:solidFill>
              <a:effectLst/>
              <a:latin typeface="inherit"/>
            </a:endParaRPr>
          </a:p>
          <a:p>
            <a:pPr algn="l" fontAlgn="base">
              <a:buFont typeface="+mj-lt"/>
              <a:buAutoNum type="arabicPeriod"/>
            </a:pPr>
            <a:r>
              <a:rPr lang="en-US" b="0" i="0" dirty="0">
                <a:solidFill>
                  <a:srgbClr val="333333"/>
                </a:solidFill>
                <a:effectLst/>
                <a:latin typeface="inherit"/>
              </a:rPr>
              <a:t>and 7. Using data from all possible sources (</a:t>
            </a:r>
            <a:r>
              <a:rPr lang="en-US" b="0" i="0" dirty="0" err="1">
                <a:solidFill>
                  <a:srgbClr val="333333"/>
                </a:solidFill>
                <a:effectLst/>
                <a:latin typeface="inherit"/>
              </a:rPr>
              <a:t>crawldb</a:t>
            </a:r>
            <a:r>
              <a:rPr lang="en-US" b="0" i="0" dirty="0">
                <a:solidFill>
                  <a:srgbClr val="333333"/>
                </a:solidFill>
                <a:effectLst/>
                <a:latin typeface="inherit"/>
              </a:rPr>
              <a:t>, </a:t>
            </a:r>
            <a:r>
              <a:rPr lang="en-US" b="0" i="0" dirty="0" err="1">
                <a:solidFill>
                  <a:srgbClr val="333333"/>
                </a:solidFill>
                <a:effectLst/>
                <a:latin typeface="inherit"/>
              </a:rPr>
              <a:t>linkdb</a:t>
            </a:r>
            <a:r>
              <a:rPr lang="en-US" b="0" i="0" dirty="0">
                <a:solidFill>
                  <a:srgbClr val="333333"/>
                </a:solidFill>
                <a:effectLst/>
                <a:latin typeface="inherit"/>
              </a:rPr>
              <a:t> and segments), the </a:t>
            </a:r>
            <a:r>
              <a:rPr lang="en-US" b="1" i="0" dirty="0">
                <a:solidFill>
                  <a:srgbClr val="333333"/>
                </a:solidFill>
                <a:effectLst/>
                <a:latin typeface="inherit"/>
              </a:rPr>
              <a:t>indexer</a:t>
            </a:r>
            <a:r>
              <a:rPr lang="en-US" b="0" i="0" dirty="0">
                <a:solidFill>
                  <a:srgbClr val="333333"/>
                </a:solidFill>
                <a:effectLst/>
                <a:latin typeface="inherit"/>
              </a:rPr>
              <a:t> creates an index and saves it within the </a:t>
            </a:r>
            <a:r>
              <a:rPr lang="en-US" b="1" i="0" dirty="0" err="1">
                <a:solidFill>
                  <a:srgbClr val="333333"/>
                </a:solidFill>
                <a:effectLst/>
                <a:latin typeface="inherit"/>
              </a:rPr>
              <a:t>Solr</a:t>
            </a:r>
            <a:r>
              <a:rPr lang="en-US" b="0" i="0" dirty="0">
                <a:solidFill>
                  <a:srgbClr val="333333"/>
                </a:solidFill>
                <a:effectLst/>
                <a:latin typeface="inherit"/>
              </a:rPr>
              <a:t> directory. For indexing, the popular </a:t>
            </a:r>
            <a:r>
              <a:rPr lang="en-US" b="1" i="0" dirty="0">
                <a:solidFill>
                  <a:srgbClr val="333333"/>
                </a:solidFill>
                <a:effectLst/>
                <a:latin typeface="inherit"/>
              </a:rPr>
              <a:t>Lucene</a:t>
            </a:r>
            <a:r>
              <a:rPr lang="en-US" b="0" i="0" dirty="0">
                <a:solidFill>
                  <a:srgbClr val="333333"/>
                </a:solidFill>
                <a:effectLst/>
                <a:latin typeface="inherit"/>
              </a:rPr>
              <a:t> library is used. Now, the user can search for information regarding the crawled web pages via </a:t>
            </a:r>
            <a:r>
              <a:rPr lang="en-US" b="1" i="0" dirty="0" err="1">
                <a:solidFill>
                  <a:srgbClr val="333333"/>
                </a:solidFill>
                <a:effectLst/>
                <a:latin typeface="inherit"/>
              </a:rPr>
              <a:t>Solr</a:t>
            </a:r>
            <a:r>
              <a:rPr lang="en-US" b="0" i="0" dirty="0">
                <a:solidFill>
                  <a:srgbClr val="333333"/>
                </a:solidFill>
                <a:effectLst/>
                <a:latin typeface="inherit"/>
              </a:rPr>
              <a:t>.</a:t>
            </a:r>
          </a:p>
        </p:txBody>
      </p:sp>
    </p:spTree>
    <p:extLst>
      <p:ext uri="{BB962C8B-B14F-4D97-AF65-F5344CB8AC3E}">
        <p14:creationId xmlns:p14="http://schemas.microsoft.com/office/powerpoint/2010/main" val="3857035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F7986-5D26-4D41-A754-EB144FA8E642}"/>
              </a:ext>
            </a:extLst>
          </p:cNvPr>
          <p:cNvSpPr>
            <a:spLocks noGrp="1"/>
          </p:cNvSpPr>
          <p:nvPr>
            <p:ph type="title"/>
          </p:nvPr>
        </p:nvSpPr>
        <p:spPr/>
        <p:txBody>
          <a:bodyPr/>
          <a:lstStyle/>
          <a:p>
            <a:endParaRPr lang="en-US"/>
          </a:p>
        </p:txBody>
      </p:sp>
      <p:pic>
        <p:nvPicPr>
          <p:cNvPr id="4" name="Picture 2">
            <a:extLst>
              <a:ext uri="{FF2B5EF4-FFF2-40B4-BE49-F238E27FC236}">
                <a16:creationId xmlns:a16="http://schemas.microsoft.com/office/drawing/2014/main" id="{2D1532BC-6618-4318-B9C8-6B71513B09DF}"/>
              </a:ext>
            </a:extLst>
          </p:cNvPr>
          <p:cNvPicPr>
            <a:picLocks noGrp="1" noChangeAspect="1" noChangeArrowheads="1"/>
          </p:cNvPicPr>
          <p:nvPr>
            <p:ph idx="13"/>
          </p:nvPr>
        </p:nvPicPr>
        <p:blipFill>
          <a:blip r:embed="rId2">
            <a:extLst>
              <a:ext uri="{28A0092B-C50C-407E-A947-70E740481C1C}">
                <a14:useLocalDpi xmlns:a14="http://schemas.microsoft.com/office/drawing/2010/main" val="0"/>
              </a:ext>
            </a:extLst>
          </a:blip>
          <a:srcRect/>
          <a:stretch>
            <a:fillRect/>
          </a:stretch>
        </p:blipFill>
        <p:spPr bwMode="auto">
          <a:xfrm>
            <a:off x="1140362" y="1399068"/>
            <a:ext cx="9911276" cy="4699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3204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66D60-805F-4CE9-83C2-B66BAE0D3D02}"/>
              </a:ext>
            </a:extLst>
          </p:cNvPr>
          <p:cNvSpPr>
            <a:spLocks noGrp="1"/>
          </p:cNvSpPr>
          <p:nvPr>
            <p:ph type="title"/>
          </p:nvPr>
        </p:nvSpPr>
        <p:spPr/>
        <p:txBody>
          <a:bodyPr/>
          <a:lstStyle/>
          <a:p>
            <a:r>
              <a:rPr lang="en-US" dirty="0"/>
              <a:t>Make </a:t>
            </a:r>
            <a:r>
              <a:rPr lang="en-US" dirty="0" err="1"/>
              <a:t>Nutch</a:t>
            </a:r>
            <a:r>
              <a:rPr lang="en-US" dirty="0"/>
              <a:t> crawl faster</a:t>
            </a:r>
          </a:p>
        </p:txBody>
      </p:sp>
      <p:sp>
        <p:nvSpPr>
          <p:cNvPr id="3" name="Content Placeholder 2">
            <a:extLst>
              <a:ext uri="{FF2B5EF4-FFF2-40B4-BE49-F238E27FC236}">
                <a16:creationId xmlns:a16="http://schemas.microsoft.com/office/drawing/2014/main" id="{A2E12032-4310-49D8-9FCF-5ECE58401AEC}"/>
              </a:ext>
            </a:extLst>
          </p:cNvPr>
          <p:cNvSpPr>
            <a:spLocks noGrp="1"/>
          </p:cNvSpPr>
          <p:nvPr>
            <p:ph idx="13"/>
          </p:nvPr>
        </p:nvSpPr>
        <p:spPr/>
        <p:txBody>
          <a:bodyPr/>
          <a:lstStyle/>
          <a:p>
            <a:pPr marL="0" indent="0">
              <a:buNone/>
            </a:pPr>
            <a:r>
              <a:rPr lang="en-US" dirty="0"/>
              <a:t>&lt;property&gt;</a:t>
            </a:r>
          </a:p>
          <a:p>
            <a:pPr marL="0" indent="0">
              <a:buNone/>
            </a:pPr>
            <a:r>
              <a:rPr lang="en-US" dirty="0"/>
              <a:t>&lt;name&gt;</a:t>
            </a:r>
            <a:r>
              <a:rPr lang="en-US" dirty="0" err="1"/>
              <a:t>fetcher.server.delay</a:t>
            </a:r>
            <a:r>
              <a:rPr lang="en-US" dirty="0"/>
              <a:t>&lt;/name&gt;</a:t>
            </a:r>
          </a:p>
          <a:p>
            <a:pPr marL="0" indent="0">
              <a:buNone/>
            </a:pPr>
            <a:r>
              <a:rPr lang="en-US" dirty="0"/>
              <a:t>&lt;value&gt;0.5&lt;/value&gt;</a:t>
            </a:r>
          </a:p>
          <a:p>
            <a:pPr marL="0" indent="0">
              <a:buNone/>
            </a:pPr>
            <a:r>
              <a:rPr lang="en-US" dirty="0"/>
              <a:t>&lt;description&gt;The number of seconds the fetcher will delay between</a:t>
            </a:r>
          </a:p>
          <a:p>
            <a:pPr marL="0" indent="0">
              <a:buNone/>
            </a:pPr>
            <a:r>
              <a:rPr lang="en-US" dirty="0"/>
              <a:t>successive requests to the same server. Note that this might get</a:t>
            </a:r>
          </a:p>
          <a:p>
            <a:pPr marL="0" indent="0">
              <a:buNone/>
            </a:pPr>
            <a:r>
              <a:rPr lang="en-US" dirty="0" err="1"/>
              <a:t>overriden</a:t>
            </a:r>
            <a:r>
              <a:rPr lang="en-US" dirty="0"/>
              <a:t> by a Crawl-Delay from a robots.txt and is used ONLY if</a:t>
            </a:r>
          </a:p>
          <a:p>
            <a:pPr marL="0" indent="0">
              <a:buNone/>
            </a:pPr>
            <a:r>
              <a:rPr lang="en-US" dirty="0" err="1"/>
              <a:t>fetcher.threads.per.queue</a:t>
            </a:r>
            <a:r>
              <a:rPr lang="en-US" dirty="0"/>
              <a:t> is set to 1.</a:t>
            </a:r>
          </a:p>
          <a:p>
            <a:pPr marL="0" indent="0">
              <a:buNone/>
            </a:pPr>
            <a:r>
              <a:rPr lang="en-US" dirty="0"/>
              <a:t>&lt;/description&gt;</a:t>
            </a:r>
          </a:p>
          <a:p>
            <a:pPr marL="0" indent="0">
              <a:buNone/>
            </a:pPr>
            <a:r>
              <a:rPr lang="en-US" dirty="0"/>
              <a:t>&lt;/property&gt;</a:t>
            </a:r>
          </a:p>
        </p:txBody>
      </p:sp>
    </p:spTree>
    <p:extLst>
      <p:ext uri="{BB962C8B-B14F-4D97-AF65-F5344CB8AC3E}">
        <p14:creationId xmlns:p14="http://schemas.microsoft.com/office/powerpoint/2010/main" val="4109001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25E45-AC58-43D9-A609-0ACA43F929CA}"/>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5111707C-A1E1-4947-B90A-F5C91A14AD9B}"/>
              </a:ext>
            </a:extLst>
          </p:cNvPr>
          <p:cNvSpPr>
            <a:spLocks noGrp="1"/>
          </p:cNvSpPr>
          <p:nvPr>
            <p:ph idx="13"/>
          </p:nvPr>
        </p:nvSpPr>
        <p:spPr/>
        <p:txBody>
          <a:bodyPr/>
          <a:lstStyle/>
          <a:p>
            <a:r>
              <a:rPr lang="en-US" dirty="0"/>
              <a:t>Data collection from the web</a:t>
            </a:r>
          </a:p>
          <a:p>
            <a:pPr lvl="1"/>
            <a:r>
              <a:rPr lang="en-US" dirty="0"/>
              <a:t>Crawling and </a:t>
            </a:r>
            <a:r>
              <a:rPr lang="en-US" dirty="0" err="1"/>
              <a:t>Nutch</a:t>
            </a:r>
            <a:r>
              <a:rPr lang="en-US" dirty="0"/>
              <a:t> demo</a:t>
            </a:r>
          </a:p>
          <a:p>
            <a:r>
              <a:rPr lang="en-US" dirty="0">
                <a:solidFill>
                  <a:srgbClr val="FF0000"/>
                </a:solidFill>
              </a:rPr>
              <a:t>Collecting videos data from </a:t>
            </a:r>
            <a:r>
              <a:rPr lang="en-US" dirty="0" err="1">
                <a:solidFill>
                  <a:srgbClr val="FF0000"/>
                </a:solidFill>
              </a:rPr>
              <a:t>youtube</a:t>
            </a:r>
            <a:endParaRPr lang="en-US" dirty="0">
              <a:solidFill>
                <a:srgbClr val="FF0000"/>
              </a:solidFill>
            </a:endParaRPr>
          </a:p>
          <a:p>
            <a:pPr lvl="1"/>
            <a:r>
              <a:rPr lang="en-US">
                <a:solidFill>
                  <a:srgbClr val="FF0000"/>
                </a:solidFill>
              </a:rPr>
              <a:t>Selenium </a:t>
            </a:r>
            <a:r>
              <a:rPr lang="en-US" dirty="0">
                <a:solidFill>
                  <a:srgbClr val="FF0000"/>
                </a:solidFill>
              </a:rPr>
              <a:t>to download </a:t>
            </a:r>
            <a:r>
              <a:rPr lang="en-US" dirty="0" err="1">
                <a:solidFill>
                  <a:srgbClr val="FF0000"/>
                </a:solidFill>
              </a:rPr>
              <a:t>Youtube</a:t>
            </a:r>
            <a:r>
              <a:rPr lang="en-US" dirty="0">
                <a:solidFill>
                  <a:srgbClr val="FF0000"/>
                </a:solidFill>
              </a:rPr>
              <a:t> videos, transcripts, extract shots and run entity linking.</a:t>
            </a:r>
          </a:p>
          <a:p>
            <a:endParaRPr lang="en-US" dirty="0"/>
          </a:p>
        </p:txBody>
      </p:sp>
    </p:spTree>
    <p:extLst>
      <p:ext uri="{BB962C8B-B14F-4D97-AF65-F5344CB8AC3E}">
        <p14:creationId xmlns:p14="http://schemas.microsoft.com/office/powerpoint/2010/main" val="20291378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DADE8-F000-41B0-9944-C7B9DF71BEEA}"/>
              </a:ext>
            </a:extLst>
          </p:cNvPr>
          <p:cNvSpPr>
            <a:spLocks noGrp="1"/>
          </p:cNvSpPr>
          <p:nvPr>
            <p:ph type="title"/>
          </p:nvPr>
        </p:nvSpPr>
        <p:spPr/>
        <p:txBody>
          <a:bodyPr/>
          <a:lstStyle/>
          <a:p>
            <a:r>
              <a:rPr lang="en-US" dirty="0"/>
              <a:t>References: Crawling</a:t>
            </a:r>
          </a:p>
        </p:txBody>
      </p:sp>
      <p:sp>
        <p:nvSpPr>
          <p:cNvPr id="3" name="Content Placeholder 2">
            <a:extLst>
              <a:ext uri="{FF2B5EF4-FFF2-40B4-BE49-F238E27FC236}">
                <a16:creationId xmlns:a16="http://schemas.microsoft.com/office/drawing/2014/main" id="{2AA6ED31-677C-4689-8CD5-F6A32AA00A68}"/>
              </a:ext>
            </a:extLst>
          </p:cNvPr>
          <p:cNvSpPr>
            <a:spLocks noGrp="1"/>
          </p:cNvSpPr>
          <p:nvPr>
            <p:ph idx="13"/>
          </p:nvPr>
        </p:nvSpPr>
        <p:spPr/>
        <p:txBody>
          <a:bodyPr>
            <a:normAutofit/>
          </a:bodyPr>
          <a:lstStyle/>
          <a:p>
            <a:r>
              <a:rPr lang="en-US" dirty="0"/>
              <a:t>Chapters 1,2,5 of </a:t>
            </a:r>
            <a:r>
              <a:rPr lang="en-US" u="sng" dirty="0">
                <a:hlinkClick r:id="rId2"/>
              </a:rPr>
              <a:t>Manning-Raghavan-</a:t>
            </a:r>
            <a:r>
              <a:rPr lang="en-US" u="sng" dirty="0" err="1">
                <a:hlinkClick r:id="rId2"/>
              </a:rPr>
              <a:t>Schuetze</a:t>
            </a:r>
            <a:r>
              <a:rPr lang="en-US" u="sng" dirty="0">
                <a:hlinkClick r:id="rId2"/>
              </a:rPr>
              <a:t> book</a:t>
            </a:r>
            <a:endParaRPr lang="en-US" u="sng" dirty="0"/>
          </a:p>
          <a:p>
            <a:pPr lvl="1"/>
            <a:r>
              <a:rPr lang="en-US" dirty="0"/>
              <a:t>http://nlp.stanford.edu/IR-book/</a:t>
            </a:r>
          </a:p>
          <a:p>
            <a:r>
              <a:rPr lang="en-US" dirty="0"/>
              <a:t>Chapter 3 (Web Search and Information Retrieval) from </a:t>
            </a:r>
            <a:r>
              <a:rPr lang="en-US" u="sng" dirty="0">
                <a:hlinkClick r:id="rId3"/>
              </a:rPr>
              <a:t>Mining the Web</a:t>
            </a:r>
            <a:endParaRPr lang="en-US" u="sng" dirty="0"/>
          </a:p>
          <a:p>
            <a:pPr lvl="1"/>
            <a:r>
              <a:rPr lang="en-US" dirty="0"/>
              <a:t>http://www.cse.iitb.ac.in/soumen/mining-the-web/</a:t>
            </a:r>
          </a:p>
          <a:p>
            <a:r>
              <a:rPr lang="en-US" u="sng" dirty="0">
                <a:hlinkClick r:id="rId4"/>
              </a:rPr>
              <a:t>As We May Think -- </a:t>
            </a:r>
            <a:r>
              <a:rPr lang="en-US" u="sng" dirty="0" err="1">
                <a:hlinkClick r:id="rId4"/>
              </a:rPr>
              <a:t>Vannevar</a:t>
            </a:r>
            <a:r>
              <a:rPr lang="en-US" u="sng" dirty="0">
                <a:hlinkClick r:id="rId4"/>
              </a:rPr>
              <a:t> Bush</a:t>
            </a:r>
            <a:endParaRPr lang="en-US" u="sng" dirty="0"/>
          </a:p>
          <a:p>
            <a:pPr lvl="1"/>
            <a:r>
              <a:rPr lang="en-US" dirty="0">
                <a:hlinkClick r:id="rId4"/>
              </a:rPr>
              <a:t>http://www.theatlantic.com/magazine/archive/1945/07/as-we-may-think/303881/</a:t>
            </a:r>
            <a:endParaRPr lang="en-US" dirty="0"/>
          </a:p>
          <a:p>
            <a:r>
              <a:rPr lang="en-US" dirty="0">
                <a:hlinkClick r:id="rId5"/>
              </a:rPr>
              <a:t>https://wiki.apache.org/nutch/NutchTutorial</a:t>
            </a:r>
            <a:r>
              <a:rPr lang="en-US" dirty="0"/>
              <a:t> </a:t>
            </a:r>
          </a:p>
        </p:txBody>
      </p:sp>
    </p:spTree>
    <p:extLst>
      <p:ext uri="{BB962C8B-B14F-4D97-AF65-F5344CB8AC3E}">
        <p14:creationId xmlns:p14="http://schemas.microsoft.com/office/powerpoint/2010/main" val="980502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6291</TotalTime>
  <Words>1107</Words>
  <Application>Microsoft Macintosh PowerPoint</Application>
  <PresentationFormat>Widescreen</PresentationFormat>
  <Paragraphs>135</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inherit</vt:lpstr>
      <vt:lpstr>Office Theme</vt:lpstr>
      <vt:lpstr>Data Collection Session 4 Web Data Collection</vt:lpstr>
      <vt:lpstr>Recap</vt:lpstr>
      <vt:lpstr>Agenda</vt:lpstr>
      <vt:lpstr>Agenda</vt:lpstr>
      <vt:lpstr>Basic crawler operation</vt:lpstr>
      <vt:lpstr>Crawling picture</vt:lpstr>
      <vt:lpstr>Simple picture – complications</vt:lpstr>
      <vt:lpstr>What any crawler should do</vt:lpstr>
      <vt:lpstr>Basic crawl architecture</vt:lpstr>
      <vt:lpstr>Nutch demo</vt:lpstr>
      <vt:lpstr>Nutch demo</vt:lpstr>
      <vt:lpstr>How Nutch works</vt:lpstr>
      <vt:lpstr>PowerPoint Presentation</vt:lpstr>
      <vt:lpstr>Make Nutch crawl faster</vt:lpstr>
      <vt:lpstr>Agenda</vt:lpstr>
      <vt:lpstr>References: Crawling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Qualitative Data Collection</dc:title>
  <dc:creator>Manish Gupta (BING-IDC)</dc:creator>
  <cp:lastModifiedBy>Deepkamal Singh</cp:lastModifiedBy>
  <cp:revision>326</cp:revision>
  <dcterms:created xsi:type="dcterms:W3CDTF">2017-09-27T03:56:38Z</dcterms:created>
  <dcterms:modified xsi:type="dcterms:W3CDTF">2021-03-11T19:12:19Z</dcterms:modified>
</cp:coreProperties>
</file>