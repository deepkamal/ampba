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2"/>
    <p:sldId id="260" r:id="rId3"/>
    <p:sldId id="264" r:id="rId4"/>
    <p:sldId id="304" r:id="rId5"/>
    <p:sldId id="261" r:id="rId6"/>
    <p:sldId id="272" r:id="rId7"/>
    <p:sldId id="262" r:id="rId8"/>
    <p:sldId id="305" r:id="rId9"/>
    <p:sldId id="263" r:id="rId10"/>
    <p:sldId id="265" r:id="rId11"/>
    <p:sldId id="306" r:id="rId12"/>
    <p:sldId id="266" r:id="rId13"/>
    <p:sldId id="267" r:id="rId14"/>
    <p:sldId id="268" r:id="rId15"/>
    <p:sldId id="269" r:id="rId16"/>
    <p:sldId id="270" r:id="rId17"/>
    <p:sldId id="308" r:id="rId18"/>
    <p:sldId id="294" r:id="rId19"/>
    <p:sldId id="295" r:id="rId20"/>
    <p:sldId id="289" r:id="rId21"/>
    <p:sldId id="309" r:id="rId22"/>
    <p:sldId id="30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" y="3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37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C21304-7375-462A-8886-2A9ED91B6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5379E-BB1B-4841-AE27-04A5364D2F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8532B-BB19-4E20-ACFD-93F8F17079A3}" type="datetimeFigureOut">
              <a:rPr lang="en-US" smtClean="0"/>
              <a:t>Tue-19-Jan-21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C4FAA-29D2-432D-BBB7-DF30E0DE50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64F03-2E28-4605-A16B-D9C606040F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6773E-A3D8-4665-B1B7-0F64D92CC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6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A7292-FBAB-4E08-98DF-2431C470A0F8}" type="datetimeFigureOut">
              <a:rPr lang="en-US" smtClean="0"/>
              <a:t>Tue-19-Jan-21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C670F-86B7-47F5-9635-CFE5ABA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26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A145-060B-497E-9506-A6D1244D4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7C01F-75DE-4148-8C85-0B3A98179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6739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609600" y="1371601"/>
            <a:ext cx="10972800" cy="4754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6666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B84FBF-B27B-4477-92FA-C553D12D7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D28BD-EDB2-40B5-B543-76DDBCF91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05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524000" y="993530"/>
            <a:ext cx="9144000" cy="1995854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solidFill>
                  <a:srgbClr val="00B050"/>
                </a:solidFill>
              </a:rPr>
              <a:t>Data Collection Session 1</a:t>
            </a:r>
            <a:br>
              <a:rPr lang="en-IN" sz="4400" b="1" dirty="0">
                <a:solidFill>
                  <a:srgbClr val="00B05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Introduction to Data Collection</a:t>
            </a:r>
            <a:endParaRPr lang="en-US" sz="2700" b="1" dirty="0">
              <a:solidFill>
                <a:srgbClr val="00B050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sz="3400" b="1" dirty="0">
              <a:solidFill>
                <a:srgbClr val="7030A0"/>
              </a:solidFill>
            </a:endParaRPr>
          </a:p>
          <a:p>
            <a:r>
              <a:rPr lang="en-IN" sz="4600" b="1" dirty="0">
                <a:solidFill>
                  <a:srgbClr val="7030A0"/>
                </a:solidFill>
              </a:rPr>
              <a:t>Manish Gupta</a:t>
            </a:r>
          </a:p>
        </p:txBody>
      </p:sp>
    </p:spTree>
    <p:extLst>
      <p:ext uri="{BB962C8B-B14F-4D97-AF65-F5344CB8AC3E}">
        <p14:creationId xmlns:p14="http://schemas.microsoft.com/office/powerpoint/2010/main" val="417252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r>
              <a:rPr lang="en-IN" dirty="0"/>
              <a:t>Myself</a:t>
            </a:r>
            <a:endParaRPr lang="en-US" dirty="0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0602" y="161105"/>
            <a:ext cx="2157836" cy="1591496"/>
          </a:xfrm>
          <a:prstGeom prst="rect">
            <a:avLst/>
          </a:prstGeom>
        </p:spPr>
      </p:pic>
      <p:pic>
        <p:nvPicPr>
          <p:cNvPr id="5" name="Picture 1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68652" y="659295"/>
            <a:ext cx="1890712" cy="2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2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68653" y="299063"/>
            <a:ext cx="2468563" cy="31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52690" y="237476"/>
            <a:ext cx="715963" cy="760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4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72622" y="952501"/>
            <a:ext cx="758477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5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28110" y="1212002"/>
            <a:ext cx="1822450" cy="165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 descr="yahoo.jp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72621" y="1714500"/>
            <a:ext cx="952500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1" descr="hotjobs_logo_150dpi.png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283644" y="1761090"/>
            <a:ext cx="1084262" cy="548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9"/>
          <p:cNvPicPr>
            <a:picLocks noChangeAspect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072622" y="2430217"/>
            <a:ext cx="1541289" cy="462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0" descr="C:\Users\manish\Desktop\research\workspace\ClusterBasedFactFinders\cs446\WWW\cameraReady\poster\logo4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76" y="2443991"/>
            <a:ext cx="677546" cy="43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2" descr="http://ceoworld.biz/ceo/wp-content/uploads/2009/03/ibm-logo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147311" y="3072712"/>
            <a:ext cx="1011989" cy="533400"/>
          </a:xfrm>
          <a:prstGeom prst="rect">
            <a:avLst/>
          </a:prstGeom>
          <a:noFill/>
        </p:spPr>
      </p:pic>
      <p:pic>
        <p:nvPicPr>
          <p:cNvPr id="15" name="Picture 2" descr="https://encrypted-tbn1.google.com/images?q=tbn:ANd9GcQaHJdAZsLoAkambWLtnyE6OMHAYCQerhxbc8dSUut8tKd5f8t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311" y="3646271"/>
            <a:ext cx="1395323" cy="38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ttps://encrypted-tbn3.google.com/images?q=tbn:ANd9GcS8siW0vrGRHJ750-X4yZCsYXD61aB3bAQFE7daNCAO1vffR9LSyw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310" y="4175253"/>
            <a:ext cx="1136334" cy="394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s://encrypted-tbn2.gstatic.com/images?q=tbn:ANd9GcRG4CsE9y9vvZy-NoFliw3EQz_ZU2jg2hNJ5hawUzzj6tM74rGdPQ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611" y="4610100"/>
            <a:ext cx="2181225" cy="52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40985" y="4667251"/>
            <a:ext cx="933450" cy="40957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40003" y="5200618"/>
            <a:ext cx="885119" cy="54984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90583" y="5233876"/>
            <a:ext cx="846632" cy="51658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59759" y="430768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2001-2005, BE, Mumbai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557010" y="1109879"/>
            <a:ext cx="282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2005-2007, </a:t>
            </a:r>
            <a:r>
              <a:rPr lang="en-IN" dirty="0" err="1"/>
              <a:t>MTech</a:t>
            </a:r>
            <a:r>
              <a:rPr lang="en-IN" dirty="0"/>
              <a:t>, Mumbai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571749" y="1773196"/>
            <a:ext cx="2242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2007-2009, Bangalore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557010" y="2443990"/>
            <a:ext cx="2748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2009-2013, PhD, Urbana, IL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571749" y="3090032"/>
            <a:ext cx="2017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2010, New York, NY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573887" y="3645683"/>
            <a:ext cx="2109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2011, Redmond, WA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571749" y="4076700"/>
            <a:ext cx="2000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2012, Princeton, NJ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592784" y="4667250"/>
            <a:ext cx="4388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2013-, Hyderabad, Principal Applied Scientist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592784" y="5221337"/>
            <a:ext cx="3412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2013-, Hyderabad, Adjunct Faculty</a:t>
            </a:r>
            <a:endParaRPr lang="en-US" dirty="0"/>
          </a:p>
        </p:txBody>
      </p:sp>
      <p:pic>
        <p:nvPicPr>
          <p:cNvPr id="1026" name="Picture 2" descr="Indian_School_of_Business_logo.png (400×175)">
            <a:extLst>
              <a:ext uri="{FF2B5EF4-FFF2-40B4-BE49-F238E27FC236}">
                <a16:creationId xmlns:a16="http://schemas.microsoft.com/office/drawing/2014/main" id="{5A2AFFB7-652E-4DCA-AD4F-E9E73973D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423" y="5704121"/>
            <a:ext cx="1295400" cy="56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E8C474B-2AA0-4DD6-9449-1023C18C086F}"/>
              </a:ext>
            </a:extLst>
          </p:cNvPr>
          <p:cNvSpPr txBox="1"/>
          <p:nvPr/>
        </p:nvSpPr>
        <p:spPr>
          <a:xfrm>
            <a:off x="6592784" y="5784368"/>
            <a:ext cx="337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2016-, Hyderabad, Visiting Faculty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80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Administrative Information</a:t>
            </a:r>
          </a:p>
          <a:p>
            <a:r>
              <a:rPr lang="en-US" dirty="0"/>
              <a:t>What is data collection?</a:t>
            </a:r>
          </a:p>
          <a:p>
            <a:r>
              <a:rPr lang="en-US" dirty="0"/>
              <a:t>Data collection decisions, rules, approaches</a:t>
            </a:r>
          </a:p>
          <a:p>
            <a:r>
              <a:rPr lang="en-US" dirty="0"/>
              <a:t>Data collection planning</a:t>
            </a:r>
          </a:p>
        </p:txBody>
      </p:sp>
    </p:spTree>
    <p:extLst>
      <p:ext uri="{BB962C8B-B14F-4D97-AF65-F5344CB8AC3E}">
        <p14:creationId xmlns:p14="http://schemas.microsoft.com/office/powerpoint/2010/main" val="2364997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Administrative Information</a:t>
            </a:r>
          </a:p>
          <a:p>
            <a:r>
              <a:rPr lang="en-US" dirty="0"/>
              <a:t>What is data collection?</a:t>
            </a:r>
          </a:p>
          <a:p>
            <a:r>
              <a:rPr lang="en-US" dirty="0"/>
              <a:t>Data collection decisions, rules, approaches</a:t>
            </a:r>
          </a:p>
          <a:p>
            <a:r>
              <a:rPr lang="en-US" dirty="0"/>
              <a:t>Data collection planning</a:t>
            </a:r>
          </a:p>
        </p:txBody>
      </p:sp>
    </p:spTree>
    <p:extLst>
      <p:ext uri="{BB962C8B-B14F-4D97-AF65-F5344CB8AC3E}">
        <p14:creationId xmlns:p14="http://schemas.microsoft.com/office/powerpoint/2010/main" val="154058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03976-49F4-414C-AA99-97469292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"/>
            <a:ext cx="12192000" cy="1143000"/>
          </a:xfrm>
        </p:spPr>
        <p:txBody>
          <a:bodyPr/>
          <a:lstStyle/>
          <a:p>
            <a:r>
              <a:rPr lang="en-US" dirty="0"/>
              <a:t>Course Overview: Session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BF7D0-B849-4CC8-9246-4172D2DA990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Session 1: Basics of Data Collection</a:t>
            </a:r>
          </a:p>
          <a:p>
            <a:pPr lvl="1"/>
            <a:r>
              <a:rPr lang="en-US" dirty="0"/>
              <a:t>What is data collection?</a:t>
            </a:r>
          </a:p>
          <a:p>
            <a:pPr lvl="1"/>
            <a:r>
              <a:rPr lang="en-US" dirty="0"/>
              <a:t>Plain old </a:t>
            </a:r>
            <a:r>
              <a:rPr lang="en-US" dirty="0" err="1"/>
              <a:t>wget</a:t>
            </a:r>
            <a:r>
              <a:rPr lang="en-US" dirty="0"/>
              <a:t> and shell script -- collecting Amazon reviews.</a:t>
            </a:r>
          </a:p>
          <a:p>
            <a:pPr lvl="1"/>
            <a:r>
              <a:rPr lang="en-US" dirty="0"/>
              <a:t>Data collection using APIs: </a:t>
            </a:r>
          </a:p>
          <a:p>
            <a:pPr lvl="2"/>
            <a:r>
              <a:rPr lang="en-US" dirty="0"/>
              <a:t>Using Reddit API, International Space Station API, NY Times API.</a:t>
            </a:r>
          </a:p>
          <a:p>
            <a:pPr lvl="2"/>
            <a:r>
              <a:rPr lang="en-US" dirty="0"/>
              <a:t>Getting stocks data</a:t>
            </a:r>
          </a:p>
          <a:p>
            <a:pPr lvl="2"/>
            <a:r>
              <a:rPr lang="en-US" dirty="0"/>
              <a:t>Getting weather data</a:t>
            </a:r>
          </a:p>
          <a:p>
            <a:r>
              <a:rPr lang="en-US" dirty="0"/>
              <a:t>Session 2: Structured Data Collection and Pre-processing </a:t>
            </a:r>
          </a:p>
          <a:p>
            <a:pPr lvl="1"/>
            <a:r>
              <a:rPr lang="en-US" dirty="0"/>
              <a:t>Types of datasets, data, and attributes</a:t>
            </a:r>
          </a:p>
          <a:p>
            <a:pPr lvl="1"/>
            <a:r>
              <a:rPr lang="en-US" dirty="0"/>
              <a:t>Basic Statistical descriptions of data: histograms, box plots, Q-Q plots.</a:t>
            </a:r>
          </a:p>
          <a:p>
            <a:pPr lvl="1"/>
            <a:r>
              <a:rPr lang="en-US" dirty="0"/>
              <a:t>Data pre-processing tasks</a:t>
            </a:r>
          </a:p>
          <a:p>
            <a:pPr lvl="1"/>
            <a:r>
              <a:rPr lang="en-US" dirty="0"/>
              <a:t>Data cleaning</a:t>
            </a:r>
          </a:p>
          <a:p>
            <a:pPr lvl="1"/>
            <a:r>
              <a:rPr lang="en-US" dirty="0"/>
              <a:t>Data integration</a:t>
            </a:r>
          </a:p>
          <a:p>
            <a:pPr lvl="1"/>
            <a:r>
              <a:rPr lang="en-US" dirty="0"/>
              <a:t>Data reduction</a:t>
            </a:r>
          </a:p>
          <a:p>
            <a:pPr lvl="1"/>
            <a:r>
              <a:rPr lang="en-US" dirty="0"/>
              <a:t>Data transformation</a:t>
            </a:r>
          </a:p>
          <a:p>
            <a:r>
              <a:rPr lang="en-US" dirty="0"/>
              <a:t>Session 3: Collecting and pre-processing Text Data</a:t>
            </a:r>
          </a:p>
          <a:p>
            <a:pPr lvl="1"/>
            <a:r>
              <a:rPr lang="en-US" dirty="0"/>
              <a:t>Web scraping in R/Python</a:t>
            </a:r>
          </a:p>
          <a:p>
            <a:pPr lvl="1"/>
            <a:r>
              <a:rPr lang="en-US" dirty="0"/>
              <a:t>Introduction to Stanford </a:t>
            </a:r>
            <a:r>
              <a:rPr lang="en-US" dirty="0" err="1"/>
              <a:t>CoreNLP</a:t>
            </a:r>
            <a:r>
              <a:rPr lang="en-US" dirty="0"/>
              <a:t> package</a:t>
            </a:r>
          </a:p>
          <a:p>
            <a:pPr lvl="1"/>
            <a:r>
              <a:rPr lang="en-US" dirty="0"/>
              <a:t>Introduction to NLTK</a:t>
            </a:r>
          </a:p>
          <a:p>
            <a:pPr lvl="1"/>
            <a:r>
              <a:rPr lang="en-US" dirty="0"/>
              <a:t>Twitter scraping example</a:t>
            </a:r>
          </a:p>
        </p:txBody>
      </p:sp>
    </p:spTree>
    <p:extLst>
      <p:ext uri="{BB962C8B-B14F-4D97-AF65-F5344CB8AC3E}">
        <p14:creationId xmlns:p14="http://schemas.microsoft.com/office/powerpoint/2010/main" val="406896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03976-49F4-414C-AA99-97469292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"/>
            <a:ext cx="12192000" cy="1143000"/>
          </a:xfrm>
        </p:spPr>
        <p:txBody>
          <a:bodyPr/>
          <a:lstStyle/>
          <a:p>
            <a:r>
              <a:rPr lang="en-US" dirty="0"/>
              <a:t>Course Overview: Session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BF7D0-B849-4CC8-9246-4172D2DA990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Session 4</a:t>
            </a:r>
          </a:p>
          <a:p>
            <a:pPr lvl="1"/>
            <a:r>
              <a:rPr lang="en-US" dirty="0"/>
              <a:t>Data collection from the web</a:t>
            </a:r>
          </a:p>
          <a:p>
            <a:pPr lvl="2"/>
            <a:r>
              <a:rPr lang="en-US" dirty="0"/>
              <a:t>Crawling</a:t>
            </a:r>
          </a:p>
          <a:p>
            <a:pPr lvl="2"/>
            <a:r>
              <a:rPr lang="en-US" dirty="0"/>
              <a:t>Indexing</a:t>
            </a:r>
          </a:p>
          <a:p>
            <a:pPr lvl="1"/>
            <a:r>
              <a:rPr lang="en-US" dirty="0"/>
              <a:t>Collecting images and videos data from Instagram and </a:t>
            </a:r>
            <a:r>
              <a:rPr lang="en-US" dirty="0" err="1"/>
              <a:t>youtube</a:t>
            </a:r>
            <a:endParaRPr lang="en-US" dirty="0"/>
          </a:p>
          <a:p>
            <a:pPr lvl="2"/>
            <a:r>
              <a:rPr lang="en-US" dirty="0" err="1"/>
              <a:t>instaloader</a:t>
            </a:r>
            <a:r>
              <a:rPr lang="en-US" dirty="0"/>
              <a:t> to download </a:t>
            </a:r>
            <a:r>
              <a:rPr lang="en-US" dirty="0" err="1"/>
              <a:t>instagram</a:t>
            </a:r>
            <a:r>
              <a:rPr lang="en-US" dirty="0"/>
              <a:t> posts, comments, images.</a:t>
            </a:r>
          </a:p>
          <a:p>
            <a:pPr lvl="2"/>
            <a:r>
              <a:rPr lang="en-US" dirty="0"/>
              <a:t>Selenium to download </a:t>
            </a:r>
            <a:r>
              <a:rPr lang="en-US" dirty="0" err="1"/>
              <a:t>Youtube</a:t>
            </a:r>
            <a:r>
              <a:rPr lang="en-US" dirty="0"/>
              <a:t> videos, transcripts, extract shots and run entity linking.</a:t>
            </a:r>
          </a:p>
          <a:p>
            <a:r>
              <a:rPr lang="en-US" dirty="0"/>
              <a:t>Session 5</a:t>
            </a:r>
          </a:p>
          <a:p>
            <a:pPr lvl="1"/>
            <a:r>
              <a:rPr lang="en-US" dirty="0"/>
              <a:t>Crowd-sourcing</a:t>
            </a:r>
          </a:p>
          <a:p>
            <a:pPr lvl="2"/>
            <a:r>
              <a:rPr lang="en-US" dirty="0"/>
              <a:t>Introduction to Crowdsourcing</a:t>
            </a:r>
          </a:p>
          <a:p>
            <a:pPr lvl="2"/>
            <a:r>
              <a:rPr lang="en-US" dirty="0"/>
              <a:t>Applications of Crowdsourcing</a:t>
            </a:r>
          </a:p>
          <a:p>
            <a:pPr lvl="2"/>
            <a:r>
              <a:rPr lang="en-US" dirty="0"/>
              <a:t>Challenges in Crowdsourcing</a:t>
            </a:r>
          </a:p>
          <a:p>
            <a:pPr lvl="2"/>
            <a:r>
              <a:rPr lang="en-US" dirty="0"/>
              <a:t>Managing Quality for Simple Tasks</a:t>
            </a:r>
          </a:p>
          <a:p>
            <a:pPr lvl="1"/>
            <a:r>
              <a:rPr lang="en-US" dirty="0"/>
              <a:t>Sensor Data Collection and IoT</a:t>
            </a:r>
          </a:p>
          <a:p>
            <a:pPr lvl="2"/>
            <a:r>
              <a:rPr lang="en-US" dirty="0"/>
              <a:t>Different types of data collection sensors </a:t>
            </a:r>
          </a:p>
          <a:p>
            <a:pPr lvl="2"/>
            <a:r>
              <a:rPr lang="en-US" dirty="0"/>
              <a:t>Applications of sensor data by provisioning it on the cloud.</a:t>
            </a:r>
          </a:p>
        </p:txBody>
      </p:sp>
    </p:spTree>
    <p:extLst>
      <p:ext uri="{BB962C8B-B14F-4D97-AF65-F5344CB8AC3E}">
        <p14:creationId xmlns:p14="http://schemas.microsoft.com/office/powerpoint/2010/main" val="235618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Overview: Grade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Hands-on Homework Assignment: 40%</a:t>
            </a:r>
          </a:p>
          <a:p>
            <a:pPr lvl="1"/>
            <a:r>
              <a:rPr lang="en-US" dirty="0"/>
              <a:t>Need to know R or Python</a:t>
            </a:r>
          </a:p>
          <a:p>
            <a:r>
              <a:rPr lang="en-US" dirty="0"/>
              <a:t>Final exam: 60%</a:t>
            </a:r>
          </a:p>
          <a:p>
            <a:pPr lvl="1"/>
            <a:r>
              <a:rPr lang="en-US" dirty="0"/>
              <a:t>Closed book, closed notes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545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Administrative Information</a:t>
            </a:r>
          </a:p>
          <a:p>
            <a:r>
              <a:rPr lang="en-US" b="1" dirty="0">
                <a:solidFill>
                  <a:srgbClr val="FF0000"/>
                </a:solidFill>
              </a:rPr>
              <a:t>What is data collection?</a:t>
            </a:r>
          </a:p>
          <a:p>
            <a:r>
              <a:rPr lang="en-US" dirty="0"/>
              <a:t>Data collection decisions, rules, approaches</a:t>
            </a:r>
          </a:p>
          <a:p>
            <a:r>
              <a:rPr lang="en-US" dirty="0"/>
              <a:t>Data collection planning</a:t>
            </a:r>
          </a:p>
        </p:txBody>
      </p:sp>
    </p:spTree>
    <p:extLst>
      <p:ext uri="{BB962C8B-B14F-4D97-AF65-F5344CB8AC3E}">
        <p14:creationId xmlns:p14="http://schemas.microsoft.com/office/powerpoint/2010/main" val="3781552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Collection?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collection</a:t>
            </a:r>
            <a:r>
              <a:rPr lang="en-US" dirty="0"/>
              <a:t> is the process of </a:t>
            </a:r>
            <a:r>
              <a:rPr lang="en-US" dirty="0">
                <a:solidFill>
                  <a:srgbClr val="00B050"/>
                </a:solidFill>
              </a:rPr>
              <a:t>gathering and measuring </a:t>
            </a:r>
            <a:r>
              <a:rPr lang="en-US" dirty="0"/>
              <a:t>information on </a:t>
            </a:r>
            <a:r>
              <a:rPr lang="en-US" dirty="0">
                <a:solidFill>
                  <a:srgbClr val="00B050"/>
                </a:solidFill>
              </a:rPr>
              <a:t>variables </a:t>
            </a:r>
            <a:r>
              <a:rPr lang="en-US" dirty="0"/>
              <a:t>of interest, in an established </a:t>
            </a:r>
            <a:r>
              <a:rPr lang="en-US" dirty="0">
                <a:solidFill>
                  <a:srgbClr val="00B050"/>
                </a:solidFill>
              </a:rPr>
              <a:t>systematic </a:t>
            </a:r>
            <a:r>
              <a:rPr lang="en-US" dirty="0"/>
              <a:t>fashion that enables one to </a:t>
            </a:r>
            <a:r>
              <a:rPr lang="en-US" dirty="0">
                <a:solidFill>
                  <a:srgbClr val="00B050"/>
                </a:solidFill>
              </a:rPr>
              <a:t>answer stated research questions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test hypotheses</a:t>
            </a:r>
            <a:r>
              <a:rPr lang="en-US" dirty="0"/>
              <a:t>, and </a:t>
            </a:r>
            <a:r>
              <a:rPr lang="en-US" dirty="0">
                <a:solidFill>
                  <a:srgbClr val="00B050"/>
                </a:solidFill>
              </a:rPr>
              <a:t>evaluate outcomes</a:t>
            </a:r>
            <a:r>
              <a:rPr lang="en-US" dirty="0"/>
              <a:t>. </a:t>
            </a:r>
          </a:p>
          <a:p>
            <a:r>
              <a:rPr lang="en-US" dirty="0"/>
              <a:t>The data collection component of research is common to all fields of study including physical and social sciences, humanities, business, etc. </a:t>
            </a:r>
          </a:p>
          <a:p>
            <a:r>
              <a:rPr lang="en-US" dirty="0"/>
              <a:t>While methods vary by discipline, the emphasis on ensuring </a:t>
            </a:r>
            <a:r>
              <a:rPr lang="en-US" dirty="0">
                <a:solidFill>
                  <a:srgbClr val="00B050"/>
                </a:solidFill>
              </a:rPr>
              <a:t>accurate and honest </a:t>
            </a:r>
            <a:r>
              <a:rPr lang="en-US" dirty="0"/>
              <a:t>collection remains the same.</a:t>
            </a:r>
          </a:p>
        </p:txBody>
      </p:sp>
    </p:spTree>
    <p:extLst>
      <p:ext uri="{BB962C8B-B14F-4D97-AF65-F5344CB8AC3E}">
        <p14:creationId xmlns:p14="http://schemas.microsoft.com/office/powerpoint/2010/main" val="2643688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data quality critical?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Consequences from improperly collected data include</a:t>
            </a:r>
          </a:p>
          <a:p>
            <a:pPr lvl="1"/>
            <a:r>
              <a:rPr lang="en-US" dirty="0"/>
              <a:t>inability to answer research questions accurately</a:t>
            </a:r>
          </a:p>
          <a:p>
            <a:pPr lvl="1"/>
            <a:r>
              <a:rPr lang="en-US" dirty="0"/>
              <a:t>inability to repeat and validate the study</a:t>
            </a:r>
          </a:p>
          <a:p>
            <a:pPr lvl="1"/>
            <a:r>
              <a:rPr lang="en-US" dirty="0"/>
              <a:t>distorted findings resulting in wasted resources</a:t>
            </a:r>
          </a:p>
          <a:p>
            <a:pPr lvl="1"/>
            <a:r>
              <a:rPr lang="en-US" dirty="0"/>
              <a:t>misleading other researchers to pursue fruitless avenues of investigation</a:t>
            </a:r>
          </a:p>
          <a:p>
            <a:pPr lvl="1"/>
            <a:r>
              <a:rPr lang="en-US" dirty="0"/>
              <a:t>compromising decisions for public policy</a:t>
            </a:r>
          </a:p>
          <a:p>
            <a:pPr lvl="1"/>
            <a:r>
              <a:rPr lang="en-US" dirty="0"/>
              <a:t>causing harm to human participants and animal subjects</a:t>
            </a:r>
          </a:p>
          <a:p>
            <a:r>
              <a:rPr lang="en-US" dirty="0"/>
              <a:t>Issues related to maintaining integrity of data collection</a:t>
            </a:r>
          </a:p>
          <a:p>
            <a:pPr lvl="1"/>
            <a:r>
              <a:rPr lang="en-US" dirty="0"/>
              <a:t>Quality assurance - activities that take place </a:t>
            </a:r>
            <a:r>
              <a:rPr lang="en-US" i="1" dirty="0"/>
              <a:t>before</a:t>
            </a:r>
            <a:r>
              <a:rPr lang="en-US" dirty="0"/>
              <a:t> data collection begins</a:t>
            </a:r>
          </a:p>
          <a:p>
            <a:pPr lvl="1"/>
            <a:r>
              <a:rPr lang="en-US" dirty="0"/>
              <a:t>Quality control - activities that take place </a:t>
            </a:r>
            <a:r>
              <a:rPr lang="en-US" i="1" dirty="0"/>
              <a:t>during</a:t>
            </a:r>
            <a:r>
              <a:rPr lang="en-US" dirty="0"/>
              <a:t> and </a:t>
            </a:r>
            <a:r>
              <a:rPr lang="en-US" i="1" dirty="0"/>
              <a:t>after</a:t>
            </a:r>
            <a:r>
              <a:rPr lang="en-US" dirty="0"/>
              <a:t> data collection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58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Administrative Information</a:t>
            </a:r>
          </a:p>
          <a:p>
            <a:r>
              <a:rPr lang="en-US" dirty="0"/>
              <a:t>What is data collection?</a:t>
            </a:r>
          </a:p>
          <a:p>
            <a:r>
              <a:rPr lang="en-US" b="1" dirty="0">
                <a:solidFill>
                  <a:srgbClr val="FF0000"/>
                </a:solidFill>
              </a:rPr>
              <a:t>Data collection decisions, rules, approaches</a:t>
            </a:r>
          </a:p>
          <a:p>
            <a:r>
              <a:rPr lang="en-US" dirty="0"/>
              <a:t>Data collection planning</a:t>
            </a:r>
          </a:p>
        </p:txBody>
      </p:sp>
    </p:spTree>
    <p:extLst>
      <p:ext uri="{BB962C8B-B14F-4D97-AF65-F5344CB8AC3E}">
        <p14:creationId xmlns:p14="http://schemas.microsoft.com/office/powerpoint/2010/main" val="735628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No one best way of performing data collection. Decision depends on:</a:t>
            </a:r>
          </a:p>
          <a:p>
            <a:pPr lvl="1"/>
            <a:r>
              <a:rPr lang="en-US" altLang="en-US" dirty="0"/>
              <a:t>What you need to know: </a:t>
            </a:r>
            <a:r>
              <a:rPr lang="en-US" altLang="en-US" i="1" dirty="0"/>
              <a:t>numbers or stories</a:t>
            </a:r>
          </a:p>
          <a:p>
            <a:pPr lvl="1"/>
            <a:r>
              <a:rPr lang="en-US" altLang="en-US" dirty="0"/>
              <a:t>Where the data reside: </a:t>
            </a:r>
            <a:r>
              <a:rPr lang="en-US" altLang="en-US" i="1" dirty="0"/>
              <a:t>environment, files, people</a:t>
            </a:r>
          </a:p>
          <a:p>
            <a:pPr lvl="1"/>
            <a:r>
              <a:rPr lang="en-US" altLang="en-US" dirty="0"/>
              <a:t>Resources and time available</a:t>
            </a:r>
          </a:p>
          <a:p>
            <a:pPr lvl="1"/>
            <a:r>
              <a:rPr lang="en-US" altLang="en-US" dirty="0"/>
              <a:t>Complexity of the data to be collected</a:t>
            </a:r>
          </a:p>
          <a:p>
            <a:pPr lvl="1"/>
            <a:r>
              <a:rPr lang="en-US" altLang="en-US" dirty="0"/>
              <a:t>Frequency of data collection</a:t>
            </a:r>
          </a:p>
          <a:p>
            <a:pPr lvl="1"/>
            <a:r>
              <a:rPr lang="en-US" altLang="en-US" dirty="0"/>
              <a:t>Intended forms of data analysis: how the information could be organized, analyzed, interpreted and then reported to various audiences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53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Collecting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 available data or collect original data</a:t>
            </a:r>
          </a:p>
          <a:p>
            <a:r>
              <a:rPr lang="en-US" altLang="en-US" dirty="0"/>
              <a:t>Use available data, but need to know </a:t>
            </a:r>
          </a:p>
          <a:p>
            <a:pPr lvl="1"/>
            <a:r>
              <a:rPr lang="en-US" altLang="en-US" dirty="0"/>
              <a:t>how the measures were defined</a:t>
            </a:r>
          </a:p>
          <a:p>
            <a:pPr lvl="1"/>
            <a:r>
              <a:rPr lang="en-US" altLang="en-US" dirty="0"/>
              <a:t>how the data were collected and cleaned </a:t>
            </a:r>
          </a:p>
          <a:p>
            <a:pPr lvl="1"/>
            <a:r>
              <a:rPr lang="en-US" altLang="en-US" dirty="0"/>
              <a:t>the extent of missing data</a:t>
            </a:r>
          </a:p>
          <a:p>
            <a:pPr lvl="1"/>
            <a:r>
              <a:rPr lang="en-US" altLang="en-US" dirty="0"/>
              <a:t>how accuracy of the data was ensured</a:t>
            </a:r>
          </a:p>
          <a:p>
            <a:r>
              <a:rPr lang="en-US" altLang="en-US" dirty="0"/>
              <a:t>If must collect original data</a:t>
            </a:r>
          </a:p>
          <a:p>
            <a:pPr lvl="1"/>
            <a:r>
              <a:rPr lang="en-US" altLang="en-US" dirty="0"/>
              <a:t>be sensitive to burden on others</a:t>
            </a:r>
          </a:p>
          <a:p>
            <a:pPr lvl="1"/>
            <a:r>
              <a:rPr lang="en-US" altLang="en-US" dirty="0"/>
              <a:t>pre-test, pre-test, pre-test</a:t>
            </a:r>
          </a:p>
          <a:p>
            <a:pPr lvl="1"/>
            <a:r>
              <a:rPr lang="en-US" altLang="en-US" dirty="0"/>
              <a:t>establish procedures and follow them (protocol)</a:t>
            </a:r>
          </a:p>
          <a:p>
            <a:pPr lvl="1"/>
            <a:r>
              <a:rPr lang="en-US" altLang="en-US" dirty="0"/>
              <a:t>maintain accurate records of definitions and coding</a:t>
            </a:r>
          </a:p>
          <a:p>
            <a:pPr lvl="1"/>
            <a:r>
              <a:rPr lang="en-US" altLang="en-US" dirty="0"/>
              <a:t>verify accuracy of coding, data input</a:t>
            </a:r>
          </a:p>
          <a:p>
            <a:endParaRPr lang="en-US" altLang="en-US" dirty="0"/>
          </a:p>
          <a:p>
            <a:pPr>
              <a:buNone/>
            </a:pPr>
            <a:endParaRPr lang="en-US" alt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0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vs semi-structured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Structured approach</a:t>
            </a:r>
          </a:p>
          <a:p>
            <a:pPr lvl="1"/>
            <a:r>
              <a:rPr lang="en-US" altLang="en-US" dirty="0"/>
              <a:t>All data collected in the same way</a:t>
            </a:r>
          </a:p>
          <a:p>
            <a:pPr lvl="1"/>
            <a:r>
              <a:rPr lang="en-US" altLang="en-US" dirty="0"/>
              <a:t>Especially important for multi-site evaluations so you can compare</a:t>
            </a:r>
          </a:p>
          <a:p>
            <a:pPr lvl="1"/>
            <a:r>
              <a:rPr lang="en-US" altLang="en-US" dirty="0"/>
              <a:t>Important when you need to make comparisons with alternate interventions</a:t>
            </a:r>
          </a:p>
          <a:p>
            <a:pPr lvl="1"/>
            <a:r>
              <a:rPr lang="en-US" altLang="en-US" dirty="0"/>
              <a:t>Used in the following situations</a:t>
            </a:r>
          </a:p>
          <a:p>
            <a:pPr lvl="2"/>
            <a:r>
              <a:rPr lang="en-US" altLang="en-US" dirty="0"/>
              <a:t>have a large sample or population</a:t>
            </a:r>
          </a:p>
          <a:p>
            <a:pPr lvl="2"/>
            <a:r>
              <a:rPr lang="en-US" altLang="en-US" dirty="0"/>
              <a:t>know what needs to be measured</a:t>
            </a:r>
          </a:p>
          <a:p>
            <a:pPr lvl="2"/>
            <a:r>
              <a:rPr lang="en-US" altLang="en-US" dirty="0"/>
              <a:t>need to show results numerically</a:t>
            </a:r>
          </a:p>
          <a:p>
            <a:pPr lvl="2"/>
            <a:r>
              <a:rPr lang="en-US" altLang="en-US" dirty="0"/>
              <a:t>need to make comparisons across different sites or interventions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77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vs semi-structured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en-US" dirty="0"/>
              <a:t>Semi-structured approach</a:t>
            </a:r>
          </a:p>
          <a:p>
            <a:pPr lvl="1"/>
            <a:r>
              <a:rPr lang="en-US" altLang="en-US" dirty="0"/>
              <a:t>Systematic and follow general procedures but data are not collected in exactly the same way every time</a:t>
            </a:r>
          </a:p>
          <a:p>
            <a:pPr lvl="1"/>
            <a:r>
              <a:rPr lang="en-US" altLang="en-US" dirty="0"/>
              <a:t>More open and fluid</a:t>
            </a:r>
          </a:p>
          <a:p>
            <a:pPr lvl="1"/>
            <a:r>
              <a:rPr lang="en-US" altLang="en-US" dirty="0"/>
              <a:t>Does not follow a rigid script</a:t>
            </a:r>
          </a:p>
          <a:p>
            <a:pPr lvl="2"/>
            <a:r>
              <a:rPr lang="en-US" altLang="en-US" dirty="0"/>
              <a:t>may ask for more detail</a:t>
            </a:r>
          </a:p>
          <a:p>
            <a:pPr lvl="2"/>
            <a:r>
              <a:rPr lang="en-US" altLang="en-US" dirty="0"/>
              <a:t>people can tell what they want in their own way</a:t>
            </a:r>
          </a:p>
          <a:p>
            <a:pPr lvl="1"/>
            <a:r>
              <a:rPr lang="en-US" altLang="en-US" dirty="0"/>
              <a:t>Used in the following situations</a:t>
            </a:r>
          </a:p>
          <a:p>
            <a:pPr lvl="2"/>
            <a:r>
              <a:rPr lang="en-US" altLang="en-US" dirty="0"/>
              <a:t>conducting exploratory work</a:t>
            </a:r>
          </a:p>
          <a:p>
            <a:pPr lvl="2"/>
            <a:r>
              <a:rPr lang="en-US" altLang="en-US" dirty="0"/>
              <a:t>seeking understanding, themes, and/or issues</a:t>
            </a:r>
          </a:p>
          <a:p>
            <a:pPr lvl="2"/>
            <a:r>
              <a:rPr lang="en-US" altLang="en-US" dirty="0"/>
              <a:t>need narratives or stories</a:t>
            </a:r>
          </a:p>
          <a:p>
            <a:pPr lvl="2"/>
            <a:r>
              <a:rPr lang="en-US" altLang="en-US" dirty="0"/>
              <a:t>want in-depth, rich, information</a:t>
            </a:r>
          </a:p>
        </p:txBody>
      </p:sp>
    </p:spTree>
    <p:extLst>
      <p:ext uri="{BB962C8B-B14F-4D97-AF65-F5344CB8AC3E}">
        <p14:creationId xmlns:p14="http://schemas.microsoft.com/office/powerpoint/2010/main" val="1180683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vs Qualitative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Quantitative approach</a:t>
            </a:r>
          </a:p>
          <a:p>
            <a:pPr lvl="1"/>
            <a:r>
              <a:rPr lang="en-US" altLang="en-US" dirty="0"/>
              <a:t>Data in numerical form</a:t>
            </a:r>
          </a:p>
          <a:p>
            <a:pPr lvl="1"/>
            <a:r>
              <a:rPr lang="en-US" altLang="en-US" dirty="0"/>
              <a:t>Data that can be precisely measured</a:t>
            </a:r>
          </a:p>
          <a:p>
            <a:pPr lvl="2"/>
            <a:r>
              <a:rPr lang="en-US" altLang="en-US" dirty="0"/>
              <a:t>age, cost, length, height, area, volume, weight, speed, time, and temperature</a:t>
            </a:r>
          </a:p>
          <a:p>
            <a:pPr lvl="1"/>
            <a:r>
              <a:rPr lang="en-US" altLang="en-US" dirty="0"/>
              <a:t>Harder to develop</a:t>
            </a:r>
          </a:p>
          <a:p>
            <a:pPr lvl="1"/>
            <a:r>
              <a:rPr lang="en-US" altLang="en-US" dirty="0"/>
              <a:t>Easier to analyze</a:t>
            </a:r>
          </a:p>
          <a:p>
            <a:r>
              <a:rPr lang="en-US" dirty="0"/>
              <a:t>Qualitative approach</a:t>
            </a:r>
          </a:p>
          <a:p>
            <a:pPr lvl="1"/>
            <a:r>
              <a:rPr lang="en-US" altLang="en-US" dirty="0"/>
              <a:t>Data that deals with description</a:t>
            </a:r>
          </a:p>
          <a:p>
            <a:pPr lvl="1"/>
            <a:r>
              <a:rPr lang="en-US" altLang="en-US" dirty="0"/>
              <a:t>Data that can be observed or self-reported, but not always precisely measured</a:t>
            </a:r>
          </a:p>
          <a:p>
            <a:pPr lvl="1"/>
            <a:r>
              <a:rPr lang="en-US" altLang="en-US" dirty="0"/>
              <a:t>Less structured, easier to develop</a:t>
            </a:r>
          </a:p>
          <a:p>
            <a:pPr lvl="1"/>
            <a:r>
              <a:rPr lang="en-US" altLang="en-US" dirty="0"/>
              <a:t>Can provide “rich data” </a:t>
            </a:r>
            <a:r>
              <a:rPr lang="en-US" altLang="en-US" dirty="0">
                <a:cs typeface="Microsoft Sans Serif" panose="020B0604020202020204" pitchFamily="34" charset="0"/>
              </a:rPr>
              <a:t>— detailed and widely applicable</a:t>
            </a:r>
          </a:p>
          <a:p>
            <a:pPr lvl="1"/>
            <a:r>
              <a:rPr lang="en-US" altLang="en-US" dirty="0">
                <a:cs typeface="Microsoft Sans Serif" panose="020B0604020202020204" pitchFamily="34" charset="0"/>
              </a:rPr>
              <a:t>Is challenging to analyze</a:t>
            </a:r>
          </a:p>
          <a:p>
            <a:pPr lvl="1"/>
            <a:r>
              <a:rPr lang="en-US" altLang="en-US" dirty="0">
                <a:cs typeface="Microsoft Sans Serif" panose="020B0604020202020204" pitchFamily="34" charset="0"/>
              </a:rPr>
              <a:t>Is labor intensive to collect</a:t>
            </a:r>
          </a:p>
          <a:p>
            <a:pPr lvl="1"/>
            <a:r>
              <a:rPr lang="en-US" altLang="en-US" dirty="0">
                <a:cs typeface="Microsoft Sans Serif" panose="020B0604020202020204" pitchFamily="34" charset="0"/>
              </a:rPr>
              <a:t>Usually generates longer reports</a:t>
            </a:r>
            <a:endParaRPr lang="en-US" altLang="en-US" dirty="0"/>
          </a:p>
          <a:p>
            <a:pPr lvl="1"/>
            <a:r>
              <a:rPr lang="en-US" altLang="en-US" dirty="0"/>
              <a:t>Used when you are not sure what you are able to measure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749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Administrative Information</a:t>
            </a:r>
          </a:p>
          <a:p>
            <a:r>
              <a:rPr lang="en-US" dirty="0"/>
              <a:t>What is data collection?</a:t>
            </a:r>
          </a:p>
          <a:p>
            <a:r>
              <a:rPr lang="en-US" dirty="0"/>
              <a:t>Data collection decisions, rules, approaches</a:t>
            </a:r>
          </a:p>
          <a:p>
            <a:r>
              <a:rPr lang="en-US" b="1" dirty="0">
                <a:solidFill>
                  <a:srgbClr val="FF0000"/>
                </a:solidFill>
              </a:rPr>
              <a:t>Data collection planning</a:t>
            </a:r>
          </a:p>
        </p:txBody>
      </p:sp>
    </p:spTree>
    <p:extLst>
      <p:ext uri="{BB962C8B-B14F-4D97-AF65-F5344CB8AC3E}">
        <p14:creationId xmlns:p14="http://schemas.microsoft.com/office/powerpoint/2010/main" val="3661982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CFF8F-0D99-4D4A-8A3F-4B040F3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 data collection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D40CB-6FD8-414D-ACF3-4A689455241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Identify types of data needed for the study</a:t>
            </a:r>
          </a:p>
          <a:p>
            <a:pPr lvl="1"/>
            <a:r>
              <a:rPr lang="en-US" dirty="0"/>
              <a:t>Structured, notes, audio, video, photo</a:t>
            </a:r>
          </a:p>
          <a:p>
            <a:r>
              <a:rPr lang="en-US" dirty="0"/>
              <a:t>Select the types of measures to measure each variable</a:t>
            </a:r>
          </a:p>
          <a:p>
            <a:pPr lvl="1"/>
            <a:r>
              <a:rPr lang="en-US" dirty="0"/>
              <a:t>Relevant (don’t measure what is easy but what is needed)</a:t>
            </a:r>
          </a:p>
          <a:p>
            <a:pPr lvl="1"/>
            <a:r>
              <a:rPr lang="en-US" dirty="0"/>
              <a:t>Credible (Is the measure believable? Will it be viewed as a reasonable and appropriate way to capture the information sought?)</a:t>
            </a:r>
          </a:p>
          <a:p>
            <a:pPr lvl="1"/>
            <a:r>
              <a:rPr lang="en-US" dirty="0"/>
              <a:t>Valid (Are waiting lists a valid measure of demand?)</a:t>
            </a:r>
          </a:p>
          <a:p>
            <a:pPr lvl="1"/>
            <a:r>
              <a:rPr lang="en-US" dirty="0"/>
              <a:t>Reliable, i.e., precision and stability or repeatability (How reliable are: birth weights of newborn infants? speeds measured by a stopwatch?)</a:t>
            </a:r>
          </a:p>
          <a:p>
            <a:r>
              <a:rPr lang="en-US" dirty="0"/>
              <a:t>Select and/or develop instruments</a:t>
            </a:r>
          </a:p>
          <a:p>
            <a:r>
              <a:rPr lang="en-US" dirty="0"/>
              <a:t>Secure written permission to use each instrument </a:t>
            </a:r>
          </a:p>
          <a:p>
            <a:r>
              <a:rPr lang="en-US" dirty="0"/>
              <a:t>Pilot test researcher-developed instrument and revise plan</a:t>
            </a:r>
          </a:p>
          <a:p>
            <a:r>
              <a:rPr lang="en-US" dirty="0"/>
              <a:t>Develop data collection forms and procedures</a:t>
            </a:r>
          </a:p>
          <a:p>
            <a:r>
              <a:rPr lang="en-US" dirty="0"/>
              <a:t>Implement data collection plan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084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7D50B-D662-4551-90C7-28FCD154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 Collection Aspects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5EF6-2292-4D99-A279-25D368FF5CD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Costs of data collection</a:t>
            </a:r>
          </a:p>
          <a:p>
            <a:pPr lvl="1"/>
            <a:r>
              <a:rPr lang="en-US" dirty="0"/>
              <a:t>Instrument use</a:t>
            </a:r>
          </a:p>
          <a:p>
            <a:pPr lvl="1"/>
            <a:r>
              <a:rPr lang="en-US" dirty="0"/>
              <a:t>Data collectors salary</a:t>
            </a:r>
          </a:p>
          <a:p>
            <a:pPr lvl="1"/>
            <a:r>
              <a:rPr lang="en-US" dirty="0"/>
              <a:t>Subject compensation</a:t>
            </a:r>
          </a:p>
          <a:p>
            <a:pPr lvl="1"/>
            <a:r>
              <a:rPr lang="en-US" dirty="0"/>
              <a:t>Data pre-processing and archiving/packaging</a:t>
            </a:r>
          </a:p>
          <a:p>
            <a:r>
              <a:rPr lang="en-US" dirty="0"/>
              <a:t>Meta data related to data collection</a:t>
            </a:r>
          </a:p>
          <a:p>
            <a:pPr lvl="1"/>
            <a:r>
              <a:rPr lang="en-US" dirty="0"/>
              <a:t>Records of subject IDs</a:t>
            </a:r>
          </a:p>
          <a:p>
            <a:pPr lvl="1"/>
            <a:r>
              <a:rPr lang="en-US" dirty="0"/>
              <a:t>Data on number of times subjects recruited or approached, dates of data collection, length of time for data collection, location, time of day, and who collected data</a:t>
            </a:r>
          </a:p>
          <a:p>
            <a:pPr lvl="1"/>
            <a:r>
              <a:rPr lang="en-US" dirty="0"/>
              <a:t>Who, what, when, where, and how of 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983793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A62FA-2E67-47D0-85ED-0E8ABB175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2EEEC-6E37-4605-881A-8AC37A2C01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Choose more than one data collection technique</a:t>
            </a:r>
          </a:p>
          <a:p>
            <a:r>
              <a:rPr lang="en-US" dirty="0"/>
              <a:t>No “best” tool</a:t>
            </a:r>
          </a:p>
          <a:p>
            <a:r>
              <a:rPr lang="en-US" dirty="0"/>
              <a:t>High data quality is essential.</a:t>
            </a:r>
          </a:p>
        </p:txBody>
      </p:sp>
    </p:spTree>
    <p:extLst>
      <p:ext uri="{BB962C8B-B14F-4D97-AF65-F5344CB8AC3E}">
        <p14:creationId xmlns:p14="http://schemas.microsoft.com/office/powerpoint/2010/main" val="1813699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DE30-36F4-4666-AB11-40F7FE25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Hands-on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AAA0D-4CF3-4F25-B8EB-D6D700D2370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Plain old </a:t>
            </a:r>
            <a:r>
              <a:rPr lang="en-US" dirty="0" err="1"/>
              <a:t>wget</a:t>
            </a:r>
            <a:r>
              <a:rPr lang="en-US" dirty="0"/>
              <a:t> and shell script -- collecting Amazon reviews.</a:t>
            </a:r>
          </a:p>
          <a:p>
            <a:r>
              <a:rPr lang="en-US" dirty="0"/>
              <a:t>Data collection using APIs: </a:t>
            </a:r>
          </a:p>
          <a:p>
            <a:pPr lvl="1"/>
            <a:r>
              <a:rPr lang="en-US" dirty="0"/>
              <a:t>Using Reddit API, International Space Station API, NY Times API.</a:t>
            </a:r>
          </a:p>
          <a:p>
            <a:pPr lvl="1"/>
            <a:r>
              <a:rPr lang="en-US" dirty="0"/>
              <a:t>Getting stocks data</a:t>
            </a:r>
          </a:p>
          <a:p>
            <a:pPr lvl="1"/>
            <a:r>
              <a:rPr lang="en-US" dirty="0"/>
              <a:t>Getting weather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615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ADE8-F000-41B0-9944-C7B9DF71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6ED31-677C-4689-8CD5-F6A32AA00A6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pc="-60" dirty="0">
                <a:cs typeface="Calibri"/>
              </a:rPr>
              <a:t>R</a:t>
            </a:r>
            <a:r>
              <a:rPr lang="en-US" spc="-5" dirty="0">
                <a:cs typeface="Calibri"/>
              </a:rPr>
              <a:t>ob</a:t>
            </a:r>
            <a:r>
              <a:rPr lang="en-US" dirty="0">
                <a:cs typeface="Calibri"/>
              </a:rPr>
              <a:t>e</a:t>
            </a:r>
            <a:r>
              <a:rPr lang="en-US" spc="-15" dirty="0">
                <a:cs typeface="Calibri"/>
              </a:rPr>
              <a:t>rt</a:t>
            </a:r>
            <a:r>
              <a:rPr lang="en-US" spc="-5" dirty="0">
                <a:cs typeface="Calibri"/>
              </a:rPr>
              <a:t> </a:t>
            </a:r>
            <a:r>
              <a:rPr lang="en-US" spc="-120" dirty="0">
                <a:cs typeface="Calibri"/>
              </a:rPr>
              <a:t>W</a:t>
            </a:r>
            <a:r>
              <a:rPr lang="en-US" dirty="0">
                <a:cs typeface="Calibri"/>
              </a:rPr>
              <a:t>e</a:t>
            </a:r>
            <a:r>
              <a:rPr lang="en-US" spc="-10" dirty="0">
                <a:cs typeface="Calibri"/>
              </a:rPr>
              <a:t>i</a:t>
            </a:r>
            <a:r>
              <a:rPr lang="en-US" spc="-40" dirty="0">
                <a:cs typeface="Calibri"/>
              </a:rPr>
              <a:t>s</a:t>
            </a:r>
            <a:r>
              <a:rPr lang="en-US" spc="-15" dirty="0">
                <a:cs typeface="Calibri"/>
              </a:rPr>
              <a:t>z</a:t>
            </a:r>
            <a:r>
              <a:rPr lang="en-US" dirty="0">
                <a:cs typeface="Calibri"/>
              </a:rPr>
              <a:t>,</a:t>
            </a:r>
            <a:r>
              <a:rPr lang="en-US" spc="-20" dirty="0">
                <a:cs typeface="Calibri"/>
              </a:rPr>
              <a:t> L</a:t>
            </a:r>
            <a:r>
              <a:rPr lang="en-US" spc="-5" dirty="0">
                <a:cs typeface="Calibri"/>
              </a:rPr>
              <a:t>e</a:t>
            </a:r>
            <a:r>
              <a:rPr lang="en-US" spc="-25" dirty="0">
                <a:cs typeface="Calibri"/>
              </a:rPr>
              <a:t>a</a:t>
            </a:r>
            <a:r>
              <a:rPr lang="en-US" dirty="0">
                <a:cs typeface="Calibri"/>
              </a:rPr>
              <a:t>r</a:t>
            </a:r>
            <a:r>
              <a:rPr lang="en-US" spc="-25" dirty="0">
                <a:cs typeface="Calibri"/>
              </a:rPr>
              <a:t>n</a:t>
            </a:r>
            <a:r>
              <a:rPr lang="en-US" spc="-10" dirty="0">
                <a:cs typeface="Calibri"/>
              </a:rPr>
              <a:t>i</a:t>
            </a:r>
            <a:r>
              <a:rPr lang="en-US" spc="-25" dirty="0">
                <a:cs typeface="Calibri"/>
              </a:rPr>
              <a:t>n</a:t>
            </a:r>
            <a:r>
              <a:rPr lang="en-US" spc="-20" dirty="0">
                <a:cs typeface="Calibri"/>
              </a:rPr>
              <a:t>g</a:t>
            </a:r>
            <a:r>
              <a:rPr lang="en-US" spc="20" dirty="0">
                <a:cs typeface="Calibri"/>
              </a:rPr>
              <a:t> </a:t>
            </a:r>
            <a:r>
              <a:rPr lang="en-US" spc="-15" dirty="0">
                <a:cs typeface="Calibri"/>
              </a:rPr>
              <a:t>f</a:t>
            </a:r>
            <a:r>
              <a:rPr lang="en-US" dirty="0">
                <a:cs typeface="Calibri"/>
              </a:rPr>
              <a:t>r</a:t>
            </a:r>
            <a:r>
              <a:rPr lang="en-US" spc="-5" dirty="0">
                <a:cs typeface="Calibri"/>
              </a:rPr>
              <a:t>o</a:t>
            </a:r>
            <a:r>
              <a:rPr lang="en-US" dirty="0">
                <a:cs typeface="Calibri"/>
              </a:rPr>
              <a:t>m</a:t>
            </a:r>
            <a:r>
              <a:rPr lang="en-US" spc="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S</a:t>
            </a:r>
            <a:r>
              <a:rPr lang="en-US" spc="-20" dirty="0">
                <a:cs typeface="Calibri"/>
              </a:rPr>
              <a:t>t</a:t>
            </a:r>
            <a:r>
              <a:rPr lang="en-US" dirty="0">
                <a:cs typeface="Calibri"/>
              </a:rPr>
              <a:t>r</a:t>
            </a:r>
            <a:r>
              <a:rPr lang="en-US" spc="-25" dirty="0">
                <a:cs typeface="Calibri"/>
              </a:rPr>
              <a:t>ang</a:t>
            </a:r>
            <a:r>
              <a:rPr lang="en-US" spc="-5" dirty="0">
                <a:cs typeface="Calibri"/>
              </a:rPr>
              <a:t>e</a:t>
            </a:r>
            <a:r>
              <a:rPr lang="en-US" dirty="0">
                <a:cs typeface="Calibri"/>
              </a:rPr>
              <a:t>rs</a:t>
            </a:r>
            <a:r>
              <a:rPr lang="en-US" spc="-10" dirty="0">
                <a:cs typeface="Calibri"/>
              </a:rPr>
              <a:t>:</a:t>
            </a:r>
            <a:r>
              <a:rPr lang="en-US" dirty="0">
                <a:cs typeface="Calibri"/>
              </a:rPr>
              <a:t> T</a:t>
            </a:r>
            <a:r>
              <a:rPr lang="en-US" spc="-25" dirty="0">
                <a:cs typeface="Calibri"/>
              </a:rPr>
              <a:t>h</a:t>
            </a:r>
            <a:r>
              <a:rPr lang="en-US" dirty="0">
                <a:cs typeface="Calibri"/>
              </a:rPr>
              <a:t>e </a:t>
            </a:r>
            <a:r>
              <a:rPr lang="en-US" spc="-20" dirty="0">
                <a:cs typeface="Calibri"/>
              </a:rPr>
              <a:t>A</a:t>
            </a:r>
            <a:r>
              <a:rPr lang="en-US" dirty="0">
                <a:cs typeface="Calibri"/>
              </a:rPr>
              <a:t>r</a:t>
            </a:r>
            <a:r>
              <a:rPr lang="en-US" spc="-15" dirty="0">
                <a:cs typeface="Calibri"/>
              </a:rPr>
              <a:t>t</a:t>
            </a:r>
            <a:r>
              <a:rPr lang="en-US" spc="5" dirty="0">
                <a:cs typeface="Calibri"/>
              </a:rPr>
              <a:t> </a:t>
            </a:r>
            <a:r>
              <a:rPr lang="en-US" spc="-25" dirty="0">
                <a:cs typeface="Calibri"/>
              </a:rPr>
              <a:t>an</a:t>
            </a:r>
            <a:r>
              <a:rPr lang="en-US" spc="-20" dirty="0">
                <a:cs typeface="Calibri"/>
              </a:rPr>
              <a:t>d</a:t>
            </a:r>
            <a:r>
              <a:rPr lang="en-US" spc="2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M</a:t>
            </a:r>
            <a:r>
              <a:rPr lang="en-US" spc="-15" dirty="0">
                <a:cs typeface="Calibri"/>
              </a:rPr>
              <a:t>e</a:t>
            </a:r>
            <a:r>
              <a:rPr lang="en-US" spc="-20" dirty="0">
                <a:cs typeface="Calibri"/>
              </a:rPr>
              <a:t>t</a:t>
            </a:r>
            <a:r>
              <a:rPr lang="en-US" spc="-25" dirty="0">
                <a:cs typeface="Calibri"/>
              </a:rPr>
              <a:t>h</a:t>
            </a:r>
            <a:r>
              <a:rPr lang="en-US" spc="-5" dirty="0">
                <a:cs typeface="Calibri"/>
              </a:rPr>
              <a:t>o</a:t>
            </a:r>
            <a:r>
              <a:rPr lang="en-US" spc="-20" dirty="0">
                <a:cs typeface="Calibri"/>
              </a:rPr>
              <a:t>d</a:t>
            </a:r>
            <a:r>
              <a:rPr lang="en-US" spc="-5" dirty="0">
                <a:cs typeface="Calibri"/>
              </a:rPr>
              <a:t> o</a:t>
            </a:r>
            <a:r>
              <a:rPr lang="en-US" spc="-10" dirty="0">
                <a:cs typeface="Calibri"/>
              </a:rPr>
              <a:t>f</a:t>
            </a:r>
            <a:r>
              <a:rPr lang="en-US" spc="-5" dirty="0">
                <a:cs typeface="Calibri"/>
              </a:rPr>
              <a:t> </a:t>
            </a:r>
            <a:r>
              <a:rPr lang="en-US" spc="-30" dirty="0">
                <a:cs typeface="Calibri"/>
              </a:rPr>
              <a:t>Q</a:t>
            </a:r>
            <a:r>
              <a:rPr lang="en-US" spc="-25" dirty="0">
                <a:cs typeface="Calibri"/>
              </a:rPr>
              <a:t>ua</a:t>
            </a:r>
            <a:r>
              <a:rPr lang="en-US" spc="-10" dirty="0">
                <a:cs typeface="Calibri"/>
              </a:rPr>
              <a:t>li</a:t>
            </a:r>
            <a:r>
              <a:rPr lang="en-US" spc="-70" dirty="0">
                <a:cs typeface="Calibri"/>
              </a:rPr>
              <a:t>t</a:t>
            </a:r>
            <a:r>
              <a:rPr lang="en-US" spc="-25" dirty="0">
                <a:cs typeface="Calibri"/>
              </a:rPr>
              <a:t>a</a:t>
            </a:r>
            <a:r>
              <a:rPr lang="en-US" spc="-20" dirty="0">
                <a:cs typeface="Calibri"/>
              </a:rPr>
              <a:t>t</a:t>
            </a:r>
            <a:r>
              <a:rPr lang="en-US" spc="-10" dirty="0">
                <a:cs typeface="Calibri"/>
              </a:rPr>
              <a:t>i</a:t>
            </a:r>
            <a:r>
              <a:rPr lang="en-US" dirty="0">
                <a:cs typeface="Calibri"/>
              </a:rPr>
              <a:t>ve</a:t>
            </a:r>
            <a:r>
              <a:rPr lang="en-US" spc="4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I</a:t>
            </a:r>
            <a:r>
              <a:rPr lang="en-US" spc="-60" dirty="0">
                <a:cs typeface="Calibri"/>
              </a:rPr>
              <a:t>n</a:t>
            </a:r>
            <a:r>
              <a:rPr lang="en-US" spc="-55" dirty="0">
                <a:cs typeface="Calibri"/>
              </a:rPr>
              <a:t>t</a:t>
            </a:r>
            <a:r>
              <a:rPr lang="en-US" spc="-5" dirty="0">
                <a:cs typeface="Calibri"/>
              </a:rPr>
              <a:t>e</a:t>
            </a:r>
            <a:r>
              <a:rPr lang="en-US" spc="20" dirty="0">
                <a:cs typeface="Calibri"/>
              </a:rPr>
              <a:t>r</a:t>
            </a:r>
            <a:r>
              <a:rPr lang="en-US" dirty="0">
                <a:cs typeface="Calibri"/>
              </a:rPr>
              <a:t>v</a:t>
            </a:r>
            <a:r>
              <a:rPr lang="en-US" spc="-10" dirty="0">
                <a:cs typeface="Calibri"/>
              </a:rPr>
              <a:t>i</a:t>
            </a:r>
            <a:r>
              <a:rPr lang="en-US" spc="-30" dirty="0">
                <a:cs typeface="Calibri"/>
              </a:rPr>
              <a:t>e</a:t>
            </a:r>
            <a:r>
              <a:rPr lang="en-US" dirty="0">
                <a:cs typeface="Calibri"/>
              </a:rPr>
              <a:t>w </a:t>
            </a:r>
            <a:r>
              <a:rPr lang="en-US" spc="-5" dirty="0">
                <a:cs typeface="Calibri"/>
              </a:rPr>
              <a:t>S</a:t>
            </a:r>
            <a:r>
              <a:rPr lang="en-US" spc="-20" dirty="0">
                <a:cs typeface="Calibri"/>
              </a:rPr>
              <a:t>t</a:t>
            </a:r>
            <a:r>
              <a:rPr lang="en-US" spc="-25" dirty="0">
                <a:cs typeface="Calibri"/>
              </a:rPr>
              <a:t>ud</a:t>
            </a:r>
            <a:r>
              <a:rPr lang="en-US" spc="-10" dirty="0">
                <a:cs typeface="Calibri"/>
              </a:rPr>
              <a:t>i</a:t>
            </a:r>
            <a:r>
              <a:rPr lang="en-US" spc="-5" dirty="0">
                <a:cs typeface="Calibri"/>
              </a:rPr>
              <a:t>e</a:t>
            </a:r>
            <a:r>
              <a:rPr lang="en-US" dirty="0">
                <a:cs typeface="Calibri"/>
              </a:rPr>
              <a:t>s</a:t>
            </a:r>
          </a:p>
          <a:p>
            <a:r>
              <a:rPr lang="en-US" dirty="0" err="1">
                <a:cs typeface="Calibri"/>
              </a:rPr>
              <a:t>Glesne</a:t>
            </a:r>
            <a:r>
              <a:rPr lang="en-US" dirty="0">
                <a:cs typeface="Calibri"/>
              </a:rPr>
              <a:t>, C. and </a:t>
            </a:r>
            <a:r>
              <a:rPr lang="en-US" dirty="0" err="1">
                <a:cs typeface="Calibri"/>
              </a:rPr>
              <a:t>Peshkin</a:t>
            </a:r>
            <a:r>
              <a:rPr lang="en-US" dirty="0">
                <a:cs typeface="Calibri"/>
              </a:rPr>
              <a:t>, A. (1992). Becoming qualitative researchers: An</a:t>
            </a:r>
          </a:p>
          <a:p>
            <a:r>
              <a:rPr lang="en-US" dirty="0">
                <a:cs typeface="Calibri"/>
              </a:rPr>
              <a:t>introduction. White Plains, NY: Longman Publishing.</a:t>
            </a:r>
          </a:p>
          <a:p>
            <a:r>
              <a:rPr lang="en-US" dirty="0">
                <a:cs typeface="Calibri"/>
              </a:rPr>
              <a:t>Patton, M.Q. (1990). Qualitative evaluation and research methods (2</a:t>
            </a:r>
            <a:r>
              <a:rPr lang="en-US" baseline="30000" dirty="0">
                <a:cs typeface="Calibri"/>
              </a:rPr>
              <a:t>nd</a:t>
            </a:r>
            <a:r>
              <a:rPr lang="en-US" dirty="0">
                <a:cs typeface="Calibri"/>
              </a:rPr>
              <a:t> ed.). Thousand Oaks, CA: Sage Publications.</a:t>
            </a:r>
          </a:p>
          <a:p>
            <a:r>
              <a:rPr lang="en-US" dirty="0">
                <a:cs typeface="Calibri"/>
              </a:rPr>
              <a:t>Morse, J.M. (ed.) (1993). Critical issues in qualitative research </a:t>
            </a:r>
            <a:r>
              <a:rPr lang="en-US" dirty="0" err="1">
                <a:cs typeface="Calibri"/>
              </a:rPr>
              <a:t>methods.Thousand</a:t>
            </a:r>
            <a:r>
              <a:rPr lang="en-US" dirty="0">
                <a:cs typeface="Calibri"/>
              </a:rPr>
              <a:t> Oaks, CA: Sage Publications.</a:t>
            </a:r>
          </a:p>
          <a:p>
            <a:r>
              <a:rPr lang="en-US" dirty="0">
                <a:cs typeface="Calibri"/>
              </a:rPr>
              <a:t>Rubin, H.J. and Rubin, I.S. (1995). Qualitative interviewing. </a:t>
            </a:r>
            <a:r>
              <a:rPr lang="en-US" dirty="0" err="1">
                <a:cs typeface="Calibri"/>
              </a:rPr>
              <a:t>Thousand,Oaks</a:t>
            </a:r>
            <a:r>
              <a:rPr lang="en-US" dirty="0">
                <a:cs typeface="Calibri"/>
              </a:rPr>
              <a:t>, CA: Sage Publications.</a:t>
            </a:r>
          </a:p>
          <a:p>
            <a:r>
              <a:rPr lang="en-US">
                <a:cs typeface="Calibri"/>
              </a:rPr>
              <a:t>https://www.slideshare.net/priyansakthi/methods-of-data-collection-16037781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502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2013</TotalTime>
  <Words>1354</Words>
  <Application>Microsoft Office PowerPoint</Application>
  <PresentationFormat>Widescreen</PresentationFormat>
  <Paragraphs>200</Paragraphs>
  <Slides>22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Data Collection Session 1 Introduction to Data Collection</vt:lpstr>
      <vt:lpstr>Myself</vt:lpstr>
      <vt:lpstr>Agenda</vt:lpstr>
      <vt:lpstr>Agenda</vt:lpstr>
      <vt:lpstr>Course Overview: Session Plan</vt:lpstr>
      <vt:lpstr>Course Overview: Session Plan</vt:lpstr>
      <vt:lpstr>Course Overview: Grade Components</vt:lpstr>
      <vt:lpstr>Agenda</vt:lpstr>
      <vt:lpstr>What is Data Collection?</vt:lpstr>
      <vt:lpstr>Why is data quality critical?</vt:lpstr>
      <vt:lpstr>Agenda</vt:lpstr>
      <vt:lpstr>Data Collection Decisions</vt:lpstr>
      <vt:lpstr>Rules for Collecting Data</vt:lpstr>
      <vt:lpstr>Structured vs semi-structured approach</vt:lpstr>
      <vt:lpstr>Structured vs semi-structured approach</vt:lpstr>
      <vt:lpstr>Quantitative vs Qualitative Approach</vt:lpstr>
      <vt:lpstr>Agenda</vt:lpstr>
      <vt:lpstr>Developing a data collection plan</vt:lpstr>
      <vt:lpstr>Other Data Collection Aspects</vt:lpstr>
      <vt:lpstr>Take-aways</vt:lpstr>
      <vt:lpstr>Hands-on examples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Qualitative Data Collection</dc:title>
  <dc:creator>Manish Gupta (BING-IDC)</dc:creator>
  <cp:lastModifiedBy>Manish Gupta (BING-IDC)</cp:lastModifiedBy>
  <cp:revision>133</cp:revision>
  <dcterms:created xsi:type="dcterms:W3CDTF">2017-09-27T03:56:38Z</dcterms:created>
  <dcterms:modified xsi:type="dcterms:W3CDTF">2021-01-19T18:17:37Z</dcterms:modified>
</cp:coreProperties>
</file>