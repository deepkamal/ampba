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loop="1" showNarration="1">
    <p:browse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9CCAD"/>
    <a:srgbClr val="A754F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2476"/>
    <p:restoredTop sz="94694"/>
  </p:normalViewPr>
  <p:slideViewPr>
    <p:cSldViewPr snapToGrid="0" snapToObjects="1">
      <p:cViewPr varScale="1">
        <p:scale>
          <a:sx n="117" d="100"/>
          <a:sy n="117" d="100"/>
        </p:scale>
        <p:origin x="368" y="1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165283A-2DFC-F34E-AE80-649FD547E8F3}" type="datetimeFigureOut">
              <a:rPr lang="en-US" smtClean="0"/>
              <a:t>11/20/20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71E7758-C3BC-5446-86DE-067B92920B1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7124157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71E7758-C3BC-5446-86DE-067B92920B1F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2486492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71E7758-C3BC-5446-86DE-067B92920B1F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903544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71E7758-C3BC-5446-86DE-067B92920B1F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1007904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71E7758-C3BC-5446-86DE-067B92920B1F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8667147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71E7758-C3BC-5446-86DE-067B92920B1F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0303789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036707-276B-5946-985B-731A7C70546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072BF2A-E8F5-3B4B-BFC8-06A8E2DF979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3FD3787-E119-CC45-B30F-D27BF8933A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397FDF-7155-CE4C-ADD7-F0BF31EDA8EA}" type="datetimeFigureOut">
              <a:rPr lang="en-US" smtClean="0"/>
              <a:t>11/20/20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5933F10-AD3D-E840-A078-63162DCC27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A71DFD9-7531-5B49-9AA1-4DEE0A5AAD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B5992B-C4DE-4D45-8BCD-7EC4905AA25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410604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05DADE-2FC6-BB42-80FD-8FCF56F4C8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A0F6868-E4B2-D444-9D2A-A039BD483F0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1FDA1BA-86C0-094C-8CA0-7D288E752F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397FDF-7155-CE4C-ADD7-F0BF31EDA8EA}" type="datetimeFigureOut">
              <a:rPr lang="en-US" smtClean="0"/>
              <a:t>11/20/20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86062CE-B50C-174D-B64D-08F0F95EAE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DAE08E6-28EF-DF4F-ACD8-7C476852AB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B5992B-C4DE-4D45-8BCD-7EC4905AA25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5051310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340034-FAD6-9845-B080-7A7F6D1EE7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619BA1F-2102-8F46-AA16-B8B0FE3E654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F47362C-05A2-544E-A8A5-BF7E5CC686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397FDF-7155-CE4C-ADD7-F0BF31EDA8EA}" type="datetimeFigureOut">
              <a:rPr lang="en-US" smtClean="0"/>
              <a:t>11/20/20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AF5B352-C444-7240-85A5-E867857860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9E98A2F-5544-F145-8598-48EF417158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B5992B-C4DE-4D45-8BCD-7EC4905AA25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1616872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C9E537-3BA7-E34C-AE9E-D29BFCFBAB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67A9DD7-D716-1E49-93BE-63174489804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B0BDF0A-D788-BD46-BE98-082B016CDA4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DEE62C9-5643-7444-B834-D95EA09024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397FDF-7155-CE4C-ADD7-F0BF31EDA8EA}" type="datetimeFigureOut">
              <a:rPr lang="en-US" smtClean="0"/>
              <a:t>11/20/20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5864A59-FD11-194D-8B3C-957035DE10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C8CEE84-734A-4F42-9A4E-B3E1DCBFCC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B5992B-C4DE-4D45-8BCD-7EC4905AA25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1093263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AB0DA1-2B8F-194C-AAC7-5150EDC8334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7DE2B2C-8AA2-0F4F-985B-15B1FE71399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4CE7D50-CF01-C744-BDDE-967614895D3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05A1F28-F73C-DD42-B4AE-7576F8EB8CD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3F57623-6241-6349-94C2-1604A252F8A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3B482FD-0E0D-FF4F-8B32-B796373840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397FDF-7155-CE4C-ADD7-F0BF31EDA8EA}" type="datetimeFigureOut">
              <a:rPr lang="en-US" smtClean="0"/>
              <a:t>11/20/20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2C01FE1-168F-D344-AC7A-DEDF8FADF5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FB16574-CA52-2E4E-99BA-A4B9AE6181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B5992B-C4DE-4D45-8BCD-7EC4905AA25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169736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47E67E-9685-DF44-A3DD-7611E47E32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E223CE1-7C90-404B-829A-47A9F95E1A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397FDF-7155-CE4C-ADD7-F0BF31EDA8EA}" type="datetimeFigureOut">
              <a:rPr lang="en-US" smtClean="0"/>
              <a:t>11/20/20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6CF9242-05E7-B14D-9B0A-6D09BF1923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0F468E9-CE94-6A4E-8353-42661BD1BE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B5992B-C4DE-4D45-8BCD-7EC4905AA25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8327618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583834F-33A5-5247-9A24-377A740E76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397FDF-7155-CE4C-ADD7-F0BF31EDA8EA}" type="datetimeFigureOut">
              <a:rPr lang="en-US" smtClean="0"/>
              <a:t>11/20/20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3F7A542-45FA-E64F-9633-B693AAF628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08E9B2D-EFAA-054C-87ED-1F952E2CDC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B5992B-C4DE-4D45-8BCD-7EC4905AA25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0584026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7DFFF2-A133-6D4A-AA89-FA1CEB5458B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45E902A-1E9D-D541-8382-10E8D6BDAA1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E3B3634-0CC6-694B-B48A-BC70AD5C8BA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CC5A265-44DD-2D47-8DAA-0115E24CFB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397FDF-7155-CE4C-ADD7-F0BF31EDA8EA}" type="datetimeFigureOut">
              <a:rPr lang="en-US" smtClean="0"/>
              <a:t>11/20/20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7DFDA6F-0DA2-924F-ABC9-03017481A6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E88A794-AC58-C14F-B5CB-C99C158397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B5992B-C4DE-4D45-8BCD-7EC4905AA25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5580461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9C64E9-64D6-424B-A3F8-F0D42AC6EB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F936F38F-A6CA-3648-92DF-6A6AE277D26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43B23FA-82DF-784F-B9EA-52923FDE17B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E4B4AA0-3A8A-A74A-8B47-EB44A78779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397FDF-7155-CE4C-ADD7-F0BF31EDA8EA}" type="datetimeFigureOut">
              <a:rPr lang="en-US" smtClean="0"/>
              <a:t>11/20/20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6AC249A-21E1-9248-BEB1-171BE4B54A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5EE94A9-0709-9D4A-8398-D04401F3A9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B5992B-C4DE-4D45-8BCD-7EC4905AA25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2694093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60A948-4A97-0D4C-BC00-6574F15A87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7CA2EBB-F243-BF42-B47F-63F1970F2C7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87478A8-B4DB-6245-BC81-B2789878E3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397FDF-7155-CE4C-ADD7-F0BF31EDA8EA}" type="datetimeFigureOut">
              <a:rPr lang="en-US" smtClean="0"/>
              <a:t>11/20/20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D10243B-33D5-534D-9133-85EF93E1C6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BB40866-D252-AF42-A653-4FA2429753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B5992B-C4DE-4D45-8BCD-7EC4905AA25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0968988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6F2AC257-F794-9E4E-B3C3-883258E4E5E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3502802-B5FB-4845-9CC6-A417791160A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2914906-DD9F-7447-83DB-2FADADFE9B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397FDF-7155-CE4C-ADD7-F0BF31EDA8EA}" type="datetimeFigureOut">
              <a:rPr lang="en-US" smtClean="0"/>
              <a:t>11/20/20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5668F65-2A73-EC41-BFAF-F29735A2BB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B56D802-E8F7-5F4E-B9AF-05B0F67D7A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B5992B-C4DE-4D45-8BCD-7EC4905AA25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6290609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CAC917B-E3CA-DF4A-A355-E01A5F780F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DE08DC0-E55E-3641-B6B6-FB394BA6E87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BE0774E-B37D-D246-9F30-64351A44ED0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B397FDF-7155-CE4C-ADD7-F0BF31EDA8EA}" type="datetimeFigureOut">
              <a:rPr lang="en-US" smtClean="0"/>
              <a:t>11/20/20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59994A7-61D9-D54A-9EE1-916462D53BF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86C16A7-8593-5B46-9270-C5373178E1B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CB5992B-C4DE-4D45-8BCD-7EC4905AA25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858199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0C181D-9AC8-6849-AC81-FF33A1059646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Data Visualization and the BI Lifecycle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26040AE-D57D-AD41-B5F1-8EEDAD8CCF62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John F. Tripp</a:t>
            </a:r>
          </a:p>
        </p:txBody>
      </p:sp>
    </p:spTree>
    <p:extLst>
      <p:ext uri="{BB962C8B-B14F-4D97-AF65-F5344CB8AC3E}">
        <p14:creationId xmlns:p14="http://schemas.microsoft.com/office/powerpoint/2010/main" val="241551107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3152FB-6A7C-C24A-9AC3-861B6E1612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Data Visualization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55B0019-4B01-E947-A4B2-CE6B418A73A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Data Visualization is only one component of the Business Intelligence Lifecyle.</a:t>
            </a:r>
          </a:p>
        </p:txBody>
      </p:sp>
    </p:spTree>
    <p:extLst>
      <p:ext uri="{BB962C8B-B14F-4D97-AF65-F5344CB8AC3E}">
        <p14:creationId xmlns:p14="http://schemas.microsoft.com/office/powerpoint/2010/main" val="337256517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B8D7A0A7-727B-CC46-A188-865C8F278D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Business Intelligence Lifecycle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6620EB22-305A-054A-A2A0-E39DD99D3EF0}"/>
              </a:ext>
            </a:extLst>
          </p:cNvPr>
          <p:cNvSpPr/>
          <p:nvPr/>
        </p:nvSpPr>
        <p:spPr>
          <a:xfrm>
            <a:off x="3176802" y="2614612"/>
            <a:ext cx="1714500" cy="2643187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182880" rtlCol="0" anchor="t" anchorCtr="0"/>
          <a:lstStyle/>
          <a:p>
            <a:pPr algn="ctr"/>
            <a:endParaRPr lang="en-US" dirty="0">
              <a:solidFill>
                <a:srgbClr val="7030A0"/>
              </a:solidFill>
            </a:endParaRPr>
          </a:p>
          <a:p>
            <a:pPr algn="ctr"/>
            <a:r>
              <a:rPr lang="en-US" dirty="0">
                <a:solidFill>
                  <a:srgbClr val="7030A0"/>
                </a:solidFill>
              </a:rPr>
              <a:t>Big Data </a:t>
            </a:r>
          </a:p>
          <a:p>
            <a:pPr algn="ctr"/>
            <a:endParaRPr lang="en-US" dirty="0">
              <a:solidFill>
                <a:srgbClr val="7030A0"/>
              </a:solidFill>
            </a:endParaRPr>
          </a:p>
          <a:p>
            <a:pPr algn="ctr"/>
            <a:r>
              <a:rPr lang="en-US" sz="1200" dirty="0">
                <a:solidFill>
                  <a:srgbClr val="7030A0"/>
                </a:solidFill>
              </a:rPr>
              <a:t>Collection</a:t>
            </a:r>
          </a:p>
          <a:p>
            <a:pPr algn="ctr"/>
            <a:r>
              <a:rPr lang="en-US" sz="1200" dirty="0">
                <a:solidFill>
                  <a:srgbClr val="7030A0"/>
                </a:solidFill>
              </a:rPr>
              <a:t>Pre-processing</a:t>
            </a:r>
          </a:p>
          <a:p>
            <a:pPr algn="ctr"/>
            <a:r>
              <a:rPr lang="en-US" sz="1200" dirty="0">
                <a:solidFill>
                  <a:srgbClr val="7030A0"/>
                </a:solidFill>
              </a:rPr>
              <a:t>Cleansing</a:t>
            </a:r>
          </a:p>
          <a:p>
            <a:pPr algn="ctr"/>
            <a:r>
              <a:rPr lang="en-US" sz="1200" dirty="0">
                <a:solidFill>
                  <a:srgbClr val="7030A0"/>
                </a:solidFill>
              </a:rPr>
              <a:t>Optimization</a:t>
            </a:r>
          </a:p>
          <a:p>
            <a:pPr algn="ctr"/>
            <a:r>
              <a:rPr lang="en-US" sz="1200" dirty="0">
                <a:solidFill>
                  <a:srgbClr val="7030A0"/>
                </a:solidFill>
              </a:rPr>
              <a:t>Data Mining</a:t>
            </a:r>
            <a:endParaRPr lang="en-US" dirty="0">
              <a:solidFill>
                <a:srgbClr val="7030A0"/>
              </a:solidFill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4023DBE7-FAC3-F94C-9EDA-630EB7A58021}"/>
              </a:ext>
            </a:extLst>
          </p:cNvPr>
          <p:cNvSpPr/>
          <p:nvPr/>
        </p:nvSpPr>
        <p:spPr>
          <a:xfrm>
            <a:off x="1346858" y="2614612"/>
            <a:ext cx="1714500" cy="2643187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182880" rtlCol="0" anchor="t" anchorCtr="0"/>
          <a:lstStyle/>
          <a:p>
            <a:pPr algn="ctr"/>
            <a:endParaRPr lang="en-US" dirty="0">
              <a:solidFill>
                <a:srgbClr val="7030A0"/>
              </a:solidFill>
            </a:endParaRPr>
          </a:p>
          <a:p>
            <a:pPr algn="ctr"/>
            <a:r>
              <a:rPr lang="en-US" dirty="0">
                <a:solidFill>
                  <a:srgbClr val="7030A0"/>
                </a:solidFill>
              </a:rPr>
              <a:t>Traditional </a:t>
            </a:r>
          </a:p>
          <a:p>
            <a:pPr algn="ctr"/>
            <a:endParaRPr lang="en-US" dirty="0">
              <a:solidFill>
                <a:srgbClr val="7030A0"/>
              </a:solidFill>
            </a:endParaRPr>
          </a:p>
          <a:p>
            <a:pPr algn="ctr"/>
            <a:r>
              <a:rPr lang="en-US" sz="1200" dirty="0">
                <a:solidFill>
                  <a:srgbClr val="7030A0"/>
                </a:solidFill>
              </a:rPr>
              <a:t>Collection</a:t>
            </a:r>
          </a:p>
          <a:p>
            <a:pPr algn="ctr"/>
            <a:r>
              <a:rPr lang="en-US" sz="1200" dirty="0">
                <a:solidFill>
                  <a:srgbClr val="7030A0"/>
                </a:solidFill>
              </a:rPr>
              <a:t>Pre-processing</a:t>
            </a:r>
          </a:p>
          <a:p>
            <a:pPr algn="ctr"/>
            <a:r>
              <a:rPr lang="en-US" sz="1200" dirty="0">
                <a:solidFill>
                  <a:srgbClr val="7030A0"/>
                </a:solidFill>
              </a:rPr>
              <a:t>Cleansing</a:t>
            </a:r>
          </a:p>
          <a:p>
            <a:pPr algn="ctr"/>
            <a:r>
              <a:rPr lang="en-US" sz="1200" dirty="0">
                <a:solidFill>
                  <a:srgbClr val="7030A0"/>
                </a:solidFill>
              </a:rPr>
              <a:t>Optimization</a:t>
            </a:r>
          </a:p>
        </p:txBody>
      </p: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22F6AF8F-B9A2-1D45-AF1D-70075D9FE89B}"/>
              </a:ext>
            </a:extLst>
          </p:cNvPr>
          <p:cNvCxnSpPr/>
          <p:nvPr/>
        </p:nvCxnSpPr>
        <p:spPr>
          <a:xfrm>
            <a:off x="1228718" y="1627272"/>
            <a:ext cx="9043431" cy="0"/>
          </a:xfrm>
          <a:prstGeom prst="straightConnector1">
            <a:avLst/>
          </a:prstGeom>
          <a:ln w="50800"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Pentagon 8">
            <a:extLst>
              <a:ext uri="{FF2B5EF4-FFF2-40B4-BE49-F238E27FC236}">
                <a16:creationId xmlns:a16="http://schemas.microsoft.com/office/drawing/2014/main" id="{7E45F649-3E86-2943-A692-736167DB421E}"/>
              </a:ext>
            </a:extLst>
          </p:cNvPr>
          <p:cNvSpPr/>
          <p:nvPr/>
        </p:nvSpPr>
        <p:spPr>
          <a:xfrm>
            <a:off x="9360099" y="1411104"/>
            <a:ext cx="1603169" cy="432335"/>
          </a:xfrm>
          <a:prstGeom prst="homePlat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Future</a:t>
            </a:r>
          </a:p>
        </p:txBody>
      </p:sp>
      <p:sp>
        <p:nvSpPr>
          <p:cNvPr id="12" name="Pentagon 11">
            <a:extLst>
              <a:ext uri="{FF2B5EF4-FFF2-40B4-BE49-F238E27FC236}">
                <a16:creationId xmlns:a16="http://schemas.microsoft.com/office/drawing/2014/main" id="{95D0ACDE-72C1-7B41-9392-CF36D60C2C78}"/>
              </a:ext>
            </a:extLst>
          </p:cNvPr>
          <p:cNvSpPr/>
          <p:nvPr/>
        </p:nvSpPr>
        <p:spPr>
          <a:xfrm rot="10800000">
            <a:off x="1118252" y="1348222"/>
            <a:ext cx="1603169" cy="432335"/>
          </a:xfrm>
          <a:prstGeom prst="homePlat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5DE72DD0-C7E1-394E-B15B-4587FEBFF5A8}"/>
              </a:ext>
            </a:extLst>
          </p:cNvPr>
          <p:cNvSpPr/>
          <p:nvPr/>
        </p:nvSpPr>
        <p:spPr>
          <a:xfrm>
            <a:off x="1633283" y="1384878"/>
            <a:ext cx="57310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Past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C8454476-9994-1A42-8491-D011866D7D62}"/>
              </a:ext>
            </a:extLst>
          </p:cNvPr>
          <p:cNvSpPr/>
          <p:nvPr/>
        </p:nvSpPr>
        <p:spPr>
          <a:xfrm>
            <a:off x="5518780" y="2614612"/>
            <a:ext cx="1714500" cy="2643187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182880" rtlCol="0" anchor="t" anchorCtr="0"/>
          <a:lstStyle/>
          <a:p>
            <a:pPr algn="ctr"/>
            <a:endParaRPr lang="en-US" dirty="0">
              <a:solidFill>
                <a:srgbClr val="A754F1"/>
              </a:solidFill>
            </a:endParaRPr>
          </a:p>
          <a:p>
            <a:pPr algn="ctr"/>
            <a:r>
              <a:rPr lang="en-US" dirty="0">
                <a:solidFill>
                  <a:srgbClr val="A754F1"/>
                </a:solidFill>
              </a:rPr>
              <a:t>Analyze Data</a:t>
            </a:r>
          </a:p>
          <a:p>
            <a:pPr algn="ctr"/>
            <a:endParaRPr lang="en-US" dirty="0">
              <a:solidFill>
                <a:srgbClr val="A754F1"/>
              </a:solidFill>
            </a:endParaRPr>
          </a:p>
          <a:p>
            <a:pPr algn="ctr"/>
            <a:r>
              <a:rPr lang="en-US" sz="1200" dirty="0">
                <a:solidFill>
                  <a:srgbClr val="A754F1"/>
                </a:solidFill>
              </a:rPr>
              <a:t>Metrics/KPIs</a:t>
            </a:r>
          </a:p>
          <a:p>
            <a:pPr algn="ctr"/>
            <a:r>
              <a:rPr lang="en-US" sz="1200" dirty="0">
                <a:solidFill>
                  <a:srgbClr val="A754F1"/>
                </a:solidFill>
              </a:rPr>
              <a:t>Reports</a:t>
            </a:r>
          </a:p>
          <a:p>
            <a:pPr algn="ctr"/>
            <a:r>
              <a:rPr lang="en-US" sz="1200" dirty="0">
                <a:solidFill>
                  <a:srgbClr val="A754F1"/>
                </a:solidFill>
              </a:rPr>
              <a:t>Dashboards</a:t>
            </a:r>
            <a:endParaRPr lang="en-US" sz="1100" dirty="0">
              <a:solidFill>
                <a:srgbClr val="A754F1"/>
              </a:solidFill>
            </a:endParaRPr>
          </a:p>
          <a:p>
            <a:pPr algn="ctr"/>
            <a:endParaRPr lang="en-US" dirty="0"/>
          </a:p>
          <a:p>
            <a:pPr algn="ctr"/>
            <a:r>
              <a:rPr lang="en-US" b="1" dirty="0">
                <a:solidFill>
                  <a:srgbClr val="7030A0"/>
                </a:solidFill>
              </a:rPr>
              <a:t>Data Visualization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175A5092-CE9B-F14A-842F-661AB7BCBB03}"/>
              </a:ext>
            </a:extLst>
          </p:cNvPr>
          <p:cNvSpPr/>
          <p:nvPr/>
        </p:nvSpPr>
        <p:spPr>
          <a:xfrm>
            <a:off x="9252552" y="2614612"/>
            <a:ext cx="1714500" cy="2643187"/>
          </a:xfrm>
          <a:prstGeom prst="rect">
            <a:avLst/>
          </a:prstGeom>
          <a:solidFill>
            <a:srgbClr val="A754F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182880" rtlCol="0" anchor="t" anchorCtr="0"/>
          <a:lstStyle/>
          <a:p>
            <a:pPr algn="ctr"/>
            <a:r>
              <a:rPr lang="en-US" dirty="0"/>
              <a:t>Machine Learning/AI</a:t>
            </a:r>
          </a:p>
          <a:p>
            <a:pPr algn="ctr"/>
            <a:endParaRPr lang="en-US" dirty="0"/>
          </a:p>
          <a:p>
            <a:pPr algn="ctr"/>
            <a:r>
              <a:rPr lang="en-US" sz="1200" dirty="0"/>
              <a:t>Neural Networks</a:t>
            </a:r>
          </a:p>
          <a:p>
            <a:pPr algn="ctr"/>
            <a:r>
              <a:rPr lang="en-US" sz="1200" dirty="0"/>
              <a:t>Supervised Learning</a:t>
            </a:r>
          </a:p>
          <a:p>
            <a:pPr algn="ctr"/>
            <a:r>
              <a:rPr lang="en-US" sz="1200" dirty="0"/>
              <a:t>Unsupervised Learning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3A251A7D-E599-8440-9786-4511A630D5A7}"/>
              </a:ext>
            </a:extLst>
          </p:cNvPr>
          <p:cNvSpPr/>
          <p:nvPr/>
        </p:nvSpPr>
        <p:spPr>
          <a:xfrm>
            <a:off x="7441500" y="2614612"/>
            <a:ext cx="1714500" cy="2643187"/>
          </a:xfrm>
          <a:prstGeom prst="rect">
            <a:avLst/>
          </a:prstGeom>
          <a:solidFill>
            <a:srgbClr val="A754F1">
              <a:alpha val="50196"/>
            </a:srgb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182880" rtlCol="0" anchor="t" anchorCtr="0"/>
          <a:lstStyle/>
          <a:p>
            <a:pPr algn="ctr"/>
            <a:r>
              <a:rPr lang="en-US" dirty="0"/>
              <a:t>Traditional</a:t>
            </a:r>
          </a:p>
          <a:p>
            <a:pPr algn="ctr"/>
            <a:r>
              <a:rPr lang="en-US" dirty="0"/>
              <a:t>Statistics Based</a:t>
            </a:r>
          </a:p>
          <a:p>
            <a:pPr algn="ctr"/>
            <a:endParaRPr lang="en-US" dirty="0"/>
          </a:p>
          <a:p>
            <a:pPr algn="ctr"/>
            <a:r>
              <a:rPr lang="en-US" sz="1200" dirty="0"/>
              <a:t>Regression</a:t>
            </a:r>
          </a:p>
          <a:p>
            <a:pPr algn="ctr"/>
            <a:r>
              <a:rPr lang="en-US" sz="1200" dirty="0"/>
              <a:t>Cluster Analysis</a:t>
            </a:r>
          </a:p>
          <a:p>
            <a:pPr algn="ctr"/>
            <a:r>
              <a:rPr lang="en-US" sz="1200" dirty="0"/>
              <a:t>Factor Analysis</a:t>
            </a:r>
          </a:p>
          <a:p>
            <a:pPr algn="ctr"/>
            <a:r>
              <a:rPr lang="en-US" sz="1200" dirty="0"/>
              <a:t>Trend</a:t>
            </a:r>
          </a:p>
          <a:p>
            <a:pPr algn="ctr"/>
            <a:r>
              <a:rPr lang="en-US" sz="1200" dirty="0"/>
              <a:t>Forecast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ECF19BD2-F9CB-C74E-844C-F3B50EB2935E}"/>
              </a:ext>
            </a:extLst>
          </p:cNvPr>
          <p:cNvSpPr/>
          <p:nvPr/>
        </p:nvSpPr>
        <p:spPr>
          <a:xfrm>
            <a:off x="1346858" y="2102984"/>
            <a:ext cx="3544444" cy="511628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Data Engineering and Management</a:t>
            </a:r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A89CC9CF-F2EC-6944-89F1-545E98EFB960}"/>
              </a:ext>
            </a:extLst>
          </p:cNvPr>
          <p:cNvCxnSpPr>
            <a:cxnSpLocks/>
          </p:cNvCxnSpPr>
          <p:nvPr/>
        </p:nvCxnSpPr>
        <p:spPr>
          <a:xfrm>
            <a:off x="7348724" y="1627272"/>
            <a:ext cx="0" cy="4259178"/>
          </a:xfrm>
          <a:prstGeom prst="line">
            <a:avLst/>
          </a:prstGeom>
          <a:ln w="50800"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Rectangle 20">
            <a:extLst>
              <a:ext uri="{FF2B5EF4-FFF2-40B4-BE49-F238E27FC236}">
                <a16:creationId xmlns:a16="http://schemas.microsoft.com/office/drawing/2014/main" id="{4E7DF3EB-8A71-5D41-8132-87D344A09EC8}"/>
              </a:ext>
            </a:extLst>
          </p:cNvPr>
          <p:cNvSpPr/>
          <p:nvPr/>
        </p:nvSpPr>
        <p:spPr>
          <a:xfrm>
            <a:off x="5518780" y="2110180"/>
            <a:ext cx="1714500" cy="511628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Business Intelligence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12B92567-0EB2-B44D-9A74-EE2E13AF1E78}"/>
              </a:ext>
            </a:extLst>
          </p:cNvPr>
          <p:cNvSpPr/>
          <p:nvPr/>
        </p:nvSpPr>
        <p:spPr>
          <a:xfrm>
            <a:off x="7441499" y="2110180"/>
            <a:ext cx="3521769" cy="511628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Data Science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D271F43F-5CA3-3740-88EA-0BB2F2212463}"/>
              </a:ext>
            </a:extLst>
          </p:cNvPr>
          <p:cNvSpPr txBox="1"/>
          <p:nvPr/>
        </p:nvSpPr>
        <p:spPr>
          <a:xfrm>
            <a:off x="7004366" y="5886450"/>
            <a:ext cx="68871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accent1">
                    <a:lumMod val="75000"/>
                  </a:schemeClr>
                </a:solidFill>
              </a:rPr>
              <a:t>NOW</a:t>
            </a:r>
          </a:p>
        </p:txBody>
      </p:sp>
    </p:spTree>
    <p:extLst>
      <p:ext uri="{BB962C8B-B14F-4D97-AF65-F5344CB8AC3E}">
        <p14:creationId xmlns:p14="http://schemas.microsoft.com/office/powerpoint/2010/main" val="301212445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3152FB-6A7C-C24A-9AC3-861B6E1612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Data Visualization is the Pivot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55B0019-4B01-E947-A4B2-CE6B418A73A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Traditional metrics and reporting tools have been nearly entirely “rearward looking”.</a:t>
            </a:r>
          </a:p>
          <a:p>
            <a:pPr lvl="1"/>
            <a:r>
              <a:rPr lang="en-US" dirty="0"/>
              <a:t>Able to answer questions of “what happened” quite well.</a:t>
            </a:r>
          </a:p>
          <a:p>
            <a:pPr lvl="1"/>
            <a:r>
              <a:rPr lang="en-US" dirty="0"/>
              <a:t>Able to answer questions in the manner in which they were expected to be answered.</a:t>
            </a:r>
          </a:p>
        </p:txBody>
      </p:sp>
      <p:pic>
        <p:nvPicPr>
          <p:cNvPr id="8" name="Picture 7" descr="A screenshot of a social media post&#10;&#10;Description automatically generated">
            <a:extLst>
              <a:ext uri="{FF2B5EF4-FFF2-40B4-BE49-F238E27FC236}">
                <a16:creationId xmlns:a16="http://schemas.microsoft.com/office/drawing/2014/main" id="{41803C6D-16FA-314C-8C3B-B0FDBE41D9B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59480" y="3764915"/>
            <a:ext cx="5273040" cy="27279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5206387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3152FB-6A7C-C24A-9AC3-861B6E1612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Data Visualization is the Pivot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55B0019-4B01-E947-A4B2-CE6B418A73A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Modern Data Science Techniques are “forward looking”.</a:t>
            </a:r>
          </a:p>
          <a:p>
            <a:pPr lvl="1"/>
            <a:r>
              <a:rPr lang="en-US" dirty="0"/>
              <a:t>Able to answer questions of “what might happen” quite well.</a:t>
            </a:r>
          </a:p>
          <a:p>
            <a:pPr lvl="1"/>
            <a:r>
              <a:rPr lang="en-US" dirty="0"/>
              <a:t>Able to answer questions </a:t>
            </a:r>
            <a:r>
              <a:rPr lang="en-US"/>
              <a:t>in novel </a:t>
            </a:r>
            <a:r>
              <a:rPr lang="en-US" dirty="0"/>
              <a:t>and unexpected ways.</a:t>
            </a:r>
          </a:p>
        </p:txBody>
      </p:sp>
      <p:pic>
        <p:nvPicPr>
          <p:cNvPr id="7" name="Picture 6" descr="A screenshot of a social media post&#10;&#10;Description automatically generated">
            <a:extLst>
              <a:ext uri="{FF2B5EF4-FFF2-40B4-BE49-F238E27FC236}">
                <a16:creationId xmlns:a16="http://schemas.microsoft.com/office/drawing/2014/main" id="{D7B4B26F-273B-E748-AF93-790E5920867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78530" y="3749675"/>
            <a:ext cx="5234940" cy="2743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3733240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3152FB-6A7C-C24A-9AC3-861B6E1612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Data Visualization is the Pivot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55B0019-4B01-E947-A4B2-CE6B418A73A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Business Intelligence is the Pivot</a:t>
            </a:r>
          </a:p>
          <a:p>
            <a:pPr lvl="1"/>
            <a:r>
              <a:rPr lang="en-US" dirty="0"/>
              <a:t>Business intelligence (BI) drives executive action.</a:t>
            </a:r>
          </a:p>
          <a:p>
            <a:pPr lvl="1"/>
            <a:r>
              <a:rPr lang="en-US" dirty="0"/>
              <a:t>Illustrates what is working, what isn’t.</a:t>
            </a:r>
          </a:p>
          <a:p>
            <a:pPr lvl="1"/>
            <a:r>
              <a:rPr lang="en-US" dirty="0"/>
              <a:t>Elicits new questions/directions.</a:t>
            </a:r>
          </a:p>
          <a:p>
            <a:pPr lvl="1"/>
            <a:r>
              <a:rPr lang="en-US" dirty="0"/>
              <a:t>Performs this task </a:t>
            </a:r>
            <a:r>
              <a:rPr lang="en-US" i="1" dirty="0"/>
              <a:t>visually</a:t>
            </a:r>
            <a:r>
              <a:rPr lang="en-US" dirty="0"/>
              <a:t>.</a:t>
            </a:r>
          </a:p>
        </p:txBody>
      </p:sp>
      <p:pic>
        <p:nvPicPr>
          <p:cNvPr id="5" name="Picture 4" descr="A screenshot of a social media post&#10;&#10;Description automatically generated">
            <a:extLst>
              <a:ext uri="{FF2B5EF4-FFF2-40B4-BE49-F238E27FC236}">
                <a16:creationId xmlns:a16="http://schemas.microsoft.com/office/drawing/2014/main" id="{75CA9BC2-A7CD-B54E-8239-7C3FD910CD6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89960" y="3780155"/>
            <a:ext cx="5212080" cy="27127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9546578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B15736-B8EA-C14D-B03C-8F0BA51B43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Data Visualization is the Pivot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2BA5E2D-1120-EA4D-9470-D87832B0AE6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Because the large majority of the results of BI analysis is presented visually, Data Visualization is the pivot between:</a:t>
            </a:r>
          </a:p>
          <a:p>
            <a:pPr lvl="1"/>
            <a:r>
              <a:rPr lang="en-US" dirty="0"/>
              <a:t>The Past (ANALYSIS)</a:t>
            </a:r>
          </a:p>
          <a:p>
            <a:pPr lvl="1"/>
            <a:r>
              <a:rPr lang="en-US" dirty="0"/>
              <a:t>The Future (ANALYTICS)</a:t>
            </a:r>
          </a:p>
        </p:txBody>
      </p:sp>
    </p:spTree>
    <p:extLst>
      <p:ext uri="{BB962C8B-B14F-4D97-AF65-F5344CB8AC3E}">
        <p14:creationId xmlns:p14="http://schemas.microsoft.com/office/powerpoint/2010/main" val="48656328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B8D7A0A7-727B-CC46-A188-865C8F278D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Business Intelligence Lifecycle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6620EB22-305A-054A-A2A0-E39DD99D3EF0}"/>
              </a:ext>
            </a:extLst>
          </p:cNvPr>
          <p:cNvSpPr/>
          <p:nvPr/>
        </p:nvSpPr>
        <p:spPr>
          <a:xfrm>
            <a:off x="3176802" y="2614612"/>
            <a:ext cx="1714500" cy="2643187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182880" rtlCol="0" anchor="t" anchorCtr="0"/>
          <a:lstStyle/>
          <a:p>
            <a:pPr algn="ctr"/>
            <a:endParaRPr lang="en-US" dirty="0">
              <a:solidFill>
                <a:srgbClr val="7030A0"/>
              </a:solidFill>
            </a:endParaRPr>
          </a:p>
          <a:p>
            <a:pPr algn="ctr"/>
            <a:r>
              <a:rPr lang="en-US" dirty="0">
                <a:solidFill>
                  <a:srgbClr val="7030A0"/>
                </a:solidFill>
              </a:rPr>
              <a:t>Big Data </a:t>
            </a:r>
          </a:p>
          <a:p>
            <a:pPr algn="ctr"/>
            <a:endParaRPr lang="en-US" dirty="0">
              <a:solidFill>
                <a:srgbClr val="7030A0"/>
              </a:solidFill>
            </a:endParaRPr>
          </a:p>
          <a:p>
            <a:pPr algn="ctr"/>
            <a:r>
              <a:rPr lang="en-US" sz="1200" dirty="0">
                <a:solidFill>
                  <a:srgbClr val="7030A0"/>
                </a:solidFill>
              </a:rPr>
              <a:t>Collection</a:t>
            </a:r>
          </a:p>
          <a:p>
            <a:pPr algn="ctr"/>
            <a:r>
              <a:rPr lang="en-US" sz="1200" dirty="0">
                <a:solidFill>
                  <a:srgbClr val="7030A0"/>
                </a:solidFill>
              </a:rPr>
              <a:t>Pre-processing</a:t>
            </a:r>
          </a:p>
          <a:p>
            <a:pPr algn="ctr"/>
            <a:r>
              <a:rPr lang="en-US" sz="1200" dirty="0">
                <a:solidFill>
                  <a:srgbClr val="7030A0"/>
                </a:solidFill>
              </a:rPr>
              <a:t>Cleansing</a:t>
            </a:r>
          </a:p>
          <a:p>
            <a:pPr algn="ctr"/>
            <a:r>
              <a:rPr lang="en-US" sz="1200" dirty="0">
                <a:solidFill>
                  <a:srgbClr val="7030A0"/>
                </a:solidFill>
              </a:rPr>
              <a:t>Optimization</a:t>
            </a:r>
          </a:p>
          <a:p>
            <a:pPr algn="ctr"/>
            <a:r>
              <a:rPr lang="en-US" sz="1200" dirty="0">
                <a:solidFill>
                  <a:srgbClr val="7030A0"/>
                </a:solidFill>
              </a:rPr>
              <a:t>Data Mining</a:t>
            </a:r>
            <a:endParaRPr lang="en-US" dirty="0">
              <a:solidFill>
                <a:srgbClr val="7030A0"/>
              </a:solidFill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4023DBE7-FAC3-F94C-9EDA-630EB7A58021}"/>
              </a:ext>
            </a:extLst>
          </p:cNvPr>
          <p:cNvSpPr/>
          <p:nvPr/>
        </p:nvSpPr>
        <p:spPr>
          <a:xfrm>
            <a:off x="1346858" y="2614612"/>
            <a:ext cx="1714500" cy="2643187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182880" rtlCol="0" anchor="t" anchorCtr="0"/>
          <a:lstStyle/>
          <a:p>
            <a:pPr algn="ctr"/>
            <a:endParaRPr lang="en-US" dirty="0">
              <a:solidFill>
                <a:srgbClr val="7030A0"/>
              </a:solidFill>
            </a:endParaRPr>
          </a:p>
          <a:p>
            <a:pPr algn="ctr"/>
            <a:r>
              <a:rPr lang="en-US" dirty="0">
                <a:solidFill>
                  <a:srgbClr val="7030A0"/>
                </a:solidFill>
              </a:rPr>
              <a:t>Traditional </a:t>
            </a:r>
          </a:p>
          <a:p>
            <a:pPr algn="ctr"/>
            <a:endParaRPr lang="en-US" dirty="0">
              <a:solidFill>
                <a:srgbClr val="7030A0"/>
              </a:solidFill>
            </a:endParaRPr>
          </a:p>
          <a:p>
            <a:pPr algn="ctr"/>
            <a:r>
              <a:rPr lang="en-US" sz="1200" dirty="0">
                <a:solidFill>
                  <a:srgbClr val="7030A0"/>
                </a:solidFill>
              </a:rPr>
              <a:t>Collection</a:t>
            </a:r>
          </a:p>
          <a:p>
            <a:pPr algn="ctr"/>
            <a:r>
              <a:rPr lang="en-US" sz="1200" dirty="0">
                <a:solidFill>
                  <a:srgbClr val="7030A0"/>
                </a:solidFill>
              </a:rPr>
              <a:t>Pre-processing</a:t>
            </a:r>
          </a:p>
          <a:p>
            <a:pPr algn="ctr"/>
            <a:r>
              <a:rPr lang="en-US" sz="1200" dirty="0">
                <a:solidFill>
                  <a:srgbClr val="7030A0"/>
                </a:solidFill>
              </a:rPr>
              <a:t>Cleansing</a:t>
            </a:r>
          </a:p>
          <a:p>
            <a:pPr algn="ctr"/>
            <a:r>
              <a:rPr lang="en-US" sz="1200" dirty="0">
                <a:solidFill>
                  <a:srgbClr val="7030A0"/>
                </a:solidFill>
              </a:rPr>
              <a:t>Optimization</a:t>
            </a:r>
          </a:p>
        </p:txBody>
      </p: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22F6AF8F-B9A2-1D45-AF1D-70075D9FE89B}"/>
              </a:ext>
            </a:extLst>
          </p:cNvPr>
          <p:cNvCxnSpPr/>
          <p:nvPr/>
        </p:nvCxnSpPr>
        <p:spPr>
          <a:xfrm>
            <a:off x="1228718" y="1627272"/>
            <a:ext cx="9043431" cy="0"/>
          </a:xfrm>
          <a:prstGeom prst="straightConnector1">
            <a:avLst/>
          </a:prstGeom>
          <a:ln w="50800"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Pentagon 8">
            <a:extLst>
              <a:ext uri="{FF2B5EF4-FFF2-40B4-BE49-F238E27FC236}">
                <a16:creationId xmlns:a16="http://schemas.microsoft.com/office/drawing/2014/main" id="{7E45F649-3E86-2943-A692-736167DB421E}"/>
              </a:ext>
            </a:extLst>
          </p:cNvPr>
          <p:cNvSpPr/>
          <p:nvPr/>
        </p:nvSpPr>
        <p:spPr>
          <a:xfrm>
            <a:off x="9360099" y="1411104"/>
            <a:ext cx="1603169" cy="432335"/>
          </a:xfrm>
          <a:prstGeom prst="homePlat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Future</a:t>
            </a:r>
          </a:p>
        </p:txBody>
      </p:sp>
      <p:sp>
        <p:nvSpPr>
          <p:cNvPr id="12" name="Pentagon 11">
            <a:extLst>
              <a:ext uri="{FF2B5EF4-FFF2-40B4-BE49-F238E27FC236}">
                <a16:creationId xmlns:a16="http://schemas.microsoft.com/office/drawing/2014/main" id="{95D0ACDE-72C1-7B41-9392-CF36D60C2C78}"/>
              </a:ext>
            </a:extLst>
          </p:cNvPr>
          <p:cNvSpPr/>
          <p:nvPr/>
        </p:nvSpPr>
        <p:spPr>
          <a:xfrm rot="10800000">
            <a:off x="1118252" y="1348222"/>
            <a:ext cx="1603169" cy="432335"/>
          </a:xfrm>
          <a:prstGeom prst="homePlat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5DE72DD0-C7E1-394E-B15B-4587FEBFF5A8}"/>
              </a:ext>
            </a:extLst>
          </p:cNvPr>
          <p:cNvSpPr/>
          <p:nvPr/>
        </p:nvSpPr>
        <p:spPr>
          <a:xfrm>
            <a:off x="1633283" y="1384878"/>
            <a:ext cx="57310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Past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C8454476-9994-1A42-8491-D011866D7D62}"/>
              </a:ext>
            </a:extLst>
          </p:cNvPr>
          <p:cNvSpPr/>
          <p:nvPr/>
        </p:nvSpPr>
        <p:spPr>
          <a:xfrm>
            <a:off x="5518780" y="2614612"/>
            <a:ext cx="1714500" cy="2643187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182880" rtlCol="0" anchor="t" anchorCtr="0"/>
          <a:lstStyle/>
          <a:p>
            <a:pPr algn="ctr"/>
            <a:endParaRPr lang="en-US" dirty="0">
              <a:solidFill>
                <a:srgbClr val="A754F1"/>
              </a:solidFill>
            </a:endParaRPr>
          </a:p>
          <a:p>
            <a:pPr algn="ctr"/>
            <a:r>
              <a:rPr lang="en-US" dirty="0">
                <a:solidFill>
                  <a:srgbClr val="A754F1"/>
                </a:solidFill>
              </a:rPr>
              <a:t>Analyze Data</a:t>
            </a:r>
          </a:p>
          <a:p>
            <a:pPr algn="ctr"/>
            <a:endParaRPr lang="en-US" dirty="0">
              <a:solidFill>
                <a:srgbClr val="A754F1"/>
              </a:solidFill>
            </a:endParaRPr>
          </a:p>
          <a:p>
            <a:pPr algn="ctr"/>
            <a:r>
              <a:rPr lang="en-US" sz="1200" dirty="0">
                <a:solidFill>
                  <a:srgbClr val="A754F1"/>
                </a:solidFill>
              </a:rPr>
              <a:t>Metrics/KPIs</a:t>
            </a:r>
          </a:p>
          <a:p>
            <a:pPr algn="ctr"/>
            <a:r>
              <a:rPr lang="en-US" sz="1200" dirty="0">
                <a:solidFill>
                  <a:srgbClr val="A754F1"/>
                </a:solidFill>
              </a:rPr>
              <a:t>Reports</a:t>
            </a:r>
          </a:p>
          <a:p>
            <a:pPr algn="ctr"/>
            <a:r>
              <a:rPr lang="en-US" sz="1200" dirty="0">
                <a:solidFill>
                  <a:srgbClr val="A754F1"/>
                </a:solidFill>
              </a:rPr>
              <a:t>Dashboards</a:t>
            </a:r>
            <a:endParaRPr lang="en-US" sz="1100" dirty="0">
              <a:solidFill>
                <a:srgbClr val="A754F1"/>
              </a:solidFill>
            </a:endParaRPr>
          </a:p>
          <a:p>
            <a:pPr algn="ctr"/>
            <a:endParaRPr lang="en-US" dirty="0"/>
          </a:p>
          <a:p>
            <a:pPr algn="ctr"/>
            <a:r>
              <a:rPr lang="en-US" b="1" dirty="0">
                <a:solidFill>
                  <a:srgbClr val="7030A0"/>
                </a:solidFill>
              </a:rPr>
              <a:t>Data Visualization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175A5092-CE9B-F14A-842F-661AB7BCBB03}"/>
              </a:ext>
            </a:extLst>
          </p:cNvPr>
          <p:cNvSpPr/>
          <p:nvPr/>
        </p:nvSpPr>
        <p:spPr>
          <a:xfrm>
            <a:off x="9252552" y="2614612"/>
            <a:ext cx="1714500" cy="2643187"/>
          </a:xfrm>
          <a:prstGeom prst="rect">
            <a:avLst/>
          </a:prstGeom>
          <a:solidFill>
            <a:srgbClr val="A754F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182880" rtlCol="0" anchor="t" anchorCtr="0"/>
          <a:lstStyle/>
          <a:p>
            <a:pPr algn="ctr"/>
            <a:r>
              <a:rPr lang="en-US" dirty="0"/>
              <a:t>Machine Learning/AI</a:t>
            </a:r>
          </a:p>
          <a:p>
            <a:pPr algn="ctr"/>
            <a:endParaRPr lang="en-US" dirty="0"/>
          </a:p>
          <a:p>
            <a:pPr algn="ctr"/>
            <a:r>
              <a:rPr lang="en-US" sz="1200" dirty="0"/>
              <a:t>Neural Networks</a:t>
            </a:r>
          </a:p>
          <a:p>
            <a:pPr algn="ctr"/>
            <a:r>
              <a:rPr lang="en-US" sz="1200" dirty="0"/>
              <a:t>Supervised Learning</a:t>
            </a:r>
          </a:p>
          <a:p>
            <a:pPr algn="ctr"/>
            <a:r>
              <a:rPr lang="en-US" sz="1200" dirty="0"/>
              <a:t>Unsupervised Learning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3A251A7D-E599-8440-9786-4511A630D5A7}"/>
              </a:ext>
            </a:extLst>
          </p:cNvPr>
          <p:cNvSpPr/>
          <p:nvPr/>
        </p:nvSpPr>
        <p:spPr>
          <a:xfrm>
            <a:off x="7441500" y="2614612"/>
            <a:ext cx="1714500" cy="2643187"/>
          </a:xfrm>
          <a:prstGeom prst="rect">
            <a:avLst/>
          </a:prstGeom>
          <a:solidFill>
            <a:srgbClr val="A754F1">
              <a:alpha val="50196"/>
            </a:srgb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182880" rtlCol="0" anchor="t" anchorCtr="0"/>
          <a:lstStyle/>
          <a:p>
            <a:pPr algn="ctr"/>
            <a:r>
              <a:rPr lang="en-US" dirty="0"/>
              <a:t>Traditional</a:t>
            </a:r>
          </a:p>
          <a:p>
            <a:pPr algn="ctr"/>
            <a:r>
              <a:rPr lang="en-US" dirty="0"/>
              <a:t>Statistics Based</a:t>
            </a:r>
          </a:p>
          <a:p>
            <a:pPr algn="ctr"/>
            <a:endParaRPr lang="en-US" dirty="0"/>
          </a:p>
          <a:p>
            <a:pPr algn="ctr"/>
            <a:r>
              <a:rPr lang="en-US" sz="1200" dirty="0"/>
              <a:t>Regression</a:t>
            </a:r>
          </a:p>
          <a:p>
            <a:pPr algn="ctr"/>
            <a:r>
              <a:rPr lang="en-US" sz="1200" dirty="0"/>
              <a:t>Cluster Analysis</a:t>
            </a:r>
          </a:p>
          <a:p>
            <a:pPr algn="ctr"/>
            <a:r>
              <a:rPr lang="en-US" sz="1200" dirty="0"/>
              <a:t>Factor Analysis</a:t>
            </a:r>
          </a:p>
          <a:p>
            <a:pPr algn="ctr"/>
            <a:r>
              <a:rPr lang="en-US" sz="1200" dirty="0"/>
              <a:t>Trend</a:t>
            </a:r>
          </a:p>
          <a:p>
            <a:pPr algn="ctr"/>
            <a:r>
              <a:rPr lang="en-US" sz="1200" dirty="0"/>
              <a:t>Forecast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ECF19BD2-F9CB-C74E-844C-F3B50EB2935E}"/>
              </a:ext>
            </a:extLst>
          </p:cNvPr>
          <p:cNvSpPr/>
          <p:nvPr/>
        </p:nvSpPr>
        <p:spPr>
          <a:xfrm>
            <a:off x="1346858" y="2102984"/>
            <a:ext cx="3544444" cy="511628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Data Engineering and Management</a:t>
            </a:r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A89CC9CF-F2EC-6944-89F1-545E98EFB960}"/>
              </a:ext>
            </a:extLst>
          </p:cNvPr>
          <p:cNvCxnSpPr>
            <a:cxnSpLocks/>
          </p:cNvCxnSpPr>
          <p:nvPr/>
        </p:nvCxnSpPr>
        <p:spPr>
          <a:xfrm>
            <a:off x="7348724" y="1627272"/>
            <a:ext cx="0" cy="4259178"/>
          </a:xfrm>
          <a:prstGeom prst="line">
            <a:avLst/>
          </a:prstGeom>
          <a:ln w="50800"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Rectangle 20">
            <a:extLst>
              <a:ext uri="{FF2B5EF4-FFF2-40B4-BE49-F238E27FC236}">
                <a16:creationId xmlns:a16="http://schemas.microsoft.com/office/drawing/2014/main" id="{4E7DF3EB-8A71-5D41-8132-87D344A09EC8}"/>
              </a:ext>
            </a:extLst>
          </p:cNvPr>
          <p:cNvSpPr/>
          <p:nvPr/>
        </p:nvSpPr>
        <p:spPr>
          <a:xfrm>
            <a:off x="5518780" y="2110180"/>
            <a:ext cx="1714500" cy="511628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Business Intelligence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12B92567-0EB2-B44D-9A74-EE2E13AF1E78}"/>
              </a:ext>
            </a:extLst>
          </p:cNvPr>
          <p:cNvSpPr/>
          <p:nvPr/>
        </p:nvSpPr>
        <p:spPr>
          <a:xfrm>
            <a:off x="7441499" y="2110180"/>
            <a:ext cx="3521769" cy="511628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Data Science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D271F43F-5CA3-3740-88EA-0BB2F2212463}"/>
              </a:ext>
            </a:extLst>
          </p:cNvPr>
          <p:cNvSpPr txBox="1"/>
          <p:nvPr/>
        </p:nvSpPr>
        <p:spPr>
          <a:xfrm>
            <a:off x="7004366" y="5886450"/>
            <a:ext cx="68871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accent1">
                    <a:lumMod val="75000"/>
                  </a:schemeClr>
                </a:solidFill>
              </a:rPr>
              <a:t>NOW</a:t>
            </a:r>
          </a:p>
        </p:txBody>
      </p:sp>
    </p:spTree>
    <p:extLst>
      <p:ext uri="{BB962C8B-B14F-4D97-AF65-F5344CB8AC3E}">
        <p14:creationId xmlns:p14="http://schemas.microsoft.com/office/powerpoint/2010/main" val="317349184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89</TotalTime>
  <Words>298</Words>
  <Application>Microsoft Macintosh PowerPoint</Application>
  <PresentationFormat>Widescreen</PresentationFormat>
  <Paragraphs>113</Paragraphs>
  <Slides>8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2" baseType="lpstr">
      <vt:lpstr>Arial</vt:lpstr>
      <vt:lpstr>Calibri</vt:lpstr>
      <vt:lpstr>Calibri Light</vt:lpstr>
      <vt:lpstr>Office Theme</vt:lpstr>
      <vt:lpstr>Data Visualization and the BI Lifecycle</vt:lpstr>
      <vt:lpstr>Data Visualization</vt:lpstr>
      <vt:lpstr>Business Intelligence Lifecycle</vt:lpstr>
      <vt:lpstr>Data Visualization is the Pivot</vt:lpstr>
      <vt:lpstr>Data Visualization is the Pivot</vt:lpstr>
      <vt:lpstr>Data Visualization is the Pivot</vt:lpstr>
      <vt:lpstr>Data Visualization is the Pivot</vt:lpstr>
      <vt:lpstr>Business Intelligence Lifecycle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 Visualization and the BI Lifecycle</dc:title>
  <dc:creator>Tripp, John</dc:creator>
  <cp:lastModifiedBy>John Tripp</cp:lastModifiedBy>
  <cp:revision>9</cp:revision>
  <dcterms:created xsi:type="dcterms:W3CDTF">2019-04-18T18:03:43Z</dcterms:created>
  <dcterms:modified xsi:type="dcterms:W3CDTF">2020-11-21T02:56:24Z</dcterms:modified>
</cp:coreProperties>
</file>