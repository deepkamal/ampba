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8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E6D5-4217-9342-9179-083271AF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E088F-ACB9-9C45-9CDB-39BF5DC28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573BF-89A7-7440-A838-51D3D95A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06B5-98B9-AD43-9C4E-538B85C2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8F492-AB3C-D94C-9E48-40CBEF6C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8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1870-E515-D845-A56D-D36B3E1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BA9CB-F41A-6A49-9E8E-63A360033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8C61E-C6F0-D847-969D-0E822721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2EC8-16AB-0B49-A67B-68F04B4B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5B47C-4824-D544-ABAA-A49CACF9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3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1E5C-D442-C94A-ACD4-324A96D5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AD629-8169-6A4A-B630-04389D543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7C585-9BF3-1742-BB9B-EF14A5E2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EC356-5213-4A4F-9099-D68C154E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A48B4-29CC-AF48-B820-EE769B66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0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95E6-DBB4-634C-B70D-14B7A92E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585E-982B-9148-B652-6A994B0DB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F73D7-04E2-BC42-81CC-734B6EEE6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5F9DE-5A56-DE49-89DD-A17D8DAF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7D16D-75B2-6543-AC20-F3CFFC25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FB367-7927-2B4F-9B58-38FF4BBE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36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E322-C2F5-1441-B978-51A88D75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6DAE-C354-E640-B1D9-A773B7949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5C196-D6AB-574A-BB19-90D2DA4C9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B9C9C-1205-114A-9AF7-912B323EA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404EF-3257-E74E-A5B2-AA5901F02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F8BB7-3167-EA48-A245-AB750F9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B4599-B240-D34A-8DBC-78CB790C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F45F6-7735-D44C-B7EA-C3A34227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8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0C2-FF06-4244-A774-E2CF0DCF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BC9AC-9EA0-0B46-A2AA-6E0DA804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8F5F2-DAD1-6C4E-AAD3-DF94D4C0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0D11C-7ADC-6640-92AE-BC133BB9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2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69DA2-9949-9A46-9716-8DD5D7F1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319E0-B307-5541-BB9D-F178495E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FEE73-C527-9E44-B27A-EA5C9135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7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ADE9-9527-C545-88BD-67F55660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F78A-684A-6547-B0AD-ECFC0759E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DEFC1-9765-1941-80D6-970D0DB1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A44CF-7C68-4D4D-BB48-B9D3FD65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0A470-D655-344E-96C2-9E181C96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30C79-07E1-DF48-92BC-0C3968E2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A33B-8CFA-4F4D-A277-6A9DBE66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6FE07-5234-5844-98AF-7DE5135E9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7604E-8F1C-2040-94EE-CEB966B8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3253F-295B-4245-BF58-ECD9F696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6BFBA-89CF-EF45-AEE4-6A782412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C1711-D8AB-9C4E-ABDB-DCC96633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5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492D-E035-784C-B028-22B71766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CC750-FF10-894A-9E08-999947773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2BAF5-D31A-5940-966E-BC676314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534ED-924E-8847-B9F5-8384800E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2326D-817E-7A41-BA3F-E280356EC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48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4ECDC-BFF7-8F49-8FC0-2302AD22C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C6676-C289-DF4D-96A6-62A6FCDE3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85F35-2CFF-424E-91C4-D8611C25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65244-3F9F-D048-ADB4-D89EA44A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92631-B28A-7547-9AF1-03398A3F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7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6F666-66E5-994A-9312-9348FCE3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C93FD-126E-B74F-A194-1BE1B3D88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1FFCF-ADBB-7546-B46D-E06A0E868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23F5C-2955-3944-9DA4-BC00A223853F}" type="datetimeFigureOut">
              <a:rPr lang="en-US" smtClean="0"/>
              <a:t>12/11/20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D306-9201-0F4B-A3F0-146EC542E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25071-5480-8E42-A7C8-8B36B15D1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49DEB-4EDC-8A40-B6E1-48879C499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6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DV_AMPBA@isb.ed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E00F-4020-944F-8340-AFC72AE96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br>
              <a:rPr lang="en-US" dirty="0"/>
            </a:br>
            <a:r>
              <a:rPr lang="en-US" dirty="0"/>
              <a:t>Bonus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B5CD0-D8AE-A041-9D9F-9673F96D23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8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F607-D380-AE4E-90A6-8075C096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6556-93A5-3442-B3A3-5A3318706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Query Procedure</a:t>
            </a:r>
          </a:p>
          <a:p>
            <a:r>
              <a:rPr lang="en-US" dirty="0"/>
              <a:t>Discuss Exam</a:t>
            </a:r>
          </a:p>
          <a:p>
            <a:r>
              <a:rPr lang="en-US" dirty="0"/>
              <a:t>New Tableau Stuff:</a:t>
            </a:r>
          </a:p>
          <a:p>
            <a:pPr lvl="1"/>
            <a:r>
              <a:rPr lang="en-US" dirty="0"/>
              <a:t>Radial Bar Chart</a:t>
            </a:r>
          </a:p>
          <a:p>
            <a:pPr lvl="1"/>
            <a:r>
              <a:rPr lang="en-US" dirty="0"/>
              <a:t>Level of Detail Expressions</a:t>
            </a:r>
          </a:p>
          <a:p>
            <a:pPr lvl="1"/>
            <a:r>
              <a:rPr lang="en-US" dirty="0"/>
              <a:t>Geographic Calculations</a:t>
            </a:r>
          </a:p>
          <a:p>
            <a:r>
              <a:rPr lang="en-US" dirty="0"/>
              <a:t>Course Wrap-Up</a:t>
            </a:r>
          </a:p>
        </p:txBody>
      </p:sp>
    </p:spTree>
    <p:extLst>
      <p:ext uri="{BB962C8B-B14F-4D97-AF65-F5344CB8AC3E}">
        <p14:creationId xmlns:p14="http://schemas.microsoft.com/office/powerpoint/2010/main" val="316264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175A-E954-904A-9A8F-789B07B7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08149-7013-9F45-98A0-08551DE5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remember the query procedure.</a:t>
            </a:r>
          </a:p>
          <a:p>
            <a:pPr lvl="1"/>
            <a:r>
              <a:rPr lang="en-US" dirty="0"/>
              <a:t>You must first contact Aditya at:</a:t>
            </a:r>
          </a:p>
          <a:p>
            <a:pPr lvl="2"/>
            <a:r>
              <a:rPr lang="en-US" dirty="0">
                <a:hlinkClick r:id="rId2"/>
              </a:rPr>
              <a:t>DV_AMPBA@isb.edu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If he cannot answer, he will forward to me.</a:t>
            </a:r>
          </a:p>
          <a:p>
            <a:endParaRPr lang="en-US" dirty="0"/>
          </a:p>
          <a:p>
            <a:r>
              <a:rPr lang="en-US" dirty="0"/>
              <a:t>Please see escalation timeline on LMS</a:t>
            </a:r>
          </a:p>
        </p:txBody>
      </p:sp>
    </p:spTree>
    <p:extLst>
      <p:ext uri="{BB962C8B-B14F-4D97-AF65-F5344CB8AC3E}">
        <p14:creationId xmlns:p14="http://schemas.microsoft.com/office/powerpoint/2010/main" val="71291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79BA-1E34-8E40-B315-2810B4C6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F22F3-17A6-AE4E-A6E3-CFA74DD04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20-25 Multiple Choice Questions (40% of Grade)</a:t>
            </a:r>
          </a:p>
          <a:p>
            <a:r>
              <a:rPr lang="en-US" dirty="0"/>
              <a:t>Hands On Tableau (60% of Grade)</a:t>
            </a:r>
          </a:p>
          <a:p>
            <a:endParaRPr lang="en-US" dirty="0"/>
          </a:p>
          <a:p>
            <a:r>
              <a:rPr lang="en-US" dirty="0"/>
              <a:t>You should not spend more than about 20 minutes on the multiple choice. Otherwise, you will not have time to complete the Tableau.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78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B83B-9EF7-AA4C-8B4F-0C017E55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Choice/Fill In Blanks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E841-583E-C943-9E82-03D8A652F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of these will be based on doing something with the Tableau Superstore data set.</a:t>
            </a:r>
          </a:p>
          <a:p>
            <a:r>
              <a:rPr lang="en-US" dirty="0"/>
              <a:t>Study:</a:t>
            </a:r>
          </a:p>
          <a:p>
            <a:pPr lvl="1"/>
            <a:r>
              <a:rPr lang="en-US" dirty="0"/>
              <a:t>Tufte Rules</a:t>
            </a:r>
          </a:p>
          <a:p>
            <a:pPr lvl="1"/>
            <a:r>
              <a:rPr lang="en-US" dirty="0"/>
              <a:t>Meta-Rules</a:t>
            </a:r>
          </a:p>
          <a:p>
            <a:pPr lvl="1"/>
            <a:r>
              <a:rPr lang="en-US" dirty="0"/>
              <a:t>Gestalt principles</a:t>
            </a:r>
          </a:p>
          <a:p>
            <a:pPr lvl="1"/>
            <a:r>
              <a:rPr lang="en-US" i="1" dirty="0"/>
              <a:t>Why</a:t>
            </a:r>
            <a:r>
              <a:rPr lang="en-US" dirty="0"/>
              <a:t> we use the graphs we’ve discussed.</a:t>
            </a:r>
          </a:p>
          <a:p>
            <a:pPr lvl="1"/>
            <a:endParaRPr lang="en-US" i="1" dirty="0"/>
          </a:p>
          <a:p>
            <a:r>
              <a:rPr lang="en-US" dirty="0"/>
              <a:t>Functions in Tableau that we’ve used to do “non-standard” things.</a:t>
            </a:r>
          </a:p>
        </p:txBody>
      </p:sp>
    </p:spTree>
    <p:extLst>
      <p:ext uri="{BB962C8B-B14F-4D97-AF65-F5344CB8AC3E}">
        <p14:creationId xmlns:p14="http://schemas.microsoft.com/office/powerpoint/2010/main" val="166129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1495-5795-0748-9A27-77048489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Stuff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489A6-A5DC-D442-B4BF-78B9F3EF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Charts:</a:t>
            </a:r>
          </a:p>
          <a:p>
            <a:pPr lvl="1"/>
            <a:r>
              <a:rPr lang="en-US" dirty="0"/>
              <a:t>Anything we’ve used from “Show Me”</a:t>
            </a:r>
          </a:p>
          <a:p>
            <a:pPr lvl="1"/>
            <a:r>
              <a:rPr lang="en-US" dirty="0"/>
              <a:t>Pareto Charts</a:t>
            </a:r>
          </a:p>
          <a:p>
            <a:pPr lvl="1"/>
            <a:r>
              <a:rPr lang="en-US" dirty="0"/>
              <a:t>Maps</a:t>
            </a:r>
          </a:p>
          <a:p>
            <a:pPr lvl="1"/>
            <a:r>
              <a:rPr lang="en-US" dirty="0"/>
              <a:t>Sparklines (review the hands on!)</a:t>
            </a:r>
          </a:p>
          <a:p>
            <a:pPr lvl="1"/>
            <a:r>
              <a:rPr lang="en-US" dirty="0"/>
              <a:t>Bullet Graphs (review the hands on!)</a:t>
            </a:r>
          </a:p>
          <a:p>
            <a:r>
              <a:rPr lang="en-US" dirty="0"/>
              <a:t>Level of Detail Expressions</a:t>
            </a:r>
          </a:p>
          <a:p>
            <a:r>
              <a:rPr lang="en-US" dirty="0"/>
              <a:t>Tool Tips</a:t>
            </a:r>
          </a:p>
        </p:txBody>
      </p:sp>
    </p:spTree>
    <p:extLst>
      <p:ext uri="{BB962C8B-B14F-4D97-AF65-F5344CB8AC3E}">
        <p14:creationId xmlns:p14="http://schemas.microsoft.com/office/powerpoint/2010/main" val="260527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C5DD-0695-CC4B-A6C2-0C2182FB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83D2-666E-8943-8DF0-E2A33DD0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Tableau is worth 60%</a:t>
            </a:r>
          </a:p>
          <a:p>
            <a:pPr lvl="1"/>
            <a:r>
              <a:rPr lang="en-US" dirty="0"/>
              <a:t>If you don’t turn in as PACKAGED workbook, then you lose 10% of total grade off the top.</a:t>
            </a:r>
          </a:p>
          <a:p>
            <a:r>
              <a:rPr lang="en-US" dirty="0"/>
              <a:t>“Quiz” is worth 40%</a:t>
            </a:r>
          </a:p>
          <a:p>
            <a:endParaRPr lang="en-US" dirty="0"/>
          </a:p>
          <a:p>
            <a:r>
              <a:rPr lang="en-US" dirty="0"/>
              <a:t>I do NOT expect that everyone will be able to complete all the work before the 2-hour limit is reached. </a:t>
            </a:r>
          </a:p>
          <a:p>
            <a:pPr lvl="1"/>
            <a:r>
              <a:rPr lang="en-US" dirty="0"/>
              <a:t>Don’t worry about that. Grades will be curved to meet the defined distribution for the program.</a:t>
            </a:r>
          </a:p>
          <a:p>
            <a:pPr lvl="1"/>
            <a:r>
              <a:rPr lang="en-US" dirty="0"/>
              <a:t>Your goal should be to “beat the mean” – which is another reason (beyond the honor code) that you SHOULD NOT HELP ONE ANOTHER.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1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301</Words>
  <Application>Microsoft Macintosh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Data Visualization Bonus Session</vt:lpstr>
      <vt:lpstr>Agenda</vt:lpstr>
      <vt:lpstr>Query Procedure</vt:lpstr>
      <vt:lpstr>Exam Format</vt:lpstr>
      <vt:lpstr>Multiple Choice/Fill In Blanks </vt:lpstr>
      <vt:lpstr>Tableau Stuff </vt:lpstr>
      <vt:lpstr>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Bonus Session</dc:title>
  <dc:creator>John Tripp</dc:creator>
  <cp:lastModifiedBy>John Tripp</cp:lastModifiedBy>
  <cp:revision>2</cp:revision>
  <dcterms:created xsi:type="dcterms:W3CDTF">2020-12-12T01:56:15Z</dcterms:created>
  <dcterms:modified xsi:type="dcterms:W3CDTF">2020-12-12T02:19:12Z</dcterms:modified>
</cp:coreProperties>
</file>