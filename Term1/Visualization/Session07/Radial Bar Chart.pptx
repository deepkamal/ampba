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95AA-21E0-3A4D-BCE1-A8C221D0B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7CD63-D1F9-9F42-92D8-F18DEFA13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05AFC-AFEA-7D4D-9BE2-5B900548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86FE-2B5B-E44C-A8B7-3AB79AEE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B6548-23CC-0A40-BEEE-CC227135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5AC9-2D02-384F-8521-B4561D51C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D2C9-F2FB-D34F-8524-F02F12F6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718E6-A94D-9240-9050-2CDBA803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C679D-288D-D341-A984-821B7C39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90F2B-DE3F-DC40-9BFF-ADD00CA2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087B-EDA9-F344-906C-27657D90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57FD8-A1E3-3B48-B548-5E3AF83A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A6157-7A20-7D40-B851-3237B6BB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DD7A0-B228-D445-B3EA-5914BE1A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E7459-D6B5-754E-AD93-CC223703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1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CCA2-1CBE-4749-895D-12DC0012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4C40-8235-0E45-9B94-0C1A46CB1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06155-E1E6-2443-B0C1-584FD7197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22E1E-73E8-DF4D-A521-0EC27829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81838-2D9B-3442-A61F-5BA2DEE5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EFA9B-3E88-A642-9BD6-3BF7820E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5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9DBC-E480-9B4C-ABC4-A9E3363D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5F010-8467-9143-A9BB-5FF09C9D7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896C2-C4B5-9A4C-8522-3A297F83F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0B10E-41EB-1E4D-B646-8CC70FC0B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290F5-8367-5D4D-BD2A-5A452BDF6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58B30-8FA5-7345-883B-9931C203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0844B-BC1C-584D-8700-481EB815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CBDA5-C34C-AE43-AC72-8CC3AA5B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8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CAA0-73BE-F245-9751-52682E21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BDD3C-49D0-9A49-825F-2C4D3D25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0BFDF-4708-F148-8A48-766ADF001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ACBD7-5CEA-D443-85EB-EA16AAB5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2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E1F5E-D7AE-B347-917D-A2445830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98055-2B32-7349-BED1-58C99D03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993CB-1077-7F47-B2D8-4B57F6B4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1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D4BD-0418-1F4B-A1E7-BBDA697A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C18F7-5F8B-8741-AFD3-4546F2A6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93917-2AEE-C04B-A3DA-4CE3B4EEB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28353-BB9E-9745-B4FC-A7F02D8B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6A7A4-410B-BE40-8670-30ADD30E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FBB99-2CF5-F94D-9087-A034DD20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4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268F-E5C3-CA4A-9937-31F668D7F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51985-0A50-0E49-A22E-7399B39B5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0FEF5-C3AD-B04E-BA16-97B2934BB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A3250-D9E0-C54F-919B-8B3FBEFBB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3B604-761D-FF4A-8820-FD35383D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549A8-A49E-D649-B1F2-570A835B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2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B158-4EFD-1E42-97D3-E1B3A3C9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6BA27-4AB2-7042-8E71-CE53F5B6B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7E54-64A7-8D4B-82A7-F5FCB1C4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9FEE-3A5D-724B-A5F1-964EE095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67FEC-9B7F-EB47-9895-85D434C7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2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CB415-021F-3544-9D19-A0478C431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EF796-4051-3C44-8C1A-4992F93FD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60E6-DB64-EC48-BA4B-41688425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BC868-9DFE-A44A-AB8E-DE3AF3DA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34EE-606A-0043-A156-E2140873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4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EC360-858F-D34D-95D0-4498DB5A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3EE29-7AF5-6C43-A4AD-CC9530D66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09CB6-E50C-3546-BDC7-37194655E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1CAC8-2007-0342-B448-F9BB259157DE}" type="datetimeFigureOut">
              <a:rPr lang="en-US" smtClean="0"/>
              <a:t>6/5/20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2FB7-924D-1F49-AF5B-B8F261975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C08C-9202-094F-A637-C0350A7A9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6B5BE-D622-A042-AD20-8C29139B2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4CCA-31AA-6746-A9FA-8CD385F987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Charts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9D166-6B28-544F-AE2F-AFA5C2B15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Radial Bar Chart</a:t>
            </a:r>
          </a:p>
        </p:txBody>
      </p:sp>
    </p:spTree>
    <p:extLst>
      <p:ext uri="{BB962C8B-B14F-4D97-AF65-F5344CB8AC3E}">
        <p14:creationId xmlns:p14="http://schemas.microsoft.com/office/powerpoint/2010/main" val="48742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CC54-2E78-E544-9BD5-B410763F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80731-36F5-9A4D-AB32-EEB1C8C7A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0490" cy="4351338"/>
          </a:xfrm>
        </p:spPr>
        <p:txBody>
          <a:bodyPr/>
          <a:lstStyle/>
          <a:p>
            <a:r>
              <a:rPr lang="en-US" dirty="0"/>
              <a:t>The Radial Bar Chart is a circular bar chart.</a:t>
            </a:r>
          </a:p>
          <a:p>
            <a:r>
              <a:rPr lang="en-US" dirty="0"/>
              <a:t>The highest value is plotted, and all other values are plotted compared to the highest value.</a:t>
            </a:r>
          </a:p>
          <a:p>
            <a:r>
              <a:rPr lang="en-US" dirty="0"/>
              <a:t>The highest value is plotted as 270 degrees around the circle.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6A147310-FC65-6744-9E9B-C61373A6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415" y="1590120"/>
            <a:ext cx="4580894" cy="482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0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2E1C-2CA1-6D47-8FCE-6791BD9B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C46E0-8C90-344E-8663-7B38D2C3F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First, create a new Tableau file and open </a:t>
            </a:r>
            <a:r>
              <a:rPr lang="en-US" b="1" i="1" dirty="0"/>
              <a:t>Data Science-Survey-</a:t>
            </a:r>
            <a:r>
              <a:rPr lang="en-US" b="1" i="1" dirty="0" err="1"/>
              <a:t>Data.csv</a:t>
            </a:r>
            <a:endParaRPr lang="en-US" b="1" i="1" dirty="0"/>
          </a:p>
          <a:p>
            <a:r>
              <a:rPr lang="en-US" dirty="0"/>
              <a:t>Add Data Science-Survey-Data to the data source, then UNION it to itself.</a:t>
            </a:r>
          </a:p>
          <a:p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1AB689-48C0-C34B-9559-9D036EADC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94" y="3228583"/>
            <a:ext cx="2997200" cy="109220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A599B85-1A22-5944-AC8F-27E3651B2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406" y="3228583"/>
            <a:ext cx="3713329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B5300-B1D0-5F40-992C-C18234779887}"/>
              </a:ext>
            </a:extLst>
          </p:cNvPr>
          <p:cNvSpPr txBox="1"/>
          <p:nvPr/>
        </p:nvSpPr>
        <p:spPr>
          <a:xfrm>
            <a:off x="2818356" y="5210827"/>
            <a:ext cx="361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finished it will look like this -&gt; </a:t>
            </a:r>
          </a:p>
        </p:txBody>
      </p:sp>
    </p:spTree>
    <p:extLst>
      <p:ext uri="{BB962C8B-B14F-4D97-AF65-F5344CB8AC3E}">
        <p14:creationId xmlns:p14="http://schemas.microsoft.com/office/powerpoint/2010/main" val="358998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2E1C-2CA1-6D47-8FCE-6791BD9B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C46E0-8C90-344E-8663-7B38D2C3F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First, create a new Tableau file and open </a:t>
            </a:r>
            <a:r>
              <a:rPr lang="en-US" b="1" i="1" dirty="0"/>
              <a:t>Data Science-Survey-</a:t>
            </a:r>
            <a:r>
              <a:rPr lang="en-US" b="1" i="1" dirty="0" err="1"/>
              <a:t>Data.csv</a:t>
            </a:r>
            <a:endParaRPr lang="en-US" b="1" i="1" dirty="0"/>
          </a:p>
          <a:p>
            <a:r>
              <a:rPr lang="en-US" dirty="0"/>
              <a:t>Add Data Science-Survey-Data to the data source, then UNION it to itself.</a:t>
            </a:r>
          </a:p>
          <a:p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1AB689-48C0-C34B-9559-9D036EADC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94" y="3228583"/>
            <a:ext cx="2997200" cy="109220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A599B85-1A22-5944-AC8F-27E3651B2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406" y="3228583"/>
            <a:ext cx="3713329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B5300-B1D0-5F40-992C-C18234779887}"/>
              </a:ext>
            </a:extLst>
          </p:cNvPr>
          <p:cNvSpPr txBox="1"/>
          <p:nvPr/>
        </p:nvSpPr>
        <p:spPr>
          <a:xfrm>
            <a:off x="2818356" y="5210827"/>
            <a:ext cx="361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finished it will look like this -&gt; </a:t>
            </a:r>
          </a:p>
        </p:txBody>
      </p:sp>
    </p:spTree>
    <p:extLst>
      <p:ext uri="{BB962C8B-B14F-4D97-AF65-F5344CB8AC3E}">
        <p14:creationId xmlns:p14="http://schemas.microsoft.com/office/powerpoint/2010/main" val="69305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F5DD-7F51-304B-953F-C1CD9F42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DE45-57C7-1D4B-AF6C-BAA1449B0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new calculated field called “Path”</a:t>
            </a:r>
          </a:p>
          <a:p>
            <a:r>
              <a:rPr lang="en-US" dirty="0"/>
              <a:t>Formula:</a:t>
            </a:r>
          </a:p>
          <a:p>
            <a:pPr marL="457200" lvl="1" indent="0">
              <a:buNone/>
            </a:pPr>
            <a:r>
              <a:rPr lang="en-US" dirty="0"/>
              <a:t>﻿IF [Table Name] = ﻿'Data Science-Survey-</a:t>
            </a:r>
            <a:r>
              <a:rPr lang="en-US" dirty="0" err="1"/>
              <a:t>Data.csv</a:t>
            </a:r>
            <a:r>
              <a:rPr lang="en-US" dirty="0"/>
              <a:t>'</a:t>
            </a:r>
          </a:p>
          <a:p>
            <a:pPr marL="457200" lvl="1" indent="0">
              <a:buNone/>
            </a:pPr>
            <a:r>
              <a:rPr lang="en-US" dirty="0"/>
              <a:t>THEN 0 </a:t>
            </a:r>
          </a:p>
          <a:p>
            <a:pPr marL="457200" lvl="1" indent="0">
              <a:buNone/>
            </a:pPr>
            <a:r>
              <a:rPr lang="en-US" dirty="0"/>
              <a:t>ELSE [Response]*270/{MAX([Response])}</a:t>
            </a:r>
          </a:p>
          <a:p>
            <a:pPr marL="457200" lvl="1" indent="0">
              <a:buNone/>
            </a:pPr>
            <a:r>
              <a:rPr lang="en-US" dirty="0"/>
              <a:t>END</a:t>
            </a:r>
          </a:p>
          <a:p>
            <a:r>
              <a:rPr lang="en-US" dirty="0"/>
              <a:t>Change “Path” to a Dimension</a:t>
            </a:r>
          </a:p>
          <a:p>
            <a:pPr marL="0" indent="0">
              <a:buNone/>
            </a:pPr>
            <a:r>
              <a:rPr lang="en-US" sz="1800" dirty="0"/>
              <a:t>This creates a field that will be used to direct the path of the radial lines. The number 270 is used to denote 270 degrees. This step creates a field called “Path” with a number that is a ratio of each value to the highest value between 0 and 270.</a:t>
            </a:r>
          </a:p>
        </p:txBody>
      </p:sp>
    </p:spTree>
    <p:extLst>
      <p:ext uri="{BB962C8B-B14F-4D97-AF65-F5344CB8AC3E}">
        <p14:creationId xmlns:p14="http://schemas.microsoft.com/office/powerpoint/2010/main" val="166591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F5DD-7F51-304B-953F-C1CD9F42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DE45-57C7-1D4B-AF6C-BAA1449B0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“Path (bin)” field with bin size of 1.</a:t>
            </a:r>
            <a:endParaRPr lang="en-US" sz="1400" dirty="0"/>
          </a:p>
          <a:p>
            <a:pPr lvl="1"/>
            <a:r>
              <a:rPr lang="en-US" dirty="0"/>
              <a:t>Right click on “Path” and choose Create-&gt; Bin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2C9F8CE-DDD8-1749-A8C4-6918EEB3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0" y="3111500"/>
            <a:ext cx="69215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7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D17-4144-DB43-926C-5A8B1D49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8AAA-A2A4-0940-9459-C303529E5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several fields for calculation:</a:t>
            </a:r>
          </a:p>
          <a:p>
            <a:endParaRPr lang="en-US" dirty="0"/>
          </a:p>
          <a:p>
            <a:pPr lvl="1"/>
            <a:r>
              <a:rPr lang="en-US" dirty="0"/>
              <a:t>“Pi” – 3.14159</a:t>
            </a:r>
          </a:p>
          <a:p>
            <a:pPr lvl="1"/>
            <a:r>
              <a:rPr lang="en-US" dirty="0"/>
              <a:t>“Rank” - ﻿Rank(-SUM([Response]))  // Creates a reverse rank</a:t>
            </a:r>
          </a:p>
          <a:p>
            <a:pPr lvl="1"/>
            <a:r>
              <a:rPr lang="en-US" dirty="0"/>
              <a:t>“Rank Max” - ﻿WINDOW_MAX( [Rank] ) </a:t>
            </a:r>
          </a:p>
          <a:p>
            <a:pPr lvl="1"/>
            <a:r>
              <a:rPr lang="en-US" dirty="0"/>
              <a:t>“Response Percent” - ﻿[Response]/100</a:t>
            </a:r>
          </a:p>
          <a:p>
            <a:pPr lvl="1"/>
            <a:r>
              <a:rPr lang="en-US" dirty="0"/>
              <a:t>“X” - ﻿COS((Index()-1)*[Pi]/180)*[Rank Max]</a:t>
            </a:r>
          </a:p>
          <a:p>
            <a:pPr lvl="1"/>
            <a:r>
              <a:rPr lang="en-US" dirty="0"/>
              <a:t>“Y” - ﻿SIN((INDEX()-1)*[Pi]/180)*[Rank Max]</a:t>
            </a:r>
          </a:p>
        </p:txBody>
      </p:sp>
    </p:spTree>
    <p:extLst>
      <p:ext uri="{BB962C8B-B14F-4D97-AF65-F5344CB8AC3E}">
        <p14:creationId xmlns:p14="http://schemas.microsoft.com/office/powerpoint/2010/main" val="330970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D17-4144-DB43-926C-5A8B1D49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8AAA-A2A4-0940-9459-C303529E5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mark type to “Line”</a:t>
            </a:r>
          </a:p>
          <a:p>
            <a:r>
              <a:rPr lang="en-US" dirty="0"/>
              <a:t>Move Path (bin) to Path on the Marks Card</a:t>
            </a:r>
          </a:p>
          <a:p>
            <a:r>
              <a:rPr lang="en-US" dirty="0"/>
              <a:t>Add Y to Columns</a:t>
            </a:r>
          </a:p>
          <a:p>
            <a:r>
              <a:rPr lang="en-US" dirty="0"/>
              <a:t>Add X to Rows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AA4B310-1A57-D549-9586-CABD8638A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788" y="2882900"/>
            <a:ext cx="5260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2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D17-4144-DB43-926C-5A8B1D49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8AAA-A2A4-0940-9459-C303529E5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2453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Edit table calculations – make sure that:</a:t>
            </a:r>
          </a:p>
          <a:p>
            <a:r>
              <a:rPr lang="en-US" dirty="0"/>
              <a:t>X &amp; Y are computed along Path(bin)</a:t>
            </a:r>
          </a:p>
          <a:p>
            <a:r>
              <a:rPr lang="en-US" dirty="0"/>
              <a:t>Rank Max is computed along Path(bin)</a:t>
            </a:r>
          </a:p>
          <a:p>
            <a:r>
              <a:rPr lang="en-US" dirty="0"/>
              <a:t>Rank is computed along Description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2B21F3A0-887B-F441-AA81-2A71BA89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878" y="1852113"/>
            <a:ext cx="2278530" cy="3153774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7F59F7CE-0D81-A04F-B0CA-3BAE05E1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928" y="1852113"/>
            <a:ext cx="2423022" cy="315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2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D17-4144-DB43-926C-5A8B1D49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8AAA-A2A4-0940-9459-C303529E5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529268"/>
          </a:xfrm>
        </p:spPr>
        <p:txBody>
          <a:bodyPr>
            <a:normAutofit/>
          </a:bodyPr>
          <a:lstStyle/>
          <a:p>
            <a:r>
              <a:rPr lang="en-US" dirty="0"/>
              <a:t>The chart should look like this:</a:t>
            </a:r>
          </a:p>
        </p:txBody>
      </p:sp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D8A3EE8-B4CB-6D4B-B3E8-B49CE5A5F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56" y="1602128"/>
            <a:ext cx="4792907" cy="431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5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E87A-F3EB-F142-9DB8-63219F95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BD83C-07E3-564F-8CFA-EAE6CDB61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the Size Mark slider almost all the way to the right.</a:t>
            </a:r>
          </a:p>
          <a:p>
            <a:r>
              <a:rPr lang="en-US" dirty="0"/>
              <a:t>Add Description and Response Percent to the Label Mark.</a:t>
            </a:r>
          </a:p>
          <a:p>
            <a:r>
              <a:rPr lang="en-US" dirty="0"/>
              <a:t>Show label at start of line, match mark color, and reformat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CD9A3D8-A3C0-3B42-AB5F-DB691D1A0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170" y="3578999"/>
            <a:ext cx="3389553" cy="205018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C7A3C60-8FE1-ED4A-92DA-1AC77C51A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221" y="3319541"/>
            <a:ext cx="1760168" cy="2569097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C001B7-BC79-7A4F-98DA-86506FA45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747" y="3319541"/>
            <a:ext cx="1582565" cy="272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05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E87A-F3EB-F142-9DB8-63219F95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Radial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BD83C-07E3-564F-8CFA-EAE6CDB61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X &amp; Y Axis headers</a:t>
            </a:r>
          </a:p>
          <a:p>
            <a:r>
              <a:rPr lang="en-US" dirty="0"/>
              <a:t>Go to Format Pane, and for columns and rows remove:</a:t>
            </a:r>
          </a:p>
          <a:p>
            <a:pPr lvl="1"/>
            <a:r>
              <a:rPr lang="en-US" dirty="0"/>
              <a:t>Gridlines</a:t>
            </a:r>
          </a:p>
          <a:p>
            <a:pPr lvl="1"/>
            <a:r>
              <a:rPr lang="en-US" dirty="0"/>
              <a:t>Zero lines</a:t>
            </a:r>
          </a:p>
        </p:txBody>
      </p:sp>
      <p:pic>
        <p:nvPicPr>
          <p:cNvPr id="6" name="Picture 5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DBBED582-20F6-3A45-9178-54B8862B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746" y="2861355"/>
            <a:ext cx="3911225" cy="390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495</Words>
  <Application>Microsoft Macintosh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Advanced Charts</vt:lpstr>
      <vt:lpstr>Radial Bar Chart</vt:lpstr>
      <vt:lpstr>Building the Radial Bar Chart</vt:lpstr>
      <vt:lpstr>Building the Radial Bar Chart</vt:lpstr>
      <vt:lpstr>Building the Radial Bar Chart</vt:lpstr>
      <vt:lpstr>Building the Radial Bar Chart</vt:lpstr>
      <vt:lpstr>Building the Radial Bar Chart</vt:lpstr>
      <vt:lpstr>Building the Radial Bar Chart</vt:lpstr>
      <vt:lpstr>Building the Radial Bar Chart</vt:lpstr>
      <vt:lpstr>Building the Radial Bar Chart</vt:lpstr>
      <vt:lpstr>Building the Radial Bar Chart</vt:lpstr>
      <vt:lpstr>Building the Radial Bar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Charts</dc:title>
  <dc:creator>John Frederick Tripp</dc:creator>
  <cp:lastModifiedBy>John Frederick Tripp</cp:lastModifiedBy>
  <cp:revision>11</cp:revision>
  <dcterms:created xsi:type="dcterms:W3CDTF">2020-06-06T00:40:40Z</dcterms:created>
  <dcterms:modified xsi:type="dcterms:W3CDTF">2020-06-06T02:20:00Z</dcterms:modified>
</cp:coreProperties>
</file>