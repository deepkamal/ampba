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6327"/>
  </p:normalViewPr>
  <p:slideViewPr>
    <p:cSldViewPr snapToGrid="0" snapToObjects="1">
      <p:cViewPr varScale="1">
        <p:scale>
          <a:sx n="124" d="100"/>
          <a:sy n="124" d="100"/>
        </p:scale>
        <p:origin x="5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D8CA5-B43B-A94A-BCAD-1997F9B9FB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CE2E4A-6B66-B14E-B7C7-79CE58CA65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E7C50-EE1B-9D42-8E53-749CB32E0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42D71-95A3-F348-9194-2114BEDC2171}" type="datetimeFigureOut">
              <a:rPr lang="en-US" smtClean="0"/>
              <a:t>12/11/20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D4440-3676-2346-850C-0482EF3D0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F3A97-7AD2-ED47-9551-97A3BF6E3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D7BC9-6181-994E-9CD9-4D36D1D23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747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FB62B-E3D0-A948-A970-A375F4AA8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61F1C-22CE-DB40-B070-C17A6F47D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069A1-5CB9-7044-8F16-846E04C15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42D71-95A3-F348-9194-2114BEDC2171}" type="datetimeFigureOut">
              <a:rPr lang="en-US" smtClean="0"/>
              <a:t>12/11/20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F9F05-5FEF-A74F-A604-B86850280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6D4BD-9A48-C443-BDB6-151839773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D7BC9-6181-994E-9CD9-4D36D1D23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24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9DE45-6300-6443-A46C-5B4C62B73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F44139-1753-0944-BBAD-D206B4D1C0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ED7D7-D3B6-8842-AC42-90DC007A6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42D71-95A3-F348-9194-2114BEDC2171}" type="datetimeFigureOut">
              <a:rPr lang="en-US" smtClean="0"/>
              <a:t>12/11/20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A9F6D-5EA9-F94C-B254-CD870E7A6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A168B-6A1A-6843-A9F1-C7742CF35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D7BC9-6181-994E-9CD9-4D36D1D23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826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2C397-538D-E543-AFAC-816E68BCD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F2F41-D5CB-094A-8287-E2FBCD5ED8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9F1783-EE5B-5341-BE40-CFB71CE19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E86783-14C9-F048-8D80-39C3BD46C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42D71-95A3-F348-9194-2114BEDC2171}" type="datetimeFigureOut">
              <a:rPr lang="en-US" smtClean="0"/>
              <a:t>12/11/20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0ABEEB-7047-B247-916E-5BD433E58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55C30-235A-F942-B4B7-29411EDAC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D7BC9-6181-994E-9CD9-4D36D1D23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434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F2E27-18E0-2F44-9904-E3DD1FCB0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5C2289-F8D1-FF43-A97E-94AA1FB01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B68618-F30A-644A-8749-FA5A4C9003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BFE128-2E9B-7F40-A5F2-9C59876C6D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A10D43-9826-F74D-BE44-654580DA9F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4AB8CF-F7E8-3548-81F6-8236520DF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42D71-95A3-F348-9194-2114BEDC2171}" type="datetimeFigureOut">
              <a:rPr lang="en-US" smtClean="0"/>
              <a:t>12/11/20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6A75CB-7338-674B-9F5F-A7C01D312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63F425-D017-DF45-B8E6-A38300DF5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D7BC9-6181-994E-9CD9-4D36D1D23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658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BB042-6827-FA47-908D-E5337FDF4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190B15-8D05-9641-8470-05FF1DDE1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42D71-95A3-F348-9194-2114BEDC2171}" type="datetimeFigureOut">
              <a:rPr lang="en-US" smtClean="0"/>
              <a:t>12/11/20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6228DD-8CC2-284F-9F5C-9679ED2D5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6A58D9-AE29-E040-918C-5FA03F325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D7BC9-6181-994E-9CD9-4D36D1D23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671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C2F707-A7AA-DC41-A544-9228393D3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42D71-95A3-F348-9194-2114BEDC2171}" type="datetimeFigureOut">
              <a:rPr lang="en-US" smtClean="0"/>
              <a:t>12/11/20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ABA968-75A8-C248-BDAF-BA74E8AC0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04BF25-F5D6-A147-8EA5-01809CDB6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D7BC9-6181-994E-9CD9-4D36D1D23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889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E298B-D175-5345-AA91-9588D1C8B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480EA-5C75-D84F-800B-692205585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96BE13-DC3B-4A46-ABB5-493FF3D447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A2D181-48EB-B740-A1E5-CEEA3C8F7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42D71-95A3-F348-9194-2114BEDC2171}" type="datetimeFigureOut">
              <a:rPr lang="en-US" smtClean="0"/>
              <a:t>12/11/20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A39A3C-57B9-9A41-81AF-C2761BB22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650FD3-D44B-4F4F-B918-55E723B2E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D7BC9-6181-994E-9CD9-4D36D1D23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62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12D84-3592-E943-96FE-6044C249D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268659-23B6-8344-B878-3814245536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DB9792-50D9-7A4A-8826-A15558F27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668100-1A70-B546-8EB5-504F15D59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42D71-95A3-F348-9194-2114BEDC2171}" type="datetimeFigureOut">
              <a:rPr lang="en-US" smtClean="0"/>
              <a:t>12/11/20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55E9F2-5E88-8045-87B5-906ABA643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538EF-76A8-7048-BDE3-713422686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D7BC9-6181-994E-9CD9-4D36D1D23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069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C1E15-6A46-824D-8670-7011FA993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842094-101A-F84B-8C23-972D25F65A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0A6AA-74A9-8244-8E16-9FF67262F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42D71-95A3-F348-9194-2114BEDC2171}" type="datetimeFigureOut">
              <a:rPr lang="en-US" smtClean="0"/>
              <a:t>12/11/20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DDCCC-F209-6847-BB7B-F6A7E5302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B9ED0-8DF2-6A4A-BE55-3D312B9EB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D7BC9-6181-994E-9CD9-4D36D1D23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24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6D75A4-DE3A-084B-9D2E-E8C67342DF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5CDA36-E27F-D942-8C2C-A7A8C6034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CAEFD-53FB-6F4D-B27E-9F2C05478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42D71-95A3-F348-9194-2114BEDC2171}" type="datetimeFigureOut">
              <a:rPr lang="en-US" smtClean="0"/>
              <a:t>12/11/20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70377-77C0-9B4E-979C-7D390C271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DDAAD-2FBA-4B46-AB91-FB6C854E6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D7BC9-6181-994E-9CD9-4D36D1D23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691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A03A83-362E-C142-A4DB-2B7346B66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73DA4-31E2-A84C-AF3A-CB1578005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14470-B598-6F49-8C4D-F79D74D10B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742D71-95A3-F348-9194-2114BEDC2171}" type="datetimeFigureOut">
              <a:rPr lang="en-US" smtClean="0"/>
              <a:t>12/11/20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F3DF3-5537-EB43-AA66-A6046A9249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6ED3A-ADA5-F74E-9B4C-73DF48CBB4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1D7BC9-6181-994E-9CD9-4D36D1D23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146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0AEF4-424E-A54A-A686-4FBDF7047E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Visualization</a:t>
            </a:r>
            <a:br>
              <a:rPr lang="en-US" dirty="0"/>
            </a:br>
            <a:r>
              <a:rPr lang="en-US" dirty="0"/>
              <a:t>Course Wrap-Up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E9F38D-5842-D940-B39B-58603BCCEF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425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EA832-100B-4548-AA18-D6FAB8770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the Biggest Things to Remember?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B3DE7-571D-2C47-9B11-6D1912A92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Think for about 30 seconds, then post in the chat…</a:t>
            </a:r>
          </a:p>
        </p:txBody>
      </p:sp>
    </p:spTree>
    <p:extLst>
      <p:ext uri="{BB962C8B-B14F-4D97-AF65-F5344CB8AC3E}">
        <p14:creationId xmlns:p14="http://schemas.microsoft.com/office/powerpoint/2010/main" val="2978256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EA832-100B-4548-AA18-D6FAB8770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the Biggest Things to Remember?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B3DE7-571D-2C47-9B11-6D1912A92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Compared to what?</a:t>
            </a:r>
          </a:p>
          <a:p>
            <a:r>
              <a:rPr lang="en-US" dirty="0"/>
              <a:t>Make data into metrics…</a:t>
            </a:r>
          </a:p>
          <a:p>
            <a:pPr lvl="1"/>
            <a:r>
              <a:rPr lang="en-US" dirty="0"/>
              <a:t>Not only “what are the numbers?”</a:t>
            </a:r>
          </a:p>
          <a:p>
            <a:pPr lvl="1"/>
            <a:r>
              <a:rPr lang="en-US" dirty="0"/>
              <a:t>Are those numbers good or bad?</a:t>
            </a:r>
          </a:p>
          <a:p>
            <a:pPr lvl="1"/>
            <a:r>
              <a:rPr lang="en-US" dirty="0"/>
              <a:t>How good or bad are those numbers?</a:t>
            </a:r>
          </a:p>
          <a:p>
            <a:r>
              <a:rPr lang="en-US" dirty="0"/>
              <a:t>Use the dimensions appropriately</a:t>
            </a:r>
          </a:p>
          <a:p>
            <a:pPr lvl="1"/>
            <a:r>
              <a:rPr lang="en-US" dirty="0"/>
              <a:t>Encode changes in one data dimension in one visual dimension.</a:t>
            </a:r>
          </a:p>
        </p:txBody>
      </p:sp>
    </p:spTree>
    <p:extLst>
      <p:ext uri="{BB962C8B-B14F-4D97-AF65-F5344CB8AC3E}">
        <p14:creationId xmlns:p14="http://schemas.microsoft.com/office/powerpoint/2010/main" val="340783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3357B-07E4-0C46-9877-DA710ACBE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Provide “Just Enough” Detail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F1E1A-121F-A649-AE55-FBDFC2A11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not overwhelm your viewers with loads of data on the screen.</a:t>
            </a:r>
          </a:p>
          <a:p>
            <a:r>
              <a:rPr lang="en-US" dirty="0"/>
              <a:t>Show them the overview.</a:t>
            </a:r>
          </a:p>
          <a:p>
            <a:pPr lvl="1"/>
            <a:r>
              <a:rPr lang="en-US" dirty="0"/>
              <a:t>Show them where they need to take action.</a:t>
            </a:r>
          </a:p>
          <a:p>
            <a:pPr lvl="1"/>
            <a:r>
              <a:rPr lang="en-US" dirty="0"/>
              <a:t>Reduce their need to “search for the answer”.</a:t>
            </a:r>
          </a:p>
          <a:p>
            <a:r>
              <a:rPr lang="en-US" dirty="0"/>
              <a:t>Understand the cognitive evaluation(s) being made.</a:t>
            </a:r>
          </a:p>
          <a:p>
            <a:pPr lvl="1"/>
            <a:r>
              <a:rPr lang="en-US" dirty="0"/>
              <a:t>What is the “sequence” of questions?</a:t>
            </a:r>
          </a:p>
          <a:p>
            <a:pPr lvl="1"/>
            <a:r>
              <a:rPr lang="en-US" dirty="0"/>
              <a:t>Match the detail to the level of the question!</a:t>
            </a:r>
          </a:p>
          <a:p>
            <a:r>
              <a:rPr lang="en-US" dirty="0"/>
              <a:t>Build your visualizations for a </a:t>
            </a:r>
            <a:r>
              <a:rPr lang="en-US" u="sng" dirty="0"/>
              <a:t>single</a:t>
            </a:r>
            <a:r>
              <a:rPr lang="en-US" dirty="0"/>
              <a:t> purpose.</a:t>
            </a:r>
          </a:p>
          <a:p>
            <a:pPr lvl="1"/>
            <a:r>
              <a:rPr lang="en-US" dirty="0"/>
              <a:t>No ”master” dashboards…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68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552DB-86D7-0B4A-A458-D47066858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Visual Components with Meaning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0AE5E-2A11-804B-9678-1E1530104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Consistent color.</a:t>
            </a:r>
          </a:p>
          <a:p>
            <a:r>
              <a:rPr lang="en-US" dirty="0"/>
              <a:t>Gestalt principles.</a:t>
            </a:r>
          </a:p>
          <a:p>
            <a:r>
              <a:rPr lang="en-US" dirty="0"/>
              <a:t>Directional </a:t>
            </a:r>
          </a:p>
          <a:p>
            <a:pPr lvl="1"/>
            <a:r>
              <a:rPr lang="en-US" dirty="0"/>
              <a:t>Don’t mix columns and bars just to be “creative”.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706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552DB-86D7-0B4A-A458-D47066858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Decorate and Annotate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0AE5E-2A11-804B-9678-1E1530104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decoration (e.g., lines and distributions in a bullet graph).</a:t>
            </a:r>
          </a:p>
          <a:p>
            <a:pPr lvl="1"/>
            <a:r>
              <a:rPr lang="en-US" dirty="0"/>
              <a:t>Allows for multiple related questions to be answered in one graph.</a:t>
            </a:r>
          </a:p>
          <a:p>
            <a:r>
              <a:rPr lang="en-US" dirty="0"/>
              <a:t>Add annotation.</a:t>
            </a:r>
          </a:p>
          <a:p>
            <a:pPr lvl="1"/>
            <a:r>
              <a:rPr lang="en-US" dirty="0"/>
              <a:t>What is the ”reason” that the line bent here?</a:t>
            </a:r>
          </a:p>
          <a:p>
            <a:pPr lvl="2"/>
            <a:r>
              <a:rPr lang="en-US" dirty="0"/>
              <a:t>New initiative.</a:t>
            </a:r>
          </a:p>
          <a:p>
            <a:pPr lvl="2"/>
            <a:r>
              <a:rPr lang="en-US" dirty="0"/>
              <a:t>Marketing campaign.</a:t>
            </a:r>
          </a:p>
          <a:p>
            <a:pPr lvl="2"/>
            <a:r>
              <a:rPr lang="en-US" dirty="0"/>
              <a:t>New product launch by competitor.</a:t>
            </a:r>
          </a:p>
          <a:p>
            <a:pPr lvl="2"/>
            <a:r>
              <a:rPr lang="en-US" dirty="0"/>
              <a:t>New governmental regulation.</a:t>
            </a:r>
          </a:p>
          <a:p>
            <a:pPr lvl="2"/>
            <a:r>
              <a:rPr lang="en-US" dirty="0"/>
              <a:t>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912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7AB20-1B5E-814D-BA1D-AD6B3F03A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Reduce the Lie Factor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2C436-9A12-A342-9715-132183750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not </a:t>
            </a:r>
            <a:r>
              <a:rPr lang="en-US" i="1" dirty="0"/>
              <a:t>unknowingly</a:t>
            </a:r>
            <a:r>
              <a:rPr lang="en-US" dirty="0"/>
              <a:t> lie in your graphs.</a:t>
            </a:r>
          </a:p>
          <a:p>
            <a:pPr lvl="1"/>
            <a:r>
              <a:rPr lang="en-US" dirty="0"/>
              <a:t>You must know WHY you are choosing to break one of the rules.</a:t>
            </a:r>
          </a:p>
          <a:p>
            <a:pPr lvl="1"/>
            <a:r>
              <a:rPr lang="en-US" dirty="0"/>
              <a:t>Your job may ask you to do so.</a:t>
            </a:r>
          </a:p>
          <a:p>
            <a:pPr lvl="1"/>
            <a:r>
              <a:rPr lang="en-US" dirty="0"/>
              <a:t>Understand the effects.</a:t>
            </a:r>
          </a:p>
          <a:p>
            <a:pPr lvl="1"/>
            <a:endParaRPr lang="en-US" dirty="0"/>
          </a:p>
          <a:p>
            <a:r>
              <a:rPr lang="en-US" dirty="0"/>
              <a:t>Be very careful when mixing scales in the same graph.</a:t>
            </a:r>
          </a:p>
          <a:p>
            <a:pPr lvl="1"/>
            <a:r>
              <a:rPr lang="en-US" dirty="0"/>
              <a:t>Primarily in dual axis graphs.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364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489C2-61DA-1942-8181-35424D48B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Not Violate Primal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A1B75-1907-7C44-A45C-4A54F0E4C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/>
              <a:t>Up means more.</a:t>
            </a:r>
          </a:p>
          <a:p>
            <a:pPr marL="0" indent="0" algn="ctr">
              <a:buNone/>
            </a:pPr>
            <a:r>
              <a:rPr lang="en-US" sz="6600" dirty="0"/>
              <a:t>Darker means more.</a:t>
            </a:r>
          </a:p>
          <a:p>
            <a:pPr marL="0" indent="0" algn="ctr">
              <a:buNone/>
            </a:pPr>
            <a:r>
              <a:rPr lang="en-US" sz="6600" dirty="0"/>
              <a:t>Bigger means more.</a:t>
            </a:r>
          </a:p>
        </p:txBody>
      </p:sp>
    </p:spTree>
    <p:extLst>
      <p:ext uri="{BB962C8B-B14F-4D97-AF65-F5344CB8AC3E}">
        <p14:creationId xmlns:p14="http://schemas.microsoft.com/office/powerpoint/2010/main" val="3496741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9B437-EAF7-6843-AABB-1EF9B14DD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Reduce Clutter Whenever Possible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88946-47CD-054F-B12E-C9662FACF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 rid of anything that will distract the user.</a:t>
            </a:r>
          </a:p>
          <a:p>
            <a:r>
              <a:rPr lang="en-US" dirty="0"/>
              <a:t>Remove unnecessary lines, column dividers, axes, etc.</a:t>
            </a:r>
          </a:p>
        </p:txBody>
      </p:sp>
    </p:spTree>
    <p:extLst>
      <p:ext uri="{BB962C8B-B14F-4D97-AF65-F5344CB8AC3E}">
        <p14:creationId xmlns:p14="http://schemas.microsoft.com/office/powerpoint/2010/main" val="453205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593B0-5311-FD44-A9FF-DE725C778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in Doubt, Use the Simplest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0B074-D627-1D4D-B79D-709AF3773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complicated charts increase cognitive load.</a:t>
            </a:r>
          </a:p>
          <a:p>
            <a:r>
              <a:rPr lang="en-US" dirty="0"/>
              <a:t>Do not use the complicated chart to make things “flashy”</a:t>
            </a:r>
          </a:p>
          <a:p>
            <a:r>
              <a:rPr lang="en-US" dirty="0"/>
              <a:t>Use the most fit-for-purpose graph.</a:t>
            </a:r>
          </a:p>
          <a:p>
            <a:pPr lvl="1"/>
            <a:r>
              <a:rPr lang="en-US" dirty="0"/>
              <a:t>This may include “flashiness” due to the context.</a:t>
            </a:r>
          </a:p>
          <a:p>
            <a:pPr lvl="1"/>
            <a:r>
              <a:rPr lang="en-US" dirty="0"/>
              <a:t>Just do not use flashiness for flashiness’ sake.</a:t>
            </a:r>
          </a:p>
        </p:txBody>
      </p:sp>
    </p:spTree>
    <p:extLst>
      <p:ext uri="{BB962C8B-B14F-4D97-AF65-F5344CB8AC3E}">
        <p14:creationId xmlns:p14="http://schemas.microsoft.com/office/powerpoint/2010/main" val="1575008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BFB49-2C72-C747-9563-C9727F785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Conserve Your Pixels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3CBDF-6422-FF4D-B56D-879A1D773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Don’t use a pie chart when a stacked bar or table will do.</a:t>
            </a:r>
          </a:p>
          <a:p>
            <a:r>
              <a:rPr lang="en-US" dirty="0"/>
              <a:t>Don’t use a tree map when a pie chart will do.</a:t>
            </a:r>
          </a:p>
          <a:p>
            <a:r>
              <a:rPr lang="en-US" dirty="0"/>
              <a:t>Don’t use a graph at all if it is unnecessary.</a:t>
            </a:r>
          </a:p>
          <a:p>
            <a:pPr lvl="1"/>
            <a:r>
              <a:rPr lang="en-US" dirty="0"/>
              <a:t>Table vs. Graph – when to use each?</a:t>
            </a:r>
          </a:p>
        </p:txBody>
      </p:sp>
    </p:spTree>
    <p:extLst>
      <p:ext uri="{BB962C8B-B14F-4D97-AF65-F5344CB8AC3E}">
        <p14:creationId xmlns:p14="http://schemas.microsoft.com/office/powerpoint/2010/main" val="764490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454</Words>
  <Application>Microsoft Macintosh PowerPoint</Application>
  <PresentationFormat>Widescreen</PresentationFormat>
  <Paragraphs>62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Data Visualization Course Wrap-Up</vt:lpstr>
      <vt:lpstr>What are the Biggest Things to Remember?</vt:lpstr>
      <vt:lpstr>What are the Biggest Things to Remember?</vt:lpstr>
      <vt:lpstr>Provide “Just Enough” Detail</vt:lpstr>
      <vt:lpstr>Use Visual Components with Meaning</vt:lpstr>
      <vt:lpstr>Decorate and Annotate</vt:lpstr>
      <vt:lpstr>Reduce the Lie Factor</vt:lpstr>
      <vt:lpstr>Do Not Violate Primal Understanding</vt:lpstr>
      <vt:lpstr>Reduce Clutter Whenever Possible</vt:lpstr>
      <vt:lpstr>When in Doubt, Use the Simplest Chart</vt:lpstr>
      <vt:lpstr>Conserve Your Pixels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Visualization Course Wrap-Up</dc:title>
  <dc:creator>John Tripp</dc:creator>
  <cp:lastModifiedBy>John Tripp</cp:lastModifiedBy>
  <cp:revision>6</cp:revision>
  <dcterms:created xsi:type="dcterms:W3CDTF">2020-12-12T02:02:57Z</dcterms:created>
  <dcterms:modified xsi:type="dcterms:W3CDTF">2020-12-12T02:19:14Z</dcterms:modified>
</cp:coreProperties>
</file>