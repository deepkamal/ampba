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880" r:id="rId2"/>
    <p:sldId id="844" r:id="rId3"/>
    <p:sldId id="845" r:id="rId4"/>
    <p:sldId id="846" r:id="rId5"/>
    <p:sldId id="885" r:id="rId6"/>
    <p:sldId id="884" r:id="rId7"/>
    <p:sldId id="886" r:id="rId8"/>
    <p:sldId id="84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398"/>
  </p:normalViewPr>
  <p:slideViewPr>
    <p:cSldViewPr snapToGrid="0" snapToObjects="1">
      <p:cViewPr varScale="1">
        <p:scale>
          <a:sx n="77" d="100"/>
          <a:sy n="77" d="100"/>
        </p:scale>
        <p:origin x="18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FB18C-967F-ED41-8E09-5FD480805CDD}" type="datetimeFigureOut">
              <a:rPr lang="en-US" smtClean="0"/>
              <a:t>4/20/19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FC2AA-A700-6E49-844F-C4B52AE75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8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C75D-289D-D640-86F8-D4E700BFA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A842EF-807B-5D4B-AD36-9B99AD02E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FE838-1AAA-9B4A-BBB3-C38EC60C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4/20/19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32DB9-EC5C-BE45-B220-FB40AB4B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B5F60-B647-104A-8247-2CEC44EA4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40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2861-936D-0D49-BE74-2BEA9E97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81362-D5F2-EF49-B41F-3056A1EBC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FE24C-84DF-F84D-A8C1-88EEAB5D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4/20/19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A5AF5-46E1-2748-8105-E6406B7A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AB952-ECF5-364C-A620-F785C08B2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18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259B-6FD8-F744-904B-141687C6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A8127-C283-514C-A2F7-2BDF65E47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53CDF-EF88-9B40-BC45-257222358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4/20/19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85B1F-D8AA-CC46-87DC-DCEDDF3EF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0701F-D937-E94B-AF19-0B043C89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53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7D7D1-393D-734F-9EED-AC7D0167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D5BB4-D92F-154D-9E11-03E7059804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1B0C8-64C4-E546-97F8-71FE16985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A8CA5-B8AE-6447-A97A-8AD99ECD5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4/20/19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39D35-B883-004E-808E-65138AA8E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EF5A2-EA37-9040-8442-6709221B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16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3C985-77EA-864D-8D7D-E11FDB1AD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B441C-9FF2-D640-880C-CE523A3E0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0FF8D-E83F-8146-B02E-977EFC8AF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AB2B1D-C8D4-AA4D-9182-E6D284AE0B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4E0DA0-D8EC-8048-91A8-8FA9CD615A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173D9-474A-2145-AB3E-CEF36A367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4/20/19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3AE37C-A0E2-8349-A2D0-6540DB9A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2AE93D-7F5B-564E-BE36-2610410C1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06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8C17C-2995-F24E-A0BE-0128EDC35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572082-3294-4C4B-A515-F2ACC10E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4/20/19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D3C8E-8509-8C48-8070-5D6857000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F425E-4E42-1B48-88FB-75C2F1196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912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1B16A9-D88B-6641-9C6F-EC854F0E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4/20/19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DFDD24-6472-7C4A-AC9F-1A8F0A48B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DAD87-3411-1849-8AA0-76227925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32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4A9D8-B5DA-9949-86DF-B622A7666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C850B-68C6-E642-A6BC-E5C11B9C4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34D8B-A428-054C-9408-5F4F19233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9655E-88E6-8C42-ABA6-E38C9B91E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4/20/19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D6627-0F4F-FC4F-BE47-0F455476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F6DB3-F389-9949-8FAE-0002D214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8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E330E-C74F-4B41-834F-1F1AD9BC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CB9681-458A-C541-A04F-2FED3D37D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74E54-E864-1C4D-A30F-89E125D12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87FBF-C52C-0248-A563-85B54B67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4/20/19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CF6C4-5CCE-1543-9E04-5FB6926CB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478C5-CE64-1748-8EBD-CA418348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1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980C9-74AD-C944-BEF9-D77D64C32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9D641-13FB-5B4F-8075-4360219F0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19106-F75C-3B42-A6E8-A3BDBF84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4/20/19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58BD-AD2A-4542-B182-DA8DBB24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E850C-FE7D-7948-9801-73554ADA2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47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F68292-1057-8A42-9C23-FE6946DA82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FCAA4-06B1-E248-9F8E-64BFB64EB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907C8-D2EC-F84C-8AB9-7F97AAE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4/20/19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39E32-8060-2E44-AF8F-71FEE9582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5B2FB-3257-8342-988B-DA2918940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92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04FE96-EFD5-2A4B-897B-84E2A9C72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BFB28-E11D-424F-9650-D6821477C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D4B79-F15A-DC4A-87A6-29257B97E2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CA32B-286A-7C40-BBAD-B5E7C3ED5074}" type="datetimeFigureOut">
              <a:rPr lang="en-US" smtClean="0"/>
              <a:t>4/20/19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07911-1DD1-1D4B-BF16-8B1155B37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2C241-010C-ED48-8318-8E08E309A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20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Level of Detail Expressions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0512BE-1049-674A-9320-8B7834E134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John F. Tripp</a:t>
            </a:r>
          </a:p>
        </p:txBody>
      </p:sp>
    </p:spTree>
    <p:extLst>
      <p:ext uri="{BB962C8B-B14F-4D97-AF65-F5344CB8AC3E}">
        <p14:creationId xmlns:p14="http://schemas.microsoft.com/office/powerpoint/2010/main" val="677069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Calculations in Tableau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Level of Detail Expressions</a:t>
            </a:r>
          </a:p>
          <a:p>
            <a:pPr lvl="1"/>
            <a:r>
              <a:rPr lang="en-US" dirty="0"/>
              <a:t>FIXED</a:t>
            </a:r>
          </a:p>
          <a:p>
            <a:pPr lvl="1"/>
            <a:r>
              <a:rPr lang="en-US" dirty="0"/>
              <a:t>INCLUDE</a:t>
            </a:r>
          </a:p>
          <a:p>
            <a:pPr lvl="1"/>
            <a:r>
              <a:rPr lang="en-US" dirty="0"/>
              <a:t>EXCLUDE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1747" y="20880"/>
            <a:ext cx="3420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432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of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that we generally set our “level of detail” in two places</a:t>
            </a:r>
          </a:p>
          <a:p>
            <a:pPr lvl="1"/>
            <a:r>
              <a:rPr lang="en-US" dirty="0"/>
              <a:t>Columns and Rows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Detail Shelf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450" y="2978150"/>
            <a:ext cx="3467100" cy="901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192" y="4318000"/>
            <a:ext cx="19304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86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of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level of detail in the columns and rows + the detail shelf defines how the visualization will be rendered</a:t>
            </a:r>
          </a:p>
          <a:p>
            <a:endParaRPr lang="en-US" dirty="0"/>
          </a:p>
          <a:p>
            <a:r>
              <a:rPr lang="en-US" dirty="0"/>
              <a:t>We use level of detail expressions when we don’t want to use the other options - why?</a:t>
            </a:r>
          </a:p>
          <a:p>
            <a:pPr lvl="1"/>
            <a:r>
              <a:rPr lang="en-US" dirty="0"/>
              <a:t>Because we want to create a calculation that is independent from the dimensions used to make the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740092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of Detail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ECC851-81EE-FC40-8AF3-02EDD6D17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1116" cy="4351338"/>
          </a:xfrm>
        </p:spPr>
        <p:txBody>
          <a:bodyPr/>
          <a:lstStyle/>
          <a:p>
            <a:r>
              <a:rPr lang="en-US" dirty="0"/>
              <a:t>Level of Detail expressions allow us to produce graphs with calculations at multiple levels at the same time</a:t>
            </a:r>
          </a:p>
          <a:p>
            <a:endParaRPr lang="en-US" dirty="0"/>
          </a:p>
          <a:p>
            <a:r>
              <a:rPr lang="en-US"/>
              <a:t>Could not </a:t>
            </a:r>
            <a:r>
              <a:rPr lang="en-US" dirty="0"/>
              <a:t>do this with typical drag and drop functionality in Tableau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B139A1-37D2-3948-8115-C41EEFAC1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9455" y="1478858"/>
            <a:ext cx="5012545" cy="469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819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1" y="1889168"/>
            <a:ext cx="11446624" cy="1325563"/>
          </a:xfrm>
        </p:spPr>
        <p:txBody>
          <a:bodyPr>
            <a:normAutofit/>
          </a:bodyPr>
          <a:lstStyle/>
          <a:p>
            <a:pPr marL="17463" lvl="1" indent="0">
              <a:buNone/>
            </a:pPr>
            <a:r>
              <a:rPr lang="en-US" sz="3600" dirty="0"/>
              <a:t>{LOD TYPE [dim1], [dim2],</a:t>
            </a:r>
            <a:r>
              <a:rPr lang="mr-IN" sz="3600" dirty="0"/>
              <a:t>…</a:t>
            </a:r>
            <a:r>
              <a:rPr lang="en-US" sz="3600" dirty="0"/>
              <a:t>,[</a:t>
            </a:r>
            <a:r>
              <a:rPr lang="en-US" sz="3600" dirty="0" err="1"/>
              <a:t>dimN</a:t>
            </a:r>
            <a:r>
              <a:rPr lang="en-US" sz="3600" dirty="0"/>
              <a:t>] : aggregate expression }</a:t>
            </a:r>
          </a:p>
          <a:p>
            <a:pPr marL="17463" lvl="1" indent="0">
              <a:buNone/>
            </a:pPr>
            <a:endParaRPr lang="en-US" sz="3600" dirty="0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48E3F07B-8AE4-7644-9E75-F9F253CC6B52}"/>
              </a:ext>
            </a:extLst>
          </p:cNvPr>
          <p:cNvSpPr/>
          <p:nvPr/>
        </p:nvSpPr>
        <p:spPr>
          <a:xfrm rot="16200000">
            <a:off x="4320481" y="298845"/>
            <a:ext cx="647700" cy="4545809"/>
          </a:xfrm>
          <a:prstGeom prst="leftBrace">
            <a:avLst>
              <a:gd name="adj1" fmla="val 8333"/>
              <a:gd name="adj2" fmla="val 4916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606EBF-D9DD-1745-9962-A48C27972ABC}"/>
              </a:ext>
            </a:extLst>
          </p:cNvPr>
          <p:cNvSpPr/>
          <p:nvPr/>
        </p:nvSpPr>
        <p:spPr>
          <a:xfrm>
            <a:off x="3382222" y="2875991"/>
            <a:ext cx="2524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Dimensions are optional.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AF690A-0855-434D-BF8C-9FCF2EA505BA}"/>
              </a:ext>
            </a:extLst>
          </p:cNvPr>
          <p:cNvSpPr txBox="1">
            <a:spLocks/>
          </p:cNvSpPr>
          <p:nvPr/>
        </p:nvSpPr>
        <p:spPr>
          <a:xfrm>
            <a:off x="1959725" y="4521778"/>
            <a:ext cx="8272549" cy="1908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3" lvl="1" indent="0">
              <a:buNone/>
            </a:pPr>
            <a:r>
              <a:rPr lang="en-US" sz="3600" dirty="0"/>
              <a:t>{FIXED : Sum([Sales])}</a:t>
            </a:r>
          </a:p>
          <a:p>
            <a:pPr marL="17463" lvl="1" indent="0">
              <a:buNone/>
            </a:pPr>
            <a:r>
              <a:rPr lang="en-US" sz="3600" dirty="0"/>
              <a:t>{EXCLUDE [City], [State] : Sum([Sales])}</a:t>
            </a:r>
          </a:p>
          <a:p>
            <a:pPr marL="17463" lvl="1" indent="0">
              <a:buNone/>
            </a:pPr>
            <a:r>
              <a:rPr lang="en-US" sz="3600" dirty="0"/>
              <a:t>{INCLUDE [Customer Name]: Sum([Sales])}</a:t>
            </a:r>
          </a:p>
          <a:p>
            <a:pPr marL="17463" lvl="1" indent="0">
              <a:buNone/>
            </a:pPr>
            <a:endParaRPr lang="en-US" sz="3600" dirty="0"/>
          </a:p>
          <a:p>
            <a:pPr marL="17463" lvl="1" indent="0">
              <a:buNone/>
            </a:pPr>
            <a:endParaRPr lang="en-US" sz="3600" dirty="0"/>
          </a:p>
          <a:p>
            <a:pPr marL="17463" lvl="1" indent="0">
              <a:buNone/>
            </a:pPr>
            <a:endParaRPr lang="en-US" sz="3600" dirty="0"/>
          </a:p>
          <a:p>
            <a:pPr marL="17463" lvl="1" indent="0">
              <a:buFont typeface="Arial" panose="020B0604020202020204" pitchFamily="34" charset="0"/>
              <a:buNone/>
            </a:pPr>
            <a:endParaRPr lang="en-US" sz="3600" dirty="0"/>
          </a:p>
          <a:p>
            <a:pPr marL="17463" lvl="1" indent="0">
              <a:buFont typeface="Arial" panose="020B0604020202020204" pitchFamily="34" charset="0"/>
              <a:buNone/>
            </a:pPr>
            <a:endParaRPr lang="en-US" sz="3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A6EFE2-7170-A04F-9185-00882F2A025B}"/>
              </a:ext>
            </a:extLst>
          </p:cNvPr>
          <p:cNvSpPr/>
          <p:nvPr/>
        </p:nvSpPr>
        <p:spPr>
          <a:xfrm>
            <a:off x="5414948" y="3984535"/>
            <a:ext cx="13621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Examples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B773AC80-57C3-6A40-92BE-32DE50E5CA0A}"/>
              </a:ext>
            </a:extLst>
          </p:cNvPr>
          <p:cNvSpPr/>
          <p:nvPr/>
        </p:nvSpPr>
        <p:spPr>
          <a:xfrm rot="5400000">
            <a:off x="8846997" y="-249417"/>
            <a:ext cx="647700" cy="3910802"/>
          </a:xfrm>
          <a:prstGeom prst="leftBrace">
            <a:avLst>
              <a:gd name="adj1" fmla="val 8333"/>
              <a:gd name="adj2" fmla="val 4916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E5F65E-5F54-D74F-86C8-BBD7C3C25078}"/>
              </a:ext>
            </a:extLst>
          </p:cNvPr>
          <p:cNvSpPr/>
          <p:nvPr/>
        </p:nvSpPr>
        <p:spPr>
          <a:xfrm>
            <a:off x="7908738" y="998988"/>
            <a:ext cx="2602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SUM/AVG/MIN/MAX, etc.</a:t>
            </a:r>
          </a:p>
        </p:txBody>
      </p:sp>
    </p:spTree>
    <p:extLst>
      <p:ext uri="{BB962C8B-B14F-4D97-AF65-F5344CB8AC3E}">
        <p14:creationId xmlns:p14="http://schemas.microsoft.com/office/powerpoint/2010/main" val="1440073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All LOD expressions have the same syntax…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{EXCLUDE [dim1], [dim2],</a:t>
            </a:r>
            <a:r>
              <a:rPr lang="mr-IN" dirty="0"/>
              <a:t>…</a:t>
            </a:r>
            <a:r>
              <a:rPr lang="en-US" dirty="0"/>
              <a:t>,[</a:t>
            </a:r>
            <a:r>
              <a:rPr lang="en-US" dirty="0" err="1"/>
              <a:t>dimN</a:t>
            </a:r>
            <a:r>
              <a:rPr lang="en-US" dirty="0"/>
              <a:t>] : aggregate expression}</a:t>
            </a:r>
          </a:p>
          <a:p>
            <a:pPr marL="0" indent="0">
              <a:buNone/>
            </a:pPr>
            <a:r>
              <a:rPr lang="en-US" dirty="0"/>
              <a:t>{INCLUDE[dim1], [dim2],</a:t>
            </a:r>
            <a:r>
              <a:rPr lang="mr-IN" dirty="0"/>
              <a:t>…</a:t>
            </a:r>
            <a:r>
              <a:rPr lang="en-US" dirty="0"/>
              <a:t>,[</a:t>
            </a:r>
            <a:r>
              <a:rPr lang="en-US" dirty="0" err="1"/>
              <a:t>dimN</a:t>
            </a:r>
            <a:r>
              <a:rPr lang="en-US" dirty="0"/>
              <a:t>] : aggregate expression}</a:t>
            </a:r>
          </a:p>
          <a:p>
            <a:pPr marL="0" indent="0">
              <a:buNone/>
            </a:pPr>
            <a:r>
              <a:rPr lang="en-US" dirty="0"/>
              <a:t>{FIXED [dim1], [dim2],</a:t>
            </a:r>
            <a:r>
              <a:rPr lang="mr-IN" dirty="0"/>
              <a:t>…</a:t>
            </a:r>
            <a:r>
              <a:rPr lang="en-US" dirty="0"/>
              <a:t>,[</a:t>
            </a:r>
            <a:r>
              <a:rPr lang="en-US" dirty="0" err="1"/>
              <a:t>dimN</a:t>
            </a:r>
            <a:r>
              <a:rPr lang="en-US" dirty="0"/>
              <a:t>] : aggregate expression}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All functions take optional dimensions, but:</a:t>
            </a:r>
          </a:p>
          <a:p>
            <a:pPr lvl="1"/>
            <a:r>
              <a:rPr lang="en-US" dirty="0"/>
              <a:t>EXCLUDE AND INCLUDE do not make sense without including at least one dimension.</a:t>
            </a:r>
          </a:p>
          <a:p>
            <a:pPr lvl="1"/>
            <a:r>
              <a:rPr lang="en-US" dirty="0"/>
              <a:t>FIXED will regularly be used without dimensions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919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of the more powerful features in Tableau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data analyst position interview that mentions Tableau will ask questions about these LOD functions.</a:t>
            </a:r>
          </a:p>
          <a:p>
            <a:endParaRPr lang="en-US" dirty="0"/>
          </a:p>
          <a:p>
            <a:r>
              <a:rPr lang="en-US" dirty="0"/>
              <a:t>One of the “power multipliers” as far as what you can do in your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781819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324</Words>
  <Application>Microsoft Macintosh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Level of Detail Expressions</vt:lpstr>
      <vt:lpstr>Exploring Calculations in Tableau</vt:lpstr>
      <vt:lpstr>Level of Detail</vt:lpstr>
      <vt:lpstr>Level of Detail</vt:lpstr>
      <vt:lpstr>Level of Detail</vt:lpstr>
      <vt:lpstr>Syntax</vt:lpstr>
      <vt:lpstr>Syntax</vt:lpstr>
      <vt:lpstr>One of the more powerful features in Tableau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of Detail Expressions</dc:title>
  <dc:creator>Tripp, John</dc:creator>
  <cp:lastModifiedBy>Tripp, John</cp:lastModifiedBy>
  <cp:revision>7</cp:revision>
  <dcterms:created xsi:type="dcterms:W3CDTF">2019-04-20T10:20:27Z</dcterms:created>
  <dcterms:modified xsi:type="dcterms:W3CDTF">2019-04-20T20:55:23Z</dcterms:modified>
</cp:coreProperties>
</file>