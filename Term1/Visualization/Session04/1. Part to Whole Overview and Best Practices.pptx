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517" r:id="rId3"/>
    <p:sldId id="305" r:id="rId4"/>
    <p:sldId id="318" r:id="rId5"/>
    <p:sldId id="334" r:id="rId6"/>
    <p:sldId id="320" r:id="rId7"/>
    <p:sldId id="321" r:id="rId8"/>
    <p:sldId id="323" r:id="rId9"/>
    <p:sldId id="322" r:id="rId10"/>
    <p:sldId id="324" r:id="rId11"/>
    <p:sldId id="336" r:id="rId12"/>
    <p:sldId id="325" r:id="rId13"/>
    <p:sldId id="326" r:id="rId14"/>
    <p:sldId id="319" r:id="rId15"/>
    <p:sldId id="328" r:id="rId16"/>
    <p:sldId id="327" r:id="rId17"/>
    <p:sldId id="306" r:id="rId18"/>
    <p:sldId id="335" r:id="rId19"/>
    <p:sldId id="307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49"/>
    <p:restoredTop sz="94697"/>
  </p:normalViewPr>
  <p:slideViewPr>
    <p:cSldViewPr snapToGrid="0" snapToObjects="1">
      <p:cViewPr varScale="1">
        <p:scale>
          <a:sx n="124" d="100"/>
          <a:sy n="124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65864-D74D-8D4D-9018-B72466C2FD24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130E0-6D7C-B746-B2D8-CF789FD1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6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130E0-6D7C-B746-B2D8-CF789FD16D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6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FC89-F424-DF4D-835E-57ACEBED7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0B14C-810E-8743-B4E8-731354B97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A35EB-6815-C649-A05E-A30E95B4F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AC33F-C4FE-2B48-AD6C-051878AD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F929C-EDD2-6B48-9E5B-D3D40657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0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4CCB-9F77-9C41-A5BF-4BA90B1E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F356F-35B8-E04B-8E49-9B72AD604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8B349-02B8-1641-8757-78EC5156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8002C-47B7-3B43-9DDA-2A93A08A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55B3B-FEE9-B64B-8E2F-D9B99895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6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2FB8-BA9B-E143-B327-02FA7EDC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D0E86-0505-5C4B-831F-B226CE5E4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C3C6F-FDC2-9840-95AF-DAFC074D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4DF0E-8232-F747-9AE4-7892CA73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41710-EE6F-894F-AA7C-FCAB3CAD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63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88AC-D95B-3C48-ACAD-D647DFC1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8CA82-2272-5F4F-AF48-A8DE651DD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EFB0D-31C8-F348-9211-E7A35A76C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2B46E-3BAE-BA4E-BA47-F0A4837B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B9738-0FC1-E244-9662-84606392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B0776-2F23-9349-9210-1DCC8511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0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C3D7-893C-0747-8126-9020D1195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85960-CE76-6440-B03B-8B1450AB0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6EE3C-441D-1343-92C9-CC5C46F25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3C82EB-A1CB-7C4D-A6F7-085D18826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BF2820-1A1D-7A41-A34E-7E6D79301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34A1E1-6118-B340-BFBB-111647AEC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1B44E2-68CC-F646-BF00-93FC853C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F7129F-907B-D649-BAC0-9A6D6A46F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8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FAACD-2505-FA46-ABB1-3D1FC53A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894DB-D692-CD42-8BDA-05137B87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06038-61B0-0D42-B545-5F04630A7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DAF0D-2597-6541-B2B1-6BE0EEC0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3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8D766-CBE0-7942-B187-AD1BDBAE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62864-0872-0343-B1BB-AF8F0956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24599-5807-E14E-9F41-862EB3D1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5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3B37-FDBE-2146-8A5F-C86B3ABCC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0A9B-2B3F-1945-82BB-A1965125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88012-B123-9546-9EB9-DB4F56754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CA32F-F4A4-194C-B52A-0B1E3D79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857CB-8014-CF4B-9A4E-A719C3D8E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B4379-48F6-0A43-82EA-29914FE8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7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51130-8610-0C43-81C3-E8DF318E8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CD269-681B-3B42-8F7D-5C08AD861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889BE-B2BB-4144-9807-861292F53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C83F8-04CB-DF45-9C0D-260E5BC4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2F0F9-E9D3-D848-81FE-994459A2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836AB-A791-E345-98A2-1256D3CB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5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5C37-71A1-0C4E-B332-322AB4B2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B4FE3-E076-554B-B7D4-2D743CF5B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C0FBC-C7C9-9241-AFE8-54C3926D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9C627-AC1B-8349-AC17-E4643C46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8807D-A517-AE42-9F96-96CFB258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8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DEA17B-CF52-E64A-A493-220E0B352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055E0-FCF5-F441-999F-2DF21C161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D5C2A-C85F-0D41-B911-A909E32B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E9F54-7559-0A4D-9C3E-7C576207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399A1-41D7-D243-8406-291B7DD6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7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86C8C2-E6AC-5448-B3D3-77A99B74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80948-D5A7-B44E-BFCA-28A928E1C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DDE57-51AF-D945-AC05-0DF9DB687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06B15-D20B-E04E-AF3E-3BC4B595E636}" type="datetimeFigureOut">
              <a:rPr lang="en-US" smtClean="0"/>
              <a:t>11/28/20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6AC95-FB0D-3240-9298-50053FD6C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D153-FBAA-E14F-AE30-8BF0F6F5D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8751-9964-424C-8C5A-2B824EAF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53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4695-B7C9-454B-96CF-36C2C32679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/>
              <a:t>to Whole: </a:t>
            </a:r>
            <a:r>
              <a:rPr lang="en-US" dirty="0"/>
              <a:t>Overview and Best Practices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C8028-5A2B-774D-B4A2-73C9A5C323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4083931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to Whole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Definition</a:t>
            </a:r>
          </a:p>
          <a:p>
            <a:pPr lvl="1"/>
            <a:r>
              <a:rPr lang="en-US" dirty="0"/>
              <a:t>The relationship of a proportion of a whole to itself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Terms</a:t>
            </a:r>
          </a:p>
          <a:p>
            <a:pPr lvl="1"/>
            <a:r>
              <a:rPr lang="en-US" dirty="0"/>
              <a:t>Rate or rate of total</a:t>
            </a:r>
          </a:p>
          <a:p>
            <a:pPr lvl="1"/>
            <a:r>
              <a:rPr lang="en-US" dirty="0"/>
              <a:t>Percent or percentage of total</a:t>
            </a:r>
          </a:p>
          <a:p>
            <a:pPr lvl="1"/>
            <a:r>
              <a:rPr lang="en-US" dirty="0"/>
              <a:t>Share</a:t>
            </a:r>
          </a:p>
          <a:p>
            <a:pPr lvl="1"/>
            <a:r>
              <a:rPr lang="en-US" dirty="0"/>
              <a:t>“Accounts for X percent”</a:t>
            </a:r>
          </a:p>
        </p:txBody>
      </p:sp>
    </p:spTree>
    <p:extLst>
      <p:ext uri="{BB962C8B-B14F-4D97-AF65-F5344CB8AC3E}">
        <p14:creationId xmlns:p14="http://schemas.microsoft.com/office/powerpoint/2010/main" val="223412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91BE-F4E4-8741-8383-D09218D1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“Not Wrong” Graphs – Pie Chart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4A671C-8F83-E24D-AC62-800921C9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Pie chart is the most commonly used AND MISUSED chart for part-to-whole visualization.</a:t>
            </a:r>
          </a:p>
          <a:p>
            <a:r>
              <a:rPr lang="en-US" dirty="0"/>
              <a:t>They are intuitive, but should be used only in narrow cases</a:t>
            </a:r>
          </a:p>
        </p:txBody>
      </p:sp>
    </p:spTree>
    <p:extLst>
      <p:ext uri="{BB962C8B-B14F-4D97-AF65-F5344CB8AC3E}">
        <p14:creationId xmlns:p14="http://schemas.microsoft.com/office/powerpoint/2010/main" val="213882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 – The Bad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0DC9B3-7025-664C-969D-0C6E2AD93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Graphs like this give pie charts a bad name.</a:t>
            </a:r>
          </a:p>
          <a:p>
            <a:pPr lvl="1"/>
            <a:r>
              <a:rPr lang="en-US" dirty="0"/>
              <a:t>Doesn’t add up to 100%</a:t>
            </a:r>
          </a:p>
          <a:p>
            <a:pPr lvl="1"/>
            <a:r>
              <a:rPr lang="en-US" dirty="0"/>
              <a:t>Slices are all equal, while percentages differ.</a:t>
            </a:r>
          </a:p>
          <a:p>
            <a:pPr lvl="1"/>
            <a:r>
              <a:rPr lang="en-US" dirty="0"/>
              <a:t>Pizza image is design element – not quantitative element. 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A217C4EC-9716-4C4E-BFD8-2D7514798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423" y="49285"/>
            <a:ext cx="5904577" cy="680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5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B466EF7-40F1-AA4B-89AB-04CB04A5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 – The Bad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B8949E4-C3B2-B34C-8F40-9747D8B1D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393" y="1690688"/>
            <a:ext cx="6104082" cy="488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65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 – The Good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0DC9B3-7025-664C-969D-0C6E2AD93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a pie chart with:</a:t>
            </a:r>
          </a:p>
          <a:p>
            <a:pPr lvl="1"/>
            <a:r>
              <a:rPr lang="en-US" dirty="0"/>
              <a:t>No more than 3 slices</a:t>
            </a:r>
          </a:p>
          <a:p>
            <a:pPr lvl="1"/>
            <a:r>
              <a:rPr lang="en-US" dirty="0"/>
              <a:t>Slices are clearly different size</a:t>
            </a:r>
          </a:p>
          <a:p>
            <a:pPr lvl="1"/>
            <a:r>
              <a:rPr lang="en-US" dirty="0"/>
              <a:t>Continuous Data</a:t>
            </a:r>
          </a:p>
          <a:p>
            <a:pPr lvl="2"/>
            <a:r>
              <a:rPr lang="en-US" dirty="0"/>
              <a:t>NOT ordinal data</a:t>
            </a:r>
          </a:p>
          <a:p>
            <a:pPr lvl="2"/>
            <a:endParaRPr lang="en-US" dirty="0"/>
          </a:p>
          <a:p>
            <a:r>
              <a:rPr lang="en-US" dirty="0"/>
              <a:t>Always show 100% of the whole</a:t>
            </a:r>
          </a:p>
          <a:p>
            <a:r>
              <a:rPr lang="en-US" dirty="0"/>
              <a:t>No 3-D</a:t>
            </a:r>
          </a:p>
          <a:p>
            <a:r>
              <a:rPr lang="en-US" dirty="0"/>
              <a:t>No Exploded Slices</a:t>
            </a:r>
          </a:p>
          <a:p>
            <a:r>
              <a:rPr lang="en-US" dirty="0"/>
              <a:t>All positive numbers</a:t>
            </a:r>
          </a:p>
          <a:p>
            <a:r>
              <a:rPr lang="en-US" dirty="0"/>
              <a:t>Never multiple pie charts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F89D1B-19E2-534B-BF9E-61F5D7D2F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412" y="1047404"/>
            <a:ext cx="5793587" cy="534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6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 – Always show 100%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F89D1B-19E2-534B-BF9E-61F5D7D2F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02" y="1292268"/>
            <a:ext cx="2743004" cy="2531587"/>
          </a:xfrm>
          <a:prstGeom prst="rect">
            <a:avLst/>
          </a:prstGeom>
        </p:spPr>
      </p:pic>
      <p:pic>
        <p:nvPicPr>
          <p:cNvPr id="8" name="Picture 7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115F06A7-128C-8A49-8626-3F4B857E7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60" y="4039984"/>
            <a:ext cx="2643287" cy="266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4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 – Three slices or fewer</a:t>
            </a:r>
          </a:p>
        </p:txBody>
      </p:sp>
      <p:pic>
        <p:nvPicPr>
          <p:cNvPr id="5" name="Picture 4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AAB3857B-A251-2B4E-BA30-72D481E27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305024" cy="327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55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 – Continuous, Not Ordinal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AC2625-7185-5E42-A6D5-2B072F13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257800" cy="386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8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 – Continuous, Not Ordinal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472C5-AEEA-A846-8A45-F0E53A5F0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0036"/>
            <a:ext cx="1594605" cy="552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3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 – Continuous, Not Ordinal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75C11-2BCC-0B45-867B-1A96A63EB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46909"/>
            <a:ext cx="8750531" cy="123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67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 – No Multiples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DFC1E3-E954-DC4B-8371-A3519A01E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41481"/>
            <a:ext cx="82931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17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 – No Multiples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85BC2-2438-A04E-A046-882C7530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3812"/>
            <a:ext cx="82804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6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91BE-F4E4-8741-8383-D09218D1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“Not Wrong” Graphs – Stacked Column Chart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4A671C-8F83-E24D-AC62-800921C9A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32811" cy="4351338"/>
          </a:xfrm>
        </p:spPr>
        <p:txBody>
          <a:bodyPr/>
          <a:lstStyle/>
          <a:p>
            <a:r>
              <a:rPr lang="en-US" dirty="0"/>
              <a:t>Stacked Column Charts are excellent alternative to pie charts, especially when you need to compare multiple parts-to-whole</a:t>
            </a:r>
          </a:p>
        </p:txBody>
      </p:sp>
    </p:spTree>
    <p:extLst>
      <p:ext uri="{BB962C8B-B14F-4D97-AF65-F5344CB8AC3E}">
        <p14:creationId xmlns:p14="http://schemas.microsoft.com/office/powerpoint/2010/main" val="980047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“Not Wrong” Graphs – Stacked Column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E0401-4803-4B42-B2FE-BD704295D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2917005" cy="427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268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A6A-0838-394F-8F2B-D7281FA1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“Not Wrong” Graphs – Stacked Column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37B756-DC01-3B47-9CEC-4208A833E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2911"/>
            <a:ext cx="2785803" cy="437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02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91BE-F4E4-8741-8383-D09218D1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“Not Wrong” Graphs – Tree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98C4-958C-AE43-9670-E6CA35B73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6283"/>
            <a:ext cx="6557120" cy="432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63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91BE-F4E4-8741-8383-D09218D1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“Not Wrong” Graphs – Tree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91519-B0F1-CB47-BAE0-97B37F89C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453483" cy="400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75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91BE-F4E4-8741-8383-D09218D1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“Not Wrong” Graphs – Donut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914D5-6B4B-6F4B-AC36-AE2A821C9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06705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61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9AD6A-FA6A-EB42-B735-C9A3E626F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“Rules” For Part-to-Whole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1488-B355-2D4A-AD19-2BA39EA7F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8942" cy="4351338"/>
          </a:xfrm>
        </p:spPr>
        <p:txBody>
          <a:bodyPr/>
          <a:lstStyle/>
          <a:p>
            <a:r>
              <a:rPr lang="en-US" dirty="0"/>
              <a:t>Generally, you should indicate the “whole” – especially when illustrating multiple parts-to-whole.</a:t>
            </a:r>
          </a:p>
          <a:p>
            <a:r>
              <a:rPr lang="en-US" dirty="0"/>
              <a:t>More than 5-7 parts may overload the viewer’s ability to make comparisons.</a:t>
            </a:r>
          </a:p>
        </p:txBody>
      </p:sp>
    </p:spTree>
    <p:extLst>
      <p:ext uri="{BB962C8B-B14F-4D97-AF65-F5344CB8AC3E}">
        <p14:creationId xmlns:p14="http://schemas.microsoft.com/office/powerpoint/2010/main" val="204644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2860</TotalTime>
  <Words>319</Words>
  <Application>Microsoft Macintosh PowerPoint</Application>
  <PresentationFormat>Widescreen</PresentationFormat>
  <Paragraphs>56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Part to Whole: Overview and Best Practices</vt:lpstr>
      <vt:lpstr>Part to Whole</vt:lpstr>
      <vt:lpstr>“Not Wrong” Graphs – Pie Chart</vt:lpstr>
      <vt:lpstr>Pie Charts – The Bad</vt:lpstr>
      <vt:lpstr>Pie Charts – The Bad</vt:lpstr>
      <vt:lpstr>Pie Charts – The Good</vt:lpstr>
      <vt:lpstr>Pie Charts – Always show 100%</vt:lpstr>
      <vt:lpstr>Pie Charts – Three slices or fewer</vt:lpstr>
      <vt:lpstr>Pie Charts – Continuous, Not Ordinal</vt:lpstr>
      <vt:lpstr>Pie Charts – Continuous, Not Ordinal</vt:lpstr>
      <vt:lpstr>Pie Charts – Continuous, Not Ordinal</vt:lpstr>
      <vt:lpstr>Pie Charts – No Multiples</vt:lpstr>
      <vt:lpstr>Pie Charts – No Multiples</vt:lpstr>
      <vt:lpstr>“Not Wrong” Graphs – Stacked Column Chart</vt:lpstr>
      <vt:lpstr>“Not Wrong” Graphs – Stacked Column Chart</vt:lpstr>
      <vt:lpstr>“Not Wrong” Graphs – Stacked Column Chart</vt:lpstr>
      <vt:lpstr>“Not Wrong” Graphs – Tree Map</vt:lpstr>
      <vt:lpstr>“Not Wrong” Graphs – Tree Map</vt:lpstr>
      <vt:lpstr>“Not Wrong” Graphs – Donut Chart</vt:lpstr>
      <vt:lpstr>Other “Rules” For Part-to-Whole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Series: Overview</dc:title>
  <dc:creator>Tripp, John</dc:creator>
  <cp:lastModifiedBy>John Tripp</cp:lastModifiedBy>
  <cp:revision>32</cp:revision>
  <dcterms:created xsi:type="dcterms:W3CDTF">2019-04-19T17:36:28Z</dcterms:created>
  <dcterms:modified xsi:type="dcterms:W3CDTF">2020-11-29T03:30:24Z</dcterms:modified>
</cp:coreProperties>
</file>