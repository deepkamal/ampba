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365" r:id="rId2"/>
    <p:sldId id="346" r:id="rId3"/>
    <p:sldId id="347" r:id="rId4"/>
    <p:sldId id="368" r:id="rId5"/>
    <p:sldId id="386" r:id="rId6"/>
    <p:sldId id="391" r:id="rId7"/>
    <p:sldId id="387" r:id="rId8"/>
    <p:sldId id="388" r:id="rId9"/>
    <p:sldId id="369" r:id="rId10"/>
    <p:sldId id="370" r:id="rId11"/>
    <p:sldId id="372" r:id="rId12"/>
    <p:sldId id="389" r:id="rId13"/>
    <p:sldId id="390" r:id="rId14"/>
    <p:sldId id="373" r:id="rId15"/>
    <p:sldId id="376" r:id="rId16"/>
    <p:sldId id="385" r:id="rId17"/>
    <p:sldId id="39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F3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63"/>
  </p:normalViewPr>
  <p:slideViewPr>
    <p:cSldViewPr snapToGrid="0" snapToObjects="1">
      <p:cViewPr varScale="1">
        <p:scale>
          <a:sx n="124" d="100"/>
          <a:sy n="124" d="100"/>
        </p:scale>
        <p:origin x="5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1CDF49-EF8B-CB45-9648-99EEC4DFAF34}" type="datetimeFigureOut">
              <a:rPr lang="en-US" smtClean="0"/>
              <a:t>4/18/20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71B10D-6583-454C-B659-1349F4432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373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415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89E6D-DFC3-244D-8336-C5E6B2694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61964B-D1B1-A04D-A8C6-8913209DE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AEAB6-4ECE-8444-9D4E-7B7D1CE35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4/18/20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F3BA9-B9D6-354D-99A6-2B436B45F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6A654-445A-E74F-8F04-9552D664F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751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D0053-D77A-0647-BC00-ED2D3BBBF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8846-9083-A54E-9A85-85CBE70A9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1F52D-D9B3-1844-AF5F-E06ADB901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4/18/20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5F212-B091-E347-A443-03C5843DC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24ABF-4DE5-FF46-A2B3-00B292F75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448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1760D-F822-6F41-B6CD-BDB6FDF9B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5A303-84B4-5D4C-A21B-AF3417847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BD6DB-21AC-4F49-9E5D-4A8CD9A44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4/18/20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B912D-E6D4-3E43-8BD8-67879EB4C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83040-CF4F-CF40-A349-11FA43405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479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DF55E-E05F-9E45-970F-39F530DFA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F6607-0F1B-DE4E-826B-9A8EFCA29A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871B86-971F-F946-B1B1-6A73844363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208079-1CE7-1B4E-A24F-5D57E22FD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4/18/20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56E135-B797-ED4D-B669-732FF8EDE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1B2B0-E11B-2442-9628-D45C5D4AB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098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73C90-5F00-204F-A977-5EE8AA426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121CB-7F9D-FF48-85F7-8EDFAA07C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3DCFE-922A-FA49-AB8A-518AEF4699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7AA89E-9573-4945-B458-F2F720CB9F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584EF7-037D-AA42-8BD0-D70912E311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960CBA-8F4C-E743-A6DF-BBFB4F99C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4/18/20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99EC19-00B4-0E48-9BEE-654F4C693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D26EE9-772D-A947-9C7A-D20BA5D27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592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7362C-7683-344A-9019-B0A4E7D54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EA1C8B-EB9C-8B49-A5F1-CC9C136E6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4/18/20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D3C5E4-67BD-844C-82AB-251C039AD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AED386-4DD9-9644-9B20-8B80DC655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310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91985E-1CC6-D04D-BF77-35A6B70FD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4/18/20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C8298D-7052-7F4B-AB7A-9636DC290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0B8C1-FB02-9344-BDE5-A34B818E0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703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2F00A-6442-E74C-ADE8-A5CE6BD1F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465C4-749A-9E41-8F30-46437B55C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5B529C-996B-8248-B38A-F78036294A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007372-92BE-194C-86E4-9E374C8EC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4/18/20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8592B-1D84-DA40-AEE5-84F4CE5F9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7583F3-6AA6-2B42-A5FC-945FB3D96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139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43F4B-D229-F348-AD18-52902D4AD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66B807-04EE-7B48-B5CF-F1A365C0C5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A2094-5CAC-B341-9982-8DFA30317A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64CA46-86E7-5445-A648-A537C0832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4/18/20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59E915-B4A7-1C4F-8102-65063EB4E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3EA20A-7CAC-5845-8BEC-9BAB39B90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446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26AC9-F4E3-A448-9CA7-39688C32D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8D8903-0446-4542-A0DE-4734C73AF9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D4AB0-2D08-6E48-A620-EA51E2D49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4/18/20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CA670-6781-5E41-A1D0-4865DD551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CBA34-764A-434A-912F-F4043C3C8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258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880E33-FB86-2445-8E28-679C4A2090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ECF915-48F4-854B-83E3-A4D91C42E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0AE49-C024-B349-BB3E-F10D67ACF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4/18/20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8DD63-95C0-1043-98F4-AFC36A15E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74D16-EA52-CB4D-B2ED-FC5B71354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248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68CD69-D99E-EE48-A0EF-FE843D14F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17196D-2197-D04E-B405-BF5E01FCE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1706A-B5C7-4446-B4F0-7071FB692B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BFBDFA-E975-BA41-97CF-2D3CCDC72ED4}" type="datetimeFigureOut">
              <a:rPr lang="en-US" smtClean="0"/>
              <a:t>4/18/20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C4DA8-A9CD-CC48-9DEC-7D6672D8AD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79055-AAE2-894A-AB4D-7B203B23F4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22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Using Sparklines </a:t>
            </a:r>
            <a:br>
              <a:rPr lang="en-US" dirty="0"/>
            </a:br>
            <a:r>
              <a:rPr lang="en-US" dirty="0"/>
              <a:t>with Other Graphs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Data Visualization</a:t>
            </a:r>
          </a:p>
          <a:p>
            <a:r>
              <a:rPr lang="en-US" dirty="0"/>
              <a:t>John F. Tripp</a:t>
            </a:r>
          </a:p>
        </p:txBody>
      </p:sp>
    </p:spTree>
    <p:extLst>
      <p:ext uri="{BB962C8B-B14F-4D97-AF65-F5344CB8AC3E}">
        <p14:creationId xmlns:p14="http://schemas.microsoft.com/office/powerpoint/2010/main" val="1856545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Sparklines With Other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Sparklines have several limitations.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No axes.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No detail data.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Only shape (not level) can be compared between sparklines.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For this reason, we will often use sparklines with other graphs.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657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13B6C25-2E2C-6540-9436-3E2849ACB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Sparklines with Table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0A4D95-99B8-E846-836F-F3C5D982D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87475"/>
            <a:ext cx="1905000" cy="448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193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D2CA-6D57-7A47-BFD3-9EF86E1D5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Sparklines with Table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BBDDDC-3A14-A94E-8428-27BEE6DC4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75376"/>
            <a:ext cx="3649717" cy="490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703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One – Data Table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830E97-EE29-E846-9885-ADE63A1F9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77247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Open the </a:t>
            </a:r>
            <a:r>
              <a:rPr lang="en-US" b="1" i="1" dirty="0"/>
              <a:t>Sparklines with Other Graphs – </a:t>
            </a:r>
            <a:r>
              <a:rPr lang="en-US" b="1" i="1" dirty="0" err="1"/>
              <a:t>Start.twbx</a:t>
            </a:r>
            <a:r>
              <a:rPr lang="en-US" b="1" i="1" dirty="0"/>
              <a:t> </a:t>
            </a:r>
            <a:r>
              <a:rPr lang="en-US" dirty="0"/>
              <a:t>file.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Create a new sheet called “Table”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Add sub-category to Rows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Add SUM(Sales) to the Text Mark Card</a:t>
            </a:r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E4545FE1-51C8-F34F-B34B-5C11E1720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0950" y="1906913"/>
            <a:ext cx="4591050" cy="4998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556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One – Data Table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830E97-EE29-E846-9885-ADE63A1F9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19863" cy="4351338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Add Profit Ratio to the color mark card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Change the mark type to square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Modify the color with a two-step red-blue diverging color scheme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Make the label bold (format in the label mark)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Right click the Sub-category heading and choose “Hide Field Labels </a:t>
            </a:r>
            <a:r>
              <a:rPr lang="en-US"/>
              <a:t>for Rows”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Delete the title (do not hide it, just delete all text from it)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C43AE5-8050-014E-B15B-C32482CCA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8916" y="2455068"/>
            <a:ext cx="431308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38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Two – Sparklines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91D7DB8-55D7-D146-8CF1-792DD30B5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48338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Duplicate the Basic Sparklines Graph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Name it “Table Sparklines”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Replace Category with Sub-Category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Hide the Sub-Category Header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Fit Height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68EA19-4892-874A-B923-F91B6E84C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563" y="1621945"/>
            <a:ext cx="5405437" cy="5236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439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Three – Dashboard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735210-A159-504B-8E34-44E5C39F7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02522" cy="4351338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Add new dashboard, call it “Table Dashboard”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Resize to 400 x 400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Add Table and Table Sparklines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Size both to about half the area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Fit both to Entire View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Remove Table Sparklines Title Text (do not hide)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Add text area to top, and add text and fit as shown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6759F6-D3FC-5149-81BA-E67439C70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722" y="2395538"/>
            <a:ext cx="4451278" cy="4462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344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58F51-2458-7D49-AF0E-7A86D1B97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Sparklines with other Graphs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0766F70-340F-3643-B274-A41450E001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80723"/>
            <a:ext cx="10515600" cy="3096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030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 – Sparklines with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819775" cy="2760663"/>
          </a:xfrm>
        </p:spPr>
        <p:txBody>
          <a:bodyPr>
            <a:normAutofit/>
          </a:bodyPr>
          <a:lstStyle/>
          <a:p>
            <a:r>
              <a:rPr lang="en-US" dirty="0"/>
              <a:t>Duplicate the Basic Sparklines Graph</a:t>
            </a:r>
          </a:p>
          <a:p>
            <a:r>
              <a:rPr lang="en-US" dirty="0"/>
              <a:t>Call the graph Sparklines Detail</a:t>
            </a:r>
          </a:p>
          <a:p>
            <a:r>
              <a:rPr lang="en-US" dirty="0"/>
              <a:t>Add Segment to the rows shelf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B53613-6CE5-0B4E-99B5-D602F3791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552" y="2246910"/>
            <a:ext cx="5691447" cy="4611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077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the Trend 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019800" cy="33178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Create a new sheet – call it Trend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Drag Year(Order Date) to Columns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Drag Month(Order Date) to Columns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Drag Sum(Sales) to Rows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Fit Entire View</a:t>
            </a:r>
          </a:p>
          <a:p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250A31-5F54-D24A-A382-489D4A81F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785" y="1825625"/>
            <a:ext cx="6781215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244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the Trend Chart - Formatting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019800" cy="33178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Hide Month(Order Date) Header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Right click on the Order Date header and choose “Hide Field Labels for Columns”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Drop the Color field on Color</a:t>
            </a:r>
          </a:p>
          <a:p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763D99-FB59-B54F-8311-7D42879D5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2660410"/>
            <a:ext cx="6534150" cy="4197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517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the Trend Chart – More Formatting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019800" cy="33178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Hide the </a:t>
            </a:r>
            <a:r>
              <a:rPr lang="en-US" sz="2000" dirty="0" err="1"/>
              <a:t>Agg</a:t>
            </a:r>
            <a:r>
              <a:rPr lang="en-US" sz="2000" dirty="0"/>
              <a:t>(Color) card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Change fit to “Fit Width”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Drag bottom of graph up so it takes ½ the screen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Remove grid lines (Format Pane)</a:t>
            </a:r>
          </a:p>
          <a:p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56791D-FA2F-F143-80F8-FCB42AF2F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398" y="3681858"/>
            <a:ext cx="10515601" cy="3176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0795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the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Create a new Dashboard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Size the Dashboard to 1000 x 300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Drag the Sparklines Detail and Trend to the dashboard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Size as shown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F2BA07-DF68-0E45-BF8B-BA1A47EB1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113" y="3864591"/>
            <a:ext cx="10148887" cy="2993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8094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 - </a:t>
            </a:r>
            <a:r>
              <a:rPr lang="en-US" dirty="0" err="1"/>
              <a:t>Sparklines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048250" cy="4351338"/>
          </a:xfrm>
        </p:spPr>
        <p:txBody>
          <a:bodyPr/>
          <a:lstStyle/>
          <a:p>
            <a:r>
              <a:rPr lang="en-US" dirty="0"/>
              <a:t>Add a filter dashboard action that triggers from Sparklines Detail as shown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65EB78-F49F-7B43-BF53-8DA7DE4EC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6012" y="1571624"/>
            <a:ext cx="3845987" cy="528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3908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1C1E5-28AE-0E43-9187-1C272E356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Finished</a:t>
            </a:r>
          </a:p>
        </p:txBody>
      </p:sp>
      <p:pic>
        <p:nvPicPr>
          <p:cNvPr id="6" name="Content Placeholder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46BF3A0D-6692-0F45-AA8E-AC7F6FBCFE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05172"/>
            <a:ext cx="10515600" cy="2992243"/>
          </a:xfrm>
        </p:spPr>
      </p:pic>
    </p:spTree>
    <p:extLst>
      <p:ext uri="{BB962C8B-B14F-4D97-AF65-F5344CB8AC3E}">
        <p14:creationId xmlns:p14="http://schemas.microsoft.com/office/powerpoint/2010/main" val="13969138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D543D-E8FD-614A-A10A-46F34695A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2427F2-4BFD-8B47-B9E5-233751ED8C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46813"/>
            <a:ext cx="10515600" cy="3308962"/>
          </a:xfrm>
        </p:spPr>
      </p:pic>
    </p:spTree>
    <p:extLst>
      <p:ext uri="{BB962C8B-B14F-4D97-AF65-F5344CB8AC3E}">
        <p14:creationId xmlns:p14="http://schemas.microsoft.com/office/powerpoint/2010/main" val="1902336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2525</TotalTime>
  <Words>435</Words>
  <Application>Microsoft Macintosh PowerPoint</Application>
  <PresentationFormat>Widescreen</PresentationFormat>
  <Paragraphs>67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Using Sparklines  with Other Graphs</vt:lpstr>
      <vt:lpstr>Using Sparklines With Other Graphs</vt:lpstr>
      <vt:lpstr>Sparklines with Table</vt:lpstr>
      <vt:lpstr>Sparklines with Table</vt:lpstr>
      <vt:lpstr>Part One – Data Table</vt:lpstr>
      <vt:lpstr>Part One – Data Table</vt:lpstr>
      <vt:lpstr>Part Two – Sparklines</vt:lpstr>
      <vt:lpstr>Part Three – Dashboard</vt:lpstr>
      <vt:lpstr>Sparklines with other Graphs</vt:lpstr>
      <vt:lpstr>Hands On – Sparklines with Trend</vt:lpstr>
      <vt:lpstr>Create the Trend Chart</vt:lpstr>
      <vt:lpstr>Create the Trend Chart - Formatting</vt:lpstr>
      <vt:lpstr>Create the Trend Chart – More Formatting</vt:lpstr>
      <vt:lpstr>Create the Dashboard</vt:lpstr>
      <vt:lpstr>Hands On - Sparklines</vt:lpstr>
      <vt:lpstr>Finished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Dashboards</dc:title>
  <dc:creator>Tripp, John</dc:creator>
  <cp:lastModifiedBy>John Frederick Tripp</cp:lastModifiedBy>
  <cp:revision>41</cp:revision>
  <dcterms:created xsi:type="dcterms:W3CDTF">2019-04-17T16:40:25Z</dcterms:created>
  <dcterms:modified xsi:type="dcterms:W3CDTF">2020-04-18T16:20:07Z</dcterms:modified>
</cp:coreProperties>
</file>