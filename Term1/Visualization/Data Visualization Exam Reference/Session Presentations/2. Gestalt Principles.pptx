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860" r:id="rId3"/>
    <p:sldId id="888" r:id="rId4"/>
    <p:sldId id="861" r:id="rId5"/>
    <p:sldId id="862" r:id="rId6"/>
    <p:sldId id="863" r:id="rId7"/>
    <p:sldId id="864" r:id="rId8"/>
    <p:sldId id="865" r:id="rId9"/>
    <p:sldId id="866" r:id="rId10"/>
    <p:sldId id="867" r:id="rId11"/>
    <p:sldId id="868" r:id="rId12"/>
    <p:sldId id="869" r:id="rId13"/>
    <p:sldId id="870" r:id="rId14"/>
    <p:sldId id="871" r:id="rId15"/>
    <p:sldId id="872" r:id="rId16"/>
    <p:sldId id="873" r:id="rId17"/>
    <p:sldId id="874" r:id="rId18"/>
    <p:sldId id="875" r:id="rId19"/>
    <p:sldId id="876" r:id="rId20"/>
    <p:sldId id="877" r:id="rId21"/>
    <p:sldId id="878" r:id="rId22"/>
    <p:sldId id="879" r:id="rId23"/>
    <p:sldId id="880" r:id="rId24"/>
    <p:sldId id="881" r:id="rId25"/>
    <p:sldId id="882" r:id="rId26"/>
    <p:sldId id="883" r:id="rId27"/>
    <p:sldId id="884" r:id="rId28"/>
    <p:sldId id="885" r:id="rId29"/>
    <p:sldId id="886" r:id="rId30"/>
    <p:sldId id="8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63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360F6-A98C-D548-8501-6F7F5F16613B}" type="datetimeFigureOut">
              <a:rPr lang="en-US" smtClean="0"/>
              <a:t>4/17/20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1D5-AC88-0442-A59C-4A56A9D78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6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8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67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3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07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Humans have a keen dislike for</a:t>
            </a:r>
            <a:r>
              <a:rPr lang="en-US" baseline="0" dirty="0"/>
              <a:t> </a:t>
            </a:r>
            <a:r>
              <a:rPr lang="en-US" dirty="0"/>
              <a:t>loose ends. When faced with ambiguous visual</a:t>
            </a:r>
            <a:r>
              <a:rPr lang="en-US" baseline="0" dirty="0"/>
              <a:t> </a:t>
            </a:r>
            <a:r>
              <a:rPr lang="en-US" dirty="0"/>
              <a:t>stimuli objects that could be</a:t>
            </a:r>
            <a:r>
              <a:rPr lang="en-US" baseline="0" dirty="0"/>
              <a:t> </a:t>
            </a:r>
            <a:r>
              <a:rPr lang="en-US" dirty="0"/>
              <a:t>perceived either as open, incomplete, and unusual forms or as closed, whole, and regular forms we</a:t>
            </a:r>
          </a:p>
          <a:p>
            <a:r>
              <a:rPr lang="en-US" dirty="0"/>
              <a:t>naturally perceive them as the latter. The principle of closure asserts that we perceive open structures as</a:t>
            </a:r>
          </a:p>
          <a:p>
            <a:r>
              <a:rPr lang="en-US" dirty="0"/>
              <a:t>closed, complete, and regular whenever there is a way that we can reasonably do so. </a:t>
            </a:r>
          </a:p>
          <a:p>
            <a:endParaRPr lang="en-US" dirty="0"/>
          </a:p>
          <a:p>
            <a:r>
              <a:rPr lang="en-US" dirty="0"/>
              <a:t>We can apply this tendency to perceive whole structures in dashboards, especially in the design of graphs.</a:t>
            </a:r>
          </a:p>
          <a:p>
            <a:endParaRPr lang="en-US" dirty="0"/>
          </a:p>
          <a:p>
            <a:r>
              <a:rPr lang="en-US" dirty="0"/>
              <a:t>For example, we can group objects (points, lines, or bars in a graph, etc.) into visual regions without the use </a:t>
            </a:r>
          </a:p>
          <a:p>
            <a:endParaRPr lang="en-US" dirty="0"/>
          </a:p>
          <a:p>
            <a:r>
              <a:rPr lang="en-US" dirty="0"/>
              <a:t>of complete borders or background colors to define the space. This is preferable, because the need to </a:t>
            </a:r>
          </a:p>
          <a:p>
            <a:endParaRPr lang="en-US" dirty="0"/>
          </a:p>
          <a:p>
            <a:r>
              <a:rPr lang="en-US" dirty="0"/>
              <a:t>display a large collection of data in a small amount of space requires that we eliminate all visual content </a:t>
            </a:r>
          </a:p>
          <a:p>
            <a:endParaRPr lang="en-US" dirty="0"/>
          </a:p>
          <a:p>
            <a:r>
              <a:rPr lang="en-US" dirty="0"/>
              <a:t>that is not absolutely necessary, to avoid clutter. As shown here, it is sufficient to define the area </a:t>
            </a:r>
          </a:p>
          <a:p>
            <a:endParaRPr lang="en-US" dirty="0"/>
          </a:p>
          <a:p>
            <a:r>
              <a:rPr lang="en-US" dirty="0"/>
              <a:t>of a graph through the use of a single set of X and Y axes, rather than by lines that form a complete </a:t>
            </a:r>
          </a:p>
          <a:p>
            <a:endParaRPr lang="en-US" dirty="0"/>
          </a:p>
          <a:p>
            <a:r>
              <a:rPr lang="en-US" dirty="0"/>
              <a:t>rectangle around the graph, with or without a fill 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20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 perceive objects as belonging together, as part of a single whole, if they are aligned with one another or</a:t>
            </a:r>
          </a:p>
          <a:p>
            <a:endParaRPr lang="en-US" dirty="0"/>
          </a:p>
          <a:p>
            <a:r>
              <a:rPr lang="en-US" dirty="0"/>
              <a:t>appear to form a continuation of one another. For instance, we tend to see the individual </a:t>
            </a:r>
          </a:p>
          <a:p>
            <a:endParaRPr lang="en-US" dirty="0"/>
          </a:p>
          <a:p>
            <a:r>
              <a:rPr lang="en-US" dirty="0"/>
              <a:t>lines as a continuation of one another, more as a dashed line than separate lines.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16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Things that are aligned with one another appear to belong to the same group. In the table it</a:t>
            </a:r>
          </a:p>
          <a:p>
            <a:endParaRPr lang="en-US" dirty="0"/>
          </a:p>
          <a:p>
            <a:r>
              <a:rPr lang="en-US" dirty="0"/>
              <a:t>is obvious which items are division names and which are department names, based on their distinct </a:t>
            </a:r>
          </a:p>
          <a:p>
            <a:endParaRPr lang="en-US" dirty="0"/>
          </a:p>
          <a:p>
            <a:r>
              <a:rPr lang="en-US" dirty="0"/>
              <a:t>alignment. Divisions, departments, and headcounts are clearly grouped, without any need for vertical grid </a:t>
            </a:r>
          </a:p>
          <a:p>
            <a:endParaRPr lang="en-US" dirty="0"/>
          </a:p>
          <a:p>
            <a:r>
              <a:rPr lang="en-US" dirty="0"/>
              <a:t>lines to delineate them. Even though the division and department columns overlap with no white space in </a:t>
            </a:r>
          </a:p>
          <a:p>
            <a:endParaRPr lang="en-US" dirty="0"/>
          </a:p>
          <a:p>
            <a:r>
              <a:rPr lang="en-US" dirty="0"/>
              <a:t>between, their distinct alignment alone makes them easy to distinguish. This same technique can be used </a:t>
            </a:r>
          </a:p>
          <a:p>
            <a:endParaRPr lang="en-US" dirty="0"/>
          </a:p>
          <a:p>
            <a:r>
              <a:rPr lang="en-US" dirty="0"/>
              <a:t>to tie together separate sections of data on a 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73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 perceive objects that are connected in some way, such as by a line, as part of the same group.</a:t>
            </a:r>
            <a:r>
              <a:rPr lang="en-US" baseline="0" dirty="0"/>
              <a:t> </a:t>
            </a:r>
            <a:r>
              <a:rPr lang="en-US" dirty="0"/>
              <a:t> even though the circles are nearer to one another vertically than horizontally, the lines that connect </a:t>
            </a:r>
          </a:p>
          <a:p>
            <a:r>
              <a:rPr lang="en-US" dirty="0"/>
              <a:t>them create a clear perception of two horizontally attached 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40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62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2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02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12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97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perception of grouping produced by connection is stronger than that</a:t>
            </a:r>
          </a:p>
          <a:p>
            <a:endParaRPr lang="en-US" dirty="0"/>
          </a:p>
          <a:p>
            <a:r>
              <a:rPr lang="en-US" dirty="0"/>
              <a:t>produced by proximity or similarity (color, size, and shape); it is weaker only than that produced by</a:t>
            </a:r>
          </a:p>
          <a:p>
            <a:endParaRPr lang="en-US" dirty="0"/>
          </a:p>
          <a:p>
            <a:r>
              <a:rPr lang="en-US" dirty="0"/>
              <a:t>enclosure. The principle of connection is especially useful for tying together non‐quantitative </a:t>
            </a:r>
            <a:r>
              <a:rPr lang="en-US" dirty="0" err="1"/>
              <a:t>datafor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example, to represent relationships between steps in a process or between employees in an 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46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 of the greatest challenges in dashboard design are to make the most important data stand out from </a:t>
            </a:r>
          </a:p>
          <a:p>
            <a:endParaRPr lang="en-US" dirty="0"/>
          </a:p>
          <a:p>
            <a:r>
              <a:rPr lang="en-US" dirty="0"/>
              <a:t>the rest, and to arrange what is often a great deal of disparate information in a way that makes sense, gives </a:t>
            </a:r>
          </a:p>
          <a:p>
            <a:endParaRPr lang="en-US" dirty="0"/>
          </a:p>
          <a:p>
            <a:r>
              <a:rPr lang="en-US" dirty="0"/>
              <a:t>it meaning, and supports its efficient perception. An understanding of the </a:t>
            </a:r>
            <a:r>
              <a:rPr lang="en-US" dirty="0" err="1"/>
              <a:t>preattentive</a:t>
            </a:r>
            <a:r>
              <a:rPr lang="en-US" dirty="0"/>
              <a:t> attributes of visual </a:t>
            </a:r>
          </a:p>
          <a:p>
            <a:endParaRPr lang="en-US" dirty="0"/>
          </a:p>
          <a:p>
            <a:r>
              <a:rPr lang="en-US" dirty="0"/>
              <a:t>perception and the Gestalt principles provides a useful conceptual foundation for facing these challenges. It </a:t>
            </a:r>
          </a:p>
          <a:p>
            <a:endParaRPr lang="en-US" dirty="0"/>
          </a:p>
          <a:p>
            <a:r>
              <a:rPr lang="en-US" dirty="0"/>
              <a:t>is much more helpful to understand how and why something works than to simply understand that </a:t>
            </a:r>
          </a:p>
          <a:p>
            <a:endParaRPr lang="en-US" dirty="0"/>
          </a:p>
          <a:p>
            <a:r>
              <a:rPr lang="en-US" dirty="0"/>
              <a:t>something works. If you understand the how and why, when you're faced with new challenges you'll be </a:t>
            </a:r>
          </a:p>
          <a:p>
            <a:endParaRPr lang="en-US" dirty="0"/>
          </a:p>
          <a:p>
            <a:r>
              <a:rPr lang="en-US" dirty="0"/>
              <a:t>able to determine whether or not the principles apply and how to adapt them to the new circumstances. If </a:t>
            </a:r>
          </a:p>
          <a:p>
            <a:endParaRPr lang="en-US" dirty="0"/>
          </a:p>
          <a:p>
            <a:r>
              <a:rPr lang="en-US" dirty="0"/>
              <a:t>you've simply been told that something works in a specific situation, you'll be stuck when faced with </a:t>
            </a:r>
          </a:p>
          <a:p>
            <a:endParaRPr lang="en-US" dirty="0"/>
          </a:p>
          <a:p>
            <a:r>
              <a:rPr lang="en-US" dirty="0"/>
              <a:t>conditions that are even slightly 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28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80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548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83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4D262-C4C4-824D-BA5B-F7202161C56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08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AD79-94C1-4D48-86BD-F76950D61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23510-A529-AA4A-8E3B-BD4003632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639E1-FEC3-204B-92CA-D5FDBD0C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9AEBF-54BD-E045-942E-2B38597F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B31E7-B095-D945-9D51-08D068A2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E52A-EFA5-3045-9833-D79287EF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2460-B1F0-0742-90BF-F6B039646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0DC69-40C8-CF40-81DA-BBE79665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F9AF3-ED8C-AC4C-A70A-81C9CBF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B892-3582-164D-80BF-4829FA43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3D11-7B4F-7346-9EB5-2FA46408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0FC40-08E1-C944-ADC8-BE21A91BB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D32F-9F47-5A43-AFC2-A7D43201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38765-7374-6240-8D29-1D3B28017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3AE60-61E4-1044-8B20-A5492FDB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8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FF7B-4BC4-6F44-A446-43248780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5AF10-905C-9240-9B5B-F0766B565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3BEBA-A4A0-B444-BA48-A6705FA9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3B333-01BD-1846-B46D-406635F6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CE2D5-5CD1-3442-A28D-FE61DE68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F2452-CD7E-FF41-BAC8-5310A5F6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8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D38C-A26F-8D41-A323-D7DCF26C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FAC2D-3A58-A844-99C1-BE30C92A9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7A586-F412-C74B-8EBF-E5A42DC5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E4107-9783-F547-8970-C8A732E98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2FCDD-3BCE-574E-8D98-853945EE2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C1CA2-C2E9-EA4D-8CC3-638D1741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BD561-6F0E-8A4A-8E01-B0C75EEDF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C1542-90C2-0B43-A52F-900D1FD9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5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4642-F5DB-E84E-9C97-66EFE9AB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9B636D-7D92-7646-8310-1F33FC876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40B27-716E-394A-BB32-709E69F8D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BACAF-DCD1-284C-B4D3-C7DEAC79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6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DC132-C8CE-FA4F-8E2C-2D4B6062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A52744-FD42-B94D-9098-48C1ADE8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C5A67-3EA1-C647-8D4B-75655405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1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515F0-CEEB-C241-B0F3-B36EC7AF2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CA4F9-37F6-6E49-BA23-4AB2BD911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2801F-10A2-E345-B7DF-1FBEB36B6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F31C7-E67A-9147-A769-0765723D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1CA70-3AFE-7E4E-AB98-DC46B788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E688C-B99F-5542-A9ED-78C1EAC4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8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26CD-2D8A-CB4F-9CB6-8EEF4C12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04D39-A2AD-9A4D-B2E2-499C020F5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08CB2-8441-0D47-AB7E-FB68BA649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CB85D-AE29-EC4E-846D-8972868F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37063-D9C6-3B42-8788-5F13713A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3D00E-236B-374B-81F0-956803F8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1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27DA-5AEA-6943-A897-DABB7019B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E5FDE-DBCC-6A4A-8153-79E0408D6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D73A8-C207-7946-A440-7BEFD19E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DB94-DE31-4A4F-BD39-788C853B9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B099C-774A-2A49-9F2C-0A62BCDB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9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4D220-3F64-7545-9729-987712035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9C5A5-DC31-D64E-ABA3-312C27678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EB8C5-C740-A44F-9EE9-AE29E679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79017-B287-7040-99C7-EFF0BB80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6F156-279C-1C4D-968B-D4FB2992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3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4B56AA-315E-534C-8581-5DE93756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5434E-E2A4-3147-8A99-21966D61B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67D1A-B0CA-A942-92BD-F6C40635D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BA145-2D34-ED4D-8DD4-65F8C872F797}" type="datetimeFigureOut">
              <a:rPr lang="en-US" smtClean="0"/>
              <a:t>4/17/20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C2F25-46C3-FC4D-9438-795947625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7B314-F785-C44D-A7F8-ED9716B21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09C53-6DE9-5941-80A0-7DD096C3D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50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8898-ADBB-F442-920F-6B039F44D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Gestalt Principles of Visual Perception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E51B0-E1BA-9940-99EB-D92DB6F177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41530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Perception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this point, we have discussed perception principles related to one visualization. </a:t>
            </a:r>
          </a:p>
          <a:p>
            <a:endParaRPr lang="en-US" dirty="0"/>
          </a:p>
          <a:p>
            <a:r>
              <a:rPr lang="en-US" dirty="0"/>
              <a:t>However, in modern BI dashboards, we often need multiple visualizations to “work together”.</a:t>
            </a:r>
          </a:p>
        </p:txBody>
      </p:sp>
    </p:spTree>
    <p:extLst>
      <p:ext uri="{BB962C8B-B14F-4D97-AF65-F5344CB8AC3E}">
        <p14:creationId xmlns:p14="http://schemas.microsoft.com/office/powerpoint/2010/main" val="33899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Perception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Gestalt school of psychology</a:t>
            </a:r>
          </a:p>
          <a:p>
            <a:pPr lvl="1"/>
            <a:r>
              <a:rPr lang="en-US" dirty="0"/>
              <a:t>Proximity</a:t>
            </a:r>
          </a:p>
          <a:p>
            <a:pPr lvl="1"/>
            <a:r>
              <a:rPr lang="en-US" dirty="0"/>
              <a:t>Similarity</a:t>
            </a:r>
          </a:p>
          <a:p>
            <a:pPr lvl="1"/>
            <a:r>
              <a:rPr lang="en-US" dirty="0"/>
              <a:t>Enclosure</a:t>
            </a:r>
          </a:p>
          <a:p>
            <a:pPr lvl="1"/>
            <a:r>
              <a:rPr lang="en-US" dirty="0"/>
              <a:t>Closure</a:t>
            </a:r>
          </a:p>
          <a:p>
            <a:pPr lvl="1"/>
            <a:r>
              <a:rPr lang="en-US" dirty="0"/>
              <a:t>Continuity</a:t>
            </a:r>
          </a:p>
          <a:p>
            <a:pPr lvl="1"/>
            <a:r>
              <a:rPr lang="en-US" dirty="0"/>
              <a:t>Connection</a:t>
            </a:r>
          </a:p>
          <a:p>
            <a:pPr lvl="1"/>
            <a:endParaRPr lang="en-US" dirty="0"/>
          </a:p>
          <a:p>
            <a:r>
              <a:rPr lang="en-US" dirty="0"/>
              <a:t>Once you are working with multiple visualizations, you need to pay attention to these things.</a:t>
            </a:r>
          </a:p>
        </p:txBody>
      </p:sp>
    </p:spTree>
    <p:extLst>
      <p:ext uri="{BB962C8B-B14F-4D97-AF65-F5344CB8AC3E}">
        <p14:creationId xmlns:p14="http://schemas.microsoft.com/office/powerpoint/2010/main" val="299450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43286" y="3731988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4958443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742714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742714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71114" y="40767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71114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767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4076701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9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43286" y="3731988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4958443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742714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7427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71114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711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86831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767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07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4076701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5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43286" y="3857172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5054600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742714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7427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71114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711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86831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56744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83200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3997780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3" idx="3"/>
            <a:endCxn id="5" idx="1"/>
          </p:cNvCxnSpPr>
          <p:nvPr/>
        </p:nvCxnSpPr>
        <p:spPr>
          <a:xfrm>
            <a:off x="4430486" y="4216401"/>
            <a:ext cx="812800" cy="3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" idx="3"/>
            <a:endCxn id="6" idx="1"/>
          </p:cNvCxnSpPr>
          <p:nvPr/>
        </p:nvCxnSpPr>
        <p:spPr>
          <a:xfrm>
            <a:off x="4430486" y="5417457"/>
            <a:ext cx="8128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9" idx="6"/>
            <a:endCxn id="11" idx="1"/>
          </p:cNvCxnSpPr>
          <p:nvPr/>
        </p:nvCxnSpPr>
        <p:spPr>
          <a:xfrm>
            <a:off x="6858001" y="4227287"/>
            <a:ext cx="82368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0" idx="6"/>
            <a:endCxn id="12" idx="1"/>
          </p:cNvCxnSpPr>
          <p:nvPr/>
        </p:nvCxnSpPr>
        <p:spPr>
          <a:xfrm>
            <a:off x="6858001" y="5351235"/>
            <a:ext cx="823685" cy="635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0" idx="3"/>
            <a:endCxn id="8" idx="1"/>
          </p:cNvCxnSpPr>
          <p:nvPr/>
        </p:nvCxnSpPr>
        <p:spPr>
          <a:xfrm>
            <a:off x="8839200" y="5357587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8839200" y="4216401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7" idx="3"/>
            <a:endCxn id="15" idx="1"/>
          </p:cNvCxnSpPr>
          <p:nvPr/>
        </p:nvCxnSpPr>
        <p:spPr>
          <a:xfrm>
            <a:off x="2449286" y="4220029"/>
            <a:ext cx="830942" cy="72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8" idx="3"/>
            <a:endCxn id="16" idx="1"/>
          </p:cNvCxnSpPr>
          <p:nvPr/>
        </p:nvCxnSpPr>
        <p:spPr>
          <a:xfrm>
            <a:off x="2449286" y="5446486"/>
            <a:ext cx="830942" cy="36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83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43286" y="3857172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5054600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76757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976757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605157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605157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86831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56744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83200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3997780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3" idx="3"/>
            <a:endCxn id="5" idx="1"/>
          </p:cNvCxnSpPr>
          <p:nvPr/>
        </p:nvCxnSpPr>
        <p:spPr>
          <a:xfrm>
            <a:off x="4430486" y="4216401"/>
            <a:ext cx="812800" cy="3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" idx="3"/>
            <a:endCxn id="6" idx="1"/>
          </p:cNvCxnSpPr>
          <p:nvPr/>
        </p:nvCxnSpPr>
        <p:spPr>
          <a:xfrm>
            <a:off x="4430486" y="5417457"/>
            <a:ext cx="8128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9" idx="6"/>
            <a:endCxn id="11" idx="1"/>
          </p:cNvCxnSpPr>
          <p:nvPr/>
        </p:nvCxnSpPr>
        <p:spPr>
          <a:xfrm>
            <a:off x="6858001" y="4227287"/>
            <a:ext cx="82368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0" idx="6"/>
            <a:endCxn id="12" idx="1"/>
          </p:cNvCxnSpPr>
          <p:nvPr/>
        </p:nvCxnSpPr>
        <p:spPr>
          <a:xfrm>
            <a:off x="6858001" y="5351235"/>
            <a:ext cx="823685" cy="635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0" idx="3"/>
            <a:endCxn id="8" idx="1"/>
          </p:cNvCxnSpPr>
          <p:nvPr/>
        </p:nvCxnSpPr>
        <p:spPr>
          <a:xfrm>
            <a:off x="9073243" y="5357587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073243" y="4216401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7" idx="3"/>
            <a:endCxn id="15" idx="1"/>
          </p:cNvCxnSpPr>
          <p:nvPr/>
        </p:nvCxnSpPr>
        <p:spPr>
          <a:xfrm>
            <a:off x="2449286" y="4220029"/>
            <a:ext cx="830942" cy="72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8" idx="3"/>
            <a:endCxn id="16" idx="1"/>
          </p:cNvCxnSpPr>
          <p:nvPr/>
        </p:nvCxnSpPr>
        <p:spPr>
          <a:xfrm>
            <a:off x="2449286" y="5446486"/>
            <a:ext cx="830942" cy="36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705430" y="3664857"/>
            <a:ext cx="2140857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846287" y="3664857"/>
            <a:ext cx="2373085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219372" y="3664857"/>
            <a:ext cx="2256971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476344" y="3670301"/>
            <a:ext cx="2064657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1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Proximity</a:t>
            </a:r>
          </a:p>
          <a:p>
            <a:pPr lvl="1"/>
            <a:r>
              <a:rPr lang="en-US" dirty="0"/>
              <a:t>Objects that “hold together” are perceived to be in groups.</a:t>
            </a:r>
          </a:p>
          <a:p>
            <a:pPr lvl="2"/>
            <a:r>
              <a:rPr lang="en-US" dirty="0"/>
              <a:t>Most important driver of this is white space</a:t>
            </a:r>
          </a:p>
          <a:p>
            <a:pPr lvl="1"/>
            <a:r>
              <a:rPr lang="en-US" dirty="0"/>
              <a:t>Your choice of scale will influence the amount of white space available</a:t>
            </a:r>
          </a:p>
          <a:p>
            <a:pPr lvl="2"/>
            <a:r>
              <a:rPr lang="en-US" dirty="0"/>
              <a:t>Ensure that the groups have enough distance to be distinguishable as “different”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383" y="5538692"/>
            <a:ext cx="2875617" cy="131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0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Proximity</a:t>
            </a:r>
          </a:p>
          <a:p>
            <a:pPr lvl="1"/>
            <a:r>
              <a:rPr lang="en-US" dirty="0"/>
              <a:t>This same principle in play: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047060"/>
            <a:ext cx="9144000" cy="381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15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Simply stated – when things look alike they are perceived alike</a:t>
            </a:r>
          </a:p>
          <a:p>
            <a:pPr lvl="1"/>
            <a:r>
              <a:rPr lang="en-US" dirty="0"/>
              <a:t>You can modify the shape, color, size, etc. of your objects in Tableau to drive the eye to recognize what really IS similar, and what is NOT.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082196"/>
            <a:ext cx="9144000" cy="27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7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perceive a set of objects to be a “group” when they are enclosed in any visual area that places a border around them.</a:t>
            </a:r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998" y="4076648"/>
            <a:ext cx="5424002" cy="2781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2842" y="4695617"/>
            <a:ext cx="3201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points in both pictures are arranged identically, but they are perceived as being grouped very differently</a:t>
            </a:r>
          </a:p>
        </p:txBody>
      </p:sp>
    </p:spTree>
    <p:extLst>
      <p:ext uri="{BB962C8B-B14F-4D97-AF65-F5344CB8AC3E}">
        <p14:creationId xmlns:p14="http://schemas.microsoft.com/office/powerpoint/2010/main" val="123374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will allow you to create arbitrary boundaries.</a:t>
            </a:r>
          </a:p>
          <a:p>
            <a:r>
              <a:rPr lang="en-US" dirty="0"/>
              <a:t>(You can do this with an annotation in Tableau)</a:t>
            </a:r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998" y="4076648"/>
            <a:ext cx="5424002" cy="2781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2842" y="4695617"/>
            <a:ext cx="3201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points in both pictures are arranged identically, but they are perceived as being grouped very differently</a:t>
            </a:r>
          </a:p>
        </p:txBody>
      </p:sp>
    </p:spTree>
    <p:extLst>
      <p:ext uri="{BB962C8B-B14F-4D97-AF65-F5344CB8AC3E}">
        <p14:creationId xmlns:p14="http://schemas.microsoft.com/office/powerpoint/2010/main" val="3699195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perception doesn’t like “loose ends”.</a:t>
            </a:r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662518"/>
            <a:ext cx="9144000" cy="419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1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perception doesn’t like “loose ends”.</a:t>
            </a:r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662518"/>
            <a:ext cx="9144000" cy="4195482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146280" y="5069131"/>
            <a:ext cx="821812" cy="0"/>
          </a:xfrm>
          <a:prstGeom prst="line">
            <a:avLst/>
          </a:prstGeom>
          <a:ln w="857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146280" y="2948426"/>
            <a:ext cx="821812" cy="0"/>
          </a:xfrm>
          <a:prstGeom prst="line">
            <a:avLst/>
          </a:prstGeom>
          <a:ln w="857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8634" y="4204710"/>
            <a:ext cx="4365213" cy="2507886"/>
          </a:xfrm>
          <a:prstGeom prst="ellipse">
            <a:avLst/>
          </a:prstGeom>
          <a:noFill/>
          <a:ln w="889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61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of this, you don’t need as much ink to separate different components on a visualization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996" y="3178894"/>
            <a:ext cx="8236804" cy="367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73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Alignment allows for the perception of continuity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11532"/>
            <a:ext cx="9144000" cy="378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00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Alignment allows for the perception of continuity</a:t>
            </a:r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2478315"/>
            <a:ext cx="6159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94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564" y="743857"/>
            <a:ext cx="5554008" cy="517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36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things are connected, they are part of the same “group” (chunk).</a:t>
            </a:r>
          </a:p>
          <a:p>
            <a:pPr lvl="1"/>
            <a:r>
              <a:rPr lang="en-US" dirty="0"/>
              <a:t>In this case, connection overrules proximity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3552665"/>
            <a:ext cx="41656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87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how each of the principles drives the perception of “grouping”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269014"/>
            <a:ext cx="9144000" cy="205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42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Hierarchy of grouping</a:t>
            </a:r>
          </a:p>
          <a:p>
            <a:r>
              <a:rPr lang="en-US" dirty="0"/>
              <a:t>Enclosure</a:t>
            </a:r>
          </a:p>
          <a:p>
            <a:pPr lvl="1"/>
            <a:r>
              <a:rPr lang="en-US" dirty="0"/>
              <a:t>Connection</a:t>
            </a:r>
          </a:p>
          <a:p>
            <a:pPr lvl="2"/>
            <a:r>
              <a:rPr lang="en-US" dirty="0"/>
              <a:t>Similarity</a:t>
            </a:r>
          </a:p>
          <a:p>
            <a:pPr lvl="3"/>
            <a:r>
              <a:rPr lang="en-US" dirty="0"/>
              <a:t>Proximity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269014"/>
            <a:ext cx="9144000" cy="205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56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how each of the principles drives the perception of “grouping”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43286" y="3731988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4958443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742714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742714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71114" y="40767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71114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767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4076701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37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how each of the principles drives the perception of “grouping”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43286" y="3731988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4958443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742714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7427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71114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711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86831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767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07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4076701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1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how each of the principles drives the perception of “grouping”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43286" y="3857172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5054600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742714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7427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71114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71114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86831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56744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83200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3997780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3" idx="3"/>
            <a:endCxn id="5" idx="1"/>
          </p:cNvCxnSpPr>
          <p:nvPr/>
        </p:nvCxnSpPr>
        <p:spPr>
          <a:xfrm>
            <a:off x="4430486" y="4216401"/>
            <a:ext cx="812800" cy="3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" idx="3"/>
            <a:endCxn id="6" idx="1"/>
          </p:cNvCxnSpPr>
          <p:nvPr/>
        </p:nvCxnSpPr>
        <p:spPr>
          <a:xfrm>
            <a:off x="4430486" y="5417457"/>
            <a:ext cx="8128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9" idx="6"/>
            <a:endCxn id="11" idx="1"/>
          </p:cNvCxnSpPr>
          <p:nvPr/>
        </p:nvCxnSpPr>
        <p:spPr>
          <a:xfrm>
            <a:off x="6858001" y="4227287"/>
            <a:ext cx="82368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0" idx="6"/>
            <a:endCxn id="12" idx="1"/>
          </p:cNvCxnSpPr>
          <p:nvPr/>
        </p:nvCxnSpPr>
        <p:spPr>
          <a:xfrm>
            <a:off x="6858001" y="5351235"/>
            <a:ext cx="823685" cy="635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0" idx="3"/>
            <a:endCxn id="8" idx="1"/>
          </p:cNvCxnSpPr>
          <p:nvPr/>
        </p:nvCxnSpPr>
        <p:spPr>
          <a:xfrm>
            <a:off x="8839200" y="5357587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8839200" y="4216401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7" idx="3"/>
            <a:endCxn id="15" idx="1"/>
          </p:cNvCxnSpPr>
          <p:nvPr/>
        </p:nvCxnSpPr>
        <p:spPr>
          <a:xfrm>
            <a:off x="2449286" y="4220029"/>
            <a:ext cx="830942" cy="72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8" idx="3"/>
            <a:endCxn id="16" idx="1"/>
          </p:cNvCxnSpPr>
          <p:nvPr/>
        </p:nvCxnSpPr>
        <p:spPr>
          <a:xfrm>
            <a:off x="2449286" y="5446486"/>
            <a:ext cx="830942" cy="36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892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how each of the principles drives the perception of “grouping”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43286" y="3857172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43286" y="5054600"/>
            <a:ext cx="816428" cy="7257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76757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976757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605157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605157" y="51943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81685" y="40640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81685" y="519430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62400" y="4053116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62400" y="5254172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80228" y="4064002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80228" y="5286831"/>
            <a:ext cx="468086" cy="326571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200" y="4056744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81200" y="5283200"/>
            <a:ext cx="468086" cy="3265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22572" y="3997780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422572" y="5121728"/>
            <a:ext cx="435429" cy="45901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3" idx="3"/>
            <a:endCxn id="5" idx="1"/>
          </p:cNvCxnSpPr>
          <p:nvPr/>
        </p:nvCxnSpPr>
        <p:spPr>
          <a:xfrm>
            <a:off x="4430486" y="4216401"/>
            <a:ext cx="812800" cy="3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" idx="3"/>
            <a:endCxn id="6" idx="1"/>
          </p:cNvCxnSpPr>
          <p:nvPr/>
        </p:nvCxnSpPr>
        <p:spPr>
          <a:xfrm>
            <a:off x="4430486" y="5417457"/>
            <a:ext cx="8128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9" idx="6"/>
            <a:endCxn id="11" idx="1"/>
          </p:cNvCxnSpPr>
          <p:nvPr/>
        </p:nvCxnSpPr>
        <p:spPr>
          <a:xfrm>
            <a:off x="6858001" y="4227287"/>
            <a:ext cx="82368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0" idx="6"/>
            <a:endCxn id="12" idx="1"/>
          </p:cNvCxnSpPr>
          <p:nvPr/>
        </p:nvCxnSpPr>
        <p:spPr>
          <a:xfrm>
            <a:off x="6858001" y="5351235"/>
            <a:ext cx="823685" cy="635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0" idx="3"/>
            <a:endCxn id="8" idx="1"/>
          </p:cNvCxnSpPr>
          <p:nvPr/>
        </p:nvCxnSpPr>
        <p:spPr>
          <a:xfrm>
            <a:off x="9073243" y="5357587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073243" y="4216401"/>
            <a:ext cx="90351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7" idx="3"/>
            <a:endCxn id="15" idx="1"/>
          </p:cNvCxnSpPr>
          <p:nvPr/>
        </p:nvCxnSpPr>
        <p:spPr>
          <a:xfrm>
            <a:off x="2449286" y="4220029"/>
            <a:ext cx="830942" cy="72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8" idx="3"/>
            <a:endCxn id="16" idx="1"/>
          </p:cNvCxnSpPr>
          <p:nvPr/>
        </p:nvCxnSpPr>
        <p:spPr>
          <a:xfrm>
            <a:off x="2449286" y="5446486"/>
            <a:ext cx="830942" cy="363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705430" y="3664857"/>
            <a:ext cx="2140857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846287" y="3664857"/>
            <a:ext cx="2373085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219372" y="3664857"/>
            <a:ext cx="2256971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476344" y="3670301"/>
            <a:ext cx="2064657" cy="25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98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to Visualization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 #1: Making the most important data stand out.</a:t>
            </a:r>
          </a:p>
          <a:p>
            <a:endParaRPr lang="en-US" dirty="0"/>
          </a:p>
          <a:p>
            <a:r>
              <a:rPr lang="en-US" dirty="0"/>
              <a:t>Challenge #2: Arranging data in a manner that makes sense.</a:t>
            </a:r>
          </a:p>
        </p:txBody>
      </p:sp>
    </p:spTree>
    <p:extLst>
      <p:ext uri="{BB962C8B-B14F-4D97-AF65-F5344CB8AC3E}">
        <p14:creationId xmlns:p14="http://schemas.microsoft.com/office/powerpoint/2010/main" val="2389762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69144" y="145143"/>
            <a:ext cx="8871857" cy="656771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844" y="379187"/>
            <a:ext cx="2726871" cy="2507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244" y="386444"/>
            <a:ext cx="2726871" cy="250762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4526643" y="685800"/>
            <a:ext cx="2908300" cy="5818414"/>
            <a:chOff x="3002643" y="685800"/>
            <a:chExt cx="2908300" cy="581841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2643" y="685800"/>
              <a:ext cx="2908300" cy="19177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2643" y="2608942"/>
              <a:ext cx="2908300" cy="19177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2643" y="4586514"/>
              <a:ext cx="2908300" cy="191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19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69144" y="145143"/>
            <a:ext cx="8871857" cy="656771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7" y="504371"/>
            <a:ext cx="2908300" cy="1917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7" y="2427513"/>
            <a:ext cx="2908300" cy="191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7" y="4405085"/>
            <a:ext cx="2908300" cy="1917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844" y="379187"/>
            <a:ext cx="2726871" cy="2507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672" y="386444"/>
            <a:ext cx="2726871" cy="250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15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69144" y="145143"/>
            <a:ext cx="8871857" cy="656771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7" y="504371"/>
            <a:ext cx="2908300" cy="1917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7" y="2427513"/>
            <a:ext cx="2908300" cy="191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7" y="4405085"/>
            <a:ext cx="2908300" cy="19177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943" y="283029"/>
            <a:ext cx="2655396" cy="23658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14" y="326572"/>
            <a:ext cx="2606525" cy="2322287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4463143" y="344715"/>
            <a:ext cx="36286" cy="6150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627257" y="351972"/>
            <a:ext cx="36286" cy="6150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30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69144" y="145143"/>
            <a:ext cx="8871857" cy="656771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844" y="379187"/>
            <a:ext cx="2726871" cy="2507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244" y="386444"/>
            <a:ext cx="2726871" cy="25076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508000"/>
            <a:ext cx="1866900" cy="584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714" y="3314134"/>
            <a:ext cx="2543035" cy="29995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971" y="3321391"/>
            <a:ext cx="2543035" cy="299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45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1695</Words>
  <Application>Microsoft Macintosh PowerPoint</Application>
  <PresentationFormat>Widescreen</PresentationFormat>
  <Paragraphs>211</Paragraphs>
  <Slides>30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Gestalt Principles of Visual Perception</vt:lpstr>
      <vt:lpstr>Visual Perception Principles</vt:lpstr>
      <vt:lpstr>Visual Perception Principles</vt:lpstr>
      <vt:lpstr>PowerPoint Presentation</vt:lpstr>
      <vt:lpstr>PowerPoint Presentation</vt:lpstr>
      <vt:lpstr>PowerPoint Presentation</vt:lpstr>
      <vt:lpstr>PowerPoint Presentation</vt:lpstr>
      <vt:lpstr>Proximity</vt:lpstr>
      <vt:lpstr>Proximity</vt:lpstr>
      <vt:lpstr>Similarity</vt:lpstr>
      <vt:lpstr>Enclosure</vt:lpstr>
      <vt:lpstr>Enclosure</vt:lpstr>
      <vt:lpstr>Closure</vt:lpstr>
      <vt:lpstr>Closure</vt:lpstr>
      <vt:lpstr>Closure</vt:lpstr>
      <vt:lpstr>Continuity</vt:lpstr>
      <vt:lpstr>Continuity</vt:lpstr>
      <vt:lpstr>PowerPoint Presentation</vt:lpstr>
      <vt:lpstr>Connection</vt:lpstr>
      <vt:lpstr>Connection</vt:lpstr>
      <vt:lpstr>Connection</vt:lpstr>
      <vt:lpstr>Connection</vt:lpstr>
      <vt:lpstr>Connection</vt:lpstr>
      <vt:lpstr>Connection</vt:lpstr>
      <vt:lpstr>Connection</vt:lpstr>
      <vt:lpstr>Applying to Visualization Design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Gestalt Principles of Visual Perception</dc:title>
  <dc:creator>Tripp, John</dc:creator>
  <cp:lastModifiedBy>John Frederick Tripp</cp:lastModifiedBy>
  <cp:revision>3</cp:revision>
  <dcterms:created xsi:type="dcterms:W3CDTF">2019-04-17T16:36:28Z</dcterms:created>
  <dcterms:modified xsi:type="dcterms:W3CDTF">2020-04-17T20:49:44Z</dcterms:modified>
</cp:coreProperties>
</file>