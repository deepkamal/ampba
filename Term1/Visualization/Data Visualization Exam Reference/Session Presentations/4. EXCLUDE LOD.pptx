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880" r:id="rId2"/>
    <p:sldId id="844" r:id="rId3"/>
    <p:sldId id="852" r:id="rId4"/>
    <p:sldId id="853" r:id="rId5"/>
    <p:sldId id="854" r:id="rId6"/>
    <p:sldId id="855" r:id="rId7"/>
    <p:sldId id="856" r:id="rId8"/>
    <p:sldId id="882" r:id="rId9"/>
    <p:sldId id="8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398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FB18C-967F-ED41-8E09-5FD480805CDD}" type="datetimeFigureOut">
              <a:rPr lang="en-US" smtClean="0"/>
              <a:t>8/7/19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FC2AA-A700-6E49-844F-C4B52AE7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8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C75D-289D-D640-86F8-D4E700BF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842EF-807B-5D4B-AD36-9B99AD02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FE838-1AAA-9B4A-BBB3-C38EC60C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32DB9-EC5C-BE45-B220-FB40AB4B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5F60-B647-104A-8247-2CEC44EA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4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2861-936D-0D49-BE74-2BEA9E9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81362-D5F2-EF49-B41F-3056A1EBC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E24C-84DF-F84D-A8C1-88EEAB5D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5AF5-46E1-2748-8105-E6406B7A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B952-ECF5-364C-A620-F785C08B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259B-6FD8-F744-904B-141687C6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8127-C283-514C-A2F7-2BDF65E4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3CDF-EF88-9B40-BC45-25722235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85B1F-D8AA-CC46-87DC-DCEDDF3E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0701F-D937-E94B-AF19-0B043C89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D7D1-393D-734F-9EED-AC7D0167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5BB4-D92F-154D-9E11-03E705980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1B0C8-64C4-E546-97F8-71FE16985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8CA5-B8AE-6447-A97A-8AD99ECD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39D35-B883-004E-808E-65138AA8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EF5A2-EA37-9040-8442-6709221B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985-77EA-864D-8D7D-E11FDB1AD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B441C-9FF2-D640-880C-CE523A3E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0FF8D-E83F-8146-B02E-977EFC8AF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B2B1D-C8D4-AA4D-9182-E6D284AE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E0DA0-D8EC-8048-91A8-8FA9CD61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3D9-474A-2145-AB3E-CEF36A36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AE37C-A0E2-8349-A2D0-6540DB9A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AE93D-7F5B-564E-BE36-2610410C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C17C-2995-F24E-A0BE-0128EDC3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72082-3294-4C4B-A515-F2ACC10E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D3C8E-8509-8C48-8070-5D685700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F425E-4E42-1B48-88FB-75C2F11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B16A9-D88B-6641-9C6F-EC854F0E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FDD24-6472-7C4A-AC9F-1A8F0A48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AD87-3411-1849-8AA0-76227925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3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A9D8-B5DA-9949-86DF-B622A766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850B-68C6-E642-A6BC-E5C11B9C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34D8B-A428-054C-9408-5F4F19233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655E-88E6-8C42-ABA6-E38C9B91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D6627-0F4F-FC4F-BE47-0F45547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F6DB3-F389-9949-8FAE-0002D214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330E-C74F-4B41-834F-1F1AD9BC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B9681-458A-C541-A04F-2FED3D37D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74E54-E864-1C4D-A30F-89E125D12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87FBF-C52C-0248-A563-85B54B67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F6C4-5CCE-1543-9E04-5FB6926C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478C5-CE64-1748-8EBD-CA418348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80C9-74AD-C944-BEF9-D77D64C3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9D641-13FB-5B4F-8075-4360219F0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19106-F75C-3B42-A6E8-A3BDBF84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58BD-AD2A-4542-B182-DA8DBB24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850C-FE7D-7948-9801-73554ADA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4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F68292-1057-8A42-9C23-FE6946DA8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CAA4-06B1-E248-9F8E-64BFB64EB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07C8-D2EC-F84C-8AB9-7F97AAE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9E32-8060-2E44-AF8F-71FEE958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5B2FB-3257-8342-988B-DA291894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9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4FE96-EFD5-2A4B-897B-84E2A9C7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BFB28-E11D-424F-9650-D6821477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4B79-F15A-DC4A-87A6-29257B97E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CA32B-286A-7C40-BBAD-B5E7C3ED5074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07911-1DD1-1D4B-BF16-8B1155B37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C241-010C-ED48-8318-8E08E309A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2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EXCLUDE Level </a:t>
            </a:r>
            <a:r>
              <a:rPr lang="en-US"/>
              <a:t>of Detail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12BE-1049-674A-9320-8B7834E13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6770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Calculations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of Detail Expressions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INCLUDE</a:t>
            </a:r>
          </a:p>
          <a:p>
            <a:pPr lvl="1"/>
            <a:r>
              <a:rPr lang="en-US" dirty="0"/>
              <a:t>EXCLUDE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29216" cy="4351338"/>
          </a:xfrm>
        </p:spPr>
        <p:txBody>
          <a:bodyPr/>
          <a:lstStyle/>
          <a:p>
            <a:r>
              <a:rPr lang="en-US" dirty="0"/>
              <a:t>What if we wanted to create something that looks like this?</a:t>
            </a:r>
          </a:p>
          <a:p>
            <a:r>
              <a:rPr lang="en-US" dirty="0"/>
              <a:t>Three different levels of detail for aggregation, side by side.</a:t>
            </a:r>
          </a:p>
          <a:p>
            <a:r>
              <a:rPr lang="en-US" dirty="0"/>
              <a:t>You can’t with drag and drop </a:t>
            </a:r>
            <a:r>
              <a:rPr lang="mr-IN" dirty="0"/>
              <a:t>–</a:t>
            </a:r>
            <a:r>
              <a:rPr lang="en-US" dirty="0"/>
              <a:t> you can using Exclude LOD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7D63D-5B17-E649-99B4-22565A9FA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407" y="812821"/>
            <a:ext cx="6870593" cy="568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2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2938670" cy="4351338"/>
          </a:xfrm>
        </p:spPr>
        <p:txBody>
          <a:bodyPr/>
          <a:lstStyle/>
          <a:p>
            <a:r>
              <a:rPr lang="en-US" dirty="0"/>
              <a:t>Load the Superstore sample data, and make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1ECFE-84CE-F546-9E61-45679956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538" y="381644"/>
            <a:ext cx="5207480" cy="579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0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387811" cy="4351338"/>
          </a:xfrm>
        </p:spPr>
        <p:txBody>
          <a:bodyPr/>
          <a:lstStyle/>
          <a:p>
            <a:r>
              <a:rPr lang="en-US" dirty="0"/>
              <a:t>If we rearrange the dimensions we get same numbers, just the dimensions are in a different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B5FAA-718B-F048-8F74-6C26C0AE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010" y="608064"/>
            <a:ext cx="4704662" cy="56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53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Syntax:</a:t>
            </a:r>
          </a:p>
          <a:p>
            <a:pPr lvl="1"/>
            <a:r>
              <a:rPr lang="en-US" dirty="0"/>
              <a:t>{EXCLUDE [dim1], [dim2],</a:t>
            </a:r>
            <a:r>
              <a:rPr lang="mr-IN" dirty="0"/>
              <a:t>…</a:t>
            </a:r>
            <a:r>
              <a:rPr lang="en-US" dirty="0"/>
              <a:t>,[</a:t>
            </a:r>
            <a:r>
              <a:rPr lang="en-US" dirty="0" err="1"/>
              <a:t>dimN</a:t>
            </a:r>
            <a:r>
              <a:rPr lang="en-US" dirty="0"/>
              <a:t>] : aggregate expression }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Create a new field called LOD Sales Exclude City, and add this calculation:</a:t>
            </a:r>
          </a:p>
          <a:p>
            <a:pPr lvl="1"/>
            <a:r>
              <a:rPr lang="en-US" dirty="0"/>
              <a:t>{EXCLUDE [City] : Sum([Sales])}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(By using this calculation, we are removing City from our view for the purpose of our LOD calculation to determine a value based on the State’s level of detail.)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15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76258" cy="4351338"/>
          </a:xfrm>
        </p:spPr>
        <p:txBody>
          <a:bodyPr/>
          <a:lstStyle/>
          <a:p>
            <a:r>
              <a:rPr lang="en-US" dirty="0"/>
              <a:t>In essence, the Exclude command is mimicking this view: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24374-6223-AA41-BA8D-A5DD11A7E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453" y="0"/>
            <a:ext cx="4584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6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Exclude </a:t>
            </a:r>
            <a:r>
              <a:rPr lang="en-US"/>
              <a:t>and Include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933547" cy="4351338"/>
          </a:xfrm>
        </p:spPr>
        <p:txBody>
          <a:bodyPr/>
          <a:lstStyle/>
          <a:p>
            <a:r>
              <a:rPr lang="en-US" dirty="0"/>
              <a:t>The EXCLUDE and INCLUDE LODs are executed after data blending, and before measure filters are applied.</a:t>
            </a:r>
          </a:p>
          <a:p>
            <a:pPr lvl="1"/>
            <a:r>
              <a:rPr lang="en-US" dirty="0"/>
              <a:t>These LODs are dependent upon the visualization in which they are applied.</a:t>
            </a:r>
          </a:p>
          <a:p>
            <a:pPr lvl="2"/>
            <a:r>
              <a:rPr lang="en-US" dirty="0"/>
              <a:t>If you EXCLUDE a dimension that isn’t in the view, nothing will happen.</a:t>
            </a:r>
          </a:p>
          <a:p>
            <a:pPr lvl="2"/>
            <a:r>
              <a:rPr lang="en-US" dirty="0"/>
              <a:t>If you INCLUDE a dimension into the wrong view, you’re going to get strange results.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6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Syntax:</a:t>
            </a:r>
          </a:p>
          <a:p>
            <a:pPr lvl="1"/>
            <a:r>
              <a:rPr lang="en-US" dirty="0"/>
              <a:t>{FIXED[dim1], [dim2],</a:t>
            </a:r>
            <a:r>
              <a:rPr lang="mr-IN" dirty="0"/>
              <a:t>…</a:t>
            </a:r>
            <a:r>
              <a:rPr lang="en-US" dirty="0"/>
              <a:t>,[</a:t>
            </a:r>
            <a:r>
              <a:rPr lang="en-US" dirty="0" err="1"/>
              <a:t>dimN</a:t>
            </a:r>
            <a:r>
              <a:rPr lang="en-US" dirty="0"/>
              <a:t>] : aggregate expression }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Create a new field called FIXED LOD Sales, and add this calculation:</a:t>
            </a:r>
          </a:p>
          <a:p>
            <a:pPr lvl="1"/>
            <a:r>
              <a:rPr lang="en-US" dirty="0"/>
              <a:t>{FIXED : Sum([Sales])}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(By using this calculation, we are calculating the sum of sales for all the data that has passed the extract, data source, and context filters </a:t>
            </a:r>
            <a:r>
              <a:rPr lang="mr-IN" dirty="0"/>
              <a:t>–</a:t>
            </a:r>
            <a:r>
              <a:rPr lang="en-US" dirty="0"/>
              <a:t> REGARDLESS of additional filtering by dimensions or measures)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569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321</Words>
  <Application>Microsoft Macintosh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EXCLUDE Level of Detail</vt:lpstr>
      <vt:lpstr>Exploring Calculations in Tableau</vt:lpstr>
      <vt:lpstr>Exclude</vt:lpstr>
      <vt:lpstr>Exclude</vt:lpstr>
      <vt:lpstr>Exclude</vt:lpstr>
      <vt:lpstr>Exclude</vt:lpstr>
      <vt:lpstr>Exclude</vt:lpstr>
      <vt:lpstr>Summary of Exclude and Include</vt:lpstr>
      <vt:lpstr>FIXED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of Detail Expressions</dc:title>
  <dc:creator>Tripp, John</dc:creator>
  <cp:lastModifiedBy>John Frederick Tripp</cp:lastModifiedBy>
  <cp:revision>4</cp:revision>
  <dcterms:created xsi:type="dcterms:W3CDTF">2019-04-20T10:20:27Z</dcterms:created>
  <dcterms:modified xsi:type="dcterms:W3CDTF">2019-08-08T01:04:57Z</dcterms:modified>
</cp:coreProperties>
</file>