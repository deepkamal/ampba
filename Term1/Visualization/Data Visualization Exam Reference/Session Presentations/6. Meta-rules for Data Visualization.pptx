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52" r:id="rId3"/>
    <p:sldId id="351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5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398"/>
  </p:normalViewPr>
  <p:slideViewPr>
    <p:cSldViewPr snapToGrid="0" snapToObjects="1">
      <p:cViewPr varScale="1">
        <p:scale>
          <a:sx n="77" d="100"/>
          <a:sy n="77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ohn_tripp:Documents:Academic:Baylor:Courses:Data%20Visualization:ISB:ForSession2Slid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ohn_tripp:Documents:Academic:Baylor:Courses:Data%20Visualization:ISB:ForSession2Slid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Sheet1!$C$75</c:f>
              <c:strCache>
                <c:ptCount val="1"/>
                <c:pt idx="0">
                  <c:v>Sales by Region</c:v>
                </c:pt>
              </c:strCache>
            </c:strRef>
          </c:tx>
          <c:invertIfNegative val="0"/>
          <c:cat>
            <c:strRef>
              <c:f>Sheet1!$B$76:$B$79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Sheet1!$C$76:$C$79</c:f>
              <c:numCache>
                <c:formatCode>#,##0</c:formatCode>
                <c:ptCount val="4"/>
                <c:pt idx="0">
                  <c:v>400000</c:v>
                </c:pt>
                <c:pt idx="1">
                  <c:v>325000</c:v>
                </c:pt>
                <c:pt idx="2">
                  <c:v>350000</c:v>
                </c:pt>
                <c:pt idx="3">
                  <c:v>310000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59-6546-9AF3-96E125ABD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422105072"/>
        <c:axId val="-422090256"/>
      </c:barChart>
      <c:catAx>
        <c:axId val="-42210507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422090256"/>
        <c:crosses val="autoZero"/>
        <c:auto val="1"/>
        <c:lblAlgn val="ctr"/>
        <c:lblOffset val="100"/>
        <c:noMultiLvlLbl val="0"/>
      </c:catAx>
      <c:valAx>
        <c:axId val="-422090256"/>
        <c:scaling>
          <c:orientation val="minMax"/>
        </c:scaling>
        <c:delete val="0"/>
        <c:axPos val="b"/>
        <c:numFmt formatCode="#,##0" sourceLinked="1"/>
        <c:majorTickMark val="out"/>
        <c:minorTickMark val="none"/>
        <c:tickLblPos val="nextTo"/>
        <c:crossAx val="-42210507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Sheet1!$C$75</c:f>
              <c:strCache>
                <c:ptCount val="1"/>
                <c:pt idx="0">
                  <c:v>Sales by Region</c:v>
                </c:pt>
              </c:strCache>
            </c:strRef>
          </c:tx>
          <c:invertIfNegative val="0"/>
          <c:cat>
            <c:strRef>
              <c:f>Sheet1!$B$76:$B$79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Sheet1!$C$76:$C$79</c:f>
              <c:numCache>
                <c:formatCode>#,##0</c:formatCode>
                <c:ptCount val="4"/>
                <c:pt idx="0">
                  <c:v>400000</c:v>
                </c:pt>
                <c:pt idx="1">
                  <c:v>325000</c:v>
                </c:pt>
                <c:pt idx="2">
                  <c:v>350000</c:v>
                </c:pt>
                <c:pt idx="3">
                  <c:v>310000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F3-9B45-BC4B-66E48E56C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423095232"/>
        <c:axId val="-423092480"/>
      </c:barChart>
      <c:catAx>
        <c:axId val="-42309523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423092480"/>
        <c:crosses val="autoZero"/>
        <c:auto val="1"/>
        <c:lblAlgn val="ctr"/>
        <c:lblOffset val="100"/>
        <c:noMultiLvlLbl val="0"/>
      </c:catAx>
      <c:valAx>
        <c:axId val="-423092480"/>
        <c:scaling>
          <c:orientation val="minMax"/>
          <c:max val="400000"/>
          <c:min val="300000"/>
        </c:scaling>
        <c:delete val="0"/>
        <c:axPos val="b"/>
        <c:numFmt formatCode="#,##0" sourceLinked="1"/>
        <c:majorTickMark val="out"/>
        <c:minorTickMark val="none"/>
        <c:tickLblPos val="nextTo"/>
        <c:crossAx val="-42309523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DB955-2C91-4E47-B851-66AD34F7D692}" type="datetimeFigureOut">
              <a:rPr lang="en-US" smtClean="0"/>
              <a:t>5/9/19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C82BA-C23B-6149-82F6-E986181B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5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5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8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48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0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4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36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74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66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7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06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5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01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81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1D23-7D79-A447-84CA-BC54487F9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827D5-46B3-0741-A79E-04B134575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1BDD9-5EFC-2840-A197-121DD6ED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1D369-102D-1149-BC92-03B0D6AC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BCF9-1847-CB43-ADB6-0F7D57DD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0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A3F-D3F8-C143-BB59-D7F4BF9B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9AF0-CB54-F242-B13A-ACD6C1F85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36079-1639-0F4F-A336-A404B9C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0DB83-80EB-8646-BCC9-44B57F1C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AD9BC-E8B6-E146-B511-08873B64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7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5FAF-BBD9-A849-83A6-E4198B95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CFD0A-256D-1A42-9371-2B856FE14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0FAF3-7946-8E44-BC8F-110BF8ED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0F707-F92C-DE48-BADC-10C7FE04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2BA34-30A9-8544-A981-82AF2C44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8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899E-1032-CB43-ACCB-06F23287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E3858-7F8D-2C48-A4CA-04238CD41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1F4CE-7AAC-6642-8F44-25FF78B67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B172-0E1C-8043-8DDF-7242D663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D2826-CB90-AD4A-A15B-F78300D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B203B-8A5B-C34D-8AA0-CA9CD74E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9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691E-2C81-2A4B-AD7F-BFA1BA40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2C6A4-3AD1-0142-AC83-24F34E853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E7FA2-AD92-7A4F-A3D6-DF609ED7A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D32AF-841E-B648-8A89-0EB389A92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D7EFC4-7C43-E04C-9B54-7BB1AD85D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70412-B5EF-DC40-BE15-B6410EB0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C7BCA-C594-984D-BDFE-1197ADE5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681D9-E1E8-8049-B25A-1DDA48F7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5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7E8D-B29D-2A49-B55D-4F61AD39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077E6C-2A40-DB4B-8137-D30CCAB66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85C15-D72C-544D-9AF0-EB8B6BB8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F2416-20D4-014E-A608-94DB3875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3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D123D-7E87-174D-B7CF-2BD856167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600A4-D033-7C42-9B05-B99141D7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ED0D1-7E06-0949-9D5B-3B708FEA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8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E523-10EB-8B40-B86F-98B4E0C6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13CAA-A0AE-164E-9699-5DB3EBF36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77D28-12FA-334E-82CE-DDEACDA7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583E4-B744-6A46-8893-18229BAF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7C413-6137-2C49-B7A9-26D31B16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5EEE1-6063-9D41-95FE-D5470668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98D6-852F-624F-BF8A-572C9490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6B51DF-B307-7A47-B9F6-3D7786DB3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461E6-71C3-FF4F-B2C2-90F134437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337B5-709B-C844-BC84-510A279C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42D2A-0F50-8146-8A97-4094D246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2FC0B-7769-1945-8986-A6374AD5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2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C364-EF01-804A-9B1F-352C6923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2F9F1-658D-7940-A115-31C76A6F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967B8-1A28-ED4E-8053-4C077DB4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9766C-0321-1243-A25A-72FF11A9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58B5D-B48E-1948-862A-1FA661C4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7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F3249-7AFC-984C-9166-E105B1FC6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F70B1-F368-3744-B08B-C335AF39E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8856A-8CF5-3C4E-ACA9-0FD8A5E5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A17ED-9A58-194F-9FAF-0E65C1F5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7B309-E73C-3F40-9704-676C234E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1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8D801-0E9D-F84F-93A9-BC5AFA83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FF226-A7B5-584C-ABF8-668C5159A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42DB-90BE-FB4A-B541-5F6841414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7B525-0208-AA4A-8273-800B501C1918}" type="datetimeFigureOut">
              <a:rPr lang="en-US" smtClean="0"/>
              <a:t>5/9/19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611C6-51DB-A741-AEC3-E687E66D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0A5BA-2B48-A246-BD82-ED4612853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84E4C-2EC3-B841-8A17-8342AEAFC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2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0126-5FC1-F149-A5D0-6279B1158F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Meta-Rules for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BC57C-33CA-7841-8D89-FB254FC51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24816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74FF-1066-0546-A3C0-003B6497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Meta-Rules for Data Viz</a:t>
            </a:r>
          </a:p>
        </p:txBody>
      </p:sp>
    </p:spTree>
    <p:extLst>
      <p:ext uri="{BB962C8B-B14F-4D97-AF65-F5344CB8AC3E}">
        <p14:creationId xmlns:p14="http://schemas.microsoft.com/office/powerpoint/2010/main" val="272459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634047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simplest chart is usually the one that communicates most clearly </a:t>
            </a:r>
          </a:p>
          <a:p>
            <a:pPr lvl="1"/>
            <a:r>
              <a:rPr lang="en-US" sz="2000" dirty="0"/>
              <a:t>Use the “not wrong” chart</a:t>
            </a:r>
          </a:p>
          <a:p>
            <a:pPr lvl="1"/>
            <a:r>
              <a:rPr lang="en-US" sz="2000" dirty="0"/>
              <a:t>Not the “cool” chart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413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02F7-4A4E-FF47-8C01-8216ACA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400" dirty="0"/>
              <a:t>The simplest chart is usually the one that communicates most clearly 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8991F9-5636-584E-894F-CD9A0B47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78" y="1690688"/>
            <a:ext cx="8304996" cy="426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3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02F7-4A4E-FF47-8C01-8216ACA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400" dirty="0"/>
              <a:t>The simplest chart is usually the one that communicates most clearly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61B67-1A72-854D-B991-C4F4826C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6060"/>
            <a:ext cx="4432233" cy="464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9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02F7-4A4E-FF47-8C01-8216ACA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400" dirty="0"/>
              <a:t>The simplest chart is usually the one that communicates most clearly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A9329-FF12-E441-8DAA-230AA49F0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2" y="1690688"/>
            <a:ext cx="5705038" cy="50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6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3634047" cy="32950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400" dirty="0"/>
              <a:t>Always DIRECTLY represent the relationship you are trying to communicate. (e.g., don’t leave it to the viewer to calculate it from other information)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035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5F34-D70A-B645-9EDA-82A94F52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2. Always DIRECTLY represent the relationship you are trying to communicate. (e.g., don’t leave it to the viewer to calculate it from other information)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AC58F-1471-294E-A42B-614E19D0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379720" cy="39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66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5F34-D70A-B645-9EDA-82A94F52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2. Always DIRECTLY represent the relationship you are trying to communicate. (e.g., don’t leave it to the viewer to calculate it from other information)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BEA28-5F1D-B840-8310-9B268C226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57800" cy="384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3634047" cy="329501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Never ask viewers to compare levels of a single dimension in two dimensions (e.g., comparing differences in length is easy, comparing differences in area is hard)</a:t>
            </a:r>
          </a:p>
        </p:txBody>
      </p:sp>
    </p:spTree>
    <p:extLst>
      <p:ext uri="{BB962C8B-B14F-4D97-AF65-F5344CB8AC3E}">
        <p14:creationId xmlns:p14="http://schemas.microsoft.com/office/powerpoint/2010/main" val="3894552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Never ask viewers to compare levels of a single dimension in two dimensions (e.g., comparing differences in length is easy, comparing differences in area is hard)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292B7-39B2-BF4B-B48A-972AC83B3002}"/>
              </a:ext>
            </a:extLst>
          </p:cNvPr>
          <p:cNvSpPr/>
          <p:nvPr/>
        </p:nvSpPr>
        <p:spPr>
          <a:xfrm>
            <a:off x="838200" y="33385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ABDD2A-FDFF-F048-A47D-27C66A6AB7AE}"/>
              </a:ext>
            </a:extLst>
          </p:cNvPr>
          <p:cNvSpPr/>
          <p:nvPr/>
        </p:nvSpPr>
        <p:spPr>
          <a:xfrm>
            <a:off x="838200" y="2057400"/>
            <a:ext cx="3657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9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Never ask viewers to compare levels of a single dimension in two dimensions (e.g., comparing differences in length is easy, comparing differences in area is hard)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292B7-39B2-BF4B-B48A-972AC83B3002}"/>
              </a:ext>
            </a:extLst>
          </p:cNvPr>
          <p:cNvSpPr/>
          <p:nvPr/>
        </p:nvSpPr>
        <p:spPr>
          <a:xfrm>
            <a:off x="838200" y="33385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ABDD2A-FDFF-F048-A47D-27C66A6AB7AE}"/>
              </a:ext>
            </a:extLst>
          </p:cNvPr>
          <p:cNvSpPr/>
          <p:nvPr/>
        </p:nvSpPr>
        <p:spPr>
          <a:xfrm>
            <a:off x="838200" y="2057400"/>
            <a:ext cx="3657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5773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Never ask viewers to compare levels of a single dimension in two dimensions (e.g., comparing differences in length is easy, comparing differences in area is hard)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292B7-39B2-BF4B-B48A-972AC83B3002}"/>
              </a:ext>
            </a:extLst>
          </p:cNvPr>
          <p:cNvSpPr/>
          <p:nvPr/>
        </p:nvSpPr>
        <p:spPr>
          <a:xfrm>
            <a:off x="838200" y="342900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ABDD2A-FDFF-F048-A47D-27C66A6AB7AE}"/>
              </a:ext>
            </a:extLst>
          </p:cNvPr>
          <p:cNvSpPr/>
          <p:nvPr/>
        </p:nvSpPr>
        <p:spPr>
          <a:xfrm>
            <a:off x="2051858" y="3054097"/>
            <a:ext cx="1289304" cy="1289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2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Never ask viewers to compare levels of a single dimension in two dimensions (e.g., comparing differences in length is easy, comparing differences in area is hard)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292B7-39B2-BF4B-B48A-972AC83B3002}"/>
              </a:ext>
            </a:extLst>
          </p:cNvPr>
          <p:cNvSpPr/>
          <p:nvPr/>
        </p:nvSpPr>
        <p:spPr>
          <a:xfrm>
            <a:off x="838200" y="342900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ABDD2A-FDFF-F048-A47D-27C66A6AB7AE}"/>
              </a:ext>
            </a:extLst>
          </p:cNvPr>
          <p:cNvSpPr/>
          <p:nvPr/>
        </p:nvSpPr>
        <p:spPr>
          <a:xfrm>
            <a:off x="2051858" y="3054097"/>
            <a:ext cx="1289304" cy="1289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9097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3634047" cy="32950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Never use color on top of color. (e.g., color is not absolute)</a:t>
            </a:r>
          </a:p>
        </p:txBody>
      </p:sp>
    </p:spTree>
    <p:extLst>
      <p:ext uri="{BB962C8B-B14F-4D97-AF65-F5344CB8AC3E}">
        <p14:creationId xmlns:p14="http://schemas.microsoft.com/office/powerpoint/2010/main" val="3839050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Never use color on top of color. (e.g., color is not absolute)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CF77C7-1CE7-D24F-973F-E070A07471BD}"/>
              </a:ext>
            </a:extLst>
          </p:cNvPr>
          <p:cNvGrpSpPr>
            <a:grpSpLocks noChangeAspect="1"/>
          </p:cNvGrpSpPr>
          <p:nvPr/>
        </p:nvGrpSpPr>
        <p:grpSpPr>
          <a:xfrm>
            <a:off x="1436718" y="1237350"/>
            <a:ext cx="5278513" cy="906675"/>
            <a:chOff x="838200" y="1352533"/>
            <a:chExt cx="8797522" cy="15111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BC1E07-45B8-7F49-98EB-5DEA72683E9E}"/>
                </a:ext>
              </a:extLst>
            </p:cNvPr>
            <p:cNvSpPr/>
            <p:nvPr/>
          </p:nvSpPr>
          <p:spPr>
            <a:xfrm>
              <a:off x="838200" y="1352533"/>
              <a:ext cx="8797522" cy="1511125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66B912-95FD-1C4B-AE8A-A9262556D982}"/>
                </a:ext>
              </a:extLst>
            </p:cNvPr>
            <p:cNvSpPr/>
            <p:nvPr/>
          </p:nvSpPr>
          <p:spPr>
            <a:xfrm>
              <a:off x="1417594" y="1769715"/>
              <a:ext cx="380083" cy="72311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B80977-5D7E-FF45-B33E-459D1A520E99}"/>
                </a:ext>
              </a:extLst>
            </p:cNvPr>
            <p:cNvSpPr/>
            <p:nvPr/>
          </p:nvSpPr>
          <p:spPr>
            <a:xfrm>
              <a:off x="3136676" y="1769715"/>
              <a:ext cx="380083" cy="72311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431102-F7C9-CA4B-B31A-C40294E723CE}"/>
                </a:ext>
              </a:extLst>
            </p:cNvPr>
            <p:cNvSpPr/>
            <p:nvPr/>
          </p:nvSpPr>
          <p:spPr>
            <a:xfrm>
              <a:off x="5083441" y="1769715"/>
              <a:ext cx="380083" cy="72311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AB2B0D-805B-C146-A3D8-48EB918DB1BB}"/>
                </a:ext>
              </a:extLst>
            </p:cNvPr>
            <p:cNvSpPr/>
            <p:nvPr/>
          </p:nvSpPr>
          <p:spPr>
            <a:xfrm>
              <a:off x="6983853" y="1769715"/>
              <a:ext cx="380083" cy="72311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388067E-93C4-BB42-9B30-75C4AF195B3B}"/>
                </a:ext>
              </a:extLst>
            </p:cNvPr>
            <p:cNvSpPr/>
            <p:nvPr/>
          </p:nvSpPr>
          <p:spPr>
            <a:xfrm>
              <a:off x="8996593" y="1769715"/>
              <a:ext cx="380083" cy="72311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4605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3634047" cy="32950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Do not violate the primal instincts of your viewers. (e.g., up means more)</a:t>
            </a:r>
          </a:p>
        </p:txBody>
      </p:sp>
    </p:spTree>
    <p:extLst>
      <p:ext uri="{BB962C8B-B14F-4D97-AF65-F5344CB8AC3E}">
        <p14:creationId xmlns:p14="http://schemas.microsoft.com/office/powerpoint/2010/main" val="377339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Do not violate the primal instincts of your viewers. (e.g., up means more)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3C571C-0DCE-3546-A7AD-4F9D6767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8332"/>
            <a:ext cx="3398408" cy="41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87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3634047" cy="32950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400" dirty="0"/>
              <a:t>Chart with graphical and ethical integrity! (e.g., don’t lie, either by mistake or intentionally)</a:t>
            </a:r>
          </a:p>
        </p:txBody>
      </p:sp>
    </p:spTree>
    <p:extLst>
      <p:ext uri="{BB962C8B-B14F-4D97-AF65-F5344CB8AC3E}">
        <p14:creationId xmlns:p14="http://schemas.microsoft.com/office/powerpoint/2010/main" val="1756700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400" dirty="0"/>
              <a:t>Chart with graphical and ethical integrity! (e.g., don’t lie, either by mistake or intentionally)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85272C5-0142-7E41-B29A-2B9A89F66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719892"/>
              </p:ext>
            </p:extLst>
          </p:nvPr>
        </p:nvGraphicFramePr>
        <p:xfrm>
          <a:off x="838200" y="1508760"/>
          <a:ext cx="5650992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4334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400" dirty="0"/>
              <a:t>Chart with graphical and ethical integrity! (e.g., don’t lie, either by mistake or intentionally)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93ED13FF-1D32-EE4B-95AC-85D25E035C7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223883"/>
              </p:ext>
            </p:extLst>
          </p:nvPr>
        </p:nvGraphicFramePr>
        <p:xfrm>
          <a:off x="838200" y="1367443"/>
          <a:ext cx="5650992" cy="3653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7726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Meta-Rules for Data Viz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simplest chart is usually the one that communicates most clearly (e.g., use the “not wrong” chart </a:t>
            </a:r>
            <a:r>
              <a:rPr lang="mr-IN" dirty="0"/>
              <a:t>–</a:t>
            </a:r>
            <a:r>
              <a:rPr lang="en-US" dirty="0"/>
              <a:t> not the “cool” chart)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Always DIRECTLY represent the relationship you are trying to communicate. (e.g., don’t leave it to the viewer to calculate it from other information)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Never ask viewers to compare levels of a single dimension in two dimensions (e.g., comparing differences in length is easy, comparing differences in area is hard)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Never use color on top of color. (e.g., color is not absolute)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not violate the primal instincts of your viewers. (e.g., up means more)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Chart with graphical and ethical integrity! (e.g., don’t lie, either by mistake or intentionally)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38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660</Words>
  <Application>Microsoft Macintosh PowerPoint</Application>
  <PresentationFormat>Widescreen</PresentationFormat>
  <Paragraphs>58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Meta-Rules for Data Visualization</vt:lpstr>
      <vt:lpstr>Meta-Rules for Data Viz</vt:lpstr>
      <vt:lpstr>Meta-Rules for Data Viz</vt:lpstr>
      <vt:lpstr>The simplest chart is usually the one that communicates most clearly </vt:lpstr>
      <vt:lpstr>The simplest chart is usually the one that communicates most clearly </vt:lpstr>
      <vt:lpstr>The simplest chart is usually the one that communicates most clearly </vt:lpstr>
      <vt:lpstr>Meta-Rules for Data Viz</vt:lpstr>
      <vt:lpstr>2. Always DIRECTLY represent the relationship you are trying to communicate. (e.g., don’t leave it to the viewer to calculate it from other information) </vt:lpstr>
      <vt:lpstr>2. Always DIRECTLY represent the relationship you are trying to communicate. (e.g., don’t leave it to the viewer to calculate it from other information) </vt:lpstr>
      <vt:lpstr>Meta-Rules for Data Viz</vt:lpstr>
      <vt:lpstr>Never ask viewers to compare levels of a single dimension in two dimensions (e.g., comparing differences in length is easy, comparing differences in area is hard)</vt:lpstr>
      <vt:lpstr>Never ask viewers to compare levels of a single dimension in two dimensions (e.g., comparing differences in length is easy, comparing differences in area is hard)</vt:lpstr>
      <vt:lpstr>Never ask viewers to compare levels of a single dimension in two dimensions (e.g., comparing differences in length is easy, comparing differences in area is hard)</vt:lpstr>
      <vt:lpstr>Never ask viewers to compare levels of a single dimension in two dimensions (e.g., comparing differences in length is easy, comparing differences in area is hard)</vt:lpstr>
      <vt:lpstr>Meta-Rules for Data Viz</vt:lpstr>
      <vt:lpstr>Never use color on top of color. (e.g., color is not absolute)</vt:lpstr>
      <vt:lpstr>Meta-Rules for Data Viz</vt:lpstr>
      <vt:lpstr>Do not violate the primal instincts of your viewers. (e.g., up means more)</vt:lpstr>
      <vt:lpstr>Meta-Rules for Data Viz</vt:lpstr>
      <vt:lpstr>Chart with graphical and ethical integrity! (e.g., don’t lie, either by mistake or intentionally)</vt:lpstr>
      <vt:lpstr>Chart with graphical and ethical integrity! (e.g., don’t lie, either by mistake or intentionally)</vt:lpstr>
      <vt:lpstr>Meta-Rules for Data Viz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Meta-Rules for Data Visualization</dc:title>
  <dc:creator>Tripp, John</dc:creator>
  <cp:lastModifiedBy>Tripp, John</cp:lastModifiedBy>
  <cp:revision>8</cp:revision>
  <dcterms:created xsi:type="dcterms:W3CDTF">2019-05-09T13:51:04Z</dcterms:created>
  <dcterms:modified xsi:type="dcterms:W3CDTF">2019-05-09T22:21:22Z</dcterms:modified>
</cp:coreProperties>
</file>