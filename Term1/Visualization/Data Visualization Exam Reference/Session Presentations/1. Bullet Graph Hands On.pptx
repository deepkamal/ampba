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65" r:id="rId2"/>
    <p:sldId id="346" r:id="rId3"/>
    <p:sldId id="347" r:id="rId4"/>
    <p:sldId id="389" r:id="rId5"/>
    <p:sldId id="368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72"/>
    <p:restoredTop sz="94663"/>
  </p:normalViewPr>
  <p:slideViewPr>
    <p:cSldViewPr snapToGrid="0" snapToObjects="1">
      <p:cViewPr varScale="1">
        <p:scale>
          <a:sx n="128" d="100"/>
          <a:sy n="128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CDF49-EF8B-CB45-9648-99EEC4DFAF3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1B10D-6583-454C-B659-1349F4432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7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15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1B10D-6583-454C-B659-1349F4432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81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9E6D-DFC3-244D-8336-C5E6B2694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1964B-D1B1-A04D-A8C6-8913209D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AEAB6-4ECE-8444-9D4E-7B7D1CE3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3BA9-B9D6-354D-99A6-2B436B45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6A654-445A-E74F-8F04-9552D664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5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0053-D77A-0647-BC00-ED2D3BBB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8846-9083-A54E-9A85-85CBE70A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1F52D-D9B3-1844-AF5F-E06ADB901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5F212-B091-E347-A443-03C5843D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4ABF-4DE5-FF46-A2B3-00B292F7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4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760D-F822-6F41-B6CD-BDB6FDF9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A303-84B4-5D4C-A21B-AF3417847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BD6DB-21AC-4F49-9E5D-4A8CD9A4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B912D-E6D4-3E43-8BD8-67879EB4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83040-CF4F-CF40-A349-11FA4340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7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F55E-E05F-9E45-970F-39F530DF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6607-0F1B-DE4E-826B-9A8EFCA29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71B86-971F-F946-B1B1-6A7384436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08079-1CE7-1B4E-A24F-5D57E22FD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6E135-B797-ED4D-B669-732FF8ED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B2B0-E11B-2442-9628-D45C5D4A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9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3C90-5F00-204F-A977-5EE8AA42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121CB-7F9D-FF48-85F7-8EDFAA07C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3DCFE-922A-FA49-AB8A-518AEF469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AA89E-9573-4945-B458-F2F720CB9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84EF7-037D-AA42-8BD0-D70912E31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60CBA-8F4C-E743-A6DF-BBFB4F99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9EC19-00B4-0E48-9BEE-654F4C69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26EE9-772D-A947-9C7A-D20BA5D2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9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362C-7683-344A-9019-B0A4E7D5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A1C8B-EB9C-8B49-A5F1-CC9C136E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3C5E4-67BD-844C-82AB-251C039A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ED386-4DD9-9644-9B20-8B80DC65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1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1985E-1CC6-D04D-BF77-35A6B70F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8298D-7052-7F4B-AB7A-9636DC29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B8C1-FB02-9344-BDE5-A34B818E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F00A-6442-E74C-ADE8-A5CE6BD1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65C4-749A-9E41-8F30-46437B55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B529C-996B-8248-B38A-F78036294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07372-92BE-194C-86E4-9E374C8E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8592B-1D84-DA40-AEE5-84F4CE5F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583F3-6AA6-2B42-A5FC-945FB3D9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3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3F4B-D229-F348-AD18-52902D4A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6B807-04EE-7B48-B5CF-F1A365C0C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A2094-5CAC-B341-9982-8DFA30317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4CA46-86E7-5445-A648-A537C083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9E915-B4A7-1C4F-8102-65063EB4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EA20A-7CAC-5845-8BEC-9BAB39B9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6AC9-F4E3-A448-9CA7-39688C32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D8903-0446-4542-A0DE-4734C73AF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D4AB0-2D08-6E48-A620-EA51E2D4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CA670-6781-5E41-A1D0-4865DD55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BA34-764A-434A-912F-F4043C3C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5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80E33-FB86-2445-8E28-679C4A209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CF915-48F4-854B-83E3-A4D91C42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0AE49-C024-B349-BB3E-F10D67AC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8DD63-95C0-1043-98F4-AFC36A15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74D16-EA52-CB4D-B2ED-FC5B7135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4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8CD69-D99E-EE48-A0EF-FE843D14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196D-2197-D04E-B405-BF5E01FC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1706A-B5C7-4446-B4F0-7071FB692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FBDFA-E975-BA41-97CF-2D3CCDC72ED4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C4DA8-A9CD-CC48-9DEC-7D6672D8A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9055-AAE2-894A-AB4D-7B203B23F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Bullet Graph Hands 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185654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Graphs are Information Dense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Bullet Graphs </a:t>
            </a:r>
            <a:r>
              <a:rPr lang="en-US" dirty="0"/>
              <a:t>allow you to turn numbers into metrics.</a:t>
            </a:r>
          </a:p>
          <a:p>
            <a:pPr lvl="1"/>
            <a:r>
              <a:rPr lang="en-US" dirty="0"/>
              <a:t>Allow you to show whether a number is “good” or “bad”</a:t>
            </a:r>
          </a:p>
          <a:p>
            <a:pPr lvl="1"/>
            <a:r>
              <a:rPr lang="en-US" dirty="0"/>
              <a:t>ALSO shows “how good” and “how bad”</a:t>
            </a:r>
          </a:p>
          <a:p>
            <a:pPr lvl="1"/>
            <a:r>
              <a:rPr lang="en-US" dirty="0"/>
              <a:t>Designed to replace dials on dashboards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They are an </a:t>
            </a:r>
            <a:r>
              <a:rPr lang="en-US" u="sng" dirty="0"/>
              <a:t>optimal</a:t>
            </a:r>
            <a:r>
              <a:rPr lang="en-US" dirty="0"/>
              <a:t> graph for dashboards.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65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3B6C25-2E2C-6540-9436-3E2849A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D79C9-8769-B443-A172-45BD0B8F8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Three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Bars showing level of variable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Vertical lines showing “target” of comparison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60%, 80%, 100% (of TARGET) shading.</a:t>
            </a:r>
          </a:p>
        </p:txBody>
      </p:sp>
    </p:spTree>
    <p:extLst>
      <p:ext uri="{BB962C8B-B14F-4D97-AF65-F5344CB8AC3E}">
        <p14:creationId xmlns:p14="http://schemas.microsoft.com/office/powerpoint/2010/main" val="201119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3B6C25-2E2C-6540-9436-3E2849A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54DC7-D85E-714B-8636-4AAF05A16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" y="1517967"/>
            <a:ext cx="6466840" cy="398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D2CA-6D57-7A47-BFD3-9EF86E1D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 Hands 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011B9-D6C4-734F-9989-94B7FD3F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</a:t>
            </a:r>
            <a:r>
              <a:rPr lang="en-US" b="1" i="1" dirty="0" err="1"/>
              <a:t>BulletGraphHandsOn</a:t>
            </a:r>
            <a:r>
              <a:rPr lang="en-US" b="1" i="1" dirty="0"/>
              <a:t> – </a:t>
            </a:r>
            <a:r>
              <a:rPr lang="en-US" b="1" i="1" dirty="0" err="1"/>
              <a:t>Start.twbx</a:t>
            </a:r>
            <a:r>
              <a:rPr lang="en-US" b="1" i="1" dirty="0"/>
              <a:t> </a:t>
            </a:r>
            <a:r>
              <a:rPr lang="en-US" dirty="0"/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1521703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D2CA-6D57-7A47-BFD3-9EF86E1D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 - Tableau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011B9-D6C4-734F-9989-94B7FD3F3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90840" cy="4351338"/>
          </a:xfrm>
        </p:spPr>
        <p:txBody>
          <a:bodyPr/>
          <a:lstStyle/>
          <a:p>
            <a:r>
              <a:rPr lang="en-US" dirty="0"/>
              <a:t>Tableau will create a Bullet Graph using Show Me.</a:t>
            </a:r>
          </a:p>
          <a:p>
            <a:r>
              <a:rPr lang="en-US" dirty="0"/>
              <a:t>But first, you need the performance and target data.</a:t>
            </a:r>
          </a:p>
          <a:p>
            <a:r>
              <a:rPr lang="en-US" dirty="0"/>
              <a:t>This workbook has these fields already created.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B026C9-471A-804D-8325-797A6333C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0" y="3429000"/>
            <a:ext cx="2413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01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7995-2287-DE41-AD34-725D0646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 -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6A3F-649D-FB48-A71A-FD3019AC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Multiple-Click the 2018 Sales, 2017 Sales, and Sub-Category</a:t>
            </a:r>
          </a:p>
          <a:p>
            <a:pPr lvl="1"/>
            <a:r>
              <a:rPr lang="en-US" dirty="0"/>
              <a:t>To multiple click, hold down CTRL on Windows, or Command(⌘) on Mac.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B6FD0-1017-F94D-9661-5115AD288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58" y="2814320"/>
            <a:ext cx="1444283" cy="303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7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7995-2287-DE41-AD34-725D0646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 -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6A3F-649D-FB48-A71A-FD3019AC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on Show Me, and then click on Bullet Graph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22A48B-3B7D-2043-8F2C-4AF39BA88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174" y="2305368"/>
            <a:ext cx="1375652" cy="387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98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7995-2287-DE41-AD34-725D0646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 -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6A3F-649D-FB48-A71A-FD3019AC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Sort, the chart, and it will look like this.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201BB8-4498-0240-ACA3-733724FD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A87F9A-5D6E-D34E-8FAF-A380F01E6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247" y="2683263"/>
            <a:ext cx="8109505" cy="362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7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7995-2287-DE41-AD34-725D0646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 -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6A3F-649D-FB48-A71A-FD3019AC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NOTE: Sometimes Tableau misidentifies the target and goal fields.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D2E74E-F101-1546-A26C-35C047AA7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760" y="2697819"/>
            <a:ext cx="8158480" cy="32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05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7995-2287-DE41-AD34-725D0646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 -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6A3F-649D-FB48-A71A-FD3019AC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correct this, right click on the x-axis, and choose “Swap Reference Line Fields.”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10D18-F596-1345-89D4-ADBDF9890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498" y="3119120"/>
            <a:ext cx="2827003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15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CF2F-1795-2E4C-84E3-55BABA49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Graphs – What’s going 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247EE-CA05-3E4B-8386-DC2569D4C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components</a:t>
            </a:r>
          </a:p>
        </p:txBody>
      </p:sp>
    </p:spTree>
    <p:extLst>
      <p:ext uri="{BB962C8B-B14F-4D97-AF65-F5344CB8AC3E}">
        <p14:creationId xmlns:p14="http://schemas.microsoft.com/office/powerpoint/2010/main" val="25829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3B6C25-2E2C-6540-9436-3E2849A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 - Manual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D79C9-8769-B443-A172-45BD0B8F8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Three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Bars showing level of variable (Standard Bar Chart)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Vertical lines showing “target” of comparison (Reference Line)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60%, 80%, 100% (of TARGET) shading. (Reference Distribution)</a:t>
            </a:r>
          </a:p>
        </p:txBody>
      </p:sp>
    </p:spTree>
    <p:extLst>
      <p:ext uri="{BB962C8B-B14F-4D97-AF65-F5344CB8AC3E}">
        <p14:creationId xmlns:p14="http://schemas.microsoft.com/office/powerpoint/2010/main" val="2619129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359C-08C2-0B4C-9C5A-3863E4754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One - Make the Bar Chart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A29F4D-B199-F845-8802-413DC0553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 2018 Sales in columns, Sub-Category in rows.</a:t>
            </a:r>
          </a:p>
          <a:p>
            <a:r>
              <a:rPr lang="en-US" dirty="0"/>
              <a:t>Sort chart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2D857B91-9803-4B4B-BAAC-A29AC737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478" y="3044587"/>
            <a:ext cx="7773043" cy="344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94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359C-08C2-0B4C-9C5A-3863E4754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Two – Get the Reference Information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A29F4D-B199-F845-8802-413DC0553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 2017 in the details marks card</a:t>
            </a:r>
          </a:p>
          <a:p>
            <a:r>
              <a:rPr lang="en-US" dirty="0"/>
              <a:t>This is necessary in order to use it for reference lines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720566-FF73-C94B-B0AB-92C18A2DB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950" y="3446463"/>
            <a:ext cx="20701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80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7463-3813-994C-9E37-621174F8B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Three – Make the Reference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DF74-89CF-6B4A-8B7B-0F92DAAF7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Right-click on the x-axis, and choose “Add Reference Line”</a:t>
            </a:r>
          </a:p>
          <a:p>
            <a:r>
              <a:rPr lang="en-US" dirty="0"/>
              <a:t>Choose “Line” </a:t>
            </a:r>
          </a:p>
          <a:p>
            <a:r>
              <a:rPr lang="en-US" dirty="0"/>
              <a:t>Scope: Per Cell</a:t>
            </a:r>
          </a:p>
          <a:p>
            <a:r>
              <a:rPr lang="en-US" dirty="0"/>
              <a:t>Line/Value: SUM(2017 Sales)</a:t>
            </a:r>
          </a:p>
          <a:p>
            <a:r>
              <a:rPr lang="en-US" dirty="0"/>
              <a:t>Label: None</a:t>
            </a:r>
          </a:p>
          <a:p>
            <a:endParaRPr lang="en-US" dirty="0"/>
          </a:p>
          <a:p>
            <a:r>
              <a:rPr lang="en-US" dirty="0"/>
              <a:t>Make line format darker and thicker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73BC0-4E6C-3841-AEB7-122C28EB1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350" y="2277035"/>
            <a:ext cx="3975650" cy="458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01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7463-3813-994C-9E37-621174F8B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Four – Make the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DF74-89CF-6B4A-8B7B-0F92DAAF7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Right-click on the x-axis, and choose “Add Reference Line”</a:t>
            </a:r>
          </a:p>
          <a:p>
            <a:r>
              <a:rPr lang="en-US" dirty="0"/>
              <a:t>Choose “Distribution” </a:t>
            </a:r>
          </a:p>
          <a:p>
            <a:r>
              <a:rPr lang="en-US" dirty="0"/>
              <a:t>Value: 60%, 80% of Average</a:t>
            </a:r>
          </a:p>
          <a:p>
            <a:r>
              <a:rPr lang="en-US" dirty="0"/>
              <a:t>Click the drop down on Value</a:t>
            </a:r>
          </a:p>
          <a:p>
            <a:r>
              <a:rPr lang="en-US" dirty="0"/>
              <a:t>Choose Percent of SUM(2017 Sales)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8C64F445-5B37-7B4A-AA86-56196513B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294" y="2350851"/>
            <a:ext cx="3783105" cy="438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37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7463-3813-994C-9E37-621174F8B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Four – Make the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DF74-89CF-6B4A-8B7B-0F92DAAF7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Label to None</a:t>
            </a:r>
          </a:p>
          <a:p>
            <a:r>
              <a:rPr lang="en-US" dirty="0"/>
              <a:t>Formatting:</a:t>
            </a:r>
          </a:p>
          <a:p>
            <a:pPr lvl="1"/>
            <a:r>
              <a:rPr lang="en-US" dirty="0"/>
              <a:t>Line: None</a:t>
            </a:r>
          </a:p>
          <a:p>
            <a:pPr lvl="1"/>
            <a:r>
              <a:rPr lang="en-US" dirty="0"/>
              <a:t>Fill: Gray or Gray Dark</a:t>
            </a:r>
          </a:p>
          <a:p>
            <a:pPr lvl="1"/>
            <a:r>
              <a:rPr lang="en-US" dirty="0"/>
              <a:t>Fill Above and Fill Below</a:t>
            </a:r>
          </a:p>
          <a:p>
            <a:r>
              <a:rPr lang="en-US" dirty="0"/>
              <a:t>Click OK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D860649-3B1E-7241-AAB8-91591991D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68029"/>
            <a:ext cx="4326953" cy="506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84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4EDD-F037-F44E-906C-3279CB34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Five – 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DCA02-B974-C14F-8075-71AAEC292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all column dividers (format menu)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649ABE-5207-A34C-A9A3-25EA19844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040" y="1027906"/>
            <a:ext cx="1847977" cy="1337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7274B-89B2-744D-B71D-0316CBD26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828" y="2788442"/>
            <a:ext cx="8738343" cy="372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92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470</Words>
  <Application>Microsoft Macintosh PowerPoint</Application>
  <PresentationFormat>Widescreen</PresentationFormat>
  <Paragraphs>71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Bullet Graph Hands On</vt:lpstr>
      <vt:lpstr>Bullet Graphs are Information Dense</vt:lpstr>
      <vt:lpstr>Bullet Graph</vt:lpstr>
      <vt:lpstr>Bullet Graph</vt:lpstr>
      <vt:lpstr>Bullet Graph Hands On</vt:lpstr>
      <vt:lpstr>Bullet Graph - Tableau</vt:lpstr>
      <vt:lpstr>Bullet Graph - Tableau</vt:lpstr>
      <vt:lpstr>Bullet Graph - Tableau</vt:lpstr>
      <vt:lpstr>Bullet Graph - Tableau</vt:lpstr>
      <vt:lpstr>Bullet Graph - Tableau</vt:lpstr>
      <vt:lpstr>Bullet Graph - Tableau</vt:lpstr>
      <vt:lpstr>Bullet Graphs – What’s going on?</vt:lpstr>
      <vt:lpstr>Bullet Graph - Manual</vt:lpstr>
      <vt:lpstr>Step One - Make the Bar Chart</vt:lpstr>
      <vt:lpstr>Step Two – Get the Reference Information</vt:lpstr>
      <vt:lpstr>Step Three – Make the Reference Lines</vt:lpstr>
      <vt:lpstr>Step Four – Make the Distribution</vt:lpstr>
      <vt:lpstr>Step Four – Make the Distribution</vt:lpstr>
      <vt:lpstr>Step Five – Clean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Dashboards</dc:title>
  <dc:creator>Tripp, John</dc:creator>
  <cp:lastModifiedBy>John Frederick Tripp</cp:lastModifiedBy>
  <cp:revision>44</cp:revision>
  <dcterms:created xsi:type="dcterms:W3CDTF">2019-04-17T16:40:25Z</dcterms:created>
  <dcterms:modified xsi:type="dcterms:W3CDTF">2019-10-12T04:10:29Z</dcterms:modified>
</cp:coreProperties>
</file>