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365" r:id="rId2"/>
    <p:sldId id="257" r:id="rId3"/>
    <p:sldId id="258" r:id="rId4"/>
    <p:sldId id="259" r:id="rId5"/>
    <p:sldId id="260" r:id="rId6"/>
    <p:sldId id="261" r:id="rId7"/>
    <p:sldId id="262" r:id="rId8"/>
    <p:sldId id="263" r:id="rId9"/>
    <p:sldId id="264" r:id="rId10"/>
    <p:sldId id="265" r:id="rId11"/>
    <p:sldId id="266" r:id="rId12"/>
    <p:sldId id="267" r:id="rId13"/>
    <p:sldId id="359" r:id="rId14"/>
    <p:sldId id="360" r:id="rId15"/>
    <p:sldId id="361" r:id="rId16"/>
    <p:sldId id="362" r:id="rId17"/>
    <p:sldId id="363" r:id="rId18"/>
    <p:sldId id="364" r:id="rId19"/>
    <p:sldId id="268" r:id="rId20"/>
    <p:sldId id="269" r:id="rId21"/>
    <p:sldId id="354" r:id="rId22"/>
    <p:sldId id="355" r:id="rId23"/>
    <p:sldId id="356" r:id="rId24"/>
    <p:sldId id="357" r:id="rId25"/>
    <p:sldId id="358" r:id="rId26"/>
    <p:sldId id="27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63"/>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1CDF49-EF8B-CB45-9648-99EEC4DFAF34}" type="datetimeFigureOut">
              <a:rPr lang="en-US" smtClean="0"/>
              <a:t>12/4/20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71B10D-6583-454C-B659-1349F4432165}" type="slidenum">
              <a:rPr lang="en-US" smtClean="0"/>
              <a:t>‹#›</a:t>
            </a:fld>
            <a:endParaRPr lang="en-US"/>
          </a:p>
        </p:txBody>
      </p:sp>
    </p:spTree>
    <p:extLst>
      <p:ext uri="{BB962C8B-B14F-4D97-AF65-F5344CB8AC3E}">
        <p14:creationId xmlns:p14="http://schemas.microsoft.com/office/powerpoint/2010/main" val="3190373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a:t>
            </a:fld>
            <a:endParaRPr lang="en-US"/>
          </a:p>
        </p:txBody>
      </p:sp>
    </p:spTree>
    <p:extLst>
      <p:ext uri="{BB962C8B-B14F-4D97-AF65-F5344CB8AC3E}">
        <p14:creationId xmlns:p14="http://schemas.microsoft.com/office/powerpoint/2010/main" val="1644415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2</a:t>
            </a:fld>
            <a:endParaRPr lang="en-US"/>
          </a:p>
        </p:txBody>
      </p:sp>
    </p:spTree>
    <p:extLst>
      <p:ext uri="{BB962C8B-B14F-4D97-AF65-F5344CB8AC3E}">
        <p14:creationId xmlns:p14="http://schemas.microsoft.com/office/powerpoint/2010/main" val="2862857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13</a:t>
            </a:fld>
            <a:endParaRPr lang="en-US"/>
          </a:p>
        </p:txBody>
      </p:sp>
    </p:spTree>
    <p:extLst>
      <p:ext uri="{BB962C8B-B14F-4D97-AF65-F5344CB8AC3E}">
        <p14:creationId xmlns:p14="http://schemas.microsoft.com/office/powerpoint/2010/main" val="2503099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14</a:t>
            </a:fld>
            <a:endParaRPr lang="en-US"/>
          </a:p>
        </p:txBody>
      </p:sp>
    </p:spTree>
    <p:extLst>
      <p:ext uri="{BB962C8B-B14F-4D97-AF65-F5344CB8AC3E}">
        <p14:creationId xmlns:p14="http://schemas.microsoft.com/office/powerpoint/2010/main" val="4099475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15</a:t>
            </a:fld>
            <a:endParaRPr lang="en-US"/>
          </a:p>
        </p:txBody>
      </p:sp>
    </p:spTree>
    <p:extLst>
      <p:ext uri="{BB962C8B-B14F-4D97-AF65-F5344CB8AC3E}">
        <p14:creationId xmlns:p14="http://schemas.microsoft.com/office/powerpoint/2010/main" val="2005592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16</a:t>
            </a:fld>
            <a:endParaRPr lang="en-US"/>
          </a:p>
        </p:txBody>
      </p:sp>
    </p:spTree>
    <p:extLst>
      <p:ext uri="{BB962C8B-B14F-4D97-AF65-F5344CB8AC3E}">
        <p14:creationId xmlns:p14="http://schemas.microsoft.com/office/powerpoint/2010/main" val="1141473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17</a:t>
            </a:fld>
            <a:endParaRPr lang="en-US"/>
          </a:p>
        </p:txBody>
      </p:sp>
    </p:spTree>
    <p:extLst>
      <p:ext uri="{BB962C8B-B14F-4D97-AF65-F5344CB8AC3E}">
        <p14:creationId xmlns:p14="http://schemas.microsoft.com/office/powerpoint/2010/main" val="926902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18</a:t>
            </a:fld>
            <a:endParaRPr lang="en-US"/>
          </a:p>
        </p:txBody>
      </p:sp>
    </p:spTree>
    <p:extLst>
      <p:ext uri="{BB962C8B-B14F-4D97-AF65-F5344CB8AC3E}">
        <p14:creationId xmlns:p14="http://schemas.microsoft.com/office/powerpoint/2010/main" val="3058082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21</a:t>
            </a:fld>
            <a:endParaRPr lang="en-US"/>
          </a:p>
        </p:txBody>
      </p:sp>
    </p:spTree>
    <p:extLst>
      <p:ext uri="{BB962C8B-B14F-4D97-AF65-F5344CB8AC3E}">
        <p14:creationId xmlns:p14="http://schemas.microsoft.com/office/powerpoint/2010/main" val="1484708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22</a:t>
            </a:fld>
            <a:endParaRPr lang="en-US"/>
          </a:p>
        </p:txBody>
      </p:sp>
    </p:spTree>
    <p:extLst>
      <p:ext uri="{BB962C8B-B14F-4D97-AF65-F5344CB8AC3E}">
        <p14:creationId xmlns:p14="http://schemas.microsoft.com/office/powerpoint/2010/main" val="73945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Sorting. The act of sorting data, especially by the magnitude of the values from high to low or low to high, features the ranking relationship between those values and makes it easier to compare the magnitude of value to the next.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Adding/removing variables. You might need to view different variable at different times during the analysis process, so it is common to add or remove field of data from view as necessary</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Filtering. When you want to focus on a subset of data, nothing makes it easier to do so than filtering—the removal from view of everything your not interested in at the moment.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Highlighting. Sometimes you want to focus on a subset of information, but do so in a way that allows you to maintain a sense of how that subset relates to the whole. Rather than filtering out the data that falls outside your range of focus, you can simply reduce its visual salience or increase the visual salience of the data you wish to focus on. This allows you to focus on the subset with less distraction from the whole in a way that allow you to remain aware of the whole. This is one way of achieving what’s called a </a:t>
            </a:r>
            <a:r>
              <a:rPr lang="en-US" sz="1200" kern="1200" dirty="0" err="1">
                <a:solidFill>
                  <a:schemeClr val="tx1"/>
                </a:solidFill>
                <a:effectLst/>
                <a:latin typeface="+mn-lt"/>
                <a:ea typeface="+mn-ea"/>
                <a:cs typeface="+mn-cs"/>
              </a:rPr>
              <a:t>focus+context</a:t>
            </a:r>
            <a:r>
              <a:rPr lang="en-US" sz="1200" kern="1200" dirty="0">
                <a:solidFill>
                  <a:schemeClr val="tx1"/>
                </a:solidFill>
                <a:effectLst/>
                <a:latin typeface="+mn-lt"/>
                <a:ea typeface="+mn-ea"/>
                <a:cs typeface="+mn-cs"/>
              </a:rPr>
              <a:t> view.</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Aggregating/Disaggregating. Analysis often requires that you examine data a different levels of detail. Aggregation involves viewing data at a higher level of summarization. Disaggregation involves viewing data at a lower level of detail.</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Drilling. Similar to disaggregation, drilling involves viewing data at a lower level of detail, but in a specific manner. Drilling also means that you are changing the view to the next level in a defined hierarchy, and excluding from view all data that is not directly related to the specific data value that you chose to drill into. For instance, if you drill into a particular product family, your next view only products that belong to that product family. In other words, a form of filtering is involved.</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Grouping. Sometimes it is useful to combine members of a variable together, treating them as a single member of the variable. This may take the form of combining some members and leaving others as they are, or of creating an entirely new variable that combines all members of an existing variable into a groups to form members of a higher level variable.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Zooming/Panning. When a data visualization contains so much that it is difficult to clearly see all the data at once, it is useful to zoom in on that portion that you want to see more clearly. Panning involves moving around (for example, up, down, right, or left) in a zoomed view to focus on a different part of the larger visualization.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Re-visualizing. No one visual representation of data can show you everything there is to see, so visual analysis involves shifting from one type of visualization to another to explore data from various perspectives.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Re-expressing. Sometimes it is useful to express a quantitative variable as a different unit of measure, such as expressing dollars as percentages.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Re-scaling. No single quantitative scale on a graph can serve every analytical need. Rescaling involves changing the range of the quantitative scale to make it easier to see particular patterns and sometimes even changing the nature of the scale, such as from a normal scale to a logarithmic scale.</a:t>
            </a:r>
          </a:p>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23</a:t>
            </a:fld>
            <a:endParaRPr lang="en-US"/>
          </a:p>
        </p:txBody>
      </p:sp>
    </p:spTree>
    <p:extLst>
      <p:ext uri="{BB962C8B-B14F-4D97-AF65-F5344CB8AC3E}">
        <p14:creationId xmlns:p14="http://schemas.microsoft.com/office/powerpoint/2010/main" val="3065760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24</a:t>
            </a:fld>
            <a:endParaRPr lang="en-US"/>
          </a:p>
        </p:txBody>
      </p:sp>
    </p:spTree>
    <p:extLst>
      <p:ext uri="{BB962C8B-B14F-4D97-AF65-F5344CB8AC3E}">
        <p14:creationId xmlns:p14="http://schemas.microsoft.com/office/powerpoint/2010/main" val="2245220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34BEE4D-5E5A-1F44-BB7C-571836D960FF}" type="slidenum">
              <a:rPr lang="en-US" smtClean="0"/>
              <a:t>26</a:t>
            </a:fld>
            <a:endParaRPr lang="en-US"/>
          </a:p>
        </p:txBody>
      </p:sp>
    </p:spTree>
    <p:extLst>
      <p:ext uri="{BB962C8B-B14F-4D97-AF65-F5344CB8AC3E}">
        <p14:creationId xmlns:p14="http://schemas.microsoft.com/office/powerpoint/2010/main" val="1500277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9E6D-DFC3-244D-8336-C5E6B26941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61964B-D1B1-A04D-A8C6-8913209DE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EAEAB6-4ECE-8444-9D4E-7B7D1CE356ED}"/>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5" name="Footer Placeholder 4">
            <a:extLst>
              <a:ext uri="{FF2B5EF4-FFF2-40B4-BE49-F238E27FC236}">
                <a16:creationId xmlns:a16="http://schemas.microsoft.com/office/drawing/2014/main" id="{97CF3BA9-B9D6-354D-99A6-2B436B45F5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36A654-445A-E74F-8F04-9552D664F45A}"/>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1422751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0053-D77A-0647-BC00-ED2D3BBBF2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08846-9083-A54E-9A85-85CBE70A9A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11F52D-D9B3-1844-AF5F-E06ADB901D5B}"/>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5" name="Footer Placeholder 4">
            <a:extLst>
              <a:ext uri="{FF2B5EF4-FFF2-40B4-BE49-F238E27FC236}">
                <a16:creationId xmlns:a16="http://schemas.microsoft.com/office/drawing/2014/main" id="{EC05F212-B091-E347-A443-03C5843DC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A24ABF-4DE5-FF46-A2B3-00B292F751A9}"/>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2287448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1760D-F822-6F41-B6CD-BDB6FDF9B6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F5A303-84B4-5D4C-A21B-AF34178478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DBD6DB-21AC-4F49-9E5D-4A8CD9A443AB}"/>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5" name="Footer Placeholder 4">
            <a:extLst>
              <a:ext uri="{FF2B5EF4-FFF2-40B4-BE49-F238E27FC236}">
                <a16:creationId xmlns:a16="http://schemas.microsoft.com/office/drawing/2014/main" id="{CCEB912D-E6D4-3E43-8BD8-67879EB4C1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C83040-CF4F-CF40-A349-11FA4340566B}"/>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3277479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F55E-E05F-9E45-970F-39F530DFA6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CF6607-0F1B-DE4E-826B-9A8EFCA29A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871B86-971F-F946-B1B1-6A73844363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208079-1CE7-1B4E-A24F-5D57E22FD473}"/>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6" name="Footer Placeholder 5">
            <a:extLst>
              <a:ext uri="{FF2B5EF4-FFF2-40B4-BE49-F238E27FC236}">
                <a16:creationId xmlns:a16="http://schemas.microsoft.com/office/drawing/2014/main" id="{9D56E135-B797-ED4D-B669-732FF8EDEA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61B2B0-E11B-2442-9628-D45C5D4ABBC6}"/>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1772098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3C90-5F00-204F-A977-5EE8AA426A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9121CB-7F9D-FF48-85F7-8EDFAA07C5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3DCFE-922A-FA49-AB8A-518AEF4699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7AA89E-9573-4945-B458-F2F720CB9F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84EF7-037D-AA42-8BD0-D70912E311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960CBA-8F4C-E743-A6DF-BBFB4F99C48F}"/>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8" name="Footer Placeholder 7">
            <a:extLst>
              <a:ext uri="{FF2B5EF4-FFF2-40B4-BE49-F238E27FC236}">
                <a16:creationId xmlns:a16="http://schemas.microsoft.com/office/drawing/2014/main" id="{CB99EC19-00B4-0E48-9BEE-654F4C6930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D26EE9-772D-A947-9C7A-D20BA5D27DCB}"/>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384259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7362C-7683-344A-9019-B0A4E7D543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EA1C8B-EB9C-8B49-A5F1-CC9C136E6E20}"/>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4" name="Footer Placeholder 3">
            <a:extLst>
              <a:ext uri="{FF2B5EF4-FFF2-40B4-BE49-F238E27FC236}">
                <a16:creationId xmlns:a16="http://schemas.microsoft.com/office/drawing/2014/main" id="{FDD3C5E4-67BD-844C-82AB-251C039AD9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ED386-4DD9-9644-9B20-8B80DC65537F}"/>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2484310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91985E-1CC6-D04D-BF77-35A6B70FDC61}"/>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3" name="Footer Placeholder 2">
            <a:extLst>
              <a:ext uri="{FF2B5EF4-FFF2-40B4-BE49-F238E27FC236}">
                <a16:creationId xmlns:a16="http://schemas.microsoft.com/office/drawing/2014/main" id="{3EC8298D-7052-7F4B-AB7A-9636DC290F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40B8C1-FB02-9344-BDE5-A34B818E063F}"/>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608703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2F00A-6442-E74C-ADE8-A5CE6BD1F7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1465C4-749A-9E41-8F30-46437B55C2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5B529C-996B-8248-B38A-F78036294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007372-92BE-194C-86E4-9E374C8EC1E7}"/>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6" name="Footer Placeholder 5">
            <a:extLst>
              <a:ext uri="{FF2B5EF4-FFF2-40B4-BE49-F238E27FC236}">
                <a16:creationId xmlns:a16="http://schemas.microsoft.com/office/drawing/2014/main" id="{0AF8592B-1D84-DA40-AEE5-84F4CE5F99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7583F3-6AA6-2B42-A5FC-945FB3D9674C}"/>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217313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3F4B-D229-F348-AD18-52902D4AD7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66B807-04EE-7B48-B5CF-F1A365C0C5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DA2094-5CAC-B341-9982-8DFA30317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64CA46-86E7-5445-A648-A537C08320E3}"/>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6" name="Footer Placeholder 5">
            <a:extLst>
              <a:ext uri="{FF2B5EF4-FFF2-40B4-BE49-F238E27FC236}">
                <a16:creationId xmlns:a16="http://schemas.microsoft.com/office/drawing/2014/main" id="{9459E915-B4A7-1C4F-8102-65063EB4E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3EA20A-7CAC-5845-8BEC-9BAB39B905C0}"/>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2946446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26AC9-F4E3-A448-9CA7-39688C32D7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8D8903-0446-4542-A0DE-4734C73AF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D4AB0-2D08-6E48-A620-EA51E2D491B4}"/>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5" name="Footer Placeholder 4">
            <a:extLst>
              <a:ext uri="{FF2B5EF4-FFF2-40B4-BE49-F238E27FC236}">
                <a16:creationId xmlns:a16="http://schemas.microsoft.com/office/drawing/2014/main" id="{519CA670-6781-5E41-A1D0-4865DD551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CBA34-764A-434A-912F-F4043C3C82B4}"/>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825258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880E33-FB86-2445-8E28-679C4A2090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ECF915-48F4-854B-83E3-A4D91C42E2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20AE49-C024-B349-BB3E-F10D67ACF091}"/>
              </a:ext>
            </a:extLst>
          </p:cNvPr>
          <p:cNvSpPr>
            <a:spLocks noGrp="1"/>
          </p:cNvSpPr>
          <p:nvPr>
            <p:ph type="dt" sz="half" idx="10"/>
          </p:nvPr>
        </p:nvSpPr>
        <p:spPr/>
        <p:txBody>
          <a:bodyPr/>
          <a:lstStyle/>
          <a:p>
            <a:fld id="{A2BFBDFA-E975-BA41-97CF-2D3CCDC72ED4}" type="datetimeFigureOut">
              <a:rPr lang="en-US" smtClean="0"/>
              <a:t>12/4/20</a:t>
            </a:fld>
            <a:endParaRPr lang="en-US"/>
          </a:p>
        </p:txBody>
      </p:sp>
      <p:sp>
        <p:nvSpPr>
          <p:cNvPr id="5" name="Footer Placeholder 4">
            <a:extLst>
              <a:ext uri="{FF2B5EF4-FFF2-40B4-BE49-F238E27FC236}">
                <a16:creationId xmlns:a16="http://schemas.microsoft.com/office/drawing/2014/main" id="{8598DD63-95C0-1043-98F4-AFC36A15E5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274D16-EA52-CB4D-B2ED-FC5B713544B8}"/>
              </a:ext>
            </a:extLst>
          </p:cNvPr>
          <p:cNvSpPr>
            <a:spLocks noGrp="1"/>
          </p:cNvSpPr>
          <p:nvPr>
            <p:ph type="sldNum" sz="quarter" idx="12"/>
          </p:nvPr>
        </p:nvSpPr>
        <p:spPr/>
        <p:txBody>
          <a:bodyPr/>
          <a:lstStyle/>
          <a:p>
            <a:fld id="{84B73A6E-90E4-384A-94CD-D1E663DBC812}" type="slidenum">
              <a:rPr lang="en-US" smtClean="0"/>
              <a:t>‹#›</a:t>
            </a:fld>
            <a:endParaRPr lang="en-US"/>
          </a:p>
        </p:txBody>
      </p:sp>
    </p:spTree>
    <p:extLst>
      <p:ext uri="{BB962C8B-B14F-4D97-AF65-F5344CB8AC3E}">
        <p14:creationId xmlns:p14="http://schemas.microsoft.com/office/powerpoint/2010/main" val="3774248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68CD69-D99E-EE48-A0EF-FE843D14F3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17196D-2197-D04E-B405-BF5E01FCE1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1706A-B5C7-4446-B4F0-7071FB692B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BFBDFA-E975-BA41-97CF-2D3CCDC72ED4}" type="datetimeFigureOut">
              <a:rPr lang="en-US" smtClean="0"/>
              <a:t>12/4/20</a:t>
            </a:fld>
            <a:endParaRPr lang="en-US"/>
          </a:p>
        </p:txBody>
      </p:sp>
      <p:sp>
        <p:nvSpPr>
          <p:cNvPr id="5" name="Footer Placeholder 4">
            <a:extLst>
              <a:ext uri="{FF2B5EF4-FFF2-40B4-BE49-F238E27FC236}">
                <a16:creationId xmlns:a16="http://schemas.microsoft.com/office/drawing/2014/main" id="{822C4DA8-A9CD-CC48-9DEC-7D6672D8AD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979055-AAE2-894A-AB4D-7B203B23F4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B73A6E-90E4-384A-94CD-D1E663DBC812}" type="slidenum">
              <a:rPr lang="en-US" smtClean="0"/>
              <a:t>‹#›</a:t>
            </a:fld>
            <a:endParaRPr lang="en-US"/>
          </a:p>
        </p:txBody>
      </p:sp>
    </p:spTree>
    <p:extLst>
      <p:ext uri="{BB962C8B-B14F-4D97-AF65-F5344CB8AC3E}">
        <p14:creationId xmlns:p14="http://schemas.microsoft.com/office/powerpoint/2010/main" val="2019225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Dashboards</a:t>
            </a:r>
          </a:p>
        </p:txBody>
      </p:sp>
      <p:sp>
        <p:nvSpPr>
          <p:cNvPr id="3" name="Subtitle 2"/>
          <p:cNvSpPr>
            <a:spLocks noGrp="1"/>
          </p:cNvSpPr>
          <p:nvPr>
            <p:ph type="subTitle" idx="1"/>
          </p:nvPr>
        </p:nvSpPr>
        <p:spPr/>
        <p:txBody>
          <a:bodyPr/>
          <a:lstStyle/>
          <a:p>
            <a:r>
              <a:rPr lang="en-US" dirty="0"/>
              <a:t>Data Visualization</a:t>
            </a:r>
          </a:p>
          <a:p>
            <a:r>
              <a:rPr lang="en-US" dirty="0"/>
              <a:t>John F. Tripp</a:t>
            </a:r>
          </a:p>
        </p:txBody>
      </p:sp>
    </p:spTree>
    <p:extLst>
      <p:ext uri="{BB962C8B-B14F-4D97-AF65-F5344CB8AC3E}">
        <p14:creationId xmlns:p14="http://schemas.microsoft.com/office/powerpoint/2010/main" val="1856545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Dashboards</a:t>
            </a:r>
          </a:p>
        </p:txBody>
      </p:sp>
      <p:sp>
        <p:nvSpPr>
          <p:cNvPr id="3" name="Content Placeholder 2"/>
          <p:cNvSpPr>
            <a:spLocks noGrp="1"/>
          </p:cNvSpPr>
          <p:nvPr>
            <p:ph idx="1"/>
          </p:nvPr>
        </p:nvSpPr>
        <p:spPr/>
        <p:txBody>
          <a:bodyPr/>
          <a:lstStyle/>
          <a:p>
            <a:r>
              <a:rPr lang="en-US" dirty="0"/>
              <a:t>Questions: </a:t>
            </a:r>
          </a:p>
          <a:p>
            <a:pPr lvl="1"/>
            <a:r>
              <a:rPr lang="en-US" dirty="0"/>
              <a:t>What IS a dashboard?</a:t>
            </a:r>
          </a:p>
          <a:p>
            <a:pPr lvl="1"/>
            <a:r>
              <a:rPr lang="en-US" dirty="0"/>
              <a:t>How are they different from a report?</a:t>
            </a:r>
          </a:p>
          <a:p>
            <a:pPr lvl="1"/>
            <a:r>
              <a:rPr lang="en-US" dirty="0"/>
              <a:t>Who are they meant for?</a:t>
            </a:r>
          </a:p>
          <a:p>
            <a:pPr lvl="1"/>
            <a:r>
              <a:rPr lang="en-US" dirty="0"/>
              <a:t>What are they supposed to accomplish?</a:t>
            </a:r>
          </a:p>
          <a:p>
            <a:endParaRPr lang="en-US" dirty="0"/>
          </a:p>
          <a:p>
            <a:endParaRPr lang="en-US" dirty="0"/>
          </a:p>
          <a:p>
            <a:pPr lvl="1"/>
            <a:endParaRPr lang="en-US" dirty="0"/>
          </a:p>
          <a:p>
            <a:pPr lvl="1"/>
            <a:endParaRPr lang="en-US" dirty="0"/>
          </a:p>
        </p:txBody>
      </p:sp>
    </p:spTree>
    <p:extLst>
      <p:ext uri="{BB962C8B-B14F-4D97-AF65-F5344CB8AC3E}">
        <p14:creationId xmlns:p14="http://schemas.microsoft.com/office/powerpoint/2010/main" val="1008737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Dashboards</a:t>
            </a:r>
          </a:p>
        </p:txBody>
      </p:sp>
      <p:sp>
        <p:nvSpPr>
          <p:cNvPr id="3" name="Content Placeholder 2"/>
          <p:cNvSpPr>
            <a:spLocks noGrp="1"/>
          </p:cNvSpPr>
          <p:nvPr>
            <p:ph idx="1"/>
          </p:nvPr>
        </p:nvSpPr>
        <p:spPr/>
        <p:txBody>
          <a:bodyPr/>
          <a:lstStyle/>
          <a:p>
            <a:r>
              <a:rPr lang="en-US" dirty="0"/>
              <a:t>Evaluate the following dashboard according to our “principles of visualization” – are they good?</a:t>
            </a:r>
          </a:p>
          <a:p>
            <a:endParaRPr lang="en-US" dirty="0"/>
          </a:p>
          <a:p>
            <a:r>
              <a:rPr lang="en-US" dirty="0"/>
              <a:t>We’ll spend one minute each.</a:t>
            </a:r>
          </a:p>
          <a:p>
            <a:endParaRPr lang="en-US" dirty="0"/>
          </a:p>
          <a:p>
            <a:endParaRPr lang="en-US" dirty="0"/>
          </a:p>
          <a:p>
            <a:pPr lvl="1"/>
            <a:endParaRPr lang="en-US" dirty="0"/>
          </a:p>
          <a:p>
            <a:pPr lvl="1"/>
            <a:endParaRPr lang="en-US" dirty="0"/>
          </a:p>
        </p:txBody>
      </p:sp>
    </p:spTree>
    <p:extLst>
      <p:ext uri="{BB962C8B-B14F-4D97-AF65-F5344CB8AC3E}">
        <p14:creationId xmlns:p14="http://schemas.microsoft.com/office/powerpoint/2010/main" val="115563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Dashboards</a:t>
            </a:r>
          </a:p>
        </p:txBody>
      </p:sp>
      <p:sp>
        <p:nvSpPr>
          <p:cNvPr id="4" name="Content Placeholder 3">
            <a:extLst>
              <a:ext uri="{FF2B5EF4-FFF2-40B4-BE49-F238E27FC236}">
                <a16:creationId xmlns:a16="http://schemas.microsoft.com/office/drawing/2014/main" id="{E3983F3C-D43E-5F4E-B031-3D0650CDCEEC}"/>
              </a:ext>
            </a:extLst>
          </p:cNvPr>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689100" y="1247493"/>
            <a:ext cx="8801100" cy="5626100"/>
          </a:xfrm>
          <a:prstGeom prst="rect">
            <a:avLst/>
          </a:prstGeom>
        </p:spPr>
      </p:pic>
    </p:spTree>
    <p:extLst>
      <p:ext uri="{BB962C8B-B14F-4D97-AF65-F5344CB8AC3E}">
        <p14:creationId xmlns:p14="http://schemas.microsoft.com/office/powerpoint/2010/main" val="1987945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Dashboards</a:t>
            </a:r>
          </a:p>
        </p:txBody>
      </p:sp>
      <p:sp>
        <p:nvSpPr>
          <p:cNvPr id="5" name="Content Placeholder 4">
            <a:extLst>
              <a:ext uri="{FF2B5EF4-FFF2-40B4-BE49-F238E27FC236}">
                <a16:creationId xmlns:a16="http://schemas.microsoft.com/office/drawing/2014/main" id="{185882B7-668B-2446-AB41-5B6F91F449C5}"/>
              </a:ext>
            </a:extLst>
          </p:cNvPr>
          <p:cNvSpPr>
            <a:spLocks noGrp="1"/>
          </p:cNvSpPr>
          <p:nvPr>
            <p:ph idx="1"/>
          </p:nvPr>
        </p:nvSpPr>
        <p:spPr/>
        <p:txBody>
          <a:bodyPr/>
          <a:lstStyle/>
          <a:p>
            <a:endParaRPr lang="en-US"/>
          </a:p>
        </p:txBody>
      </p:sp>
      <p:pic>
        <p:nvPicPr>
          <p:cNvPr id="3" name="Picture 2"/>
          <p:cNvPicPr>
            <a:picLocks noChangeAspect="1"/>
          </p:cNvPicPr>
          <p:nvPr/>
        </p:nvPicPr>
        <p:blipFill>
          <a:blip r:embed="rId2"/>
          <a:stretch>
            <a:fillRect/>
          </a:stretch>
        </p:blipFill>
        <p:spPr>
          <a:xfrm>
            <a:off x="2500989" y="1243604"/>
            <a:ext cx="7360995" cy="5315738"/>
          </a:xfrm>
          <a:prstGeom prst="rect">
            <a:avLst/>
          </a:prstGeom>
        </p:spPr>
      </p:pic>
    </p:spTree>
    <p:extLst>
      <p:ext uri="{BB962C8B-B14F-4D97-AF65-F5344CB8AC3E}">
        <p14:creationId xmlns:p14="http://schemas.microsoft.com/office/powerpoint/2010/main" val="2602283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Dashboards</a:t>
            </a:r>
          </a:p>
        </p:txBody>
      </p:sp>
      <p:sp>
        <p:nvSpPr>
          <p:cNvPr id="5" name="Content Placeholder 4">
            <a:extLst>
              <a:ext uri="{FF2B5EF4-FFF2-40B4-BE49-F238E27FC236}">
                <a16:creationId xmlns:a16="http://schemas.microsoft.com/office/drawing/2014/main" id="{FB8AFCD7-D7F9-FF45-ACCA-FF61A56D2C7A}"/>
              </a:ext>
            </a:extLst>
          </p:cNvPr>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438400" y="1766386"/>
            <a:ext cx="7315200" cy="4546600"/>
          </a:xfrm>
          <a:prstGeom prst="rect">
            <a:avLst/>
          </a:prstGeom>
        </p:spPr>
      </p:pic>
    </p:spTree>
    <p:extLst>
      <p:ext uri="{BB962C8B-B14F-4D97-AF65-F5344CB8AC3E}">
        <p14:creationId xmlns:p14="http://schemas.microsoft.com/office/powerpoint/2010/main" val="2211726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IS a dashboard</a:t>
            </a:r>
          </a:p>
        </p:txBody>
      </p:sp>
      <p:sp>
        <p:nvSpPr>
          <p:cNvPr id="3" name="Content Placeholder 2"/>
          <p:cNvSpPr>
            <a:spLocks noGrp="1"/>
          </p:cNvSpPr>
          <p:nvPr>
            <p:ph idx="1"/>
          </p:nvPr>
        </p:nvSpPr>
        <p:spPr/>
        <p:txBody>
          <a:bodyPr/>
          <a:lstStyle/>
          <a:p>
            <a:r>
              <a:rPr lang="en-US" dirty="0"/>
              <a:t>Dashboards are reporting mechanisms that aggregate and display metrics and key performance indicators (KPIs), enabling them to be examined at a glance by all manner of users before further exploration via additional business analytics tools. Dashboards help improve decision making by revealing and communicating in-context insight into business performance, displaying KPIs or business metrics using intuitive means of visualization such as charts, dials, gauges and "traffic lights" that indicate progress toward defined targets.</a:t>
            </a:r>
          </a:p>
          <a:p>
            <a:endParaRPr lang="en-US" dirty="0"/>
          </a:p>
        </p:txBody>
      </p:sp>
      <p:pic>
        <p:nvPicPr>
          <p:cNvPr id="4" name="Picture 3"/>
          <p:cNvPicPr>
            <a:picLocks noChangeAspect="1"/>
          </p:cNvPicPr>
          <p:nvPr/>
        </p:nvPicPr>
        <p:blipFill>
          <a:blip r:embed="rId2"/>
          <a:stretch>
            <a:fillRect/>
          </a:stretch>
        </p:blipFill>
        <p:spPr>
          <a:xfrm>
            <a:off x="9486900" y="5715000"/>
            <a:ext cx="1181100" cy="1143000"/>
          </a:xfrm>
          <a:prstGeom prst="rect">
            <a:avLst/>
          </a:prstGeom>
        </p:spPr>
      </p:pic>
    </p:spTree>
    <p:extLst>
      <p:ext uri="{BB962C8B-B14F-4D97-AF65-F5344CB8AC3E}">
        <p14:creationId xmlns:p14="http://schemas.microsoft.com/office/powerpoint/2010/main" val="2578493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IS a dashboard</a:t>
            </a:r>
          </a:p>
        </p:txBody>
      </p:sp>
      <p:sp>
        <p:nvSpPr>
          <p:cNvPr id="3" name="Content Placeholder 2"/>
          <p:cNvSpPr>
            <a:spLocks noGrp="1"/>
          </p:cNvSpPr>
          <p:nvPr>
            <p:ph idx="1"/>
          </p:nvPr>
        </p:nvSpPr>
        <p:spPr/>
        <p:txBody>
          <a:bodyPr/>
          <a:lstStyle/>
          <a:p>
            <a:r>
              <a:rPr lang="en-US" dirty="0"/>
              <a:t>Dashboards are reporting mechanisms that aggregate and display metrics and key performance indicators (KPIs), enabling them to be examined </a:t>
            </a:r>
            <a:r>
              <a:rPr lang="en-US" u="sng" dirty="0"/>
              <a:t>at a glance </a:t>
            </a:r>
            <a:r>
              <a:rPr lang="en-US" dirty="0"/>
              <a:t>by all </a:t>
            </a:r>
            <a:r>
              <a:rPr lang="en-US" u="sng" dirty="0"/>
              <a:t>manner of users </a:t>
            </a:r>
            <a:r>
              <a:rPr lang="en-US" dirty="0"/>
              <a:t>before </a:t>
            </a:r>
            <a:r>
              <a:rPr lang="en-US" u="sng" dirty="0"/>
              <a:t>further exploration</a:t>
            </a:r>
            <a:r>
              <a:rPr lang="en-US" dirty="0"/>
              <a:t> via additional business analytics tools. Dashboards help improve decision making by revealing and communicating in-context insight into business performance, displaying </a:t>
            </a:r>
            <a:r>
              <a:rPr lang="en-US" u="sng" dirty="0"/>
              <a:t>KPIs or business metrics</a:t>
            </a:r>
            <a:r>
              <a:rPr lang="en-US" dirty="0"/>
              <a:t> using </a:t>
            </a:r>
            <a:r>
              <a:rPr lang="en-US" u="sng" dirty="0"/>
              <a:t>intuitive means of visualization</a:t>
            </a:r>
            <a:r>
              <a:rPr lang="en-US" dirty="0"/>
              <a:t> such as charts, dials, gauges and "traffic lights" that indicate </a:t>
            </a:r>
            <a:r>
              <a:rPr lang="en-US" u="sng" dirty="0"/>
              <a:t>progress toward defined targets</a:t>
            </a:r>
            <a:r>
              <a:rPr lang="en-US" dirty="0"/>
              <a:t>.</a:t>
            </a:r>
          </a:p>
          <a:p>
            <a:endParaRPr lang="en-US" dirty="0"/>
          </a:p>
        </p:txBody>
      </p:sp>
      <p:pic>
        <p:nvPicPr>
          <p:cNvPr id="4" name="Picture 3"/>
          <p:cNvPicPr>
            <a:picLocks noChangeAspect="1"/>
          </p:cNvPicPr>
          <p:nvPr/>
        </p:nvPicPr>
        <p:blipFill>
          <a:blip r:embed="rId2"/>
          <a:stretch>
            <a:fillRect/>
          </a:stretch>
        </p:blipFill>
        <p:spPr>
          <a:xfrm>
            <a:off x="9486900" y="5715000"/>
            <a:ext cx="1181100" cy="1143000"/>
          </a:xfrm>
          <a:prstGeom prst="rect">
            <a:avLst/>
          </a:prstGeom>
        </p:spPr>
      </p:pic>
    </p:spTree>
    <p:extLst>
      <p:ext uri="{BB962C8B-B14F-4D97-AF65-F5344CB8AC3E}">
        <p14:creationId xmlns:p14="http://schemas.microsoft.com/office/powerpoint/2010/main" val="368202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4000" y="622300"/>
            <a:ext cx="9144000" cy="5595582"/>
          </a:xfrm>
          <a:prstGeom prst="rect">
            <a:avLst/>
          </a:prstGeom>
        </p:spPr>
      </p:pic>
    </p:spTree>
    <p:extLst>
      <p:ext uri="{BB962C8B-B14F-4D97-AF65-F5344CB8AC3E}">
        <p14:creationId xmlns:p14="http://schemas.microsoft.com/office/powerpoint/2010/main" val="2644622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IS a dashboard</a:t>
            </a:r>
          </a:p>
        </p:txBody>
      </p:sp>
      <p:sp>
        <p:nvSpPr>
          <p:cNvPr id="3" name="Content Placeholder 2"/>
          <p:cNvSpPr>
            <a:spLocks noGrp="1"/>
          </p:cNvSpPr>
          <p:nvPr>
            <p:ph idx="1"/>
          </p:nvPr>
        </p:nvSpPr>
        <p:spPr/>
        <p:txBody>
          <a:bodyPr>
            <a:normAutofit fontScale="92500"/>
          </a:bodyPr>
          <a:lstStyle/>
          <a:p>
            <a:pPr marL="0" indent="0" algn="ctr">
              <a:buNone/>
            </a:pPr>
            <a:r>
              <a:rPr lang="en-US" dirty="0"/>
              <a:t>A dashboard is a visual display</a:t>
            </a:r>
          </a:p>
          <a:p>
            <a:pPr marL="0" indent="0" algn="ctr">
              <a:buNone/>
            </a:pPr>
            <a:r>
              <a:rPr lang="en-US" dirty="0"/>
              <a:t>of</a:t>
            </a:r>
          </a:p>
          <a:p>
            <a:pPr marL="0" indent="0" algn="ctr">
              <a:buNone/>
            </a:pPr>
            <a:r>
              <a:rPr lang="en-US" dirty="0"/>
              <a:t>the most important information needed to achieve one or more objectives</a:t>
            </a:r>
          </a:p>
          <a:p>
            <a:pPr marL="0" indent="0" algn="ctr">
              <a:buNone/>
            </a:pPr>
            <a:r>
              <a:rPr lang="en-US" dirty="0"/>
              <a:t>that has been</a:t>
            </a:r>
          </a:p>
          <a:p>
            <a:pPr marL="0" indent="0" algn="ctr">
              <a:buNone/>
            </a:pPr>
            <a:r>
              <a:rPr lang="en-US" dirty="0"/>
              <a:t>consolidated on a single computer screen</a:t>
            </a:r>
          </a:p>
          <a:p>
            <a:pPr marL="0" indent="0" algn="ctr">
              <a:buNone/>
            </a:pPr>
            <a:r>
              <a:rPr lang="en-US" dirty="0"/>
              <a:t>so it can be</a:t>
            </a:r>
          </a:p>
          <a:p>
            <a:pPr marL="0" indent="0" algn="ctr">
              <a:buNone/>
            </a:pPr>
            <a:r>
              <a:rPr lang="en-US" dirty="0"/>
              <a:t>monitored at a glance</a:t>
            </a:r>
          </a:p>
          <a:p>
            <a:endParaRPr lang="en-US" dirty="0"/>
          </a:p>
          <a:p>
            <a:r>
              <a:rPr lang="en-US" dirty="0"/>
              <a:t>Stephen Few (Information Dashboard Design, p 26)</a:t>
            </a:r>
          </a:p>
          <a:p>
            <a:endParaRPr lang="en-US" dirty="0"/>
          </a:p>
          <a:p>
            <a:endParaRPr lang="en-US" dirty="0"/>
          </a:p>
          <a:p>
            <a:endParaRPr lang="en-US" dirty="0"/>
          </a:p>
          <a:p>
            <a:pPr lvl="1"/>
            <a:endParaRPr lang="en-US" dirty="0"/>
          </a:p>
          <a:p>
            <a:pPr lvl="1"/>
            <a:endParaRPr lang="en-US" dirty="0"/>
          </a:p>
        </p:txBody>
      </p:sp>
    </p:spTree>
    <p:extLst>
      <p:ext uri="{BB962C8B-B14F-4D97-AF65-F5344CB8AC3E}">
        <p14:creationId xmlns:p14="http://schemas.microsoft.com/office/powerpoint/2010/main" val="1256173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Visual Display</a:t>
            </a:r>
          </a:p>
        </p:txBody>
      </p:sp>
      <p:sp>
        <p:nvSpPr>
          <p:cNvPr id="3" name="Content Placeholder 2"/>
          <p:cNvSpPr>
            <a:spLocks noGrp="1"/>
          </p:cNvSpPr>
          <p:nvPr>
            <p:ph idx="1"/>
          </p:nvPr>
        </p:nvSpPr>
        <p:spPr/>
        <p:txBody>
          <a:bodyPr/>
          <a:lstStyle/>
          <a:p>
            <a:r>
              <a:rPr lang="en-US" dirty="0"/>
              <a:t>This means that</a:t>
            </a:r>
          </a:p>
          <a:p>
            <a:pPr lvl="1"/>
            <a:r>
              <a:rPr lang="en-US" dirty="0"/>
              <a:t>They are  graphical</a:t>
            </a:r>
          </a:p>
          <a:p>
            <a:pPr lvl="1"/>
            <a:r>
              <a:rPr lang="en-US" dirty="0"/>
              <a:t>They should follow our principles of data visualization</a:t>
            </a:r>
          </a:p>
          <a:p>
            <a:pPr lvl="1"/>
            <a:r>
              <a:rPr lang="en-US" dirty="0"/>
              <a:t>They are bound by the rules of visual perception</a:t>
            </a:r>
          </a:p>
        </p:txBody>
      </p:sp>
    </p:spTree>
    <p:extLst>
      <p:ext uri="{BB962C8B-B14F-4D97-AF65-F5344CB8AC3E}">
        <p14:creationId xmlns:p14="http://schemas.microsoft.com/office/powerpoint/2010/main" val="2776520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This means that</a:t>
            </a:r>
          </a:p>
          <a:p>
            <a:pPr lvl="1"/>
            <a:r>
              <a:rPr lang="en-US" dirty="0"/>
              <a:t>They are created for a purpose – usually one purpose</a:t>
            </a:r>
          </a:p>
          <a:p>
            <a:pPr lvl="1"/>
            <a:r>
              <a:rPr lang="en-US" dirty="0"/>
              <a:t>They are created for an audience – usually one audience</a:t>
            </a:r>
          </a:p>
          <a:p>
            <a:pPr lvl="1"/>
            <a:r>
              <a:rPr lang="en-US" dirty="0"/>
              <a:t>They pull together disparate information sources</a:t>
            </a:r>
          </a:p>
          <a:p>
            <a:pPr lvl="1"/>
            <a:r>
              <a:rPr lang="en-US" dirty="0"/>
              <a:t>They are not limited to executives.</a:t>
            </a:r>
          </a:p>
        </p:txBody>
      </p:sp>
    </p:spTree>
    <p:extLst>
      <p:ext uri="{BB962C8B-B14F-4D97-AF65-F5344CB8AC3E}">
        <p14:creationId xmlns:p14="http://schemas.microsoft.com/office/powerpoint/2010/main" val="2850792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Remember that a dashboard must be fit for purpose.</a:t>
            </a:r>
          </a:p>
          <a:p>
            <a:pPr lvl="1"/>
            <a:r>
              <a:rPr lang="en-US" dirty="0"/>
              <a:t>Right information</a:t>
            </a:r>
          </a:p>
          <a:p>
            <a:pPr lvl="1"/>
            <a:r>
              <a:rPr lang="en-US" dirty="0"/>
              <a:t>Right audience</a:t>
            </a:r>
          </a:p>
          <a:p>
            <a:pPr lvl="1"/>
            <a:r>
              <a:rPr lang="en-US" dirty="0"/>
              <a:t>Right design</a:t>
            </a:r>
          </a:p>
          <a:p>
            <a:pPr lvl="1"/>
            <a:endParaRPr lang="en-US" dirty="0"/>
          </a:p>
        </p:txBody>
      </p:sp>
    </p:spTree>
    <p:extLst>
      <p:ext uri="{BB962C8B-B14F-4D97-AF65-F5344CB8AC3E}">
        <p14:creationId xmlns:p14="http://schemas.microsoft.com/office/powerpoint/2010/main" val="2048107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Know your dashboard type</a:t>
            </a:r>
          </a:p>
          <a:p>
            <a:pPr lvl="1"/>
            <a:r>
              <a:rPr lang="en-US" dirty="0"/>
              <a:t>Strategic/Executive</a:t>
            </a:r>
          </a:p>
          <a:p>
            <a:pPr lvl="1"/>
            <a:r>
              <a:rPr lang="en-US" dirty="0"/>
              <a:t>Analytical</a:t>
            </a:r>
          </a:p>
          <a:p>
            <a:pPr lvl="1"/>
            <a:r>
              <a:rPr lang="en-US" dirty="0"/>
              <a:t>Operational</a:t>
            </a:r>
          </a:p>
          <a:p>
            <a:pPr lvl="1"/>
            <a:endParaRPr lang="en-US" dirty="0"/>
          </a:p>
        </p:txBody>
      </p:sp>
    </p:spTree>
    <p:extLst>
      <p:ext uri="{BB962C8B-B14F-4D97-AF65-F5344CB8AC3E}">
        <p14:creationId xmlns:p14="http://schemas.microsoft.com/office/powerpoint/2010/main" val="2638353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Strategic/Executive</a:t>
            </a:r>
          </a:p>
          <a:p>
            <a:pPr lvl="1"/>
            <a:r>
              <a:rPr lang="en-US" dirty="0"/>
              <a:t>High level summary of past &amp; current performance against benchmarks (KPIs)</a:t>
            </a:r>
          </a:p>
          <a:p>
            <a:pPr lvl="1"/>
            <a:r>
              <a:rPr lang="en-US" dirty="0"/>
              <a:t>Usually not “live” data</a:t>
            </a:r>
          </a:p>
          <a:p>
            <a:pPr lvl="2"/>
            <a:r>
              <a:rPr lang="en-US" dirty="0"/>
              <a:t>Snapshot of data</a:t>
            </a:r>
          </a:p>
          <a:p>
            <a:pPr lvl="1"/>
            <a:r>
              <a:rPr lang="en-US" dirty="0"/>
              <a:t>Highly unstructured decision making</a:t>
            </a:r>
          </a:p>
          <a:p>
            <a:pPr lvl="1"/>
            <a:r>
              <a:rPr lang="en-US" dirty="0"/>
              <a:t>Low use frequency</a:t>
            </a:r>
          </a:p>
          <a:p>
            <a:pPr lvl="1"/>
            <a:endParaRPr lang="en-US" dirty="0"/>
          </a:p>
          <a:p>
            <a:pPr lvl="1"/>
            <a:r>
              <a:rPr lang="en-US" dirty="0"/>
              <a:t>Higher decision importance</a:t>
            </a:r>
          </a:p>
          <a:p>
            <a:pPr lvl="1"/>
            <a:r>
              <a:rPr lang="en-US" dirty="0"/>
              <a:t>Longer decision impacts</a:t>
            </a:r>
          </a:p>
          <a:p>
            <a:pPr lvl="1"/>
            <a:r>
              <a:rPr lang="en-US" dirty="0"/>
              <a:t>Longer decision horizons</a:t>
            </a:r>
          </a:p>
          <a:p>
            <a:pPr lvl="1"/>
            <a:endParaRPr lang="en-US" dirty="0"/>
          </a:p>
        </p:txBody>
      </p:sp>
    </p:spTree>
    <p:extLst>
      <p:ext uri="{BB962C8B-B14F-4D97-AF65-F5344CB8AC3E}">
        <p14:creationId xmlns:p14="http://schemas.microsoft.com/office/powerpoint/2010/main" val="97575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Analytical</a:t>
            </a:r>
          </a:p>
          <a:p>
            <a:pPr lvl="1"/>
            <a:r>
              <a:rPr lang="en-US" dirty="0"/>
              <a:t>More interactive than strategic dashboard</a:t>
            </a:r>
          </a:p>
          <a:p>
            <a:pPr lvl="1"/>
            <a:r>
              <a:rPr lang="en-US" dirty="0"/>
              <a:t>Drill-down to answer</a:t>
            </a:r>
          </a:p>
          <a:p>
            <a:pPr lvl="2"/>
            <a:r>
              <a:rPr lang="en-US" dirty="0"/>
              <a:t>Who, what, where, when, why</a:t>
            </a:r>
          </a:p>
          <a:p>
            <a:pPr lvl="1"/>
            <a:r>
              <a:rPr lang="en-US" dirty="0"/>
              <a:t>Focused on monitoring and managerial decision making</a:t>
            </a:r>
          </a:p>
          <a:p>
            <a:pPr lvl="2"/>
            <a:r>
              <a:rPr lang="en-US" dirty="0"/>
              <a:t>Moderately unstructured decision making</a:t>
            </a:r>
          </a:p>
          <a:p>
            <a:pPr lvl="1"/>
            <a:endParaRPr lang="en-US" dirty="0"/>
          </a:p>
          <a:p>
            <a:pPr lvl="1"/>
            <a:r>
              <a:rPr lang="en-US" dirty="0"/>
              <a:t>“Medium” decision importance</a:t>
            </a:r>
          </a:p>
          <a:p>
            <a:pPr lvl="1"/>
            <a:r>
              <a:rPr lang="en-US" dirty="0"/>
              <a:t>“Medium” decision impacts</a:t>
            </a:r>
          </a:p>
          <a:p>
            <a:pPr lvl="1"/>
            <a:r>
              <a:rPr lang="en-US" dirty="0"/>
              <a:t>“Medium” decision horizons</a:t>
            </a:r>
          </a:p>
          <a:p>
            <a:pPr lvl="1"/>
            <a:endParaRPr lang="en-US" dirty="0"/>
          </a:p>
        </p:txBody>
      </p:sp>
    </p:spTree>
    <p:extLst>
      <p:ext uri="{BB962C8B-B14F-4D97-AF65-F5344CB8AC3E}">
        <p14:creationId xmlns:p14="http://schemas.microsoft.com/office/powerpoint/2010/main" val="4092770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Operational</a:t>
            </a:r>
          </a:p>
          <a:p>
            <a:pPr lvl="1"/>
            <a:r>
              <a:rPr lang="en-US" dirty="0"/>
              <a:t>Departmental or business-process level data</a:t>
            </a:r>
          </a:p>
          <a:p>
            <a:pPr lvl="1"/>
            <a:r>
              <a:rPr lang="en-US" dirty="0"/>
              <a:t>Short update cycle (or real time)</a:t>
            </a:r>
          </a:p>
          <a:p>
            <a:pPr lvl="1"/>
            <a:r>
              <a:rPr lang="en-US" dirty="0"/>
              <a:t>High use frequency</a:t>
            </a:r>
          </a:p>
          <a:p>
            <a:pPr lvl="1"/>
            <a:r>
              <a:rPr lang="en-US" dirty="0"/>
              <a:t>More structured decision making</a:t>
            </a:r>
          </a:p>
          <a:p>
            <a:pPr lvl="1"/>
            <a:endParaRPr lang="en-US" dirty="0"/>
          </a:p>
          <a:p>
            <a:pPr lvl="1"/>
            <a:r>
              <a:rPr lang="en-US" dirty="0"/>
              <a:t>Daily or short decision horizons</a:t>
            </a:r>
          </a:p>
          <a:p>
            <a:pPr lvl="1"/>
            <a:r>
              <a:rPr lang="en-US" dirty="0"/>
              <a:t>Shorter duration of decision impacts</a:t>
            </a:r>
          </a:p>
        </p:txBody>
      </p:sp>
    </p:spTree>
    <p:extLst>
      <p:ext uri="{BB962C8B-B14F-4D97-AF65-F5344CB8AC3E}">
        <p14:creationId xmlns:p14="http://schemas.microsoft.com/office/powerpoint/2010/main" val="3358868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Specific Objective</a:t>
            </a:r>
          </a:p>
        </p:txBody>
      </p:sp>
      <p:sp>
        <p:nvSpPr>
          <p:cNvPr id="3" name="Content Placeholder 2"/>
          <p:cNvSpPr>
            <a:spLocks noGrp="1"/>
          </p:cNvSpPr>
          <p:nvPr>
            <p:ph idx="1"/>
          </p:nvPr>
        </p:nvSpPr>
        <p:spPr/>
        <p:txBody>
          <a:bodyPr/>
          <a:lstStyle/>
          <a:p>
            <a:r>
              <a:rPr lang="en-US" dirty="0"/>
              <a:t>Before you start on a dashboard, you must know the purpose and audience.</a:t>
            </a:r>
          </a:p>
          <a:p>
            <a:pPr lvl="1"/>
            <a:r>
              <a:rPr lang="en-US" dirty="0"/>
              <a:t>This will drive the type of dashboard that you build.</a:t>
            </a:r>
          </a:p>
          <a:p>
            <a:pPr lvl="1"/>
            <a:endParaRPr lang="en-US" dirty="0"/>
          </a:p>
        </p:txBody>
      </p:sp>
    </p:spTree>
    <p:extLst>
      <p:ext uri="{BB962C8B-B14F-4D97-AF65-F5344CB8AC3E}">
        <p14:creationId xmlns:p14="http://schemas.microsoft.com/office/powerpoint/2010/main" val="2205480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Screen</a:t>
            </a:r>
          </a:p>
        </p:txBody>
      </p:sp>
      <p:sp>
        <p:nvSpPr>
          <p:cNvPr id="3" name="Content Placeholder 2"/>
          <p:cNvSpPr>
            <a:spLocks noGrp="1"/>
          </p:cNvSpPr>
          <p:nvPr>
            <p:ph idx="1"/>
          </p:nvPr>
        </p:nvSpPr>
        <p:spPr/>
        <p:txBody>
          <a:bodyPr/>
          <a:lstStyle/>
          <a:p>
            <a:r>
              <a:rPr lang="en-US" dirty="0"/>
              <a:t>This means that</a:t>
            </a:r>
          </a:p>
          <a:p>
            <a:pPr lvl="1"/>
            <a:r>
              <a:rPr lang="en-US" dirty="0"/>
              <a:t>They should fit entirely on one screen</a:t>
            </a:r>
          </a:p>
          <a:p>
            <a:pPr lvl="2"/>
            <a:r>
              <a:rPr lang="en-US" dirty="0"/>
              <a:t>No scrolling</a:t>
            </a:r>
          </a:p>
          <a:p>
            <a:pPr lvl="2"/>
            <a:r>
              <a:rPr lang="en-US" dirty="0"/>
              <a:t>No pages</a:t>
            </a:r>
          </a:p>
        </p:txBody>
      </p:sp>
    </p:spTree>
    <p:extLst>
      <p:ext uri="{BB962C8B-B14F-4D97-AF65-F5344CB8AC3E}">
        <p14:creationId xmlns:p14="http://schemas.microsoft.com/office/powerpoint/2010/main" val="1315819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 Glance</a:t>
            </a:r>
          </a:p>
        </p:txBody>
      </p:sp>
      <p:sp>
        <p:nvSpPr>
          <p:cNvPr id="3" name="Content Placeholder 2"/>
          <p:cNvSpPr>
            <a:spLocks noGrp="1"/>
          </p:cNvSpPr>
          <p:nvPr>
            <p:ph idx="1"/>
          </p:nvPr>
        </p:nvSpPr>
        <p:spPr/>
        <p:txBody>
          <a:bodyPr/>
          <a:lstStyle/>
          <a:p>
            <a:r>
              <a:rPr lang="en-US" dirty="0"/>
              <a:t>This means that</a:t>
            </a:r>
          </a:p>
          <a:p>
            <a:pPr lvl="1"/>
            <a:r>
              <a:rPr lang="en-US" dirty="0"/>
              <a:t>They are an overview.</a:t>
            </a:r>
          </a:p>
          <a:p>
            <a:pPr lvl="1"/>
            <a:r>
              <a:rPr lang="en-US" dirty="0"/>
              <a:t>They should quickly point out when something is wrong.</a:t>
            </a:r>
          </a:p>
          <a:p>
            <a:pPr lvl="1"/>
            <a:r>
              <a:rPr lang="en-US" dirty="0"/>
              <a:t>Does NOT need to provide all of the information necessary to take action</a:t>
            </a:r>
          </a:p>
          <a:p>
            <a:pPr lvl="2"/>
            <a:r>
              <a:rPr lang="en-US" dirty="0"/>
              <a:t>Does drive to action</a:t>
            </a:r>
          </a:p>
          <a:p>
            <a:pPr lvl="2"/>
            <a:endParaRPr lang="en-US" dirty="0"/>
          </a:p>
        </p:txBody>
      </p:sp>
    </p:spTree>
    <p:extLst>
      <p:ext uri="{BB962C8B-B14F-4D97-AF65-F5344CB8AC3E}">
        <p14:creationId xmlns:p14="http://schemas.microsoft.com/office/powerpoint/2010/main" val="19522270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Shneiderman’s</a:t>
            </a:r>
            <a:r>
              <a:rPr lang="en-US" dirty="0"/>
              <a:t> Mantra</a:t>
            </a:r>
          </a:p>
        </p:txBody>
      </p:sp>
      <p:sp>
        <p:nvSpPr>
          <p:cNvPr id="3" name="Content Placeholder 2"/>
          <p:cNvSpPr>
            <a:spLocks noGrp="1"/>
          </p:cNvSpPr>
          <p:nvPr>
            <p:ph idx="1"/>
          </p:nvPr>
        </p:nvSpPr>
        <p:spPr/>
        <p:txBody>
          <a:bodyPr/>
          <a:lstStyle/>
          <a:p>
            <a:r>
              <a:rPr lang="en-US" dirty="0" err="1"/>
              <a:t>Shneiderman’s</a:t>
            </a:r>
            <a:r>
              <a:rPr lang="en-US" dirty="0"/>
              <a:t> mantra for analytical navigation</a:t>
            </a:r>
          </a:p>
          <a:p>
            <a:pPr marL="1546225" indent="0">
              <a:buNone/>
            </a:pPr>
            <a:endParaRPr lang="en-US" dirty="0"/>
          </a:p>
          <a:p>
            <a:pPr marL="1546225" indent="0">
              <a:buNone/>
            </a:pPr>
            <a:r>
              <a:rPr lang="en-US" dirty="0"/>
              <a:t>“Overview first,</a:t>
            </a:r>
          </a:p>
          <a:p>
            <a:pPr marL="1546225" indent="0">
              <a:buNone/>
            </a:pPr>
            <a:r>
              <a:rPr lang="en-US" dirty="0"/>
              <a:t>	Zoom and filter</a:t>
            </a:r>
          </a:p>
          <a:p>
            <a:pPr marL="1546225" indent="0">
              <a:buNone/>
            </a:pPr>
            <a:r>
              <a:rPr lang="en-US" dirty="0"/>
              <a:t>	Then details-on-demand.”</a:t>
            </a:r>
          </a:p>
          <a:p>
            <a:pPr lvl="1"/>
            <a:endParaRPr lang="en-US" dirty="0"/>
          </a:p>
        </p:txBody>
      </p:sp>
      <p:sp>
        <p:nvSpPr>
          <p:cNvPr id="4" name="Rectangle 3"/>
          <p:cNvSpPr/>
          <p:nvPr/>
        </p:nvSpPr>
        <p:spPr>
          <a:xfrm>
            <a:off x="1524000" y="6211670"/>
            <a:ext cx="9144000" cy="646331"/>
          </a:xfrm>
          <a:prstGeom prst="rect">
            <a:avLst/>
          </a:prstGeom>
        </p:spPr>
        <p:txBody>
          <a:bodyPr wrap="square">
            <a:spAutoFit/>
          </a:bodyPr>
          <a:lstStyle/>
          <a:p>
            <a:r>
              <a:rPr lang="en-US" i="1" dirty="0"/>
              <a:t>Readings in Information Visualization: Using Vision to Think</a:t>
            </a:r>
            <a:r>
              <a:rPr lang="en-US" dirty="0"/>
              <a:t>, Stuart K. Card, Jock D. </a:t>
            </a:r>
            <a:r>
              <a:rPr lang="en-US" dirty="0" err="1"/>
              <a:t>Mackinlay</a:t>
            </a:r>
            <a:r>
              <a:rPr lang="en-US" dirty="0"/>
              <a:t>, and Ben </a:t>
            </a:r>
            <a:r>
              <a:rPr lang="en-US" dirty="0" err="1"/>
              <a:t>Shneiderman</a:t>
            </a:r>
            <a:r>
              <a:rPr lang="en-US" dirty="0"/>
              <a:t>, Academic Press, San Diego, California, 1999, page 625</a:t>
            </a:r>
          </a:p>
        </p:txBody>
      </p:sp>
    </p:spTree>
    <p:extLst>
      <p:ext uri="{BB962C8B-B14F-4D97-AF65-F5344CB8AC3E}">
        <p14:creationId xmlns:p14="http://schemas.microsoft.com/office/powerpoint/2010/main" val="3230199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Shneiderman’s</a:t>
            </a:r>
            <a:r>
              <a:rPr lang="en-US" dirty="0"/>
              <a:t> Mantra</a:t>
            </a:r>
          </a:p>
        </p:txBody>
      </p:sp>
      <p:sp>
        <p:nvSpPr>
          <p:cNvPr id="3" name="Content Placeholder 2"/>
          <p:cNvSpPr>
            <a:spLocks noGrp="1"/>
          </p:cNvSpPr>
          <p:nvPr>
            <p:ph idx="1"/>
          </p:nvPr>
        </p:nvSpPr>
        <p:spPr/>
        <p:txBody>
          <a:bodyPr/>
          <a:lstStyle/>
          <a:p>
            <a:r>
              <a:rPr lang="en-US" dirty="0"/>
              <a:t>Overview First:</a:t>
            </a:r>
          </a:p>
          <a:p>
            <a:pPr lvl="1"/>
            <a:r>
              <a:rPr lang="en-US" dirty="0"/>
              <a:t>Reduces search.</a:t>
            </a:r>
          </a:p>
          <a:p>
            <a:pPr lvl="1"/>
            <a:r>
              <a:rPr lang="en-US" dirty="0"/>
              <a:t>Allows detection of overall patterns.</a:t>
            </a:r>
          </a:p>
          <a:p>
            <a:pPr lvl="1"/>
            <a:r>
              <a:rPr lang="en-US" dirty="0"/>
              <a:t>Aids the user in choosing the next move.</a:t>
            </a:r>
          </a:p>
          <a:p>
            <a:pPr lvl="1"/>
            <a:endParaRPr lang="en-US" dirty="0"/>
          </a:p>
          <a:p>
            <a:r>
              <a:rPr lang="en-US" dirty="0"/>
              <a:t>Start with the “Big Picture”</a:t>
            </a:r>
          </a:p>
          <a:p>
            <a:pPr lvl="1"/>
            <a:r>
              <a:rPr lang="en-US" dirty="0"/>
              <a:t>Not too much detail</a:t>
            </a:r>
          </a:p>
          <a:p>
            <a:pPr lvl="1"/>
            <a:r>
              <a:rPr lang="en-US" dirty="0"/>
              <a:t>Allow users’ eyes to find points of interest</a:t>
            </a:r>
          </a:p>
          <a:p>
            <a:pPr lvl="1"/>
            <a:endParaRPr lang="en-US" dirty="0"/>
          </a:p>
        </p:txBody>
      </p:sp>
      <p:sp>
        <p:nvSpPr>
          <p:cNvPr id="4" name="Rectangle 3"/>
          <p:cNvSpPr/>
          <p:nvPr/>
        </p:nvSpPr>
        <p:spPr>
          <a:xfrm>
            <a:off x="1524000" y="6211670"/>
            <a:ext cx="9144000" cy="646331"/>
          </a:xfrm>
          <a:prstGeom prst="rect">
            <a:avLst/>
          </a:prstGeom>
        </p:spPr>
        <p:txBody>
          <a:bodyPr wrap="square">
            <a:spAutoFit/>
          </a:bodyPr>
          <a:lstStyle/>
          <a:p>
            <a:r>
              <a:rPr lang="en-US" i="1" dirty="0"/>
              <a:t>Readings in Information Visualization: Using Vision to Think</a:t>
            </a:r>
            <a:r>
              <a:rPr lang="en-US" dirty="0"/>
              <a:t>, Stuart K. Card, Jock D. </a:t>
            </a:r>
            <a:r>
              <a:rPr lang="en-US" dirty="0" err="1"/>
              <a:t>Mackinlay</a:t>
            </a:r>
            <a:r>
              <a:rPr lang="en-US" dirty="0"/>
              <a:t>, and Ben </a:t>
            </a:r>
            <a:r>
              <a:rPr lang="en-US" dirty="0" err="1"/>
              <a:t>Shneiderman</a:t>
            </a:r>
            <a:r>
              <a:rPr lang="en-US" dirty="0"/>
              <a:t>, Academic Press, San Diego, California, 1999, page 625</a:t>
            </a:r>
          </a:p>
        </p:txBody>
      </p:sp>
    </p:spTree>
    <p:extLst>
      <p:ext uri="{BB962C8B-B14F-4D97-AF65-F5344CB8AC3E}">
        <p14:creationId xmlns:p14="http://schemas.microsoft.com/office/powerpoint/2010/main" val="2115354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Shneiderman’s</a:t>
            </a:r>
            <a:r>
              <a:rPr lang="en-US" dirty="0"/>
              <a:t> Mantra</a:t>
            </a:r>
          </a:p>
        </p:txBody>
      </p:sp>
      <p:sp>
        <p:nvSpPr>
          <p:cNvPr id="3" name="Content Placeholder 2"/>
          <p:cNvSpPr>
            <a:spLocks noGrp="1"/>
          </p:cNvSpPr>
          <p:nvPr>
            <p:ph idx="1"/>
          </p:nvPr>
        </p:nvSpPr>
        <p:spPr/>
        <p:txBody>
          <a:bodyPr/>
          <a:lstStyle/>
          <a:p>
            <a:r>
              <a:rPr lang="en-US" dirty="0"/>
              <a:t>Zoom and Filter</a:t>
            </a:r>
          </a:p>
          <a:p>
            <a:pPr lvl="1"/>
            <a:r>
              <a:rPr lang="en-US" dirty="0"/>
              <a:t>Analysis requires interaction with the data</a:t>
            </a:r>
          </a:p>
          <a:p>
            <a:pPr lvl="1"/>
            <a:r>
              <a:rPr lang="en-US" dirty="0"/>
              <a:t>Allow for interaction once interesting items are observed</a:t>
            </a:r>
          </a:p>
          <a:p>
            <a:pPr lvl="2"/>
            <a:r>
              <a:rPr lang="en-US" dirty="0"/>
              <a:t>Sorting	</a:t>
            </a:r>
          </a:p>
          <a:p>
            <a:pPr lvl="2"/>
            <a:r>
              <a:rPr lang="en-US" dirty="0"/>
              <a:t>Adding/Removing Variables</a:t>
            </a:r>
          </a:p>
          <a:p>
            <a:pPr lvl="2"/>
            <a:r>
              <a:rPr lang="en-US" dirty="0"/>
              <a:t>Filtering</a:t>
            </a:r>
          </a:p>
          <a:p>
            <a:pPr lvl="2"/>
            <a:r>
              <a:rPr lang="en-US" dirty="0"/>
              <a:t>Highlighting</a:t>
            </a:r>
          </a:p>
          <a:p>
            <a:pPr lvl="2"/>
            <a:r>
              <a:rPr lang="en-US" dirty="0"/>
              <a:t>Aggregating/</a:t>
            </a:r>
            <a:r>
              <a:rPr lang="en-US" dirty="0" err="1"/>
              <a:t>Disagregating</a:t>
            </a:r>
            <a:endParaRPr lang="en-US" dirty="0"/>
          </a:p>
          <a:p>
            <a:pPr lvl="2"/>
            <a:r>
              <a:rPr lang="en-US" dirty="0"/>
              <a:t>Drilling</a:t>
            </a:r>
          </a:p>
          <a:p>
            <a:pPr lvl="2"/>
            <a:r>
              <a:rPr lang="en-US" dirty="0"/>
              <a:t>Zooming/Panning</a:t>
            </a:r>
          </a:p>
          <a:p>
            <a:pPr lvl="2"/>
            <a:r>
              <a:rPr lang="en-US" dirty="0" err="1"/>
              <a:t>Revisualizing</a:t>
            </a:r>
            <a:endParaRPr lang="en-US" dirty="0"/>
          </a:p>
          <a:p>
            <a:pPr lvl="1"/>
            <a:endParaRPr lang="en-US" dirty="0"/>
          </a:p>
        </p:txBody>
      </p:sp>
    </p:spTree>
    <p:extLst>
      <p:ext uri="{BB962C8B-B14F-4D97-AF65-F5344CB8AC3E}">
        <p14:creationId xmlns:p14="http://schemas.microsoft.com/office/powerpoint/2010/main" val="2210497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Shneiderman’s</a:t>
            </a:r>
            <a:r>
              <a:rPr lang="en-US" dirty="0"/>
              <a:t> Mantra</a:t>
            </a:r>
          </a:p>
        </p:txBody>
      </p:sp>
      <p:sp>
        <p:nvSpPr>
          <p:cNvPr id="3" name="Content Placeholder 2"/>
          <p:cNvSpPr>
            <a:spLocks noGrp="1"/>
          </p:cNvSpPr>
          <p:nvPr>
            <p:ph idx="1"/>
          </p:nvPr>
        </p:nvSpPr>
        <p:spPr/>
        <p:txBody>
          <a:bodyPr/>
          <a:lstStyle/>
          <a:p>
            <a:r>
              <a:rPr lang="en-US" dirty="0"/>
              <a:t>Details on Demand</a:t>
            </a:r>
          </a:p>
          <a:p>
            <a:pPr lvl="1"/>
            <a:r>
              <a:rPr lang="en-US" dirty="0"/>
              <a:t>Provide as much detail as you can – when asked for it.</a:t>
            </a:r>
          </a:p>
          <a:p>
            <a:pPr lvl="2"/>
            <a:r>
              <a:rPr lang="en-US" dirty="0"/>
              <a:t>Tool Tip in Tableau</a:t>
            </a:r>
          </a:p>
          <a:p>
            <a:pPr lvl="3"/>
            <a:endParaRPr lang="en-US" dirty="0"/>
          </a:p>
        </p:txBody>
      </p:sp>
    </p:spTree>
    <p:extLst>
      <p:ext uri="{BB962C8B-B14F-4D97-AF65-F5344CB8AC3E}">
        <p14:creationId xmlns:p14="http://schemas.microsoft.com/office/powerpoint/2010/main" val="36818194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38300" y="215900"/>
            <a:ext cx="8915400" cy="6413500"/>
          </a:xfrm>
          <a:prstGeom prst="rect">
            <a:avLst/>
          </a:prstGeom>
        </p:spPr>
      </p:pic>
    </p:spTree>
    <p:extLst>
      <p:ext uri="{BB962C8B-B14F-4D97-AF65-F5344CB8AC3E}">
        <p14:creationId xmlns:p14="http://schemas.microsoft.com/office/powerpoint/2010/main" val="124440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Successful Dashboards</a:t>
            </a:r>
          </a:p>
        </p:txBody>
      </p:sp>
      <p:sp>
        <p:nvSpPr>
          <p:cNvPr id="3" name="Content Placeholder 2"/>
          <p:cNvSpPr>
            <a:spLocks noGrp="1"/>
          </p:cNvSpPr>
          <p:nvPr>
            <p:ph idx="1"/>
          </p:nvPr>
        </p:nvSpPr>
        <p:spPr/>
        <p:txBody>
          <a:bodyPr/>
          <a:lstStyle/>
          <a:p>
            <a:r>
              <a:rPr lang="en-US" dirty="0"/>
              <a:t>Successful dashboards are:</a:t>
            </a:r>
          </a:p>
          <a:p>
            <a:pPr lvl="1"/>
            <a:r>
              <a:rPr lang="en-US" dirty="0"/>
              <a:t>Customized to the user</a:t>
            </a:r>
          </a:p>
          <a:p>
            <a:pPr lvl="1"/>
            <a:r>
              <a:rPr lang="en-US" dirty="0"/>
              <a:t>Focused on an overview that drives action – NOT the detail.</a:t>
            </a:r>
          </a:p>
          <a:p>
            <a:pPr lvl="1"/>
            <a:r>
              <a:rPr lang="en-US" dirty="0"/>
              <a:t>Provide metrics – not data</a:t>
            </a:r>
          </a:p>
          <a:p>
            <a:pPr lvl="1"/>
            <a:endParaRPr lang="en-US" dirty="0"/>
          </a:p>
          <a:p>
            <a:pPr lvl="1"/>
            <a:endParaRPr lang="en-US" dirty="0"/>
          </a:p>
          <a:p>
            <a:r>
              <a:rPr lang="en-US" dirty="0"/>
              <a:t>Solution: </a:t>
            </a:r>
            <a:r>
              <a:rPr lang="en-US" u="sng" dirty="0"/>
              <a:t>MORE</a:t>
            </a:r>
            <a:r>
              <a:rPr lang="en-US" dirty="0"/>
              <a:t> dashboards, not </a:t>
            </a:r>
            <a:r>
              <a:rPr lang="en-US" u="sng" dirty="0"/>
              <a:t>BIGGER</a:t>
            </a:r>
            <a:r>
              <a:rPr lang="en-US" dirty="0"/>
              <a:t> dashboards.</a:t>
            </a:r>
          </a:p>
          <a:p>
            <a:pPr lvl="1"/>
            <a:endParaRPr lang="en-US" dirty="0"/>
          </a:p>
          <a:p>
            <a:endParaRPr lang="en-US" dirty="0"/>
          </a:p>
          <a:p>
            <a:pPr lvl="1"/>
            <a:endParaRPr lang="en-US" dirty="0"/>
          </a:p>
          <a:p>
            <a:endParaRPr lang="en-US" dirty="0"/>
          </a:p>
          <a:p>
            <a:endParaRPr lang="en-US" dirty="0"/>
          </a:p>
          <a:p>
            <a:pPr lvl="1"/>
            <a:endParaRPr lang="en-US" dirty="0"/>
          </a:p>
          <a:p>
            <a:pPr lvl="1"/>
            <a:endParaRPr lang="en-US" dirty="0"/>
          </a:p>
        </p:txBody>
      </p:sp>
    </p:spTree>
    <p:extLst>
      <p:ext uri="{BB962C8B-B14F-4D97-AF65-F5344CB8AC3E}">
        <p14:creationId xmlns:p14="http://schemas.microsoft.com/office/powerpoint/2010/main" val="392980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1467</Words>
  <Application>Microsoft Macintosh PowerPoint</Application>
  <PresentationFormat>Widescreen</PresentationFormat>
  <Paragraphs>183</Paragraphs>
  <Slides>26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Introduction to Dashboards</vt:lpstr>
      <vt:lpstr>Dashboards</vt:lpstr>
      <vt:lpstr>Dashboards</vt:lpstr>
      <vt:lpstr>Bad Dashboards</vt:lpstr>
      <vt:lpstr>Bad Dashboards</vt:lpstr>
      <vt:lpstr>Bad Dashboards</vt:lpstr>
      <vt:lpstr>So what IS a dashboard</vt:lpstr>
      <vt:lpstr>So what IS a dashboard</vt:lpstr>
      <vt:lpstr>PowerPoint Presentation</vt:lpstr>
      <vt:lpstr>So WHAT IS a dashboard</vt:lpstr>
      <vt:lpstr>Visual Display</vt:lpstr>
      <vt:lpstr>Specific Objective</vt:lpstr>
      <vt:lpstr>Specific Objective</vt:lpstr>
      <vt:lpstr>Specific Objective</vt:lpstr>
      <vt:lpstr>Specific Objective</vt:lpstr>
      <vt:lpstr>Specific Objective</vt:lpstr>
      <vt:lpstr>Specific Objective</vt:lpstr>
      <vt:lpstr>Specific Objective</vt:lpstr>
      <vt:lpstr>Single Screen</vt:lpstr>
      <vt:lpstr>At a Glance</vt:lpstr>
      <vt:lpstr>Shneiderman’s Mantra</vt:lpstr>
      <vt:lpstr>Shneiderman’s Mantra</vt:lpstr>
      <vt:lpstr>Shneiderman’s Mantra</vt:lpstr>
      <vt:lpstr>Shneiderman’s Mantra</vt:lpstr>
      <vt:lpstr>PowerPoint Presentation</vt:lpstr>
      <vt:lpstr>Successful Dashboards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Dashboards</dc:title>
  <dc:creator>Tripp, John</dc:creator>
  <cp:lastModifiedBy>John Tripp</cp:lastModifiedBy>
  <cp:revision>7</cp:revision>
  <dcterms:created xsi:type="dcterms:W3CDTF">2019-04-17T16:40:25Z</dcterms:created>
  <dcterms:modified xsi:type="dcterms:W3CDTF">2020-12-05T02:43:46Z</dcterms:modified>
</cp:coreProperties>
</file>