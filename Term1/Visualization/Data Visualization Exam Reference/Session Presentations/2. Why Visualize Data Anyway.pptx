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55" r:id="rId2"/>
    <p:sldId id="259" r:id="rId3"/>
    <p:sldId id="407" r:id="rId4"/>
    <p:sldId id="370" r:id="rId5"/>
    <p:sldId id="371" r:id="rId6"/>
    <p:sldId id="412" r:id="rId7"/>
    <p:sldId id="374" r:id="rId8"/>
    <p:sldId id="402" r:id="rId9"/>
    <p:sldId id="403" r:id="rId10"/>
    <p:sldId id="409" r:id="rId11"/>
    <p:sldId id="405" r:id="rId12"/>
    <p:sldId id="404" r:id="rId13"/>
    <p:sldId id="406" r:id="rId14"/>
    <p:sldId id="375" r:id="rId15"/>
    <p:sldId id="260" r:id="rId16"/>
    <p:sldId id="263" r:id="rId17"/>
    <p:sldId id="411" r:id="rId18"/>
    <p:sldId id="399" r:id="rId19"/>
    <p:sldId id="410" r:id="rId20"/>
    <p:sldId id="40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86"/>
    <p:restoredTop sz="94697"/>
  </p:normalViewPr>
  <p:slideViewPr>
    <p:cSldViewPr snapToGrid="0" snapToObjects="1">
      <p:cViewPr varScale="1">
        <p:scale>
          <a:sx n="124" d="100"/>
          <a:sy n="124" d="100"/>
        </p:scale>
        <p:origin x="4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D2619F-9802-DE45-B651-A5685E45D93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E6CF4-9512-F04C-B398-C82A4CBA81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06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4BEE4D-5E5A-1F44-BB7C-571836D960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90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6706E-F636-A241-B68C-734D163C5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EDAD7-5773-6941-8CFA-E9403E765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55AC9-794F-0347-9F2B-5CEE2A7D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8CB51-8BEA-4645-85E3-23F6A73D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E5FDE-022E-8249-B5BA-F4B0299B1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57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C3317-1189-3D45-9BC0-6640F1C46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6898E-9152-A547-8750-FD21DD658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2400E-5912-7043-9FFA-062F5A3FC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B4EAA-8461-C743-B078-612E393A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32132-5B8E-3B42-B8D0-0315D7803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21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2C5D-3BEF-FC49-B915-4D8668A9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9DBF4-8A60-DE4C-8EEA-3B998C566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B9B25-D567-F64E-BEE0-93D457AD6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D4A38-E181-C242-9989-7F7DDBEA1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4A51-462A-134F-A3AB-EC5B5EEDD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40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3498-3179-B34B-B9F6-C925846BA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CE31D-EE84-5C4D-89FB-1AC7A28DB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4B6ED-E726-E743-ABB9-24DB7EBE7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8A5AA-C531-964C-A5F1-A96A8C922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25668-AE2B-9945-ADFD-D1403B01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A0A44A-61A8-2E4A-94EC-CF34409D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45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BD7D-146D-0347-A1A4-5298E9600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85D8CE-05C1-7C45-8307-E0DE4B0D1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19053C-9A3C-C942-97B2-4BF95A2A1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0D467-A666-8B49-84EC-7ABE2549E8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5D43B-FE12-C042-A10B-904A0E1C8A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38097-B2D1-F644-98BC-6F532842E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DD685A-B46F-E546-989D-EBDF061F2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D72B55-20FF-0C46-8F8E-124BCEF6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04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C4F0E-C6A0-C547-B2C1-518BF7513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249B7-3A00-A94B-B5B2-F1DD147F4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0B42FA-905F-1B43-BF5F-7E58FFB6F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7E27F-0065-FF4B-A549-03C7563B2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34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E8DC5-CE23-3D4E-928E-DD999A328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D3174-CEBF-B84B-B1D0-81C476003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D422F-249C-5549-923B-233BAC176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33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25C9-0D26-1E40-8ACF-31150AA6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3272E-0E8F-B846-8AA1-9B9778FC4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4E9B0-AF75-8240-918C-C285F2690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C5F1F-A42F-214B-B9C3-C83FBB4ED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CC3974-DB1D-FE49-8CC8-33B3B4B2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02790-5964-014B-9A03-6C497F668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75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961A-C21F-B44D-A836-7B86E29BA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B3DE5B-6DFE-2F4B-9970-870E70F5DC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39220-D28C-524E-8EAD-3046EC89E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34F86F-8D3D-6242-ABF2-28502DCC0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E567B-ED0A-B144-842A-5F374B301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2F13C-F2AA-AA4D-AF63-BA18A5BA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8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A318C-D39B-8241-9A77-D522D34AC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EEBA-050B-0641-8E87-F52E0C1E1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BFE35-7869-6A45-B67B-E311BE668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53E27-35A1-AD4B-BD69-E1EF4655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E2735-B05D-6F40-A0D7-6CE29DF73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830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76294A-0103-9149-8750-EC654F9FD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51237-3AD2-F649-B4D2-DAD572367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A3F37-B129-594D-8F5D-07677BE4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3CB0F-D897-1C4F-8315-F14CCF067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D6531-3EA7-F845-83B6-F1855689F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8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73B05-B593-654A-AA07-3767BC531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60B8F-2906-2040-9765-54EFF2787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A741F-28BF-9D4B-A6D9-13F8C00227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BE70A6-C540-AC44-86B1-53A9538562C6}" type="datetimeFigureOut">
              <a:rPr lang="en-US" smtClean="0"/>
              <a:t>11/20/20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11268-F71D-BB4F-BAF8-1C522CE62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33C20-D2DD-0C45-BA7D-F16020A17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88A21-52B2-BF4B-9BB9-35452A61ED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84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Why Visualize Data Anyway?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F. Tripp</a:t>
            </a:r>
          </a:p>
        </p:txBody>
      </p:sp>
    </p:spTree>
    <p:extLst>
      <p:ext uri="{BB962C8B-B14F-4D97-AF65-F5344CB8AC3E}">
        <p14:creationId xmlns:p14="http://schemas.microsoft.com/office/powerpoint/2010/main" val="2383816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Visualize Data Anyway?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a course in data visualization?</a:t>
            </a:r>
          </a:p>
          <a:p>
            <a:pPr lvl="1"/>
            <a:r>
              <a:rPr lang="en-US" dirty="0"/>
              <a:t>Raw data (e.g., numbers) can be interpreted rather easily, as long as we are talking about one or a few data points:</a:t>
            </a:r>
          </a:p>
          <a:p>
            <a:pPr lvl="2"/>
            <a:r>
              <a:rPr lang="en-US" dirty="0"/>
              <a:t>A particular temperature, on a particular day, at a particular time.</a:t>
            </a:r>
          </a:p>
          <a:p>
            <a:pPr lvl="2"/>
            <a:r>
              <a:rPr lang="en-US" dirty="0"/>
              <a:t>Today’s stock price</a:t>
            </a:r>
          </a:p>
        </p:txBody>
      </p:sp>
    </p:spTree>
    <p:extLst>
      <p:ext uri="{BB962C8B-B14F-4D97-AF65-F5344CB8AC3E}">
        <p14:creationId xmlns:p14="http://schemas.microsoft.com/office/powerpoint/2010/main" val="1778543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Visualize Data Anyway?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BUT…as soon as the question involves the comparison of sets of numbers to each other…</a:t>
            </a:r>
          </a:p>
          <a:p>
            <a:pPr lvl="1"/>
            <a:r>
              <a:rPr lang="en-US" dirty="0"/>
              <a:t>Human perception breaks down</a:t>
            </a:r>
          </a:p>
          <a:p>
            <a:pPr lvl="1"/>
            <a:r>
              <a:rPr lang="en-US" dirty="0"/>
              <a:t>Human brain isn’t well equipped to compare groups of numbers.</a:t>
            </a:r>
          </a:p>
        </p:txBody>
      </p:sp>
    </p:spTree>
    <p:extLst>
      <p:ext uri="{BB962C8B-B14F-4D97-AF65-F5344CB8AC3E}">
        <p14:creationId xmlns:p14="http://schemas.microsoft.com/office/powerpoint/2010/main" val="1127382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Visualize Data Anyway?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sheer scale of data available today makes understanding nearly impossible without help.</a:t>
            </a:r>
          </a:p>
          <a:p>
            <a:endParaRPr lang="en-US" dirty="0"/>
          </a:p>
          <a:p>
            <a:pPr lvl="1"/>
            <a:r>
              <a:rPr lang="en-US" dirty="0"/>
              <a:t>In 1982, John </a:t>
            </a:r>
            <a:r>
              <a:rPr lang="en-US" dirty="0" err="1"/>
              <a:t>Naisbitt</a:t>
            </a:r>
            <a:r>
              <a:rPr lang="en-US" dirty="0"/>
              <a:t> wrote: “We are drowning in information but starved for knowledge.”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Today, the problem is worse </a:t>
            </a:r>
            <a:r>
              <a:rPr lang="mr-IN" dirty="0"/>
              <a:t>–</a:t>
            </a:r>
            <a:r>
              <a:rPr lang="en-US" dirty="0"/>
              <a:t> we are drowning in data, and we often can’t generate insight.</a:t>
            </a:r>
          </a:p>
        </p:txBody>
      </p:sp>
    </p:spTree>
    <p:extLst>
      <p:ext uri="{BB962C8B-B14F-4D97-AF65-F5344CB8AC3E}">
        <p14:creationId xmlns:p14="http://schemas.microsoft.com/office/powerpoint/2010/main" val="903783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Key Question…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161F4B3-5EAC-2D47-85E6-451840A0E4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96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F82D56-C071-5C42-BA6A-F59A19A185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“COMPARED TO WHAT?”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CB1EFA-686D-1F45-814D-99A96FB6BE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30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Compared to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these numbers mean?</a:t>
            </a:r>
          </a:p>
          <a:p>
            <a:pPr lvl="1"/>
            <a:r>
              <a:rPr lang="en-US" dirty="0"/>
              <a:t>98.6</a:t>
            </a:r>
          </a:p>
          <a:p>
            <a:pPr lvl="1"/>
            <a:r>
              <a:rPr lang="en-US" dirty="0"/>
              <a:t>32</a:t>
            </a:r>
          </a:p>
          <a:p>
            <a:pPr lvl="1"/>
            <a:r>
              <a:rPr lang="en-US" dirty="0"/>
              <a:t>911</a:t>
            </a:r>
          </a:p>
          <a:p>
            <a:pPr lvl="1"/>
            <a:r>
              <a:rPr lang="en-US" dirty="0"/>
              <a:t>451</a:t>
            </a:r>
          </a:p>
          <a:p>
            <a:pPr lvl="1"/>
            <a:r>
              <a:rPr lang="en-US" dirty="0"/>
              <a:t>70.6</a:t>
            </a:r>
          </a:p>
          <a:p>
            <a:pPr lvl="1"/>
            <a:endParaRPr lang="en-US" dirty="0"/>
          </a:p>
          <a:p>
            <a:r>
              <a:rPr lang="en-US" dirty="0"/>
              <a:t>How do we know if the level of a number is “good” or “bad”?</a:t>
            </a:r>
          </a:p>
        </p:txBody>
      </p:sp>
    </p:spTree>
    <p:extLst>
      <p:ext uri="{BB962C8B-B14F-4D97-AF65-F5344CB8AC3E}">
        <p14:creationId xmlns:p14="http://schemas.microsoft.com/office/powerpoint/2010/main" val="1232196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63" y="1226635"/>
            <a:ext cx="11881766" cy="39921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4E0E1B-7F9C-C348-BF91-5C79E25449C8}"/>
              </a:ext>
            </a:extLst>
          </p:cNvPr>
          <p:cNvSpPr txBox="1"/>
          <p:nvPr/>
        </p:nvSpPr>
        <p:spPr>
          <a:xfrm>
            <a:off x="1619794" y="5538651"/>
            <a:ext cx="4808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question(s) can we answer with this graph?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23E3DED-87D4-4F47-AA21-AC1C85B7C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 vs. Data</a:t>
            </a:r>
          </a:p>
        </p:txBody>
      </p:sp>
    </p:spTree>
    <p:extLst>
      <p:ext uri="{BB962C8B-B14F-4D97-AF65-F5344CB8AC3E}">
        <p14:creationId xmlns:p14="http://schemas.microsoft.com/office/powerpoint/2010/main" val="3782717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46" y="1298864"/>
            <a:ext cx="11857228" cy="39034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939139-A5DD-CE4C-B38A-5CA95E895D27}"/>
              </a:ext>
            </a:extLst>
          </p:cNvPr>
          <p:cNvSpPr txBox="1"/>
          <p:nvPr/>
        </p:nvSpPr>
        <p:spPr>
          <a:xfrm>
            <a:off x="1619794" y="5538651"/>
            <a:ext cx="4808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question(s) can we answer with this graph?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64DAC01-EEA0-7048-8AF5-B6369C0B6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 vs. Data</a:t>
            </a:r>
          </a:p>
        </p:txBody>
      </p:sp>
    </p:spTree>
    <p:extLst>
      <p:ext uri="{BB962C8B-B14F-4D97-AF65-F5344CB8AC3E}">
        <p14:creationId xmlns:p14="http://schemas.microsoft.com/office/powerpoint/2010/main" val="645158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B3BE0-8BC5-9548-9C58-131B1BF69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Delivering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E4473-55F2-0242-A43F-D055CC5BD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data visualizations that we design for others are not exploratory.</a:t>
            </a:r>
          </a:p>
          <a:p>
            <a:pPr lvl="1"/>
            <a:r>
              <a:rPr lang="en-US" dirty="0"/>
              <a:t>They have an intended message.</a:t>
            </a:r>
          </a:p>
          <a:p>
            <a:pPr lvl="1"/>
            <a:endParaRPr lang="en-US" dirty="0"/>
          </a:p>
          <a:p>
            <a:r>
              <a:rPr lang="en-US" dirty="0"/>
              <a:t>To deliver a message, we must provide more than the data – we must display metrics (i.e., </a:t>
            </a:r>
            <a:r>
              <a:rPr lang="en-US" i="1" dirty="0"/>
              <a:t>Is this number “good” or “bad”, and “how much”)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943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09" y="1256145"/>
            <a:ext cx="11662918" cy="47096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700629-BD09-2843-B288-B2708FD5F40E}"/>
              </a:ext>
            </a:extLst>
          </p:cNvPr>
          <p:cNvSpPr txBox="1"/>
          <p:nvPr/>
        </p:nvSpPr>
        <p:spPr>
          <a:xfrm>
            <a:off x="1619794" y="5538651"/>
            <a:ext cx="4808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question(s) can we answer with this graph?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8B73BE-E021-E942-A120-029514322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 vs. Data</a:t>
            </a:r>
          </a:p>
        </p:txBody>
      </p:sp>
    </p:spTree>
    <p:extLst>
      <p:ext uri="{BB962C8B-B14F-4D97-AF65-F5344CB8AC3E}">
        <p14:creationId xmlns:p14="http://schemas.microsoft.com/office/powerpoint/2010/main" val="851398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83" y="1341580"/>
            <a:ext cx="11155680" cy="398678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A466870-5202-E64E-AD34-5511D98A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 vs.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0E50DE-7966-5B4B-93D4-40D3CEA4AD70}"/>
              </a:ext>
            </a:extLst>
          </p:cNvPr>
          <p:cNvSpPr txBox="1"/>
          <p:nvPr/>
        </p:nvSpPr>
        <p:spPr>
          <a:xfrm>
            <a:off x="1619794" y="5538651"/>
            <a:ext cx="4808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question(s) can we answer with this graph?</a:t>
            </a:r>
          </a:p>
        </p:txBody>
      </p:sp>
    </p:spTree>
    <p:extLst>
      <p:ext uri="{BB962C8B-B14F-4D97-AF65-F5344CB8AC3E}">
        <p14:creationId xmlns:p14="http://schemas.microsoft.com/office/powerpoint/2010/main" val="3638944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" y="1205049"/>
            <a:ext cx="5257800" cy="52451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A0692B-39CA-C149-94DC-5FE86D0B8275}"/>
              </a:ext>
            </a:extLst>
          </p:cNvPr>
          <p:cNvSpPr txBox="1"/>
          <p:nvPr/>
        </p:nvSpPr>
        <p:spPr>
          <a:xfrm>
            <a:off x="6096000" y="3059668"/>
            <a:ext cx="4744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question(s) can we answer with this table?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263356-32FA-9C4E-B20D-514BB5E7E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 vs. Data</a:t>
            </a:r>
          </a:p>
        </p:txBody>
      </p:sp>
    </p:spTree>
    <p:extLst>
      <p:ext uri="{BB962C8B-B14F-4D97-AF65-F5344CB8AC3E}">
        <p14:creationId xmlns:p14="http://schemas.microsoft.com/office/powerpoint/2010/main" val="3908492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Compared to What?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perform data visualization because:</a:t>
            </a:r>
          </a:p>
          <a:p>
            <a:endParaRPr lang="en-US" dirty="0"/>
          </a:p>
          <a:p>
            <a:r>
              <a:rPr lang="en-US" dirty="0"/>
              <a:t>Humans are hard-wired to make comparisons</a:t>
            </a:r>
            <a:r>
              <a:rPr lang="mr-IN" dirty="0"/>
              <a:t>…</a:t>
            </a:r>
            <a:r>
              <a:rPr lang="en-US" dirty="0"/>
              <a:t> visually.</a:t>
            </a:r>
          </a:p>
        </p:txBody>
      </p:sp>
    </p:spTree>
    <p:extLst>
      <p:ext uri="{BB962C8B-B14F-4D97-AF65-F5344CB8AC3E}">
        <p14:creationId xmlns:p14="http://schemas.microsoft.com/office/powerpoint/2010/main" val="1327034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Visualize Data At All?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visualization allows data to be presented both graphically and interactively.</a:t>
            </a:r>
          </a:p>
          <a:p>
            <a:pPr lvl="1"/>
            <a:r>
              <a:rPr lang="en-US" dirty="0"/>
              <a:t>This is a rather recent development. </a:t>
            </a:r>
          </a:p>
          <a:p>
            <a:pPr lvl="2"/>
            <a:r>
              <a:rPr lang="en-US" dirty="0"/>
              <a:t>Data tables emerged more than 1800 years ago.</a:t>
            </a:r>
          </a:p>
          <a:p>
            <a:pPr lvl="2"/>
            <a:r>
              <a:rPr lang="en-US" dirty="0"/>
              <a:t>Graphical representations only 300 years ago.</a:t>
            </a:r>
          </a:p>
          <a:p>
            <a:pPr lvl="1"/>
            <a:r>
              <a:rPr lang="en-US" dirty="0"/>
              <a:t>Technology has only recently made graphical representation of data accessible to individual users on their desktops.</a:t>
            </a:r>
          </a:p>
          <a:p>
            <a:pPr lvl="2"/>
            <a:r>
              <a:rPr lang="en-US" dirty="0"/>
              <a:t>This has led to an explosion of data visualization.</a:t>
            </a:r>
          </a:p>
          <a:p>
            <a:pPr lvl="3"/>
            <a:r>
              <a:rPr lang="en-US" dirty="0"/>
              <a:t>Some better than others…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206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Visualize Data At All?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Human visual perception can process a huge amount of data pre-consciously and consciously</a:t>
            </a:r>
          </a:p>
          <a:p>
            <a:r>
              <a:rPr lang="en-US" dirty="0"/>
              <a:t>We can manipulate visual attributes to encode multiple data fields</a:t>
            </a:r>
          </a:p>
          <a:p>
            <a:pPr lvl="1"/>
            <a:r>
              <a:rPr lang="en-US" dirty="0"/>
              <a:t>Size</a:t>
            </a:r>
          </a:p>
          <a:p>
            <a:pPr lvl="1"/>
            <a:r>
              <a:rPr lang="en-US" dirty="0"/>
              <a:t>Placement</a:t>
            </a:r>
          </a:p>
          <a:p>
            <a:pPr lvl="1"/>
            <a:r>
              <a:rPr lang="en-US" dirty="0"/>
              <a:t>Color</a:t>
            </a:r>
          </a:p>
          <a:p>
            <a:pPr lvl="1"/>
            <a:r>
              <a:rPr lang="en-US" dirty="0"/>
              <a:t>Shape</a:t>
            </a:r>
          </a:p>
          <a:p>
            <a:pPr lvl="1"/>
            <a:r>
              <a:rPr lang="en-US" dirty="0"/>
              <a:t>Motion</a:t>
            </a:r>
          </a:p>
          <a:p>
            <a:r>
              <a:rPr lang="en-US" dirty="0"/>
              <a:t>By using these attributes, visualization can communicate things nearly intuitively.</a:t>
            </a:r>
          </a:p>
        </p:txBody>
      </p:sp>
    </p:spTree>
    <p:extLst>
      <p:ext uri="{BB962C8B-B14F-4D97-AF65-F5344CB8AC3E}">
        <p14:creationId xmlns:p14="http://schemas.microsoft.com/office/powerpoint/2010/main" val="1072105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7000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587" y="0"/>
            <a:ext cx="842341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CF84FB-11A9-D747-A54B-CFF7F85D32F5}"/>
              </a:ext>
            </a:extLst>
          </p:cNvPr>
          <p:cNvSpPr txBox="1"/>
          <p:nvPr/>
        </p:nvSpPr>
        <p:spPr>
          <a:xfrm>
            <a:off x="431074" y="2181497"/>
            <a:ext cx="321346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is this graph manipulating visual attributes to encode multiple data fields?</a:t>
            </a:r>
          </a:p>
          <a:p>
            <a:pPr lvl="1"/>
            <a:r>
              <a:rPr lang="en-US" dirty="0"/>
              <a:t>Size</a:t>
            </a:r>
          </a:p>
          <a:p>
            <a:pPr lvl="1"/>
            <a:r>
              <a:rPr lang="en-US" dirty="0"/>
              <a:t>Placement</a:t>
            </a:r>
          </a:p>
          <a:p>
            <a:pPr lvl="1"/>
            <a:r>
              <a:rPr lang="en-US" dirty="0"/>
              <a:t>Color</a:t>
            </a:r>
          </a:p>
          <a:p>
            <a:pPr lvl="1"/>
            <a:r>
              <a:rPr lang="en-US" dirty="0"/>
              <a:t>Shape</a:t>
            </a:r>
          </a:p>
          <a:p>
            <a:pPr lvl="1"/>
            <a:r>
              <a:rPr lang="en-US" dirty="0"/>
              <a:t>Motion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943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2B30E-6FCF-DA4E-B13D-BE3DED3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Trends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B52A9-0392-AC43-B27E-D1C001F0E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Placement irrelevant.</a:t>
            </a:r>
          </a:p>
          <a:p>
            <a:r>
              <a:rPr lang="en-US" dirty="0"/>
              <a:t>Size differences don’t match the data.</a:t>
            </a:r>
          </a:p>
          <a:p>
            <a:r>
              <a:rPr lang="en-US"/>
              <a:t>Is </a:t>
            </a:r>
            <a:r>
              <a:rPr lang="en-US" dirty="0"/>
              <a:t>a</a:t>
            </a:r>
            <a:r>
              <a:rPr lang="en-US"/>
              <a:t>ctually </a:t>
            </a:r>
            <a:r>
              <a:rPr lang="en-US" dirty="0"/>
              <a:t>two different graphs, but unclear.</a:t>
            </a:r>
          </a:p>
          <a:p>
            <a:r>
              <a:rPr lang="en-US" dirty="0"/>
              <a:t>Visualization adds nothing to perception.</a:t>
            </a:r>
          </a:p>
        </p:txBody>
      </p:sp>
    </p:spTree>
    <p:extLst>
      <p:ext uri="{BB962C8B-B14F-4D97-AF65-F5344CB8AC3E}">
        <p14:creationId xmlns:p14="http://schemas.microsoft.com/office/powerpoint/2010/main" val="656301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Visualize Data At All?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human brain is exquisitely designed to process and interpret visual input.</a:t>
            </a:r>
          </a:p>
          <a:p>
            <a:r>
              <a:rPr lang="en-US" dirty="0"/>
              <a:t>Some data signals can only be interpreted visually.</a:t>
            </a:r>
          </a:p>
          <a:p>
            <a:r>
              <a:rPr lang="en-US" dirty="0"/>
              <a:t>This class will put you on the path to the proper construction and use of the incredibly powerful data visualization tools currently available.</a:t>
            </a:r>
          </a:p>
        </p:txBody>
      </p:sp>
    </p:spTree>
    <p:extLst>
      <p:ext uri="{BB962C8B-B14F-4D97-AF65-F5344CB8AC3E}">
        <p14:creationId xmlns:p14="http://schemas.microsoft.com/office/powerpoint/2010/main" val="566021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578</Words>
  <Application>Microsoft Macintosh PowerPoint</Application>
  <PresentationFormat>Widescreen</PresentationFormat>
  <Paragraphs>80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Why Visualize Data Anyway?</vt:lpstr>
      <vt:lpstr>Why Visualize Data Anyway?</vt:lpstr>
      <vt:lpstr>Why Visualize Data Anyway?</vt:lpstr>
      <vt:lpstr>Why Visualize Data Anyway?</vt:lpstr>
      <vt:lpstr>The Key Question…</vt:lpstr>
      <vt:lpstr>“COMPARED TO WHAT?”</vt:lpstr>
      <vt:lpstr>Compared to What?</vt:lpstr>
      <vt:lpstr>Metrics vs. Data</vt:lpstr>
      <vt:lpstr>Metrics vs. Data</vt:lpstr>
      <vt:lpstr>Delivering Metrics</vt:lpstr>
      <vt:lpstr>Metrics vs. Data</vt:lpstr>
      <vt:lpstr>Metrics vs. Data</vt:lpstr>
      <vt:lpstr>Metrics vs. Data</vt:lpstr>
      <vt:lpstr>Compared to What?</vt:lpstr>
      <vt:lpstr>Why Visualize Data At All?</vt:lpstr>
      <vt:lpstr>Why Visualize Data At All?</vt:lpstr>
      <vt:lpstr>PowerPoint Presentation</vt:lpstr>
      <vt:lpstr>PowerPoint Presentation</vt:lpstr>
      <vt:lpstr>Color Trends Graph</vt:lpstr>
      <vt:lpstr>Why Visualize Data At All?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Tripp, John</dc:creator>
  <cp:lastModifiedBy>John Tripp</cp:lastModifiedBy>
  <cp:revision>15</cp:revision>
  <dcterms:created xsi:type="dcterms:W3CDTF">2019-04-18T19:20:11Z</dcterms:created>
  <dcterms:modified xsi:type="dcterms:W3CDTF">2020-11-21T01:16:54Z</dcterms:modified>
</cp:coreProperties>
</file>