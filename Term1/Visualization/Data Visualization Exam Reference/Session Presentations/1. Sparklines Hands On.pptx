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65" r:id="rId2"/>
    <p:sldId id="346" r:id="rId3"/>
    <p:sldId id="347" r:id="rId4"/>
    <p:sldId id="368" r:id="rId5"/>
    <p:sldId id="369" r:id="rId6"/>
    <p:sldId id="349" r:id="rId7"/>
    <p:sldId id="370" r:id="rId8"/>
    <p:sldId id="373" r:id="rId9"/>
    <p:sldId id="376" r:id="rId10"/>
    <p:sldId id="375" r:id="rId11"/>
    <p:sldId id="374" r:id="rId12"/>
    <p:sldId id="377" r:id="rId13"/>
    <p:sldId id="379" r:id="rId14"/>
    <p:sldId id="378" r:id="rId15"/>
    <p:sldId id="380" r:id="rId16"/>
    <p:sldId id="381" r:id="rId17"/>
    <p:sldId id="382" r:id="rId18"/>
    <p:sldId id="383" r:id="rId19"/>
    <p:sldId id="384" r:id="rId20"/>
    <p:sldId id="3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F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63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CDF49-EF8B-CB45-9648-99EEC4DFAF3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1B10D-6583-454C-B659-1349F4432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7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15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9E6D-DFC3-244D-8336-C5E6B2694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1964B-D1B1-A04D-A8C6-8913209D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AEAB6-4ECE-8444-9D4E-7B7D1CE3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F3BA9-B9D6-354D-99A6-2B436B45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6A654-445A-E74F-8F04-9552D664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5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0053-D77A-0647-BC00-ED2D3BBB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8846-9083-A54E-9A85-85CBE70A9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1F52D-D9B3-1844-AF5F-E06ADB901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5F212-B091-E347-A443-03C5843D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4ABF-4DE5-FF46-A2B3-00B292F7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4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760D-F822-6F41-B6CD-BDB6FDF9B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A303-84B4-5D4C-A21B-AF3417847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BD6DB-21AC-4F49-9E5D-4A8CD9A4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B912D-E6D4-3E43-8BD8-67879EB4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83040-CF4F-CF40-A349-11FA4340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79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DF55E-E05F-9E45-970F-39F530DFA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F6607-0F1B-DE4E-826B-9A8EFCA29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71B86-971F-F946-B1B1-6A7384436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08079-1CE7-1B4E-A24F-5D57E22FD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6E135-B797-ED4D-B669-732FF8EDE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1B2B0-E11B-2442-9628-D45C5D4A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9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73C90-5F00-204F-A977-5EE8AA426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121CB-7F9D-FF48-85F7-8EDFAA07C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3DCFE-922A-FA49-AB8A-518AEF469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AA89E-9573-4945-B458-F2F720CB9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84EF7-037D-AA42-8BD0-D70912E31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60CBA-8F4C-E743-A6DF-BBFB4F99C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99EC19-00B4-0E48-9BEE-654F4C693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D26EE9-772D-A947-9C7A-D20BA5D2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9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362C-7683-344A-9019-B0A4E7D5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A1C8B-EB9C-8B49-A5F1-CC9C136E6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3C5E4-67BD-844C-82AB-251C039A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ED386-4DD9-9644-9B20-8B80DC65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1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91985E-1CC6-D04D-BF77-35A6B70FD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8298D-7052-7F4B-AB7A-9636DC29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0B8C1-FB02-9344-BDE5-A34B818E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F00A-6442-E74C-ADE8-A5CE6BD1F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465C4-749A-9E41-8F30-46437B55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B529C-996B-8248-B38A-F78036294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07372-92BE-194C-86E4-9E374C8E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8592B-1D84-DA40-AEE5-84F4CE5F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583F3-6AA6-2B42-A5FC-945FB3D96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3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3F4B-D229-F348-AD18-52902D4A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66B807-04EE-7B48-B5CF-F1A365C0C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A2094-5CAC-B341-9982-8DFA30317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4CA46-86E7-5445-A648-A537C083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9E915-B4A7-1C4F-8102-65063EB4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EA20A-7CAC-5845-8BEC-9BAB39B9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4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6AC9-F4E3-A448-9CA7-39688C32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D8903-0446-4542-A0DE-4734C73AF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D4AB0-2D08-6E48-A620-EA51E2D4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CA670-6781-5E41-A1D0-4865DD55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CBA34-764A-434A-912F-F4043C3C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5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880E33-FB86-2445-8E28-679C4A209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CF915-48F4-854B-83E3-A4D91C42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0AE49-C024-B349-BB3E-F10D67AC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8DD63-95C0-1043-98F4-AFC36A15E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74D16-EA52-CB4D-B2ED-FC5B7135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4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8CD69-D99E-EE48-A0EF-FE843D14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7196D-2197-D04E-B405-BF5E01FC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1706A-B5C7-4446-B4F0-7071FB692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FBDFA-E975-BA41-97CF-2D3CCDC72ED4}" type="datetimeFigureOut">
              <a:rPr lang="en-US" smtClean="0"/>
              <a:t>4/18/20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C4DA8-A9CD-CC48-9DEC-7D6672D8A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9055-AAE2-894A-AB4D-7B203B23F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Sparklines Hands 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1856545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Sparklines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the general shape of variation over time.</a:t>
            </a:r>
          </a:p>
          <a:p>
            <a:r>
              <a:rPr lang="en-US" dirty="0"/>
              <a:t>Have no axes or gridlines</a:t>
            </a:r>
          </a:p>
          <a:p>
            <a:r>
              <a:rPr lang="en-US" dirty="0"/>
              <a:t>Are extremely information dense.</a:t>
            </a:r>
          </a:p>
          <a:p>
            <a:r>
              <a:rPr lang="en-US" dirty="0"/>
              <a:t>Replace large graphical components on dashboards</a:t>
            </a:r>
          </a:p>
          <a:p>
            <a:r>
              <a:rPr lang="en-US" dirty="0"/>
              <a:t>Allow for more insight at a glance.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65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AFC16E3C-7C0C-E840-A1B4-AD19E14DD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3530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9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351E48C8-6AF5-454E-B2A2-847E89FD3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850900"/>
            <a:ext cx="4051300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03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8F51-2458-7D49-AF0E-7A86D1B9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Sparklines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95E18-2988-CA44-9A6E-AAE60162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We’re going to start by making this, step by step: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177C0-6DD1-4C4D-9C98-A28E07135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2422525"/>
            <a:ext cx="50038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32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</a:t>
            </a:r>
            <a:r>
              <a:rPr lang="en-US" dirty="0" err="1"/>
              <a:t>Sparklines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3EE76FE-D861-2B4D-A390-42AA1221C95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819775" cy="2760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Open the </a:t>
            </a:r>
            <a:r>
              <a:rPr lang="en-US" b="1" i="1" dirty="0"/>
              <a:t>Sparklines – </a:t>
            </a:r>
            <a:r>
              <a:rPr lang="en-US" b="1" i="1" dirty="0" err="1"/>
              <a:t>Start.twbx</a:t>
            </a:r>
            <a:r>
              <a:rPr lang="en-US" b="1" i="1" dirty="0"/>
              <a:t> </a:t>
            </a:r>
            <a:r>
              <a:rPr lang="en-US" dirty="0"/>
              <a:t>file.</a:t>
            </a:r>
            <a:endParaRPr lang="en-US" dirty="0">
              <a:sym typeface="Wingdings"/>
            </a:endParaRPr>
          </a:p>
          <a:p>
            <a:r>
              <a:rPr lang="en-US" dirty="0"/>
              <a:t>Create a chart that has:</a:t>
            </a:r>
          </a:p>
          <a:p>
            <a:pPr lvl="1"/>
            <a:r>
              <a:rPr lang="en-US" dirty="0"/>
              <a:t>Continuous MONTH(Order Date) in the columns</a:t>
            </a:r>
          </a:p>
          <a:p>
            <a:pPr lvl="1"/>
            <a:r>
              <a:rPr lang="en-US" dirty="0"/>
              <a:t>Category and Sum(Sales) in the rows.</a:t>
            </a:r>
          </a:p>
          <a:p>
            <a:endParaRPr lang="en-US" dirty="0"/>
          </a:p>
          <a:p>
            <a:r>
              <a:rPr lang="en-US" dirty="0"/>
              <a:t>Your graph should look like this…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794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</a:t>
            </a:r>
            <a:r>
              <a:rPr lang="en-US" dirty="0" err="1"/>
              <a:t>Sparklines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19775" cy="27606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Open the </a:t>
            </a:r>
            <a:r>
              <a:rPr lang="en-US" b="1" i="1" dirty="0"/>
              <a:t>Sparklines and Bullet Graphs – </a:t>
            </a:r>
            <a:r>
              <a:rPr lang="en-US" b="1" i="1" dirty="0" err="1"/>
              <a:t>Start.twbx</a:t>
            </a:r>
            <a:r>
              <a:rPr lang="en-US" b="1" i="1" dirty="0"/>
              <a:t> </a:t>
            </a:r>
            <a:r>
              <a:rPr lang="en-US" dirty="0"/>
              <a:t>file.</a:t>
            </a:r>
            <a:endParaRPr lang="en-US" dirty="0">
              <a:sym typeface="Wingdings"/>
            </a:endParaRPr>
          </a:p>
          <a:p>
            <a:r>
              <a:rPr lang="en-US" dirty="0"/>
              <a:t>Create a chart that has:</a:t>
            </a:r>
          </a:p>
          <a:p>
            <a:pPr lvl="1"/>
            <a:r>
              <a:rPr lang="en-US" dirty="0"/>
              <a:t>Continuous MONTH(Order Date) in the columns</a:t>
            </a:r>
          </a:p>
          <a:p>
            <a:pPr lvl="1"/>
            <a:r>
              <a:rPr lang="en-US" dirty="0"/>
              <a:t>Category and Sum(Sales) in the rows.</a:t>
            </a:r>
          </a:p>
          <a:p>
            <a:endParaRPr lang="en-US" dirty="0"/>
          </a:p>
          <a:p>
            <a:r>
              <a:rPr lang="en-US" dirty="0"/>
              <a:t>Your graph should look like this…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05AF6-E1C8-924E-826C-EA3408E64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544" y="871537"/>
            <a:ext cx="5666456" cy="598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77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</a:t>
            </a:r>
            <a:r>
              <a:rPr lang="en-US" dirty="0" err="1"/>
              <a:t>Sparklines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Next, we will add the high and low points to the graph. </a:t>
            </a:r>
          </a:p>
          <a:p>
            <a:pPr lvl="1"/>
            <a:endParaRPr lang="en-US" dirty="0"/>
          </a:p>
          <a:p>
            <a:r>
              <a:rPr lang="en-US" dirty="0"/>
              <a:t>This is NOT an out of the box option in Tableau.</a:t>
            </a:r>
          </a:p>
          <a:p>
            <a:pPr lvl="1"/>
            <a:r>
              <a:rPr lang="en-US" dirty="0"/>
              <a:t>You COULD add labels to the Max/Min using the Marks Card, but that’s not what we want.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A90D19-DB8A-3D48-A567-37ED9438C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0" y="4001294"/>
            <a:ext cx="5257800" cy="199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09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</a:t>
            </a:r>
            <a:r>
              <a:rPr lang="en-US" dirty="0" err="1"/>
              <a:t>Sparklines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workbook has a field called “</a:t>
            </a:r>
            <a:r>
              <a:rPr lang="en-US" dirty="0" err="1"/>
              <a:t>HighLow</a:t>
            </a:r>
            <a:r>
              <a:rPr lang="en-US" dirty="0"/>
              <a:t>”. Right click and open it for editing to look at the formula: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390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BCD756-ADF2-FE4F-AB5B-12C920CA6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929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073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</a:t>
            </a:r>
            <a:r>
              <a:rPr lang="en-US" dirty="0" err="1"/>
              <a:t>Sparklines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19775" cy="3317875"/>
          </a:xfrm>
        </p:spPr>
        <p:txBody>
          <a:bodyPr>
            <a:normAutofit/>
          </a:bodyPr>
          <a:lstStyle/>
          <a:p>
            <a:r>
              <a:rPr lang="en-US" dirty="0"/>
              <a:t>Add </a:t>
            </a:r>
            <a:r>
              <a:rPr lang="en-US" dirty="0" err="1"/>
              <a:t>HighLow</a:t>
            </a:r>
            <a:r>
              <a:rPr lang="en-US" dirty="0"/>
              <a:t> to the Rows Shelf.</a:t>
            </a:r>
          </a:p>
          <a:p>
            <a:endParaRPr lang="en-US" dirty="0"/>
          </a:p>
          <a:p>
            <a:r>
              <a:rPr lang="en-US" dirty="0"/>
              <a:t>Your graph should look like this: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AD6BF9-A997-A848-84BF-5B4636550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570" y="1457324"/>
            <a:ext cx="5347429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08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</a:t>
            </a:r>
            <a:r>
              <a:rPr lang="en-US" dirty="0" err="1"/>
              <a:t>Sparklines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19775" cy="974725"/>
          </a:xfrm>
        </p:spPr>
        <p:txBody>
          <a:bodyPr>
            <a:normAutofit/>
          </a:bodyPr>
          <a:lstStyle/>
          <a:p>
            <a:r>
              <a:rPr lang="en-US" dirty="0"/>
              <a:t>Now right-click </a:t>
            </a:r>
            <a:r>
              <a:rPr lang="en-US" dirty="0" err="1"/>
              <a:t>HighLow</a:t>
            </a:r>
            <a:r>
              <a:rPr lang="en-US" dirty="0"/>
              <a:t> and choose dual axis.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6073B3-EB33-FD4D-AC56-1BEB45FF2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084" y="2633663"/>
            <a:ext cx="6019916" cy="42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655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</a:t>
            </a:r>
            <a:r>
              <a:rPr lang="en-US" dirty="0" err="1"/>
              <a:t>Sparklines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19775" cy="974725"/>
          </a:xfrm>
        </p:spPr>
        <p:txBody>
          <a:bodyPr>
            <a:normAutofit/>
          </a:bodyPr>
          <a:lstStyle/>
          <a:p>
            <a:r>
              <a:rPr lang="en-US" dirty="0"/>
              <a:t>Now synchronize the axes.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58555B-8DA6-2B48-BBD9-303D59289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924" y="2503894"/>
            <a:ext cx="5934075" cy="435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42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</a:t>
            </a:r>
            <a:r>
              <a:rPr lang="en-US" dirty="0" err="1"/>
              <a:t>Sparklines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9875"/>
            <a:ext cx="5819775" cy="3317875"/>
          </a:xfrm>
        </p:spPr>
        <p:txBody>
          <a:bodyPr>
            <a:normAutofit/>
          </a:bodyPr>
          <a:lstStyle/>
          <a:p>
            <a:r>
              <a:rPr lang="en-US" dirty="0"/>
              <a:t>Your graph should look like this: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5FF41360-C79F-394D-A92E-69AE8AF84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72" y="2098674"/>
            <a:ext cx="6193528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35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761D2-2BCD-8A4A-BF04-FF6D2C5C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The High/Low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432EA-DA4F-3B4A-9939-9FC7A6759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workbook has a field called “Color”. Right click and open it for editing to look at the formula: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624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99C433-FD62-F84D-835F-89B972F3D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16700" cy="455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01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The High/Low Color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Add the Color field to the Color mark on the </a:t>
            </a:r>
            <a:r>
              <a:rPr lang="en-US" dirty="0" err="1"/>
              <a:t>HighLow</a:t>
            </a:r>
            <a:r>
              <a:rPr lang="en-US" dirty="0"/>
              <a:t> Marks Card</a:t>
            </a:r>
          </a:p>
          <a:p>
            <a:endParaRPr lang="en-US" dirty="0"/>
          </a:p>
          <a:p>
            <a:r>
              <a:rPr lang="en-US" dirty="0"/>
              <a:t>Your graph should look like this:</a:t>
            </a:r>
          </a:p>
        </p:txBody>
      </p:sp>
    </p:spTree>
    <p:extLst>
      <p:ext uri="{BB962C8B-B14F-4D97-AF65-F5344CB8AC3E}">
        <p14:creationId xmlns:p14="http://schemas.microsoft.com/office/powerpoint/2010/main" val="870127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The High/Low Color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200FC-B4C6-354E-BF67-8417A3DF6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5963"/>
            <a:ext cx="5370158" cy="487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28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C1E5-28AE-0E43-9187-1C272E356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Finishing the Sparklines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1DEEB-4F4D-2342-8930-53FB60A0C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Change the color of the sales line to light gray.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Change the color of the High/Low to red and green.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Hide the Measure Names and AGG(Color) Cards.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Hide the Sales/</a:t>
            </a:r>
            <a:r>
              <a:rPr lang="en-US" dirty="0" err="1"/>
              <a:t>HighLow</a:t>
            </a:r>
            <a:r>
              <a:rPr lang="en-US" dirty="0"/>
              <a:t> Header.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Hide the Month(Order Date) Header.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Resize the graph to make the sparklines compact.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Remove all grid lines (format menu).</a:t>
            </a:r>
          </a:p>
        </p:txBody>
      </p:sp>
    </p:spTree>
    <p:extLst>
      <p:ext uri="{BB962C8B-B14F-4D97-AF65-F5344CB8AC3E}">
        <p14:creationId xmlns:p14="http://schemas.microsoft.com/office/powerpoint/2010/main" val="2099670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C1E5-28AE-0E43-9187-1C272E356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Finishing the Sparklines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33215F-A16A-9149-993A-94592455F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3190" y="1856185"/>
            <a:ext cx="8045620" cy="378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913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412</Words>
  <Application>Microsoft Macintosh PowerPoint</Application>
  <PresentationFormat>Widescreen</PresentationFormat>
  <Paragraphs>60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Sparklines Hands On</vt:lpstr>
      <vt:lpstr>Sparklines</vt:lpstr>
      <vt:lpstr>PowerPoint Presentation</vt:lpstr>
      <vt:lpstr>PowerPoint Presentation</vt:lpstr>
      <vt:lpstr>Simple Sparklines</vt:lpstr>
      <vt:lpstr>Hands On - Sparklines</vt:lpstr>
      <vt:lpstr>Hands On - Sparklines</vt:lpstr>
      <vt:lpstr>Hands On - Sparklines</vt:lpstr>
      <vt:lpstr>Hands On - Sparklines</vt:lpstr>
      <vt:lpstr>PowerPoint Presentation</vt:lpstr>
      <vt:lpstr>Hands On - Sparklines</vt:lpstr>
      <vt:lpstr>Hands On - Sparklines</vt:lpstr>
      <vt:lpstr>Hands On - Sparklines</vt:lpstr>
      <vt:lpstr>Hands On - Sparklines</vt:lpstr>
      <vt:lpstr>Adding The High/Low Color</vt:lpstr>
      <vt:lpstr>PowerPoint Presentation</vt:lpstr>
      <vt:lpstr>Adding The High/Low Color</vt:lpstr>
      <vt:lpstr>Adding The High/Low Color</vt:lpstr>
      <vt:lpstr>Finishing the Sparklines</vt:lpstr>
      <vt:lpstr>Finishing the Sparklines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Dashboards</dc:title>
  <dc:creator>Tripp, John</dc:creator>
  <cp:lastModifiedBy>John Frederick Tripp</cp:lastModifiedBy>
  <cp:revision>26</cp:revision>
  <dcterms:created xsi:type="dcterms:W3CDTF">2019-04-17T16:40:25Z</dcterms:created>
  <dcterms:modified xsi:type="dcterms:W3CDTF">2020-04-18T15:43:02Z</dcterms:modified>
</cp:coreProperties>
</file>