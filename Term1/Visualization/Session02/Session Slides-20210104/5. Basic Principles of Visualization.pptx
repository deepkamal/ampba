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90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  <p:sldId id="323" r:id="rId36"/>
    <p:sldId id="324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398"/>
  </p:normalViewPr>
  <p:slideViewPr>
    <p:cSldViewPr snapToGrid="0" snapToObjects="1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0F7017-76DB-6343-BFF2-D2AF322B0A4C}" type="datetimeFigureOut">
              <a:rPr lang="en-US" smtClean="0"/>
              <a:t>11/21/20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B8005-7683-7A40-A4D9-DE822AAA9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806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66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74B35-F676-9143-8BE7-4D9941C50C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C30582-E7EE-C649-A09B-356F0B33F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E1BBC-2E74-9A41-B014-E7B52888C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3F32-D2BD-4549-9643-FC9029B00872}" type="datetimeFigureOut">
              <a:rPr lang="en-US" smtClean="0"/>
              <a:t>11/21/20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60E09-3A27-4648-B005-07BF30F1D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FECBD-0DDB-1943-8BEB-25CB04CBC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BDA4-5281-9B41-9533-4834BB10A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628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20AC8-EE0C-A747-A8A6-D5F4B5306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D6A02-6D6D-114F-B03E-9B34D9A8B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60A6A-82A3-A946-AAA1-479D31051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3F32-D2BD-4549-9643-FC9029B00872}" type="datetimeFigureOut">
              <a:rPr lang="en-US" smtClean="0"/>
              <a:t>11/21/20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AFC65-DAC1-2E47-A859-1CE71D80A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939DC-4F84-9042-8784-ED8BC4025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BDA4-5281-9B41-9533-4834BB10A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02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7E61D-C797-5A42-9B42-860277991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14235-9656-CC48-ADB2-915D5DBD1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A160D-7EC9-0842-AAB9-5F9FFB15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3F32-D2BD-4549-9643-FC9029B00872}" type="datetimeFigureOut">
              <a:rPr lang="en-US" smtClean="0"/>
              <a:t>11/21/20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BBD5A-F84C-EA45-BE3B-CBCFAB51A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BD633-D07C-394E-9D21-E0304155A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BDA4-5281-9B41-9533-4834BB10A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64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B6A4D-AF98-9E4D-A224-DB0BA4DB5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E5A32-7D47-1948-AC33-559A646F7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FE37DA-B12C-8841-A368-E97861A7A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30D22-869F-0F4F-BDC6-1529BFBAA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3F32-D2BD-4549-9643-FC9029B00872}" type="datetimeFigureOut">
              <a:rPr lang="en-US" smtClean="0"/>
              <a:t>11/21/20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C2B5F-330A-9145-AD02-C87B6DA93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583A3-DBA6-0D47-8478-8D62C2A2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BDA4-5281-9B41-9533-4834BB10A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782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E67E5-290C-1D4A-B45A-631EE27DA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44231-AE03-1D46-919C-E1506D446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F3ACD-15F6-3F44-99AF-F8D1108B0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28B1B2-3CAB-AE4D-AF03-BEE4870E67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A1F45A-2447-DC40-8D59-9A07D5653E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79E429-49C7-1C47-9FE9-7BF55AAB8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3F32-D2BD-4549-9643-FC9029B00872}" type="datetimeFigureOut">
              <a:rPr lang="en-US" smtClean="0"/>
              <a:t>11/21/20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C93AB0-F0FC-A644-A403-218003109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15061F-59C2-2942-94C4-2C4042D0B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BDA4-5281-9B41-9533-4834BB10A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9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ED18F-17BD-AB43-8666-033C92514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307F64-B3B3-A64D-AF4A-338560EF8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3F32-D2BD-4549-9643-FC9029B00872}" type="datetimeFigureOut">
              <a:rPr lang="en-US" smtClean="0"/>
              <a:t>11/21/20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F76F03-B346-0740-B23C-63307EDF3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BAF508-854D-8B41-A936-FFDEF139F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BDA4-5281-9B41-9533-4834BB10A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49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BC7780-4D37-324C-B598-08E3B7915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3F32-D2BD-4549-9643-FC9029B00872}" type="datetimeFigureOut">
              <a:rPr lang="en-US" smtClean="0"/>
              <a:t>11/21/20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BD4D4C-17C2-B84F-A6E9-7A3D35B6E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A3EE2-98C1-0643-9A83-DA28E6941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BDA4-5281-9B41-9533-4834BB10A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627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9B6EB-C0CC-104D-B8A4-033DBA21E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FB598-0C4B-C64F-A2EE-2C37D6F26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B3E56-A7A9-9542-AC06-8CD43D393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53254-B9AA-D74B-9875-5B83BC0AD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3F32-D2BD-4549-9643-FC9029B00872}" type="datetimeFigureOut">
              <a:rPr lang="en-US" smtClean="0"/>
              <a:t>11/21/20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1BDE9-FD6E-B446-81A6-773D338DA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7D4BA-71DB-1846-8184-59AA5741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BDA4-5281-9B41-9533-4834BB10A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315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CE95-BE44-B24D-A8F4-8793231B3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EDA48D-5D2E-094F-9B1F-3EA8D79946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59E323-419D-4E4F-AA93-976689BCB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CCA43-86B5-A747-8F86-8E4F01C37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3F32-D2BD-4549-9643-FC9029B00872}" type="datetimeFigureOut">
              <a:rPr lang="en-US" smtClean="0"/>
              <a:t>11/21/20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EB3C4-1A61-DF4A-A16E-D3FE274C9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E6606-E0AA-E64E-936B-150F355F4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BDA4-5281-9B41-9533-4834BB10A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587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C41F6-6C33-3F4C-84BA-74FD02F2D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047D8-DD10-1A4B-8116-5FB248962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1E7A6-F2E9-4A4E-93BB-97381F897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3F32-D2BD-4549-9643-FC9029B00872}" type="datetimeFigureOut">
              <a:rPr lang="en-US" smtClean="0"/>
              <a:t>11/21/20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840CB-15AF-C741-A19A-D550533C0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40BD4-E759-7B4D-993E-3E05E869E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BDA4-5281-9B41-9533-4834BB10A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349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14D14F-5646-0742-BF84-2A2546F709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FB1835-2A40-CB49-A97D-E52ADE0E9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E48BB-2D8F-C74B-9A17-A808FEFCB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3F32-D2BD-4549-9643-FC9029B00872}" type="datetimeFigureOut">
              <a:rPr lang="en-US" smtClean="0"/>
              <a:t>11/21/20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68DD2-B165-8847-8F33-7F944799E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9DAD9-17DE-3841-8E02-0521C3837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BDA4-5281-9B41-9533-4834BB10A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394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42088A-605B-CB45-BB9B-AB94E097B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4D686-AC28-C84C-8FC6-68DA4CD20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BC84C-9E91-6845-AA68-9F4418D4A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83F32-D2BD-4549-9643-FC9029B00872}" type="datetimeFigureOut">
              <a:rPr lang="en-US" smtClean="0"/>
              <a:t>11/21/20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FDC39-3E6D-E44A-B6CE-1159157B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43875-DCBD-5E4E-8AA9-CEB12E4165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3BDA4-5281-9B41-9533-4834BB10A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638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E4395-9BF1-0348-9CC3-B3FAD75286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Principles of Visualization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708E2-51D7-634A-BD91-34D8761B7F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John F. Tripp</a:t>
            </a:r>
          </a:p>
        </p:txBody>
      </p:sp>
    </p:spTree>
    <p:extLst>
      <p:ext uri="{BB962C8B-B14F-4D97-AF65-F5344CB8AC3E}">
        <p14:creationId xmlns:p14="http://schemas.microsoft.com/office/powerpoint/2010/main" val="2082576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Visualization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672325" y="1585289"/>
            <a:ext cx="8797522" cy="1511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</a:schemeClr>
              </a:gs>
              <a:gs pos="100000">
                <a:schemeClr val="tx2">
                  <a:lumMod val="75000"/>
                </a:schemeClr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51719" y="2002471"/>
            <a:ext cx="380083" cy="723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970801" y="2002471"/>
            <a:ext cx="380083" cy="723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917566" y="2002471"/>
            <a:ext cx="380083" cy="723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817978" y="2002471"/>
            <a:ext cx="380083" cy="723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830718" y="2002471"/>
            <a:ext cx="380083" cy="723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293734" y="3318910"/>
            <a:ext cx="4007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Which of the small rectangles is lightest?</a:t>
            </a:r>
          </a:p>
        </p:txBody>
      </p:sp>
    </p:spTree>
    <p:extLst>
      <p:ext uri="{BB962C8B-B14F-4D97-AF65-F5344CB8AC3E}">
        <p14:creationId xmlns:p14="http://schemas.microsoft.com/office/powerpoint/2010/main" val="3518710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Visualization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672325" y="1585289"/>
            <a:ext cx="8797522" cy="1511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</a:schemeClr>
              </a:gs>
              <a:gs pos="100000">
                <a:schemeClr val="tx2">
                  <a:lumMod val="75000"/>
                </a:schemeClr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51719" y="2002471"/>
            <a:ext cx="380083" cy="723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970801" y="2002471"/>
            <a:ext cx="380083" cy="723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917566" y="2002471"/>
            <a:ext cx="380083" cy="723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817978" y="2002471"/>
            <a:ext cx="380083" cy="723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830718" y="2002471"/>
            <a:ext cx="380083" cy="723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293734" y="3318910"/>
            <a:ext cx="4007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Which of the small rectangles is lightest?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51719" y="3999740"/>
            <a:ext cx="380083" cy="723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917566" y="3999740"/>
            <a:ext cx="380083" cy="723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897183" y="3999740"/>
            <a:ext cx="380083" cy="723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9830718" y="3999740"/>
            <a:ext cx="380083" cy="723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970801" y="3999740"/>
            <a:ext cx="380083" cy="723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848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Visualization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734" y="3318910"/>
            <a:ext cx="4007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Which of the small rectangles is lightest?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51719" y="3999740"/>
            <a:ext cx="380083" cy="723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917566" y="3999740"/>
            <a:ext cx="380083" cy="723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897183" y="3999740"/>
            <a:ext cx="380083" cy="723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9830718" y="3999740"/>
            <a:ext cx="380083" cy="723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970801" y="3999740"/>
            <a:ext cx="380083" cy="723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076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#1: We do not perceive absolutes, instead we perceive relative differences.</a:t>
            </a:r>
          </a:p>
          <a:p>
            <a:endParaRPr lang="en-US" dirty="0"/>
          </a:p>
          <a:p>
            <a:pPr lvl="1"/>
            <a:r>
              <a:rPr lang="en-US" dirty="0"/>
              <a:t>COMPARED TO WHAT?</a:t>
            </a:r>
          </a:p>
        </p:txBody>
      </p:sp>
    </p:spTree>
    <p:extLst>
      <p:ext uri="{BB962C8B-B14F-4D97-AF65-F5344CB8AC3E}">
        <p14:creationId xmlns:p14="http://schemas.microsoft.com/office/powerpoint/2010/main" val="1768642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5585841" cy="43411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14746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Image Source: Wikipedia</a:t>
            </a:r>
          </a:p>
        </p:txBody>
      </p:sp>
    </p:spTree>
    <p:extLst>
      <p:ext uri="{BB962C8B-B14F-4D97-AF65-F5344CB8AC3E}">
        <p14:creationId xmlns:p14="http://schemas.microsoft.com/office/powerpoint/2010/main" val="2606965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5569527" cy="43244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14746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Image Source: Wikipedia</a:t>
            </a:r>
          </a:p>
        </p:txBody>
      </p:sp>
    </p:spTree>
    <p:extLst>
      <p:ext uri="{BB962C8B-B14F-4D97-AF65-F5344CB8AC3E}">
        <p14:creationId xmlns:p14="http://schemas.microsoft.com/office/powerpoint/2010/main" val="3908381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78978" cy="4351338"/>
          </a:xfrm>
        </p:spPr>
        <p:txBody>
          <a:bodyPr/>
          <a:lstStyle/>
          <a:p>
            <a:r>
              <a:rPr lang="en-US" dirty="0"/>
              <a:t>We do not (and cannot) attend to everything we see.</a:t>
            </a:r>
          </a:p>
          <a:p>
            <a:r>
              <a:rPr lang="en-US" dirty="0"/>
              <a:t>In order to filter the huge amount of data that we receive through our eyes, the eye is drawn to the UNEXPECTED rather than consistent or expected patterns.</a:t>
            </a:r>
          </a:p>
          <a:p>
            <a:r>
              <a:rPr lang="en-US" dirty="0"/>
              <a:t>Differences drive attention – similarity leads a viewer to ignore things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437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4559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4559300"/>
            <a:ext cx="1806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Image Source: </a:t>
            </a:r>
            <a:r>
              <a:rPr lang="en-US" sz="1000" dirty="0" err="1"/>
              <a:t>Coolbubble.com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07916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45593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850" y="4948080"/>
            <a:ext cx="2146300" cy="166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61546" y="6611780"/>
            <a:ext cx="1806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Image Source: </a:t>
            </a:r>
            <a:r>
              <a:rPr lang="en-US" sz="1000" dirty="0" err="1"/>
              <a:t>Coolbubble.com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79349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947458" cy="4351338"/>
          </a:xfrm>
        </p:spPr>
        <p:txBody>
          <a:bodyPr/>
          <a:lstStyle/>
          <a:p>
            <a:r>
              <a:rPr lang="en-US" dirty="0"/>
              <a:t>#1: We do not perceive absolutes, instead we perceive relative differences.</a:t>
            </a:r>
          </a:p>
          <a:p>
            <a:r>
              <a:rPr lang="en-US" dirty="0"/>
              <a:t>#2: Our brain filters out familiar patterns, and our eyes are drawn to differences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093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745480" cy="4351338"/>
          </a:xfrm>
        </p:spPr>
        <p:txBody>
          <a:bodyPr/>
          <a:lstStyle/>
          <a:p>
            <a:r>
              <a:rPr lang="en-US" dirty="0"/>
              <a:t>Memory is extremely important in human cognition…</a:t>
            </a:r>
          </a:p>
          <a:p>
            <a:pPr lvl="1"/>
            <a:r>
              <a:rPr lang="en-US" dirty="0"/>
              <a:t>Unfortunately, our memories are quite poor.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099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62400" cy="3009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62400" y="0"/>
            <a:ext cx="46602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Image Source: http://</a:t>
            </a:r>
            <a:r>
              <a:rPr lang="en-US" sz="1000" dirty="0" err="1"/>
              <a:t>www.csc.ncsu.edu</a:t>
            </a:r>
            <a:r>
              <a:rPr lang="en-US" sz="1000" dirty="0"/>
              <a:t>/faculty/</a:t>
            </a:r>
            <a:r>
              <a:rPr lang="en-US" sz="1000" dirty="0" err="1"/>
              <a:t>healey</a:t>
            </a:r>
            <a:r>
              <a:rPr lang="en-US" sz="1000" dirty="0"/>
              <a:t>/</a:t>
            </a:r>
            <a:r>
              <a:rPr lang="en-US" sz="1000" dirty="0" err="1"/>
              <a:t>HTML_papers</a:t>
            </a:r>
            <a:r>
              <a:rPr lang="en-US" sz="1000" dirty="0"/>
              <a:t>/NPV/</a:t>
            </a:r>
            <a:r>
              <a:rPr lang="en-US" sz="1000" dirty="0" err="1"/>
              <a:t>NPV.html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4072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6833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62400" cy="2971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62400" y="0"/>
            <a:ext cx="46602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Image Source: http://</a:t>
            </a:r>
            <a:r>
              <a:rPr lang="en-US" sz="1000" dirty="0" err="1"/>
              <a:t>www.csc.ncsu.edu</a:t>
            </a:r>
            <a:r>
              <a:rPr lang="en-US" sz="1000" dirty="0"/>
              <a:t>/faculty/</a:t>
            </a:r>
            <a:r>
              <a:rPr lang="en-US" sz="1000" dirty="0" err="1"/>
              <a:t>healey</a:t>
            </a:r>
            <a:r>
              <a:rPr lang="en-US" sz="1000" dirty="0"/>
              <a:t>/</a:t>
            </a:r>
            <a:r>
              <a:rPr lang="en-US" sz="1000" dirty="0" err="1"/>
              <a:t>HTML_papers</a:t>
            </a:r>
            <a:r>
              <a:rPr lang="en-US" sz="1000" dirty="0"/>
              <a:t>/NPV/</a:t>
            </a:r>
            <a:r>
              <a:rPr lang="en-US" sz="1000" dirty="0" err="1"/>
              <a:t>NPV.html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08337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3885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3962400" cy="2971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624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722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#1: We do not perceive absolutes, instead we perceive differences &amp; contrasts.</a:t>
            </a:r>
          </a:p>
          <a:p>
            <a:r>
              <a:rPr lang="en-US" dirty="0"/>
              <a:t>#2: Our brain ignores familiar patterns, and our eyes are drawn to differences</a:t>
            </a:r>
          </a:p>
          <a:p>
            <a:r>
              <a:rPr lang="en-US" dirty="0"/>
              <a:t>#3: Memory plays a role in cognition, but our working memory is very limited</a:t>
            </a:r>
          </a:p>
        </p:txBody>
      </p:sp>
    </p:spTree>
    <p:extLst>
      <p:ext uri="{BB962C8B-B14F-4D97-AF65-F5344CB8AC3E}">
        <p14:creationId xmlns:p14="http://schemas.microsoft.com/office/powerpoint/2010/main" val="3997294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030585" cy="4351338"/>
          </a:xfrm>
        </p:spPr>
        <p:txBody>
          <a:bodyPr/>
          <a:lstStyle/>
          <a:p>
            <a:r>
              <a:rPr lang="en-US" dirty="0"/>
              <a:t>Humans can “hold” between 0 and 7 “chunks” of information in working memory</a:t>
            </a:r>
          </a:p>
          <a:p>
            <a:pPr lvl="1"/>
            <a:r>
              <a:rPr lang="en-US" dirty="0"/>
              <a:t>This capacity rises during maturity and falls during old age</a:t>
            </a:r>
          </a:p>
          <a:p>
            <a:pPr lvl="1"/>
            <a:r>
              <a:rPr lang="en-US" dirty="0"/>
              <a:t>Typical human can hold about 4 chunks in working memory1</a:t>
            </a:r>
          </a:p>
          <a:p>
            <a:pPr lvl="1"/>
            <a:r>
              <a:rPr lang="en-US" dirty="0"/>
              <a:t>Typical human can give attention to only one chunk at a time.2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0" y="6176963"/>
            <a:ext cx="65005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aseline="30000" dirty="0"/>
              <a:t>1</a:t>
            </a:r>
            <a:r>
              <a:rPr lang="en-US" sz="1000" dirty="0"/>
              <a:t>Cowan, Nelson (1995). </a:t>
            </a:r>
            <a:r>
              <a:rPr lang="en-US" sz="1000" i="1" dirty="0"/>
              <a:t>Attention and memory: an integrated framework</a:t>
            </a:r>
            <a:r>
              <a:rPr lang="en-US" sz="1000" dirty="0"/>
              <a:t>. Oxford [</a:t>
            </a:r>
            <a:r>
              <a:rPr lang="en-US" sz="1000" dirty="0" err="1"/>
              <a:t>Oxfordshire</a:t>
            </a:r>
            <a:r>
              <a:rPr lang="en-US" sz="1000" dirty="0"/>
              <a:t>]: Oxford University Press.</a:t>
            </a:r>
          </a:p>
          <a:p>
            <a:r>
              <a:rPr lang="en-US" sz="1400" baseline="30000" dirty="0"/>
              <a:t>2</a:t>
            </a:r>
            <a:r>
              <a:rPr lang="en-US" sz="1000" dirty="0"/>
              <a:t>Oberauer K (May 2002). "Access to information in working memory: exploring the focus of attention". </a:t>
            </a:r>
            <a:r>
              <a:rPr lang="en-US" sz="1000" i="1" dirty="0"/>
              <a:t>Journal of Experimental Psychology. Learning, Memory, and Cognition</a:t>
            </a:r>
            <a:r>
              <a:rPr lang="en-US" sz="1000" dirty="0"/>
              <a:t> </a:t>
            </a:r>
            <a:r>
              <a:rPr lang="en-US" sz="1000" b="1" dirty="0"/>
              <a:t>28</a:t>
            </a:r>
            <a:r>
              <a:rPr lang="en-US" sz="1000" dirty="0"/>
              <a:t> (3): 411–21.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87672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4997335" cy="26392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Cognitive 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997335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Humans have, for centuries used “artifacts” to reduce cognitive load.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34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Multi-digit multiplication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247084" y="1844869"/>
            <a:ext cx="781487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066451" y="1548208"/>
            <a:ext cx="0" cy="472805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71546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313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Mental buffer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3252" y="2215697"/>
            <a:ext cx="899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57</a:t>
            </a:r>
          </a:p>
          <a:p>
            <a:pPr algn="r"/>
            <a:r>
              <a:rPr lang="en-US" dirty="0"/>
              <a:t>X 48</a:t>
            </a:r>
          </a:p>
          <a:p>
            <a:pPr algn="r"/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3980632" y="2883189"/>
            <a:ext cx="61184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96652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Multi-digit multiplication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247084" y="1844869"/>
            <a:ext cx="781487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066451" y="1548208"/>
            <a:ext cx="0" cy="472805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71546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313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Mental buffer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3252" y="2215697"/>
            <a:ext cx="899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57</a:t>
            </a:r>
          </a:p>
          <a:p>
            <a:pPr algn="r"/>
            <a:r>
              <a:rPr lang="en-US" dirty="0"/>
              <a:t>X 48</a:t>
            </a:r>
          </a:p>
          <a:p>
            <a:pPr algn="r"/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3980632" y="2883189"/>
            <a:ext cx="61184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659752" y="2475277"/>
            <a:ext cx="1128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[7*8 = 56]</a:t>
            </a:r>
          </a:p>
        </p:txBody>
      </p:sp>
    </p:spTree>
    <p:extLst>
      <p:ext uri="{BB962C8B-B14F-4D97-AF65-F5344CB8AC3E}">
        <p14:creationId xmlns:p14="http://schemas.microsoft.com/office/powerpoint/2010/main" val="366241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Multi-digit multiplication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247084" y="1844869"/>
            <a:ext cx="781487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066451" y="1548208"/>
            <a:ext cx="0" cy="472805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71546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313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Mental buffer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3252" y="2215697"/>
            <a:ext cx="899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57</a:t>
            </a:r>
          </a:p>
          <a:p>
            <a:pPr algn="r"/>
            <a:r>
              <a:rPr lang="en-US" dirty="0"/>
              <a:t>X 48</a:t>
            </a:r>
          </a:p>
          <a:p>
            <a:pPr algn="r"/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3980632" y="2883189"/>
            <a:ext cx="61184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659752" y="2475277"/>
            <a:ext cx="1128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[7*8 = 56]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3252" y="2915071"/>
            <a:ext cx="89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6</a:t>
            </a:r>
          </a:p>
          <a:p>
            <a:pPr algn="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693252" y="1892532"/>
            <a:ext cx="89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2205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Multi-digit multiplication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247084" y="1844869"/>
            <a:ext cx="781487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066451" y="1548208"/>
            <a:ext cx="0" cy="472805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71546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313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Mental buffer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3252" y="2215697"/>
            <a:ext cx="899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57</a:t>
            </a:r>
          </a:p>
          <a:p>
            <a:pPr algn="r"/>
            <a:r>
              <a:rPr lang="en-US" dirty="0"/>
              <a:t>X 48</a:t>
            </a:r>
          </a:p>
          <a:p>
            <a:pPr algn="r"/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3980632" y="2883189"/>
            <a:ext cx="61184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93252" y="2915071"/>
            <a:ext cx="89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6</a:t>
            </a:r>
          </a:p>
          <a:p>
            <a:pPr algn="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693252" y="1892532"/>
            <a:ext cx="89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323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Multi-digit multiplication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247084" y="1844869"/>
            <a:ext cx="781487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066451" y="1548208"/>
            <a:ext cx="0" cy="472805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71546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313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Mental buffer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3252" y="2215697"/>
            <a:ext cx="899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57</a:t>
            </a:r>
          </a:p>
          <a:p>
            <a:pPr algn="r"/>
            <a:r>
              <a:rPr lang="en-US" dirty="0"/>
              <a:t>X 48</a:t>
            </a:r>
          </a:p>
          <a:p>
            <a:pPr algn="r"/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3980632" y="2883189"/>
            <a:ext cx="61184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659752" y="2475277"/>
            <a:ext cx="1918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[5*8 = 40 + 5 = 45]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3252" y="2915071"/>
            <a:ext cx="89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456</a:t>
            </a:r>
          </a:p>
          <a:p>
            <a:pPr algn="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693252" y="1892532"/>
            <a:ext cx="89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15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Multi-digit multiplication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247084" y="1844869"/>
            <a:ext cx="781487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066451" y="1548208"/>
            <a:ext cx="0" cy="472805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71546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313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Mental buffer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3252" y="2215697"/>
            <a:ext cx="899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57</a:t>
            </a:r>
          </a:p>
          <a:p>
            <a:pPr algn="r"/>
            <a:r>
              <a:rPr lang="en-US" dirty="0"/>
              <a:t>X 48</a:t>
            </a:r>
          </a:p>
          <a:p>
            <a:pPr algn="r"/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3980632" y="2883189"/>
            <a:ext cx="61184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93252" y="2915071"/>
            <a:ext cx="89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456</a:t>
            </a:r>
          </a:p>
          <a:p>
            <a:pPr algn="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693252" y="1892532"/>
            <a:ext cx="89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357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Multi-digit multiplication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247084" y="1844869"/>
            <a:ext cx="781487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066451" y="1548208"/>
            <a:ext cx="0" cy="472805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71546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313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Mental buffer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3252" y="2215697"/>
            <a:ext cx="899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57</a:t>
            </a:r>
          </a:p>
          <a:p>
            <a:pPr algn="r"/>
            <a:r>
              <a:rPr lang="en-US" dirty="0"/>
              <a:t>X 48</a:t>
            </a:r>
          </a:p>
          <a:p>
            <a:pPr algn="r"/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3980632" y="2883189"/>
            <a:ext cx="61184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659751" y="2475277"/>
            <a:ext cx="1180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[7* 4 = 28]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3252" y="2915070"/>
            <a:ext cx="899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456</a:t>
            </a:r>
          </a:p>
          <a:p>
            <a:pPr algn="r"/>
            <a:r>
              <a:rPr lang="en-US" dirty="0"/>
              <a:t>8</a:t>
            </a:r>
            <a:r>
              <a:rPr lang="en-US" dirty="0">
                <a:solidFill>
                  <a:schemeClr val="bg1"/>
                </a:solidFill>
              </a:rPr>
              <a:t>0</a:t>
            </a:r>
          </a:p>
          <a:p>
            <a:pPr algn="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693252" y="1892532"/>
            <a:ext cx="89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642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Multi-digit multiplication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247084" y="1844869"/>
            <a:ext cx="781487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066451" y="1548208"/>
            <a:ext cx="0" cy="472805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71546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313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Mental buffer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3252" y="2215697"/>
            <a:ext cx="899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57</a:t>
            </a:r>
          </a:p>
          <a:p>
            <a:pPr algn="r"/>
            <a:r>
              <a:rPr lang="en-US" dirty="0"/>
              <a:t>X 48</a:t>
            </a:r>
          </a:p>
          <a:p>
            <a:pPr algn="r"/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3980632" y="2883189"/>
            <a:ext cx="61184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93252" y="2915070"/>
            <a:ext cx="899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456</a:t>
            </a:r>
          </a:p>
          <a:p>
            <a:pPr algn="r"/>
            <a:r>
              <a:rPr lang="en-US" dirty="0"/>
              <a:t>8</a:t>
            </a:r>
            <a:r>
              <a:rPr lang="en-US" dirty="0">
                <a:solidFill>
                  <a:schemeClr val="bg1"/>
                </a:solidFill>
              </a:rPr>
              <a:t>0</a:t>
            </a:r>
          </a:p>
          <a:p>
            <a:pPr algn="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693252" y="1892532"/>
            <a:ext cx="89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9653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Multi-digit multiplication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247084" y="1844869"/>
            <a:ext cx="781487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066451" y="1548208"/>
            <a:ext cx="0" cy="472805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71546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313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Mental buffer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3252" y="2215697"/>
            <a:ext cx="899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57</a:t>
            </a:r>
          </a:p>
          <a:p>
            <a:pPr algn="r"/>
            <a:r>
              <a:rPr lang="en-US" dirty="0"/>
              <a:t>X 48</a:t>
            </a:r>
          </a:p>
          <a:p>
            <a:pPr algn="r"/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3980632" y="2883189"/>
            <a:ext cx="61184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659751" y="2475277"/>
            <a:ext cx="1709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[5*4 = 20+2=22]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3252" y="2915070"/>
            <a:ext cx="899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456</a:t>
            </a:r>
          </a:p>
          <a:p>
            <a:pPr algn="r"/>
            <a:r>
              <a:rPr lang="en-US" dirty="0"/>
              <a:t>228</a:t>
            </a:r>
            <a:r>
              <a:rPr lang="en-US" dirty="0">
                <a:solidFill>
                  <a:schemeClr val="bg1"/>
                </a:solidFill>
              </a:rPr>
              <a:t>0</a:t>
            </a:r>
          </a:p>
          <a:p>
            <a:pPr algn="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693252" y="1892532"/>
            <a:ext cx="89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7558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Multi-digit multiplication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247084" y="1844869"/>
            <a:ext cx="781487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066451" y="1548208"/>
            <a:ext cx="0" cy="472805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71546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313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Mental buffer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3252" y="2215697"/>
            <a:ext cx="899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57</a:t>
            </a:r>
          </a:p>
          <a:p>
            <a:pPr algn="r"/>
            <a:r>
              <a:rPr lang="en-US" dirty="0"/>
              <a:t>X 48</a:t>
            </a:r>
          </a:p>
          <a:p>
            <a:pPr algn="r"/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3980632" y="2883189"/>
            <a:ext cx="61184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93252" y="2915070"/>
            <a:ext cx="899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456</a:t>
            </a:r>
          </a:p>
          <a:p>
            <a:pPr algn="r"/>
            <a:r>
              <a:rPr lang="en-US" dirty="0"/>
              <a:t>228</a:t>
            </a:r>
            <a:r>
              <a:rPr lang="en-US" dirty="0">
                <a:solidFill>
                  <a:schemeClr val="bg1"/>
                </a:solidFill>
              </a:rPr>
              <a:t>0</a:t>
            </a:r>
          </a:p>
          <a:p>
            <a:pPr algn="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693252" y="1892532"/>
            <a:ext cx="89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4074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Multi-digit multiplication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247084" y="1844869"/>
            <a:ext cx="781487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066451" y="1548208"/>
            <a:ext cx="0" cy="472805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71546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313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Mental buffer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3252" y="2215697"/>
            <a:ext cx="899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57</a:t>
            </a:r>
          </a:p>
          <a:p>
            <a:pPr algn="r"/>
            <a:r>
              <a:rPr lang="en-US" dirty="0"/>
              <a:t>X 48</a:t>
            </a:r>
          </a:p>
          <a:p>
            <a:pPr algn="r"/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3980632" y="2883189"/>
            <a:ext cx="61184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659752" y="3930733"/>
            <a:ext cx="1128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[8+5 = 13]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3252" y="2915071"/>
            <a:ext cx="8992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1</a:t>
            </a:r>
            <a:r>
              <a:rPr lang="en-US" dirty="0">
                <a:solidFill>
                  <a:srgbClr val="FFFFFF"/>
                </a:solidFill>
              </a:rPr>
              <a:t>00</a:t>
            </a:r>
          </a:p>
          <a:p>
            <a:pPr algn="r"/>
            <a:r>
              <a:rPr lang="en-US" dirty="0"/>
              <a:t>456</a:t>
            </a:r>
          </a:p>
          <a:p>
            <a:pPr algn="r"/>
            <a:r>
              <a:rPr lang="en-US" dirty="0"/>
              <a:t>228</a:t>
            </a:r>
            <a:r>
              <a:rPr lang="en-US" dirty="0">
                <a:solidFill>
                  <a:schemeClr val="bg1"/>
                </a:solidFill>
              </a:rPr>
              <a:t>0</a:t>
            </a:r>
          </a:p>
          <a:p>
            <a:pPr algn="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693252" y="1892532"/>
            <a:ext cx="89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</a:t>
            </a:r>
          </a:p>
          <a:p>
            <a:pPr algn="r"/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3980632" y="3867842"/>
            <a:ext cx="61184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93252" y="3891584"/>
            <a:ext cx="89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36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4878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Multi-digit multiplication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247084" y="1844869"/>
            <a:ext cx="781487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066451" y="1548208"/>
            <a:ext cx="0" cy="472805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71546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313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Mental buffer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3252" y="2215697"/>
            <a:ext cx="899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57</a:t>
            </a:r>
          </a:p>
          <a:p>
            <a:pPr algn="r"/>
            <a:r>
              <a:rPr lang="en-US" dirty="0"/>
              <a:t>X 48</a:t>
            </a:r>
          </a:p>
          <a:p>
            <a:pPr algn="r"/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3980632" y="2883189"/>
            <a:ext cx="61184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93252" y="2915071"/>
            <a:ext cx="8992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1</a:t>
            </a:r>
            <a:r>
              <a:rPr lang="en-US" dirty="0">
                <a:solidFill>
                  <a:srgbClr val="FFFFFF"/>
                </a:solidFill>
              </a:rPr>
              <a:t>00</a:t>
            </a:r>
          </a:p>
          <a:p>
            <a:pPr algn="r"/>
            <a:r>
              <a:rPr lang="en-US" dirty="0"/>
              <a:t>456</a:t>
            </a:r>
          </a:p>
          <a:p>
            <a:pPr algn="r"/>
            <a:r>
              <a:rPr lang="en-US" dirty="0"/>
              <a:t>228</a:t>
            </a:r>
            <a:r>
              <a:rPr lang="en-US" dirty="0">
                <a:solidFill>
                  <a:schemeClr val="bg1"/>
                </a:solidFill>
              </a:rPr>
              <a:t>0</a:t>
            </a:r>
          </a:p>
          <a:p>
            <a:pPr algn="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693252" y="1892532"/>
            <a:ext cx="89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</a:t>
            </a:r>
          </a:p>
          <a:p>
            <a:pPr algn="r"/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3980632" y="3867842"/>
            <a:ext cx="61184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93252" y="3891584"/>
            <a:ext cx="89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36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4651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Multi-digit multiplication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247084" y="1844869"/>
            <a:ext cx="781487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066451" y="1548208"/>
            <a:ext cx="0" cy="472805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71546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313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Mental buffer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3252" y="2215697"/>
            <a:ext cx="899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57</a:t>
            </a:r>
          </a:p>
          <a:p>
            <a:pPr algn="r"/>
            <a:r>
              <a:rPr lang="en-US" dirty="0"/>
              <a:t>X 48</a:t>
            </a:r>
          </a:p>
          <a:p>
            <a:pPr algn="r"/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3980632" y="2883189"/>
            <a:ext cx="61184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659751" y="3930733"/>
            <a:ext cx="1139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[4+2=1=7]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3252" y="2915071"/>
            <a:ext cx="8992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1</a:t>
            </a:r>
            <a:r>
              <a:rPr lang="en-US" dirty="0">
                <a:solidFill>
                  <a:srgbClr val="FFFFFF"/>
                </a:solidFill>
              </a:rPr>
              <a:t>00</a:t>
            </a:r>
          </a:p>
          <a:p>
            <a:pPr algn="r"/>
            <a:r>
              <a:rPr lang="en-US" dirty="0"/>
              <a:t>456</a:t>
            </a:r>
          </a:p>
          <a:p>
            <a:pPr algn="r"/>
            <a:r>
              <a:rPr lang="en-US" dirty="0"/>
              <a:t>228</a:t>
            </a:r>
            <a:r>
              <a:rPr lang="en-US" dirty="0">
                <a:solidFill>
                  <a:schemeClr val="bg1"/>
                </a:solidFill>
              </a:rPr>
              <a:t>0</a:t>
            </a:r>
          </a:p>
          <a:p>
            <a:pPr algn="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693252" y="1892532"/>
            <a:ext cx="89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</a:t>
            </a:r>
          </a:p>
          <a:p>
            <a:pPr algn="r"/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3980632" y="3867842"/>
            <a:ext cx="61184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93252" y="3891584"/>
            <a:ext cx="89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736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308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Multi-digit multiplication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247084" y="1844869"/>
            <a:ext cx="781487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066451" y="1548208"/>
            <a:ext cx="0" cy="472805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71546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313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Mental buffer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3252" y="2215697"/>
            <a:ext cx="899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57</a:t>
            </a:r>
          </a:p>
          <a:p>
            <a:pPr algn="r"/>
            <a:r>
              <a:rPr lang="en-US" dirty="0"/>
              <a:t>X 48</a:t>
            </a:r>
          </a:p>
          <a:p>
            <a:pPr algn="r"/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3980632" y="2883189"/>
            <a:ext cx="61184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93252" y="2915071"/>
            <a:ext cx="8992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00</a:t>
            </a:r>
          </a:p>
          <a:p>
            <a:pPr algn="r"/>
            <a:r>
              <a:rPr lang="en-US" dirty="0"/>
              <a:t>456</a:t>
            </a:r>
          </a:p>
          <a:p>
            <a:pPr algn="r"/>
            <a:r>
              <a:rPr lang="en-US" dirty="0"/>
              <a:t>228</a:t>
            </a:r>
            <a:r>
              <a:rPr lang="en-US" dirty="0">
                <a:solidFill>
                  <a:schemeClr val="bg1"/>
                </a:solidFill>
              </a:rPr>
              <a:t>0</a:t>
            </a:r>
          </a:p>
          <a:p>
            <a:pPr algn="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693252" y="1892532"/>
            <a:ext cx="89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</a:t>
            </a:r>
          </a:p>
          <a:p>
            <a:pPr algn="r"/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3980632" y="3867842"/>
            <a:ext cx="61184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93252" y="3891584"/>
            <a:ext cx="89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736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4606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Multi-digit multiplication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247084" y="1844869"/>
            <a:ext cx="781487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066451" y="1548208"/>
            <a:ext cx="0" cy="472805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71546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313" y="1417638"/>
            <a:ext cx="31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Mental buffer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3252" y="2215697"/>
            <a:ext cx="899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57</a:t>
            </a:r>
          </a:p>
          <a:p>
            <a:pPr algn="r"/>
            <a:r>
              <a:rPr lang="en-US" dirty="0"/>
              <a:t>X 48</a:t>
            </a:r>
          </a:p>
          <a:p>
            <a:pPr algn="r"/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3980632" y="2883189"/>
            <a:ext cx="61184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93252" y="2915071"/>
            <a:ext cx="8992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00</a:t>
            </a:r>
          </a:p>
          <a:p>
            <a:pPr algn="r"/>
            <a:r>
              <a:rPr lang="en-US" dirty="0"/>
              <a:t>456</a:t>
            </a:r>
          </a:p>
          <a:p>
            <a:pPr algn="r"/>
            <a:r>
              <a:rPr lang="en-US" dirty="0"/>
              <a:t>228</a:t>
            </a:r>
            <a:r>
              <a:rPr lang="en-US" dirty="0">
                <a:solidFill>
                  <a:schemeClr val="bg1"/>
                </a:solidFill>
              </a:rPr>
              <a:t>0</a:t>
            </a:r>
          </a:p>
          <a:p>
            <a:pPr algn="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693252" y="1892532"/>
            <a:ext cx="89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5</a:t>
            </a:r>
          </a:p>
          <a:p>
            <a:pPr algn="r"/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3980632" y="3867842"/>
            <a:ext cx="61184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93252" y="3891584"/>
            <a:ext cx="89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2736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8294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Excellent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429596" cy="4351338"/>
          </a:xfrm>
        </p:spPr>
        <p:txBody>
          <a:bodyPr/>
          <a:lstStyle/>
          <a:p>
            <a:r>
              <a:rPr lang="en-US" dirty="0"/>
              <a:t>Show the data – and comparisons</a:t>
            </a:r>
          </a:p>
          <a:p>
            <a:r>
              <a:rPr lang="en-US" dirty="0"/>
              <a:t>Illuminate the differences that make numbers interesting.</a:t>
            </a:r>
          </a:p>
          <a:p>
            <a:r>
              <a:rPr lang="en-US" dirty="0"/>
              <a:t>Do not require the user to “remember” or “calculate”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529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691</Words>
  <Application>Microsoft Macintosh PowerPoint</Application>
  <PresentationFormat>Widescreen</PresentationFormat>
  <Paragraphs>175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Office Theme</vt:lpstr>
      <vt:lpstr>Basic Principles of Visualization</vt:lpstr>
      <vt:lpstr>Principles of Visualization</vt:lpstr>
      <vt:lpstr>Principles of Visualization</vt:lpstr>
      <vt:lpstr>Principles of Visualization</vt:lpstr>
      <vt:lpstr>Principles of Visualization</vt:lpstr>
      <vt:lpstr>PowerPoint Presentation</vt:lpstr>
      <vt:lpstr>PowerPoint Presentation</vt:lpstr>
      <vt:lpstr>Principles of Visualization</vt:lpstr>
      <vt:lpstr>PowerPoint Presentation</vt:lpstr>
      <vt:lpstr>PowerPoint Presentation</vt:lpstr>
      <vt:lpstr>Principles of Visualization</vt:lpstr>
      <vt:lpstr>Principles of Visualization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Principles of Visualization</vt:lpstr>
      <vt:lpstr>Working Memory</vt:lpstr>
      <vt:lpstr>Reducing Cognitive Load</vt:lpstr>
      <vt:lpstr>Example: Multi-digit multiplication</vt:lpstr>
      <vt:lpstr>Example: Multi-digit multiplication</vt:lpstr>
      <vt:lpstr>Example: Multi-digit multiplication</vt:lpstr>
      <vt:lpstr>Example: Multi-digit multiplication</vt:lpstr>
      <vt:lpstr>Example: Multi-digit multiplication</vt:lpstr>
      <vt:lpstr>Example: Multi-digit multiplication</vt:lpstr>
      <vt:lpstr>Example: Multi-digit multiplication</vt:lpstr>
      <vt:lpstr>Example: Multi-digit multiplication</vt:lpstr>
      <vt:lpstr>Example: Multi-digit multiplication</vt:lpstr>
      <vt:lpstr>Example: Multi-digit multiplication</vt:lpstr>
      <vt:lpstr>Example: Multi-digit multiplication</vt:lpstr>
      <vt:lpstr>Example: Multi-digit multiplication</vt:lpstr>
      <vt:lpstr>Example: Multi-digit multiplication</vt:lpstr>
      <vt:lpstr>Example: Multi-digit multiplication</vt:lpstr>
      <vt:lpstr>Example: Multi-digit multiplication</vt:lpstr>
      <vt:lpstr>Excellent Graphs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Principles of Visualization</dc:title>
  <dc:creator>Tripp, John</dc:creator>
  <cp:lastModifiedBy>John Tripp</cp:lastModifiedBy>
  <cp:revision>3</cp:revision>
  <dcterms:created xsi:type="dcterms:W3CDTF">2019-05-09T21:42:18Z</dcterms:created>
  <dcterms:modified xsi:type="dcterms:W3CDTF">2020-11-22T02:23:11Z</dcterms:modified>
</cp:coreProperties>
</file>