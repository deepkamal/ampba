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2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70" r:id="rId4"/>
    <p:sldId id="271" r:id="rId5"/>
    <p:sldId id="272" r:id="rId6"/>
    <p:sldId id="258" r:id="rId7"/>
    <p:sldId id="274" r:id="rId8"/>
    <p:sldId id="275" r:id="rId9"/>
    <p:sldId id="259" r:id="rId10"/>
    <p:sldId id="267" r:id="rId11"/>
    <p:sldId id="260" r:id="rId12"/>
    <p:sldId id="262" r:id="rId13"/>
    <p:sldId id="263" r:id="rId14"/>
    <p:sldId id="264" r:id="rId15"/>
    <p:sldId id="265" r:id="rId16"/>
    <p:sldId id="268" r:id="rId17"/>
    <p:sldId id="269" r:id="rId18"/>
    <p:sldId id="266" r:id="rId19"/>
    <p:sldId id="273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81DB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13" autoAdjust="0"/>
    <p:restoredTop sz="94660"/>
  </p:normalViewPr>
  <p:slideViewPr>
    <p:cSldViewPr snapToGrid="0">
      <p:cViewPr varScale="1">
        <p:scale>
          <a:sx n="55" d="100"/>
          <a:sy n="55" d="100"/>
        </p:scale>
        <p:origin x="52" y="1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800" dirty="0"/>
              <a:t>Sales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9.0953630796150486E-2"/>
          <c:y val="0.15455524946582425"/>
          <c:w val="0.88682414698162726"/>
          <c:h val="0.68651580469347462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Sheet1!$B$2:$B$17</c:f>
              <c:numCache>
                <c:formatCode>General</c:formatCode>
                <c:ptCount val="16"/>
                <c:pt idx="0">
                  <c:v>170</c:v>
                </c:pt>
                <c:pt idx="1">
                  <c:v>148</c:v>
                </c:pt>
                <c:pt idx="2">
                  <c:v>141</c:v>
                </c:pt>
                <c:pt idx="3">
                  <c:v>150</c:v>
                </c:pt>
                <c:pt idx="4">
                  <c:v>161</c:v>
                </c:pt>
                <c:pt idx="5">
                  <c:v>137</c:v>
                </c:pt>
                <c:pt idx="6">
                  <c:v>132</c:v>
                </c:pt>
                <c:pt idx="7">
                  <c:v>158</c:v>
                </c:pt>
                <c:pt idx="8">
                  <c:v>157</c:v>
                </c:pt>
                <c:pt idx="9">
                  <c:v>145</c:v>
                </c:pt>
                <c:pt idx="10">
                  <c:v>128</c:v>
                </c:pt>
                <c:pt idx="11">
                  <c:v>134</c:v>
                </c:pt>
                <c:pt idx="12">
                  <c:v>160</c:v>
                </c:pt>
                <c:pt idx="13">
                  <c:v>139</c:v>
                </c:pt>
                <c:pt idx="14">
                  <c:v>130</c:v>
                </c:pt>
                <c:pt idx="15">
                  <c:v>144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461-4EBC-96A8-E01F1BCAE0E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515329184"/>
        <c:axId val="579144848"/>
      </c:lineChart>
      <c:catAx>
        <c:axId val="515329184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600" dirty="0"/>
                  <a:t>Quarter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79144848"/>
        <c:crosses val="autoZero"/>
        <c:auto val="1"/>
        <c:lblAlgn val="ctr"/>
        <c:lblOffset val="100"/>
        <c:noMultiLvlLbl val="0"/>
      </c:catAx>
      <c:valAx>
        <c:axId val="579144848"/>
        <c:scaling>
          <c:orientation val="minMax"/>
          <c:min val="12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1532918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5052641105887171"/>
          <c:y val="3.3472803347280332E-2"/>
          <c:w val="0.81733807774935552"/>
          <c:h val="0.8178968800448061"/>
        </c:manualLayout>
      </c:layout>
      <c:scatterChart>
        <c:scatterStyle val="smoothMarker"/>
        <c:varyColors val="0"/>
        <c:ser>
          <c:idx val="0"/>
          <c:order val="0"/>
          <c:tx>
            <c:strRef>
              <c:f>'Trend &amp; Season'!$K$1</c:f>
              <c:strCache>
                <c:ptCount val="1"/>
                <c:pt idx="0">
                  <c:v>Q1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dLbl>
              <c:idx val="0"/>
              <c:layout>
                <c:manualLayout>
                  <c:x val="-0.12985485707208558"/>
                  <c:y val="-6.6945606694560665E-3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900" b="0" i="0" u="none" strike="noStrike" kern="120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E6B3C2F0-C362-4B28-BE20-995717443E6E}" type="YVALUE">
                      <a:rPr lang="en-US" sz="1200"/>
                      <a:pPr>
                        <a:defRPr/>
                      </a:pPr>
                      <a:t>[Y VALUE]</a:t>
                    </a:fld>
                    <a:endParaRPr lang="en-IN"/>
                  </a:p>
                </c:rich>
              </c:tx>
              <c:numFmt formatCode="#,##0.0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0-6D80-4A6A-BF78-68D56FF445CA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6D80-4A6A-BF78-68D56FF445CA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6D80-4A6A-BF78-68D56FF445CA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6D80-4A6A-BF78-68D56FF445CA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/>
                      <a:t>Q1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6D80-4A6A-BF78-68D56FF445C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xVal>
            <c:numRef>
              <c:f>'Trend &amp; Season'!$J$2:$J$6</c:f>
              <c:numCache>
                <c:formatCode>General</c:formatCode>
                <c:ptCount val="5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</c:numCache>
            </c:numRef>
          </c:xVal>
          <c:yVal>
            <c:numRef>
              <c:f>'Trend &amp; Season'!$K$2:$K$6</c:f>
              <c:numCache>
                <c:formatCode>General</c:formatCode>
                <c:ptCount val="5"/>
                <c:pt idx="0">
                  <c:v>170.25</c:v>
                </c:pt>
                <c:pt idx="1">
                  <c:v>166.95</c:v>
                </c:pt>
                <c:pt idx="2">
                  <c:v>163.65</c:v>
                </c:pt>
                <c:pt idx="3">
                  <c:v>160.35</c:v>
                </c:pt>
                <c:pt idx="4">
                  <c:v>157.05000000000001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5-6D80-4A6A-BF78-68D56FF445CA}"/>
            </c:ext>
          </c:extLst>
        </c:ser>
        <c:ser>
          <c:idx val="1"/>
          <c:order val="1"/>
          <c:tx>
            <c:strRef>
              <c:f>'Trend &amp; Season'!$L$1</c:f>
              <c:strCache>
                <c:ptCount val="1"/>
                <c:pt idx="0">
                  <c:v>Q2</c:v>
                </c:pt>
              </c:strCache>
            </c:strRef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dLbls>
            <c:dLbl>
              <c:idx val="0"/>
              <c:layout>
                <c:manualLayout>
                  <c:x val="-0.12743501436186175"/>
                  <c:y val="3.3472803347280333E-3"/>
                </c:manualLayout>
              </c:layout>
              <c:tx>
                <c:rich>
                  <a:bodyPr/>
                  <a:lstStyle/>
                  <a:p>
                    <a:fld id="{26F87052-56D7-4658-B366-EFD155A0B1FC}" type="YVALUE">
                      <a:rPr lang="en-US" sz="1200"/>
                      <a:pPr/>
                      <a:t>[Y VALUE]</a:t>
                    </a:fld>
                    <a:r>
                      <a:rPr lang="en-US" sz="1200" dirty="0"/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6-6D80-4A6A-BF78-68D56FF445CA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6D80-4A6A-BF78-68D56FF445CA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6D80-4A6A-BF78-68D56FF445CA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6D80-4A6A-BF78-68D56FF445CA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/>
                      <a:t>Q2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A-6D80-4A6A-BF78-68D56FF445C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xVal>
            <c:numRef>
              <c:f>'Trend &amp; Season'!$J$2:$J$6</c:f>
              <c:numCache>
                <c:formatCode>General</c:formatCode>
                <c:ptCount val="5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</c:numCache>
            </c:numRef>
          </c:xVal>
          <c:yVal>
            <c:numRef>
              <c:f>'Trend &amp; Season'!$L$2:$L$6</c:f>
              <c:numCache>
                <c:formatCode>General</c:formatCode>
                <c:ptCount val="5"/>
                <c:pt idx="0">
                  <c:v>150.5</c:v>
                </c:pt>
                <c:pt idx="1">
                  <c:v>147.19999999999999</c:v>
                </c:pt>
                <c:pt idx="2">
                  <c:v>143.9</c:v>
                </c:pt>
                <c:pt idx="3">
                  <c:v>140.6</c:v>
                </c:pt>
                <c:pt idx="4">
                  <c:v>137.30000000000001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B-6D80-4A6A-BF78-68D56FF445CA}"/>
            </c:ext>
          </c:extLst>
        </c:ser>
        <c:ser>
          <c:idx val="2"/>
          <c:order val="2"/>
          <c:tx>
            <c:strRef>
              <c:f>'Trend &amp; Season'!$M$1</c:f>
              <c:strCache>
                <c:ptCount val="1"/>
                <c:pt idx="0">
                  <c:v>Q3</c:v>
                </c:pt>
              </c:strCache>
            </c:strRef>
          </c:tx>
          <c:spPr>
            <a:ln w="19050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dLbls>
            <c:dLbl>
              <c:idx val="0"/>
              <c:layout>
                <c:manualLayout>
                  <c:x val="-0.12806512616050036"/>
                  <c:y val="-6.1366097230288838E-17"/>
                </c:manualLayout>
              </c:layout>
              <c:tx>
                <c:rich>
                  <a:bodyPr/>
                  <a:lstStyle/>
                  <a:p>
                    <a:fld id="{CB2167FE-BD35-4098-AC31-B773201994D4}" type="YVALUE">
                      <a:rPr lang="en-US" sz="1200"/>
                      <a:pPr/>
                      <a:t>[Y VALUE]</a:t>
                    </a:fld>
                    <a:r>
                      <a:rPr lang="en-US" sz="1200" dirty="0"/>
                      <a:t>.00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C-6D80-4A6A-BF78-68D56FF445CA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6D80-4A6A-BF78-68D56FF445CA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6D80-4A6A-BF78-68D56FF445CA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6D80-4A6A-BF78-68D56FF445CA}"/>
                </c:ext>
              </c:extLst>
            </c:dLbl>
            <c:dLbl>
              <c:idx val="4"/>
              <c:layout>
                <c:manualLayout>
                  <c:x val="-2.7777777777778798E-3"/>
                  <c:y val="6.6945606694559442E-3"/>
                </c:manualLayout>
              </c:layout>
              <c:tx>
                <c:rich>
                  <a:bodyPr/>
                  <a:lstStyle/>
                  <a:p>
                    <a:r>
                      <a:rPr lang="en-US"/>
                      <a:t>Q3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0-6D80-4A6A-BF78-68D56FF445C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xVal>
            <c:numRef>
              <c:f>'Trend &amp; Season'!$J$2:$J$6</c:f>
              <c:numCache>
                <c:formatCode>General</c:formatCode>
                <c:ptCount val="5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</c:numCache>
            </c:numRef>
          </c:xVal>
          <c:yVal>
            <c:numRef>
              <c:f>'Trend &amp; Season'!$M$2:$M$6</c:f>
              <c:numCache>
                <c:formatCode>General</c:formatCode>
                <c:ptCount val="5"/>
                <c:pt idx="0">
                  <c:v>141</c:v>
                </c:pt>
                <c:pt idx="1">
                  <c:v>137.69999999999999</c:v>
                </c:pt>
                <c:pt idx="2">
                  <c:v>134.4</c:v>
                </c:pt>
                <c:pt idx="3">
                  <c:v>131.1</c:v>
                </c:pt>
                <c:pt idx="4">
                  <c:v>127.80000000000001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11-6D80-4A6A-BF78-68D56FF445CA}"/>
            </c:ext>
          </c:extLst>
        </c:ser>
        <c:ser>
          <c:idx val="3"/>
          <c:order val="3"/>
          <c:tx>
            <c:strRef>
              <c:f>'Trend &amp; Season'!$N$1</c:f>
              <c:strCache>
                <c:ptCount val="1"/>
                <c:pt idx="0">
                  <c:v>Q4</c:v>
                </c:pt>
              </c:strCache>
            </c:strRef>
          </c:tx>
          <c:spPr>
            <a:ln w="19050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/>
              </a:solidFill>
              <a:ln w="9525">
                <a:solidFill>
                  <a:schemeClr val="accent4"/>
                </a:solidFill>
              </a:ln>
              <a:effectLst/>
            </c:spPr>
          </c:marker>
          <c:dLbls>
            <c:dLbl>
              <c:idx val="0"/>
              <c:layout>
                <c:manualLayout>
                  <c:x val="-0.12913900281521071"/>
                  <c:y val="-3.3472803347280333E-3"/>
                </c:manualLayout>
              </c:layout>
              <c:tx>
                <c:rich>
                  <a:bodyPr/>
                  <a:lstStyle/>
                  <a:p>
                    <a:fld id="{CA5BB5BD-2C81-4629-8684-B560059C3DB8}" type="YVALUE">
                      <a:rPr lang="en-US" sz="1200"/>
                      <a:pPr/>
                      <a:t>[Y VALUE]</a:t>
                    </a:fld>
                    <a:endParaRPr lang="en-IN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12-6D80-4A6A-BF78-68D56FF445CA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6D80-4A6A-BF78-68D56FF445CA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4-6D80-4A6A-BF78-68D56FF445CA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5-6D80-4A6A-BF78-68D56FF445CA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/>
                      <a:t>Q4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6-6D80-4A6A-BF78-68D56FF445C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xVal>
            <c:numRef>
              <c:f>'Trend &amp; Season'!$J$2:$J$6</c:f>
              <c:numCache>
                <c:formatCode>General</c:formatCode>
                <c:ptCount val="5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</c:numCache>
            </c:numRef>
          </c:xVal>
          <c:yVal>
            <c:numRef>
              <c:f>'Trend &amp; Season'!$N$2:$N$6</c:f>
              <c:numCache>
                <c:formatCode>General</c:formatCode>
                <c:ptCount val="5"/>
                <c:pt idx="0">
                  <c:v>154.75</c:v>
                </c:pt>
                <c:pt idx="1">
                  <c:v>151.44999999999999</c:v>
                </c:pt>
                <c:pt idx="2">
                  <c:v>148.15</c:v>
                </c:pt>
                <c:pt idx="3">
                  <c:v>144.85</c:v>
                </c:pt>
                <c:pt idx="4">
                  <c:v>141.55000000000001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17-6D80-4A6A-BF78-68D56FF445C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axId val="599952256"/>
        <c:axId val="599954552"/>
      </c:scatterChart>
      <c:valAx>
        <c:axId val="59995225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400"/>
                  <a:t>Year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99954552"/>
        <c:crosses val="autoZero"/>
        <c:crossBetween val="midCat"/>
        <c:majorUnit val="1"/>
      </c:valAx>
      <c:valAx>
        <c:axId val="599954552"/>
        <c:scaling>
          <c:orientation val="minMax"/>
          <c:min val="120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Sales</a:t>
                </a:r>
              </a:p>
            </c:rich>
          </c:tx>
          <c:layout>
            <c:manualLayout>
              <c:xMode val="edge"/>
              <c:yMode val="edge"/>
              <c:x val="3.1457955232909861E-2"/>
              <c:y val="2.9760221394919798E-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crossAx val="599952256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B6C91A-83D7-4ABD-A4D7-8B213A44D1E0}" type="datetimeFigureOut">
              <a:rPr lang="en-US" smtClean="0"/>
              <a:t>7/8/2021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80F264-1B66-4A10-A249-7C4A9D4A92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19669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2150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>
              <a:ea typeface="ＭＳ Ｐゴシック" charset="-128"/>
            </a:endParaRPr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fld id="{4B1D3B1C-10EB-2041-9411-A821FF32C96D}" type="slidenum">
              <a:rPr lang="en-US" altLang="en-US" sz="1300">
                <a:latin typeface="Calibri" charset="0"/>
              </a:rPr>
              <a:pPr eaLnBrk="1" hangingPunct="1"/>
              <a:t>2</a:t>
            </a:fld>
            <a:endParaRPr lang="en-US" altLang="en-US" sz="1300"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66281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Poll 2: What is the interpretation of the intercept (154.75)?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80F264-1B66-4A10-A249-7C4A9D4A925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875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23554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>
              <a:ea typeface="ＭＳ Ｐゴシック" charset="-128"/>
            </a:endParaRPr>
          </a:p>
        </p:txBody>
      </p:sp>
      <p:sp>
        <p:nvSpPr>
          <p:cNvPr id="2355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fld id="{14972E27-BCCE-E74C-B191-848CCD45EEE0}" type="slidenum">
              <a:rPr lang="en-US" altLang="en-US" sz="1300">
                <a:latin typeface="Calibri" charset="0"/>
              </a:rPr>
              <a:pPr eaLnBrk="1" hangingPunct="1"/>
              <a:t>6</a:t>
            </a:fld>
            <a:endParaRPr lang="en-US" altLang="en-US" sz="1300"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9966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2662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>
              <a:ea typeface="ＭＳ Ｐゴシック" charset="-128"/>
            </a:endParaRPr>
          </a:p>
        </p:txBody>
      </p:sp>
      <p:sp>
        <p:nvSpPr>
          <p:cNvPr id="2662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fld id="{321E8162-1652-B147-B7B3-854159DA2497}" type="slidenum">
              <a:rPr lang="en-US" altLang="en-US" sz="1300">
                <a:latin typeface="Calibri" charset="0"/>
              </a:rPr>
              <a:pPr eaLnBrk="1" hangingPunct="1"/>
              <a:t>11</a:t>
            </a:fld>
            <a:endParaRPr lang="en-US" altLang="en-US" sz="1300"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31521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3174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>
              <a:ea typeface="ＭＳ Ｐゴシック" charset="-128"/>
            </a:endParaRPr>
          </a:p>
        </p:txBody>
      </p:sp>
      <p:sp>
        <p:nvSpPr>
          <p:cNvPr id="3174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fld id="{D0ECB7D3-903E-5149-94DF-8537F227D69A}" type="slidenum">
              <a:rPr lang="en-US" altLang="en-US" sz="1300">
                <a:latin typeface="Calibri" charset="0"/>
              </a:rPr>
              <a:pPr eaLnBrk="1" hangingPunct="1"/>
              <a:t>13</a:t>
            </a:fld>
            <a:endParaRPr lang="en-US" altLang="en-US" sz="1300"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73639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7/8/2021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7/8/2021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7/8/2021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7/8/2021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7/8/2021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7/8/2021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7/8/2021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7/8/2021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7/8/2021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7/8/2021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7/8/2021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7/8/2021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7/8/2021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7/8/2021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7/8/2021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7/8/2021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7/8/2021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F4AD7-7FB5-4817-B2D2-BDA3B1EEB2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89213" y="2143125"/>
            <a:ext cx="8915399" cy="2262781"/>
          </a:xfrm>
        </p:spPr>
        <p:txBody>
          <a:bodyPr/>
          <a:lstStyle/>
          <a:p>
            <a:br>
              <a:rPr lang="en-US" dirty="0"/>
            </a:br>
            <a:r>
              <a:rPr lang="en-US" dirty="0"/>
              <a:t>Categorical Variables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B8E69E-2337-46E5-92FE-29784A45FF4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474796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Title 1"/>
          <p:cNvSpPr>
            <a:spLocks noGrp="1"/>
          </p:cNvSpPr>
          <p:nvPr>
            <p:ph type="title"/>
          </p:nvPr>
        </p:nvSpPr>
        <p:spPr>
          <a:xfrm>
            <a:off x="1640681" y="171450"/>
            <a:ext cx="8839200" cy="838200"/>
          </a:xfrm>
        </p:spPr>
        <p:txBody>
          <a:bodyPr/>
          <a:lstStyle/>
          <a:p>
            <a:r>
              <a:rPr lang="en-US" altLang="en-US" dirty="0">
                <a:ea typeface="ＭＳ Ｐゴシック" charset="-128"/>
              </a:rPr>
              <a:t>Learning Objectives</a:t>
            </a:r>
          </a:p>
        </p:txBody>
      </p:sp>
      <p:sp>
        <p:nvSpPr>
          <p:cNvPr id="20482" name="Content Placeholder 2"/>
          <p:cNvSpPr>
            <a:spLocks noGrp="1"/>
          </p:cNvSpPr>
          <p:nvPr>
            <p:ph idx="1"/>
          </p:nvPr>
        </p:nvSpPr>
        <p:spPr>
          <a:xfrm>
            <a:off x="1893194" y="2133600"/>
            <a:ext cx="9611418" cy="3777622"/>
          </a:xfrm>
        </p:spPr>
        <p:txBody>
          <a:bodyPr>
            <a:normAutofit/>
          </a:bodyPr>
          <a:lstStyle/>
          <a:p>
            <a:pPr marL="342900" lvl="1" indent="-342900">
              <a:buFont typeface="Arial" charset="0"/>
              <a:buChar char="•"/>
            </a:pPr>
            <a:r>
              <a:rPr lang="en-US" altLang="en-US" sz="2400" dirty="0">
                <a:ea typeface="ＭＳ Ｐゴシック" charset="-128"/>
              </a:rPr>
              <a:t>How to include </a:t>
            </a:r>
            <a:r>
              <a:rPr lang="en-US" altLang="en-US" sz="2400" dirty="0">
                <a:solidFill>
                  <a:srgbClr val="0000FF"/>
                </a:solidFill>
                <a:ea typeface="ＭＳ Ｐゴシック" charset="-128"/>
              </a:rPr>
              <a:t>categorical</a:t>
            </a:r>
            <a:r>
              <a:rPr lang="en-US" altLang="en-US" sz="2400" dirty="0">
                <a:ea typeface="ＭＳ Ｐゴシック" charset="-128"/>
              </a:rPr>
              <a:t> variables in regression?</a:t>
            </a:r>
          </a:p>
          <a:p>
            <a:pPr marL="342900" lvl="1" indent="-342900">
              <a:buFont typeface="Arial" charset="0"/>
              <a:buChar char="•"/>
            </a:pPr>
            <a:endParaRPr lang="en-US" altLang="en-US" sz="2400" dirty="0">
              <a:ea typeface="ＭＳ Ｐゴシック" charset="-128"/>
            </a:endParaRPr>
          </a:p>
          <a:p>
            <a:pPr marL="342900" lvl="1" indent="-342900">
              <a:buFont typeface="Arial" charset="0"/>
              <a:buChar char="•"/>
            </a:pPr>
            <a:r>
              <a:rPr lang="en-US" altLang="en-US" sz="2400" dirty="0">
                <a:ea typeface="ＭＳ Ｐゴシック" charset="-128"/>
              </a:rPr>
              <a:t>What is the </a:t>
            </a:r>
            <a:r>
              <a:rPr lang="en-US" altLang="en-US" sz="2400" dirty="0">
                <a:solidFill>
                  <a:srgbClr val="0000FF"/>
                </a:solidFill>
                <a:ea typeface="ＭＳ Ｐゴシック" charset="-128"/>
              </a:rPr>
              <a:t>interpretation of the coefficients </a:t>
            </a:r>
            <a:r>
              <a:rPr lang="en-US" altLang="en-US" sz="2400" dirty="0">
                <a:ea typeface="ＭＳ Ｐゴシック" charset="-128"/>
              </a:rPr>
              <a:t>of categorical variables?</a:t>
            </a:r>
          </a:p>
          <a:p>
            <a:pPr marL="342900" lvl="1" indent="-342900">
              <a:buFont typeface="Arial" charset="0"/>
              <a:buChar char="•"/>
            </a:pPr>
            <a:endParaRPr lang="en-US" altLang="en-US" sz="2400" dirty="0">
              <a:ea typeface="ＭＳ Ｐゴシック" charset="-128"/>
            </a:endParaRPr>
          </a:p>
          <a:p>
            <a:pPr marL="342900" lvl="1" indent="-342900">
              <a:buFont typeface="Arial" charset="0"/>
              <a:buChar char="•"/>
            </a:pPr>
            <a:r>
              <a:rPr lang="en-US" altLang="en-US" sz="2400" dirty="0">
                <a:ea typeface="ＭＳ Ｐゴシック" charset="-128"/>
              </a:rPr>
              <a:t>How to model </a:t>
            </a:r>
            <a:r>
              <a:rPr lang="en-US" altLang="en-US" sz="2400" dirty="0">
                <a:solidFill>
                  <a:srgbClr val="0000FF"/>
                </a:solidFill>
                <a:ea typeface="ＭＳ Ｐゴシック" charset="-128"/>
              </a:rPr>
              <a:t>interaction</a:t>
            </a:r>
            <a:r>
              <a:rPr lang="en-US" altLang="en-US" sz="2400" dirty="0">
                <a:ea typeface="ＭＳ Ｐゴシック" charset="-128"/>
              </a:rPr>
              <a:t> between categorical and numerical variables?</a:t>
            </a:r>
          </a:p>
        </p:txBody>
      </p:sp>
      <p:sp>
        <p:nvSpPr>
          <p:cNvPr id="20483" name="Slide Number Placeholder 5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15E2E346-DD09-FF4F-B6D5-F68AC93866CB}" type="slidenum">
              <a:rPr lang="en-US" altLang="en-US" sz="1200">
                <a:solidFill>
                  <a:schemeClr val="bg1"/>
                </a:solidFill>
                <a:latin typeface="Calibri" charset="0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2</a:t>
            </a:fld>
            <a:endParaRPr lang="en-US" altLang="en-US" sz="1200">
              <a:solidFill>
                <a:schemeClr val="bg1"/>
              </a:solidFill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231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D7FE74-A4FD-4715-AF2D-55A2851D7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0005" y="302641"/>
            <a:ext cx="8911687" cy="868934"/>
          </a:xfrm>
        </p:spPr>
        <p:txBody>
          <a:bodyPr/>
          <a:lstStyle/>
          <a:p>
            <a:r>
              <a:rPr lang="en-US" dirty="0"/>
              <a:t>Example: Forecasting</a:t>
            </a: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983FCE68-B965-47C6-8C21-4A6404604C0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17078720"/>
              </p:ext>
            </p:extLst>
          </p:nvPr>
        </p:nvGraphicFramePr>
        <p:xfrm>
          <a:off x="1881809" y="1171575"/>
          <a:ext cx="8521148" cy="53837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9900888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C7CFB7-E21C-4FF3-BAF4-F3D586B29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and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A3B7F8D8-2A36-4D91-A2E5-6EA1BA1F698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822141" y="2456267"/>
                <a:ext cx="5262283" cy="4084225"/>
              </a:xfrm>
            </p:spPr>
            <p:txBody>
              <a:bodyPr>
                <a:normAutofit fontScale="92500"/>
              </a:bodyPr>
              <a:lstStyle/>
              <a:p>
                <a:r>
                  <a:rPr lang="en-US" sz="2400" dirty="0"/>
                  <a:t>If Quarter 1</a:t>
                </a:r>
              </a:p>
              <a:p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/>
                  <a:t>=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endParaRPr lang="en-US" sz="2400" dirty="0"/>
              </a:p>
              <a:p>
                <a:r>
                  <a:rPr lang="en-US" sz="2400" dirty="0"/>
                  <a:t>If Quarter 2</a:t>
                </a:r>
              </a:p>
              <a:p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nor/>
                      </m:rPr>
                      <a:rPr lang="en-US" sz="2400" dirty="0"/>
                      <m:t>=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)+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endParaRPr lang="en-US" sz="2400" dirty="0"/>
              </a:p>
              <a:p>
                <a:r>
                  <a:rPr lang="en-US" sz="2400" dirty="0"/>
                  <a:t>If Quarter 3</a:t>
                </a:r>
              </a:p>
              <a:p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nor/>
                      </m:rPr>
                      <a:rPr lang="en-US" sz="2400" dirty="0"/>
                      <m:t>=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)+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endParaRPr lang="en-US" sz="2400" dirty="0"/>
              </a:p>
              <a:p>
                <a:r>
                  <a:rPr lang="en-US" sz="2400" dirty="0"/>
                  <a:t>If Quarter 4</a:t>
                </a:r>
              </a:p>
              <a:p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A3B7F8D8-2A36-4D91-A2E5-6EA1BA1F698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22141" y="2456267"/>
                <a:ext cx="5262283" cy="4084225"/>
              </a:xfrm>
              <a:blipFill>
                <a:blip r:embed="rId2"/>
                <a:stretch>
                  <a:fillRect l="-1390" t="-10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94B7D90-099B-4DA3-AFAC-752405D021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1782005"/>
              </p:ext>
            </p:extLst>
          </p:nvPr>
        </p:nvGraphicFramePr>
        <p:xfrm>
          <a:off x="1185463" y="1398494"/>
          <a:ext cx="5071902" cy="496270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45317">
                  <a:extLst>
                    <a:ext uri="{9D8B030D-6E8A-4147-A177-3AD203B41FA5}">
                      <a16:colId xmlns:a16="http://schemas.microsoft.com/office/drawing/2014/main" val="2395594287"/>
                    </a:ext>
                  </a:extLst>
                </a:gridCol>
                <a:gridCol w="845317">
                  <a:extLst>
                    <a:ext uri="{9D8B030D-6E8A-4147-A177-3AD203B41FA5}">
                      <a16:colId xmlns:a16="http://schemas.microsoft.com/office/drawing/2014/main" val="938035813"/>
                    </a:ext>
                  </a:extLst>
                </a:gridCol>
                <a:gridCol w="845317">
                  <a:extLst>
                    <a:ext uri="{9D8B030D-6E8A-4147-A177-3AD203B41FA5}">
                      <a16:colId xmlns:a16="http://schemas.microsoft.com/office/drawing/2014/main" val="2166907746"/>
                    </a:ext>
                  </a:extLst>
                </a:gridCol>
                <a:gridCol w="845317">
                  <a:extLst>
                    <a:ext uri="{9D8B030D-6E8A-4147-A177-3AD203B41FA5}">
                      <a16:colId xmlns:a16="http://schemas.microsoft.com/office/drawing/2014/main" val="1243230889"/>
                    </a:ext>
                  </a:extLst>
                </a:gridCol>
                <a:gridCol w="845317">
                  <a:extLst>
                    <a:ext uri="{9D8B030D-6E8A-4147-A177-3AD203B41FA5}">
                      <a16:colId xmlns:a16="http://schemas.microsoft.com/office/drawing/2014/main" val="1366201263"/>
                    </a:ext>
                  </a:extLst>
                </a:gridCol>
                <a:gridCol w="845317">
                  <a:extLst>
                    <a:ext uri="{9D8B030D-6E8A-4147-A177-3AD203B41FA5}">
                      <a16:colId xmlns:a16="http://schemas.microsoft.com/office/drawing/2014/main" val="1684502149"/>
                    </a:ext>
                  </a:extLst>
                </a:gridCol>
              </a:tblGrid>
              <a:tr h="29976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Q</a:t>
                      </a:r>
                      <a:endParaRPr lang="en-US" sz="1600" b="1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1" u="none" strike="noStrike" dirty="0">
                          <a:effectLst/>
                          <a:latin typeface="Arial" panose="020B0604020202020204" pitchFamily="34" charset="0"/>
                        </a:rPr>
                        <a:t>Sales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Year(Y)</a:t>
                      </a:r>
                      <a:endParaRPr lang="en-US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Q1</a:t>
                      </a:r>
                      <a:endParaRPr lang="en-US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Q2</a:t>
                      </a:r>
                      <a:endParaRPr lang="en-US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Q3</a:t>
                      </a:r>
                      <a:endParaRPr lang="en-US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426121090"/>
                  </a:ext>
                </a:extLst>
              </a:tr>
              <a:tr h="29143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1</a:t>
                      </a:r>
                      <a:endParaRPr lang="en-US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170</a:t>
                      </a:r>
                      <a:endParaRPr lang="en-US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1</a:t>
                      </a:r>
                      <a:endParaRPr lang="en-US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1</a:t>
                      </a:r>
                      <a:endParaRPr lang="en-US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502900859"/>
                  </a:ext>
                </a:extLst>
              </a:tr>
              <a:tr h="29143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2</a:t>
                      </a:r>
                      <a:endParaRPr lang="en-US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148</a:t>
                      </a:r>
                      <a:endParaRPr lang="en-US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1</a:t>
                      </a:r>
                      <a:endParaRPr lang="en-US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0</a:t>
                      </a:r>
                      <a:endParaRPr lang="en-US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1</a:t>
                      </a:r>
                      <a:endParaRPr lang="en-US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82407358"/>
                  </a:ext>
                </a:extLst>
              </a:tr>
              <a:tr h="29143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3</a:t>
                      </a:r>
                      <a:endParaRPr lang="en-US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141</a:t>
                      </a:r>
                      <a:endParaRPr lang="en-US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1</a:t>
                      </a:r>
                      <a:endParaRPr lang="en-US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0</a:t>
                      </a:r>
                      <a:endParaRPr lang="en-US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1</a:t>
                      </a:r>
                      <a:endParaRPr lang="en-US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106234990"/>
                  </a:ext>
                </a:extLst>
              </a:tr>
              <a:tr h="29143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4</a:t>
                      </a:r>
                      <a:endParaRPr lang="en-US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150</a:t>
                      </a:r>
                      <a:endParaRPr lang="en-US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1</a:t>
                      </a:r>
                      <a:endParaRPr lang="en-US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0</a:t>
                      </a:r>
                      <a:endParaRPr lang="en-US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262329869"/>
                  </a:ext>
                </a:extLst>
              </a:tr>
              <a:tr h="29143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1</a:t>
                      </a:r>
                      <a:endParaRPr lang="en-US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161</a:t>
                      </a:r>
                      <a:endParaRPr lang="en-US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2</a:t>
                      </a:r>
                      <a:endParaRPr lang="en-US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1</a:t>
                      </a:r>
                      <a:endParaRPr lang="en-US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050224840"/>
                  </a:ext>
                </a:extLst>
              </a:tr>
              <a:tr h="29143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2</a:t>
                      </a:r>
                      <a:endParaRPr lang="en-US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137</a:t>
                      </a:r>
                      <a:endParaRPr lang="en-US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2</a:t>
                      </a:r>
                      <a:endParaRPr lang="en-US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1</a:t>
                      </a:r>
                      <a:endParaRPr lang="en-US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725591824"/>
                  </a:ext>
                </a:extLst>
              </a:tr>
              <a:tr h="29143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3</a:t>
                      </a:r>
                      <a:endParaRPr lang="en-US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132</a:t>
                      </a:r>
                      <a:endParaRPr lang="en-US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2</a:t>
                      </a:r>
                      <a:endParaRPr lang="en-US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1</a:t>
                      </a:r>
                      <a:endParaRPr lang="en-US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955465792"/>
                  </a:ext>
                </a:extLst>
              </a:tr>
              <a:tr h="29143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4</a:t>
                      </a:r>
                      <a:endParaRPr lang="en-US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158</a:t>
                      </a:r>
                      <a:endParaRPr lang="en-US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2</a:t>
                      </a:r>
                      <a:endParaRPr lang="en-US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0</a:t>
                      </a:r>
                      <a:endParaRPr lang="en-US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646802998"/>
                  </a:ext>
                </a:extLst>
              </a:tr>
              <a:tr h="29143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1</a:t>
                      </a:r>
                      <a:endParaRPr lang="en-US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157</a:t>
                      </a:r>
                      <a:endParaRPr lang="en-US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3</a:t>
                      </a:r>
                      <a:endParaRPr lang="en-US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1</a:t>
                      </a:r>
                      <a:endParaRPr lang="en-US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916478356"/>
                  </a:ext>
                </a:extLst>
              </a:tr>
              <a:tr h="29143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2</a:t>
                      </a:r>
                      <a:endParaRPr lang="en-US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145</a:t>
                      </a:r>
                      <a:endParaRPr lang="en-US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3</a:t>
                      </a:r>
                      <a:endParaRPr lang="en-US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1</a:t>
                      </a:r>
                      <a:endParaRPr lang="en-US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451961743"/>
                  </a:ext>
                </a:extLst>
              </a:tr>
              <a:tr h="29143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3</a:t>
                      </a:r>
                      <a:endParaRPr lang="en-US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128</a:t>
                      </a:r>
                      <a:endParaRPr lang="en-US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3</a:t>
                      </a:r>
                      <a:endParaRPr lang="en-US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0</a:t>
                      </a:r>
                      <a:endParaRPr lang="en-US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1</a:t>
                      </a:r>
                      <a:endParaRPr lang="en-US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637928065"/>
                  </a:ext>
                </a:extLst>
              </a:tr>
              <a:tr h="29143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4</a:t>
                      </a:r>
                      <a:endParaRPr lang="en-US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134</a:t>
                      </a:r>
                      <a:endParaRPr lang="en-US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3</a:t>
                      </a:r>
                      <a:endParaRPr lang="en-US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0</a:t>
                      </a:r>
                      <a:endParaRPr lang="en-US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722926529"/>
                  </a:ext>
                </a:extLst>
              </a:tr>
              <a:tr h="29143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1</a:t>
                      </a:r>
                      <a:endParaRPr lang="en-US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160</a:t>
                      </a:r>
                      <a:endParaRPr lang="en-US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4</a:t>
                      </a:r>
                      <a:endParaRPr lang="en-US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1</a:t>
                      </a:r>
                      <a:endParaRPr lang="en-US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0</a:t>
                      </a:r>
                      <a:endParaRPr lang="en-US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143585371"/>
                  </a:ext>
                </a:extLst>
              </a:tr>
              <a:tr h="29143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2</a:t>
                      </a:r>
                      <a:endParaRPr lang="en-US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139</a:t>
                      </a:r>
                      <a:endParaRPr lang="en-US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4</a:t>
                      </a:r>
                      <a:endParaRPr lang="en-US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1</a:t>
                      </a:r>
                      <a:endParaRPr lang="en-US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181933925"/>
                  </a:ext>
                </a:extLst>
              </a:tr>
              <a:tr h="29143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3</a:t>
                      </a:r>
                      <a:endParaRPr lang="en-US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130</a:t>
                      </a:r>
                      <a:endParaRPr lang="en-US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4</a:t>
                      </a:r>
                      <a:endParaRPr lang="en-US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0</a:t>
                      </a:r>
                      <a:endParaRPr lang="en-US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1</a:t>
                      </a:r>
                      <a:endParaRPr lang="en-US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751237465"/>
                  </a:ext>
                </a:extLst>
              </a:tr>
              <a:tr h="29143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4</a:t>
                      </a:r>
                      <a:endParaRPr lang="en-US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144</a:t>
                      </a:r>
                      <a:endParaRPr lang="en-US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4</a:t>
                      </a:r>
                      <a:endParaRPr lang="en-US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0</a:t>
                      </a:r>
                      <a:endParaRPr lang="en-US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782062456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5E6A17C-FFE7-4230-89AB-9CEA731955D7}"/>
                  </a:ext>
                </a:extLst>
              </p:cNvPr>
              <p:cNvSpPr txBox="1"/>
              <p:nvPr/>
            </p:nvSpPr>
            <p:spPr>
              <a:xfrm>
                <a:off x="7184674" y="1577788"/>
                <a:ext cx="462184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5E6A17C-FFE7-4230-89AB-9CEA731955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4674" y="1577788"/>
                <a:ext cx="4621843" cy="369332"/>
              </a:xfrm>
              <a:prstGeom prst="rect">
                <a:avLst/>
              </a:prstGeom>
              <a:blipFill>
                <a:blip r:embed="rId3"/>
                <a:stretch>
                  <a:fillRect l="-923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739660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A41ED1-D3A1-48AF-8CE7-3A4F6C470B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8071" y="638428"/>
            <a:ext cx="4604147" cy="957832"/>
          </a:xfrm>
        </p:spPr>
        <p:txBody>
          <a:bodyPr/>
          <a:lstStyle/>
          <a:p>
            <a:r>
              <a:rPr lang="en-US" dirty="0"/>
              <a:t>Regression Results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E8AB61D-0A06-4FD5-83E3-6B811CCA2A5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08722947"/>
              </p:ext>
            </p:extLst>
          </p:nvPr>
        </p:nvGraphicFramePr>
        <p:xfrm>
          <a:off x="1414204" y="1724024"/>
          <a:ext cx="3503076" cy="20193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98658">
                  <a:extLst>
                    <a:ext uri="{9D8B030D-6E8A-4147-A177-3AD203B41FA5}">
                      <a16:colId xmlns:a16="http://schemas.microsoft.com/office/drawing/2014/main" val="3789626472"/>
                    </a:ext>
                  </a:extLst>
                </a:gridCol>
                <a:gridCol w="1104418">
                  <a:extLst>
                    <a:ext uri="{9D8B030D-6E8A-4147-A177-3AD203B41FA5}">
                      <a16:colId xmlns:a16="http://schemas.microsoft.com/office/drawing/2014/main" val="412733109"/>
                    </a:ext>
                  </a:extLst>
                </a:gridCol>
              </a:tblGrid>
              <a:tr h="334955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</a:rPr>
                        <a:t>Regression Statistics</a:t>
                      </a:r>
                      <a:endParaRPr lang="en-US" sz="1800" b="0" i="1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6164812"/>
                  </a:ext>
                </a:extLst>
              </a:tr>
              <a:tr h="334955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 dirty="0">
                          <a:effectLst/>
                        </a:rPr>
                        <a:t>Multiple R</a:t>
                      </a:r>
                      <a:endParaRPr lang="en-US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</a:rPr>
                        <a:t>0.9205</a:t>
                      </a:r>
                      <a:endParaRPr lang="en-US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572066977"/>
                  </a:ext>
                </a:extLst>
              </a:tr>
              <a:tr h="334955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 dirty="0">
                          <a:effectLst/>
                        </a:rPr>
                        <a:t>R Square</a:t>
                      </a:r>
                      <a:endParaRPr lang="en-US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</a:rPr>
                        <a:t>0.8473</a:t>
                      </a:r>
                      <a:endParaRPr lang="en-US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683263821"/>
                  </a:ext>
                </a:extLst>
              </a:tr>
              <a:tr h="334955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 dirty="0">
                          <a:effectLst/>
                        </a:rPr>
                        <a:t>Adjusted R Square</a:t>
                      </a:r>
                      <a:endParaRPr lang="en-US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</a:rPr>
                        <a:t>0.7917</a:t>
                      </a:r>
                      <a:endParaRPr lang="en-US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758849790"/>
                  </a:ext>
                </a:extLst>
              </a:tr>
              <a:tr h="334955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>
                          <a:effectLst/>
                        </a:rPr>
                        <a:t>Standard Error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</a:rPr>
                        <a:t>5.7263</a:t>
                      </a:r>
                      <a:endParaRPr lang="en-US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916407608"/>
                  </a:ext>
                </a:extLst>
              </a:tr>
              <a:tr h="344525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>
                          <a:effectLst/>
                        </a:rPr>
                        <a:t>Observations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</a:rPr>
                        <a:t>16</a:t>
                      </a:r>
                      <a:endParaRPr lang="en-US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015969839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7E35B36-3046-41E7-9AC1-EED9483179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0145945"/>
              </p:ext>
            </p:extLst>
          </p:nvPr>
        </p:nvGraphicFramePr>
        <p:xfrm>
          <a:off x="1657092" y="4690268"/>
          <a:ext cx="6784182" cy="20193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7605">
                  <a:extLst>
                    <a:ext uri="{9D8B030D-6E8A-4147-A177-3AD203B41FA5}">
                      <a16:colId xmlns:a16="http://schemas.microsoft.com/office/drawing/2014/main" val="2343003169"/>
                    </a:ext>
                  </a:extLst>
                </a:gridCol>
                <a:gridCol w="1501777">
                  <a:extLst>
                    <a:ext uri="{9D8B030D-6E8A-4147-A177-3AD203B41FA5}">
                      <a16:colId xmlns:a16="http://schemas.microsoft.com/office/drawing/2014/main" val="3964589649"/>
                    </a:ext>
                  </a:extLst>
                </a:gridCol>
                <a:gridCol w="1578769">
                  <a:extLst>
                    <a:ext uri="{9D8B030D-6E8A-4147-A177-3AD203B41FA5}">
                      <a16:colId xmlns:a16="http://schemas.microsoft.com/office/drawing/2014/main" val="3696727348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1654843143"/>
                    </a:ext>
                  </a:extLst>
                </a:gridCol>
                <a:gridCol w="1221581">
                  <a:extLst>
                    <a:ext uri="{9D8B030D-6E8A-4147-A177-3AD203B41FA5}">
                      <a16:colId xmlns:a16="http://schemas.microsoft.com/office/drawing/2014/main" val="3887413414"/>
                    </a:ext>
                  </a:extLst>
                </a:gridCol>
              </a:tblGrid>
              <a:tr h="53780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 </a:t>
                      </a:r>
                      <a:endParaRPr lang="en-US" sz="1600" b="0" i="1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Coefficients</a:t>
                      </a:r>
                      <a:endParaRPr lang="en-US" sz="1600" b="0" i="1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Standard Error</a:t>
                      </a:r>
                      <a:endParaRPr lang="en-US" sz="1600" b="0" i="1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t Stat</a:t>
                      </a:r>
                      <a:endParaRPr lang="en-US" sz="1600" b="0" i="1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P-value</a:t>
                      </a:r>
                      <a:endParaRPr lang="en-US" sz="1600" b="0" i="1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378652329"/>
                  </a:ext>
                </a:extLst>
              </a:tr>
              <a:tr h="355153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Intercept</a:t>
                      </a:r>
                      <a:endParaRPr lang="en-US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154.75</a:t>
                      </a:r>
                      <a:endParaRPr lang="en-US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4.2948</a:t>
                      </a:r>
                      <a:endParaRPr lang="en-US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36.0324</a:t>
                      </a:r>
                      <a:endParaRPr lang="en-US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0.0000</a:t>
                      </a:r>
                      <a:endParaRPr lang="en-US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71596989"/>
                  </a:ext>
                </a:extLst>
              </a:tr>
              <a:tr h="355153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Year</a:t>
                      </a:r>
                      <a:endParaRPr lang="en-US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-3.3</a:t>
                      </a:r>
                      <a:endParaRPr lang="en-US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1.2804</a:t>
                      </a:r>
                      <a:endParaRPr lang="en-US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-2.5772</a:t>
                      </a:r>
                      <a:endParaRPr lang="en-US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0.0257</a:t>
                      </a:r>
                      <a:endParaRPr lang="en-US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527883979"/>
                  </a:ext>
                </a:extLst>
              </a:tr>
              <a:tr h="253681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Q1</a:t>
                      </a:r>
                      <a:endParaRPr lang="en-US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15.5</a:t>
                      </a:r>
                      <a:endParaRPr lang="en-US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4.0491</a:t>
                      </a:r>
                      <a:endParaRPr lang="en-US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3.8280</a:t>
                      </a:r>
                      <a:endParaRPr lang="en-US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0.0028</a:t>
                      </a:r>
                      <a:endParaRPr lang="en-US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218145753"/>
                  </a:ext>
                </a:extLst>
              </a:tr>
              <a:tr h="253681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Q2</a:t>
                      </a:r>
                      <a:endParaRPr lang="en-US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-4.25</a:t>
                      </a:r>
                      <a:endParaRPr lang="en-US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4.0491</a:t>
                      </a:r>
                      <a:endParaRPr lang="en-US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-1.0496</a:t>
                      </a:r>
                      <a:endParaRPr lang="en-US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0.3164</a:t>
                      </a:r>
                      <a:endParaRPr lang="en-US" sz="1600" b="0" i="0" u="none" strike="noStrike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696594572"/>
                  </a:ext>
                </a:extLst>
              </a:tr>
              <a:tr h="263828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Q3</a:t>
                      </a:r>
                      <a:endParaRPr lang="en-US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-13.75</a:t>
                      </a:r>
                      <a:endParaRPr lang="en-US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4.0491</a:t>
                      </a:r>
                      <a:endParaRPr lang="en-US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-3.3958</a:t>
                      </a:r>
                      <a:endParaRPr lang="en-US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0.0060</a:t>
                      </a:r>
                      <a:endParaRPr lang="en-US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300606536"/>
                  </a:ext>
                </a:extLst>
              </a:tr>
            </a:tbl>
          </a:graphicData>
        </a:graphic>
      </p:graphicFrame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3A7B190D-943E-4C22-963A-232F9BB8B78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37296715"/>
              </p:ext>
            </p:extLst>
          </p:nvPr>
        </p:nvGraphicFramePr>
        <p:xfrm>
          <a:off x="6586538" y="1117344"/>
          <a:ext cx="5248275" cy="37941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5C93B3C3-8188-45D3-95ED-6C8FD60322B8}"/>
              </a:ext>
            </a:extLst>
          </p:cNvPr>
          <p:cNvSpPr txBox="1"/>
          <p:nvPr/>
        </p:nvSpPr>
        <p:spPr>
          <a:xfrm>
            <a:off x="9733280" y="5588000"/>
            <a:ext cx="1757680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Launch Poll 2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081904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AsOne/>
      </p:bldGraphic>
      <p:bldP spid="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Title 1"/>
          <p:cNvSpPr>
            <a:spLocks noGrp="1"/>
          </p:cNvSpPr>
          <p:nvPr>
            <p:ph type="title"/>
          </p:nvPr>
        </p:nvSpPr>
        <p:spPr>
          <a:xfrm>
            <a:off x="1676400" y="0"/>
            <a:ext cx="8839200" cy="838200"/>
          </a:xfrm>
        </p:spPr>
        <p:txBody>
          <a:bodyPr/>
          <a:lstStyle/>
          <a:p>
            <a:r>
              <a:rPr lang="en-US" altLang="en-US">
                <a:ea typeface="ＭＳ Ｐゴシック" charset="-128"/>
              </a:rPr>
              <a:t>Example: Salary Discrimination</a:t>
            </a:r>
          </a:p>
        </p:txBody>
      </p:sp>
      <p:sp>
        <p:nvSpPr>
          <p:cNvPr id="22530" name="Content Placeholder 2"/>
          <p:cNvSpPr>
            <a:spLocks noGrp="1"/>
          </p:cNvSpPr>
          <p:nvPr>
            <p:ph idx="1"/>
          </p:nvPr>
        </p:nvSpPr>
        <p:spPr>
          <a:xfrm>
            <a:off x="1468192" y="1712890"/>
            <a:ext cx="10036420" cy="4198332"/>
          </a:xfrm>
        </p:spPr>
        <p:txBody>
          <a:bodyPr>
            <a:normAutofit/>
          </a:bodyPr>
          <a:lstStyle/>
          <a:p>
            <a:pPr marL="342900" lvl="1" indent="-342900"/>
            <a:r>
              <a:rPr lang="en-US" altLang="en-US" sz="2400" dirty="0">
                <a:ea typeface="ＭＳ Ｐゴシック" charset="-128"/>
              </a:rPr>
              <a:t>Case “Gender Divide”</a:t>
            </a:r>
          </a:p>
          <a:p>
            <a:pPr marL="342900" lvl="1" indent="-342900"/>
            <a:r>
              <a:rPr lang="en-US" altLang="en-US" sz="2400" dirty="0">
                <a:ea typeface="ＭＳ Ｐゴシック" charset="-128"/>
              </a:rPr>
              <a:t>200 obs.  </a:t>
            </a:r>
          </a:p>
          <a:p>
            <a:endParaRPr lang="en-US" altLang="en-US" sz="2400" dirty="0">
              <a:ea typeface="ＭＳ Ｐゴシック" charset="-128"/>
            </a:endParaRPr>
          </a:p>
          <a:p>
            <a:r>
              <a:rPr lang="en-US" altLang="en-US" sz="2400" dirty="0">
                <a:ea typeface="ＭＳ Ｐゴシック" charset="-128"/>
              </a:rPr>
              <a:t>Is there a gender discrimination?  Are male and female employees paid differently?</a:t>
            </a:r>
          </a:p>
          <a:p>
            <a:pPr>
              <a:spcBef>
                <a:spcPts val="600"/>
              </a:spcBef>
            </a:pPr>
            <a:endParaRPr lang="en-US" altLang="en-US" sz="2400" dirty="0">
              <a:ea typeface="ＭＳ Ｐゴシック" charset="-128"/>
            </a:endParaRPr>
          </a:p>
          <a:p>
            <a:pPr>
              <a:spcBef>
                <a:spcPts val="600"/>
              </a:spcBef>
            </a:pPr>
            <a:r>
              <a:rPr lang="en-US" altLang="en-US" sz="2400" dirty="0">
                <a:ea typeface="ＭＳ Ｐゴシック" charset="-128"/>
              </a:rPr>
              <a:t>How to test for discrimination?</a:t>
            </a:r>
          </a:p>
          <a:p>
            <a:endParaRPr lang="en-US" altLang="en-US" dirty="0">
              <a:ea typeface="ＭＳ Ｐゴシック" charset="-128"/>
            </a:endParaRPr>
          </a:p>
        </p:txBody>
      </p:sp>
      <p:sp>
        <p:nvSpPr>
          <p:cNvPr id="22531" name="Slide Number Placeholder 5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2771C633-B7AC-8B48-9D84-9321F27534AF}" type="slidenum">
              <a:rPr lang="en-US" altLang="en-US" sz="1200">
                <a:solidFill>
                  <a:schemeClr val="bg1"/>
                </a:solidFill>
                <a:latin typeface="Calibri" charset="0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6</a:t>
            </a:fld>
            <a:endParaRPr lang="en-US" altLang="en-US" sz="1200">
              <a:solidFill>
                <a:schemeClr val="bg1"/>
              </a:solidFill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54953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D3B99-4FFF-4DAC-B4D1-CE6FE0589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6868" y="294620"/>
            <a:ext cx="8911687" cy="793951"/>
          </a:xfrm>
        </p:spPr>
        <p:txBody>
          <a:bodyPr/>
          <a:lstStyle/>
          <a:p>
            <a:r>
              <a:rPr lang="en-US" dirty="0"/>
              <a:t>Two Sample Mean Test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B9F9DFE-B25D-43C6-B9C2-E2DA1E618BF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71812309"/>
              </p:ext>
            </p:extLst>
          </p:nvPr>
        </p:nvGraphicFramePr>
        <p:xfrm>
          <a:off x="1688785" y="1275055"/>
          <a:ext cx="5875683" cy="17802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3196">
                  <a:extLst>
                    <a:ext uri="{9D8B030D-6E8A-4147-A177-3AD203B41FA5}">
                      <a16:colId xmlns:a16="http://schemas.microsoft.com/office/drawing/2014/main" val="1763658564"/>
                    </a:ext>
                  </a:extLst>
                </a:gridCol>
                <a:gridCol w="1258956">
                  <a:extLst>
                    <a:ext uri="{9D8B030D-6E8A-4147-A177-3AD203B41FA5}">
                      <a16:colId xmlns:a16="http://schemas.microsoft.com/office/drawing/2014/main" val="3851741370"/>
                    </a:ext>
                  </a:extLst>
                </a:gridCol>
                <a:gridCol w="1537252">
                  <a:extLst>
                    <a:ext uri="{9D8B030D-6E8A-4147-A177-3AD203B41FA5}">
                      <a16:colId xmlns:a16="http://schemas.microsoft.com/office/drawing/2014/main" val="3276838031"/>
                    </a:ext>
                  </a:extLst>
                </a:gridCol>
                <a:gridCol w="1696279">
                  <a:extLst>
                    <a:ext uri="{9D8B030D-6E8A-4147-A177-3AD203B41FA5}">
                      <a16:colId xmlns:a16="http://schemas.microsoft.com/office/drawing/2014/main" val="4158543929"/>
                    </a:ext>
                  </a:extLst>
                </a:gridCol>
              </a:tblGrid>
              <a:tr h="884417">
                <a:tc>
                  <a:txBody>
                    <a:bodyPr/>
                    <a:lstStyle/>
                    <a:p>
                      <a:pPr algn="l" fontAlgn="b"/>
                      <a:r>
                        <a:rPr lang="en-IN" sz="24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 Gender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N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Mean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Std. Deviation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175929253"/>
                  </a:ext>
                </a:extLst>
              </a:tr>
              <a:tr h="447892">
                <a:tc>
                  <a:txBody>
                    <a:bodyPr/>
                    <a:lstStyle/>
                    <a:p>
                      <a:pPr algn="l" fontAlgn="t"/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Male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545,158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191,287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25698200"/>
                  </a:ext>
                </a:extLst>
              </a:tr>
              <a:tr h="447892">
                <a:tc>
                  <a:txBody>
                    <a:bodyPr/>
                    <a:lstStyle/>
                    <a:p>
                      <a:pPr algn="l" fontAlgn="t"/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Female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134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443,981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79,626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24028456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49D22E5-027A-4694-B31C-B6C3BB0A3AA7}"/>
                  </a:ext>
                </a:extLst>
              </p:cNvPr>
              <p:cNvSpPr txBox="1"/>
              <p:nvPr/>
            </p:nvSpPr>
            <p:spPr>
              <a:xfrm>
                <a:off x="7922871" y="1275055"/>
                <a:ext cx="3815019" cy="1117998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2400" i="1" dirty="0">
                    <a:latin typeface="Cambria Math" panose="02040503050406030204" pitchFamily="18" charset="0"/>
                  </a:rPr>
                  <a:t>Test for Equality of Variances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N" sz="24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sSub>
                            <m:sSubPr>
                              <m:ctrlPr>
                                <a:rPr lang="en-IN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: </m:t>
                          </m:r>
                          <m:r>
                            <a:rPr lang="en-IN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sz="24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N" sz="2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sSub>
                            <m:sSubPr>
                              <m:ctrlPr>
                                <a:rPr lang="en-I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: </m:t>
                          </m:r>
                          <m:r>
                            <a:rPr lang="en-I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</m:t>
                      </m:r>
                      <m:sSubSup>
                        <m:sSub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49D22E5-027A-4694-B31C-B6C3BB0A3A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2871" y="1275055"/>
                <a:ext cx="3815019" cy="1117998"/>
              </a:xfrm>
              <a:prstGeom prst="rect">
                <a:avLst/>
              </a:prstGeom>
              <a:blipFill>
                <a:blip r:embed="rId2"/>
                <a:stretch>
                  <a:fillRect l="-4777" t="-7527" r="-3344" b="-4301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85FEA274-3808-458B-8079-E3B86163F002}"/>
              </a:ext>
            </a:extLst>
          </p:cNvPr>
          <p:cNvSpPr txBox="1"/>
          <p:nvPr/>
        </p:nvSpPr>
        <p:spPr>
          <a:xfrm>
            <a:off x="7922872" y="2579537"/>
            <a:ext cx="3815018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F = 191,287</a:t>
            </a:r>
            <a:r>
              <a:rPr lang="en-US" baseline="52000" dirty="0"/>
              <a:t>2</a:t>
            </a:r>
            <a:r>
              <a:rPr lang="en-US" dirty="0"/>
              <a:t>/79626</a:t>
            </a:r>
            <a:r>
              <a:rPr lang="en-US" baseline="52000" dirty="0"/>
              <a:t>2</a:t>
            </a:r>
            <a:r>
              <a:rPr lang="en-US" dirty="0"/>
              <a:t> = 5.77</a:t>
            </a:r>
          </a:p>
          <a:p>
            <a:r>
              <a:rPr lang="en-US" dirty="0"/>
              <a:t>p-Value = 0.0000 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A2D329E-00B6-4554-A69D-4DCF28B6411F}"/>
                  </a:ext>
                </a:extLst>
              </p:cNvPr>
              <p:cNvSpPr txBox="1"/>
              <p:nvPr/>
            </p:nvSpPr>
            <p:spPr>
              <a:xfrm>
                <a:off x="4054258" y="4146252"/>
                <a:ext cx="2657074" cy="1140953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𝑆𝐸</m:t>
                          </m:r>
                        </m:e>
                        <m:sub>
                          <m:d>
                            <m:dPr>
                              <m:ctrlPr>
                                <a:rPr lang="en-IN" sz="24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IN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n-IN" sz="24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IN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n-IN" sz="24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=24530</m:t>
                      </m:r>
                    </m:oMath>
                  </m:oMathPara>
                </a14:m>
                <a:endParaRPr lang="en-US" sz="2400" b="0" dirty="0"/>
              </a:p>
              <a:p>
                <a:r>
                  <a:rPr lang="en-IN" sz="2400" dirty="0"/>
                  <a:t> t=4.125</a:t>
                </a:r>
              </a:p>
              <a:p>
                <a:r>
                  <a:rPr lang="en-IN" sz="2400" dirty="0"/>
                  <a:t> p-Value = 0.0000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A2D329E-00B6-4554-A69D-4DCF28B641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4258" y="4146252"/>
                <a:ext cx="2657074" cy="1140953"/>
              </a:xfrm>
              <a:prstGeom prst="rect">
                <a:avLst/>
              </a:prstGeom>
              <a:blipFill>
                <a:blip r:embed="rId3"/>
                <a:stretch>
                  <a:fillRect l="-3425" r="-2740" b="-14815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B9BEBDBB-D0C3-41D4-9A74-B2C4AF855B49}"/>
              </a:ext>
            </a:extLst>
          </p:cNvPr>
          <p:cNvSpPr txBox="1"/>
          <p:nvPr/>
        </p:nvSpPr>
        <p:spPr>
          <a:xfrm>
            <a:off x="1488033" y="3675914"/>
            <a:ext cx="53440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Test for Equality of means</a:t>
            </a:r>
            <a:endParaRPr lang="en-IN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CF4262F-1502-4CA9-BF8C-4A2785CE83A2}"/>
                  </a:ext>
                </a:extLst>
              </p:cNvPr>
              <p:cNvSpPr txBox="1"/>
              <p:nvPr/>
            </p:nvSpPr>
            <p:spPr>
              <a:xfrm>
                <a:off x="1328376" y="4146252"/>
                <a:ext cx="2489336" cy="1015663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 : 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4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sz="2400">
                          <a:latin typeface="Cambria Math" panose="02040503050406030204" pitchFamily="18" charset="0"/>
                        </a:rPr>
                        <m:t> :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400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CF4262F-1502-4CA9-BF8C-4A2785CE83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8376" y="4146252"/>
                <a:ext cx="2489336" cy="101566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3C23CB1D-42F5-4E3E-BF8C-762A4D1ABF51}"/>
              </a:ext>
            </a:extLst>
          </p:cNvPr>
          <p:cNvSpPr txBox="1"/>
          <p:nvPr/>
        </p:nvSpPr>
        <p:spPr>
          <a:xfrm>
            <a:off x="2026868" y="5907864"/>
            <a:ext cx="32518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Conclusion?</a:t>
            </a:r>
            <a:endParaRPr lang="en-IN" sz="2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D3B368C-29AD-4B86-AE19-721FC66082E6}"/>
              </a:ext>
            </a:extLst>
          </p:cNvPr>
          <p:cNvSpPr txBox="1"/>
          <p:nvPr/>
        </p:nvSpPr>
        <p:spPr>
          <a:xfrm>
            <a:off x="7286171" y="3802743"/>
            <a:ext cx="45987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Assume Equality of Variances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C507ECA-E444-4857-AEBD-A8A2DF747BD9}"/>
                  </a:ext>
                </a:extLst>
              </p:cNvPr>
              <p:cNvSpPr txBox="1"/>
              <p:nvPr/>
            </p:nvSpPr>
            <p:spPr>
              <a:xfrm>
                <a:off x="8234587" y="4635558"/>
                <a:ext cx="2701958" cy="1140953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𝑆𝐸</m:t>
                          </m:r>
                        </m:e>
                        <m:sub>
                          <m:d>
                            <m:dPr>
                              <m:ctrlPr>
                                <a:rPr lang="en-IN" sz="24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IN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n-IN" sz="24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IN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n-IN" sz="24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=19,182</m:t>
                      </m:r>
                    </m:oMath>
                  </m:oMathPara>
                </a14:m>
                <a:endParaRPr lang="en-US" sz="2400" b="0" dirty="0"/>
              </a:p>
              <a:p>
                <a:r>
                  <a:rPr lang="en-IN" sz="2400" dirty="0"/>
                  <a:t> t=5.275</a:t>
                </a:r>
              </a:p>
              <a:p>
                <a:r>
                  <a:rPr lang="en-IN" sz="2400" dirty="0"/>
                  <a:t> p-Value = 0.0000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C507ECA-E444-4857-AEBD-A8A2DF747B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4587" y="4635558"/>
                <a:ext cx="2701958" cy="1140953"/>
              </a:xfrm>
              <a:prstGeom prst="rect">
                <a:avLst/>
              </a:prstGeom>
              <a:blipFill>
                <a:blip r:embed="rId5"/>
                <a:stretch>
                  <a:fillRect l="-3596" r="-899" b="-14211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015096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/>
      <p:bldP spid="9" grpId="0" animBg="1"/>
      <p:bldP spid="10" grpId="0"/>
      <p:bldP spid="11" grpId="0"/>
      <p:bldP spid="1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14DAEA-EB44-46A3-9BC9-79CA49EF37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ANOVA</a:t>
            </a:r>
            <a:endParaRPr lang="en-IN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0D43ACEB-E569-4AFA-AD8A-D8A9B15DE50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95574253"/>
              </p:ext>
            </p:extLst>
          </p:nvPr>
        </p:nvGraphicFramePr>
        <p:xfrm>
          <a:off x="1046921" y="2531165"/>
          <a:ext cx="10919791" cy="24218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5360">
                  <a:extLst>
                    <a:ext uri="{9D8B030D-6E8A-4147-A177-3AD203B41FA5}">
                      <a16:colId xmlns:a16="http://schemas.microsoft.com/office/drawing/2014/main" val="2394799536"/>
                    </a:ext>
                  </a:extLst>
                </a:gridCol>
                <a:gridCol w="2519545">
                  <a:extLst>
                    <a:ext uri="{9D8B030D-6E8A-4147-A177-3AD203B41FA5}">
                      <a16:colId xmlns:a16="http://schemas.microsoft.com/office/drawing/2014/main" val="3418081589"/>
                    </a:ext>
                  </a:extLst>
                </a:gridCol>
                <a:gridCol w="1002400">
                  <a:extLst>
                    <a:ext uri="{9D8B030D-6E8A-4147-A177-3AD203B41FA5}">
                      <a16:colId xmlns:a16="http://schemas.microsoft.com/office/drawing/2014/main" val="2649658580"/>
                    </a:ext>
                  </a:extLst>
                </a:gridCol>
                <a:gridCol w="2207988">
                  <a:extLst>
                    <a:ext uri="{9D8B030D-6E8A-4147-A177-3AD203B41FA5}">
                      <a16:colId xmlns:a16="http://schemas.microsoft.com/office/drawing/2014/main" val="3212441891"/>
                    </a:ext>
                  </a:extLst>
                </a:gridCol>
                <a:gridCol w="1435869">
                  <a:extLst>
                    <a:ext uri="{9D8B030D-6E8A-4147-A177-3AD203B41FA5}">
                      <a16:colId xmlns:a16="http://schemas.microsoft.com/office/drawing/2014/main" val="2762098043"/>
                    </a:ext>
                  </a:extLst>
                </a:gridCol>
                <a:gridCol w="1288629">
                  <a:extLst>
                    <a:ext uri="{9D8B030D-6E8A-4147-A177-3AD203B41FA5}">
                      <a16:colId xmlns:a16="http://schemas.microsoft.com/office/drawing/2014/main" val="3261296833"/>
                    </a:ext>
                  </a:extLst>
                </a:gridCol>
              </a:tblGrid>
              <a:tr h="605459">
                <a:tc>
                  <a:txBody>
                    <a:bodyPr/>
                    <a:lstStyle/>
                    <a:p>
                      <a:pPr algn="l" fontAlgn="b"/>
                      <a:r>
                        <a:rPr lang="en-IN" sz="24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Sum of Squares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df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Mean Square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F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Sig.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174035052"/>
                  </a:ext>
                </a:extLst>
              </a:tr>
              <a:tr h="605459">
                <a:tc>
                  <a:txBody>
                    <a:bodyPr/>
                    <a:lstStyle/>
                    <a:p>
                      <a:pPr algn="l" fontAlgn="t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Between Groups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4.5267E+11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4.5267E+11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27.8206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0.0000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91412563"/>
                  </a:ext>
                </a:extLst>
              </a:tr>
              <a:tr h="605459">
                <a:tc>
                  <a:txBody>
                    <a:bodyPr/>
                    <a:lstStyle/>
                    <a:p>
                      <a:pPr algn="l" fontAlgn="t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Within Groups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3.2217E+12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198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1.6271E+10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818590006"/>
                  </a:ext>
                </a:extLst>
              </a:tr>
              <a:tr h="605459">
                <a:tc>
                  <a:txBody>
                    <a:bodyPr/>
                    <a:lstStyle/>
                    <a:p>
                      <a:pPr algn="l" fontAlgn="t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Total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3.6743E+12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199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8722178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99862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Title 1"/>
          <p:cNvSpPr>
            <a:spLocks noGrp="1"/>
          </p:cNvSpPr>
          <p:nvPr>
            <p:ph type="title"/>
          </p:nvPr>
        </p:nvSpPr>
        <p:spPr>
          <a:xfrm>
            <a:off x="1676400" y="0"/>
            <a:ext cx="8839200" cy="838200"/>
          </a:xfrm>
        </p:spPr>
        <p:txBody>
          <a:bodyPr/>
          <a:lstStyle/>
          <a:p>
            <a:r>
              <a:rPr lang="en-US" altLang="en-US">
                <a:ea typeface="ＭＳ Ｐゴシック" charset="-128"/>
              </a:rPr>
              <a:t>Categorical Predictor Variables</a:t>
            </a:r>
          </a:p>
        </p:txBody>
      </p:sp>
      <p:sp>
        <p:nvSpPr>
          <p:cNvPr id="24578" name="Content Placeholder 2"/>
          <p:cNvSpPr>
            <a:spLocks noGrp="1"/>
          </p:cNvSpPr>
          <p:nvPr>
            <p:ph idx="1"/>
          </p:nvPr>
        </p:nvSpPr>
        <p:spPr>
          <a:xfrm>
            <a:off x="2034862" y="1499537"/>
            <a:ext cx="9793868" cy="5001296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en-US" sz="2000" dirty="0">
                <a:ea typeface="ＭＳ Ｐゴシック" charset="-128"/>
              </a:rPr>
              <a:t>Gender is </a:t>
            </a:r>
            <a:r>
              <a:rPr lang="en-US" altLang="en-US" sz="2000" dirty="0">
                <a:solidFill>
                  <a:srgbClr val="0000FF"/>
                </a:solidFill>
                <a:ea typeface="ＭＳ Ｐゴシック" charset="-128"/>
              </a:rPr>
              <a:t>categorical </a:t>
            </a:r>
            <a:r>
              <a:rPr lang="en-US" altLang="en-US" sz="2000" dirty="0">
                <a:ea typeface="ＭＳ Ｐゴシック" charset="-128"/>
              </a:rPr>
              <a:t>(nominal, qualitative) and not quantitative (numerical) variable, which we have been using until now</a:t>
            </a:r>
          </a:p>
          <a:p>
            <a:pPr>
              <a:lnSpc>
                <a:spcPct val="90000"/>
              </a:lnSpc>
            </a:pPr>
            <a:r>
              <a:rPr lang="en-US" altLang="en-US" sz="2000" dirty="0">
                <a:ea typeface="ＭＳ Ｐゴシック" charset="-128"/>
              </a:rPr>
              <a:t>We can use </a:t>
            </a:r>
            <a:r>
              <a:rPr lang="en-US" altLang="en-US" sz="2000" dirty="0">
                <a:solidFill>
                  <a:srgbClr val="0000FF"/>
                </a:solidFill>
                <a:ea typeface="ＭＳ Ｐゴシック" charset="-128"/>
              </a:rPr>
              <a:t>dummy</a:t>
            </a:r>
            <a:r>
              <a:rPr lang="en-US" altLang="en-US" sz="2000" dirty="0">
                <a:ea typeface="ＭＳ Ｐゴシック" charset="-128"/>
              </a:rPr>
              <a:t> (or binary) variables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>
                <a:ea typeface="ＭＳ Ｐゴシック" charset="-128"/>
              </a:rPr>
              <a:t>Can take one of only two values, typically coded as 0 and 1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>
                <a:ea typeface="ＭＳ Ｐゴシック" charset="-128"/>
              </a:rPr>
              <a:t>If there are more than two categories, we use multiple dummies</a:t>
            </a:r>
          </a:p>
          <a:p>
            <a:r>
              <a:rPr lang="en-US" altLang="en-US" sz="2000" dirty="0">
                <a:ea typeface="ＭＳ Ｐゴシック" charset="-128"/>
              </a:rPr>
              <a:t>Consider the model: </a:t>
            </a:r>
            <a:r>
              <a:rPr lang="en-US" altLang="en-US" sz="2000" dirty="0">
                <a:solidFill>
                  <a:srgbClr val="0000FF"/>
                </a:solidFill>
                <a:ea typeface="ＭＳ Ｐゴシック" charset="-128"/>
              </a:rPr>
              <a:t>Salary = </a:t>
            </a:r>
            <a:r>
              <a:rPr lang="el-GR" altLang="en-US" sz="2000" dirty="0">
                <a:solidFill>
                  <a:srgbClr val="0000FF"/>
                </a:solidFill>
                <a:ea typeface="ＭＳ Ｐゴシック" charset="-128"/>
              </a:rPr>
              <a:t>β</a:t>
            </a:r>
            <a:r>
              <a:rPr lang="en-US" altLang="en-US" sz="2000" baseline="-25000" dirty="0">
                <a:solidFill>
                  <a:srgbClr val="0000FF"/>
                </a:solidFill>
                <a:ea typeface="ＭＳ Ｐゴシック" charset="-128"/>
              </a:rPr>
              <a:t>0</a:t>
            </a:r>
            <a:r>
              <a:rPr lang="en-US" altLang="en-US" sz="2000" dirty="0">
                <a:solidFill>
                  <a:srgbClr val="0000FF"/>
                </a:solidFill>
                <a:ea typeface="ＭＳ Ｐゴシック" charset="-128"/>
              </a:rPr>
              <a:t> + </a:t>
            </a:r>
            <a:r>
              <a:rPr lang="el-GR" altLang="en-US" sz="2000" dirty="0">
                <a:solidFill>
                  <a:srgbClr val="0000FF"/>
                </a:solidFill>
                <a:ea typeface="ＭＳ Ｐゴシック" charset="-128"/>
              </a:rPr>
              <a:t>β</a:t>
            </a:r>
            <a:r>
              <a:rPr lang="en-US" altLang="en-US" sz="2000" baseline="-25000" dirty="0">
                <a:solidFill>
                  <a:srgbClr val="0000FF"/>
                </a:solidFill>
                <a:ea typeface="ＭＳ Ｐゴシック" charset="-128"/>
              </a:rPr>
              <a:t>1 </a:t>
            </a:r>
            <a:r>
              <a:rPr lang="en-US" altLang="en-US" sz="2000" dirty="0">
                <a:solidFill>
                  <a:srgbClr val="0000FF"/>
                </a:solidFill>
                <a:ea typeface="ＭＳ Ｐゴシック" charset="-128"/>
              </a:rPr>
              <a:t>Female + </a:t>
            </a:r>
            <a:r>
              <a:rPr lang="el-GR" altLang="en-US" sz="2000" dirty="0">
                <a:solidFill>
                  <a:srgbClr val="0000FF"/>
                </a:solidFill>
                <a:ea typeface="ＭＳ Ｐゴシック" charset="-128"/>
              </a:rPr>
              <a:t>ε</a:t>
            </a:r>
            <a:endParaRPr lang="en-US" altLang="en-US" sz="2000" dirty="0">
              <a:solidFill>
                <a:srgbClr val="0000FF"/>
              </a:solidFill>
              <a:ea typeface="ＭＳ Ｐゴシック" charset="-128"/>
            </a:endParaRPr>
          </a:p>
          <a:p>
            <a:pPr lvl="1">
              <a:spcBef>
                <a:spcPts val="600"/>
              </a:spcBef>
            </a:pPr>
            <a:r>
              <a:rPr lang="en-US" altLang="en-US" sz="2000" dirty="0">
                <a:ea typeface="ＭＳ Ｐゴシック" charset="-128"/>
              </a:rPr>
              <a:t>Female = 1 for Women employees, Female= 0 for Male employees</a:t>
            </a:r>
          </a:p>
          <a:p>
            <a:pPr>
              <a:spcBef>
                <a:spcPts val="600"/>
              </a:spcBef>
            </a:pPr>
            <a:r>
              <a:rPr lang="en-US" altLang="en-US" sz="2000" dirty="0">
                <a:ea typeface="ＭＳ Ｐゴシック" charset="-128"/>
              </a:rPr>
              <a:t>For two categories, we create one dummy variable</a:t>
            </a:r>
          </a:p>
          <a:p>
            <a:pPr>
              <a:lnSpc>
                <a:spcPct val="90000"/>
              </a:lnSpc>
            </a:pPr>
            <a:r>
              <a:rPr lang="en-US" altLang="en-US" sz="2000" dirty="0">
                <a:ea typeface="ＭＳ Ｐゴシック" charset="-128"/>
              </a:rPr>
              <a:t>Other examples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>
                <a:ea typeface="ＭＳ Ｐゴシック" charset="-128"/>
              </a:rPr>
              <a:t>Seasonality (month effects) in sales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>
                <a:ea typeface="ＭＳ Ｐゴシック" charset="-128"/>
              </a:rPr>
              <a:t>Industry sector effects in stock returns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>
                <a:ea typeface="ＭＳ Ｐゴシック" charset="-128"/>
              </a:rPr>
              <a:t>Doctor effects in quality of care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>
                <a:ea typeface="ＭＳ Ｐゴシック" charset="-128"/>
              </a:rPr>
              <a:t>Before and after liberalization </a:t>
            </a:r>
          </a:p>
        </p:txBody>
      </p:sp>
      <p:sp>
        <p:nvSpPr>
          <p:cNvPr id="24579" name="Slide Number Placeholder 5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786E877D-52A5-0445-A90F-AA579E721FAA}" type="slidenum">
              <a:rPr lang="en-US" altLang="en-US" sz="1200">
                <a:solidFill>
                  <a:schemeClr val="bg1"/>
                </a:solidFill>
                <a:latin typeface="Calibri" charset="0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9</a:t>
            </a:fld>
            <a:endParaRPr lang="en-US" altLang="en-US" sz="1200" dirty="0">
              <a:solidFill>
                <a:schemeClr val="bg1"/>
              </a:solidFill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02661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8466C0-834A-4A78-8D67-D3FD03F231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4336" y="209773"/>
            <a:ext cx="8911687" cy="1280890"/>
          </a:xfrm>
        </p:spPr>
        <p:txBody>
          <a:bodyPr/>
          <a:lstStyle/>
          <a:p>
            <a:r>
              <a:rPr lang="en-US" dirty="0"/>
              <a:t>Regression with a Dummy Variable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E9EEF5A-9405-4527-9813-7213919A1540}"/>
              </a:ext>
            </a:extLst>
          </p:cNvPr>
          <p:cNvSpPr txBox="1"/>
          <p:nvPr/>
        </p:nvSpPr>
        <p:spPr>
          <a:xfrm>
            <a:off x="3621753" y="3106705"/>
            <a:ext cx="57844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Salary = 545,158 -101,177 Female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FDD8A56-AD1B-42FB-8545-3CAF4125F5FE}"/>
              </a:ext>
            </a:extLst>
          </p:cNvPr>
          <p:cNvSpPr txBox="1">
            <a:spLocks/>
          </p:cNvSpPr>
          <p:nvPr/>
        </p:nvSpPr>
        <p:spPr>
          <a:xfrm>
            <a:off x="2076449" y="6141536"/>
            <a:ext cx="8839200" cy="381000"/>
          </a:xfrm>
          <a:prstGeom prst="rect">
            <a:avLst/>
          </a:prstGeom>
        </p:spPr>
        <p:txBody>
          <a:bodyPr anchor="ctr"/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Font typeface="Arial" charset="0"/>
              <a:buNone/>
            </a:pPr>
            <a:r>
              <a:rPr lang="en-US" altLang="en-US" dirty="0">
                <a:ea typeface="ＭＳ Ｐゴシック" charset="-128"/>
              </a:rPr>
              <a:t>How do we interpret the coefficients? Is there evidence for discrimination?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3FE106D-515C-4201-9A48-E719DD0B35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3935" y="1487270"/>
            <a:ext cx="5568786" cy="136003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AE10A6C-3007-4D96-BF76-0FD4DA9672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5212" y="3827772"/>
            <a:ext cx="5667088" cy="192959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0671500-9250-489F-A089-E258AA915C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9576" y="3889138"/>
            <a:ext cx="4355636" cy="1931629"/>
          </a:xfrm>
          <a:prstGeom prst="rect">
            <a:avLst/>
          </a:prstGeom>
        </p:spPr>
      </p:pic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7793B7F3-C615-4E32-ADEE-C5C00645A3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0686114"/>
              </p:ext>
            </p:extLst>
          </p:nvPr>
        </p:nvGraphicFramePr>
        <p:xfrm>
          <a:off x="7375526" y="1546697"/>
          <a:ext cx="4247356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1275">
                  <a:extLst>
                    <a:ext uri="{9D8B030D-6E8A-4147-A177-3AD203B41FA5}">
                      <a16:colId xmlns:a16="http://schemas.microsoft.com/office/drawing/2014/main" val="696331492"/>
                    </a:ext>
                  </a:extLst>
                </a:gridCol>
                <a:gridCol w="1228725">
                  <a:extLst>
                    <a:ext uri="{9D8B030D-6E8A-4147-A177-3AD203B41FA5}">
                      <a16:colId xmlns:a16="http://schemas.microsoft.com/office/drawing/2014/main" val="3583322614"/>
                    </a:ext>
                  </a:extLst>
                </a:gridCol>
                <a:gridCol w="1707356">
                  <a:extLst>
                    <a:ext uri="{9D8B030D-6E8A-4147-A177-3AD203B41FA5}">
                      <a16:colId xmlns:a16="http://schemas.microsoft.com/office/drawing/2014/main" val="622931701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ctr"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FFFF00"/>
                          </a:solidFill>
                          <a:effectLst/>
                          <a:latin typeface="Arial" panose="020B0604020202020204" pitchFamily="34" charset="0"/>
                        </a:rPr>
                        <a:t>Mean</a:t>
                      </a:r>
                    </a:p>
                  </a:txBody>
                  <a:tcPr marL="6350" marR="6350" marT="635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661241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Male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Female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3269367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Salary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545,158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443,981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6924227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135791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Title 1"/>
          <p:cNvSpPr>
            <a:spLocks noGrp="1"/>
          </p:cNvSpPr>
          <p:nvPr>
            <p:ph type="title"/>
          </p:nvPr>
        </p:nvSpPr>
        <p:spPr>
          <a:xfrm>
            <a:off x="2056846" y="222558"/>
            <a:ext cx="9389269" cy="838200"/>
          </a:xfrm>
        </p:spPr>
        <p:txBody>
          <a:bodyPr>
            <a:normAutofit/>
          </a:bodyPr>
          <a:lstStyle/>
          <a:p>
            <a:r>
              <a:rPr lang="en-US" altLang="en-US" dirty="0">
                <a:solidFill>
                  <a:srgbClr val="FF0000"/>
                </a:solidFill>
                <a:ea typeface="ＭＳ Ｐゴシック" charset="-128"/>
              </a:rPr>
              <a:t>Controlling for Years of Experience</a:t>
            </a:r>
          </a:p>
        </p:txBody>
      </p:sp>
      <p:sp>
        <p:nvSpPr>
          <p:cNvPr id="25602" name="Content Placeholder 2"/>
          <p:cNvSpPr>
            <a:spLocks noGrp="1"/>
          </p:cNvSpPr>
          <p:nvPr>
            <p:ph idx="1"/>
          </p:nvPr>
        </p:nvSpPr>
        <p:spPr>
          <a:xfrm>
            <a:off x="1676400" y="6315635"/>
            <a:ext cx="8839200" cy="381000"/>
          </a:xfrm>
        </p:spPr>
        <p:txBody>
          <a:bodyPr anchor="ctr"/>
          <a:lstStyle/>
          <a:p>
            <a:pPr algn="ctr">
              <a:buFont typeface="Arial" charset="0"/>
              <a:buNone/>
            </a:pPr>
            <a:r>
              <a:rPr lang="en-US" altLang="en-US" dirty="0">
                <a:ea typeface="ＭＳ Ｐゴシック" charset="-128"/>
              </a:rPr>
              <a:t>How do we interpret the coefficients? Is there evidence for discrimination? </a:t>
            </a:r>
          </a:p>
        </p:txBody>
      </p:sp>
      <p:sp>
        <p:nvSpPr>
          <p:cNvPr id="25603" name="Text Box 6"/>
          <p:cNvSpPr txBox="1">
            <a:spLocks noChangeArrowheads="1"/>
          </p:cNvSpPr>
          <p:nvPr/>
        </p:nvSpPr>
        <p:spPr bwMode="auto">
          <a:xfrm>
            <a:off x="2401723" y="3375947"/>
            <a:ext cx="738855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dirty="0">
                <a:solidFill>
                  <a:srgbClr val="0000FF"/>
                </a:solidFill>
                <a:latin typeface="Calibri" charset="0"/>
              </a:rPr>
              <a:t>Salary = 440,769.58 – 96,986.77 Female +11,757 </a:t>
            </a:r>
            <a:r>
              <a:rPr lang="en-US" altLang="en-US" dirty="0" err="1">
                <a:solidFill>
                  <a:srgbClr val="0000FF"/>
                </a:solidFill>
                <a:latin typeface="Calibri" charset="0"/>
              </a:rPr>
              <a:t>Exp</a:t>
            </a:r>
            <a:endParaRPr lang="en-US" altLang="en-US" dirty="0">
              <a:solidFill>
                <a:srgbClr val="0000FF"/>
              </a:solidFill>
              <a:latin typeface="Calibri" charset="0"/>
            </a:endParaRPr>
          </a:p>
        </p:txBody>
      </p:sp>
      <p:sp>
        <p:nvSpPr>
          <p:cNvPr id="25604" name="Slide Number Placeholder 5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63170070-DA6A-2D4B-87D6-658649C7018F}" type="slidenum">
              <a:rPr lang="en-US" altLang="en-US" sz="1200">
                <a:solidFill>
                  <a:schemeClr val="bg1"/>
                </a:solidFill>
                <a:latin typeface="Calibri" charset="0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11</a:t>
            </a:fld>
            <a:endParaRPr lang="en-US" altLang="en-US" sz="1200">
              <a:solidFill>
                <a:schemeClr val="bg1"/>
              </a:solidFill>
              <a:latin typeface="Calibri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8D729AA-B86D-4137-9DDD-58D451BFBB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6649" y="3977541"/>
            <a:ext cx="4014453" cy="178032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CE5944D-9F34-4F65-88B3-EBC3F3E4D4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4736" y="3976182"/>
            <a:ext cx="5589353" cy="190312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4344B1F-0C4C-48B1-B66C-E565381A06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47624" y="1322519"/>
            <a:ext cx="7753926" cy="172524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F3C1C84-57A3-48EB-BAEF-2A01FD9A5896}"/>
              </a:ext>
            </a:extLst>
          </p:cNvPr>
          <p:cNvSpPr txBox="1"/>
          <p:nvPr/>
        </p:nvSpPr>
        <p:spPr>
          <a:xfrm>
            <a:off x="10361612" y="674914"/>
            <a:ext cx="1645331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Launch Poll 1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218249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2" grpId="0" build="p"/>
      <p:bldP spid="25603" grpId="0"/>
      <p:bldP spid="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Title 1"/>
          <p:cNvSpPr>
            <a:spLocks noGrp="1"/>
          </p:cNvSpPr>
          <p:nvPr>
            <p:ph type="title"/>
          </p:nvPr>
        </p:nvSpPr>
        <p:spPr>
          <a:xfrm>
            <a:off x="1633780" y="218941"/>
            <a:ext cx="9515341" cy="838200"/>
          </a:xfrm>
        </p:spPr>
        <p:txBody>
          <a:bodyPr>
            <a:normAutofit fontScale="90000"/>
          </a:bodyPr>
          <a:lstStyle/>
          <a:p>
            <a:r>
              <a:rPr lang="en-US" altLang="en-US" dirty="0">
                <a:ea typeface="ＭＳ Ｐゴシック" charset="-128"/>
              </a:rPr>
              <a:t>Interaction Between Experience and Gender</a:t>
            </a:r>
          </a:p>
        </p:txBody>
      </p:sp>
      <p:sp>
        <p:nvSpPr>
          <p:cNvPr id="15363" name="Content Placeholder 2"/>
          <p:cNvSpPr>
            <a:spLocks noGrp="1"/>
          </p:cNvSpPr>
          <p:nvPr>
            <p:ph idx="1"/>
          </p:nvPr>
        </p:nvSpPr>
        <p:spPr>
          <a:xfrm>
            <a:off x="1275008" y="1519707"/>
            <a:ext cx="10232887" cy="4981126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en-US" sz="2400" dirty="0">
                <a:ea typeface="ＭＳ Ｐゴシック" charset="-128"/>
              </a:rPr>
              <a:t>Shifting the Slope</a:t>
            </a:r>
          </a:p>
          <a:p>
            <a:pPr>
              <a:lnSpc>
                <a:spcPct val="90000"/>
              </a:lnSpc>
            </a:pPr>
            <a:r>
              <a:rPr lang="en-US" altLang="en-US" sz="2400" dirty="0">
                <a:ea typeface="ＭＳ Ｐゴシック" charset="-128"/>
              </a:rPr>
              <a:t>Does salary increase at different rates with experience for males and females?</a:t>
            </a:r>
          </a:p>
          <a:p>
            <a:pPr>
              <a:lnSpc>
                <a:spcPct val="90000"/>
              </a:lnSpc>
            </a:pPr>
            <a:r>
              <a:rPr lang="en-US" altLang="en-US" sz="2400" dirty="0">
                <a:ea typeface="ＭＳ Ｐゴシック" charset="-128"/>
              </a:rPr>
              <a:t>Create a new variable Female*Exp as the product of the Female and Experience columns </a:t>
            </a:r>
          </a:p>
          <a:p>
            <a:pPr>
              <a:lnSpc>
                <a:spcPct val="90000"/>
              </a:lnSpc>
            </a:pPr>
            <a:r>
              <a:rPr lang="en-US" altLang="en-US" sz="2400" dirty="0">
                <a:ea typeface="ＭＳ Ｐゴシック" charset="-128"/>
              </a:rPr>
              <a:t>This variable which is a product of two predictor variables, is called an </a:t>
            </a:r>
            <a:r>
              <a:rPr lang="en-US" altLang="en-US" sz="2400" dirty="0">
                <a:solidFill>
                  <a:srgbClr val="0000FF"/>
                </a:solidFill>
                <a:ea typeface="ＭＳ Ｐゴシック" charset="-128"/>
              </a:rPr>
              <a:t>interaction term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>
                <a:ea typeface="ＭＳ Ｐゴシック" charset="-128"/>
              </a:rPr>
              <a:t>Female*Exp = Experience for female employees 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>
                <a:ea typeface="ＭＳ Ｐゴシック" charset="-128"/>
              </a:rPr>
              <a:t>Female*Exp = 0 for male employees</a:t>
            </a:r>
          </a:p>
          <a:p>
            <a:pPr>
              <a:lnSpc>
                <a:spcPct val="90000"/>
              </a:lnSpc>
            </a:pPr>
            <a:r>
              <a:rPr lang="en-US" altLang="en-US" sz="2400" dirty="0">
                <a:ea typeface="ＭＳ Ｐゴシック" charset="-128"/>
              </a:rPr>
              <a:t>Consider the model: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en-US" sz="2400" dirty="0">
                <a:solidFill>
                  <a:srgbClr val="0000FF"/>
                </a:solidFill>
                <a:ea typeface="ＭＳ Ｐゴシック" charset="-128"/>
              </a:rPr>
              <a:t>	Salary = β</a:t>
            </a:r>
            <a:r>
              <a:rPr lang="en-US" altLang="en-US" sz="2400" baseline="-25000" dirty="0">
                <a:solidFill>
                  <a:srgbClr val="0000FF"/>
                </a:solidFill>
                <a:ea typeface="ＭＳ Ｐゴシック" charset="-128"/>
              </a:rPr>
              <a:t>0</a:t>
            </a:r>
            <a:r>
              <a:rPr lang="en-US" altLang="en-US" sz="2400" dirty="0">
                <a:solidFill>
                  <a:srgbClr val="0000FF"/>
                </a:solidFill>
                <a:ea typeface="ＭＳ Ｐゴシック" charset="-128"/>
              </a:rPr>
              <a:t> + β</a:t>
            </a:r>
            <a:r>
              <a:rPr lang="en-US" altLang="en-US" sz="2400" baseline="-25000" dirty="0">
                <a:solidFill>
                  <a:srgbClr val="0000FF"/>
                </a:solidFill>
                <a:ea typeface="ＭＳ Ｐゴシック" charset="-128"/>
              </a:rPr>
              <a:t>1</a:t>
            </a:r>
            <a:r>
              <a:rPr lang="en-US" altLang="en-US" sz="2400" dirty="0">
                <a:solidFill>
                  <a:srgbClr val="0000FF"/>
                </a:solidFill>
                <a:ea typeface="ＭＳ Ｐゴシック" charset="-128"/>
              </a:rPr>
              <a:t>Female + β</a:t>
            </a:r>
            <a:r>
              <a:rPr lang="en-US" altLang="en-US" sz="2400" baseline="-25000" dirty="0">
                <a:solidFill>
                  <a:srgbClr val="0000FF"/>
                </a:solidFill>
                <a:ea typeface="ＭＳ Ｐゴシック" charset="-128"/>
              </a:rPr>
              <a:t>2</a:t>
            </a:r>
            <a:r>
              <a:rPr lang="en-US" altLang="en-US" sz="2400" dirty="0">
                <a:solidFill>
                  <a:srgbClr val="0000FF"/>
                </a:solidFill>
                <a:ea typeface="ＭＳ Ｐゴシック" charset="-128"/>
              </a:rPr>
              <a:t>Exp + β</a:t>
            </a:r>
            <a:r>
              <a:rPr lang="en-US" altLang="en-US" sz="2400" baseline="-25000" dirty="0">
                <a:solidFill>
                  <a:srgbClr val="0000FF"/>
                </a:solidFill>
                <a:ea typeface="ＭＳ Ｐゴシック" charset="-128"/>
              </a:rPr>
              <a:t>3</a:t>
            </a:r>
            <a:r>
              <a:rPr lang="en-US" altLang="en-US" sz="2400" dirty="0">
                <a:solidFill>
                  <a:srgbClr val="0000FF"/>
                </a:solidFill>
                <a:ea typeface="ＭＳ Ｐゴシック" charset="-128"/>
              </a:rPr>
              <a:t>Female*Exp + ε</a:t>
            </a:r>
          </a:p>
          <a:p>
            <a:pPr>
              <a:lnSpc>
                <a:spcPct val="90000"/>
              </a:lnSpc>
            </a:pPr>
            <a:endParaRPr lang="en-US" altLang="en-US" sz="2400" dirty="0">
              <a:ea typeface="ＭＳ Ｐゴシック" charset="-128"/>
            </a:endParaRPr>
          </a:p>
          <a:p>
            <a:pPr lvl="1">
              <a:lnSpc>
                <a:spcPct val="90000"/>
              </a:lnSpc>
              <a:buFont typeface="Arial" charset="0"/>
              <a:buNone/>
            </a:pPr>
            <a:r>
              <a:rPr lang="en-US" altLang="en-US" sz="2400" dirty="0">
                <a:ea typeface="ＭＳ Ｐゴシック" charset="-128"/>
              </a:rPr>
              <a:t> 	</a:t>
            </a:r>
            <a:endParaRPr lang="en-US" altLang="en-US" sz="2400" i="1" dirty="0">
              <a:latin typeface="Symbol" charset="2"/>
              <a:ea typeface="ＭＳ Ｐゴシック" charset="-128"/>
            </a:endParaRPr>
          </a:p>
        </p:txBody>
      </p:sp>
      <p:sp>
        <p:nvSpPr>
          <p:cNvPr id="29699" name="Slide Number Placeholder 5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AA10E404-8BDE-B54E-977C-8D5C783723EB}" type="slidenum">
              <a:rPr lang="en-US" altLang="en-US" sz="1200">
                <a:solidFill>
                  <a:schemeClr val="bg1"/>
                </a:solidFill>
                <a:latin typeface="Calibri" charset="0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12</a:t>
            </a:fld>
            <a:endParaRPr lang="en-US" altLang="en-US" sz="1200">
              <a:solidFill>
                <a:schemeClr val="bg1"/>
              </a:solidFill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54569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Title 1"/>
          <p:cNvSpPr>
            <a:spLocks noGrp="1"/>
          </p:cNvSpPr>
          <p:nvPr>
            <p:ph type="title"/>
          </p:nvPr>
        </p:nvSpPr>
        <p:spPr>
          <a:xfrm>
            <a:off x="1700213" y="221448"/>
            <a:ext cx="8839200" cy="838200"/>
          </a:xfrm>
        </p:spPr>
        <p:txBody>
          <a:bodyPr/>
          <a:lstStyle/>
          <a:p>
            <a:r>
              <a:rPr lang="en-US" altLang="en-US" dirty="0">
                <a:solidFill>
                  <a:srgbClr val="FF0000"/>
                </a:solidFill>
                <a:ea typeface="ＭＳ Ｐゴシック" charset="-128"/>
              </a:rPr>
              <a:t>Regression With Interaction Terms</a:t>
            </a:r>
          </a:p>
        </p:txBody>
      </p:sp>
      <p:sp>
        <p:nvSpPr>
          <p:cNvPr id="30722" name="Content Placeholder 2"/>
          <p:cNvSpPr>
            <a:spLocks noGrp="1"/>
          </p:cNvSpPr>
          <p:nvPr>
            <p:ph idx="1"/>
          </p:nvPr>
        </p:nvSpPr>
        <p:spPr>
          <a:xfrm>
            <a:off x="1700213" y="5991225"/>
            <a:ext cx="8832850" cy="400050"/>
          </a:xfrm>
        </p:spPr>
        <p:txBody>
          <a:bodyPr/>
          <a:lstStyle/>
          <a:p>
            <a:pPr algn="ctr">
              <a:buFont typeface="Arial" charset="0"/>
              <a:buNone/>
            </a:pPr>
            <a:r>
              <a:rPr lang="en-US" altLang="en-US" dirty="0">
                <a:ea typeface="ＭＳ Ｐゴシック" charset="-128"/>
              </a:rPr>
              <a:t>What is the interpretation of the coefficient of Female*Exp?</a:t>
            </a:r>
          </a:p>
        </p:txBody>
      </p:sp>
      <p:sp>
        <p:nvSpPr>
          <p:cNvPr id="30723" name="TextBox 3"/>
          <p:cNvSpPr txBox="1">
            <a:spLocks noChangeArrowheads="1"/>
          </p:cNvSpPr>
          <p:nvPr/>
        </p:nvSpPr>
        <p:spPr bwMode="auto">
          <a:xfrm>
            <a:off x="1606412" y="3376102"/>
            <a:ext cx="919778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en-US" sz="1800" dirty="0">
                <a:solidFill>
                  <a:srgbClr val="0000FF"/>
                </a:solidFill>
                <a:latin typeface="Calibri" charset="0"/>
              </a:rPr>
              <a:t>Salary = 383,210.17 + 34,699.71 Female + 18239.88 Experience – 15,180.72 </a:t>
            </a:r>
            <a:r>
              <a:rPr lang="en-US" altLang="en-US" sz="1800" dirty="0" err="1">
                <a:solidFill>
                  <a:srgbClr val="0000FF"/>
                </a:solidFill>
                <a:latin typeface="Calibri" charset="0"/>
              </a:rPr>
              <a:t>FemaleXExp</a:t>
            </a:r>
            <a:endParaRPr lang="en-US" altLang="en-US" sz="1800" dirty="0">
              <a:solidFill>
                <a:srgbClr val="0000FF"/>
              </a:solidFill>
              <a:latin typeface="Calibri" charset="0"/>
            </a:endParaRPr>
          </a:p>
        </p:txBody>
      </p:sp>
      <p:sp>
        <p:nvSpPr>
          <p:cNvPr id="30724" name="Slide Number Placeholder 5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9279C0C0-B938-1F46-B0ED-2BEE4E5908EB}" type="slidenum">
              <a:rPr lang="en-US" altLang="en-US" sz="1200">
                <a:solidFill>
                  <a:schemeClr val="bg1"/>
                </a:solidFill>
                <a:latin typeface="Calibri" charset="0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13</a:t>
            </a:fld>
            <a:endParaRPr lang="en-US" altLang="en-US" sz="1200">
              <a:solidFill>
                <a:schemeClr val="bg1"/>
              </a:solidFill>
              <a:latin typeface="Calibri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FFC19DE-8B78-40E1-BD66-E1ED797E69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0705" y="3932500"/>
            <a:ext cx="3473870" cy="154058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B3DF79F-E9AC-469A-AE96-1A76A13580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0588" y="4008627"/>
            <a:ext cx="4301021" cy="146445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4BFCDFA-10A8-47F6-9DD3-15E1C94C30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96499" y="1246714"/>
            <a:ext cx="7617616" cy="1980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1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2" grpId="0" build="p"/>
      <p:bldP spid="3072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Title 1"/>
          <p:cNvSpPr>
            <a:spLocks noGrp="1"/>
          </p:cNvSpPr>
          <p:nvPr>
            <p:ph type="title"/>
          </p:nvPr>
        </p:nvSpPr>
        <p:spPr>
          <a:xfrm>
            <a:off x="1676400" y="206062"/>
            <a:ext cx="8839200" cy="838200"/>
          </a:xfrm>
        </p:spPr>
        <p:txBody>
          <a:bodyPr/>
          <a:lstStyle/>
          <a:p>
            <a:r>
              <a:rPr lang="en-US" altLang="en-US" dirty="0">
                <a:ea typeface="ＭＳ Ｐゴシック" charset="-128"/>
              </a:rPr>
              <a:t>“Controlling” for Type of Degree</a:t>
            </a:r>
          </a:p>
        </p:txBody>
      </p:sp>
      <p:sp>
        <p:nvSpPr>
          <p:cNvPr id="32770" name="Content Placeholder 2"/>
          <p:cNvSpPr>
            <a:spLocks noGrp="1"/>
          </p:cNvSpPr>
          <p:nvPr>
            <p:ph idx="1"/>
          </p:nvPr>
        </p:nvSpPr>
        <p:spPr>
          <a:xfrm>
            <a:off x="1271589" y="1581104"/>
            <a:ext cx="10544174" cy="4919729"/>
          </a:xfrm>
        </p:spPr>
        <p:txBody>
          <a:bodyPr>
            <a:normAutofit fontScale="85000" lnSpcReduction="10000"/>
          </a:bodyPr>
          <a:lstStyle/>
          <a:p>
            <a:pPr marL="360000">
              <a:lnSpc>
                <a:spcPct val="120000"/>
              </a:lnSpc>
            </a:pPr>
            <a:r>
              <a:rPr lang="en-US" altLang="en-US" sz="2600" dirty="0">
                <a:ea typeface="ＭＳ Ｐゴシック" charset="-128"/>
              </a:rPr>
              <a:t>The Type of degree is also likely to have a significant effect on the salary</a:t>
            </a:r>
          </a:p>
          <a:p>
            <a:pPr marL="360000">
              <a:lnSpc>
                <a:spcPct val="120000"/>
              </a:lnSpc>
            </a:pPr>
            <a:r>
              <a:rPr lang="en-US" altLang="en-US" sz="2600" dirty="0">
                <a:ea typeface="ＭＳ Ｐゴシック" charset="-128"/>
              </a:rPr>
              <a:t>Type of Degree is a categorical variable that can take values from 1 to 5 (Arts, Commerce, Science, Technology, </a:t>
            </a:r>
            <a:r>
              <a:rPr lang="en-US" altLang="en-US" sz="2600" dirty="0" err="1">
                <a:ea typeface="ＭＳ Ｐゴシック" charset="-128"/>
              </a:rPr>
              <a:t>PostGrad</a:t>
            </a:r>
            <a:r>
              <a:rPr lang="en-US" altLang="en-US" sz="2600" dirty="0">
                <a:ea typeface="ＭＳ Ｐゴシック" charset="-128"/>
              </a:rPr>
              <a:t>)</a:t>
            </a:r>
          </a:p>
          <a:p>
            <a:pPr marL="360000">
              <a:lnSpc>
                <a:spcPct val="120000"/>
              </a:lnSpc>
            </a:pPr>
            <a:r>
              <a:rPr lang="en-US" altLang="en-US" sz="2600" dirty="0">
                <a:ea typeface="ＭＳ Ｐゴシック" charset="-128"/>
              </a:rPr>
              <a:t>To include Type of Degree in the regression, we need to create Four more dummy variables –Commerce, Science, Technology, </a:t>
            </a:r>
            <a:r>
              <a:rPr lang="en-US" altLang="en-US" sz="2600" dirty="0" err="1">
                <a:ea typeface="ＭＳ Ｐゴシック" charset="-128"/>
              </a:rPr>
              <a:t>PostGrad</a:t>
            </a:r>
            <a:r>
              <a:rPr lang="en-US" altLang="en-US" sz="2600" dirty="0">
                <a:ea typeface="ＭＳ Ｐゴシック" charset="-128"/>
              </a:rPr>
              <a:t>.</a:t>
            </a:r>
          </a:p>
          <a:p>
            <a:pPr marL="360000">
              <a:lnSpc>
                <a:spcPct val="120000"/>
              </a:lnSpc>
            </a:pPr>
            <a:r>
              <a:rPr lang="en-US" altLang="en-US" sz="2600" dirty="0">
                <a:ea typeface="ＭＳ Ｐゴシック" charset="-128"/>
              </a:rPr>
              <a:t>In general, if there are </a:t>
            </a:r>
            <a:r>
              <a:rPr lang="en-US" altLang="en-US" sz="2600" dirty="0">
                <a:solidFill>
                  <a:srgbClr val="0000FF"/>
                </a:solidFill>
                <a:ea typeface="ＭＳ Ｐゴシック" charset="-128"/>
              </a:rPr>
              <a:t>m categories </a:t>
            </a:r>
            <a:r>
              <a:rPr lang="en-US" altLang="en-US" sz="2600" dirty="0">
                <a:ea typeface="ＭＳ Ｐゴシック" charset="-128"/>
              </a:rPr>
              <a:t>for the variable, we need to create </a:t>
            </a:r>
            <a:r>
              <a:rPr lang="en-US" altLang="en-US" sz="2600" dirty="0">
                <a:solidFill>
                  <a:srgbClr val="0000FF"/>
                </a:solidFill>
                <a:ea typeface="ＭＳ Ｐゴシック" charset="-128"/>
              </a:rPr>
              <a:t>(m-1) dummy variables</a:t>
            </a:r>
            <a:r>
              <a:rPr lang="en-US" altLang="en-US" sz="2600" dirty="0">
                <a:ea typeface="ＭＳ Ｐゴシック" charset="-128"/>
              </a:rPr>
              <a:t>.</a:t>
            </a:r>
          </a:p>
          <a:p>
            <a:pPr marL="360000">
              <a:lnSpc>
                <a:spcPct val="120000"/>
              </a:lnSpc>
            </a:pPr>
            <a:r>
              <a:rPr lang="en-US" altLang="en-US" sz="2600" dirty="0">
                <a:ea typeface="ＭＳ Ｐゴシック" charset="-128"/>
              </a:rPr>
              <a:t>The one category for which dummy is not created serves as the control or reference category</a:t>
            </a:r>
          </a:p>
          <a:p>
            <a:pPr marL="360000">
              <a:lnSpc>
                <a:spcPct val="120000"/>
              </a:lnSpc>
            </a:pPr>
            <a:r>
              <a:rPr lang="en-US" altLang="en-US" sz="2600" dirty="0">
                <a:solidFill>
                  <a:srgbClr val="081DB8"/>
                </a:solidFill>
                <a:ea typeface="ＭＳ Ｐゴシック" charset="-128"/>
              </a:rPr>
              <a:t>We are also adding another dummy variable for “Analytics” Knowledge</a:t>
            </a:r>
          </a:p>
          <a:p>
            <a:pPr marL="760050" lvl="1">
              <a:lnSpc>
                <a:spcPct val="120000"/>
              </a:lnSpc>
            </a:pPr>
            <a:r>
              <a:rPr lang="en-US" altLang="en-US" sz="2400" dirty="0">
                <a:solidFill>
                  <a:srgbClr val="081DB8"/>
                </a:solidFill>
                <a:ea typeface="ＭＳ Ｐゴシック" charset="-128"/>
              </a:rPr>
              <a:t>Analytics = 1 if NO knowledge</a:t>
            </a:r>
          </a:p>
          <a:p>
            <a:pPr marL="360000">
              <a:lnSpc>
                <a:spcPct val="120000"/>
              </a:lnSpc>
            </a:pPr>
            <a:endParaRPr lang="en-US" altLang="en-US" dirty="0">
              <a:ea typeface="ＭＳ Ｐゴシック" charset="-128"/>
            </a:endParaRPr>
          </a:p>
        </p:txBody>
      </p:sp>
      <p:sp>
        <p:nvSpPr>
          <p:cNvPr id="32771" name="Slide Number Placeholder 5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4AEBFFAA-EB09-8D4D-8942-84702508A79C}" type="slidenum">
              <a:rPr lang="en-US" altLang="en-US" sz="1200">
                <a:solidFill>
                  <a:schemeClr val="bg1"/>
                </a:solidFill>
                <a:latin typeface="Calibri" charset="0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14</a:t>
            </a:fld>
            <a:endParaRPr lang="en-US" altLang="en-US" sz="1200">
              <a:solidFill>
                <a:schemeClr val="bg1"/>
              </a:solidFill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86043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Title 1"/>
          <p:cNvSpPr>
            <a:spLocks noGrp="1"/>
          </p:cNvSpPr>
          <p:nvPr>
            <p:ph type="title"/>
          </p:nvPr>
        </p:nvSpPr>
        <p:spPr>
          <a:xfrm>
            <a:off x="1683543" y="257175"/>
            <a:ext cx="9675019" cy="838200"/>
          </a:xfrm>
        </p:spPr>
        <p:txBody>
          <a:bodyPr>
            <a:normAutofit fontScale="90000"/>
          </a:bodyPr>
          <a:lstStyle/>
          <a:p>
            <a:r>
              <a:rPr lang="en-US" altLang="en-US" dirty="0">
                <a:ea typeface="ＭＳ Ｐゴシック" charset="-128"/>
              </a:rPr>
              <a:t>Creating Dummies For Multiple (&gt;2) Categories</a:t>
            </a:r>
          </a:p>
        </p:txBody>
      </p:sp>
      <p:sp>
        <p:nvSpPr>
          <p:cNvPr id="33794" name="Content Placeholder 2"/>
          <p:cNvSpPr>
            <a:spLocks noGrp="1"/>
          </p:cNvSpPr>
          <p:nvPr>
            <p:ph idx="1"/>
          </p:nvPr>
        </p:nvSpPr>
        <p:spPr>
          <a:xfrm>
            <a:off x="1428750" y="1300164"/>
            <a:ext cx="9022556" cy="52959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en-US" sz="2000" dirty="0">
                <a:ea typeface="ＭＳ Ｐゴシック" charset="-128"/>
              </a:rPr>
              <a:t>Coding of dummy variable  for Type of degree</a:t>
            </a:r>
          </a:p>
          <a:p>
            <a:pPr>
              <a:lnSpc>
                <a:spcPct val="90000"/>
              </a:lnSpc>
            </a:pPr>
            <a:endParaRPr lang="en-US" altLang="en-US" sz="2000" dirty="0">
              <a:ea typeface="ＭＳ Ｐゴシック" charset="-128"/>
            </a:endParaRPr>
          </a:p>
          <a:p>
            <a:pPr>
              <a:lnSpc>
                <a:spcPct val="90000"/>
              </a:lnSpc>
            </a:pPr>
            <a:endParaRPr lang="en-US" altLang="en-US" sz="2000" dirty="0">
              <a:ea typeface="ＭＳ Ｐゴシック" charset="-128"/>
            </a:endParaRPr>
          </a:p>
          <a:p>
            <a:pPr>
              <a:lnSpc>
                <a:spcPct val="90000"/>
              </a:lnSpc>
            </a:pPr>
            <a:endParaRPr lang="en-US" altLang="en-US" sz="2000" dirty="0">
              <a:ea typeface="ＭＳ Ｐゴシック" charset="-128"/>
            </a:endParaRPr>
          </a:p>
          <a:p>
            <a:pPr>
              <a:lnSpc>
                <a:spcPct val="90000"/>
              </a:lnSpc>
            </a:pPr>
            <a:endParaRPr lang="en-US" altLang="en-US" sz="2000" dirty="0">
              <a:ea typeface="ＭＳ Ｐゴシック" charset="-128"/>
            </a:endParaRPr>
          </a:p>
          <a:p>
            <a:pPr>
              <a:lnSpc>
                <a:spcPct val="90000"/>
              </a:lnSpc>
            </a:pPr>
            <a:endParaRPr lang="en-US" altLang="en-US" sz="2000" dirty="0">
              <a:ea typeface="ＭＳ Ｐゴシック" charset="-128"/>
            </a:endParaRPr>
          </a:p>
          <a:p>
            <a:pPr>
              <a:lnSpc>
                <a:spcPct val="90000"/>
              </a:lnSpc>
            </a:pPr>
            <a:endParaRPr lang="en-US" altLang="en-US" sz="2000" dirty="0">
              <a:ea typeface="ＭＳ Ｐゴシック" charset="-128"/>
            </a:endParaRPr>
          </a:p>
          <a:p>
            <a:pPr>
              <a:lnSpc>
                <a:spcPct val="90000"/>
              </a:lnSpc>
            </a:pPr>
            <a:endParaRPr lang="en-US" altLang="en-US" sz="2000" dirty="0">
              <a:ea typeface="ＭＳ Ｐゴシック" charset="-128"/>
            </a:endParaRPr>
          </a:p>
          <a:p>
            <a:pPr>
              <a:lnSpc>
                <a:spcPct val="90000"/>
              </a:lnSpc>
            </a:pPr>
            <a:endParaRPr lang="en-US" altLang="en-US" sz="2000" dirty="0">
              <a:ea typeface="ＭＳ Ｐゴシック" charset="-128"/>
            </a:endParaRPr>
          </a:p>
          <a:p>
            <a:pPr>
              <a:lnSpc>
                <a:spcPct val="90000"/>
              </a:lnSpc>
            </a:pPr>
            <a:r>
              <a:rPr lang="en-US" altLang="en-US" sz="2000" dirty="0">
                <a:ea typeface="ＭＳ Ｐゴシック" charset="-128"/>
              </a:rPr>
              <a:t>What’s the control in this case?</a:t>
            </a:r>
          </a:p>
          <a:p>
            <a:pPr>
              <a:lnSpc>
                <a:spcPct val="90000"/>
              </a:lnSpc>
            </a:pPr>
            <a:r>
              <a:rPr lang="en-US" altLang="en-US" sz="2000" dirty="0">
                <a:ea typeface="ＭＳ Ｐゴシック" charset="-128"/>
              </a:rPr>
              <a:t>We get the following model:</a:t>
            </a:r>
          </a:p>
          <a:p>
            <a:pPr>
              <a:lnSpc>
                <a:spcPct val="90000"/>
              </a:lnSpc>
              <a:buFont typeface="Arial" charset="0"/>
              <a:buNone/>
            </a:pPr>
            <a:r>
              <a:rPr lang="en-US" altLang="en-US" sz="2000" i="1" dirty="0">
                <a:ea typeface="ＭＳ Ｐゴシック" charset="-128"/>
              </a:rPr>
              <a:t>   	</a:t>
            </a:r>
            <a:r>
              <a:rPr lang="en-US" altLang="en-US" sz="2000" dirty="0">
                <a:solidFill>
                  <a:srgbClr val="0000FF"/>
                </a:solidFill>
                <a:ea typeface="ＭＳ Ｐゴシック" charset="-128"/>
              </a:rPr>
              <a:t>Salary = β</a:t>
            </a:r>
            <a:r>
              <a:rPr lang="en-US" altLang="en-US" sz="2000" baseline="-25000" dirty="0">
                <a:solidFill>
                  <a:srgbClr val="0000FF"/>
                </a:solidFill>
                <a:ea typeface="ＭＳ Ｐゴシック" charset="-128"/>
              </a:rPr>
              <a:t>0</a:t>
            </a:r>
            <a:r>
              <a:rPr lang="en-US" altLang="en-US" sz="2000" dirty="0">
                <a:solidFill>
                  <a:srgbClr val="0000FF"/>
                </a:solidFill>
                <a:ea typeface="ＭＳ Ｐゴシック" charset="-128"/>
              </a:rPr>
              <a:t> + β</a:t>
            </a:r>
            <a:r>
              <a:rPr lang="en-US" altLang="en-US" sz="2000" baseline="-25000" dirty="0">
                <a:solidFill>
                  <a:srgbClr val="0000FF"/>
                </a:solidFill>
                <a:ea typeface="ＭＳ Ｐゴシック" charset="-128"/>
              </a:rPr>
              <a:t>1 </a:t>
            </a:r>
            <a:r>
              <a:rPr lang="en-US" altLang="en-US" sz="2000" dirty="0">
                <a:solidFill>
                  <a:srgbClr val="0000FF"/>
                </a:solidFill>
                <a:ea typeface="ＭＳ Ｐゴシック" charset="-128"/>
              </a:rPr>
              <a:t>Female + β</a:t>
            </a:r>
            <a:r>
              <a:rPr lang="en-US" altLang="en-US" sz="2000" baseline="-25000" dirty="0">
                <a:solidFill>
                  <a:srgbClr val="0000FF"/>
                </a:solidFill>
                <a:ea typeface="ＭＳ Ｐゴシック" charset="-128"/>
              </a:rPr>
              <a:t>2 </a:t>
            </a:r>
            <a:r>
              <a:rPr lang="en-US" altLang="en-US" sz="2000" dirty="0">
                <a:solidFill>
                  <a:srgbClr val="0000FF"/>
                </a:solidFill>
                <a:ea typeface="ＭＳ Ｐゴシック" charset="-128"/>
              </a:rPr>
              <a:t>Experience + β</a:t>
            </a:r>
            <a:r>
              <a:rPr lang="en-US" altLang="en-US" sz="2000" baseline="-25000" dirty="0">
                <a:solidFill>
                  <a:srgbClr val="0000FF"/>
                </a:solidFill>
                <a:ea typeface="ＭＳ Ｐゴシック" charset="-128"/>
              </a:rPr>
              <a:t>3 </a:t>
            </a:r>
            <a:r>
              <a:rPr lang="en-US" altLang="en-US" sz="2000" dirty="0">
                <a:solidFill>
                  <a:srgbClr val="0000FF"/>
                </a:solidFill>
                <a:ea typeface="ＭＳ Ｐゴシック" charset="-128"/>
              </a:rPr>
              <a:t>Fem*Exp + β</a:t>
            </a:r>
            <a:r>
              <a:rPr lang="en-US" altLang="en-US" sz="2000" baseline="-25000" dirty="0">
                <a:solidFill>
                  <a:srgbClr val="0000FF"/>
                </a:solidFill>
                <a:ea typeface="ＭＳ Ｐゴシック" charset="-128"/>
              </a:rPr>
              <a:t>4 </a:t>
            </a:r>
            <a:r>
              <a:rPr lang="en-US" altLang="en-US" sz="2000" dirty="0">
                <a:solidFill>
                  <a:srgbClr val="0000FF"/>
                </a:solidFill>
                <a:ea typeface="ＭＳ Ｐゴシック" charset="-128"/>
              </a:rPr>
              <a:t>Commerce + β</a:t>
            </a:r>
            <a:r>
              <a:rPr lang="en-US" altLang="en-US" sz="2000" baseline="-25000" dirty="0">
                <a:solidFill>
                  <a:srgbClr val="0000FF"/>
                </a:solidFill>
                <a:ea typeface="ＭＳ Ｐゴシック" charset="-128"/>
              </a:rPr>
              <a:t>5 </a:t>
            </a:r>
            <a:r>
              <a:rPr lang="en-US" altLang="en-US" sz="2000" dirty="0">
                <a:solidFill>
                  <a:srgbClr val="0000FF"/>
                </a:solidFill>
                <a:ea typeface="ＭＳ Ｐゴシック" charset="-128"/>
              </a:rPr>
              <a:t>Science + β</a:t>
            </a:r>
            <a:r>
              <a:rPr lang="en-US" altLang="en-US" sz="2000" baseline="-25000" dirty="0">
                <a:solidFill>
                  <a:srgbClr val="0000FF"/>
                </a:solidFill>
                <a:ea typeface="ＭＳ Ｐゴシック" charset="-128"/>
              </a:rPr>
              <a:t>6 </a:t>
            </a:r>
            <a:r>
              <a:rPr lang="en-US" altLang="en-US" sz="2000" dirty="0">
                <a:solidFill>
                  <a:srgbClr val="0000FF"/>
                </a:solidFill>
                <a:ea typeface="ＭＳ Ｐゴシック" charset="-128"/>
              </a:rPr>
              <a:t>Technology + β</a:t>
            </a:r>
            <a:r>
              <a:rPr lang="en-US" altLang="en-US" sz="2000" baseline="-25000" dirty="0">
                <a:solidFill>
                  <a:srgbClr val="0000FF"/>
                </a:solidFill>
                <a:ea typeface="ＭＳ Ｐゴシック" charset="-128"/>
              </a:rPr>
              <a:t>7 </a:t>
            </a:r>
            <a:r>
              <a:rPr lang="en-US" altLang="en-US" sz="2000" dirty="0" err="1">
                <a:solidFill>
                  <a:srgbClr val="0000FF"/>
                </a:solidFill>
                <a:ea typeface="ＭＳ Ｐゴシック" charset="-128"/>
              </a:rPr>
              <a:t>PostGrad</a:t>
            </a:r>
            <a:r>
              <a:rPr lang="en-US" altLang="en-US" sz="2000" dirty="0">
                <a:solidFill>
                  <a:srgbClr val="0000FF"/>
                </a:solidFill>
                <a:ea typeface="ＭＳ Ｐゴシック" charset="-128"/>
              </a:rPr>
              <a:t> + β</a:t>
            </a:r>
            <a:r>
              <a:rPr lang="en-US" altLang="en-US" sz="2000" baseline="-25000" dirty="0">
                <a:solidFill>
                  <a:srgbClr val="0000FF"/>
                </a:solidFill>
                <a:ea typeface="ＭＳ Ｐゴシック" charset="-128"/>
              </a:rPr>
              <a:t>8 </a:t>
            </a:r>
            <a:r>
              <a:rPr lang="en-US" altLang="en-US" sz="2000" dirty="0">
                <a:solidFill>
                  <a:srgbClr val="0000FF"/>
                </a:solidFill>
                <a:ea typeface="ＭＳ Ｐゴシック" charset="-128"/>
              </a:rPr>
              <a:t>Analytics + ε</a:t>
            </a:r>
          </a:p>
        </p:txBody>
      </p:sp>
      <p:sp>
        <p:nvSpPr>
          <p:cNvPr id="33796" name="Slide Number Placeholder 5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7F391A05-965D-434D-92EF-5AA7AE06E416}" type="slidenum">
              <a:rPr lang="en-US" altLang="en-US" sz="1200">
                <a:solidFill>
                  <a:schemeClr val="bg1"/>
                </a:solidFill>
                <a:latin typeface="Calibri" charset="0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15</a:t>
            </a:fld>
            <a:endParaRPr lang="en-US" altLang="en-US" sz="1200" dirty="0">
              <a:solidFill>
                <a:schemeClr val="bg1"/>
              </a:solidFill>
              <a:latin typeface="Calibri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BECF9CC-9EC1-46F6-BD65-A7D50290A5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6519426"/>
              </p:ext>
            </p:extLst>
          </p:nvPr>
        </p:nvGraphicFramePr>
        <p:xfrm>
          <a:off x="1546225" y="1934104"/>
          <a:ext cx="8128000" cy="2575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5638">
                  <a:extLst>
                    <a:ext uri="{9D8B030D-6E8A-4147-A177-3AD203B41FA5}">
                      <a16:colId xmlns:a16="http://schemas.microsoft.com/office/drawing/2014/main" val="2858759336"/>
                    </a:ext>
                  </a:extLst>
                </a:gridCol>
                <a:gridCol w="1500187">
                  <a:extLst>
                    <a:ext uri="{9D8B030D-6E8A-4147-A177-3AD203B41FA5}">
                      <a16:colId xmlns:a16="http://schemas.microsoft.com/office/drawing/2014/main" val="446491077"/>
                    </a:ext>
                  </a:extLst>
                </a:gridCol>
                <a:gridCol w="1450975">
                  <a:extLst>
                    <a:ext uri="{9D8B030D-6E8A-4147-A177-3AD203B41FA5}">
                      <a16:colId xmlns:a16="http://schemas.microsoft.com/office/drawing/2014/main" val="3302170602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22587771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422049001"/>
                    </a:ext>
                  </a:extLst>
                </a:gridCol>
              </a:tblGrid>
              <a:tr h="185420">
                <a:tc row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Actual Degree</a:t>
                      </a: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dirty="0"/>
                        <a:t>Dummy Variable for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2337077"/>
                  </a:ext>
                </a:extLst>
              </a:tr>
              <a:tr h="18542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Commerce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Science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Technology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Post Grad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8119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Commerce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63989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Science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48958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Technology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1088136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Post Grad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2424058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534453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A99A5-0007-40FC-9F01-5FB6F1683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8605" y="288354"/>
            <a:ext cx="8911687" cy="1280890"/>
          </a:xfrm>
        </p:spPr>
        <p:txBody>
          <a:bodyPr/>
          <a:lstStyle/>
          <a:p>
            <a:r>
              <a:rPr lang="en-US" dirty="0"/>
              <a:t>The Estimated Model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FCC281E-1BD8-4931-89C5-B0F383FEBA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8193" y="1139422"/>
            <a:ext cx="5847579" cy="261679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D5FC8B8-105B-40A1-8745-F999C69E1C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9729" y="4162967"/>
            <a:ext cx="4682234" cy="207646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29D6052-6E0F-424B-9E38-C675B8134B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4943" y="4162966"/>
            <a:ext cx="5677197" cy="1933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84827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29EF7-C65A-4C4F-B651-351AE8D35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8477" y="194409"/>
            <a:ext cx="8911687" cy="953073"/>
          </a:xfrm>
        </p:spPr>
        <p:txBody>
          <a:bodyPr/>
          <a:lstStyle/>
          <a:p>
            <a:r>
              <a:rPr lang="en-US" dirty="0"/>
              <a:t>Final Model with Step-wise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19A667F-76CE-4BE1-99ED-037FFA6B8D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8477" y="1147482"/>
            <a:ext cx="7434144" cy="304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358C716-CCCE-4471-A11B-E9E709A90F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5296" y="4500821"/>
            <a:ext cx="5553787" cy="189101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92047E7-13F9-4093-9AA2-87139BB077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7182" y="4500822"/>
            <a:ext cx="4409907" cy="1955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03791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Title 1"/>
          <p:cNvSpPr>
            <a:spLocks noGrp="1"/>
          </p:cNvSpPr>
          <p:nvPr>
            <p:ph type="title"/>
          </p:nvPr>
        </p:nvSpPr>
        <p:spPr>
          <a:xfrm>
            <a:off x="1715037" y="210496"/>
            <a:ext cx="8839200" cy="838200"/>
          </a:xfrm>
        </p:spPr>
        <p:txBody>
          <a:bodyPr/>
          <a:lstStyle/>
          <a:p>
            <a:r>
              <a:rPr lang="en-US" altLang="en-US" dirty="0">
                <a:ea typeface="ＭＳ Ｐゴシック" charset="-128"/>
              </a:rPr>
              <a:t>Summary </a:t>
            </a:r>
            <a:r>
              <a:rPr lang="en-US" altLang="en-US">
                <a:ea typeface="ＭＳ Ｐゴシック" charset="-128"/>
              </a:rPr>
              <a:t>of Session</a:t>
            </a:r>
            <a:endParaRPr lang="en-US" altLang="en-US" dirty="0">
              <a:ea typeface="ＭＳ Ｐゴシック" charset="-128"/>
            </a:endParaRPr>
          </a:p>
        </p:txBody>
      </p:sp>
      <p:sp>
        <p:nvSpPr>
          <p:cNvPr id="20483" name="Content Placeholder 2"/>
          <p:cNvSpPr>
            <a:spLocks noGrp="1"/>
          </p:cNvSpPr>
          <p:nvPr>
            <p:ph idx="1"/>
          </p:nvPr>
        </p:nvSpPr>
        <p:spPr>
          <a:xfrm>
            <a:off x="1120462" y="1512888"/>
            <a:ext cx="10792496" cy="3777622"/>
          </a:xfrm>
        </p:spPr>
        <p:txBody>
          <a:bodyPr>
            <a:noAutofit/>
          </a:bodyPr>
          <a:lstStyle/>
          <a:p>
            <a:pPr marL="342900" lvl="1" indent="-342900">
              <a:buFont typeface="Arial" charset="0"/>
              <a:buChar char="•"/>
            </a:pPr>
            <a:endParaRPr lang="en-US" altLang="en-US" sz="2000" dirty="0">
              <a:solidFill>
                <a:srgbClr val="0000FF"/>
              </a:solidFill>
              <a:ea typeface="ＭＳ Ｐゴシック" charset="-128"/>
            </a:endParaRPr>
          </a:p>
          <a:p>
            <a:pPr marL="342900" lvl="1" indent="-342900">
              <a:buFont typeface="Arial" charset="0"/>
              <a:buChar char="•"/>
            </a:pPr>
            <a:r>
              <a:rPr lang="en-US" altLang="en-US" sz="2000" dirty="0">
                <a:solidFill>
                  <a:srgbClr val="0000FF"/>
                </a:solidFill>
                <a:ea typeface="ＭＳ Ｐゴシック" charset="-128"/>
              </a:rPr>
              <a:t>Categorical</a:t>
            </a:r>
            <a:r>
              <a:rPr lang="en-US" altLang="en-US" sz="2000" dirty="0">
                <a:ea typeface="ＭＳ Ｐゴシック" charset="-128"/>
              </a:rPr>
              <a:t> variables can be included by creating </a:t>
            </a:r>
            <a:r>
              <a:rPr lang="en-US" altLang="en-US" sz="2000" dirty="0">
                <a:solidFill>
                  <a:srgbClr val="0000FF"/>
                </a:solidFill>
                <a:ea typeface="ＭＳ Ｐゴシック" charset="-128"/>
              </a:rPr>
              <a:t>binary/dummy </a:t>
            </a:r>
            <a:r>
              <a:rPr lang="en-US" altLang="en-US" sz="2000" dirty="0">
                <a:ea typeface="ＭＳ Ｐゴシック" charset="-128"/>
              </a:rPr>
              <a:t>variables in regression</a:t>
            </a:r>
          </a:p>
          <a:p>
            <a:pPr marL="342900" lvl="1" indent="-342900">
              <a:buFont typeface="Arial" charset="0"/>
              <a:buChar char="•"/>
            </a:pPr>
            <a:endParaRPr lang="en-US" altLang="en-US" sz="2000" dirty="0">
              <a:ea typeface="ＭＳ Ｐゴシック" charset="-128"/>
            </a:endParaRPr>
          </a:p>
          <a:p>
            <a:pPr marL="342900" lvl="1" indent="-342900">
              <a:buFont typeface="Arial" charset="0"/>
              <a:buChar char="•"/>
            </a:pPr>
            <a:r>
              <a:rPr lang="en-US" altLang="en-US" sz="2000" dirty="0">
                <a:ea typeface="ＭＳ Ｐゴシック" charset="-128"/>
              </a:rPr>
              <a:t>For m categories, you need </a:t>
            </a:r>
            <a:r>
              <a:rPr lang="en-US" altLang="en-US" sz="2000" dirty="0">
                <a:solidFill>
                  <a:srgbClr val="0000FF"/>
                </a:solidFill>
                <a:ea typeface="ＭＳ Ｐゴシック" charset="-128"/>
              </a:rPr>
              <a:t>m-1 dummy variables </a:t>
            </a:r>
            <a:r>
              <a:rPr lang="en-US" altLang="en-US" sz="2000" dirty="0">
                <a:ea typeface="ＭＳ Ｐゴシック" charset="-128"/>
              </a:rPr>
              <a:t>and the remaining one acts as a reference or control category</a:t>
            </a:r>
          </a:p>
          <a:p>
            <a:pPr marL="342900" lvl="1" indent="-342900">
              <a:buFont typeface="Arial" charset="0"/>
              <a:buChar char="•"/>
            </a:pPr>
            <a:endParaRPr lang="en-US" altLang="en-US" sz="2000" dirty="0">
              <a:ea typeface="ＭＳ Ｐゴシック" charset="-128"/>
            </a:endParaRPr>
          </a:p>
          <a:p>
            <a:pPr marL="342900" lvl="1" indent="-342900">
              <a:buFont typeface="Arial" charset="0"/>
              <a:buChar char="•"/>
            </a:pPr>
            <a:r>
              <a:rPr lang="en-US" altLang="en-US" sz="2000" dirty="0">
                <a:ea typeface="ＭＳ Ｐゴシック" charset="-128"/>
              </a:rPr>
              <a:t>Coefficients</a:t>
            </a:r>
            <a:r>
              <a:rPr lang="en-US" altLang="en-US" sz="2000" dirty="0">
                <a:solidFill>
                  <a:srgbClr val="0000FF"/>
                </a:solidFill>
                <a:ea typeface="ＭＳ Ｐゴシック" charset="-128"/>
              </a:rPr>
              <a:t> </a:t>
            </a:r>
            <a:r>
              <a:rPr lang="en-US" altLang="en-US" sz="2000" dirty="0">
                <a:ea typeface="ＭＳ Ｐゴシック" charset="-128"/>
              </a:rPr>
              <a:t>of categorical variables capture the </a:t>
            </a:r>
            <a:r>
              <a:rPr lang="en-US" altLang="en-US" sz="2000" dirty="0">
                <a:solidFill>
                  <a:srgbClr val="0000FF"/>
                </a:solidFill>
                <a:ea typeface="ＭＳ Ｐゴシック" charset="-128"/>
              </a:rPr>
              <a:t>average difference in the response variable</a:t>
            </a:r>
            <a:r>
              <a:rPr lang="en-US" altLang="en-US" sz="2000" dirty="0">
                <a:ea typeface="ＭＳ Ｐゴシック" charset="-128"/>
              </a:rPr>
              <a:t> between the category of interest and the reference category</a:t>
            </a:r>
          </a:p>
          <a:p>
            <a:pPr marL="342900" lvl="1" indent="-342900">
              <a:buFont typeface="Arial" charset="0"/>
              <a:buChar char="•"/>
            </a:pPr>
            <a:r>
              <a:rPr lang="en-US" altLang="en-US" sz="2000" dirty="0">
                <a:ea typeface="ＭＳ Ｐゴシック" charset="-128"/>
              </a:rPr>
              <a:t>Interaction between categorical and numerical variables can be modeled by calculating a </a:t>
            </a:r>
            <a:r>
              <a:rPr lang="en-US" altLang="en-US" sz="2000" dirty="0">
                <a:solidFill>
                  <a:srgbClr val="0000FF"/>
                </a:solidFill>
                <a:ea typeface="ＭＳ Ｐゴシック" charset="-128"/>
              </a:rPr>
              <a:t>new variable that is product of the two variables</a:t>
            </a:r>
          </a:p>
          <a:p>
            <a:pPr marL="342900" lvl="1" indent="-342900">
              <a:buFont typeface="Arial" charset="0"/>
              <a:buChar char="•"/>
            </a:pPr>
            <a:r>
              <a:rPr lang="en-US" altLang="en-US" sz="2000" dirty="0">
                <a:ea typeface="ＭＳ Ｐゴシック" charset="-128"/>
              </a:rPr>
              <a:t>Interaction captures the </a:t>
            </a:r>
            <a:r>
              <a:rPr lang="en-US" altLang="en-US" sz="2000" dirty="0">
                <a:solidFill>
                  <a:srgbClr val="0000FF"/>
                </a:solidFill>
                <a:ea typeface="ＭＳ Ｐゴシック" charset="-128"/>
              </a:rPr>
              <a:t>difference in association</a:t>
            </a:r>
            <a:r>
              <a:rPr lang="en-US" altLang="en-US" sz="2000" dirty="0">
                <a:ea typeface="ＭＳ Ｐゴシック" charset="-128"/>
              </a:rPr>
              <a:t> between the response variable and the numerical variable for different categories</a:t>
            </a:r>
          </a:p>
          <a:p>
            <a:endParaRPr lang="en-US" altLang="en-US" sz="2000" dirty="0">
              <a:ea typeface="ＭＳ Ｐゴシック" charset="-128"/>
            </a:endParaRPr>
          </a:p>
        </p:txBody>
      </p:sp>
      <p:sp>
        <p:nvSpPr>
          <p:cNvPr id="34819" name="Slide Number Placeholder 5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C2C1341E-C304-5A4D-A37B-512CA15148F7}" type="slidenum">
              <a:rPr lang="en-US" altLang="en-US" sz="1200">
                <a:solidFill>
                  <a:schemeClr val="bg1"/>
                </a:solidFill>
                <a:latin typeface="Calibri" charset="0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18</a:t>
            </a:fld>
            <a:endParaRPr lang="en-US" altLang="en-US" sz="1200" dirty="0">
              <a:solidFill>
                <a:schemeClr val="bg1"/>
              </a:solidFill>
              <a:latin typeface="Calibri" charset="0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120462" y="1551557"/>
            <a:ext cx="8839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342900" indent="-3429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lvl="1">
              <a:spcBef>
                <a:spcPct val="20000"/>
              </a:spcBef>
              <a:buFont typeface="Arial" charset="0"/>
              <a:buChar char="•"/>
            </a:pPr>
            <a:r>
              <a:rPr lang="en-US" altLang="en-US" sz="1800" dirty="0">
                <a:solidFill>
                  <a:srgbClr val="000000"/>
                </a:solidFill>
                <a:latin typeface="Century Gothic" panose="020B0502020202020204" pitchFamily="34" charset="0"/>
              </a:rPr>
              <a:t>How to include </a:t>
            </a:r>
            <a:r>
              <a:rPr lang="en-US" altLang="en-US" sz="1800" dirty="0">
                <a:solidFill>
                  <a:srgbClr val="0000FF"/>
                </a:solidFill>
                <a:latin typeface="Century Gothic" panose="020B0502020202020204" pitchFamily="34" charset="0"/>
              </a:rPr>
              <a:t>categorical</a:t>
            </a:r>
            <a:r>
              <a:rPr lang="en-US" altLang="en-US" sz="1800" dirty="0">
                <a:solidFill>
                  <a:srgbClr val="000000"/>
                </a:solidFill>
                <a:latin typeface="Century Gothic" panose="020B0502020202020204" pitchFamily="34" charset="0"/>
              </a:rPr>
              <a:t> variables in regression?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0462" y="2699890"/>
            <a:ext cx="8839200" cy="369888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lvl="1" indent="-342900">
              <a:buFont typeface="Arial" charset="0"/>
              <a:buChar char="•"/>
              <a:defRPr/>
            </a:pPr>
            <a:r>
              <a:rPr lang="en-US" dirty="0">
                <a:latin typeface="+mj-lt"/>
                <a:ea typeface="ＭＳ Ｐゴシック" pitchFamily="34" charset="-128"/>
              </a:rPr>
              <a:t>What is the </a:t>
            </a:r>
            <a:r>
              <a:rPr lang="en-US" dirty="0">
                <a:solidFill>
                  <a:srgbClr val="0000FF"/>
                </a:solidFill>
                <a:latin typeface="+mj-lt"/>
                <a:ea typeface="ＭＳ Ｐゴシック" pitchFamily="34" charset="-128"/>
              </a:rPr>
              <a:t>interpretation of the coefficients </a:t>
            </a:r>
            <a:r>
              <a:rPr lang="en-US" dirty="0">
                <a:latin typeface="+mj-lt"/>
                <a:ea typeface="ＭＳ Ｐゴシック" pitchFamily="34" charset="-128"/>
              </a:rPr>
              <a:t>of categorical variables?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120462" y="3810256"/>
            <a:ext cx="8839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342900" indent="-3429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lvl="1">
              <a:spcBef>
                <a:spcPct val="20000"/>
              </a:spcBef>
              <a:buFont typeface="Arial" charset="0"/>
              <a:buChar char="•"/>
            </a:pPr>
            <a:r>
              <a:rPr lang="en-US" altLang="en-US" sz="1800" dirty="0">
                <a:solidFill>
                  <a:srgbClr val="000000"/>
                </a:solidFill>
                <a:latin typeface="Century Gothic" panose="020B0502020202020204" pitchFamily="34" charset="0"/>
              </a:rPr>
              <a:t>How to model </a:t>
            </a:r>
            <a:r>
              <a:rPr lang="en-US" altLang="en-US" sz="1800" dirty="0">
                <a:solidFill>
                  <a:srgbClr val="0000FF"/>
                </a:solidFill>
                <a:latin typeface="Century Gothic" panose="020B0502020202020204" pitchFamily="34" charset="0"/>
              </a:rPr>
              <a:t>interaction</a:t>
            </a:r>
            <a:r>
              <a:rPr lang="en-US" altLang="en-US" sz="1800" dirty="0">
                <a:solidFill>
                  <a:srgbClr val="000000"/>
                </a:solidFill>
                <a:latin typeface="Century Gothic" panose="020B0502020202020204" pitchFamily="34" charset="0"/>
              </a:rPr>
              <a:t> between categorical and numerical variables?</a:t>
            </a:r>
            <a:endParaRPr lang="en-US" altLang="en-US" sz="1600" dirty="0">
              <a:solidFill>
                <a:srgbClr val="000000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5270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4" grpId="0"/>
      <p:bldP spid="4" grpId="1"/>
      <p:bldP spid="6" grpId="0"/>
      <p:bldP spid="6" grpId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8352A6-737A-4134-8770-D498A5690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4F481F-CECA-42C5-B90E-54258D5A34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783901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458</TotalTime>
  <Words>1147</Words>
  <Application>Microsoft Office PowerPoint</Application>
  <PresentationFormat>Widescreen</PresentationFormat>
  <Paragraphs>359</Paragraphs>
  <Slides>19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Arial</vt:lpstr>
      <vt:lpstr>Calibri</vt:lpstr>
      <vt:lpstr>Cambria Math</vt:lpstr>
      <vt:lpstr>Century Gothic</vt:lpstr>
      <vt:lpstr>Symbol</vt:lpstr>
      <vt:lpstr>Wingdings 3</vt:lpstr>
      <vt:lpstr>Wisp</vt:lpstr>
      <vt:lpstr> Categorical Variables</vt:lpstr>
      <vt:lpstr>Learning Objectives</vt:lpstr>
      <vt:lpstr>Example: Forecasting</vt:lpstr>
      <vt:lpstr>Data and Model</vt:lpstr>
      <vt:lpstr>Regression Results</vt:lpstr>
      <vt:lpstr>Example: Salary Discrimination</vt:lpstr>
      <vt:lpstr>Two Sample Mean Test</vt:lpstr>
      <vt:lpstr>ANOVA</vt:lpstr>
      <vt:lpstr>Categorical Predictor Variables</vt:lpstr>
      <vt:lpstr>Regression with a Dummy Variable</vt:lpstr>
      <vt:lpstr>Controlling for Years of Experience</vt:lpstr>
      <vt:lpstr>Interaction Between Experience and Gender</vt:lpstr>
      <vt:lpstr>Regression With Interaction Terms</vt:lpstr>
      <vt:lpstr>“Controlling” for Type of Degree</vt:lpstr>
      <vt:lpstr>Creating Dummies For Multiple (&gt;2) Categories</vt:lpstr>
      <vt:lpstr>The Estimated Model</vt:lpstr>
      <vt:lpstr>Final Model with Step-wise</vt:lpstr>
      <vt:lpstr>Summary of Session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Vishnu</dc:creator>
  <cp:lastModifiedBy>Vishnuprasad Nagadevara</cp:lastModifiedBy>
  <cp:revision>42</cp:revision>
  <dcterms:created xsi:type="dcterms:W3CDTF">2018-05-09T02:50:57Z</dcterms:created>
  <dcterms:modified xsi:type="dcterms:W3CDTF">2021-07-08T12:42:56Z</dcterms:modified>
</cp:coreProperties>
</file>