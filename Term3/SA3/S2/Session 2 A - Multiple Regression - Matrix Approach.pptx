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5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8" r:id="rId19"/>
    <p:sldId id="276" r:id="rId20"/>
    <p:sldId id="27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4" autoAdjust="0"/>
    <p:restoredTop sz="94671" autoAdjust="0"/>
  </p:normalViewPr>
  <p:slideViewPr>
    <p:cSldViewPr>
      <p:cViewPr varScale="1">
        <p:scale>
          <a:sx n="59" d="100"/>
          <a:sy n="59" d="100"/>
        </p:scale>
        <p:origin x="70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I:\QM-11\Session%203\Bendrix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I:\QM-11\Session%203\Bendrix.xls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Data!$D$3</c:f>
              <c:strCache>
                <c:ptCount val="1"/>
                <c:pt idx="0">
                  <c:v>Overhead</c:v>
                </c:pt>
              </c:strCache>
            </c:strRef>
          </c:tx>
          <c:spPr>
            <a:ln w="28575">
              <a:noFill/>
            </a:ln>
          </c:spPr>
          <c:trendline>
            <c:spPr>
              <a:ln w="25400">
                <a:solidFill>
                  <a:srgbClr val="FF0000"/>
                </a:solidFill>
              </a:ln>
            </c:spPr>
            <c:trendlineType val="linear"/>
            <c:dispRSqr val="0"/>
            <c:dispEq val="0"/>
          </c:trendline>
          <c:xVal>
            <c:numRef>
              <c:f>Data!$B$4:$B$39</c:f>
              <c:numCache>
                <c:formatCode>General</c:formatCode>
                <c:ptCount val="36"/>
                <c:pt idx="0">
                  <c:v>1539</c:v>
                </c:pt>
                <c:pt idx="1">
                  <c:v>1284</c:v>
                </c:pt>
                <c:pt idx="2">
                  <c:v>1490</c:v>
                </c:pt>
                <c:pt idx="3">
                  <c:v>1355</c:v>
                </c:pt>
                <c:pt idx="4">
                  <c:v>1500</c:v>
                </c:pt>
                <c:pt idx="5">
                  <c:v>1777</c:v>
                </c:pt>
                <c:pt idx="6">
                  <c:v>1716</c:v>
                </c:pt>
                <c:pt idx="7">
                  <c:v>1045</c:v>
                </c:pt>
                <c:pt idx="8">
                  <c:v>1364</c:v>
                </c:pt>
                <c:pt idx="9">
                  <c:v>1516</c:v>
                </c:pt>
                <c:pt idx="10">
                  <c:v>1623</c:v>
                </c:pt>
                <c:pt idx="11">
                  <c:v>1376</c:v>
                </c:pt>
                <c:pt idx="12">
                  <c:v>1327</c:v>
                </c:pt>
                <c:pt idx="13">
                  <c:v>1178</c:v>
                </c:pt>
                <c:pt idx="14">
                  <c:v>1491</c:v>
                </c:pt>
                <c:pt idx="15">
                  <c:v>1667</c:v>
                </c:pt>
                <c:pt idx="16">
                  <c:v>1769</c:v>
                </c:pt>
                <c:pt idx="17">
                  <c:v>1104</c:v>
                </c:pt>
                <c:pt idx="18">
                  <c:v>1196</c:v>
                </c:pt>
                <c:pt idx="19">
                  <c:v>1794</c:v>
                </c:pt>
                <c:pt idx="20">
                  <c:v>1379</c:v>
                </c:pt>
                <c:pt idx="21">
                  <c:v>1448</c:v>
                </c:pt>
                <c:pt idx="22">
                  <c:v>1505</c:v>
                </c:pt>
                <c:pt idx="23">
                  <c:v>1420</c:v>
                </c:pt>
                <c:pt idx="24">
                  <c:v>1475</c:v>
                </c:pt>
                <c:pt idx="25">
                  <c:v>1118</c:v>
                </c:pt>
                <c:pt idx="26">
                  <c:v>1433</c:v>
                </c:pt>
                <c:pt idx="27">
                  <c:v>1589</c:v>
                </c:pt>
                <c:pt idx="28">
                  <c:v>1585</c:v>
                </c:pt>
                <c:pt idx="29">
                  <c:v>1493</c:v>
                </c:pt>
                <c:pt idx="30">
                  <c:v>1124</c:v>
                </c:pt>
                <c:pt idx="31">
                  <c:v>1536</c:v>
                </c:pt>
                <c:pt idx="32">
                  <c:v>1678</c:v>
                </c:pt>
                <c:pt idx="33">
                  <c:v>1723</c:v>
                </c:pt>
                <c:pt idx="34">
                  <c:v>1413</c:v>
                </c:pt>
                <c:pt idx="35">
                  <c:v>1390</c:v>
                </c:pt>
              </c:numCache>
            </c:numRef>
          </c:xVal>
          <c:yVal>
            <c:numRef>
              <c:f>Data!$D$4:$D$39</c:f>
              <c:numCache>
                <c:formatCode>General</c:formatCode>
                <c:ptCount val="36"/>
                <c:pt idx="0">
                  <c:v>99798</c:v>
                </c:pt>
                <c:pt idx="1">
                  <c:v>87804</c:v>
                </c:pt>
                <c:pt idx="2">
                  <c:v>93681</c:v>
                </c:pt>
                <c:pt idx="3">
                  <c:v>82262</c:v>
                </c:pt>
                <c:pt idx="4">
                  <c:v>106968</c:v>
                </c:pt>
                <c:pt idx="5">
                  <c:v>107925</c:v>
                </c:pt>
                <c:pt idx="6">
                  <c:v>117287</c:v>
                </c:pt>
                <c:pt idx="7">
                  <c:v>76868</c:v>
                </c:pt>
                <c:pt idx="8">
                  <c:v>106001</c:v>
                </c:pt>
                <c:pt idx="9">
                  <c:v>88738</c:v>
                </c:pt>
                <c:pt idx="10">
                  <c:v>105830</c:v>
                </c:pt>
                <c:pt idx="11">
                  <c:v>88730</c:v>
                </c:pt>
                <c:pt idx="12">
                  <c:v>100624</c:v>
                </c:pt>
                <c:pt idx="13">
                  <c:v>98857</c:v>
                </c:pt>
                <c:pt idx="14">
                  <c:v>102622</c:v>
                </c:pt>
                <c:pt idx="15">
                  <c:v>108059</c:v>
                </c:pt>
                <c:pt idx="16">
                  <c:v>110054</c:v>
                </c:pt>
                <c:pt idx="17">
                  <c:v>91892</c:v>
                </c:pt>
                <c:pt idx="18">
                  <c:v>98693</c:v>
                </c:pt>
                <c:pt idx="19">
                  <c:v>110530</c:v>
                </c:pt>
                <c:pt idx="20">
                  <c:v>96883</c:v>
                </c:pt>
                <c:pt idx="21">
                  <c:v>99593</c:v>
                </c:pt>
                <c:pt idx="22">
                  <c:v>94564</c:v>
                </c:pt>
                <c:pt idx="23">
                  <c:v>105752</c:v>
                </c:pt>
                <c:pt idx="24">
                  <c:v>93224</c:v>
                </c:pt>
                <c:pt idx="25">
                  <c:v>75398</c:v>
                </c:pt>
                <c:pt idx="26">
                  <c:v>113137</c:v>
                </c:pt>
                <c:pt idx="27">
                  <c:v>85609</c:v>
                </c:pt>
                <c:pt idx="28">
                  <c:v>98498</c:v>
                </c:pt>
                <c:pt idx="29">
                  <c:v>101803</c:v>
                </c:pt>
                <c:pt idx="30">
                  <c:v>88371</c:v>
                </c:pt>
                <c:pt idx="31">
                  <c:v>102419</c:v>
                </c:pt>
                <c:pt idx="32">
                  <c:v>117183</c:v>
                </c:pt>
                <c:pt idx="33">
                  <c:v>107828</c:v>
                </c:pt>
                <c:pt idx="34">
                  <c:v>88032</c:v>
                </c:pt>
                <c:pt idx="35">
                  <c:v>117943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2A6-4468-A9DF-DB8D49F2ED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047040"/>
        <c:axId val="29185920"/>
      </c:scatterChart>
      <c:valAx>
        <c:axId val="29047040"/>
        <c:scaling>
          <c:orientation val="minMax"/>
          <c:min val="1000"/>
        </c:scaling>
        <c:delete val="0"/>
        <c:axPos val="b"/>
        <c:numFmt formatCode="General" sourceLinked="1"/>
        <c:majorTickMark val="out"/>
        <c:minorTickMark val="none"/>
        <c:tickLblPos val="nextTo"/>
        <c:crossAx val="29185920"/>
        <c:crosses val="autoZero"/>
        <c:crossBetween val="midCat"/>
      </c:valAx>
      <c:valAx>
        <c:axId val="29185920"/>
        <c:scaling>
          <c:orientation val="minMax"/>
          <c:min val="66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9047040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Data!$D$3</c:f>
              <c:strCache>
                <c:ptCount val="1"/>
                <c:pt idx="0">
                  <c:v>Overhead</c:v>
                </c:pt>
              </c:strCache>
            </c:strRef>
          </c:tx>
          <c:spPr>
            <a:ln w="28575">
              <a:noFill/>
            </a:ln>
          </c:spPr>
          <c:trendline>
            <c:spPr>
              <a:ln w="25400">
                <a:solidFill>
                  <a:srgbClr val="FF0000"/>
                </a:solidFill>
              </a:ln>
            </c:spPr>
            <c:trendlineType val="linear"/>
            <c:dispRSqr val="0"/>
            <c:dispEq val="0"/>
          </c:trendline>
          <c:xVal>
            <c:numRef>
              <c:f>Data!$C$4:$C$39</c:f>
              <c:numCache>
                <c:formatCode>General</c:formatCode>
                <c:ptCount val="36"/>
                <c:pt idx="0">
                  <c:v>31</c:v>
                </c:pt>
                <c:pt idx="1">
                  <c:v>29</c:v>
                </c:pt>
                <c:pt idx="2">
                  <c:v>27</c:v>
                </c:pt>
                <c:pt idx="3">
                  <c:v>22</c:v>
                </c:pt>
                <c:pt idx="4">
                  <c:v>35</c:v>
                </c:pt>
                <c:pt idx="5">
                  <c:v>30</c:v>
                </c:pt>
                <c:pt idx="6">
                  <c:v>41</c:v>
                </c:pt>
                <c:pt idx="7">
                  <c:v>29</c:v>
                </c:pt>
                <c:pt idx="8">
                  <c:v>47</c:v>
                </c:pt>
                <c:pt idx="9">
                  <c:v>21</c:v>
                </c:pt>
                <c:pt idx="10">
                  <c:v>37</c:v>
                </c:pt>
                <c:pt idx="11">
                  <c:v>37</c:v>
                </c:pt>
                <c:pt idx="12">
                  <c:v>49</c:v>
                </c:pt>
                <c:pt idx="13">
                  <c:v>50</c:v>
                </c:pt>
                <c:pt idx="14">
                  <c:v>37</c:v>
                </c:pt>
                <c:pt idx="15">
                  <c:v>41</c:v>
                </c:pt>
                <c:pt idx="16">
                  <c:v>34</c:v>
                </c:pt>
                <c:pt idx="17">
                  <c:v>44</c:v>
                </c:pt>
                <c:pt idx="18">
                  <c:v>46</c:v>
                </c:pt>
                <c:pt idx="19">
                  <c:v>29</c:v>
                </c:pt>
                <c:pt idx="20">
                  <c:v>38</c:v>
                </c:pt>
                <c:pt idx="21">
                  <c:v>32</c:v>
                </c:pt>
                <c:pt idx="22">
                  <c:v>32</c:v>
                </c:pt>
                <c:pt idx="23">
                  <c:v>42</c:v>
                </c:pt>
                <c:pt idx="24">
                  <c:v>27</c:v>
                </c:pt>
                <c:pt idx="25">
                  <c:v>34</c:v>
                </c:pt>
                <c:pt idx="26">
                  <c:v>58</c:v>
                </c:pt>
                <c:pt idx="27">
                  <c:v>26</c:v>
                </c:pt>
                <c:pt idx="28">
                  <c:v>32</c:v>
                </c:pt>
                <c:pt idx="29">
                  <c:v>33</c:v>
                </c:pt>
                <c:pt idx="30">
                  <c:v>36</c:v>
                </c:pt>
                <c:pt idx="31">
                  <c:v>28</c:v>
                </c:pt>
                <c:pt idx="32">
                  <c:v>41</c:v>
                </c:pt>
                <c:pt idx="33">
                  <c:v>35</c:v>
                </c:pt>
                <c:pt idx="34">
                  <c:v>30</c:v>
                </c:pt>
                <c:pt idx="35">
                  <c:v>54</c:v>
                </c:pt>
              </c:numCache>
            </c:numRef>
          </c:xVal>
          <c:yVal>
            <c:numRef>
              <c:f>Data!$D$4:$D$39</c:f>
              <c:numCache>
                <c:formatCode>General</c:formatCode>
                <c:ptCount val="36"/>
                <c:pt idx="0">
                  <c:v>99798</c:v>
                </c:pt>
                <c:pt idx="1">
                  <c:v>87804</c:v>
                </c:pt>
                <c:pt idx="2">
                  <c:v>93681</c:v>
                </c:pt>
                <c:pt idx="3">
                  <c:v>82262</c:v>
                </c:pt>
                <c:pt idx="4">
                  <c:v>106968</c:v>
                </c:pt>
                <c:pt idx="5">
                  <c:v>107925</c:v>
                </c:pt>
                <c:pt idx="6">
                  <c:v>117287</c:v>
                </c:pt>
                <c:pt idx="7">
                  <c:v>76868</c:v>
                </c:pt>
                <c:pt idx="8">
                  <c:v>106001</c:v>
                </c:pt>
                <c:pt idx="9">
                  <c:v>88738</c:v>
                </c:pt>
                <c:pt idx="10">
                  <c:v>105830</c:v>
                </c:pt>
                <c:pt idx="11">
                  <c:v>88730</c:v>
                </c:pt>
                <c:pt idx="12">
                  <c:v>100624</c:v>
                </c:pt>
                <c:pt idx="13">
                  <c:v>98857</c:v>
                </c:pt>
                <c:pt idx="14">
                  <c:v>102622</c:v>
                </c:pt>
                <c:pt idx="15">
                  <c:v>108059</c:v>
                </c:pt>
                <c:pt idx="16">
                  <c:v>110054</c:v>
                </c:pt>
                <c:pt idx="17">
                  <c:v>91892</c:v>
                </c:pt>
                <c:pt idx="18">
                  <c:v>98693</c:v>
                </c:pt>
                <c:pt idx="19">
                  <c:v>110530</c:v>
                </c:pt>
                <c:pt idx="20">
                  <c:v>96883</c:v>
                </c:pt>
                <c:pt idx="21">
                  <c:v>99593</c:v>
                </c:pt>
                <c:pt idx="22">
                  <c:v>94564</c:v>
                </c:pt>
                <c:pt idx="23">
                  <c:v>105752</c:v>
                </c:pt>
                <c:pt idx="24">
                  <c:v>93224</c:v>
                </c:pt>
                <c:pt idx="25">
                  <c:v>75398</c:v>
                </c:pt>
                <c:pt idx="26">
                  <c:v>113137</c:v>
                </c:pt>
                <c:pt idx="27">
                  <c:v>85609</c:v>
                </c:pt>
                <c:pt idx="28">
                  <c:v>98498</c:v>
                </c:pt>
                <c:pt idx="29">
                  <c:v>101803</c:v>
                </c:pt>
                <c:pt idx="30">
                  <c:v>88371</c:v>
                </c:pt>
                <c:pt idx="31">
                  <c:v>102419</c:v>
                </c:pt>
                <c:pt idx="32">
                  <c:v>117183</c:v>
                </c:pt>
                <c:pt idx="33">
                  <c:v>107828</c:v>
                </c:pt>
                <c:pt idx="34">
                  <c:v>88032</c:v>
                </c:pt>
                <c:pt idx="35">
                  <c:v>117943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59B-428E-AA1A-EC45C7A0BF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339584"/>
        <c:axId val="24341120"/>
      </c:scatterChart>
      <c:valAx>
        <c:axId val="24339584"/>
        <c:scaling>
          <c:orientation val="minMax"/>
          <c:min val="20"/>
        </c:scaling>
        <c:delete val="0"/>
        <c:axPos val="b"/>
        <c:numFmt formatCode="General" sourceLinked="1"/>
        <c:majorTickMark val="out"/>
        <c:minorTickMark val="none"/>
        <c:tickLblPos val="nextTo"/>
        <c:crossAx val="24341120"/>
        <c:crosses val="autoZero"/>
        <c:crossBetween val="midCat"/>
      </c:valAx>
      <c:valAx>
        <c:axId val="24341120"/>
        <c:scaling>
          <c:orientation val="minMax"/>
          <c:min val="66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4339584"/>
        <c:crosses val="autoZero"/>
        <c:crossBetween val="midCat"/>
      </c:valAx>
    </c:plotArea>
    <c:plotVisOnly val="1"/>
    <c:dispBlanksAs val="gap"/>
    <c:showDLblsOverMax val="0"/>
  </c:chart>
  <c:spPr>
    <a:ln w="28575">
      <a:solidFill>
        <a:srgbClr val="002060"/>
      </a:solidFill>
    </a:ln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0.15</cdr:x>
      <cdr:y>0.0625</cdr:y>
    </cdr:from>
    <cdr:to>
      <cdr:x>0.91566</cdr:x>
      <cdr:y>0.44647</cdr:y>
    </cdr:to>
    <cdr:sp macro="" textlink="">
      <cdr:nvSpPr>
        <cdr:cNvPr id="3" name="Straight Connector 2"/>
        <cdr:cNvSpPr/>
      </cdr:nvSpPr>
      <cdr:spPr bwMode="auto">
        <a:xfrm xmlns:a="http://schemas.openxmlformats.org/drawingml/2006/main" flipV="1">
          <a:off x="948690" y="304799"/>
          <a:ext cx="4842510" cy="1872545"/>
        </a:xfrm>
        <a:prstGeom xmlns:a="http://schemas.openxmlformats.org/drawingml/2006/main" prst="line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vertOverflow="clip" wrap="square" lIns="18288" tIns="0" rIns="0" bIns="0" upright="1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0.17708</cdr:x>
      <cdr:y>0.45312</cdr:y>
    </cdr:from>
    <cdr:to>
      <cdr:x>0.95181</cdr:x>
      <cdr:y>0.84738</cdr:y>
    </cdr:to>
    <cdr:sp macro="" textlink="">
      <cdr:nvSpPr>
        <cdr:cNvPr id="4" name="Straight Connector 3"/>
        <cdr:cNvSpPr/>
      </cdr:nvSpPr>
      <cdr:spPr bwMode="auto">
        <a:xfrm xmlns:a="http://schemas.openxmlformats.org/drawingml/2006/main" flipV="1">
          <a:off x="1119960" y="2209799"/>
          <a:ext cx="4899840" cy="1922703"/>
        </a:xfrm>
        <a:prstGeom xmlns:a="http://schemas.openxmlformats.org/drawingml/2006/main" prst="line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wrap="square" lIns="18288" tIns="0" rIns="0" bIns="0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0.14583</cdr:x>
      <cdr:y>0.15885</cdr:y>
    </cdr:from>
    <cdr:to>
      <cdr:x>0.83333</cdr:x>
      <cdr:y>0.41927</cdr:y>
    </cdr:to>
    <cdr:sp macro="" textlink="">
      <cdr:nvSpPr>
        <cdr:cNvPr id="3" name="Straight Connector 2"/>
        <cdr:cNvSpPr/>
      </cdr:nvSpPr>
      <cdr:spPr bwMode="auto">
        <a:xfrm xmlns:a="http://schemas.openxmlformats.org/drawingml/2006/main" flipV="1">
          <a:off x="666750" y="581025"/>
          <a:ext cx="3143250" cy="952500"/>
        </a:xfrm>
        <a:prstGeom xmlns:a="http://schemas.openxmlformats.org/drawingml/2006/main" prst="line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vertOverflow="clip" wrap="square" lIns="18288" tIns="0" rIns="0" bIns="0" upright="1"/>
        <a:lstStyle xmlns:a="http://schemas.openxmlformats.org/drawingml/2006/main"/>
        <a:p xmlns:a="http://schemas.openxmlformats.org/drawingml/2006/main">
          <a:endParaRPr lang="en-US"/>
        </a:p>
      </cdr:txBody>
    </cdr:sp>
  </cdr:relSizeAnchor>
  <cdr:relSizeAnchor xmlns:cdr="http://schemas.openxmlformats.org/drawingml/2006/chartDrawing">
    <cdr:from>
      <cdr:x>0.21875</cdr:x>
      <cdr:y>0.50781</cdr:y>
    </cdr:from>
    <cdr:to>
      <cdr:x>0.90625</cdr:x>
      <cdr:y>0.76823</cdr:y>
    </cdr:to>
    <cdr:sp macro="" textlink="">
      <cdr:nvSpPr>
        <cdr:cNvPr id="4" name="Straight Connector 3"/>
        <cdr:cNvSpPr/>
      </cdr:nvSpPr>
      <cdr:spPr bwMode="auto">
        <a:xfrm xmlns:a="http://schemas.openxmlformats.org/drawingml/2006/main" flipV="1">
          <a:off x="1000125" y="1857375"/>
          <a:ext cx="3143250" cy="952500"/>
        </a:xfrm>
        <a:prstGeom xmlns:a="http://schemas.openxmlformats.org/drawingml/2006/main" prst="line">
          <a:avLst/>
        </a:prstGeom>
        <a:solidFill xmlns:a="http://schemas.openxmlformats.org/drawingml/2006/main">
          <a:srgbClr val="FFFFFF"/>
        </a:solidFill>
        <a:ln xmlns:a="http://schemas.openxmlformats.org/drawingml/2006/main"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 xmlns:a="http://schemas.openxmlformats.org/drawingml/2006/main"/>
      </cdr:spPr>
      <cdr:txBody>
        <a:bodyPr xmlns:a="http://schemas.openxmlformats.org/drawingml/2006/main" wrap="square" lIns="18288" tIns="0" rIns="0" bIns="0" upright="1"/>
        <a:lstStyle xmlns:a="http://schemas.openxmlformats.org/drawingml/2006/main">
          <a:lvl1pPr marL="0" indent="0">
            <a:defRPr sz="1100">
              <a:latin typeface="Calibri"/>
            </a:defRPr>
          </a:lvl1pPr>
          <a:lvl2pPr marL="457200" indent="0">
            <a:defRPr sz="1100">
              <a:latin typeface="Calibri"/>
            </a:defRPr>
          </a:lvl2pPr>
          <a:lvl3pPr marL="914400" indent="0">
            <a:defRPr sz="1100">
              <a:latin typeface="Calibri"/>
            </a:defRPr>
          </a:lvl3pPr>
          <a:lvl4pPr marL="1371600" indent="0">
            <a:defRPr sz="1100">
              <a:latin typeface="Calibri"/>
            </a:defRPr>
          </a:lvl4pPr>
          <a:lvl5pPr marL="1828800" indent="0">
            <a:defRPr sz="1100">
              <a:latin typeface="Calibri"/>
            </a:defRPr>
          </a:lvl5pPr>
          <a:lvl6pPr marL="2286000" indent="0">
            <a:defRPr sz="1100">
              <a:latin typeface="Calibri"/>
            </a:defRPr>
          </a:lvl6pPr>
          <a:lvl7pPr marL="2743200" indent="0">
            <a:defRPr sz="1100">
              <a:latin typeface="Calibri"/>
            </a:defRPr>
          </a:lvl7pPr>
          <a:lvl8pPr marL="3200400" indent="0">
            <a:defRPr sz="1100">
              <a:latin typeface="Calibri"/>
            </a:defRPr>
          </a:lvl8pPr>
          <a:lvl9pPr marL="3657600" indent="0">
            <a:defRPr sz="1100">
              <a:latin typeface="Calibri"/>
            </a:defRPr>
          </a:lvl9pPr>
        </a:lstStyle>
        <a:p xmlns:a="http://schemas.openxmlformats.org/drawingml/2006/main">
          <a:endParaRPr lang="en-US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FAE71-C4F2-4614-8AE3-61AEDA85BEE5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D69A4-8635-401F-A32C-D1B9DD7D72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46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 1: I had revised/reviewed Matrix algebra Yes/No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5D69A4-8635-401F-A32C-D1B9DD7D729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86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5D69A4-8635-401F-A32C-D1B9DD7D729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9565401-1860-484C-8126-1949A7EA195B}" type="datetimeFigureOut">
              <a:rPr lang="en-US" smtClean="0"/>
              <a:pPr/>
              <a:t>7/2/2021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26EBF53-586C-4CD7-9205-E6378CE6AD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Multiple </a:t>
            </a:r>
            <a:r>
              <a:rPr dirty="0"/>
              <a:t>Regression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62400"/>
            <a:ext cx="7406640" cy="1752600"/>
          </a:xfrm>
        </p:spPr>
        <p:txBody>
          <a:bodyPr/>
          <a:lstStyle/>
          <a:p>
            <a:r>
              <a:rPr lang="en-US" dirty="0"/>
              <a:t>Vishnuprasad Nagadevara</a:t>
            </a:r>
          </a:p>
          <a:p>
            <a:r>
              <a:rPr lang="en-US" dirty="0"/>
              <a:t>Indian Institute of Management Bangalore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Garamond" pitchFamily="18" charset="0"/>
              </a:rPr>
              <a:t>Several independent variables may influence the response variable we are trying to study.</a:t>
            </a:r>
          </a:p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Garamond" pitchFamily="18" charset="0"/>
              </a:rPr>
              <a:t>When several independent variables are included in the equation, the regression is called multiple regression.</a:t>
            </a:r>
          </a:p>
          <a:p>
            <a:pPr algn="just">
              <a:lnSpc>
                <a:spcPct val="90000"/>
              </a:lnSpc>
              <a:defRPr/>
            </a:pPr>
            <a:r>
              <a:rPr lang="en-US" dirty="0">
                <a:latin typeface="Garamond" pitchFamily="18" charset="0"/>
              </a:rPr>
              <a:t>Relationship between 1 dependent &amp; 2 or more independent variables is a linear function</a:t>
            </a:r>
          </a:p>
          <a:p>
            <a:pPr algn="just">
              <a:lnSpc>
                <a:spcPct val="90000"/>
              </a:lnSpc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92162"/>
          </a:xfrm>
        </p:spPr>
        <p:txBody>
          <a:bodyPr>
            <a:normAutofit/>
          </a:bodyPr>
          <a:lstStyle/>
          <a:p>
            <a:r>
              <a:rPr lang="en-US" sz="4400" dirty="0"/>
              <a:t>The Model</a:t>
            </a:r>
            <a:endParaRPr lang="en-US" dirty="0"/>
          </a:p>
        </p:txBody>
      </p:sp>
      <p:graphicFrame>
        <p:nvGraphicFramePr>
          <p:cNvPr id="5124" name="Object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646569"/>
              </p:ext>
            </p:extLst>
          </p:nvPr>
        </p:nvGraphicFramePr>
        <p:xfrm>
          <a:off x="1509713" y="2644775"/>
          <a:ext cx="63531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98600" imgH="228600" progId="Equation.3">
                  <p:embed/>
                </p:oleObj>
              </mc:Choice>
              <mc:Fallback>
                <p:oleObj name="Equation" r:id="rId2" imgW="2298600" imgH="2286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2644775"/>
                        <a:ext cx="6353175" cy="631825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>
                        <a:outerShdw dist="35921" dir="2700000" algn="ctr" rotWithShape="0">
                          <a:schemeClr val="bg2"/>
                        </a:outerShdw>
                      </a:effectLst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1524000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1600200" y="3124200"/>
            <a:ext cx="0" cy="2743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19200" y="5791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Dependent Variable</a:t>
            </a:r>
          </a:p>
        </p:txBody>
      </p:sp>
      <p:cxnSp>
        <p:nvCxnSpPr>
          <p:cNvPr id="11" name="Straight Arrow Connector 10"/>
          <p:cNvCxnSpPr>
            <a:cxnSpLocks/>
          </p:cNvCxnSpPr>
          <p:nvPr/>
        </p:nvCxnSpPr>
        <p:spPr>
          <a:xfrm>
            <a:off x="2362200" y="3124200"/>
            <a:ext cx="152400" cy="1905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05000" y="5029200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Intercept-Population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16200000" flipH="1">
            <a:off x="2667000" y="3505200"/>
            <a:ext cx="1676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3352800" y="3886200"/>
            <a:ext cx="1676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 flipH="1">
            <a:off x="4343400" y="3124200"/>
            <a:ext cx="198120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0" y="48768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Slopes - Population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 flipH="1">
            <a:off x="7467600" y="3124200"/>
            <a:ext cx="166687" cy="2286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34200" y="5334000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Term</a:t>
            </a: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3429000" y="1905000"/>
            <a:ext cx="1371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 flipV="1">
            <a:off x="4724400" y="1905000"/>
            <a:ext cx="3810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/>
          </p:cNvCxnSpPr>
          <p:nvPr/>
        </p:nvCxnSpPr>
        <p:spPr>
          <a:xfrm flipH="1" flipV="1">
            <a:off x="5410200" y="1905000"/>
            <a:ext cx="1371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95800" y="1447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Explanatory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0" grpId="0"/>
      <p:bldP spid="23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Estimated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47800"/>
            <a:ext cx="6477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equation estimated from the sample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66345" y="2971800"/>
                <a:ext cx="7171579" cy="6107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𝑎</m:t>
                          </m:r>
                        </m:e>
                      </m:acc>
                      <m:r>
                        <a:rPr lang="en-US" sz="3200" b="0" i="1" smtClean="0">
                          <a:latin typeface="Cambria Math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+…+</m:t>
                      </m:r>
                      <m:acc>
                        <m:accPr>
                          <m:chr m:val="̂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acc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345" y="2971800"/>
                <a:ext cx="7171579" cy="6107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Assumptions about Random Error </a:t>
            </a:r>
            <a:r>
              <a:rPr lang="en-US" sz="4400" i="1" dirty="0">
                <a:latin typeface="Abadi MT Condensed" pitchFamily="34" charset="0"/>
                <a:cs typeface="Arial" charset="0"/>
              </a:rPr>
              <a:t>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4495800"/>
          </a:xfrm>
        </p:spPr>
        <p:txBody>
          <a:bodyPr/>
          <a:lstStyle/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600" dirty="0">
                <a:latin typeface="Garamond" pitchFamily="18" charset="0"/>
                <a:cs typeface="Arial" charset="0"/>
              </a:rPr>
              <a:t>Same as in the case of Simple Linear Regression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dirty="0">
                <a:latin typeface="Garamond" pitchFamily="18" charset="0"/>
                <a:cs typeface="Arial" charset="0"/>
              </a:rPr>
              <a:t>For any given set of values of </a:t>
            </a:r>
            <a:r>
              <a:rPr lang="en-US" sz="3200" i="1" dirty="0">
                <a:latin typeface="Garamond" pitchFamily="18" charset="0"/>
                <a:cs typeface="Arial" charset="0"/>
              </a:rPr>
              <a:t>x</a:t>
            </a:r>
            <a:r>
              <a:rPr lang="en-US" sz="3200" i="1" baseline="-25000" dirty="0">
                <a:latin typeface="Garamond" pitchFamily="18" charset="0"/>
                <a:cs typeface="Arial" charset="0"/>
              </a:rPr>
              <a:t>1</a:t>
            </a:r>
            <a:r>
              <a:rPr lang="en-US" sz="3200" i="1" dirty="0">
                <a:latin typeface="Garamond" pitchFamily="18" charset="0"/>
                <a:cs typeface="Arial" charset="0"/>
              </a:rPr>
              <a:t>, x</a:t>
            </a:r>
            <a:r>
              <a:rPr lang="en-US" sz="3200" i="1" baseline="-25000" dirty="0">
                <a:latin typeface="Garamond" pitchFamily="18" charset="0"/>
                <a:cs typeface="Arial" charset="0"/>
              </a:rPr>
              <a:t>2</a:t>
            </a:r>
            <a:r>
              <a:rPr lang="en-US" sz="3200" i="1" dirty="0">
                <a:latin typeface="Garamond" pitchFamily="18" charset="0"/>
                <a:cs typeface="Arial" charset="0"/>
              </a:rPr>
              <a:t>,…..</a:t>
            </a:r>
            <a:r>
              <a:rPr lang="en-US" sz="3200" i="1" dirty="0" err="1">
                <a:latin typeface="Garamond" pitchFamily="18" charset="0"/>
                <a:cs typeface="Arial" charset="0"/>
              </a:rPr>
              <a:t>x</a:t>
            </a:r>
            <a:r>
              <a:rPr lang="en-US" sz="3200" i="1" baseline="-25000" dirty="0" err="1">
                <a:latin typeface="Garamond" pitchFamily="18" charset="0"/>
                <a:cs typeface="Arial" charset="0"/>
              </a:rPr>
              <a:t>k</a:t>
            </a:r>
            <a:r>
              <a:rPr lang="en-US" sz="3200" dirty="0">
                <a:latin typeface="Garamond" pitchFamily="18" charset="0"/>
                <a:cs typeface="Arial" charset="0"/>
              </a:rPr>
              <a:t>, the random error  has a normal probability distribution with mean 0 and variance </a:t>
            </a:r>
            <a:r>
              <a:rPr lang="el-GR" sz="3200" i="1" dirty="0">
                <a:latin typeface="Garamond" pitchFamily="18" charset="0"/>
                <a:cs typeface="Arial" charset="0"/>
              </a:rPr>
              <a:t>σ</a:t>
            </a:r>
            <a:r>
              <a:rPr lang="en-US" sz="3200" i="1" baseline="30000" dirty="0">
                <a:latin typeface="Garamond" pitchFamily="18" charset="0"/>
                <a:cs typeface="Arial" charset="0"/>
              </a:rPr>
              <a:t>2</a:t>
            </a:r>
          </a:p>
          <a:p>
            <a:pPr marL="612648" lvl="2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200" dirty="0">
                <a:latin typeface="Garamond" pitchFamily="18" charset="0"/>
                <a:cs typeface="Arial" charset="0"/>
              </a:rPr>
              <a:t>The random errors are independent</a:t>
            </a:r>
          </a:p>
          <a:p>
            <a:pPr marL="365760" lvl="1" indent="-283464">
              <a:spcBef>
                <a:spcPts val="600"/>
              </a:spcBef>
              <a:buSzPct val="80000"/>
              <a:buFont typeface="Wingdings 2"/>
              <a:buChar char=""/>
            </a:pPr>
            <a:r>
              <a:rPr lang="en-US" sz="3600" dirty="0">
                <a:latin typeface="Garamond" pitchFamily="18" charset="0"/>
                <a:cs typeface="Arial" charset="0"/>
              </a:rPr>
              <a:t>e</a:t>
            </a:r>
            <a:r>
              <a:rPr lang="en-US" sz="3600" baseline="-25000" dirty="0">
                <a:latin typeface="Garamond" pitchFamily="18" charset="0"/>
                <a:cs typeface="Arial" charset="0"/>
              </a:rPr>
              <a:t>i</a:t>
            </a:r>
            <a:r>
              <a:rPr lang="en-US" sz="3600" dirty="0">
                <a:latin typeface="Garamond" pitchFamily="18" charset="0"/>
                <a:cs typeface="Arial" charset="0"/>
              </a:rPr>
              <a:t> ~ NID (0, </a:t>
            </a:r>
            <a:r>
              <a:rPr lang="el-GR" sz="3600" dirty="0">
                <a:latin typeface="Garamond" pitchFamily="18" charset="0"/>
                <a:cs typeface="Arial" charset="0"/>
              </a:rPr>
              <a:t>σ</a:t>
            </a:r>
            <a:r>
              <a:rPr lang="en-US" sz="3600" baseline="30000" dirty="0">
                <a:latin typeface="Garamond" pitchFamily="18" charset="0"/>
                <a:cs typeface="Arial" charset="0"/>
              </a:rPr>
              <a:t>2</a:t>
            </a:r>
            <a:r>
              <a:rPr lang="en-US" sz="3600" dirty="0">
                <a:latin typeface="Garamond" pitchFamily="18" charset="0"/>
                <a:cs typeface="Arial" charset="0"/>
              </a:rPr>
              <a:t>)</a:t>
            </a:r>
          </a:p>
          <a:p>
            <a:pPr marL="365760" lvl="1" indent="-283464">
              <a:spcBef>
                <a:spcPts val="600"/>
              </a:spcBef>
              <a:buSzPct val="80000"/>
              <a:buNone/>
            </a:pPr>
            <a:endParaRPr lang="en-US" sz="3600" i="1" baseline="30000" dirty="0">
              <a:latin typeface="Garamond" pitchFamily="18" charset="0"/>
              <a:cs typeface="Arial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1710580"/>
            <a:ext cx="7010400" cy="728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09600" indent="-609600" algn="just">
              <a:defRPr/>
            </a:pPr>
            <a:endParaRPr lang="en-US" sz="2800" i="1" dirty="0">
              <a:latin typeface="Abadi MT Condensed" pitchFamily="34" charset="0"/>
              <a:cs typeface="Arial" charset="0"/>
            </a:endParaRPr>
          </a:p>
          <a:p>
            <a:pPr marL="990600" lvl="1" indent="-533400" algn="just">
              <a:buFontTx/>
              <a:buAutoNum type="arabicPeriod"/>
              <a:defRPr/>
            </a:pPr>
            <a:endParaRPr lang="en-US" sz="2000" i="1" baseline="30000" dirty="0">
              <a:latin typeface="Garamond" pitchFamily="18" charset="0"/>
              <a:cs typeface="Arial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6A2B61-1F60-48ED-8FE8-26ED6B4DA748}"/>
              </a:ext>
            </a:extLst>
          </p:cNvPr>
          <p:cNvSpPr txBox="1"/>
          <p:nvPr/>
        </p:nvSpPr>
        <p:spPr>
          <a:xfrm>
            <a:off x="6248400" y="6229290"/>
            <a:ext cx="16764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Launch Poll 1</a:t>
            </a:r>
            <a:endParaRPr lang="en-I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 dirty="0"/>
              <a:t>Matrix Notation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57400" y="1524000"/>
          <a:ext cx="1600200" cy="1676398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8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21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k1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22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k2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k3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>
                          <a:solidFill>
                            <a:srgbClr val="000000"/>
                          </a:solidFill>
                          <a:latin typeface="Calibri"/>
                        </a:rPr>
                        <a:t>2n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  <a:r>
                        <a:rPr lang="en-US" sz="1800" b="1" i="0" u="none" strike="noStrike" baseline="-25000" dirty="0" err="1">
                          <a:solidFill>
                            <a:srgbClr val="000000"/>
                          </a:solidFill>
                          <a:latin typeface="Calibri"/>
                        </a:rPr>
                        <a:t>kn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 rot="5400000">
            <a:off x="1181894" y="23995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5400000">
            <a:off x="2858294" y="23995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057400" y="15240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057400" y="32766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505200" y="1524000"/>
            <a:ext cx="228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581400" y="32766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71600" y="22098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 =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800" y="22098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= 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0" y="1524000"/>
          <a:ext cx="381000" cy="176475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1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Y</a:t>
                      </a:r>
                      <a:r>
                        <a:rPr lang="en-US" sz="2000" b="0" i="0" u="none" strike="noStrike" baseline="-25000" dirty="0" err="1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>
          <a:xfrm rot="5400000">
            <a:off x="40774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9530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9530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943600" y="21336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 = 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46108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340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3340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rot="5400000">
            <a:off x="56014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4770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4770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rot="5400000">
            <a:off x="61348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8580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8580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318282"/>
              </p:ext>
            </p:extLst>
          </p:nvPr>
        </p:nvGraphicFramePr>
        <p:xfrm>
          <a:off x="6553200" y="1600200"/>
          <a:ext cx="457200" cy="1676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b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600200" y="3657600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Model </a:t>
            </a:r>
            <a:r>
              <a:rPr lang="en-US" sz="2400" dirty="0">
                <a:sym typeface="Wingdings" pitchFamily="2" charset="2"/>
              </a:rPr>
              <a:t>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7467600" y="22098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 = </a:t>
            </a:r>
          </a:p>
        </p:txBody>
      </p:sp>
      <p:cxnSp>
        <p:nvCxnSpPr>
          <p:cNvPr id="42" name="Straight Connector 41"/>
          <p:cNvCxnSpPr/>
          <p:nvPr/>
        </p:nvCxnSpPr>
        <p:spPr>
          <a:xfrm rot="5400000">
            <a:off x="70492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9248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9248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rot="5400000">
            <a:off x="7582694" y="2475706"/>
            <a:ext cx="1752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8305800" y="16002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8305800" y="3352800"/>
            <a:ext cx="1524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79804"/>
              </p:ext>
            </p:extLst>
          </p:nvPr>
        </p:nvGraphicFramePr>
        <p:xfrm>
          <a:off x="8001000" y="1600200"/>
          <a:ext cx="381000" cy="1764753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1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6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  <a:r>
                        <a:rPr lang="en-US" sz="2000" b="0" i="0" u="none" strike="noStrike" baseline="-25000" dirty="0">
                          <a:solidFill>
                            <a:srgbClr val="000000"/>
                          </a:solidFill>
                          <a:latin typeface="Calibri"/>
                        </a:rPr>
                        <a:t>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3657600" y="3609635"/>
            <a:ext cx="2046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Y = XB + 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44135" y="3593553"/>
            <a:ext cx="3124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or E = [Y – XB] 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77788" y="4217002"/>
            <a:ext cx="4648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Error Sum of Squares = E´E =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65212" y="4046376"/>
            <a:ext cx="173797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(Y – XB)</a:t>
            </a:r>
            <a:r>
              <a:rPr lang="en-US" sz="4000" dirty="0"/>
              <a:t>´</a:t>
            </a:r>
            <a:r>
              <a:rPr lang="en-US" sz="2800" dirty="0"/>
              <a:t>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2573" y="4181811"/>
            <a:ext cx="15664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(Y – XB)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07232" y="5034707"/>
            <a:ext cx="3276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Thus, the Normal Equations are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00200" y="6140702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B = (X´X)</a:t>
            </a:r>
            <a:r>
              <a:rPr lang="en-US" sz="3600" baseline="60000" dirty="0"/>
              <a:t>-</a:t>
            </a:r>
            <a:r>
              <a:rPr lang="en-US" sz="3600" baseline="60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3600" baseline="60000" dirty="0"/>
              <a:t> </a:t>
            </a:r>
            <a:r>
              <a:rPr lang="en-US" sz="3600" dirty="0"/>
              <a:t>X´Y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153FC83-D635-47AB-A9FE-F1DE6CA4AC6F}"/>
              </a:ext>
            </a:extLst>
          </p:cNvPr>
          <p:cNvSpPr txBox="1"/>
          <p:nvPr/>
        </p:nvSpPr>
        <p:spPr>
          <a:xfrm>
            <a:off x="4908176" y="4890411"/>
            <a:ext cx="2994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(X´XB) =</a:t>
            </a:r>
            <a:r>
              <a:rPr lang="en-US" sz="3600" baseline="60000" dirty="0"/>
              <a:t> </a:t>
            </a:r>
            <a:r>
              <a:rPr lang="en-US" sz="3600" dirty="0"/>
              <a:t>X´Y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34AFAB-BA06-40F2-8ACE-852170B7374A}"/>
              </a:ext>
            </a:extLst>
          </p:cNvPr>
          <p:cNvSpPr txBox="1"/>
          <p:nvPr/>
        </p:nvSpPr>
        <p:spPr>
          <a:xfrm>
            <a:off x="1503829" y="5577542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Multiplying both sides by (X´X)</a:t>
            </a:r>
            <a:r>
              <a:rPr lang="en-US" sz="2400" baseline="60000" dirty="0"/>
              <a:t>-</a:t>
            </a:r>
            <a:r>
              <a:rPr lang="en-US" sz="2400" baseline="60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baseline="60000" dirty="0"/>
              <a:t>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6" grpId="0"/>
      <p:bldP spid="40" grpId="0"/>
      <p:bldP spid="41" grpId="0"/>
      <p:bldP spid="49" grpId="0"/>
      <p:bldP spid="50" grpId="0"/>
      <p:bldP spid="52" grpId="0"/>
      <p:bldP spid="53" grpId="0"/>
      <p:bldP spid="54" grpId="0"/>
      <p:bldP spid="55" grpId="0"/>
      <p:bldP spid="56" grpId="0"/>
      <p:bldP spid="51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 – The </a:t>
            </a:r>
            <a:r>
              <a:rPr lang="en-US" dirty="0" err="1"/>
              <a:t>Bendrix</a:t>
            </a:r>
            <a:r>
              <a:rPr lang="en-US" dirty="0"/>
              <a:t> Company</a:t>
            </a:r>
          </a:p>
          <a:p>
            <a:pPr lvl="1">
              <a:defRPr/>
            </a:pPr>
            <a:r>
              <a:rPr lang="en-US" dirty="0"/>
              <a:t>File –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Bendrix.xls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 Vs. Mach Hours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676400" y="1676400"/>
          <a:ext cx="63246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OH Vs. Prod. Runs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1752600" y="1524000"/>
          <a:ext cx="6553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1981200"/>
          <a:ext cx="7010400" cy="37337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75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7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59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latin typeface="Arial" pitchFamily="34" charset="0"/>
                          <a:cs typeface="Arial" pitchFamily="34" charset="0"/>
                        </a:rPr>
                        <a:t> </a:t>
                      </a:r>
                      <a:endParaRPr lang="en-US" sz="2800" b="0" i="1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MachHrs</a:t>
                      </a:r>
                      <a:endParaRPr lang="en-US" sz="2800" b="0" i="1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ProdRuns</a:t>
                      </a:r>
                      <a:endParaRPr lang="en-US" sz="2800" b="0" i="1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Overhead</a:t>
                      </a:r>
                      <a:endParaRPr lang="en-US" sz="2800" b="0" i="1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59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 err="1">
                          <a:latin typeface="Arial" pitchFamily="34" charset="0"/>
                          <a:cs typeface="Arial" pitchFamily="34" charset="0"/>
                        </a:rPr>
                        <a:t>MachHrs</a:t>
                      </a:r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9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ProdRuns</a:t>
                      </a:r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latin typeface="Arial" pitchFamily="34" charset="0"/>
                          <a:cs typeface="Arial" pitchFamily="34" charset="0"/>
                        </a:rPr>
                        <a:t>-0.2291</a:t>
                      </a:r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85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latin typeface="Arial" pitchFamily="34" charset="0"/>
                          <a:cs typeface="Arial" pitchFamily="34" charset="0"/>
                        </a:rPr>
                        <a:t>Overhead</a:t>
                      </a:r>
                      <a:endParaRPr lang="en-US" sz="2800" b="0" i="0" u="none" strike="noStrike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latin typeface="Arial" pitchFamily="34" charset="0"/>
                          <a:cs typeface="Arial" pitchFamily="34" charset="0"/>
                        </a:rPr>
                        <a:t>0.6319</a:t>
                      </a:r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latin typeface="Arial" pitchFamily="34" charset="0"/>
                          <a:cs typeface="Arial" pitchFamily="34" charset="0"/>
                        </a:rPr>
                        <a:t>0.5205</a:t>
                      </a:r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en-US" sz="2800" b="0" i="0" u="none" strike="noStrike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1143000" y="1905000"/>
          <a:ext cx="73914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31760" imgH="241200" progId="Equation.3">
                  <p:embed/>
                </p:oleObj>
              </mc:Choice>
              <mc:Fallback>
                <p:oleObj name="Equation" r:id="rId2" imgW="283176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7391400" cy="592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47800" y="2895600"/>
            <a:ext cx="5257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Interpretation of  the coefficients</a:t>
            </a:r>
          </a:p>
          <a:p>
            <a:r>
              <a:rPr lang="en-US" sz="2800" dirty="0"/>
              <a:t>	intercept</a:t>
            </a:r>
          </a:p>
          <a:p>
            <a:r>
              <a:rPr lang="en-US" sz="2800" dirty="0"/>
              <a:t>	slopes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of the model</a:t>
            </a:r>
          </a:p>
        </p:txBody>
      </p:sp>
      <p:graphicFrame>
        <p:nvGraphicFramePr>
          <p:cNvPr id="20482" name="Object 4"/>
          <p:cNvGraphicFramePr>
            <a:graphicFrameLocks noChangeAspect="1"/>
          </p:cNvGraphicFramePr>
          <p:nvPr/>
        </p:nvGraphicFramePr>
        <p:xfrm>
          <a:off x="1524000" y="2286000"/>
          <a:ext cx="6323012" cy="189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634680" progId="Equation.3">
                  <p:embed/>
                </p:oleObj>
              </mc:Choice>
              <mc:Fallback>
                <p:oleObj name="Equation" r:id="rId2" imgW="2120760" imgH="6346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86000"/>
                        <a:ext cx="6323012" cy="18923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447800" y="1524000"/>
            <a:ext cx="6172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itchFamily="34" charset="0"/>
                <a:cs typeface="Arial" pitchFamily="34" charset="0"/>
              </a:rPr>
              <a:t>1. Check the error mean square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of the Estimate</a:t>
            </a:r>
          </a:p>
        </p:txBody>
      </p:sp>
      <p:graphicFrame>
        <p:nvGraphicFramePr>
          <p:cNvPr id="21506" name="Object 8"/>
          <p:cNvGraphicFramePr>
            <a:graphicFrameLocks noChangeAspect="1"/>
          </p:cNvGraphicFramePr>
          <p:nvPr/>
        </p:nvGraphicFramePr>
        <p:xfrm>
          <a:off x="1828800" y="1752600"/>
          <a:ext cx="5238750" cy="183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79560" imgH="660240" progId="Equation.3">
                  <p:embed/>
                </p:oleObj>
              </mc:Choice>
              <mc:Fallback>
                <p:oleObj name="Equation" r:id="rId2" imgW="1879560" imgH="660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52600"/>
                        <a:ext cx="5238750" cy="18399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Coefficient of Determination</a:t>
            </a:r>
          </a:p>
        </p:txBody>
      </p:sp>
      <p:graphicFrame>
        <p:nvGraphicFramePr>
          <p:cNvPr id="22530" name="Object 3"/>
          <p:cNvGraphicFramePr>
            <a:graphicFrameLocks noChangeAspect="1"/>
          </p:cNvGraphicFramePr>
          <p:nvPr/>
        </p:nvGraphicFramePr>
        <p:xfrm>
          <a:off x="1905000" y="3048000"/>
          <a:ext cx="4575175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34880" imgH="812520" progId="Equation.3">
                  <p:embed/>
                </p:oleObj>
              </mc:Choice>
              <mc:Fallback>
                <p:oleObj name="Equation" r:id="rId2" imgW="2234880" imgH="8125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048000"/>
                        <a:ext cx="4575175" cy="1662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723530"/>
              </p:ext>
            </p:extLst>
          </p:nvPr>
        </p:nvGraphicFramePr>
        <p:xfrm>
          <a:off x="1335088" y="1524000"/>
          <a:ext cx="7091362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19440" imgH="736560" progId="Equation.3">
                  <p:embed/>
                </p:oleObj>
              </mc:Choice>
              <mc:Fallback>
                <p:oleObj name="Equation" r:id="rId4" imgW="361944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1524000"/>
                        <a:ext cx="7091362" cy="14430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47800" y="4876800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As the number of explanatory variables increase,  R</a:t>
            </a:r>
            <a:r>
              <a:rPr lang="en-US" sz="3200" baseline="30000" dirty="0"/>
              <a:t>2</a:t>
            </a:r>
            <a:r>
              <a:rPr lang="en-US" sz="3200" dirty="0"/>
              <a:t> will increase!</a:t>
            </a:r>
          </a:p>
          <a:p>
            <a:r>
              <a:rPr lang="en-US" sz="3200" dirty="0"/>
              <a:t>This can be misleading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868362"/>
          </a:xfrm>
        </p:spPr>
        <p:txBody>
          <a:bodyPr/>
          <a:lstStyle/>
          <a:p>
            <a:r>
              <a:rPr lang="en-US" dirty="0"/>
              <a:t>Adjusted R</a:t>
            </a:r>
            <a:r>
              <a:rPr lang="en-US" baseline="60000" dirty="0"/>
              <a:t>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19200" y="1219200"/>
            <a:ext cx="7714488" cy="1066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latin typeface="Garamond" pitchFamily="18" charset="0"/>
              </a:rPr>
              <a:t>To correct this defect, we adjust the R</a:t>
            </a:r>
            <a:r>
              <a:rPr lang="en-US" sz="2800" baseline="30000" dirty="0">
                <a:latin typeface="Garamond" pitchFamily="18" charset="0"/>
              </a:rPr>
              <a:t>2 </a:t>
            </a:r>
            <a:r>
              <a:rPr lang="en-US" sz="2800" dirty="0">
                <a:latin typeface="Garamond" pitchFamily="18" charset="0"/>
              </a:rPr>
              <a:t>by taking into account the degrees of freedom.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2667001" y="2286000"/>
          <a:ext cx="48006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19160" imgH="1854000" progId="Equation.3">
                  <p:embed/>
                </p:oleObj>
              </mc:Choice>
              <mc:Fallback>
                <p:oleObj name="Equation" r:id="rId2" imgW="2819160" imgH="18540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286000"/>
                        <a:ext cx="4800600" cy="3200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2133600" y="5943600"/>
            <a:ext cx="571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Adjusted R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  <a:r>
              <a:rPr lang="en-US" sz="2400" dirty="0">
                <a:solidFill>
                  <a:srgbClr val="FF0000"/>
                </a:solidFill>
              </a:rPr>
              <a:t> is a function of MSE and R</a:t>
            </a:r>
            <a:r>
              <a:rPr lang="en-US" sz="2400" baseline="30000" dirty="0">
                <a:solidFill>
                  <a:srgbClr val="FF000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Bendrix</a:t>
            </a:r>
            <a:r>
              <a:rPr lang="en-US" dirty="0"/>
              <a:t> – Excel Output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57400" y="1828800"/>
          <a:ext cx="4441063" cy="38810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6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83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Regression Statistics</a:t>
                      </a:r>
                      <a:endParaRPr lang="en-US" sz="2800" b="0" i="1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83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/>
                        <a:t> Multiple R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0.9308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83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/>
                        <a:t> R Square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0.8664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311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/>
                        <a:t> Adjusted R Square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0.8583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/>
                        <a:t> Standard Error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4109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643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/>
                        <a:t> Observations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/>
                        <a:t>36</a:t>
                      </a:r>
                      <a:endParaRPr lang="en-US" sz="28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 of Overall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76400" y="1676400"/>
            <a:ext cx="6813550" cy="1600200"/>
          </a:xfrm>
        </p:spPr>
        <p:txBody>
          <a:bodyPr/>
          <a:lstStyle/>
          <a:p>
            <a:pPr lvl="1"/>
            <a:r>
              <a:rPr lang="en-US" dirty="0"/>
              <a:t>H</a:t>
            </a:r>
            <a:r>
              <a:rPr lang="en-US" baseline="-25000" dirty="0"/>
              <a:t>0</a:t>
            </a:r>
            <a:r>
              <a:rPr lang="en-US" dirty="0"/>
              <a:t>:  β</a:t>
            </a:r>
            <a:r>
              <a:rPr lang="en-US" baseline="-25000" dirty="0">
                <a:latin typeface="Arial" pitchFamily="34" charset="0"/>
              </a:rPr>
              <a:t>1</a:t>
            </a:r>
            <a:r>
              <a:rPr lang="en-US" dirty="0"/>
              <a:t> = β</a:t>
            </a:r>
            <a:r>
              <a:rPr lang="en-US" baseline="-25000" dirty="0"/>
              <a:t>2</a:t>
            </a:r>
            <a:r>
              <a:rPr lang="en-US" dirty="0"/>
              <a:t> = … = </a:t>
            </a:r>
            <a:r>
              <a:rPr lang="en-US" dirty="0" err="1"/>
              <a:t>β</a:t>
            </a:r>
            <a:r>
              <a:rPr lang="en-US" baseline="-25000" dirty="0" err="1"/>
              <a:t>j</a:t>
            </a:r>
            <a:r>
              <a:rPr lang="en-US" dirty="0"/>
              <a:t> = 0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A</a:t>
            </a:r>
            <a:r>
              <a:rPr lang="en-US" dirty="0"/>
              <a:t>:  At least on β is different from Zero</a:t>
            </a:r>
          </a:p>
          <a:p>
            <a:r>
              <a:rPr lang="en-US" dirty="0">
                <a:solidFill>
                  <a:srgbClr val="FF0000"/>
                </a:solidFill>
              </a:rPr>
              <a:t>Use ANOVA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3352800"/>
          <a:ext cx="7696199" cy="3276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5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2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35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503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 </a:t>
                      </a:r>
                      <a:endParaRPr lang="en-US" sz="2000" b="0" i="1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 err="1"/>
                        <a:t>df</a:t>
                      </a:r>
                      <a:endParaRPr lang="en-US" sz="2000" b="0" i="1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SS</a:t>
                      </a:r>
                      <a:endParaRPr lang="en-US" sz="2000" b="0" i="1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MS</a:t>
                      </a:r>
                      <a:endParaRPr lang="en-US" sz="2000" b="0" i="1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F</a:t>
                      </a:r>
                      <a:endParaRPr lang="en-US" sz="2000" b="0" i="1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Significance F</a:t>
                      </a:r>
                      <a:endParaRPr lang="en-US" sz="2000" b="0" i="1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/>
                        <a:t>Regression</a:t>
                      </a:r>
                      <a:endParaRPr lang="en-US" sz="2000" b="0" i="0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2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(k-1)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3.61E+09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(SSR)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1.81E+09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(SSR/(k-1))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107.026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(MSR/MSE)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/>
                        <a:t>3.75E-15</a:t>
                      </a:r>
                      <a:endParaRPr lang="en-US" sz="2000" b="0" i="0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/>
                        <a:t>Residual</a:t>
                      </a:r>
                      <a:endParaRPr lang="en-US" sz="2000" b="0" i="0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33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(n-k)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5.57E+08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(SSE)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16883824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(SSE/(n-k))</a:t>
                      </a:r>
                    </a:p>
                  </a:txBody>
                  <a:tcPr marL="0" marR="0" marT="0" marB="0" anchor="ctr"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 </a:t>
                      </a:r>
                      <a:endParaRPr lang="en-US" sz="2000" b="0" i="0" u="none" strike="noStrike" dirty="0">
                        <a:latin typeface="Arial"/>
                      </a:endParaRPr>
                    </a:p>
                    <a:p>
                      <a:pPr algn="ctr" fontAlgn="b"/>
                      <a:r>
                        <a:rPr lang="en-US" sz="2000" u="none" strike="noStrike" dirty="0"/>
                        <a:t> </a:t>
                      </a:r>
                      <a:endParaRPr lang="en-US" sz="20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61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/>
                        <a:t>Total</a:t>
                      </a:r>
                      <a:endParaRPr lang="en-US" sz="2000" b="0" i="0" u="none" strike="noStrike">
                        <a:latin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35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(n-1)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4.17E+09</a:t>
                      </a:r>
                    </a:p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70C0"/>
                          </a:solidFill>
                          <a:latin typeface="Arial"/>
                        </a:rPr>
                        <a:t>(SST)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/>
                        <a:t> </a:t>
                      </a:r>
                      <a:endParaRPr lang="en-US" sz="20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 gridSpan="2"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tc hMerge="1" vMerge="1">
                  <a:txBody>
                    <a:bodyPr/>
                    <a:lstStyle/>
                    <a:p>
                      <a:pPr algn="ctr" fontAlgn="b"/>
                      <a:endParaRPr lang="en-US" sz="2000" b="0" i="0" u="none" strike="noStrike" dirty="0">
                        <a:latin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1" name="Object 4"/>
          <p:cNvGraphicFramePr>
            <a:graphicFrameLocks noChangeAspect="1"/>
          </p:cNvGraphicFramePr>
          <p:nvPr/>
        </p:nvGraphicFramePr>
        <p:xfrm>
          <a:off x="6019800" y="4953000"/>
          <a:ext cx="2852530" cy="96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44240" progId="Equation.3">
                  <p:embed/>
                </p:oleObj>
              </mc:Choice>
              <mc:Fallback>
                <p:oleObj name="Equation" r:id="rId4" imgW="116820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953000"/>
                        <a:ext cx="2852530" cy="96482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19800" y="5943600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 k = no. of coefficients estimated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6400" y="1828800"/>
            <a:ext cx="678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Variance-Covariance Matrix is given by: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2743200"/>
            <a:ext cx="4114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Cov (B) = S</a:t>
            </a:r>
            <a:r>
              <a:rPr lang="en-US" sz="3200" baseline="60000" dirty="0"/>
              <a:t>2</a:t>
            </a:r>
            <a:r>
              <a:rPr lang="en-US" sz="3200" dirty="0"/>
              <a:t>e</a:t>
            </a:r>
            <a:r>
              <a:rPr lang="en-US" sz="3200" baseline="30000" dirty="0"/>
              <a:t> </a:t>
            </a:r>
            <a:r>
              <a:rPr lang="en-US" sz="3200" dirty="0"/>
              <a:t>[X</a:t>
            </a:r>
            <a:r>
              <a:rPr lang="en-US" sz="4400" baseline="10000" dirty="0"/>
              <a:t>´</a:t>
            </a:r>
            <a:r>
              <a:rPr lang="en-US" sz="3200" dirty="0"/>
              <a:t>X]</a:t>
            </a:r>
            <a:r>
              <a:rPr lang="en-US" sz="3200" baseline="60000" dirty="0"/>
              <a:t>-</a:t>
            </a:r>
            <a:r>
              <a:rPr lang="en-US" sz="3200" baseline="60000" dirty="0">
                <a:latin typeface="Arial" pitchFamily="34" charset="0"/>
                <a:cs typeface="Arial" pitchFamily="34" charset="0"/>
              </a:rPr>
              <a:t>1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05200"/>
            <a:ext cx="617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Diagonal Elements give the Variances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67200"/>
            <a:ext cx="7467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Confidence Interval for is </a:t>
            </a:r>
            <a:r>
              <a:rPr lang="el-GR" sz="3200" dirty="0">
                <a:latin typeface="Times New Roman"/>
                <a:cs typeface="Times New Roman"/>
              </a:rPr>
              <a:t>β</a:t>
            </a:r>
            <a:r>
              <a:rPr lang="en-US" sz="3200" baseline="-25000" dirty="0">
                <a:latin typeface="Times New Roman"/>
                <a:cs typeface="Times New Roman"/>
              </a:rPr>
              <a:t>i</a:t>
            </a:r>
            <a:r>
              <a:rPr lang="en-US" sz="3200" dirty="0"/>
              <a:t> given by</a:t>
            </a:r>
          </a:p>
          <a:p>
            <a:r>
              <a:rPr lang="en-US" sz="3200" dirty="0"/>
              <a:t>b</a:t>
            </a:r>
            <a:r>
              <a:rPr lang="en-US" sz="3200" baseline="-25000" dirty="0"/>
              <a:t>i</a:t>
            </a:r>
            <a:r>
              <a:rPr lang="en-US" sz="3200" dirty="0"/>
              <a:t> </a:t>
            </a:r>
            <a:r>
              <a:rPr lang="el-GR" sz="3200" dirty="0">
                <a:latin typeface="Times New Roman"/>
                <a:cs typeface="Times New Roman"/>
              </a:rPr>
              <a:t>± </a:t>
            </a:r>
            <a:r>
              <a:rPr lang="en-US" sz="3200" dirty="0"/>
              <a:t>(t</a:t>
            </a:r>
            <a:r>
              <a:rPr lang="el-GR" sz="3200" baseline="-25000" dirty="0">
                <a:latin typeface="Times New Roman"/>
                <a:cs typeface="Times New Roman"/>
              </a:rPr>
              <a:t>α</a:t>
            </a:r>
            <a:r>
              <a:rPr lang="en-US" sz="3200" baseline="-25000" dirty="0">
                <a:latin typeface="Times New Roman"/>
                <a:cs typeface="Times New Roman"/>
              </a:rPr>
              <a:t>/2,df</a:t>
            </a:r>
            <a:r>
              <a:rPr lang="en-US" sz="3200" dirty="0">
                <a:latin typeface="Times New Roman"/>
                <a:cs typeface="Times New Roman"/>
              </a:rPr>
              <a:t>){Se(b</a:t>
            </a:r>
            <a:r>
              <a:rPr lang="en-US" sz="3200" baseline="-25000" dirty="0">
                <a:latin typeface="Times New Roman"/>
                <a:cs typeface="Times New Roman"/>
              </a:rPr>
              <a:t>i</a:t>
            </a:r>
            <a:r>
              <a:rPr lang="en-US" sz="3200" dirty="0">
                <a:latin typeface="Times New Roman"/>
                <a:cs typeface="Times New Roman"/>
              </a:rPr>
              <a:t>)}</a:t>
            </a:r>
          </a:p>
          <a:p>
            <a:endParaRPr lang="en-US" sz="3200" dirty="0">
              <a:latin typeface="Times New Roman"/>
              <a:cs typeface="Times New Roman"/>
            </a:endParaRPr>
          </a:p>
          <a:p>
            <a:r>
              <a:rPr lang="en-US" sz="3200" dirty="0">
                <a:latin typeface="Times New Roman"/>
                <a:cs typeface="Times New Roman"/>
              </a:rPr>
              <a:t>Confidence Level is (1 – </a:t>
            </a:r>
            <a:r>
              <a:rPr lang="el-GR" sz="3200" dirty="0">
                <a:latin typeface="Times New Roman"/>
                <a:cs typeface="Times New Roman"/>
              </a:rPr>
              <a:t>α</a:t>
            </a:r>
            <a:r>
              <a:rPr lang="en-US" sz="3200" dirty="0">
                <a:latin typeface="Times New Roman"/>
                <a:cs typeface="Times New Roman"/>
              </a:rPr>
              <a:t>)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Hypothesis Test for Individual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524000"/>
            <a:ext cx="289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H</a:t>
            </a:r>
            <a:r>
              <a:rPr lang="en-US" sz="3200" baseline="-25000" dirty="0"/>
              <a:t>0</a:t>
            </a:r>
            <a:r>
              <a:rPr lang="en-US" sz="3200" dirty="0"/>
              <a:t>:  b</a:t>
            </a:r>
            <a:r>
              <a:rPr lang="en-US" sz="3200" baseline="-25000" dirty="0">
                <a:latin typeface="Arial" pitchFamily="34" charset="0"/>
              </a:rPr>
              <a:t>1</a:t>
            </a:r>
            <a:r>
              <a:rPr lang="en-US" sz="3200" dirty="0"/>
              <a:t> = 0</a:t>
            </a:r>
          </a:p>
          <a:p>
            <a:pPr lvl="1"/>
            <a:r>
              <a:rPr lang="en-US" sz="3200" dirty="0"/>
              <a:t>H</a:t>
            </a:r>
            <a:r>
              <a:rPr lang="en-US" sz="3200" baseline="-25000" dirty="0"/>
              <a:t>A</a:t>
            </a:r>
            <a:r>
              <a:rPr lang="en-US" sz="3200" dirty="0"/>
              <a:t>:  b</a:t>
            </a:r>
            <a:r>
              <a:rPr lang="en-US" sz="3200" baseline="-25000" dirty="0">
                <a:latin typeface="Arial" pitchFamily="34" charset="0"/>
              </a:rPr>
              <a:t>1</a:t>
            </a:r>
            <a:r>
              <a:rPr lang="en-US" sz="3200" dirty="0"/>
              <a:t> ≠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524000"/>
            <a:ext cx="289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200" dirty="0"/>
              <a:t>H</a:t>
            </a:r>
            <a:r>
              <a:rPr lang="en-US" sz="3200" baseline="-25000" dirty="0"/>
              <a:t>0</a:t>
            </a:r>
            <a:r>
              <a:rPr lang="en-US" sz="3200" dirty="0"/>
              <a:t>:  b</a:t>
            </a:r>
            <a:r>
              <a:rPr lang="en-US" sz="3200" baseline="-25000" dirty="0">
                <a:latin typeface="Arial" pitchFamily="34" charset="0"/>
              </a:rPr>
              <a:t>2</a:t>
            </a:r>
            <a:r>
              <a:rPr lang="en-US" sz="3200" dirty="0"/>
              <a:t> = 0</a:t>
            </a:r>
          </a:p>
          <a:p>
            <a:pPr lvl="1"/>
            <a:r>
              <a:rPr lang="en-US" sz="3200" dirty="0"/>
              <a:t>H</a:t>
            </a:r>
            <a:r>
              <a:rPr lang="en-US" sz="3200" baseline="-25000" dirty="0"/>
              <a:t>A</a:t>
            </a:r>
            <a:r>
              <a:rPr lang="en-US" sz="3200" dirty="0"/>
              <a:t>:  b</a:t>
            </a:r>
            <a:r>
              <a:rPr lang="en-US" sz="3200" baseline="-25000" dirty="0">
                <a:latin typeface="Arial" pitchFamily="34" charset="0"/>
              </a:rPr>
              <a:t>2</a:t>
            </a:r>
            <a:r>
              <a:rPr lang="en-US" sz="3200" dirty="0"/>
              <a:t> ≠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7800" y="3048000"/>
            <a:ext cx="304800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dirty="0"/>
              <a:t>t = 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/>
              <a:t> – 0)/Se(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800" dirty="0"/>
              <a:t>)</a:t>
            </a:r>
          </a:p>
          <a:p>
            <a:r>
              <a:rPr lang="en-US" sz="2800" dirty="0"/>
              <a:t>  =12.13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3048000"/>
            <a:ext cx="3048000" cy="1384995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r>
              <a:rPr lang="en-US" sz="2800" dirty="0"/>
              <a:t>t = 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/>
              <a:t> – 0)/Se(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b</a:t>
            </a:r>
            <a:r>
              <a:rPr lang="en-US" sz="2800" baseline="-25000" dirty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/>
              <a:t>)</a:t>
            </a:r>
          </a:p>
          <a:p>
            <a:r>
              <a:rPr lang="en-US" sz="2800" dirty="0"/>
              <a:t>   =10.74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1905000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itchFamily="34" charset="0"/>
                <a:cs typeface="Arial" pitchFamily="34" charset="0"/>
              </a:rP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559</TotalTime>
  <Words>639</Words>
  <Application>Microsoft Office PowerPoint</Application>
  <PresentationFormat>On-screen Show (4:3)</PresentationFormat>
  <Paragraphs>183</Paragraphs>
  <Slides>20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Abadi MT Condensed</vt:lpstr>
      <vt:lpstr>Arial</vt:lpstr>
      <vt:lpstr>Calibri</vt:lpstr>
      <vt:lpstr>Cambria Math</vt:lpstr>
      <vt:lpstr>Garamond</vt:lpstr>
      <vt:lpstr>Gill Sans MT</vt:lpstr>
      <vt:lpstr>Times New Roman</vt:lpstr>
      <vt:lpstr>Verdana</vt:lpstr>
      <vt:lpstr>Wingdings 2</vt:lpstr>
      <vt:lpstr>Solstice</vt:lpstr>
      <vt:lpstr>Equation</vt:lpstr>
      <vt:lpstr>Multiple Regression</vt:lpstr>
      <vt:lpstr>Multiple Regression</vt:lpstr>
      <vt:lpstr>The Model</vt:lpstr>
      <vt:lpstr>Estimated Equation</vt:lpstr>
      <vt:lpstr>Assumptions about Random Error e</vt:lpstr>
      <vt:lpstr>Matrix Notation</vt:lpstr>
      <vt:lpstr>Example</vt:lpstr>
      <vt:lpstr>OH Vs. Mach Hours</vt:lpstr>
      <vt:lpstr>Scatter Plot OH Vs. Prod. Runs</vt:lpstr>
      <vt:lpstr>Correlations</vt:lpstr>
      <vt:lpstr>Regression</vt:lpstr>
      <vt:lpstr>Validation of the model</vt:lpstr>
      <vt:lpstr>Standard Error of the Estimate</vt:lpstr>
      <vt:lpstr>Coefficient of Determination</vt:lpstr>
      <vt:lpstr>Adjusted R2</vt:lpstr>
      <vt:lpstr>Bendrix – Excel Output</vt:lpstr>
      <vt:lpstr>Hypothesis test of Overall Significance</vt:lpstr>
      <vt:lpstr>Confidence Intervals</vt:lpstr>
      <vt:lpstr>Hypothesis Test for Individual Parameters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– Multiple Regression</dc:title>
  <dc:creator>new</dc:creator>
  <cp:lastModifiedBy>Vishnuprasad Nagadevara</cp:lastModifiedBy>
  <cp:revision>37</cp:revision>
  <dcterms:created xsi:type="dcterms:W3CDTF">2009-09-27T03:24:55Z</dcterms:created>
  <dcterms:modified xsi:type="dcterms:W3CDTF">2021-07-02T09:31:26Z</dcterms:modified>
</cp:coreProperties>
</file>