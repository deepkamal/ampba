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2"/>
  </p:notesMasterIdLst>
  <p:sldIdLst>
    <p:sldId id="290" r:id="rId2"/>
    <p:sldId id="291" r:id="rId3"/>
    <p:sldId id="292" r:id="rId4"/>
    <p:sldId id="293" r:id="rId5"/>
    <p:sldId id="295" r:id="rId6"/>
    <p:sldId id="294" r:id="rId7"/>
    <p:sldId id="296" r:id="rId8"/>
    <p:sldId id="283" r:id="rId9"/>
    <p:sldId id="284" r:id="rId10"/>
    <p:sldId id="285" r:id="rId11"/>
    <p:sldId id="286" r:id="rId12"/>
    <p:sldId id="287" r:id="rId13"/>
    <p:sldId id="332" r:id="rId14"/>
    <p:sldId id="288" r:id="rId15"/>
    <p:sldId id="300" r:id="rId16"/>
    <p:sldId id="476" r:id="rId17"/>
    <p:sldId id="289" r:id="rId18"/>
    <p:sldId id="257" r:id="rId19"/>
    <p:sldId id="260" r:id="rId20"/>
    <p:sldId id="258" r:id="rId21"/>
    <p:sldId id="471" r:id="rId22"/>
    <p:sldId id="473" r:id="rId23"/>
    <p:sldId id="474" r:id="rId24"/>
    <p:sldId id="297" r:id="rId25"/>
    <p:sldId id="298" r:id="rId26"/>
    <p:sldId id="299" r:id="rId27"/>
    <p:sldId id="309" r:id="rId28"/>
    <p:sldId id="312" r:id="rId29"/>
    <p:sldId id="313" r:id="rId30"/>
    <p:sldId id="311" r:id="rId31"/>
    <p:sldId id="310" r:id="rId32"/>
    <p:sldId id="314" r:id="rId33"/>
    <p:sldId id="315" r:id="rId34"/>
    <p:sldId id="316" r:id="rId35"/>
    <p:sldId id="317" r:id="rId36"/>
    <p:sldId id="318" r:id="rId37"/>
    <p:sldId id="319" r:id="rId38"/>
    <p:sldId id="331" r:id="rId39"/>
    <p:sldId id="267" r:id="rId40"/>
    <p:sldId id="333" r:id="rId41"/>
    <p:sldId id="265" r:id="rId42"/>
    <p:sldId id="302" r:id="rId43"/>
    <p:sldId id="301" r:id="rId44"/>
    <p:sldId id="303" r:id="rId45"/>
    <p:sldId id="304" r:id="rId46"/>
    <p:sldId id="306" r:id="rId47"/>
    <p:sldId id="305" r:id="rId48"/>
    <p:sldId id="334" r:id="rId49"/>
    <p:sldId id="281" r:id="rId50"/>
    <p:sldId id="335" r:id="rId51"/>
    <p:sldId id="336" r:id="rId52"/>
    <p:sldId id="337" r:id="rId53"/>
    <p:sldId id="468" r:id="rId54"/>
    <p:sldId id="280" r:id="rId55"/>
    <p:sldId id="477" r:id="rId56"/>
    <p:sldId id="469" r:id="rId57"/>
    <p:sldId id="465" r:id="rId58"/>
    <p:sldId id="467" r:id="rId59"/>
    <p:sldId id="470" r:id="rId60"/>
    <p:sldId id="338" r:id="rId6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CC"/>
    <a:srgbClr val="CCFF99"/>
    <a:srgbClr val="DBFEFF"/>
    <a:srgbClr val="FEDCFC"/>
    <a:srgbClr val="99FF99"/>
    <a:srgbClr val="FCFED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604"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6A9A503-0F27-43DC-A286-2901CEC6F693}"/>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smtClean="0">
                <a:latin typeface="+mn-lt"/>
              </a:defRPr>
            </a:lvl1pPr>
          </a:lstStyle>
          <a:p>
            <a:pPr>
              <a:defRPr/>
            </a:pPr>
            <a:endParaRPr lang="en-US"/>
          </a:p>
        </p:txBody>
      </p:sp>
      <p:sp>
        <p:nvSpPr>
          <p:cNvPr id="3" name="Date Placeholder 2">
            <a:extLst>
              <a:ext uri="{FF2B5EF4-FFF2-40B4-BE49-F238E27FC236}">
                <a16:creationId xmlns:a16="http://schemas.microsoft.com/office/drawing/2014/main" id="{C58B5C79-FBE6-4EA3-837C-9199BAF1AD84}"/>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defRPr>
            </a:lvl1pPr>
          </a:lstStyle>
          <a:p>
            <a:pPr>
              <a:defRPr/>
            </a:pPr>
            <a:fld id="{EE78B3D6-675B-4276-906F-69B6C21F886B}" type="datetimeFigureOut">
              <a:rPr lang="en-US"/>
              <a:pPr>
                <a:defRPr/>
              </a:pPr>
              <a:t>7/10/2021</a:t>
            </a:fld>
            <a:endParaRPr lang="en-US"/>
          </a:p>
        </p:txBody>
      </p:sp>
      <p:sp>
        <p:nvSpPr>
          <p:cNvPr id="4" name="Slide Image Placeholder 3">
            <a:extLst>
              <a:ext uri="{FF2B5EF4-FFF2-40B4-BE49-F238E27FC236}">
                <a16:creationId xmlns:a16="http://schemas.microsoft.com/office/drawing/2014/main" id="{136E51AA-DA5A-4833-B663-853B51618423}"/>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A4B42BB5-F76E-4213-8D44-A7E874BD1456}"/>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44AF2412-1729-430E-954F-6D953B16B2A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smtClean="0">
                <a:latin typeface="+mn-lt"/>
              </a:defRPr>
            </a:lvl1pPr>
          </a:lstStyle>
          <a:p>
            <a:pPr>
              <a:defRPr/>
            </a:pPr>
            <a:endParaRPr lang="en-US"/>
          </a:p>
        </p:txBody>
      </p:sp>
      <p:sp>
        <p:nvSpPr>
          <p:cNvPr id="7" name="Slide Number Placeholder 6">
            <a:extLst>
              <a:ext uri="{FF2B5EF4-FFF2-40B4-BE49-F238E27FC236}">
                <a16:creationId xmlns:a16="http://schemas.microsoft.com/office/drawing/2014/main" id="{925269B3-91EC-492C-A412-01854DF0D0BB}"/>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90B58BCD-3F84-4239-AA80-4BCB44684E85}"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0B58BCD-3F84-4239-AA80-4BCB44684E85}" type="slidenum">
              <a:rPr lang="en-US" altLang="en-US" smtClean="0"/>
              <a:pPr/>
              <a:t>7</a:t>
            </a:fld>
            <a:endParaRPr lang="en-US" altLang="en-US"/>
          </a:p>
        </p:txBody>
      </p:sp>
    </p:spTree>
    <p:extLst>
      <p:ext uri="{BB962C8B-B14F-4D97-AF65-F5344CB8AC3E}">
        <p14:creationId xmlns:p14="http://schemas.microsoft.com/office/powerpoint/2010/main" val="16259352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37E1BACA-FDCE-4EA7-81EB-E2E368938BF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CE151D9C-DC6D-4916-8F9D-BC3620EE1365}" type="slidenum">
              <a:rPr lang="en-US" altLang="en-US"/>
              <a:pPr/>
              <a:t>8</a:t>
            </a:fld>
            <a:endParaRPr lang="en-US" altLang="en-US"/>
          </a:p>
        </p:txBody>
      </p:sp>
      <p:sp>
        <p:nvSpPr>
          <p:cNvPr id="58371" name="Rectangle 2">
            <a:extLst>
              <a:ext uri="{FF2B5EF4-FFF2-40B4-BE49-F238E27FC236}">
                <a16:creationId xmlns:a16="http://schemas.microsoft.com/office/drawing/2014/main" id="{52BBD062-C55B-4684-8B10-A691CD11B7F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2" name="Rectangle 3">
            <a:extLst>
              <a:ext uri="{FF2B5EF4-FFF2-40B4-BE49-F238E27FC236}">
                <a16:creationId xmlns:a16="http://schemas.microsoft.com/office/drawing/2014/main" id="{525417CC-A3A4-4409-A86A-4EEC4C786D3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43B5860A-F217-4324-9DC9-2E87D9D1E5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B530F5AD-F4C3-4B4E-917F-D622F2E1822D}" type="slidenum">
              <a:rPr lang="en-US" altLang="en-US"/>
              <a:pPr/>
              <a:t>9</a:t>
            </a:fld>
            <a:endParaRPr lang="en-US" altLang="en-US"/>
          </a:p>
        </p:txBody>
      </p:sp>
      <p:sp>
        <p:nvSpPr>
          <p:cNvPr id="59395" name="Rectangle 2">
            <a:extLst>
              <a:ext uri="{FF2B5EF4-FFF2-40B4-BE49-F238E27FC236}">
                <a16:creationId xmlns:a16="http://schemas.microsoft.com/office/drawing/2014/main" id="{BB428B15-5E78-4318-8D71-432D7919450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6" name="Rectangle 3">
            <a:extLst>
              <a:ext uri="{FF2B5EF4-FFF2-40B4-BE49-F238E27FC236}">
                <a16:creationId xmlns:a16="http://schemas.microsoft.com/office/drawing/2014/main" id="{1DEC9A06-E6F3-43B9-BF1C-75D72170233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FF7D6C4B-AE18-484A-A2C6-D5FAD126D58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A4151FAC-67DD-4558-A604-9780E5AD4F8D}" type="slidenum">
              <a:rPr lang="en-US" altLang="en-US"/>
              <a:pPr/>
              <a:t>10</a:t>
            </a:fld>
            <a:endParaRPr lang="en-US" altLang="en-US"/>
          </a:p>
        </p:txBody>
      </p:sp>
      <p:sp>
        <p:nvSpPr>
          <p:cNvPr id="60419" name="Rectangle 2">
            <a:extLst>
              <a:ext uri="{FF2B5EF4-FFF2-40B4-BE49-F238E27FC236}">
                <a16:creationId xmlns:a16="http://schemas.microsoft.com/office/drawing/2014/main" id="{221FC7A1-12F0-4632-8097-AF124ACF073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20" name="Rectangle 3">
            <a:extLst>
              <a:ext uri="{FF2B5EF4-FFF2-40B4-BE49-F238E27FC236}">
                <a16:creationId xmlns:a16="http://schemas.microsoft.com/office/drawing/2014/main" id="{CC8C77C7-6427-491A-BE66-7DE5C6B89EC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31430112-AA57-4630-9AC2-08DF0031DCC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316F3ACC-3548-44D5-B1C1-3BB913E1745A}" type="slidenum">
              <a:rPr lang="en-US" altLang="en-US"/>
              <a:pPr/>
              <a:t>11</a:t>
            </a:fld>
            <a:endParaRPr lang="en-US" altLang="en-US"/>
          </a:p>
        </p:txBody>
      </p:sp>
      <p:sp>
        <p:nvSpPr>
          <p:cNvPr id="61443" name="Rectangle 2">
            <a:extLst>
              <a:ext uri="{FF2B5EF4-FFF2-40B4-BE49-F238E27FC236}">
                <a16:creationId xmlns:a16="http://schemas.microsoft.com/office/drawing/2014/main" id="{CEE3C521-5FFC-4B54-9448-D84A7D15D67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4" name="Rectangle 3">
            <a:extLst>
              <a:ext uri="{FF2B5EF4-FFF2-40B4-BE49-F238E27FC236}">
                <a16:creationId xmlns:a16="http://schemas.microsoft.com/office/drawing/2014/main" id="{CD36B89E-27D1-4FF5-BF15-AE26CEC111F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DB456B8B-23EF-4EDF-BFA8-0EFCA3127B9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9FC98320-9DD8-4AF8-A6C7-8B5C3CC1E373}" type="slidenum">
              <a:rPr lang="en-US" altLang="en-US"/>
              <a:pPr/>
              <a:t>12</a:t>
            </a:fld>
            <a:endParaRPr lang="en-US" altLang="en-US"/>
          </a:p>
        </p:txBody>
      </p:sp>
      <p:sp>
        <p:nvSpPr>
          <p:cNvPr id="62467" name="Rectangle 2">
            <a:extLst>
              <a:ext uri="{FF2B5EF4-FFF2-40B4-BE49-F238E27FC236}">
                <a16:creationId xmlns:a16="http://schemas.microsoft.com/office/drawing/2014/main" id="{6D44527B-B61C-47BB-B919-74744CF0380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8" name="Rectangle 3">
            <a:extLst>
              <a:ext uri="{FF2B5EF4-FFF2-40B4-BE49-F238E27FC236}">
                <a16:creationId xmlns:a16="http://schemas.microsoft.com/office/drawing/2014/main" id="{F73705D9-DF20-4F10-917C-EB457718B59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3596776B-32AF-487B-90DA-19708579C3D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6AFAB586-1C18-4891-B14D-1A4BEBF9C8B5}" type="slidenum">
              <a:rPr lang="en-US" altLang="en-US"/>
              <a:pPr/>
              <a:t>14</a:t>
            </a:fld>
            <a:endParaRPr lang="en-US" altLang="en-US"/>
          </a:p>
        </p:txBody>
      </p:sp>
      <p:sp>
        <p:nvSpPr>
          <p:cNvPr id="63491" name="Rectangle 2">
            <a:extLst>
              <a:ext uri="{FF2B5EF4-FFF2-40B4-BE49-F238E27FC236}">
                <a16:creationId xmlns:a16="http://schemas.microsoft.com/office/drawing/2014/main" id="{03E60649-EC0F-4674-B25C-8B89DB66B82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2" name="Rectangle 3">
            <a:extLst>
              <a:ext uri="{FF2B5EF4-FFF2-40B4-BE49-F238E27FC236}">
                <a16:creationId xmlns:a16="http://schemas.microsoft.com/office/drawing/2014/main" id="{3EBDF1B2-0921-4F59-904F-B82C0A11CB5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3596776B-32AF-487B-90DA-19708579C3D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6AFAB586-1C18-4891-B14D-1A4BEBF9C8B5}" type="slidenum">
              <a:rPr lang="en-US" altLang="en-US"/>
              <a:pPr/>
              <a:t>16</a:t>
            </a:fld>
            <a:endParaRPr lang="en-US" altLang="en-US"/>
          </a:p>
        </p:txBody>
      </p:sp>
      <p:sp>
        <p:nvSpPr>
          <p:cNvPr id="63491" name="Rectangle 2">
            <a:extLst>
              <a:ext uri="{FF2B5EF4-FFF2-40B4-BE49-F238E27FC236}">
                <a16:creationId xmlns:a16="http://schemas.microsoft.com/office/drawing/2014/main" id="{03E60649-EC0F-4674-B25C-8B89DB66B82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2" name="Rectangle 3">
            <a:extLst>
              <a:ext uri="{FF2B5EF4-FFF2-40B4-BE49-F238E27FC236}">
                <a16:creationId xmlns:a16="http://schemas.microsoft.com/office/drawing/2014/main" id="{3EBDF1B2-0921-4F59-904F-B82C0A11CB5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extLst>
      <p:ext uri="{BB962C8B-B14F-4D97-AF65-F5344CB8AC3E}">
        <p14:creationId xmlns:p14="http://schemas.microsoft.com/office/powerpoint/2010/main" val="34952639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originally proposed by Schwarz (1978), </a:t>
            </a:r>
          </a:p>
          <a:p>
            <a:r>
              <a:rPr lang="en-US" dirty="0" err="1"/>
              <a:t>AICcproposed</a:t>
            </a:r>
            <a:r>
              <a:rPr lang="en-US" dirty="0"/>
              <a:t> by </a:t>
            </a:r>
            <a:r>
              <a:rPr lang="en-US" dirty="0" err="1"/>
              <a:t>Hurvich</a:t>
            </a:r>
            <a:r>
              <a:rPr lang="en-US" dirty="0"/>
              <a:t> and Tsai (1989), which is given by</a:t>
            </a:r>
            <a:endParaRPr lang="en-IN" dirty="0"/>
          </a:p>
        </p:txBody>
      </p:sp>
      <p:sp>
        <p:nvSpPr>
          <p:cNvPr id="4" name="Slide Number Placeholder 3"/>
          <p:cNvSpPr>
            <a:spLocks noGrp="1"/>
          </p:cNvSpPr>
          <p:nvPr>
            <p:ph type="sldNum" sz="quarter" idx="5"/>
          </p:nvPr>
        </p:nvSpPr>
        <p:spPr/>
        <p:txBody>
          <a:bodyPr/>
          <a:lstStyle/>
          <a:p>
            <a:fld id="{D7B1F3D6-F25C-4FF1-B37A-C83D84852F2F}" type="slidenum">
              <a:rPr lang="en-IN" smtClean="0"/>
              <a:t>20</a:t>
            </a:fld>
            <a:endParaRPr lang="en-IN"/>
          </a:p>
        </p:txBody>
      </p:sp>
    </p:spTree>
    <p:extLst>
      <p:ext uri="{BB962C8B-B14F-4D97-AF65-F5344CB8AC3E}">
        <p14:creationId xmlns:p14="http://schemas.microsoft.com/office/powerpoint/2010/main" val="38129155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50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a:ea typeface="ＭＳ Ｐゴシック" charset="-128"/>
            </a:endParaRPr>
          </a:p>
        </p:txBody>
      </p:sp>
      <p:sp>
        <p:nvSpPr>
          <p:cNvPr id="450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fld id="{250811C1-DEE5-234E-996D-FE859DBD19C7}" type="slidenum">
              <a:rPr lang="en-US" altLang="en-US">
                <a:latin typeface="Calibri" charset="0"/>
              </a:rPr>
              <a:pPr eaLnBrk="1" hangingPunct="1"/>
              <a:t>21</a:t>
            </a:fld>
            <a:endParaRPr lang="en-US" altLang="en-US">
              <a:latin typeface="Calibri" charset="0"/>
            </a:endParaRPr>
          </a:p>
        </p:txBody>
      </p:sp>
    </p:spTree>
    <p:extLst>
      <p:ext uri="{BB962C8B-B14F-4D97-AF65-F5344CB8AC3E}">
        <p14:creationId xmlns:p14="http://schemas.microsoft.com/office/powerpoint/2010/main" val="1979935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471094CB-568B-49DB-90A4-7400FD9B5FA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00393ADA-0346-4E88-B8D6-8ED54061628B}" type="slidenum">
              <a:rPr lang="en-US" altLang="en-US"/>
              <a:pPr/>
              <a:t>39</a:t>
            </a:fld>
            <a:endParaRPr lang="en-US" altLang="en-US"/>
          </a:p>
        </p:txBody>
      </p:sp>
      <p:sp>
        <p:nvSpPr>
          <p:cNvPr id="43011" name="Rectangle 2">
            <a:extLst>
              <a:ext uri="{FF2B5EF4-FFF2-40B4-BE49-F238E27FC236}">
                <a16:creationId xmlns:a16="http://schemas.microsoft.com/office/drawing/2014/main" id="{ACEF4002-4264-4A64-82A2-0E91196C7EE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2" name="Rectangle 3">
            <a:extLst>
              <a:ext uri="{FF2B5EF4-FFF2-40B4-BE49-F238E27FC236}">
                <a16:creationId xmlns:a16="http://schemas.microsoft.com/office/drawing/2014/main" id="{2EAAEDC3-59B7-4F6B-BD93-94F8A41A185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28600" indent="-228600">
              <a:spcBef>
                <a:spcPct val="0"/>
              </a:spcBef>
            </a:pPr>
            <a:r>
              <a:rPr lang="en-US" altLang="en-US" dirty="0"/>
              <a:t>When we try to develop a regression model, we want,</a:t>
            </a:r>
          </a:p>
          <a:p>
            <a:pPr marL="228600" indent="-228600">
              <a:spcBef>
                <a:spcPct val="0"/>
              </a:spcBef>
            </a:pPr>
            <a:endParaRPr lang="en-US" altLang="en-US" dirty="0"/>
          </a:p>
          <a:p>
            <a:pPr marL="228600" indent="-228600">
              <a:spcBef>
                <a:spcPct val="0"/>
              </a:spcBef>
              <a:buFontTx/>
              <a:buAutoNum type="arabicPeriod"/>
            </a:pPr>
            <a:r>
              <a:rPr lang="en-US" altLang="en-US" dirty="0"/>
              <a:t>Model as a whole must be significant.</a:t>
            </a:r>
          </a:p>
          <a:p>
            <a:pPr marL="228600" indent="-228600">
              <a:spcBef>
                <a:spcPct val="0"/>
              </a:spcBef>
            </a:pPr>
            <a:r>
              <a:rPr lang="en-US" altLang="en-US" dirty="0"/>
              <a:t>2. Each independent variable must explain variation in Y in a significant manner given the presence of the rest of the variables.</a:t>
            </a:r>
          </a:p>
          <a:p>
            <a:pPr marL="228600" indent="-228600">
              <a:spcBef>
                <a:spcPct val="0"/>
              </a:spcBef>
            </a:pPr>
            <a:r>
              <a:rPr lang="en-US" altLang="en-US" dirty="0"/>
              <a:t>3. For this each independent variable must have high correlation with Y, and at the same time it is desirable for them to have as little correlation amongst them as possible. If not, we have multicollinearity. </a:t>
            </a:r>
          </a:p>
        </p:txBody>
      </p:sp>
    </p:spTree>
    <p:extLst>
      <p:ext uri="{BB962C8B-B14F-4D97-AF65-F5344CB8AC3E}">
        <p14:creationId xmlns:p14="http://schemas.microsoft.com/office/powerpoint/2010/main" val="28131975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481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a:ea typeface="ＭＳ Ｐゴシック" charset="-128"/>
            </a:endParaRPr>
          </a:p>
        </p:txBody>
      </p:sp>
      <p:sp>
        <p:nvSpPr>
          <p:cNvPr id="3481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109C6955-CC70-4942-B464-681518ECA975}" type="slidenum">
              <a:rPr lang="en-US" altLang="en-US" sz="1300">
                <a:latin typeface="Calibri" charset="0"/>
              </a:rPr>
              <a:pPr eaLnBrk="1" hangingPunct="1"/>
              <a:t>48</a:t>
            </a:fld>
            <a:endParaRPr lang="en-US" altLang="en-US" sz="1300">
              <a:latin typeface="Calibri" charset="0"/>
            </a:endParaRPr>
          </a:p>
        </p:txBody>
      </p:sp>
    </p:spTree>
    <p:extLst>
      <p:ext uri="{BB962C8B-B14F-4D97-AF65-F5344CB8AC3E}">
        <p14:creationId xmlns:p14="http://schemas.microsoft.com/office/powerpoint/2010/main" val="2671273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3E85E1F2-A8B5-47C8-BE42-933F2E4ADB7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32B0401A-F9B0-4FA0-97BC-B39F0281B00F}" type="slidenum">
              <a:rPr lang="en-US" altLang="en-US"/>
              <a:pPr/>
              <a:t>49</a:t>
            </a:fld>
            <a:endParaRPr lang="en-US" altLang="en-US"/>
          </a:p>
        </p:txBody>
      </p:sp>
      <p:sp>
        <p:nvSpPr>
          <p:cNvPr id="56323" name="Rectangle 2">
            <a:extLst>
              <a:ext uri="{FF2B5EF4-FFF2-40B4-BE49-F238E27FC236}">
                <a16:creationId xmlns:a16="http://schemas.microsoft.com/office/drawing/2014/main" id="{79274FE2-19FC-408E-9C77-F4A859C6C9B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4" name="Rectangle 3">
            <a:extLst>
              <a:ext uri="{FF2B5EF4-FFF2-40B4-BE49-F238E27FC236}">
                <a16:creationId xmlns:a16="http://schemas.microsoft.com/office/drawing/2014/main" id="{BB8F5A7A-A5B8-467A-9D24-035AE6E3F5E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extLst>
      <p:ext uri="{BB962C8B-B14F-4D97-AF65-F5344CB8AC3E}">
        <p14:creationId xmlns:p14="http://schemas.microsoft.com/office/powerpoint/2010/main" val="3181965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BD1E3A45-49CE-4525-92A7-C577F472659E}" type="datetimeFigureOut">
              <a:rPr lang="en-US" smtClean="0"/>
              <a:pPr>
                <a:defRPr/>
              </a:pPr>
              <a:t>7/10/2021</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C6A0E222-3DCA-4EFC-96A6-A0B2499768D0}" type="slidenum">
              <a:rPr lang="en-US" altLang="en-US" smtClean="0"/>
              <a:pPr/>
              <a:t>‹#›</a:t>
            </a:fld>
            <a:endParaRPr lang="en-US" altLang="en-US"/>
          </a:p>
        </p:txBody>
      </p:sp>
    </p:spTree>
    <p:extLst>
      <p:ext uri="{BB962C8B-B14F-4D97-AF65-F5344CB8AC3E}">
        <p14:creationId xmlns:p14="http://schemas.microsoft.com/office/powerpoint/2010/main" val="15395518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4E4A2FC5-D168-4E53-8EC7-A4564D73C181}" type="datetimeFigureOut">
              <a:rPr lang="en-US" smtClean="0"/>
              <a:pPr>
                <a:defRPr/>
              </a:pPr>
              <a:t>7/10/2021</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41EACEEA-3D41-43D6-B2FE-3D233495E7A2}" type="slidenum">
              <a:rPr lang="en-US" altLang="en-US" smtClean="0"/>
              <a:pPr/>
              <a:t>‹#›</a:t>
            </a:fld>
            <a:endParaRPr lang="en-US" altLang="en-US"/>
          </a:p>
        </p:txBody>
      </p:sp>
    </p:spTree>
    <p:extLst>
      <p:ext uri="{BB962C8B-B14F-4D97-AF65-F5344CB8AC3E}">
        <p14:creationId xmlns:p14="http://schemas.microsoft.com/office/powerpoint/2010/main" val="1760930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7A0664C9-C2DB-43C2-8001-50250337DF26}" type="datetimeFigureOut">
              <a:rPr lang="en-US" smtClean="0"/>
              <a:pPr>
                <a:defRPr/>
              </a:pPr>
              <a:t>7/10/2021</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5AC01893-99E3-4F3B-BE61-ABE58C6D28AB}" type="slidenum">
              <a:rPr lang="en-US" altLang="en-US" smtClean="0"/>
              <a:pPr/>
              <a:t>‹#›</a:t>
            </a:fld>
            <a:endParaRPr lang="en-US" altLang="en-US"/>
          </a:p>
        </p:txBody>
      </p:sp>
    </p:spTree>
    <p:extLst>
      <p:ext uri="{BB962C8B-B14F-4D97-AF65-F5344CB8AC3E}">
        <p14:creationId xmlns:p14="http://schemas.microsoft.com/office/powerpoint/2010/main" val="1243363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10F8EDE6-4DA1-41FB-B703-747A044AA83F}" type="datetimeFigureOut">
              <a:rPr lang="en-US" smtClean="0"/>
              <a:pPr>
                <a:defRPr/>
              </a:pPr>
              <a:t>7/10/2021</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1631F4DC-D17D-4EF8-8C1E-246E37247C4B}" type="slidenum">
              <a:rPr lang="en-US" altLang="en-US" smtClean="0"/>
              <a:pPr/>
              <a:t>‹#›</a:t>
            </a:fld>
            <a:endParaRPr lang="en-US" altLang="en-US"/>
          </a:p>
        </p:txBody>
      </p:sp>
    </p:spTree>
    <p:extLst>
      <p:ext uri="{BB962C8B-B14F-4D97-AF65-F5344CB8AC3E}">
        <p14:creationId xmlns:p14="http://schemas.microsoft.com/office/powerpoint/2010/main" val="2441195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E441DF65-CFE6-4D58-8174-AD078CF31ADD}" type="datetimeFigureOut">
              <a:rPr lang="en-US" smtClean="0"/>
              <a:pPr>
                <a:defRPr/>
              </a:pPr>
              <a:t>7/10/2021</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fld id="{90DDBD22-1D72-4D5B-A01C-1F8AEF6DCC7A}" type="slidenum">
              <a:rPr lang="en-US" altLang="en-US" smtClean="0"/>
              <a:pPr/>
              <a:t>‹#›</a:t>
            </a:fld>
            <a:endParaRPr lang="en-US" altLang="en-US"/>
          </a:p>
        </p:txBody>
      </p:sp>
    </p:spTree>
    <p:extLst>
      <p:ext uri="{BB962C8B-B14F-4D97-AF65-F5344CB8AC3E}">
        <p14:creationId xmlns:p14="http://schemas.microsoft.com/office/powerpoint/2010/main" val="9541936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4F4DDAD0-D37D-41A9-95A2-8B17A4BAD643}" type="datetimeFigureOut">
              <a:rPr lang="en-US" smtClean="0"/>
              <a:pPr>
                <a:defRPr/>
              </a:pPr>
              <a:t>7/10/2021</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fld id="{99420F35-A29B-4F74-AAD2-5D46AA930CE5}" type="slidenum">
              <a:rPr lang="en-US" altLang="en-US" smtClean="0"/>
              <a:pPr/>
              <a:t>‹#›</a:t>
            </a:fld>
            <a:endParaRPr lang="en-US" altLang="en-US"/>
          </a:p>
        </p:txBody>
      </p:sp>
    </p:spTree>
    <p:extLst>
      <p:ext uri="{BB962C8B-B14F-4D97-AF65-F5344CB8AC3E}">
        <p14:creationId xmlns:p14="http://schemas.microsoft.com/office/powerpoint/2010/main" val="980446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627C0EAA-DB15-4D8C-8542-8106C2E38407}" type="datetimeFigureOut">
              <a:rPr lang="en-US" smtClean="0"/>
              <a:pPr>
                <a:defRPr/>
              </a:pPr>
              <a:t>7/10/2021</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fld id="{FB031146-C344-4A72-B2B4-06A9D1E008FE}" type="slidenum">
              <a:rPr lang="en-US" altLang="en-US" smtClean="0"/>
              <a:pPr/>
              <a:t>‹#›</a:t>
            </a:fld>
            <a:endParaRPr lang="en-US" altLang="en-US"/>
          </a:p>
        </p:txBody>
      </p:sp>
    </p:spTree>
    <p:extLst>
      <p:ext uri="{BB962C8B-B14F-4D97-AF65-F5344CB8AC3E}">
        <p14:creationId xmlns:p14="http://schemas.microsoft.com/office/powerpoint/2010/main" val="306733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FE590BA3-3507-41F8-9445-34133B6060E8}" type="datetimeFigureOut">
              <a:rPr lang="en-US" smtClean="0"/>
              <a:pPr>
                <a:defRPr/>
              </a:pPr>
              <a:t>7/10/2021</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847F6092-F148-4AF6-8BBB-158C31D5335E}" type="slidenum">
              <a:rPr lang="en-US" altLang="en-US" smtClean="0"/>
              <a:pPr/>
              <a:t>‹#›</a:t>
            </a:fld>
            <a:endParaRPr lang="en-US" altLang="en-US"/>
          </a:p>
        </p:txBody>
      </p:sp>
    </p:spTree>
    <p:extLst>
      <p:ext uri="{BB962C8B-B14F-4D97-AF65-F5344CB8AC3E}">
        <p14:creationId xmlns:p14="http://schemas.microsoft.com/office/powerpoint/2010/main" val="33980764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4750A164-5D73-474E-B8F8-A20DFDFD9E81}" type="datetimeFigureOut">
              <a:rPr lang="en-US" smtClean="0"/>
              <a:pPr>
                <a:defRPr/>
              </a:pPr>
              <a:t>7/10/2021</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0822A88F-E6FD-4E5E-AE8F-8F42544589F3}" type="slidenum">
              <a:rPr lang="en-US" altLang="en-US" smtClean="0"/>
              <a:pPr/>
              <a:t>‹#›</a:t>
            </a:fld>
            <a:endParaRPr lang="en-US" altLang="en-US"/>
          </a:p>
        </p:txBody>
      </p:sp>
    </p:spTree>
    <p:extLst>
      <p:ext uri="{BB962C8B-B14F-4D97-AF65-F5344CB8AC3E}">
        <p14:creationId xmlns:p14="http://schemas.microsoft.com/office/powerpoint/2010/main" val="1206543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49AD14F0-1438-4472-9103-36B306D4EEC2}" type="datetimeFigureOut">
              <a:rPr lang="en-US" smtClean="0"/>
              <a:pPr>
                <a:defRPr/>
              </a:pPr>
              <a:t>7/10/2021</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85B16437-921D-4C01-BEF6-188126DB36AE}" type="slidenum">
              <a:rPr lang="en-US" altLang="en-US" smtClean="0"/>
              <a:pPr/>
              <a:t>‹#›</a:t>
            </a:fld>
            <a:endParaRPr lang="en-US" altLang="en-US"/>
          </a:p>
        </p:txBody>
      </p:sp>
    </p:spTree>
    <p:extLst>
      <p:ext uri="{BB962C8B-B14F-4D97-AF65-F5344CB8AC3E}">
        <p14:creationId xmlns:p14="http://schemas.microsoft.com/office/powerpoint/2010/main" val="3458195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49AD14F0-1438-4472-9103-36B306D4EEC2}" type="datetimeFigureOut">
              <a:rPr lang="en-US" smtClean="0"/>
              <a:pPr>
                <a:defRPr/>
              </a:pPr>
              <a:t>7/10/2021</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85B16437-921D-4C01-BEF6-188126DB36AE}" type="slidenum">
              <a:rPr lang="en-US" altLang="en-US" smtClean="0"/>
              <a:pPr/>
              <a:t>‹#›</a:t>
            </a:fld>
            <a:endParaRPr lang="en-US" alt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560692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49AD14F0-1438-4472-9103-36B306D4EEC2}" type="datetimeFigureOut">
              <a:rPr lang="en-US" smtClean="0"/>
              <a:pPr>
                <a:defRPr/>
              </a:pPr>
              <a:t>7/10/2021</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85B16437-921D-4C01-BEF6-188126DB36AE}" type="slidenum">
              <a:rPr lang="en-US" altLang="en-US" smtClean="0"/>
              <a:pPr/>
              <a:t>‹#›</a:t>
            </a:fld>
            <a:endParaRPr lang="en-US" altLang="en-US"/>
          </a:p>
        </p:txBody>
      </p:sp>
    </p:spTree>
    <p:extLst>
      <p:ext uri="{BB962C8B-B14F-4D97-AF65-F5344CB8AC3E}">
        <p14:creationId xmlns:p14="http://schemas.microsoft.com/office/powerpoint/2010/main" val="3701382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49AD14F0-1438-4472-9103-36B306D4EEC2}" type="datetimeFigureOut">
              <a:rPr lang="en-US" smtClean="0"/>
              <a:pPr>
                <a:defRPr/>
              </a:pPr>
              <a:t>7/10/2021</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85B16437-921D-4C01-BEF6-188126DB36AE}" type="slidenum">
              <a:rPr lang="en-US" altLang="en-US" smtClean="0"/>
              <a:pPr/>
              <a:t>‹#›</a:t>
            </a:fld>
            <a:endParaRPr lang="en-US" alt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770652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49AD14F0-1438-4472-9103-36B306D4EEC2}" type="datetimeFigureOut">
              <a:rPr lang="en-US" smtClean="0"/>
              <a:pPr>
                <a:defRPr/>
              </a:pPr>
              <a:t>7/10/2021</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85B16437-921D-4C01-BEF6-188126DB36AE}" type="slidenum">
              <a:rPr lang="en-US" altLang="en-US" smtClean="0"/>
              <a:pPr/>
              <a:t>‹#›</a:t>
            </a:fld>
            <a:endParaRPr lang="en-US" altLang="en-US"/>
          </a:p>
        </p:txBody>
      </p:sp>
    </p:spTree>
    <p:extLst>
      <p:ext uri="{BB962C8B-B14F-4D97-AF65-F5344CB8AC3E}">
        <p14:creationId xmlns:p14="http://schemas.microsoft.com/office/powerpoint/2010/main" val="24558432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86C833B4-09ED-4781-99F0-118B93216AF3}" type="datetimeFigureOut">
              <a:rPr lang="en-US" smtClean="0"/>
              <a:pPr>
                <a:defRPr/>
              </a:pPr>
              <a:t>7/10/2021</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FD7E386F-5283-4B12-B8C5-39AC5E7304D0}" type="slidenum">
              <a:rPr lang="en-US" altLang="en-US" smtClean="0"/>
              <a:pPr/>
              <a:t>‹#›</a:t>
            </a:fld>
            <a:endParaRPr lang="en-US" altLang="en-US"/>
          </a:p>
        </p:txBody>
      </p:sp>
    </p:spTree>
    <p:extLst>
      <p:ext uri="{BB962C8B-B14F-4D97-AF65-F5344CB8AC3E}">
        <p14:creationId xmlns:p14="http://schemas.microsoft.com/office/powerpoint/2010/main" val="13443259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0AD504FF-3DE7-4ADE-9CAD-61D21556ED77}" type="datetimeFigureOut">
              <a:rPr lang="en-US" smtClean="0"/>
              <a:pPr>
                <a:defRPr/>
              </a:pPr>
              <a:t>7/10/2021</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3A8DCFB6-BEDD-4009-9DC6-033CCF69A8C9}" type="slidenum">
              <a:rPr lang="en-US" altLang="en-US" smtClean="0"/>
              <a:pPr/>
              <a:t>‹#›</a:t>
            </a:fld>
            <a:endParaRPr lang="en-US" altLang="en-US"/>
          </a:p>
        </p:txBody>
      </p:sp>
    </p:spTree>
    <p:extLst>
      <p:ext uri="{BB962C8B-B14F-4D97-AF65-F5344CB8AC3E}">
        <p14:creationId xmlns:p14="http://schemas.microsoft.com/office/powerpoint/2010/main" val="2275966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49AD14F0-1438-4472-9103-36B306D4EEC2}" type="datetimeFigureOut">
              <a:rPr lang="en-US" smtClean="0"/>
              <a:pPr>
                <a:defRPr/>
              </a:pPr>
              <a:t>7/10/2021</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85B16437-921D-4C01-BEF6-188126DB36AE}" type="slidenum">
              <a:rPr lang="en-US" altLang="en-US" smtClean="0"/>
              <a:pPr/>
              <a:t>‹#›</a:t>
            </a:fld>
            <a:endParaRPr lang="en-US" altLang="en-US"/>
          </a:p>
        </p:txBody>
      </p:sp>
    </p:spTree>
    <p:extLst>
      <p:ext uri="{BB962C8B-B14F-4D97-AF65-F5344CB8AC3E}">
        <p14:creationId xmlns:p14="http://schemas.microsoft.com/office/powerpoint/2010/main" val="34845805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agadevara_v@isb.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8.emf"/></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0.png"/><Relationship Id="rId1" Type="http://schemas.openxmlformats.org/officeDocument/2006/relationships/slideLayout" Target="../slideLayouts/slideLayout2.xml"/><Relationship Id="rId5" Type="http://schemas.openxmlformats.org/officeDocument/2006/relationships/image" Target="../media/image160.png"/><Relationship Id="rId4" Type="http://schemas.openxmlformats.org/officeDocument/2006/relationships/image" Target="../media/image150.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058334-B82E-459D-8CE1-A202C429A2CB}"/>
              </a:ext>
            </a:extLst>
          </p:cNvPr>
          <p:cNvSpPr>
            <a:spLocks noGrp="1"/>
          </p:cNvSpPr>
          <p:nvPr>
            <p:ph type="ctrTitle"/>
          </p:nvPr>
        </p:nvSpPr>
        <p:spPr/>
        <p:txBody>
          <a:bodyPr/>
          <a:lstStyle/>
          <a:p>
            <a:r>
              <a:rPr lang="en-US" dirty="0"/>
              <a:t>Regression Diagnostics</a:t>
            </a:r>
          </a:p>
        </p:txBody>
      </p:sp>
      <p:sp>
        <p:nvSpPr>
          <p:cNvPr id="5" name="Subtitle 4">
            <a:extLst>
              <a:ext uri="{FF2B5EF4-FFF2-40B4-BE49-F238E27FC236}">
                <a16:creationId xmlns:a16="http://schemas.microsoft.com/office/drawing/2014/main" id="{F3CC12CC-CF88-4715-9E6C-7299466F0283}"/>
              </a:ext>
            </a:extLst>
          </p:cNvPr>
          <p:cNvSpPr>
            <a:spLocks noGrp="1"/>
          </p:cNvSpPr>
          <p:nvPr>
            <p:ph type="subTitle" idx="1"/>
          </p:nvPr>
        </p:nvSpPr>
        <p:spPr/>
        <p:txBody>
          <a:bodyPr/>
          <a:lstStyle/>
          <a:p>
            <a:r>
              <a:rPr lang="en-US" dirty="0"/>
              <a:t>Vishnuprasad Nagadevara</a:t>
            </a:r>
          </a:p>
          <a:p>
            <a:r>
              <a:rPr lang="en-US" dirty="0">
                <a:hlinkClick r:id="rId2"/>
              </a:rPr>
              <a:t>Nagadevara_v@isb.edu</a:t>
            </a:r>
            <a:endParaRPr lang="en-US" dirty="0"/>
          </a:p>
        </p:txBody>
      </p:sp>
    </p:spTree>
    <p:extLst>
      <p:ext uri="{BB962C8B-B14F-4D97-AF65-F5344CB8AC3E}">
        <p14:creationId xmlns:p14="http://schemas.microsoft.com/office/powerpoint/2010/main" val="12771313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B56D5-7022-4140-A65D-0158078B9688}"/>
              </a:ext>
            </a:extLst>
          </p:cNvPr>
          <p:cNvSpPr>
            <a:spLocks noGrp="1"/>
          </p:cNvSpPr>
          <p:nvPr>
            <p:ph type="title"/>
          </p:nvPr>
        </p:nvSpPr>
        <p:spPr/>
        <p:txBody>
          <a:bodyPr/>
          <a:lstStyle/>
          <a:p>
            <a:r>
              <a:rPr lang="en-US" dirty="0"/>
              <a:t>Preliminary Diagnostics</a:t>
            </a:r>
          </a:p>
        </p:txBody>
      </p:sp>
      <p:sp>
        <p:nvSpPr>
          <p:cNvPr id="3" name="Content Placeholder 2">
            <a:extLst>
              <a:ext uri="{FF2B5EF4-FFF2-40B4-BE49-F238E27FC236}">
                <a16:creationId xmlns:a16="http://schemas.microsoft.com/office/drawing/2014/main" id="{041C0153-54CA-4344-ADCE-679669210B2A}"/>
              </a:ext>
            </a:extLst>
          </p:cNvPr>
          <p:cNvSpPr>
            <a:spLocks noGrp="1"/>
          </p:cNvSpPr>
          <p:nvPr>
            <p:ph idx="1"/>
          </p:nvPr>
        </p:nvSpPr>
        <p:spPr>
          <a:xfrm>
            <a:off x="609598" y="2160590"/>
            <a:ext cx="7086601" cy="3880773"/>
          </a:xfrm>
        </p:spPr>
        <p:txBody>
          <a:bodyPr>
            <a:normAutofit/>
          </a:bodyPr>
          <a:lstStyle/>
          <a:p>
            <a:r>
              <a:rPr lang="en-US" sz="2400" dirty="0"/>
              <a:t>Coefficient of determination R</a:t>
            </a:r>
            <a:r>
              <a:rPr lang="en-US" sz="2400" baseline="50000" dirty="0"/>
              <a:t>2</a:t>
            </a:r>
            <a:r>
              <a:rPr lang="en-US" sz="2400" dirty="0"/>
              <a:t>   </a:t>
            </a:r>
          </a:p>
          <a:p>
            <a:r>
              <a:rPr lang="en-US" sz="2400" dirty="0"/>
              <a:t>Adjusted R</a:t>
            </a:r>
            <a:r>
              <a:rPr lang="en-US" sz="2400" baseline="50000" dirty="0"/>
              <a:t>2</a:t>
            </a:r>
            <a:r>
              <a:rPr lang="en-US" sz="2400" dirty="0"/>
              <a:t> </a:t>
            </a:r>
          </a:p>
          <a:p>
            <a:r>
              <a:rPr lang="en-US" sz="2400" dirty="0"/>
              <a:t>ANOVA and F test</a:t>
            </a:r>
          </a:p>
          <a:p>
            <a:r>
              <a:rPr lang="en-US" sz="2400" dirty="0"/>
              <a:t>t-Tests for individual significance</a:t>
            </a:r>
          </a:p>
        </p:txBody>
      </p:sp>
    </p:spTree>
    <p:extLst>
      <p:ext uri="{BB962C8B-B14F-4D97-AF65-F5344CB8AC3E}">
        <p14:creationId xmlns:p14="http://schemas.microsoft.com/office/powerpoint/2010/main" val="3410348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25586-1014-4C4A-93B1-74861FD1F274}"/>
              </a:ext>
            </a:extLst>
          </p:cNvPr>
          <p:cNvSpPr>
            <a:spLocks noGrp="1"/>
          </p:cNvSpPr>
          <p:nvPr>
            <p:ph type="title"/>
          </p:nvPr>
        </p:nvSpPr>
        <p:spPr/>
        <p:txBody>
          <a:bodyPr/>
          <a:lstStyle/>
          <a:p>
            <a:r>
              <a:rPr lang="en-US" dirty="0"/>
              <a:t>Partial F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2F2A61F-61F6-48F1-950B-51CBC5C277FD}"/>
                  </a:ext>
                </a:extLst>
              </p:cNvPr>
              <p:cNvSpPr>
                <a:spLocks noGrp="1"/>
              </p:cNvSpPr>
              <p:nvPr>
                <p:ph idx="1"/>
              </p:nvPr>
            </p:nvSpPr>
            <p:spPr>
              <a:xfrm>
                <a:off x="457200" y="1600200"/>
                <a:ext cx="7696202" cy="4876800"/>
              </a:xfrm>
            </p:spPr>
            <p:txBody>
              <a:bodyPr>
                <a:normAutofit lnSpcReduction="10000"/>
              </a:bodyPr>
              <a:lstStyle/>
              <a:p>
                <a:r>
                  <a:rPr lang="en-US" sz="2400" dirty="0"/>
                  <a:t>Used to validate</a:t>
                </a:r>
              </a:p>
              <a:p>
                <a:pPr lvl="1"/>
                <a:r>
                  <a:rPr lang="en-US" sz="2000" dirty="0"/>
                  <a:t>Portions of the model</a:t>
                </a:r>
              </a:p>
              <a:p>
                <a:pPr lvl="1"/>
                <a:r>
                  <a:rPr lang="en-US" sz="2000" dirty="0"/>
                  <a:t>Subset of explanatory variables</a:t>
                </a:r>
              </a:p>
              <a:p>
                <a:r>
                  <a:rPr lang="en-US" sz="2400" dirty="0"/>
                  <a:t>The objective is to test if the subset of variables in the full model are statistically significant</a:t>
                </a:r>
              </a:p>
              <a:p>
                <a:r>
                  <a:rPr lang="en-US" sz="2400" dirty="0"/>
                  <a:t>Can be used in </a:t>
                </a:r>
                <a:r>
                  <a:rPr lang="en-US" sz="2400" dirty="0">
                    <a:highlight>
                      <a:srgbClr val="FFFF00"/>
                    </a:highlight>
                  </a:rPr>
                  <a:t>Step-wise</a:t>
                </a:r>
                <a:r>
                  <a:rPr lang="en-US" sz="2400" dirty="0"/>
                  <a:t> method</a:t>
                </a:r>
              </a:p>
              <a:p>
                <a:r>
                  <a:rPr lang="en-US" sz="2400" dirty="0"/>
                  <a:t>Define 2 models - </a:t>
                </a:r>
              </a:p>
              <a:p>
                <a:pPr lvl="1"/>
                <a:r>
                  <a:rPr lang="en-US" sz="2000" dirty="0"/>
                  <a:t>Full model (F) with k independent variables and </a:t>
                </a:r>
              </a:p>
              <a:p>
                <a:pPr lvl="1"/>
                <a14:m>
                  <m:oMath xmlns:m="http://schemas.openxmlformats.org/officeDocument/2006/math">
                    <m:r>
                      <a:rPr lang="en-US" sz="2000" b="0" i="1" smtClean="0">
                        <a:latin typeface="Cambria Math" panose="02040503050406030204" pitchFamily="18" charset="0"/>
                      </a:rPr>
                      <m:t>𝑌</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1</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2</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𝑘</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𝑘</m:t>
                        </m:r>
                      </m:sub>
                    </m:sSub>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𝜀</m:t>
                    </m:r>
                  </m:oMath>
                </a14:m>
                <a:endParaRPr lang="en-US" sz="2000" dirty="0"/>
              </a:p>
              <a:p>
                <a:pPr lvl="1"/>
                <a:r>
                  <a:rPr lang="en-US" sz="2000" dirty="0"/>
                  <a:t>Reduced model (R) with r independent variables (r&lt;k)</a:t>
                </a:r>
              </a:p>
              <a:p>
                <a:pPr lvl="1"/>
                <a14:m>
                  <m:oMath xmlns:m="http://schemas.openxmlformats.org/officeDocument/2006/math">
                    <m:r>
                      <a:rPr lang="en-US" sz="2000" i="1">
                        <a:latin typeface="Cambria Math" panose="02040503050406030204" pitchFamily="18" charset="0"/>
                      </a:rPr>
                      <m:t>𝑌</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0</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1</m:t>
                        </m:r>
                      </m:sub>
                    </m:sSub>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2</m:t>
                        </m:r>
                      </m:sub>
                    </m:sSub>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2</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ea typeface="Cambria Math" panose="02040503050406030204" pitchFamily="18" charset="0"/>
                          </a:rPr>
                          <m:t>𝑟</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𝑋</m:t>
                        </m:r>
                      </m:e>
                      <m:sub>
                        <m:r>
                          <a:rPr lang="en-US" sz="2000" b="0" i="1" smtClean="0">
                            <a:latin typeface="Cambria Math" panose="02040503050406030204" pitchFamily="18" charset="0"/>
                            <a:ea typeface="Cambria Math" panose="02040503050406030204" pitchFamily="18" charset="0"/>
                          </a:rPr>
                          <m:t>𝑟</m:t>
                        </m:r>
                      </m:sub>
                    </m:sSub>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𝜀</m:t>
                    </m:r>
                  </m:oMath>
                </a14:m>
                <a:endParaRPr lang="en-US" sz="2000"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A2F2A61F-61F6-48F1-950B-51CBC5C277FD}"/>
                  </a:ext>
                </a:extLst>
              </p:cNvPr>
              <p:cNvSpPr>
                <a:spLocks noGrp="1" noRot="1" noChangeAspect="1" noMove="1" noResize="1" noEditPoints="1" noAdjustHandles="1" noChangeArrowheads="1" noChangeShapeType="1" noTextEdit="1"/>
              </p:cNvSpPr>
              <p:nvPr>
                <p:ph idx="1"/>
              </p:nvPr>
            </p:nvSpPr>
            <p:spPr>
              <a:xfrm>
                <a:off x="457200" y="1600200"/>
                <a:ext cx="7696202" cy="4876800"/>
              </a:xfrm>
              <a:blipFill>
                <a:blip r:embed="rId2"/>
                <a:stretch>
                  <a:fillRect l="-633" t="-1750" r="-475"/>
                </a:stretch>
              </a:blipFill>
            </p:spPr>
            <p:txBody>
              <a:bodyPr/>
              <a:lstStyle/>
              <a:p>
                <a:r>
                  <a:rPr lang="en-US">
                    <a:noFill/>
                  </a:rPr>
                  <a:t> </a:t>
                </a:r>
              </a:p>
            </p:txBody>
          </p:sp>
        </mc:Fallback>
      </mc:AlternateContent>
    </p:spTree>
    <p:extLst>
      <p:ext uri="{BB962C8B-B14F-4D97-AF65-F5344CB8AC3E}">
        <p14:creationId xmlns:p14="http://schemas.microsoft.com/office/powerpoint/2010/main" val="1355926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84274-B73C-4218-B4D2-7C2C5D6B337D}"/>
              </a:ext>
            </a:extLst>
          </p:cNvPr>
          <p:cNvSpPr>
            <a:spLocks noGrp="1"/>
          </p:cNvSpPr>
          <p:nvPr>
            <p:ph type="title"/>
          </p:nvPr>
        </p:nvSpPr>
        <p:spPr/>
        <p:txBody>
          <a:bodyPr/>
          <a:lstStyle/>
          <a:p>
            <a:r>
              <a:rPr lang="en-US" dirty="0"/>
              <a:t>Hypothesis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B91436B-246B-4CD3-B534-BEFBC8F728AF}"/>
                  </a:ext>
                </a:extLst>
              </p:cNvPr>
              <p:cNvSpPr>
                <a:spLocks noGrp="1"/>
              </p:cNvSpPr>
              <p:nvPr>
                <p:ph idx="1"/>
              </p:nvPr>
            </p:nvSpPr>
            <p:spPr>
              <a:xfrm>
                <a:off x="533400" y="1600200"/>
                <a:ext cx="7696200" cy="4648200"/>
              </a:xfrm>
            </p:spPr>
            <p:txBody>
              <a:bodyPr/>
              <a:lstStyle/>
              <a:p>
                <a:r>
                  <a:rPr lang="en-US" sz="2400" dirty="0">
                    <a:latin typeface="Arial" panose="020B0604020202020204" pitchFamily="34" charset="0"/>
                    <a:cs typeface="Arial" panose="020B0604020202020204" pitchFamily="34" charset="0"/>
                  </a:rPr>
                  <a:t>H</a:t>
                </a:r>
                <a:r>
                  <a:rPr lang="en-US" sz="2400" baseline="-25000" dirty="0">
                    <a:latin typeface="Arial" panose="020B0604020202020204" pitchFamily="34" charset="0"/>
                    <a:cs typeface="Arial" panose="020B0604020202020204" pitchFamily="34" charset="0"/>
                  </a:rPr>
                  <a:t>0</a:t>
                </a:r>
                <a:r>
                  <a:rPr lang="en-US" sz="2400" dirty="0">
                    <a:latin typeface="Arial" panose="020B0604020202020204" pitchFamily="34" charset="0"/>
                    <a:cs typeface="Arial" panose="020B0604020202020204" pitchFamily="34" charset="0"/>
                  </a:rPr>
                  <a:t>: </a:t>
                </a:r>
                <a:r>
                  <a:rPr lang="el-GR" sz="2400" dirty="0">
                    <a:latin typeface="Arial" panose="020B0604020202020204" pitchFamily="34" charset="0"/>
                    <a:cs typeface="Arial" panose="020B0604020202020204" pitchFamily="34" charset="0"/>
                  </a:rPr>
                  <a:t>β</a:t>
                </a:r>
                <a:r>
                  <a:rPr lang="en-US" sz="2400" baseline="-25000" dirty="0">
                    <a:latin typeface="Arial" panose="020B0604020202020204" pitchFamily="34" charset="0"/>
                    <a:cs typeface="Arial" panose="020B0604020202020204" pitchFamily="34" charset="0"/>
                  </a:rPr>
                  <a:t>r+1</a:t>
                </a:r>
                <a:r>
                  <a:rPr lang="en-US" sz="2400" dirty="0">
                    <a:latin typeface="Arial" panose="020B0604020202020204" pitchFamily="34" charset="0"/>
                    <a:cs typeface="Arial" panose="020B0604020202020204" pitchFamily="34" charset="0"/>
                  </a:rPr>
                  <a:t> = </a:t>
                </a:r>
                <a:r>
                  <a:rPr lang="el-GR" sz="2400" dirty="0">
                    <a:latin typeface="Arial" panose="020B0604020202020204" pitchFamily="34" charset="0"/>
                    <a:cs typeface="Arial" panose="020B0604020202020204" pitchFamily="34" charset="0"/>
                  </a:rPr>
                  <a:t>β</a:t>
                </a:r>
                <a:r>
                  <a:rPr lang="en-US" sz="2400" baseline="-25000" dirty="0">
                    <a:latin typeface="Arial" panose="020B0604020202020204" pitchFamily="34" charset="0"/>
                    <a:cs typeface="Arial" panose="020B0604020202020204" pitchFamily="34" charset="0"/>
                  </a:rPr>
                  <a:t>r+2</a:t>
                </a:r>
                <a:r>
                  <a:rPr lang="en-US" sz="2400" dirty="0">
                    <a:latin typeface="Arial" panose="020B0604020202020204" pitchFamily="34" charset="0"/>
                    <a:cs typeface="Arial" panose="020B0604020202020204" pitchFamily="34" charset="0"/>
                  </a:rPr>
                  <a:t> =</a:t>
                </a:r>
                <a:r>
                  <a:rPr lang="el-GR" sz="24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 = </a:t>
                </a:r>
                <a:r>
                  <a:rPr lang="el-GR" sz="2400" dirty="0">
                    <a:latin typeface="Arial" panose="020B0604020202020204" pitchFamily="34" charset="0"/>
                    <a:cs typeface="Arial" panose="020B0604020202020204" pitchFamily="34" charset="0"/>
                  </a:rPr>
                  <a:t>β</a:t>
                </a:r>
                <a:r>
                  <a:rPr lang="en-US" sz="2400" baseline="-25000" dirty="0">
                    <a:latin typeface="Arial" panose="020B0604020202020204" pitchFamily="34" charset="0"/>
                    <a:cs typeface="Arial" panose="020B0604020202020204" pitchFamily="34" charset="0"/>
                  </a:rPr>
                  <a:t>k</a:t>
                </a:r>
                <a:r>
                  <a:rPr lang="en-US" sz="2400" dirty="0">
                    <a:latin typeface="Arial" panose="020B0604020202020204" pitchFamily="34" charset="0"/>
                    <a:cs typeface="Arial" panose="020B0604020202020204" pitchFamily="34" charset="0"/>
                  </a:rPr>
                  <a:t> = 0 </a:t>
                </a:r>
              </a:p>
              <a:p>
                <a:r>
                  <a:rPr lang="en-US" sz="2400" dirty="0">
                    <a:latin typeface="Arial" panose="020B0604020202020204" pitchFamily="34" charset="0"/>
                    <a:cs typeface="Arial" panose="020B0604020202020204" pitchFamily="34" charset="0"/>
                  </a:rPr>
                  <a:t>H</a:t>
                </a:r>
                <a:r>
                  <a:rPr lang="en-US" sz="2400" baseline="-25000" dirty="0">
                    <a:latin typeface="Arial" panose="020B0604020202020204" pitchFamily="34" charset="0"/>
                    <a:cs typeface="Arial" panose="020B0604020202020204" pitchFamily="34" charset="0"/>
                  </a:rPr>
                  <a:t>A</a:t>
                </a:r>
                <a:r>
                  <a:rPr lang="en-US" sz="2400" dirty="0">
                    <a:latin typeface="Arial" panose="020B0604020202020204" pitchFamily="34" charset="0"/>
                    <a:cs typeface="Arial" panose="020B0604020202020204" pitchFamily="34" charset="0"/>
                  </a:rPr>
                  <a:t>: Not all </a:t>
                </a:r>
                <a:r>
                  <a:rPr lang="el-GR" sz="2400" dirty="0">
                    <a:latin typeface="Arial" panose="020B0604020202020204" pitchFamily="34" charset="0"/>
                    <a:cs typeface="Arial" panose="020B0604020202020204" pitchFamily="34" charset="0"/>
                  </a:rPr>
                  <a:t>β</a:t>
                </a:r>
                <a:r>
                  <a:rPr lang="en-US" sz="2400" baseline="-25000" dirty="0">
                    <a:latin typeface="Arial" panose="020B0604020202020204" pitchFamily="34" charset="0"/>
                    <a:cs typeface="Arial" panose="020B0604020202020204" pitchFamily="34" charset="0"/>
                  </a:rPr>
                  <a:t>r+1</a:t>
                </a:r>
                <a:r>
                  <a:rPr lang="en-US" sz="2400" dirty="0">
                    <a:latin typeface="Arial" panose="020B0604020202020204" pitchFamily="34" charset="0"/>
                    <a:cs typeface="Arial" panose="020B0604020202020204" pitchFamily="34" charset="0"/>
                  </a:rPr>
                  <a:t> , </a:t>
                </a:r>
                <a:r>
                  <a:rPr lang="el-GR" sz="2400" dirty="0">
                    <a:latin typeface="Arial" panose="020B0604020202020204" pitchFamily="34" charset="0"/>
                    <a:cs typeface="Arial" panose="020B0604020202020204" pitchFamily="34" charset="0"/>
                  </a:rPr>
                  <a:t>β</a:t>
                </a:r>
                <a:r>
                  <a:rPr lang="en-US" sz="2400" baseline="-25000" dirty="0">
                    <a:latin typeface="Arial" panose="020B0604020202020204" pitchFamily="34" charset="0"/>
                    <a:cs typeface="Arial" panose="020B0604020202020204" pitchFamily="34" charset="0"/>
                  </a:rPr>
                  <a:t>r+2</a:t>
                </a:r>
                <a:r>
                  <a:rPr lang="en-US" sz="2400" dirty="0">
                    <a:latin typeface="Arial" panose="020B0604020202020204" pitchFamily="34" charset="0"/>
                    <a:cs typeface="Arial" panose="020B0604020202020204" pitchFamily="34" charset="0"/>
                  </a:rPr>
                  <a:t> ,</a:t>
                </a:r>
                <a:r>
                  <a:rPr lang="el-GR" sz="24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 , </a:t>
                </a:r>
                <a:r>
                  <a:rPr lang="el-GR" sz="2400" dirty="0">
                    <a:latin typeface="Arial" panose="020B0604020202020204" pitchFamily="34" charset="0"/>
                    <a:cs typeface="Arial" panose="020B0604020202020204" pitchFamily="34" charset="0"/>
                  </a:rPr>
                  <a:t>β</a:t>
                </a:r>
                <a:r>
                  <a:rPr lang="en-US" sz="2400" baseline="-25000" dirty="0">
                    <a:latin typeface="Arial" panose="020B0604020202020204" pitchFamily="34" charset="0"/>
                    <a:cs typeface="Arial" panose="020B0604020202020204" pitchFamily="34" charset="0"/>
                  </a:rPr>
                  <a:t>k</a:t>
                </a:r>
                <a:r>
                  <a:rPr lang="en-US" sz="2400" dirty="0">
                    <a:latin typeface="Arial" panose="020B0604020202020204" pitchFamily="34" charset="0"/>
                    <a:cs typeface="Arial" panose="020B0604020202020204" pitchFamily="34" charset="0"/>
                  </a:rPr>
                  <a:t> are zero</a:t>
                </a:r>
              </a:p>
              <a:p>
                <a:r>
                  <a:rPr lang="en-US" sz="2400" dirty="0">
                    <a:latin typeface="Arial" panose="020B0604020202020204" pitchFamily="34" charset="0"/>
                    <a:cs typeface="Arial" panose="020B0604020202020204" pitchFamily="34" charset="0"/>
                  </a:rPr>
                  <a:t>This is tested using F statistic</a:t>
                </a:r>
              </a:p>
              <a:p>
                <a14:m>
                  <m:oMath xmlns:m="http://schemas.openxmlformats.org/officeDocument/2006/math">
                    <m:r>
                      <a:rPr lang="en-US" sz="2800" b="0" i="1" smtClean="0">
                        <a:latin typeface="Cambria Math" panose="02040503050406030204" pitchFamily="18" charset="0"/>
                        <a:cs typeface="Arial" panose="020B0604020202020204" pitchFamily="34" charset="0"/>
                      </a:rPr>
                      <m:t>𝑃𝑎𝑟𝑡𝑖𝑎𝑙</m:t>
                    </m:r>
                    <m:r>
                      <a:rPr lang="en-US" sz="2800" b="0" i="1" smtClean="0">
                        <a:latin typeface="Cambria Math" panose="02040503050406030204" pitchFamily="18" charset="0"/>
                        <a:cs typeface="Arial" panose="020B0604020202020204" pitchFamily="34" charset="0"/>
                      </a:rPr>
                      <m:t> </m:t>
                    </m:r>
                    <m:r>
                      <a:rPr lang="en-US" sz="2800" b="0" i="1" smtClean="0">
                        <a:latin typeface="Cambria Math" panose="02040503050406030204" pitchFamily="18" charset="0"/>
                        <a:cs typeface="Arial" panose="020B0604020202020204" pitchFamily="34" charset="0"/>
                      </a:rPr>
                      <m:t>𝐹</m:t>
                    </m:r>
                    <m:r>
                      <a:rPr lang="en-US" sz="2800" b="0" i="1" smtClean="0">
                        <a:latin typeface="Cambria Math" panose="02040503050406030204" pitchFamily="18" charset="0"/>
                        <a:cs typeface="Arial" panose="020B0604020202020204" pitchFamily="34" charset="0"/>
                      </a:rPr>
                      <m:t>=</m:t>
                    </m:r>
                    <m:f>
                      <m:fPr>
                        <m:ctrlPr>
                          <a:rPr lang="en-US" sz="2800" b="0" i="1" smtClean="0">
                            <a:latin typeface="Cambria Math" panose="02040503050406030204" pitchFamily="18" charset="0"/>
                            <a:cs typeface="Arial" panose="020B0604020202020204" pitchFamily="34" charset="0"/>
                          </a:rPr>
                        </m:ctrlPr>
                      </m:fPr>
                      <m:num>
                        <m:f>
                          <m:fPr>
                            <m:type m:val="skw"/>
                            <m:ctrlPr>
                              <a:rPr lang="en-US" sz="2800" b="0" i="1" smtClean="0">
                                <a:latin typeface="Cambria Math" panose="02040503050406030204" pitchFamily="18" charset="0"/>
                                <a:cs typeface="Arial" panose="020B0604020202020204" pitchFamily="34" charset="0"/>
                              </a:rPr>
                            </m:ctrlPr>
                          </m:fPr>
                          <m:num>
                            <m:d>
                              <m:dPr>
                                <m:ctrlPr>
                                  <a:rPr lang="en-US" sz="2800" b="0" i="1" smtClean="0">
                                    <a:latin typeface="Cambria Math" panose="02040503050406030204" pitchFamily="18" charset="0"/>
                                    <a:cs typeface="Arial" panose="020B0604020202020204" pitchFamily="34" charset="0"/>
                                  </a:rPr>
                                </m:ctrlPr>
                              </m:dPr>
                              <m:e>
                                <m:sSub>
                                  <m:sSubPr>
                                    <m:ctrlPr>
                                      <a:rPr lang="en-US" sz="2800" b="0" i="1" smtClean="0">
                                        <a:latin typeface="Cambria Math" panose="02040503050406030204" pitchFamily="18" charset="0"/>
                                        <a:cs typeface="Arial" panose="020B0604020202020204" pitchFamily="34" charset="0"/>
                                      </a:rPr>
                                    </m:ctrlPr>
                                  </m:sSubPr>
                                  <m:e>
                                    <m:r>
                                      <a:rPr lang="en-US" sz="2800" b="0" i="1" smtClean="0">
                                        <a:latin typeface="Cambria Math" panose="02040503050406030204" pitchFamily="18" charset="0"/>
                                        <a:cs typeface="Arial" panose="020B0604020202020204" pitchFamily="34" charset="0"/>
                                      </a:rPr>
                                      <m:t>𝑆𝑆𝐸</m:t>
                                    </m:r>
                                  </m:e>
                                  <m:sub>
                                    <m:r>
                                      <a:rPr lang="en-US" sz="2800" b="0" i="1" smtClean="0">
                                        <a:latin typeface="Cambria Math" panose="02040503050406030204" pitchFamily="18" charset="0"/>
                                        <a:cs typeface="Arial" panose="020B0604020202020204" pitchFamily="34" charset="0"/>
                                      </a:rPr>
                                      <m:t>𝑅</m:t>
                                    </m:r>
                                  </m:sub>
                                </m:sSub>
                                <m:r>
                                  <a:rPr lang="en-US" sz="2800" b="0" i="1" smtClean="0">
                                    <a:latin typeface="Cambria Math" panose="02040503050406030204" pitchFamily="18" charset="0"/>
                                    <a:cs typeface="Arial" panose="020B0604020202020204" pitchFamily="34" charset="0"/>
                                  </a:rPr>
                                  <m:t>−</m:t>
                                </m:r>
                                <m:sSub>
                                  <m:sSubPr>
                                    <m:ctrlPr>
                                      <a:rPr lang="en-US" sz="2800" b="0" i="1" smtClean="0">
                                        <a:latin typeface="Cambria Math" panose="02040503050406030204" pitchFamily="18" charset="0"/>
                                        <a:cs typeface="Arial" panose="020B0604020202020204" pitchFamily="34" charset="0"/>
                                      </a:rPr>
                                    </m:ctrlPr>
                                  </m:sSubPr>
                                  <m:e>
                                    <m:r>
                                      <a:rPr lang="en-US" sz="2800" b="0" i="1" smtClean="0">
                                        <a:latin typeface="Cambria Math" panose="02040503050406030204" pitchFamily="18" charset="0"/>
                                        <a:cs typeface="Arial" panose="020B0604020202020204" pitchFamily="34" charset="0"/>
                                      </a:rPr>
                                      <m:t>𝑆𝑆𝐸</m:t>
                                    </m:r>
                                  </m:e>
                                  <m:sub>
                                    <m:r>
                                      <a:rPr lang="en-US" sz="2800" b="0" i="1" smtClean="0">
                                        <a:latin typeface="Cambria Math" panose="02040503050406030204" pitchFamily="18" charset="0"/>
                                        <a:cs typeface="Arial" panose="020B0604020202020204" pitchFamily="34" charset="0"/>
                                      </a:rPr>
                                      <m:t>𝐹</m:t>
                                    </m:r>
                                  </m:sub>
                                </m:sSub>
                              </m:e>
                            </m:d>
                          </m:num>
                          <m:den>
                            <m:r>
                              <a:rPr lang="en-US" sz="2800" b="0" i="1" smtClean="0">
                                <a:latin typeface="Cambria Math" panose="02040503050406030204" pitchFamily="18" charset="0"/>
                                <a:cs typeface="Arial" panose="020B0604020202020204" pitchFamily="34" charset="0"/>
                              </a:rPr>
                              <m:t>(</m:t>
                            </m:r>
                            <m:r>
                              <a:rPr lang="en-US" sz="2800" b="0" i="1" smtClean="0">
                                <a:latin typeface="Cambria Math" panose="02040503050406030204" pitchFamily="18" charset="0"/>
                                <a:cs typeface="Arial" panose="020B0604020202020204" pitchFamily="34" charset="0"/>
                              </a:rPr>
                              <m:t>𝑘</m:t>
                            </m:r>
                            <m:r>
                              <a:rPr lang="en-US" sz="2800" b="0" i="1" smtClean="0">
                                <a:latin typeface="Cambria Math" panose="02040503050406030204" pitchFamily="18" charset="0"/>
                                <a:cs typeface="Arial" panose="020B0604020202020204" pitchFamily="34" charset="0"/>
                              </a:rPr>
                              <m:t>−</m:t>
                            </m:r>
                            <m:r>
                              <a:rPr lang="en-US" sz="2800" b="0" i="1" smtClean="0">
                                <a:latin typeface="Cambria Math" panose="02040503050406030204" pitchFamily="18" charset="0"/>
                                <a:cs typeface="Arial" panose="020B0604020202020204" pitchFamily="34" charset="0"/>
                              </a:rPr>
                              <m:t>𝑟</m:t>
                            </m:r>
                            <m:r>
                              <a:rPr lang="en-US" sz="2800" b="0" i="1" smtClean="0">
                                <a:latin typeface="Cambria Math" panose="02040503050406030204" pitchFamily="18" charset="0"/>
                                <a:cs typeface="Arial" panose="020B0604020202020204" pitchFamily="34" charset="0"/>
                              </a:rPr>
                              <m:t>)</m:t>
                            </m:r>
                          </m:den>
                        </m:f>
                      </m:num>
                      <m:den>
                        <m:sSub>
                          <m:sSubPr>
                            <m:ctrlPr>
                              <a:rPr lang="en-US" sz="2800" b="0" i="1" smtClean="0">
                                <a:latin typeface="Cambria Math" panose="02040503050406030204" pitchFamily="18" charset="0"/>
                                <a:cs typeface="Arial" panose="020B0604020202020204" pitchFamily="34" charset="0"/>
                              </a:rPr>
                            </m:ctrlPr>
                          </m:sSubPr>
                          <m:e>
                            <m:r>
                              <a:rPr lang="en-US" sz="2800" b="0" i="1" smtClean="0">
                                <a:latin typeface="Cambria Math" panose="02040503050406030204" pitchFamily="18" charset="0"/>
                                <a:cs typeface="Arial" panose="020B0604020202020204" pitchFamily="34" charset="0"/>
                              </a:rPr>
                              <m:t>𝑀𝑆𝐸</m:t>
                            </m:r>
                          </m:e>
                          <m:sub>
                            <m:r>
                              <a:rPr lang="en-US" sz="2800" b="0" i="1" smtClean="0">
                                <a:latin typeface="Cambria Math" panose="02040503050406030204" pitchFamily="18" charset="0"/>
                                <a:cs typeface="Arial" panose="020B0604020202020204" pitchFamily="34" charset="0"/>
                              </a:rPr>
                              <m:t>𝐹</m:t>
                            </m:r>
                          </m:sub>
                        </m:sSub>
                      </m:den>
                    </m:f>
                  </m:oMath>
                </a14:m>
                <a:endParaRPr lang="en-US" sz="28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What are the degrees of freedom?</a:t>
                </a:r>
              </a:p>
              <a:p>
                <a:r>
                  <a:rPr lang="en-US" sz="2400" dirty="0">
                    <a:latin typeface="Arial" panose="020B0604020202020204" pitchFamily="34" charset="0"/>
                    <a:cs typeface="Arial" panose="020B0604020202020204" pitchFamily="34" charset="0"/>
                  </a:rPr>
                  <a:t>Can also be calculated as </a:t>
                </a:r>
                <a14:m>
                  <m:oMath xmlns:m="http://schemas.openxmlformats.org/officeDocument/2006/math">
                    <m:r>
                      <a:rPr lang="en-US" sz="2400" b="0" i="1" smtClean="0">
                        <a:latin typeface="Cambria Math" panose="02040503050406030204" pitchFamily="18" charset="0"/>
                        <a:cs typeface="Arial" panose="020B0604020202020204" pitchFamily="34" charset="0"/>
                      </a:rPr>
                      <m:t>𝑃𝑎𝑟𝑡𝑖𝑎𝑙</m:t>
                    </m:r>
                    <m:r>
                      <a:rPr lang="en-US" sz="2400" b="0" i="1" smtClean="0">
                        <a:latin typeface="Cambria Math" panose="02040503050406030204" pitchFamily="18" charset="0"/>
                        <a:cs typeface="Arial" panose="020B0604020202020204" pitchFamily="34" charset="0"/>
                      </a:rPr>
                      <m:t> </m:t>
                    </m:r>
                    <m:r>
                      <a:rPr lang="en-US" sz="2400" b="0" i="1" smtClean="0">
                        <a:latin typeface="Cambria Math" panose="02040503050406030204" pitchFamily="18" charset="0"/>
                        <a:cs typeface="Arial" panose="020B0604020202020204" pitchFamily="34" charset="0"/>
                      </a:rPr>
                      <m:t>𝐹</m:t>
                    </m:r>
                    <m:r>
                      <a:rPr lang="en-US" sz="2400" b="0" i="1" smtClean="0">
                        <a:latin typeface="Cambria Math" panose="02040503050406030204" pitchFamily="18" charset="0"/>
                        <a:cs typeface="Arial" panose="020B0604020202020204" pitchFamily="34" charset="0"/>
                      </a:rPr>
                      <m:t>=</m:t>
                    </m:r>
                    <m:f>
                      <m:fPr>
                        <m:ctrlPr>
                          <a:rPr lang="en-US" sz="2400" b="0" i="1" smtClean="0">
                            <a:latin typeface="Cambria Math" panose="02040503050406030204" pitchFamily="18" charset="0"/>
                            <a:cs typeface="Arial" panose="020B0604020202020204" pitchFamily="34" charset="0"/>
                          </a:rPr>
                        </m:ctrlPr>
                      </m:fPr>
                      <m:num>
                        <m:f>
                          <m:fPr>
                            <m:type m:val="skw"/>
                            <m:ctrlPr>
                              <a:rPr lang="en-US" sz="2400" b="0" i="1" smtClean="0">
                                <a:latin typeface="Cambria Math" panose="02040503050406030204" pitchFamily="18" charset="0"/>
                                <a:cs typeface="Arial" panose="020B0604020202020204" pitchFamily="34" charset="0"/>
                              </a:rPr>
                            </m:ctrlPr>
                          </m:fPr>
                          <m:num>
                            <m:d>
                              <m:dPr>
                                <m:ctrlPr>
                                  <a:rPr lang="en-US" sz="2400" b="0" i="1" smtClean="0">
                                    <a:latin typeface="Cambria Math" panose="02040503050406030204" pitchFamily="18" charset="0"/>
                                    <a:cs typeface="Arial" panose="020B0604020202020204" pitchFamily="34" charset="0"/>
                                  </a:rPr>
                                </m:ctrlPr>
                              </m:dPr>
                              <m:e>
                                <m:sSubSup>
                                  <m:sSubSupPr>
                                    <m:ctrlPr>
                                      <a:rPr lang="en-US" sz="2400" i="1">
                                        <a:latin typeface="Cambria Math" panose="02040503050406030204" pitchFamily="18" charset="0"/>
                                        <a:cs typeface="Arial" panose="020B0604020202020204" pitchFamily="34" charset="0"/>
                                      </a:rPr>
                                    </m:ctrlPr>
                                  </m:sSubSupPr>
                                  <m:e>
                                    <m:r>
                                      <a:rPr lang="en-US" sz="2400" i="1">
                                        <a:latin typeface="Cambria Math" panose="02040503050406030204" pitchFamily="18" charset="0"/>
                                        <a:cs typeface="Arial" panose="020B0604020202020204" pitchFamily="34" charset="0"/>
                                      </a:rPr>
                                      <m:t>𝑅</m:t>
                                    </m:r>
                                  </m:e>
                                  <m:sub>
                                    <m:r>
                                      <a:rPr lang="en-US" sz="2400" i="1">
                                        <a:latin typeface="Cambria Math" panose="02040503050406030204" pitchFamily="18" charset="0"/>
                                        <a:cs typeface="Arial" panose="020B0604020202020204" pitchFamily="34" charset="0"/>
                                      </a:rPr>
                                      <m:t>𝐹</m:t>
                                    </m:r>
                                  </m:sub>
                                  <m:sup>
                                    <m:r>
                                      <a:rPr lang="en-US" sz="2400" i="1">
                                        <a:latin typeface="Cambria Math" panose="02040503050406030204" pitchFamily="18" charset="0"/>
                                        <a:cs typeface="Arial" panose="020B0604020202020204" pitchFamily="34" charset="0"/>
                                      </a:rPr>
                                      <m:t>2</m:t>
                                    </m:r>
                                  </m:sup>
                                </m:sSubSup>
                                <m:r>
                                  <a:rPr lang="en-US" sz="2400" i="1">
                                    <a:latin typeface="Cambria Math" panose="02040503050406030204" pitchFamily="18" charset="0"/>
                                    <a:cs typeface="Arial" panose="020B0604020202020204" pitchFamily="34" charset="0"/>
                                  </a:rPr>
                                  <m:t>−</m:t>
                                </m:r>
                                <m:sSubSup>
                                  <m:sSubSupPr>
                                    <m:ctrlPr>
                                      <a:rPr lang="en-US" sz="2400" i="1">
                                        <a:latin typeface="Cambria Math" panose="02040503050406030204" pitchFamily="18" charset="0"/>
                                        <a:cs typeface="Arial" panose="020B0604020202020204" pitchFamily="34" charset="0"/>
                                      </a:rPr>
                                    </m:ctrlPr>
                                  </m:sSubSupPr>
                                  <m:e>
                                    <m:r>
                                      <a:rPr lang="en-US" sz="2400" i="1">
                                        <a:latin typeface="Cambria Math" panose="02040503050406030204" pitchFamily="18" charset="0"/>
                                        <a:cs typeface="Arial" panose="020B0604020202020204" pitchFamily="34" charset="0"/>
                                      </a:rPr>
                                      <m:t>𝑅</m:t>
                                    </m:r>
                                  </m:e>
                                  <m:sub>
                                    <m:r>
                                      <a:rPr lang="en-US" sz="2400" i="1">
                                        <a:latin typeface="Cambria Math" panose="02040503050406030204" pitchFamily="18" charset="0"/>
                                        <a:cs typeface="Arial" panose="020B0604020202020204" pitchFamily="34" charset="0"/>
                                      </a:rPr>
                                      <m:t>𝑅</m:t>
                                    </m:r>
                                  </m:sub>
                                  <m:sup>
                                    <m:r>
                                      <a:rPr lang="en-US" sz="2400" i="1">
                                        <a:latin typeface="Cambria Math" panose="02040503050406030204" pitchFamily="18" charset="0"/>
                                        <a:cs typeface="Arial" panose="020B0604020202020204" pitchFamily="34" charset="0"/>
                                      </a:rPr>
                                      <m:t>2</m:t>
                                    </m:r>
                                  </m:sup>
                                </m:sSubSup>
                              </m:e>
                            </m:d>
                          </m:num>
                          <m:den>
                            <m:r>
                              <a:rPr lang="en-US" sz="2400" b="0" i="1" smtClean="0">
                                <a:latin typeface="Cambria Math" panose="02040503050406030204" pitchFamily="18" charset="0"/>
                                <a:cs typeface="Arial" panose="020B0604020202020204" pitchFamily="34" charset="0"/>
                              </a:rPr>
                              <m:t>(</m:t>
                            </m:r>
                            <m:r>
                              <a:rPr lang="en-US" sz="2400" b="0" i="1" smtClean="0">
                                <a:latin typeface="Cambria Math" panose="02040503050406030204" pitchFamily="18" charset="0"/>
                                <a:cs typeface="Arial" panose="020B0604020202020204" pitchFamily="34" charset="0"/>
                              </a:rPr>
                              <m:t>𝑘</m:t>
                            </m:r>
                            <m:r>
                              <a:rPr lang="en-US" sz="2400" b="0" i="1" smtClean="0">
                                <a:latin typeface="Cambria Math" panose="02040503050406030204" pitchFamily="18" charset="0"/>
                                <a:cs typeface="Arial" panose="020B0604020202020204" pitchFamily="34" charset="0"/>
                              </a:rPr>
                              <m:t>−</m:t>
                            </m:r>
                            <m:r>
                              <a:rPr lang="en-US" sz="2400" b="0" i="1" smtClean="0">
                                <a:latin typeface="Cambria Math" panose="02040503050406030204" pitchFamily="18" charset="0"/>
                                <a:cs typeface="Arial" panose="020B0604020202020204" pitchFamily="34" charset="0"/>
                              </a:rPr>
                              <m:t>𝑟</m:t>
                            </m:r>
                            <m:r>
                              <a:rPr lang="en-US" sz="2400" b="0" i="1" smtClean="0">
                                <a:latin typeface="Cambria Math" panose="02040503050406030204" pitchFamily="18" charset="0"/>
                                <a:cs typeface="Arial" panose="020B0604020202020204" pitchFamily="34" charset="0"/>
                              </a:rPr>
                              <m:t>)</m:t>
                            </m:r>
                          </m:den>
                        </m:f>
                      </m:num>
                      <m:den>
                        <m:f>
                          <m:fPr>
                            <m:type m:val="skw"/>
                            <m:ctrlPr>
                              <a:rPr lang="en-US" sz="2400" b="0" i="1" smtClean="0">
                                <a:latin typeface="Cambria Math" panose="02040503050406030204" pitchFamily="18" charset="0"/>
                                <a:cs typeface="Arial" panose="020B0604020202020204" pitchFamily="34" charset="0"/>
                              </a:rPr>
                            </m:ctrlPr>
                          </m:fPr>
                          <m:num>
                            <m:d>
                              <m:dPr>
                                <m:ctrlPr>
                                  <a:rPr lang="en-US" sz="2400" i="1">
                                    <a:latin typeface="Cambria Math" panose="02040503050406030204" pitchFamily="18" charset="0"/>
                                    <a:cs typeface="Arial" panose="020B0604020202020204" pitchFamily="34" charset="0"/>
                                  </a:rPr>
                                </m:ctrlPr>
                              </m:dPr>
                              <m:e>
                                <m:r>
                                  <a:rPr lang="en-US" sz="2400" i="1">
                                    <a:latin typeface="Cambria Math" panose="02040503050406030204" pitchFamily="18" charset="0"/>
                                    <a:cs typeface="Arial" panose="020B0604020202020204" pitchFamily="34" charset="0"/>
                                  </a:rPr>
                                  <m:t>1−</m:t>
                                </m:r>
                                <m:sSubSup>
                                  <m:sSubSupPr>
                                    <m:ctrlPr>
                                      <a:rPr lang="en-US" sz="2400" i="1">
                                        <a:latin typeface="Cambria Math" panose="02040503050406030204" pitchFamily="18" charset="0"/>
                                        <a:cs typeface="Arial" panose="020B0604020202020204" pitchFamily="34" charset="0"/>
                                      </a:rPr>
                                    </m:ctrlPr>
                                  </m:sSubSupPr>
                                  <m:e>
                                    <m:r>
                                      <a:rPr lang="en-US" sz="2400" i="1">
                                        <a:latin typeface="Cambria Math" panose="02040503050406030204" pitchFamily="18" charset="0"/>
                                        <a:cs typeface="Arial" panose="020B0604020202020204" pitchFamily="34" charset="0"/>
                                      </a:rPr>
                                      <m:t>𝑅</m:t>
                                    </m:r>
                                  </m:e>
                                  <m:sub>
                                    <m:r>
                                      <a:rPr lang="en-US" sz="2400" i="1">
                                        <a:latin typeface="Cambria Math" panose="02040503050406030204" pitchFamily="18" charset="0"/>
                                        <a:cs typeface="Arial" panose="020B0604020202020204" pitchFamily="34" charset="0"/>
                                      </a:rPr>
                                      <m:t>𝐹</m:t>
                                    </m:r>
                                  </m:sub>
                                  <m:sup>
                                    <m:r>
                                      <a:rPr lang="en-US" sz="2400" i="1">
                                        <a:latin typeface="Cambria Math" panose="02040503050406030204" pitchFamily="18" charset="0"/>
                                        <a:cs typeface="Arial" panose="020B0604020202020204" pitchFamily="34" charset="0"/>
                                      </a:rPr>
                                      <m:t>2</m:t>
                                    </m:r>
                                  </m:sup>
                                </m:sSubSup>
                              </m:e>
                            </m:d>
                          </m:num>
                          <m:den>
                            <m:r>
                              <a:rPr lang="en-US" sz="2400" i="1">
                                <a:latin typeface="Cambria Math" panose="02040503050406030204" pitchFamily="18" charset="0"/>
                                <a:cs typeface="Arial" panose="020B0604020202020204" pitchFamily="34" charset="0"/>
                              </a:rPr>
                              <m:t>(</m:t>
                            </m:r>
                            <m:r>
                              <a:rPr lang="en-US" sz="2400" i="1">
                                <a:latin typeface="Cambria Math" panose="02040503050406030204" pitchFamily="18" charset="0"/>
                                <a:cs typeface="Arial" panose="020B0604020202020204" pitchFamily="34" charset="0"/>
                              </a:rPr>
                              <m:t>𝑛</m:t>
                            </m:r>
                            <m:r>
                              <a:rPr lang="en-US" sz="2400" i="1">
                                <a:latin typeface="Cambria Math" panose="02040503050406030204" pitchFamily="18" charset="0"/>
                                <a:cs typeface="Arial" panose="020B0604020202020204" pitchFamily="34" charset="0"/>
                              </a:rPr>
                              <m:t>−</m:t>
                            </m:r>
                            <m:r>
                              <a:rPr lang="en-US" sz="2400" i="1">
                                <a:latin typeface="Cambria Math" panose="02040503050406030204" pitchFamily="18" charset="0"/>
                                <a:cs typeface="Arial" panose="020B0604020202020204" pitchFamily="34" charset="0"/>
                              </a:rPr>
                              <m:t>𝑘</m:t>
                            </m:r>
                            <m:r>
                              <a:rPr lang="en-US" sz="2400" i="1">
                                <a:latin typeface="Cambria Math" panose="02040503050406030204" pitchFamily="18" charset="0"/>
                                <a:cs typeface="Arial" panose="020B0604020202020204" pitchFamily="34" charset="0"/>
                              </a:rPr>
                              <m:t>−1)</m:t>
                            </m:r>
                          </m:den>
                        </m:f>
                      </m:den>
                    </m:f>
                  </m:oMath>
                </a14:m>
                <a:endParaRPr lang="en-US" sz="24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0B91436B-246B-4CD3-B534-BEFBC8F728AF}"/>
                  </a:ext>
                </a:extLst>
              </p:cNvPr>
              <p:cNvSpPr>
                <a:spLocks noGrp="1" noRot="1" noChangeAspect="1" noMove="1" noResize="1" noEditPoints="1" noAdjustHandles="1" noChangeArrowheads="1" noChangeShapeType="1" noTextEdit="1"/>
              </p:cNvSpPr>
              <p:nvPr>
                <p:ph idx="1"/>
              </p:nvPr>
            </p:nvSpPr>
            <p:spPr>
              <a:xfrm>
                <a:off x="533400" y="1600200"/>
                <a:ext cx="7696200" cy="4648200"/>
              </a:xfrm>
              <a:blipFill>
                <a:blip r:embed="rId2"/>
                <a:stretch>
                  <a:fillRect l="-634" t="-919"/>
                </a:stretch>
              </a:blipFill>
            </p:spPr>
            <p:txBody>
              <a:bodyPr/>
              <a:lstStyle/>
              <a:p>
                <a:r>
                  <a:rPr lang="en-US">
                    <a:noFill/>
                  </a:rPr>
                  <a:t> </a:t>
                </a:r>
              </a:p>
            </p:txBody>
          </p:sp>
        </mc:Fallback>
      </mc:AlternateContent>
    </p:spTree>
    <p:extLst>
      <p:ext uri="{BB962C8B-B14F-4D97-AF65-F5344CB8AC3E}">
        <p14:creationId xmlns:p14="http://schemas.microsoft.com/office/powerpoint/2010/main" val="319672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0E03A-517D-428F-A72A-5611E95F72C1}"/>
              </a:ext>
            </a:extLst>
          </p:cNvPr>
          <p:cNvSpPr>
            <a:spLocks noGrp="1"/>
          </p:cNvSpPr>
          <p:nvPr>
            <p:ph type="title"/>
          </p:nvPr>
        </p:nvSpPr>
        <p:spPr>
          <a:xfrm>
            <a:off x="692783" y="423018"/>
            <a:ext cx="6347713" cy="838200"/>
          </a:xfrm>
        </p:spPr>
        <p:txBody>
          <a:bodyPr/>
          <a:lstStyle/>
          <a:p>
            <a:r>
              <a:rPr lang="en-US" dirty="0"/>
              <a:t>Revisit - Gender Divide</a:t>
            </a:r>
          </a:p>
        </p:txBody>
      </p:sp>
      <p:sp>
        <p:nvSpPr>
          <p:cNvPr id="3" name="Text Placeholder 2">
            <a:extLst>
              <a:ext uri="{FF2B5EF4-FFF2-40B4-BE49-F238E27FC236}">
                <a16:creationId xmlns:a16="http://schemas.microsoft.com/office/drawing/2014/main" id="{042B1623-7CA0-4264-800C-503212F0413D}"/>
              </a:ext>
            </a:extLst>
          </p:cNvPr>
          <p:cNvSpPr>
            <a:spLocks noGrp="1"/>
          </p:cNvSpPr>
          <p:nvPr>
            <p:ph type="body" idx="1"/>
          </p:nvPr>
        </p:nvSpPr>
        <p:spPr>
          <a:xfrm>
            <a:off x="4792274" y="1283492"/>
            <a:ext cx="3090672" cy="576262"/>
          </a:xfrm>
        </p:spPr>
        <p:txBody>
          <a:bodyPr/>
          <a:lstStyle/>
          <a:p>
            <a:r>
              <a:rPr lang="en-US" dirty="0"/>
              <a:t>Full Model</a:t>
            </a:r>
          </a:p>
        </p:txBody>
      </p:sp>
      <p:sp>
        <p:nvSpPr>
          <p:cNvPr id="4" name="Content Placeholder 3">
            <a:extLst>
              <a:ext uri="{FF2B5EF4-FFF2-40B4-BE49-F238E27FC236}">
                <a16:creationId xmlns:a16="http://schemas.microsoft.com/office/drawing/2014/main" id="{74285565-DD96-4E1F-8DDC-4AF7E32A9997}"/>
              </a:ext>
            </a:extLst>
          </p:cNvPr>
          <p:cNvSpPr>
            <a:spLocks noGrp="1"/>
          </p:cNvSpPr>
          <p:nvPr>
            <p:ph sz="half" idx="2"/>
          </p:nvPr>
        </p:nvSpPr>
        <p:spPr>
          <a:xfrm>
            <a:off x="4724400" y="1914945"/>
            <a:ext cx="3090672" cy="4800600"/>
          </a:xfrm>
        </p:spPr>
        <p:txBody>
          <a:bodyPr>
            <a:normAutofit fontScale="85000" lnSpcReduction="20000"/>
          </a:bodyPr>
          <a:lstStyle/>
          <a:p>
            <a:r>
              <a:rPr lang="en-US" dirty="0"/>
              <a:t>(Constant)</a:t>
            </a:r>
          </a:p>
          <a:p>
            <a:r>
              <a:rPr lang="en-US" dirty="0"/>
              <a:t>Commerce</a:t>
            </a:r>
          </a:p>
          <a:p>
            <a:r>
              <a:rPr lang="en-US" dirty="0"/>
              <a:t>Technology</a:t>
            </a:r>
          </a:p>
          <a:p>
            <a:r>
              <a:rPr lang="en-US" dirty="0"/>
              <a:t>Science</a:t>
            </a:r>
          </a:p>
          <a:p>
            <a:r>
              <a:rPr lang="en-US" dirty="0" err="1"/>
              <a:t>PostGrad</a:t>
            </a:r>
            <a:endParaRPr lang="en-US" dirty="0"/>
          </a:p>
          <a:p>
            <a:r>
              <a:rPr lang="en-US" dirty="0"/>
              <a:t>Analytics</a:t>
            </a:r>
          </a:p>
          <a:p>
            <a:r>
              <a:rPr lang="en-US" dirty="0"/>
              <a:t>Experience in the Company</a:t>
            </a:r>
          </a:p>
          <a:p>
            <a:r>
              <a:rPr lang="en-US" dirty="0"/>
              <a:t>Gender</a:t>
            </a:r>
          </a:p>
          <a:p>
            <a:r>
              <a:rPr lang="en-US" dirty="0" err="1"/>
              <a:t>Gender_Exper</a:t>
            </a:r>
            <a:endParaRPr lang="en-US" dirty="0"/>
          </a:p>
          <a:p>
            <a:r>
              <a:rPr lang="en-US" dirty="0"/>
              <a:t>Prior Exp</a:t>
            </a:r>
          </a:p>
          <a:p>
            <a:r>
              <a:rPr lang="en-US" dirty="0"/>
              <a:t>Org Level B</a:t>
            </a:r>
          </a:p>
          <a:p>
            <a:r>
              <a:rPr lang="en-US" dirty="0"/>
              <a:t>Org Level C</a:t>
            </a:r>
          </a:p>
          <a:p>
            <a:r>
              <a:rPr lang="en-US" dirty="0"/>
              <a:t>Org Level D</a:t>
            </a:r>
          </a:p>
          <a:p>
            <a:r>
              <a:rPr lang="en-US" dirty="0"/>
              <a:t>Org Level E</a:t>
            </a:r>
          </a:p>
          <a:p>
            <a:r>
              <a:rPr lang="en-US" dirty="0"/>
              <a:t>Org Level F</a:t>
            </a:r>
          </a:p>
          <a:p>
            <a:endParaRPr lang="en-US" dirty="0"/>
          </a:p>
        </p:txBody>
      </p:sp>
      <p:sp>
        <p:nvSpPr>
          <p:cNvPr id="5" name="Text Placeholder 4">
            <a:extLst>
              <a:ext uri="{FF2B5EF4-FFF2-40B4-BE49-F238E27FC236}">
                <a16:creationId xmlns:a16="http://schemas.microsoft.com/office/drawing/2014/main" id="{AE255B70-9D4F-4D49-BCE5-F9339DB52DAA}"/>
              </a:ext>
            </a:extLst>
          </p:cNvPr>
          <p:cNvSpPr>
            <a:spLocks noGrp="1"/>
          </p:cNvSpPr>
          <p:nvPr>
            <p:ph type="body" sz="quarter" idx="3"/>
          </p:nvPr>
        </p:nvSpPr>
        <p:spPr>
          <a:xfrm>
            <a:off x="719746" y="1257701"/>
            <a:ext cx="3090672" cy="576262"/>
          </a:xfrm>
        </p:spPr>
        <p:txBody>
          <a:bodyPr/>
          <a:lstStyle/>
          <a:p>
            <a:r>
              <a:rPr lang="en-US" dirty="0"/>
              <a:t>Reduced Model</a:t>
            </a:r>
          </a:p>
        </p:txBody>
      </p:sp>
      <p:sp>
        <p:nvSpPr>
          <p:cNvPr id="6" name="Content Placeholder 5">
            <a:extLst>
              <a:ext uri="{FF2B5EF4-FFF2-40B4-BE49-F238E27FC236}">
                <a16:creationId xmlns:a16="http://schemas.microsoft.com/office/drawing/2014/main" id="{F7A99354-344B-4223-AEB0-B0B53D4A4059}"/>
              </a:ext>
            </a:extLst>
          </p:cNvPr>
          <p:cNvSpPr>
            <a:spLocks noGrp="1"/>
          </p:cNvSpPr>
          <p:nvPr>
            <p:ph sz="quarter" idx="4"/>
          </p:nvPr>
        </p:nvSpPr>
        <p:spPr>
          <a:xfrm>
            <a:off x="802931" y="1889154"/>
            <a:ext cx="3090672" cy="4044554"/>
          </a:xfrm>
        </p:spPr>
        <p:txBody>
          <a:bodyPr>
            <a:normAutofit fontScale="85000" lnSpcReduction="20000"/>
          </a:bodyPr>
          <a:lstStyle/>
          <a:p>
            <a:r>
              <a:rPr lang="en-US" dirty="0"/>
              <a:t>(Constant)</a:t>
            </a:r>
          </a:p>
          <a:p>
            <a:r>
              <a:rPr lang="en-US" dirty="0"/>
              <a:t>Commerce</a:t>
            </a:r>
          </a:p>
          <a:p>
            <a:r>
              <a:rPr lang="en-US" dirty="0"/>
              <a:t>Technology</a:t>
            </a:r>
          </a:p>
          <a:p>
            <a:r>
              <a:rPr lang="en-US" dirty="0"/>
              <a:t>Science</a:t>
            </a:r>
          </a:p>
          <a:p>
            <a:r>
              <a:rPr lang="en-US" dirty="0" err="1"/>
              <a:t>PostGrad</a:t>
            </a:r>
            <a:endParaRPr lang="en-US" dirty="0"/>
          </a:p>
          <a:p>
            <a:r>
              <a:rPr lang="en-US" dirty="0"/>
              <a:t>Analytics</a:t>
            </a:r>
          </a:p>
          <a:p>
            <a:r>
              <a:rPr lang="en-US" dirty="0"/>
              <a:t>Experience in the Company</a:t>
            </a:r>
          </a:p>
          <a:p>
            <a:r>
              <a:rPr lang="en-US" dirty="0"/>
              <a:t>Gender</a:t>
            </a:r>
          </a:p>
          <a:p>
            <a:r>
              <a:rPr lang="en-US" dirty="0" err="1"/>
              <a:t>Gender_Exper</a:t>
            </a:r>
            <a:endParaRPr lang="en-US" dirty="0"/>
          </a:p>
          <a:p>
            <a:r>
              <a:rPr lang="en-US" dirty="0"/>
              <a:t>Prior Exp</a:t>
            </a:r>
          </a:p>
          <a:p>
            <a:endParaRPr lang="en-US" dirty="0"/>
          </a:p>
        </p:txBody>
      </p:sp>
    </p:spTree>
    <p:extLst>
      <p:ext uri="{BB962C8B-B14F-4D97-AF65-F5344CB8AC3E}">
        <p14:creationId xmlns:p14="http://schemas.microsoft.com/office/powerpoint/2010/main" val="1577903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2CCC4E-BAEF-495A-8EC6-29D4CCB16723}"/>
              </a:ext>
            </a:extLst>
          </p:cNvPr>
          <p:cNvSpPr>
            <a:spLocks noGrp="1"/>
          </p:cNvSpPr>
          <p:nvPr>
            <p:ph type="title"/>
          </p:nvPr>
        </p:nvSpPr>
        <p:spPr>
          <a:xfrm>
            <a:off x="609599" y="609600"/>
            <a:ext cx="6347714" cy="914400"/>
          </a:xfrm>
        </p:spPr>
        <p:txBody>
          <a:bodyPr/>
          <a:lstStyle/>
          <a:p>
            <a:r>
              <a:rPr lang="en-US" dirty="0"/>
              <a:t>Revisit - Gender Divide</a:t>
            </a:r>
          </a:p>
        </p:txBody>
      </p:sp>
      <p:graphicFrame>
        <p:nvGraphicFramePr>
          <p:cNvPr id="5" name="Table 4">
            <a:extLst>
              <a:ext uri="{FF2B5EF4-FFF2-40B4-BE49-F238E27FC236}">
                <a16:creationId xmlns:a16="http://schemas.microsoft.com/office/drawing/2014/main" id="{5F2CF6D0-FA63-4983-8430-834DA3188FA8}"/>
              </a:ext>
            </a:extLst>
          </p:cNvPr>
          <p:cNvGraphicFramePr>
            <a:graphicFrameLocks noGrp="1"/>
          </p:cNvGraphicFramePr>
          <p:nvPr>
            <p:extLst>
              <p:ext uri="{D42A27DB-BD31-4B8C-83A1-F6EECF244321}">
                <p14:modId xmlns:p14="http://schemas.microsoft.com/office/powerpoint/2010/main" val="4286930112"/>
              </p:ext>
            </p:extLst>
          </p:nvPr>
        </p:nvGraphicFramePr>
        <p:xfrm>
          <a:off x="228600" y="1676400"/>
          <a:ext cx="7620000" cy="160020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3607260185"/>
                    </a:ext>
                  </a:extLst>
                </a:gridCol>
                <a:gridCol w="1143000">
                  <a:extLst>
                    <a:ext uri="{9D8B030D-6E8A-4147-A177-3AD203B41FA5}">
                      <a16:colId xmlns:a16="http://schemas.microsoft.com/office/drawing/2014/main" val="3146591271"/>
                    </a:ext>
                  </a:extLst>
                </a:gridCol>
                <a:gridCol w="1905000">
                  <a:extLst>
                    <a:ext uri="{9D8B030D-6E8A-4147-A177-3AD203B41FA5}">
                      <a16:colId xmlns:a16="http://schemas.microsoft.com/office/drawing/2014/main" val="3681393246"/>
                    </a:ext>
                  </a:extLst>
                </a:gridCol>
                <a:gridCol w="990600">
                  <a:extLst>
                    <a:ext uri="{9D8B030D-6E8A-4147-A177-3AD203B41FA5}">
                      <a16:colId xmlns:a16="http://schemas.microsoft.com/office/drawing/2014/main" val="3349831305"/>
                    </a:ext>
                  </a:extLst>
                </a:gridCol>
                <a:gridCol w="1418678">
                  <a:extLst>
                    <a:ext uri="{9D8B030D-6E8A-4147-A177-3AD203B41FA5}">
                      <a16:colId xmlns:a16="http://schemas.microsoft.com/office/drawing/2014/main" val="2783084088"/>
                    </a:ext>
                  </a:extLst>
                </a:gridCol>
                <a:gridCol w="776561">
                  <a:extLst>
                    <a:ext uri="{9D8B030D-6E8A-4147-A177-3AD203B41FA5}">
                      <a16:colId xmlns:a16="http://schemas.microsoft.com/office/drawing/2014/main" val="2278840556"/>
                    </a:ext>
                  </a:extLst>
                </a:gridCol>
                <a:gridCol w="776561">
                  <a:extLst>
                    <a:ext uri="{9D8B030D-6E8A-4147-A177-3AD203B41FA5}">
                      <a16:colId xmlns:a16="http://schemas.microsoft.com/office/drawing/2014/main" val="515578477"/>
                    </a:ext>
                  </a:extLst>
                </a:gridCol>
              </a:tblGrid>
              <a:tr h="413385">
                <a:tc>
                  <a:txBody>
                    <a:bodyPr/>
                    <a:lstStyle/>
                    <a:p>
                      <a:pPr algn="ctr" fontAlgn="b"/>
                      <a:r>
                        <a:rPr lang="en-US" sz="1400" u="none" strike="noStrike" dirty="0">
                          <a:effectLst/>
                        </a:rPr>
                        <a:t>Model</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dirty="0">
                          <a:effectLst/>
                        </a:rPr>
                        <a:t>Source</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a:effectLst/>
                        </a:rPr>
                        <a:t>Sum of Squares</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a:effectLst/>
                        </a:rPr>
                        <a:t>df</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a:effectLst/>
                        </a:rPr>
                        <a:t>Mean Square</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a:effectLst/>
                        </a:rPr>
                        <a:t>F</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a:effectLst/>
                        </a:rPr>
                        <a:t>Sig.</a:t>
                      </a:r>
                      <a:endParaRPr lang="en-US" sz="14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3901749721"/>
                  </a:ext>
                </a:extLst>
              </a:tr>
              <a:tr h="400050">
                <a:tc rowSpan="3">
                  <a:txBody>
                    <a:bodyPr/>
                    <a:lstStyle/>
                    <a:p>
                      <a:pPr algn="ctr" fontAlgn="t"/>
                      <a:r>
                        <a:rPr lang="en-US" sz="1400" u="none" strike="noStrike">
                          <a:effectLst/>
                        </a:rPr>
                        <a:t>Full</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Regression</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3,027,080,069,494</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14</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216,220,004,963</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61.800</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.000</a:t>
                      </a:r>
                      <a:endParaRPr lang="en-US" sz="14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3422976645"/>
                  </a:ext>
                </a:extLst>
              </a:tr>
              <a:tr h="386715">
                <a:tc vMerge="1">
                  <a:txBody>
                    <a:bodyPr/>
                    <a:lstStyle/>
                    <a:p>
                      <a:endParaRPr lang="en-US"/>
                    </a:p>
                  </a:txBody>
                  <a:tcPr/>
                </a:tc>
                <a:tc>
                  <a:txBody>
                    <a:bodyPr/>
                    <a:lstStyle/>
                    <a:p>
                      <a:pPr algn="ctr" fontAlgn="t"/>
                      <a:r>
                        <a:rPr lang="en-US" sz="1400" u="none" strike="noStrike">
                          <a:effectLst/>
                        </a:rPr>
                        <a:t>Residual</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647,262,158,474</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185</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3,498,714,370</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 </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 </a:t>
                      </a:r>
                      <a:endParaRPr lang="en-US" sz="14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1452716097"/>
                  </a:ext>
                </a:extLst>
              </a:tr>
              <a:tr h="400050">
                <a:tc vMerge="1">
                  <a:txBody>
                    <a:bodyPr/>
                    <a:lstStyle/>
                    <a:p>
                      <a:endParaRPr lang="en-US"/>
                    </a:p>
                  </a:txBody>
                  <a:tcPr/>
                </a:tc>
                <a:tc>
                  <a:txBody>
                    <a:bodyPr/>
                    <a:lstStyle/>
                    <a:p>
                      <a:pPr algn="ctr" fontAlgn="t"/>
                      <a:r>
                        <a:rPr lang="en-US" sz="1400" u="none" strike="noStrike">
                          <a:effectLst/>
                        </a:rPr>
                        <a:t>Total</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3,674,342,227,968</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199</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2306857413"/>
                  </a:ext>
                </a:extLst>
              </a:tr>
            </a:tbl>
          </a:graphicData>
        </a:graphic>
      </p:graphicFrame>
      <p:graphicFrame>
        <p:nvGraphicFramePr>
          <p:cNvPr id="6" name="Table 5">
            <a:extLst>
              <a:ext uri="{FF2B5EF4-FFF2-40B4-BE49-F238E27FC236}">
                <a16:creationId xmlns:a16="http://schemas.microsoft.com/office/drawing/2014/main" id="{BB358DB7-8E38-4723-9DCB-B5865B4A3F52}"/>
              </a:ext>
            </a:extLst>
          </p:cNvPr>
          <p:cNvGraphicFramePr>
            <a:graphicFrameLocks noGrp="1"/>
          </p:cNvGraphicFramePr>
          <p:nvPr>
            <p:extLst>
              <p:ext uri="{D42A27DB-BD31-4B8C-83A1-F6EECF244321}">
                <p14:modId xmlns:p14="http://schemas.microsoft.com/office/powerpoint/2010/main" val="485191792"/>
              </p:ext>
            </p:extLst>
          </p:nvPr>
        </p:nvGraphicFramePr>
        <p:xfrm>
          <a:off x="228600" y="3505200"/>
          <a:ext cx="7620000" cy="1447799"/>
        </p:xfrm>
        <a:graphic>
          <a:graphicData uri="http://schemas.openxmlformats.org/drawingml/2006/table">
            <a:tbl>
              <a:tblPr>
                <a:tableStyleId>{5C22544A-7EE6-4342-B048-85BDC9FD1C3A}</a:tableStyleId>
              </a:tblPr>
              <a:tblGrid>
                <a:gridCol w="800079">
                  <a:extLst>
                    <a:ext uri="{9D8B030D-6E8A-4147-A177-3AD203B41FA5}">
                      <a16:colId xmlns:a16="http://schemas.microsoft.com/office/drawing/2014/main" val="1494629555"/>
                    </a:ext>
                  </a:extLst>
                </a:gridCol>
                <a:gridCol w="945547">
                  <a:extLst>
                    <a:ext uri="{9D8B030D-6E8A-4147-A177-3AD203B41FA5}">
                      <a16:colId xmlns:a16="http://schemas.microsoft.com/office/drawing/2014/main" val="3617913060"/>
                    </a:ext>
                  </a:extLst>
                </a:gridCol>
                <a:gridCol w="1672891">
                  <a:extLst>
                    <a:ext uri="{9D8B030D-6E8A-4147-A177-3AD203B41FA5}">
                      <a16:colId xmlns:a16="http://schemas.microsoft.com/office/drawing/2014/main" val="1122831507"/>
                    </a:ext>
                  </a:extLst>
                </a:gridCol>
                <a:gridCol w="1018282">
                  <a:extLst>
                    <a:ext uri="{9D8B030D-6E8A-4147-A177-3AD203B41FA5}">
                      <a16:colId xmlns:a16="http://schemas.microsoft.com/office/drawing/2014/main" val="4257240654"/>
                    </a:ext>
                  </a:extLst>
                </a:gridCol>
                <a:gridCol w="1527423">
                  <a:extLst>
                    <a:ext uri="{9D8B030D-6E8A-4147-A177-3AD203B41FA5}">
                      <a16:colId xmlns:a16="http://schemas.microsoft.com/office/drawing/2014/main" val="2332809564"/>
                    </a:ext>
                  </a:extLst>
                </a:gridCol>
                <a:gridCol w="727344">
                  <a:extLst>
                    <a:ext uri="{9D8B030D-6E8A-4147-A177-3AD203B41FA5}">
                      <a16:colId xmlns:a16="http://schemas.microsoft.com/office/drawing/2014/main" val="1763475056"/>
                    </a:ext>
                  </a:extLst>
                </a:gridCol>
                <a:gridCol w="928434">
                  <a:extLst>
                    <a:ext uri="{9D8B030D-6E8A-4147-A177-3AD203B41FA5}">
                      <a16:colId xmlns:a16="http://schemas.microsoft.com/office/drawing/2014/main" val="197774032"/>
                    </a:ext>
                  </a:extLst>
                </a:gridCol>
              </a:tblGrid>
              <a:tr h="334439">
                <a:tc>
                  <a:txBody>
                    <a:bodyPr/>
                    <a:lstStyle/>
                    <a:p>
                      <a:pPr algn="l" fontAlgn="b"/>
                      <a:r>
                        <a:rPr lang="en-US" sz="1400" u="none" strike="noStrike" dirty="0">
                          <a:effectLst/>
                        </a:rPr>
                        <a:t>Model</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dirty="0">
                          <a:effectLst/>
                        </a:rPr>
                        <a:t>Source</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dirty="0">
                          <a:effectLst/>
                        </a:rPr>
                        <a:t>Sum of Squares</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a:effectLst/>
                        </a:rPr>
                        <a:t>df</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a:effectLst/>
                        </a:rPr>
                        <a:t>Mean Square</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a:effectLst/>
                        </a:rPr>
                        <a:t>F</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a:effectLst/>
                        </a:rPr>
                        <a:t>Sig.</a:t>
                      </a:r>
                      <a:endParaRPr lang="en-US" sz="14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4114026599"/>
                  </a:ext>
                </a:extLst>
              </a:tr>
              <a:tr h="476847">
                <a:tc rowSpan="3">
                  <a:txBody>
                    <a:bodyPr/>
                    <a:lstStyle/>
                    <a:p>
                      <a:pPr algn="l" fontAlgn="t"/>
                      <a:r>
                        <a:rPr lang="en-US" sz="1400" u="none" strike="noStrike" dirty="0">
                          <a:effectLst/>
                        </a:rPr>
                        <a:t>Reduced</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Regression</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2,669,313,811,490</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9</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296,590,423,498</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56.070</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.000</a:t>
                      </a:r>
                      <a:endParaRPr lang="en-US" sz="14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282203732"/>
                  </a:ext>
                </a:extLst>
              </a:tr>
              <a:tr h="312862">
                <a:tc vMerge="1">
                  <a:txBody>
                    <a:bodyPr/>
                    <a:lstStyle/>
                    <a:p>
                      <a:endParaRPr lang="en-US"/>
                    </a:p>
                  </a:txBody>
                  <a:tcPr/>
                </a:tc>
                <a:tc>
                  <a:txBody>
                    <a:bodyPr/>
                    <a:lstStyle/>
                    <a:p>
                      <a:pPr algn="ctr" fontAlgn="t"/>
                      <a:r>
                        <a:rPr lang="en-US" sz="1400" u="none" strike="noStrike">
                          <a:effectLst/>
                        </a:rPr>
                        <a:t>Residual</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1,005,028,416,478</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190</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5,289,623,245</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l"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3686116048"/>
                  </a:ext>
                </a:extLst>
              </a:tr>
              <a:tr h="323651">
                <a:tc vMerge="1">
                  <a:txBody>
                    <a:bodyPr/>
                    <a:lstStyle/>
                    <a:p>
                      <a:endParaRPr lang="en-US"/>
                    </a:p>
                  </a:txBody>
                  <a:tcPr/>
                </a:tc>
                <a:tc>
                  <a:txBody>
                    <a:bodyPr/>
                    <a:lstStyle/>
                    <a:p>
                      <a:pPr algn="ctr" fontAlgn="t"/>
                      <a:r>
                        <a:rPr lang="en-US" sz="1400" u="none" strike="noStrike">
                          <a:effectLst/>
                        </a:rPr>
                        <a:t>Total</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3,674,342,227,968</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199</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l"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3453888265"/>
                  </a:ext>
                </a:extLst>
              </a:tr>
            </a:tbl>
          </a:graphicData>
        </a:graphic>
      </p:graphicFrame>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D599873-4C15-4984-86EC-ED2180EB2AEA}"/>
                  </a:ext>
                </a:extLst>
              </p:cNvPr>
              <p:cNvSpPr txBox="1"/>
              <p:nvPr/>
            </p:nvSpPr>
            <p:spPr>
              <a:xfrm>
                <a:off x="990600" y="6458914"/>
                <a:ext cx="537833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𝑃𝑎𝑟𝑡𝑖𝑎𝑙</m:t>
                      </m:r>
                      <m:r>
                        <a:rPr lang="en-US" b="0" i="1" smtClean="0">
                          <a:latin typeface="Cambria Math" panose="02040503050406030204" pitchFamily="18" charset="0"/>
                        </a:rPr>
                        <m:t> </m:t>
                      </m:r>
                      <m:r>
                        <a:rPr lang="en-US" b="0" i="1" smtClean="0">
                          <a:latin typeface="Cambria Math" panose="02040503050406030204" pitchFamily="18" charset="0"/>
                        </a:rPr>
                        <m:t>𝐹</m:t>
                      </m:r>
                      <m:r>
                        <a:rPr lang="en-US" b="0" i="1" smtClean="0">
                          <a:latin typeface="Cambria Math" panose="02040503050406030204" pitchFamily="18" charset="0"/>
                        </a:rPr>
                        <m:t>=20.4513 </m:t>
                      </m:r>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𝑉𝑎𝑙𝑢𝑒</m:t>
                      </m:r>
                      <m:r>
                        <a:rPr lang="en-US" b="0" i="1" smtClean="0">
                          <a:latin typeface="Cambria Math" panose="02040503050406030204" pitchFamily="18" charset="0"/>
                        </a:rPr>
                        <m:t>=3.1435</m:t>
                      </m:r>
                      <m:r>
                        <a:rPr lang="en-US" b="0" i="1" smtClean="0">
                          <a:latin typeface="Cambria Math" panose="02040503050406030204" pitchFamily="18" charset="0"/>
                        </a:rPr>
                        <m:t>𝑋</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−16</m:t>
                          </m:r>
                        </m:sup>
                      </m:sSup>
                    </m:oMath>
                  </m:oMathPara>
                </a14:m>
                <a:endParaRPr lang="en-US" dirty="0"/>
              </a:p>
            </p:txBody>
          </p:sp>
        </mc:Choice>
        <mc:Fallback xmlns="">
          <p:sp>
            <p:nvSpPr>
              <p:cNvPr id="7" name="TextBox 6">
                <a:extLst>
                  <a:ext uri="{FF2B5EF4-FFF2-40B4-BE49-F238E27FC236}">
                    <a16:creationId xmlns:a16="http://schemas.microsoft.com/office/drawing/2014/main" id="{8D599873-4C15-4984-86EC-ED2180EB2AEA}"/>
                  </a:ext>
                </a:extLst>
              </p:cNvPr>
              <p:cNvSpPr txBox="1">
                <a:spLocks noRot="1" noChangeAspect="1" noMove="1" noResize="1" noEditPoints="1" noAdjustHandles="1" noChangeArrowheads="1" noChangeShapeType="1" noTextEdit="1"/>
              </p:cNvSpPr>
              <p:nvPr/>
            </p:nvSpPr>
            <p:spPr>
              <a:xfrm>
                <a:off x="990600" y="6458914"/>
                <a:ext cx="5378331" cy="276999"/>
              </a:xfrm>
              <a:prstGeom prst="rect">
                <a:avLst/>
              </a:prstGeom>
              <a:blipFill>
                <a:blip r:embed="rId2"/>
                <a:stretch>
                  <a:fillRect l="-454" t="-2222" b="-2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EB376DC0-59E3-4FD7-8E23-23355A31BAC8}"/>
                  </a:ext>
                </a:extLst>
              </p:cNvPr>
              <p:cNvSpPr/>
              <p:nvPr/>
            </p:nvSpPr>
            <p:spPr>
              <a:xfrm>
                <a:off x="1409016" y="5335631"/>
                <a:ext cx="3779496" cy="87915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cs typeface="Arial" panose="020B0604020202020204" pitchFamily="34" charset="0"/>
                        </a:rPr>
                        <m:t>𝑃𝑎𝑟𝑡𝑖𝑎𝑙</m:t>
                      </m:r>
                      <m:r>
                        <a:rPr lang="en-US" i="1">
                          <a:latin typeface="Cambria Math" panose="02040503050406030204" pitchFamily="18" charset="0"/>
                          <a:cs typeface="Arial" panose="020B0604020202020204" pitchFamily="34" charset="0"/>
                        </a:rPr>
                        <m:t> </m:t>
                      </m:r>
                      <m:r>
                        <a:rPr lang="en-US" i="1">
                          <a:latin typeface="Cambria Math" panose="02040503050406030204" pitchFamily="18" charset="0"/>
                          <a:cs typeface="Arial" panose="020B0604020202020204" pitchFamily="34" charset="0"/>
                        </a:rPr>
                        <m:t>𝐹</m:t>
                      </m:r>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f>
                            <m:fPr>
                              <m:type m:val="skw"/>
                              <m:ctrlPr>
                                <a:rPr lang="en-US" i="1">
                                  <a:latin typeface="Cambria Math" panose="02040503050406030204" pitchFamily="18" charset="0"/>
                                  <a:cs typeface="Arial" panose="020B0604020202020204" pitchFamily="34" charset="0"/>
                                </a:rPr>
                              </m:ctrlPr>
                            </m:fPr>
                            <m:num>
                              <m:d>
                                <m:dPr>
                                  <m:ctrlPr>
                                    <a:rPr lang="en-US" i="1">
                                      <a:latin typeface="Cambria Math" panose="02040503050406030204" pitchFamily="18" charset="0"/>
                                      <a:cs typeface="Arial" panose="020B0604020202020204" pitchFamily="34" charset="0"/>
                                    </a:rPr>
                                  </m:ctrlPr>
                                </m:d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𝑆𝑆𝐸</m:t>
                                      </m:r>
                                    </m:e>
                                    <m:sub>
                                      <m:r>
                                        <a:rPr lang="en-US" i="1">
                                          <a:latin typeface="Cambria Math" panose="02040503050406030204" pitchFamily="18" charset="0"/>
                                          <a:cs typeface="Arial" panose="020B0604020202020204" pitchFamily="34" charset="0"/>
                                        </a:rPr>
                                        <m:t>𝑅</m:t>
                                      </m:r>
                                    </m:sub>
                                  </m:sSub>
                                  <m:r>
                                    <a:rPr lang="en-US" i="1">
                                      <a:latin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𝑆𝑆𝐸</m:t>
                                      </m:r>
                                    </m:e>
                                    <m:sub>
                                      <m:r>
                                        <a:rPr lang="en-US" i="1">
                                          <a:latin typeface="Cambria Math" panose="02040503050406030204" pitchFamily="18" charset="0"/>
                                          <a:cs typeface="Arial" panose="020B0604020202020204" pitchFamily="34" charset="0"/>
                                        </a:rPr>
                                        <m:t>𝐹</m:t>
                                      </m:r>
                                    </m:sub>
                                  </m:sSub>
                                </m:e>
                              </m:d>
                            </m:num>
                            <m:den>
                              <m:r>
                                <a:rPr lang="en-US" i="1">
                                  <a:latin typeface="Cambria Math" panose="02040503050406030204" pitchFamily="18" charset="0"/>
                                  <a:cs typeface="Arial" panose="020B0604020202020204" pitchFamily="34" charset="0"/>
                                </a:rPr>
                                <m:t>(</m:t>
                              </m:r>
                              <m:r>
                                <a:rPr lang="en-US" i="1">
                                  <a:latin typeface="Cambria Math" panose="02040503050406030204" pitchFamily="18" charset="0"/>
                                  <a:cs typeface="Arial" panose="020B0604020202020204" pitchFamily="34" charset="0"/>
                                </a:rPr>
                                <m:t>𝑘</m:t>
                              </m:r>
                              <m:r>
                                <a:rPr lang="en-US" i="1">
                                  <a:latin typeface="Cambria Math" panose="02040503050406030204" pitchFamily="18" charset="0"/>
                                  <a:cs typeface="Arial" panose="020B0604020202020204" pitchFamily="34" charset="0"/>
                                </a:rPr>
                                <m:t>−</m:t>
                              </m:r>
                              <m:r>
                                <a:rPr lang="en-US" i="1">
                                  <a:latin typeface="Cambria Math" panose="02040503050406030204" pitchFamily="18" charset="0"/>
                                  <a:cs typeface="Arial" panose="020B0604020202020204" pitchFamily="34" charset="0"/>
                                </a:rPr>
                                <m:t>𝑟</m:t>
                              </m:r>
                              <m:r>
                                <a:rPr lang="en-US" i="1">
                                  <a:latin typeface="Cambria Math" panose="02040503050406030204" pitchFamily="18" charset="0"/>
                                  <a:cs typeface="Arial" panose="020B0604020202020204" pitchFamily="34" charset="0"/>
                                </a:rPr>
                                <m:t>)</m:t>
                              </m:r>
                            </m:den>
                          </m:f>
                        </m:num>
                        <m:den>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𝑀𝑆𝐸</m:t>
                              </m:r>
                            </m:e>
                            <m:sub>
                              <m:r>
                                <a:rPr lang="en-US" i="1">
                                  <a:latin typeface="Cambria Math" panose="02040503050406030204" pitchFamily="18" charset="0"/>
                                  <a:cs typeface="Arial" panose="020B0604020202020204" pitchFamily="34" charset="0"/>
                                </a:rPr>
                                <m:t>𝐹</m:t>
                              </m:r>
                            </m:sub>
                          </m:sSub>
                        </m:den>
                      </m:f>
                    </m:oMath>
                  </m:oMathPara>
                </a14:m>
                <a:endParaRPr lang="en-US" dirty="0"/>
              </a:p>
            </p:txBody>
          </p:sp>
        </mc:Choice>
        <mc:Fallback xmlns="">
          <p:sp>
            <p:nvSpPr>
              <p:cNvPr id="8" name="Rectangle 7">
                <a:extLst>
                  <a:ext uri="{FF2B5EF4-FFF2-40B4-BE49-F238E27FC236}">
                    <a16:creationId xmlns:a16="http://schemas.microsoft.com/office/drawing/2014/main" id="{EB376DC0-59E3-4FD7-8E23-23355A31BAC8}"/>
                  </a:ext>
                </a:extLst>
              </p:cNvPr>
              <p:cNvSpPr>
                <a:spLocks noRot="1" noChangeAspect="1" noMove="1" noResize="1" noEditPoints="1" noAdjustHandles="1" noChangeArrowheads="1" noChangeShapeType="1" noTextEdit="1"/>
              </p:cNvSpPr>
              <p:nvPr/>
            </p:nvSpPr>
            <p:spPr>
              <a:xfrm>
                <a:off x="1409016" y="5335631"/>
                <a:ext cx="3779496" cy="879151"/>
              </a:xfrm>
              <a:prstGeom prst="rect">
                <a:avLst/>
              </a:prstGeom>
              <a:blipFill>
                <a:blip r:embed="rId3"/>
                <a:stretch>
                  <a:fillRect/>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FCE9F942-C829-41B2-B2EE-E896C4A3E985}"/>
              </a:ext>
            </a:extLst>
          </p:cNvPr>
          <p:cNvCxnSpPr/>
          <p:nvPr/>
        </p:nvCxnSpPr>
        <p:spPr>
          <a:xfrm>
            <a:off x="2667000" y="4572000"/>
            <a:ext cx="381000" cy="8382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2BFD1F2-5405-47D4-9469-84434A3C8157}"/>
              </a:ext>
            </a:extLst>
          </p:cNvPr>
          <p:cNvCxnSpPr>
            <a:cxnSpLocks/>
          </p:cNvCxnSpPr>
          <p:nvPr/>
        </p:nvCxnSpPr>
        <p:spPr>
          <a:xfrm flipH="1">
            <a:off x="4114800" y="2799385"/>
            <a:ext cx="1245746" cy="322041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134A2A3-323F-43AE-B913-A88DDE983032}"/>
              </a:ext>
            </a:extLst>
          </p:cNvPr>
          <p:cNvCxnSpPr>
            <a:cxnSpLocks/>
          </p:cNvCxnSpPr>
          <p:nvPr/>
        </p:nvCxnSpPr>
        <p:spPr>
          <a:xfrm>
            <a:off x="4191000" y="4163574"/>
            <a:ext cx="692712" cy="149331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9D225A2-9B8E-4DF7-9259-77B7F46AADE6}"/>
              </a:ext>
            </a:extLst>
          </p:cNvPr>
          <p:cNvCxnSpPr>
            <a:cxnSpLocks/>
          </p:cNvCxnSpPr>
          <p:nvPr/>
        </p:nvCxnSpPr>
        <p:spPr>
          <a:xfrm>
            <a:off x="4419600" y="2380285"/>
            <a:ext cx="76200" cy="325851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1DB4352-1B8E-47FA-9AEB-E854C7094A61}"/>
              </a:ext>
            </a:extLst>
          </p:cNvPr>
          <p:cNvCxnSpPr>
            <a:cxnSpLocks/>
          </p:cNvCxnSpPr>
          <p:nvPr/>
        </p:nvCxnSpPr>
        <p:spPr>
          <a:xfrm>
            <a:off x="2819400" y="2799385"/>
            <a:ext cx="964056" cy="259400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3637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D909A-D7C7-401C-9A53-C2D6D4ED2E1B}"/>
              </a:ext>
            </a:extLst>
          </p:cNvPr>
          <p:cNvSpPr>
            <a:spLocks noGrp="1"/>
          </p:cNvSpPr>
          <p:nvPr>
            <p:ph type="title"/>
          </p:nvPr>
        </p:nvSpPr>
        <p:spPr>
          <a:xfrm>
            <a:off x="685800" y="228600"/>
            <a:ext cx="6347714" cy="609600"/>
          </a:xfrm>
        </p:spPr>
        <p:txBody>
          <a:bodyPr>
            <a:normAutofit fontScale="90000"/>
          </a:bodyPr>
          <a:lstStyle/>
          <a:p>
            <a:r>
              <a:rPr lang="en-US" dirty="0"/>
              <a:t>The Coefficients</a:t>
            </a:r>
          </a:p>
        </p:txBody>
      </p:sp>
      <p:graphicFrame>
        <p:nvGraphicFramePr>
          <p:cNvPr id="8" name="Table 7">
            <a:extLst>
              <a:ext uri="{FF2B5EF4-FFF2-40B4-BE49-F238E27FC236}">
                <a16:creationId xmlns:a16="http://schemas.microsoft.com/office/drawing/2014/main" id="{B01CF201-A17B-4098-9EE2-8A54616C75CF}"/>
              </a:ext>
            </a:extLst>
          </p:cNvPr>
          <p:cNvGraphicFramePr>
            <a:graphicFrameLocks noGrp="1"/>
          </p:cNvGraphicFramePr>
          <p:nvPr>
            <p:extLst>
              <p:ext uri="{D42A27DB-BD31-4B8C-83A1-F6EECF244321}">
                <p14:modId xmlns:p14="http://schemas.microsoft.com/office/powerpoint/2010/main" val="1542936064"/>
              </p:ext>
            </p:extLst>
          </p:nvPr>
        </p:nvGraphicFramePr>
        <p:xfrm>
          <a:off x="609600" y="914399"/>
          <a:ext cx="4382995" cy="2514601"/>
        </p:xfrm>
        <a:graphic>
          <a:graphicData uri="http://schemas.openxmlformats.org/drawingml/2006/table">
            <a:tbl>
              <a:tblPr>
                <a:tableStyleId>{5C22544A-7EE6-4342-B048-85BDC9FD1C3A}</a:tableStyleId>
              </a:tblPr>
              <a:tblGrid>
                <a:gridCol w="1853791">
                  <a:extLst>
                    <a:ext uri="{9D8B030D-6E8A-4147-A177-3AD203B41FA5}">
                      <a16:colId xmlns:a16="http://schemas.microsoft.com/office/drawing/2014/main" val="134884541"/>
                    </a:ext>
                  </a:extLst>
                </a:gridCol>
                <a:gridCol w="689783">
                  <a:extLst>
                    <a:ext uri="{9D8B030D-6E8A-4147-A177-3AD203B41FA5}">
                      <a16:colId xmlns:a16="http://schemas.microsoft.com/office/drawing/2014/main" val="18580161"/>
                    </a:ext>
                  </a:extLst>
                </a:gridCol>
                <a:gridCol w="459855">
                  <a:extLst>
                    <a:ext uri="{9D8B030D-6E8A-4147-A177-3AD203B41FA5}">
                      <a16:colId xmlns:a16="http://schemas.microsoft.com/office/drawing/2014/main" val="3916926472"/>
                    </a:ext>
                  </a:extLst>
                </a:gridCol>
                <a:gridCol w="689783">
                  <a:extLst>
                    <a:ext uri="{9D8B030D-6E8A-4147-A177-3AD203B41FA5}">
                      <a16:colId xmlns:a16="http://schemas.microsoft.com/office/drawing/2014/main" val="1113314305"/>
                    </a:ext>
                  </a:extLst>
                </a:gridCol>
                <a:gridCol w="689783">
                  <a:extLst>
                    <a:ext uri="{9D8B030D-6E8A-4147-A177-3AD203B41FA5}">
                      <a16:colId xmlns:a16="http://schemas.microsoft.com/office/drawing/2014/main" val="2448924815"/>
                    </a:ext>
                  </a:extLst>
                </a:gridCol>
              </a:tblGrid>
              <a:tr h="289140">
                <a:tc rowSpan="2">
                  <a:txBody>
                    <a:bodyPr/>
                    <a:lstStyle/>
                    <a:p>
                      <a:pPr algn="ctr" fontAlgn="b"/>
                      <a:r>
                        <a:rPr lang="en-US" sz="900" u="none" strike="noStrike">
                          <a:effectLst/>
                        </a:rPr>
                        <a:t> </a:t>
                      </a:r>
                      <a:endParaRPr lang="en-US" sz="900" b="0" i="0" u="none" strike="noStrike">
                        <a:solidFill>
                          <a:srgbClr val="000000"/>
                        </a:solidFill>
                        <a:effectLst/>
                        <a:latin typeface="Arial" panose="020B0604020202020204" pitchFamily="34" charset="0"/>
                      </a:endParaRPr>
                    </a:p>
                  </a:txBody>
                  <a:tcPr marL="6350" marR="6350" marT="6350" marB="0" anchor="b"/>
                </a:tc>
                <a:tc gridSpan="2">
                  <a:txBody>
                    <a:bodyPr/>
                    <a:lstStyle/>
                    <a:p>
                      <a:pPr algn="ctr" fontAlgn="b"/>
                      <a:r>
                        <a:rPr lang="en-US" sz="900" u="none" strike="noStrike">
                          <a:effectLst/>
                        </a:rPr>
                        <a:t>Unstandardized Coefficients</a:t>
                      </a:r>
                      <a:endParaRPr lang="en-US" sz="900" b="0" i="0" u="none" strike="noStrike">
                        <a:solidFill>
                          <a:srgbClr val="000000"/>
                        </a:solidFill>
                        <a:effectLst/>
                        <a:latin typeface="Arial" panose="020B0604020202020204" pitchFamily="34" charset="0"/>
                      </a:endParaRPr>
                    </a:p>
                  </a:txBody>
                  <a:tcPr marL="6350" marR="6350" marT="6350" marB="0" anchor="b"/>
                </a:tc>
                <a:tc hMerge="1">
                  <a:txBody>
                    <a:bodyPr/>
                    <a:lstStyle/>
                    <a:p>
                      <a:endParaRPr lang="en-US"/>
                    </a:p>
                  </a:txBody>
                  <a:tcPr/>
                </a:tc>
                <a:tc rowSpan="2">
                  <a:txBody>
                    <a:bodyPr/>
                    <a:lstStyle/>
                    <a:p>
                      <a:pPr algn="ctr" fontAlgn="b"/>
                      <a:r>
                        <a:rPr lang="en-US" sz="900" u="none" strike="noStrike">
                          <a:effectLst/>
                        </a:rPr>
                        <a:t>t</a:t>
                      </a:r>
                      <a:endParaRPr lang="en-US" sz="900" b="0" i="0" u="none" strike="noStrike">
                        <a:solidFill>
                          <a:srgbClr val="000000"/>
                        </a:solidFill>
                        <a:effectLst/>
                        <a:latin typeface="Arial" panose="020B0604020202020204" pitchFamily="34" charset="0"/>
                      </a:endParaRPr>
                    </a:p>
                  </a:txBody>
                  <a:tcPr marL="6350" marR="6350" marT="6350" marB="0" anchor="b"/>
                </a:tc>
                <a:tc rowSpan="2">
                  <a:txBody>
                    <a:bodyPr/>
                    <a:lstStyle/>
                    <a:p>
                      <a:pPr algn="ctr" fontAlgn="b"/>
                      <a:r>
                        <a:rPr lang="en-US" sz="900" u="none" strike="noStrike">
                          <a:effectLst/>
                        </a:rPr>
                        <a:t>Sig.</a:t>
                      </a:r>
                      <a:endParaRPr lang="en-US" sz="900" b="0" i="0" u="none" strike="noStrike">
                        <a:solidFill>
                          <a:srgbClr val="000000"/>
                        </a:solidFill>
                        <a:effectLst/>
                        <a:latin typeface="Arial" panose="020B0604020202020204" pitchFamily="34" charset="0"/>
                      </a:endParaRPr>
                    </a:p>
                  </a:txBody>
                  <a:tcPr marL="6350" marR="6350" marT="6350" marB="0" anchor="b"/>
                </a:tc>
                <a:extLst>
                  <a:ext uri="{0D108BD9-81ED-4DB2-BD59-A6C34878D82A}">
                    <a16:rowId xmlns:a16="http://schemas.microsoft.com/office/drawing/2014/main" val="3656572244"/>
                  </a:ext>
                </a:extLst>
              </a:tr>
              <a:tr h="289140">
                <a:tc vMerge="1">
                  <a:txBody>
                    <a:bodyPr/>
                    <a:lstStyle/>
                    <a:p>
                      <a:endParaRPr lang="en-US"/>
                    </a:p>
                  </a:txBody>
                  <a:tcPr/>
                </a:tc>
                <a:tc>
                  <a:txBody>
                    <a:bodyPr/>
                    <a:lstStyle/>
                    <a:p>
                      <a:pPr algn="ctr" fontAlgn="b"/>
                      <a:r>
                        <a:rPr lang="en-US" sz="900" u="none" strike="noStrike">
                          <a:effectLst/>
                        </a:rPr>
                        <a:t>B</a:t>
                      </a:r>
                      <a:endParaRPr lang="en-US" sz="900" b="0" i="0" u="none" strike="noStrike">
                        <a:solidFill>
                          <a:srgbClr val="000000"/>
                        </a:solidFill>
                        <a:effectLst/>
                        <a:latin typeface="Arial" panose="020B0604020202020204" pitchFamily="34" charset="0"/>
                      </a:endParaRPr>
                    </a:p>
                  </a:txBody>
                  <a:tcPr marL="6350" marR="6350" marT="6350" marB="0" anchor="b"/>
                </a:tc>
                <a:tc>
                  <a:txBody>
                    <a:bodyPr/>
                    <a:lstStyle/>
                    <a:p>
                      <a:pPr algn="ctr" fontAlgn="b"/>
                      <a:r>
                        <a:rPr lang="en-US" sz="900" u="none" strike="noStrike" dirty="0">
                          <a:effectLst/>
                        </a:rPr>
                        <a:t>Std. Error</a:t>
                      </a:r>
                      <a:endParaRPr lang="en-US" sz="900" b="0" i="0" u="none" strike="noStrike" dirty="0">
                        <a:solidFill>
                          <a:srgbClr val="000000"/>
                        </a:solidFill>
                        <a:effectLst/>
                        <a:latin typeface="Arial" panose="020B0604020202020204" pitchFamily="34" charset="0"/>
                      </a:endParaRPr>
                    </a:p>
                  </a:txBody>
                  <a:tcPr marL="6350" marR="6350" marT="6350" marB="0" anchor="b"/>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717143110"/>
                  </a:ext>
                </a:extLst>
              </a:tr>
              <a:tr h="196249">
                <a:tc>
                  <a:txBody>
                    <a:bodyPr/>
                    <a:lstStyle/>
                    <a:p>
                      <a:pPr algn="l" fontAlgn="t"/>
                      <a:r>
                        <a:rPr lang="en-US" sz="900" u="none" strike="noStrike">
                          <a:effectLst/>
                        </a:rPr>
                        <a:t>(Constant)</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375522.8</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14725.0</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25.502</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.000</a:t>
                      </a:r>
                      <a:endParaRPr lang="en-US" sz="900" b="0" i="0" u="none" strike="noStrike">
                        <a:solidFill>
                          <a:srgbClr val="000000"/>
                        </a:solidFill>
                        <a:effectLst/>
                        <a:latin typeface="Arial" panose="020B0604020202020204" pitchFamily="34" charset="0"/>
                      </a:endParaRPr>
                    </a:p>
                  </a:txBody>
                  <a:tcPr marL="6350" marR="6350" marT="6350" marB="0"/>
                </a:tc>
                <a:extLst>
                  <a:ext uri="{0D108BD9-81ED-4DB2-BD59-A6C34878D82A}">
                    <a16:rowId xmlns:a16="http://schemas.microsoft.com/office/drawing/2014/main" val="3921126192"/>
                  </a:ext>
                </a:extLst>
              </a:tr>
              <a:tr h="189707">
                <a:tc>
                  <a:txBody>
                    <a:bodyPr/>
                    <a:lstStyle/>
                    <a:p>
                      <a:pPr algn="l" fontAlgn="t"/>
                      <a:r>
                        <a:rPr lang="en-US" sz="900" u="none" strike="noStrike">
                          <a:effectLst/>
                        </a:rPr>
                        <a:t>Commerce</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-48444.3</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15594.1</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-3.107</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.002</a:t>
                      </a:r>
                      <a:endParaRPr lang="en-US" sz="900" b="0" i="0" u="none" strike="noStrike">
                        <a:solidFill>
                          <a:srgbClr val="000000"/>
                        </a:solidFill>
                        <a:effectLst/>
                        <a:latin typeface="Arial" panose="020B0604020202020204" pitchFamily="34" charset="0"/>
                      </a:endParaRPr>
                    </a:p>
                  </a:txBody>
                  <a:tcPr marL="6350" marR="6350" marT="6350" marB="0"/>
                </a:tc>
                <a:extLst>
                  <a:ext uri="{0D108BD9-81ED-4DB2-BD59-A6C34878D82A}">
                    <a16:rowId xmlns:a16="http://schemas.microsoft.com/office/drawing/2014/main" val="1256447172"/>
                  </a:ext>
                </a:extLst>
              </a:tr>
              <a:tr h="189707">
                <a:tc>
                  <a:txBody>
                    <a:bodyPr/>
                    <a:lstStyle/>
                    <a:p>
                      <a:pPr algn="l" fontAlgn="t"/>
                      <a:r>
                        <a:rPr lang="en-US" sz="900" u="none" strike="noStrike">
                          <a:effectLst/>
                        </a:rPr>
                        <a:t>Technology</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-27533.0</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12152.9</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-2.266</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.025</a:t>
                      </a:r>
                      <a:endParaRPr lang="en-US" sz="900" b="0" i="0" u="none" strike="noStrike">
                        <a:solidFill>
                          <a:srgbClr val="000000"/>
                        </a:solidFill>
                        <a:effectLst/>
                        <a:latin typeface="Arial" panose="020B0604020202020204" pitchFamily="34" charset="0"/>
                      </a:endParaRPr>
                    </a:p>
                  </a:txBody>
                  <a:tcPr marL="6350" marR="6350" marT="6350" marB="0"/>
                </a:tc>
                <a:extLst>
                  <a:ext uri="{0D108BD9-81ED-4DB2-BD59-A6C34878D82A}">
                    <a16:rowId xmlns:a16="http://schemas.microsoft.com/office/drawing/2014/main" val="1868440084"/>
                  </a:ext>
                </a:extLst>
              </a:tr>
              <a:tr h="189707">
                <a:tc>
                  <a:txBody>
                    <a:bodyPr/>
                    <a:lstStyle/>
                    <a:p>
                      <a:pPr algn="l" fontAlgn="t"/>
                      <a:r>
                        <a:rPr lang="en-US" sz="900" u="none" strike="noStrike">
                          <a:effectLst/>
                        </a:rPr>
                        <a:t>Science</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dirty="0">
                          <a:effectLst/>
                        </a:rPr>
                        <a:t>-12635.7</a:t>
                      </a:r>
                      <a:endParaRPr lang="en-US" sz="900" b="0" i="0" u="none" strike="noStrike" dirty="0">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26826.6</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-.471</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.638</a:t>
                      </a:r>
                      <a:endParaRPr lang="en-US" sz="900" b="0" i="0" u="none" strike="noStrike">
                        <a:solidFill>
                          <a:srgbClr val="000000"/>
                        </a:solidFill>
                        <a:effectLst/>
                        <a:latin typeface="Arial" panose="020B0604020202020204" pitchFamily="34" charset="0"/>
                      </a:endParaRPr>
                    </a:p>
                  </a:txBody>
                  <a:tcPr marL="6350" marR="6350" marT="6350" marB="0"/>
                </a:tc>
                <a:extLst>
                  <a:ext uri="{0D108BD9-81ED-4DB2-BD59-A6C34878D82A}">
                    <a16:rowId xmlns:a16="http://schemas.microsoft.com/office/drawing/2014/main" val="3922368195"/>
                  </a:ext>
                </a:extLst>
              </a:tr>
              <a:tr h="189707">
                <a:tc>
                  <a:txBody>
                    <a:bodyPr/>
                    <a:lstStyle/>
                    <a:p>
                      <a:pPr algn="l" fontAlgn="t"/>
                      <a:r>
                        <a:rPr lang="en-US" sz="900" u="none" strike="noStrike">
                          <a:effectLst/>
                        </a:rPr>
                        <a:t>PostGrad</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67072.5</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11805.3</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5.682</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.000</a:t>
                      </a:r>
                      <a:endParaRPr lang="en-US" sz="900" b="0" i="0" u="none" strike="noStrike">
                        <a:solidFill>
                          <a:srgbClr val="000000"/>
                        </a:solidFill>
                        <a:effectLst/>
                        <a:latin typeface="Arial" panose="020B0604020202020204" pitchFamily="34" charset="0"/>
                      </a:endParaRPr>
                    </a:p>
                  </a:txBody>
                  <a:tcPr marL="6350" marR="6350" marT="6350" marB="0"/>
                </a:tc>
                <a:extLst>
                  <a:ext uri="{0D108BD9-81ED-4DB2-BD59-A6C34878D82A}">
                    <a16:rowId xmlns:a16="http://schemas.microsoft.com/office/drawing/2014/main" val="42325512"/>
                  </a:ext>
                </a:extLst>
              </a:tr>
              <a:tr h="196249">
                <a:tc>
                  <a:txBody>
                    <a:bodyPr/>
                    <a:lstStyle/>
                    <a:p>
                      <a:pPr algn="l" fontAlgn="t"/>
                      <a:r>
                        <a:rPr lang="en-US" sz="900" u="none" strike="noStrike">
                          <a:effectLst/>
                        </a:rPr>
                        <a:t>Analytics</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dirty="0">
                          <a:effectLst/>
                        </a:rPr>
                        <a:t>48826.0</a:t>
                      </a:r>
                      <a:endParaRPr lang="en-US" sz="900" b="0" i="0" u="none" strike="noStrike" dirty="0">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19713.2</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2.477</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.014</a:t>
                      </a:r>
                      <a:endParaRPr lang="en-US" sz="900" b="0" i="0" u="none" strike="noStrike">
                        <a:solidFill>
                          <a:srgbClr val="000000"/>
                        </a:solidFill>
                        <a:effectLst/>
                        <a:latin typeface="Arial" panose="020B0604020202020204" pitchFamily="34" charset="0"/>
                      </a:endParaRPr>
                    </a:p>
                  </a:txBody>
                  <a:tcPr marL="6350" marR="6350" marT="6350" marB="0"/>
                </a:tc>
                <a:extLst>
                  <a:ext uri="{0D108BD9-81ED-4DB2-BD59-A6C34878D82A}">
                    <a16:rowId xmlns:a16="http://schemas.microsoft.com/office/drawing/2014/main" val="2384404732"/>
                  </a:ext>
                </a:extLst>
              </a:tr>
              <a:tr h="202790">
                <a:tc>
                  <a:txBody>
                    <a:bodyPr/>
                    <a:lstStyle/>
                    <a:p>
                      <a:pPr algn="l" fontAlgn="t"/>
                      <a:r>
                        <a:rPr lang="en-US" sz="900" u="none" strike="noStrike">
                          <a:effectLst/>
                        </a:rPr>
                        <a:t>Experience in the Company</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16716.7</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1000.8</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16.704</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.000</a:t>
                      </a:r>
                      <a:endParaRPr lang="en-US" sz="900" b="0" i="0" u="none" strike="noStrike">
                        <a:solidFill>
                          <a:srgbClr val="000000"/>
                        </a:solidFill>
                        <a:effectLst/>
                        <a:latin typeface="Arial" panose="020B0604020202020204" pitchFamily="34" charset="0"/>
                      </a:endParaRPr>
                    </a:p>
                  </a:txBody>
                  <a:tcPr marL="6350" marR="6350" marT="6350" marB="0"/>
                </a:tc>
                <a:extLst>
                  <a:ext uri="{0D108BD9-81ED-4DB2-BD59-A6C34878D82A}">
                    <a16:rowId xmlns:a16="http://schemas.microsoft.com/office/drawing/2014/main" val="1058938015"/>
                  </a:ext>
                </a:extLst>
              </a:tr>
              <a:tr h="196249">
                <a:tc>
                  <a:txBody>
                    <a:bodyPr/>
                    <a:lstStyle/>
                    <a:p>
                      <a:pPr algn="l" fontAlgn="t"/>
                      <a:r>
                        <a:rPr lang="en-US" sz="900" u="none" strike="noStrike">
                          <a:effectLst/>
                        </a:rPr>
                        <a:t>Gender</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31300.2</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17495.3</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1.789</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.075</a:t>
                      </a:r>
                      <a:endParaRPr lang="en-US" sz="900" b="0" i="0" u="none" strike="noStrike">
                        <a:solidFill>
                          <a:srgbClr val="000000"/>
                        </a:solidFill>
                        <a:effectLst/>
                        <a:latin typeface="Arial" panose="020B0604020202020204" pitchFamily="34" charset="0"/>
                      </a:endParaRPr>
                    </a:p>
                  </a:txBody>
                  <a:tcPr marL="6350" marR="6350" marT="6350" marB="0"/>
                </a:tc>
                <a:extLst>
                  <a:ext uri="{0D108BD9-81ED-4DB2-BD59-A6C34878D82A}">
                    <a16:rowId xmlns:a16="http://schemas.microsoft.com/office/drawing/2014/main" val="884669123"/>
                  </a:ext>
                </a:extLst>
              </a:tr>
              <a:tr h="189707">
                <a:tc>
                  <a:txBody>
                    <a:bodyPr/>
                    <a:lstStyle/>
                    <a:p>
                      <a:pPr algn="l" fontAlgn="t"/>
                      <a:r>
                        <a:rPr lang="en-US" sz="900" u="none" strike="noStrike">
                          <a:effectLst/>
                        </a:rPr>
                        <a:t>Gender_Exper</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-13081.7</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1514.9</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-8.635</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.000</a:t>
                      </a:r>
                      <a:endParaRPr lang="en-US" sz="900" b="0" i="0" u="none" strike="noStrike">
                        <a:solidFill>
                          <a:srgbClr val="000000"/>
                        </a:solidFill>
                        <a:effectLst/>
                        <a:latin typeface="Arial" panose="020B0604020202020204" pitchFamily="34" charset="0"/>
                      </a:endParaRPr>
                    </a:p>
                  </a:txBody>
                  <a:tcPr marL="6350" marR="6350" marT="6350" marB="0"/>
                </a:tc>
                <a:extLst>
                  <a:ext uri="{0D108BD9-81ED-4DB2-BD59-A6C34878D82A}">
                    <a16:rowId xmlns:a16="http://schemas.microsoft.com/office/drawing/2014/main" val="3142339315"/>
                  </a:ext>
                </a:extLst>
              </a:tr>
              <a:tr h="196249">
                <a:tc>
                  <a:txBody>
                    <a:bodyPr/>
                    <a:lstStyle/>
                    <a:p>
                      <a:pPr algn="l" fontAlgn="t"/>
                      <a:r>
                        <a:rPr lang="en-US" sz="900" u="none" strike="noStrike">
                          <a:effectLst/>
                        </a:rPr>
                        <a:t>Prior Exp</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1258.3</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1774.6</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a:effectLst/>
                        </a:rPr>
                        <a:t>.709</a:t>
                      </a:r>
                      <a:endParaRPr lang="en-US" sz="9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900" u="none" strike="noStrike" dirty="0">
                          <a:effectLst/>
                        </a:rPr>
                        <a:t>.479</a:t>
                      </a:r>
                      <a:endParaRPr lang="en-US" sz="900" b="0" i="0" u="none" strike="noStrike" dirty="0">
                        <a:solidFill>
                          <a:srgbClr val="000000"/>
                        </a:solidFill>
                        <a:effectLst/>
                        <a:latin typeface="Arial" panose="020B0604020202020204" pitchFamily="34" charset="0"/>
                      </a:endParaRPr>
                    </a:p>
                  </a:txBody>
                  <a:tcPr marL="6350" marR="6350" marT="6350" marB="0"/>
                </a:tc>
                <a:extLst>
                  <a:ext uri="{0D108BD9-81ED-4DB2-BD59-A6C34878D82A}">
                    <a16:rowId xmlns:a16="http://schemas.microsoft.com/office/drawing/2014/main" val="593201985"/>
                  </a:ext>
                </a:extLst>
              </a:tr>
            </a:tbl>
          </a:graphicData>
        </a:graphic>
      </p:graphicFrame>
      <p:graphicFrame>
        <p:nvGraphicFramePr>
          <p:cNvPr id="9" name="Object 8">
            <a:extLst>
              <a:ext uri="{FF2B5EF4-FFF2-40B4-BE49-F238E27FC236}">
                <a16:creationId xmlns:a16="http://schemas.microsoft.com/office/drawing/2014/main" id="{B00880B7-63FC-447E-9F79-F6F990892CD1}"/>
              </a:ext>
            </a:extLst>
          </p:cNvPr>
          <p:cNvGraphicFramePr>
            <a:graphicFrameLocks noChangeAspect="1"/>
          </p:cNvGraphicFramePr>
          <p:nvPr>
            <p:extLst>
              <p:ext uri="{D42A27DB-BD31-4B8C-83A1-F6EECF244321}">
                <p14:modId xmlns:p14="http://schemas.microsoft.com/office/powerpoint/2010/main" val="3433954810"/>
              </p:ext>
            </p:extLst>
          </p:nvPr>
        </p:nvGraphicFramePr>
        <p:xfrm>
          <a:off x="2667000" y="3581400"/>
          <a:ext cx="4241800" cy="3175000"/>
        </p:xfrm>
        <a:graphic>
          <a:graphicData uri="http://schemas.openxmlformats.org/presentationml/2006/ole">
            <mc:AlternateContent xmlns:mc="http://schemas.openxmlformats.org/markup-compatibility/2006">
              <mc:Choice xmlns:v="urn:schemas-microsoft-com:vml" Requires="v">
                <p:oleObj name="Worksheet" r:id="rId3" imgW="4241700" imgH="3174970" progId="Excel.Sheet.12">
                  <p:embed/>
                </p:oleObj>
              </mc:Choice>
              <mc:Fallback>
                <p:oleObj name="Worksheet" r:id="rId3" imgW="4241700" imgH="3174970" progId="Excel.Sheet.12">
                  <p:embed/>
                  <p:pic>
                    <p:nvPicPr>
                      <p:cNvPr id="0" name=""/>
                      <p:cNvPicPr/>
                      <p:nvPr/>
                    </p:nvPicPr>
                    <p:blipFill>
                      <a:blip r:embed="rId4"/>
                      <a:stretch>
                        <a:fillRect/>
                      </a:stretch>
                    </p:blipFill>
                    <p:spPr>
                      <a:xfrm>
                        <a:off x="2667000" y="3581400"/>
                        <a:ext cx="4241800" cy="3175000"/>
                      </a:xfrm>
                      <a:prstGeom prst="rect">
                        <a:avLst/>
                      </a:prstGeom>
                    </p:spPr>
                  </p:pic>
                </p:oleObj>
              </mc:Fallback>
            </mc:AlternateContent>
          </a:graphicData>
        </a:graphic>
      </p:graphicFrame>
    </p:spTree>
    <p:extLst>
      <p:ext uri="{BB962C8B-B14F-4D97-AF65-F5344CB8AC3E}">
        <p14:creationId xmlns:p14="http://schemas.microsoft.com/office/powerpoint/2010/main" val="2666374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73F2666-0D24-4058-B2F3-3D7E45F62C78}"/>
              </a:ext>
            </a:extLst>
          </p:cNvPr>
          <p:cNvSpPr>
            <a:spLocks noGrp="1" noChangeArrowheads="1"/>
          </p:cNvSpPr>
          <p:nvPr>
            <p:ph type="ctrTitle"/>
          </p:nvPr>
        </p:nvSpPr>
        <p:spPr/>
        <p:txBody>
          <a:bodyPr/>
          <a:lstStyle/>
          <a:p>
            <a:r>
              <a:rPr lang="en-US" altLang="en-US"/>
              <a:t>Autocorrelation</a:t>
            </a:r>
          </a:p>
        </p:txBody>
      </p:sp>
      <p:sp>
        <p:nvSpPr>
          <p:cNvPr id="2051" name="Rectangle 3">
            <a:extLst>
              <a:ext uri="{FF2B5EF4-FFF2-40B4-BE49-F238E27FC236}">
                <a16:creationId xmlns:a16="http://schemas.microsoft.com/office/drawing/2014/main" id="{8B24EAF0-76FE-4E8C-8D2F-743F39DEBF05}"/>
              </a:ext>
            </a:extLst>
          </p:cNvPr>
          <p:cNvSpPr>
            <a:spLocks noGrp="1" noChangeArrowheads="1"/>
          </p:cNvSpPr>
          <p:nvPr>
            <p:ph type="subTitle" idx="1"/>
          </p:nvPr>
        </p:nvSpPr>
        <p:spPr/>
        <p:txBody>
          <a:bodyPr rtlCol="0">
            <a:normAutofit/>
          </a:bodyPr>
          <a:lstStyle/>
          <a:p>
            <a:pPr fontAlgn="auto">
              <a:spcAft>
                <a:spcPts val="0"/>
              </a:spcAft>
              <a:defRPr/>
            </a:pP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95B9E2F6-1810-4CBF-98E8-2F9340CF7E45}"/>
              </a:ext>
            </a:extLst>
          </p:cNvPr>
          <p:cNvSpPr>
            <a:spLocks noGrp="1" noRot="1" noChangeArrowheads="1"/>
          </p:cNvSpPr>
          <p:nvPr>
            <p:ph type="title"/>
          </p:nvPr>
        </p:nvSpPr>
        <p:spPr/>
        <p:txBody>
          <a:bodyPr/>
          <a:lstStyle/>
          <a:p>
            <a:r>
              <a:rPr lang="en-US" altLang="en-US"/>
              <a:t>Autocorrelation</a:t>
            </a:r>
          </a:p>
        </p:txBody>
      </p:sp>
      <p:sp>
        <p:nvSpPr>
          <p:cNvPr id="30723" name="Rectangle 3">
            <a:extLst>
              <a:ext uri="{FF2B5EF4-FFF2-40B4-BE49-F238E27FC236}">
                <a16:creationId xmlns:a16="http://schemas.microsoft.com/office/drawing/2014/main" id="{0A297D82-33C0-4191-8634-ABDC8CE1749A}"/>
              </a:ext>
            </a:extLst>
          </p:cNvPr>
          <p:cNvSpPr>
            <a:spLocks noGrp="1" noChangeArrowheads="1"/>
          </p:cNvSpPr>
          <p:nvPr>
            <p:ph idx="1"/>
          </p:nvPr>
        </p:nvSpPr>
        <p:spPr>
          <a:xfrm>
            <a:off x="533400" y="1752600"/>
            <a:ext cx="7162800" cy="4495800"/>
          </a:xfrm>
        </p:spPr>
        <p:txBody>
          <a:bodyPr>
            <a:noAutofit/>
          </a:bodyPr>
          <a:lstStyle/>
          <a:p>
            <a:r>
              <a:rPr lang="en-US" altLang="en-US" sz="2400" dirty="0"/>
              <a:t>Autocorrelation is defined as correlation between members of series of observations ordered in time.</a:t>
            </a:r>
          </a:p>
          <a:p>
            <a:endParaRPr lang="en-US" altLang="en-US" sz="2400" dirty="0"/>
          </a:p>
          <a:p>
            <a:r>
              <a:rPr lang="en-US" altLang="en-US" sz="2400" dirty="0"/>
              <a:t>In regression, it is assumed that the successive error terms (residuals) are independent.</a:t>
            </a:r>
          </a:p>
          <a:p>
            <a:endParaRPr lang="en-US" altLang="en-US" sz="2400" dirty="0"/>
          </a:p>
          <a:p>
            <a:r>
              <a:rPr lang="en-US" altLang="en-US" sz="2400" dirty="0"/>
              <a:t>If there is dependence between successive error terms, then</a:t>
            </a:r>
          </a:p>
          <a:p>
            <a:pPr lvl="1"/>
            <a:r>
              <a:rPr lang="en-US" altLang="en-US" sz="2400" dirty="0" err="1"/>
              <a:t>Cov</a:t>
            </a:r>
            <a:r>
              <a:rPr lang="en-US" altLang="en-US" sz="2400" dirty="0"/>
              <a:t>(</a:t>
            </a:r>
            <a:r>
              <a:rPr lang="en-US" altLang="en-US" sz="2400" dirty="0" err="1"/>
              <a:t>e</a:t>
            </a:r>
            <a:r>
              <a:rPr lang="en-US" altLang="en-US" sz="2400" baseline="-25000" dirty="0" err="1"/>
              <a:t>i</a:t>
            </a:r>
            <a:r>
              <a:rPr lang="en-US" altLang="en-US" sz="2400" baseline="-25000" dirty="0"/>
              <a:t> </a:t>
            </a:r>
            <a:r>
              <a:rPr lang="en-US" altLang="en-US" sz="2400" dirty="0"/>
              <a:t>, </a:t>
            </a:r>
            <a:r>
              <a:rPr lang="en-US" altLang="en-US" sz="2400" dirty="0" err="1"/>
              <a:t>e</a:t>
            </a:r>
            <a:r>
              <a:rPr lang="en-US" altLang="en-US" sz="2400" baseline="-25000" dirty="0" err="1"/>
              <a:t>j</a:t>
            </a:r>
            <a:r>
              <a:rPr lang="en-US" altLang="en-US" sz="2400" dirty="0"/>
              <a:t>) </a:t>
            </a:r>
            <a:r>
              <a:rPr lang="en-US" altLang="en-US" sz="2400" dirty="0">
                <a:sym typeface="Symbol" panose="05050102010706020507" pitchFamily="18" charset="2"/>
              </a:rPr>
              <a:t> 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653B3DC2-F797-4837-A743-0B989297B10E}"/>
              </a:ext>
            </a:extLst>
          </p:cNvPr>
          <p:cNvSpPr>
            <a:spLocks noGrp="1" noRot="1" noChangeArrowheads="1"/>
          </p:cNvSpPr>
          <p:nvPr>
            <p:ph type="title"/>
          </p:nvPr>
        </p:nvSpPr>
        <p:spPr/>
        <p:txBody>
          <a:bodyPr/>
          <a:lstStyle/>
          <a:p>
            <a:r>
              <a:rPr lang="en-US" altLang="en-US"/>
              <a:t>Durbin Watson Test</a:t>
            </a:r>
          </a:p>
        </p:txBody>
      </p:sp>
      <p:sp>
        <p:nvSpPr>
          <p:cNvPr id="31747" name="Rectangle 3">
            <a:extLst>
              <a:ext uri="{FF2B5EF4-FFF2-40B4-BE49-F238E27FC236}">
                <a16:creationId xmlns:a16="http://schemas.microsoft.com/office/drawing/2014/main" id="{C5C7C901-CECD-4CBF-A4B4-1155340C4F11}"/>
              </a:ext>
            </a:extLst>
          </p:cNvPr>
          <p:cNvSpPr>
            <a:spLocks noGrp="1" noChangeArrowheads="1"/>
          </p:cNvSpPr>
          <p:nvPr>
            <p:ph idx="1"/>
          </p:nvPr>
        </p:nvSpPr>
        <p:spPr>
          <a:xfrm>
            <a:off x="457200" y="1600200"/>
            <a:ext cx="8229600" cy="2743200"/>
          </a:xfrm>
        </p:spPr>
        <p:txBody>
          <a:bodyPr>
            <a:normAutofit/>
          </a:bodyPr>
          <a:lstStyle/>
          <a:p>
            <a:r>
              <a:rPr lang="en-US" altLang="en-US" sz="2400" dirty="0"/>
              <a:t>Durbin Watson test checks the presence of first order autocorrelation.</a:t>
            </a:r>
          </a:p>
          <a:p>
            <a:r>
              <a:rPr lang="en-US" altLang="en-US" sz="2400" dirty="0"/>
              <a:t>Durbin Watson test is:</a:t>
            </a:r>
          </a:p>
          <a:p>
            <a:pPr lvl="1"/>
            <a:r>
              <a:rPr lang="en-US" altLang="en-US" sz="2400" dirty="0"/>
              <a:t>H</a:t>
            </a:r>
            <a:r>
              <a:rPr lang="en-US" altLang="en-US" sz="2400" baseline="-25000" dirty="0"/>
              <a:t>0 </a:t>
            </a:r>
            <a:r>
              <a:rPr lang="en-US" altLang="en-US" sz="2400" dirty="0"/>
              <a:t>: </a:t>
            </a:r>
            <a:r>
              <a:rPr lang="en-US" altLang="en-US" sz="2400" dirty="0">
                <a:sym typeface="Symbol" panose="05050102010706020507" pitchFamily="18" charset="2"/>
              </a:rPr>
              <a:t></a:t>
            </a:r>
            <a:r>
              <a:rPr lang="en-US" altLang="en-US" sz="2400" baseline="-25000" dirty="0">
                <a:sym typeface="Symbol" panose="05050102010706020507" pitchFamily="18" charset="2"/>
              </a:rPr>
              <a:t>1 </a:t>
            </a:r>
            <a:r>
              <a:rPr lang="en-US" altLang="en-US" sz="2400" dirty="0">
                <a:sym typeface="Symbol" panose="05050102010706020507" pitchFamily="18" charset="2"/>
              </a:rPr>
              <a:t>= 0</a:t>
            </a:r>
          </a:p>
          <a:p>
            <a:pPr lvl="1"/>
            <a:r>
              <a:rPr lang="en-US" altLang="en-US" sz="2400" baseline="-25000" dirty="0">
                <a:sym typeface="Symbol" panose="05050102010706020507" pitchFamily="18" charset="2"/>
              </a:rPr>
              <a:t> </a:t>
            </a:r>
            <a:r>
              <a:rPr lang="en-US" altLang="en-US" sz="2400" dirty="0"/>
              <a:t>H</a:t>
            </a:r>
            <a:r>
              <a:rPr lang="en-US" altLang="en-US" sz="2400" baseline="-25000" dirty="0"/>
              <a:t>0 </a:t>
            </a:r>
            <a:r>
              <a:rPr lang="en-US" altLang="en-US" sz="2400" dirty="0"/>
              <a:t>: </a:t>
            </a:r>
            <a:r>
              <a:rPr lang="en-US" altLang="en-US" sz="2400" dirty="0">
                <a:sym typeface="Symbol" panose="05050102010706020507" pitchFamily="18" charset="2"/>
              </a:rPr>
              <a:t></a:t>
            </a:r>
            <a:r>
              <a:rPr lang="en-US" altLang="en-US" sz="2400" baseline="-25000" dirty="0">
                <a:sym typeface="Symbol" panose="05050102010706020507" pitchFamily="18" charset="2"/>
              </a:rPr>
              <a:t>1 </a:t>
            </a:r>
            <a:r>
              <a:rPr lang="en-US" altLang="en-US" sz="2400" dirty="0">
                <a:sym typeface="Symbol" panose="05050102010706020507" pitchFamily="18" charset="2"/>
              </a:rPr>
              <a:t> 0</a:t>
            </a:r>
          </a:p>
        </p:txBody>
      </p:sp>
      <p:sp>
        <p:nvSpPr>
          <p:cNvPr id="9221" name="Text Box 5">
            <a:extLst>
              <a:ext uri="{FF2B5EF4-FFF2-40B4-BE49-F238E27FC236}">
                <a16:creationId xmlns:a16="http://schemas.microsoft.com/office/drawing/2014/main" id="{D12AEE79-6EA0-4DFC-B1B6-146EC3713149}"/>
              </a:ext>
            </a:extLst>
          </p:cNvPr>
          <p:cNvSpPr txBox="1">
            <a:spLocks noChangeArrowheads="1"/>
          </p:cNvSpPr>
          <p:nvPr/>
        </p:nvSpPr>
        <p:spPr bwMode="auto">
          <a:xfrm>
            <a:off x="762000" y="4876800"/>
            <a:ext cx="7315200" cy="457200"/>
          </a:xfrm>
          <a:prstGeom prst="rect">
            <a:avLst/>
          </a:prstGeom>
          <a:noFill/>
          <a:ln w="9525">
            <a:noFill/>
            <a:miter lim="800000"/>
            <a:headEnd/>
            <a:tailEnd/>
          </a:ln>
          <a:effectLst/>
        </p:spPr>
        <p:txBody>
          <a:bodyPr>
            <a:spAutoFit/>
          </a:bodyPr>
          <a:lstStyle/>
          <a:p>
            <a:pPr fontAlgn="auto">
              <a:spcBef>
                <a:spcPct val="50000"/>
              </a:spcBef>
              <a:spcAft>
                <a:spcPts val="0"/>
              </a:spcAft>
              <a:defRPr/>
            </a:pPr>
            <a:r>
              <a:rPr lang="en-US" sz="2400" dirty="0">
                <a:latin typeface="Arial" charset="0"/>
                <a:sym typeface="Symbol" pitchFamily="18" charset="2"/>
              </a:rPr>
              <a:t></a:t>
            </a:r>
            <a:r>
              <a:rPr lang="en-US" sz="2400" baseline="-25000" dirty="0">
                <a:effectLst>
                  <a:outerShdw blurRad="38100" dist="38100" dir="2700000" algn="tl">
                    <a:srgbClr val="000000"/>
                  </a:outerShdw>
                </a:effectLst>
                <a:latin typeface="+mn-lt"/>
                <a:sym typeface="Symbol" pitchFamily="18" charset="2"/>
              </a:rPr>
              <a:t>1 </a:t>
            </a:r>
            <a:r>
              <a:rPr lang="en-US" sz="2400" dirty="0">
                <a:latin typeface="Arial" charset="0"/>
                <a:sym typeface="Symbol" pitchFamily="18" charset="2"/>
              </a:rPr>
              <a:t>is the correlation between error terms of lag 1</a:t>
            </a:r>
            <a:r>
              <a:rPr lang="en-US" sz="2400" baseline="-25000" dirty="0">
                <a:effectLst>
                  <a:outerShdw blurRad="38100" dist="38100" dir="2700000" algn="tl">
                    <a:srgbClr val="000000"/>
                  </a:outerShdw>
                </a:effectLst>
                <a:latin typeface="+mn-lt"/>
                <a:sym typeface="Symbol" pitchFamily="18" charset="2"/>
              </a:rPr>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a:extLst>
              <a:ext uri="{FF2B5EF4-FFF2-40B4-BE49-F238E27FC236}">
                <a16:creationId xmlns:a16="http://schemas.microsoft.com/office/drawing/2014/main" id="{B9EDAC6A-B788-4FDD-9C3D-9A6A4657C06A}"/>
              </a:ext>
            </a:extLst>
          </p:cNvPr>
          <p:cNvSpPr>
            <a:spLocks noGrp="1" noRot="1" noChangeArrowheads="1"/>
          </p:cNvSpPr>
          <p:nvPr>
            <p:ph type="title"/>
          </p:nvPr>
        </p:nvSpPr>
        <p:spPr/>
        <p:txBody>
          <a:bodyPr/>
          <a:lstStyle/>
          <a:p>
            <a:r>
              <a:rPr lang="en-US" altLang="en-US"/>
              <a:t>Durbin Watson Statistic</a:t>
            </a:r>
          </a:p>
        </p:txBody>
      </p:sp>
      <p:graphicFrame>
        <p:nvGraphicFramePr>
          <p:cNvPr id="13314" name="Object 2">
            <a:extLst>
              <a:ext uri="{FF2B5EF4-FFF2-40B4-BE49-F238E27FC236}">
                <a16:creationId xmlns:a16="http://schemas.microsoft.com/office/drawing/2014/main" id="{22E960A3-F55F-4F52-84A5-4954E421A3D4}"/>
              </a:ext>
            </a:extLst>
          </p:cNvPr>
          <p:cNvGraphicFramePr>
            <a:graphicFrameLocks noGrp="1" noChangeAspect="1"/>
          </p:cNvGraphicFramePr>
          <p:nvPr>
            <p:ph idx="1"/>
          </p:nvPr>
        </p:nvGraphicFramePr>
        <p:xfrm>
          <a:off x="1852613" y="1830388"/>
          <a:ext cx="2889250" cy="2159000"/>
        </p:xfrm>
        <a:graphic>
          <a:graphicData uri="http://schemas.openxmlformats.org/presentationml/2006/ole">
            <mc:AlternateContent xmlns:mc="http://schemas.openxmlformats.org/markup-compatibility/2006">
              <mc:Choice xmlns:v="urn:schemas-microsoft-com:vml" Requires="v">
                <p:oleObj name="Equation" r:id="rId3" imgW="1155600" imgH="863280" progId="Equation.3">
                  <p:embed/>
                </p:oleObj>
              </mc:Choice>
              <mc:Fallback>
                <p:oleObj name="Equation" r:id="rId3" imgW="1155600" imgH="86328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2613" y="1830388"/>
                        <a:ext cx="2889250" cy="21590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6" name="Text Box 6">
            <a:extLst>
              <a:ext uri="{FF2B5EF4-FFF2-40B4-BE49-F238E27FC236}">
                <a16:creationId xmlns:a16="http://schemas.microsoft.com/office/drawing/2014/main" id="{0B76205B-4429-4D24-A759-4B1F95C0A285}"/>
              </a:ext>
            </a:extLst>
          </p:cNvPr>
          <p:cNvSpPr txBox="1">
            <a:spLocks noChangeArrowheads="1"/>
          </p:cNvSpPr>
          <p:nvPr/>
        </p:nvSpPr>
        <p:spPr bwMode="auto">
          <a:xfrm>
            <a:off x="838200" y="4648200"/>
            <a:ext cx="7010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en-US" sz="2400" dirty="0"/>
              <a:t>There is no unique critical value of d that will lead to the rejection or acceptance of the null hypothesis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a:extLst>
              <a:ext uri="{FF2B5EF4-FFF2-40B4-BE49-F238E27FC236}">
                <a16:creationId xmlns:a16="http://schemas.microsoft.com/office/drawing/2014/main" id="{33E29C16-DFF2-4A28-9F54-38A14CCCD6CF}"/>
              </a:ext>
            </a:extLst>
          </p:cNvPr>
          <p:cNvSpPr>
            <a:spLocks noGrp="1" noRot="1" noChangeArrowheads="1"/>
          </p:cNvSpPr>
          <p:nvPr>
            <p:ph type="title"/>
          </p:nvPr>
        </p:nvSpPr>
        <p:spPr/>
        <p:txBody>
          <a:bodyPr/>
          <a:lstStyle/>
          <a:p>
            <a:r>
              <a:rPr lang="en-US" altLang="en-US"/>
              <a:t>Durbin Watson Statistic</a:t>
            </a:r>
          </a:p>
        </p:txBody>
      </p:sp>
      <p:sp>
        <p:nvSpPr>
          <p:cNvPr id="14340" name="Text Box 4">
            <a:extLst>
              <a:ext uri="{FF2B5EF4-FFF2-40B4-BE49-F238E27FC236}">
                <a16:creationId xmlns:a16="http://schemas.microsoft.com/office/drawing/2014/main" id="{FDD474A3-D969-4BFD-BB7F-3FE274DEEA62}"/>
              </a:ext>
            </a:extLst>
          </p:cNvPr>
          <p:cNvSpPr txBox="1">
            <a:spLocks noChangeArrowheads="1"/>
          </p:cNvSpPr>
          <p:nvPr/>
        </p:nvSpPr>
        <p:spPr bwMode="auto">
          <a:xfrm>
            <a:off x="914400" y="5257800"/>
            <a:ext cx="701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en-US" sz="2400"/>
              <a:t>It can be shown that d value lies between 0 and 4</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F947E74-7936-4BA5-98D3-9D3295491775}"/>
                  </a:ext>
                </a:extLst>
              </p:cNvPr>
              <p:cNvSpPr txBox="1"/>
              <p:nvPr/>
            </p:nvSpPr>
            <p:spPr>
              <a:xfrm>
                <a:off x="1447800" y="3587770"/>
                <a:ext cx="3214791" cy="8318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𝑑</m:t>
                      </m:r>
                      <m:r>
                        <a:rPr lang="en-US" sz="2400" b="0" i="1" smtClean="0">
                          <a:latin typeface="Cambria Math" panose="02040503050406030204" pitchFamily="18" charset="0"/>
                          <a:ea typeface="Cambria Math" panose="02040503050406030204" pitchFamily="18" charset="0"/>
                        </a:rPr>
                        <m:t>≈2</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1−</m:t>
                          </m:r>
                          <m:f>
                            <m:fPr>
                              <m:ctrlPr>
                                <a:rPr lang="en-US" sz="2400" b="0" i="1" smtClean="0">
                                  <a:latin typeface="Cambria Math" panose="02040503050406030204" pitchFamily="18" charset="0"/>
                                  <a:ea typeface="Cambria Math" panose="02040503050406030204" pitchFamily="18" charset="0"/>
                                </a:rPr>
                              </m:ctrlPr>
                            </m:fPr>
                            <m:num>
                              <m:nary>
                                <m:naryPr>
                                  <m:chr m:val="∑"/>
                                  <m:ctrlPr>
                                    <a:rPr lang="en-US" sz="2400" b="0" i="1" smtClean="0">
                                      <a:latin typeface="Cambria Math" panose="02040503050406030204" pitchFamily="18" charset="0"/>
                                      <a:ea typeface="Cambria Math" panose="02040503050406030204" pitchFamily="18" charset="0"/>
                                    </a:rPr>
                                  </m:ctrlPr>
                                </m:naryPr>
                                <m:sub>
                                  <m:r>
                                    <m:rPr>
                                      <m:brk m:alnAt="23"/>
                                    </m:rPr>
                                    <a:rPr lang="en-US" sz="2400" b="0" i="1" smtClean="0">
                                      <a:latin typeface="Cambria Math" panose="02040503050406030204" pitchFamily="18" charset="0"/>
                                      <a:ea typeface="Cambria Math" panose="02040503050406030204" pitchFamily="18" charset="0"/>
                                    </a:rPr>
                                    <m:t>𝑖</m:t>
                                  </m:r>
                                  <m:r>
                                    <a:rPr lang="en-US" sz="2400" b="0" i="1" smtClean="0">
                                      <a:latin typeface="Cambria Math" panose="02040503050406030204" pitchFamily="18" charset="0"/>
                                      <a:ea typeface="Cambria Math" panose="02040503050406030204" pitchFamily="18" charset="0"/>
                                    </a:rPr>
                                    <m:t>=2</m:t>
                                  </m:r>
                                </m:sub>
                                <m:sup>
                                  <m:r>
                                    <a:rPr lang="en-US" sz="2400" b="0" i="1" smtClean="0">
                                      <a:latin typeface="Cambria Math" panose="02040503050406030204" pitchFamily="18" charset="0"/>
                                      <a:ea typeface="Cambria Math" panose="02040503050406030204" pitchFamily="18" charset="0"/>
                                    </a:rPr>
                                    <m:t>𝑛</m:t>
                                  </m:r>
                                </m:sup>
                                <m:e>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𝑒</m:t>
                                      </m:r>
                                    </m:e>
                                    <m:sub>
                                      <m:r>
                                        <a:rPr lang="en-US" sz="2400" b="0" i="1" smtClean="0">
                                          <a:latin typeface="Cambria Math" panose="02040503050406030204" pitchFamily="18" charset="0"/>
                                          <a:ea typeface="Cambria Math" panose="02040503050406030204" pitchFamily="18" charset="0"/>
                                        </a:rPr>
                                        <m:t>𝑖</m:t>
                                      </m:r>
                                    </m:sub>
                                  </m:sSub>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𝑒</m:t>
                                      </m:r>
                                    </m:e>
                                    <m:sub>
                                      <m:r>
                                        <a:rPr lang="en-US" sz="2400" b="0" i="1" smtClean="0">
                                          <a:latin typeface="Cambria Math" panose="02040503050406030204" pitchFamily="18" charset="0"/>
                                          <a:ea typeface="Cambria Math" panose="02040503050406030204" pitchFamily="18" charset="0"/>
                                        </a:rPr>
                                        <m:t>𝑖</m:t>
                                      </m:r>
                                      <m:r>
                                        <a:rPr lang="en-US" sz="2400" b="0" i="1" smtClean="0">
                                          <a:latin typeface="Cambria Math" panose="02040503050406030204" pitchFamily="18" charset="0"/>
                                          <a:ea typeface="Cambria Math" panose="02040503050406030204" pitchFamily="18" charset="0"/>
                                        </a:rPr>
                                        <m:t>−1</m:t>
                                      </m:r>
                                    </m:sub>
                                  </m:sSub>
                                </m:e>
                              </m:nary>
                            </m:num>
                            <m:den>
                              <m:nary>
                                <m:naryPr>
                                  <m:chr m:val="∑"/>
                                  <m:ctrlPr>
                                    <a:rPr lang="en-US" sz="2400" b="0" i="1" smtClean="0">
                                      <a:latin typeface="Cambria Math" panose="02040503050406030204" pitchFamily="18" charset="0"/>
                                      <a:ea typeface="Cambria Math" panose="02040503050406030204" pitchFamily="18" charset="0"/>
                                    </a:rPr>
                                  </m:ctrlPr>
                                </m:naryPr>
                                <m:sub>
                                  <m:r>
                                    <m:rPr>
                                      <m:brk m:alnAt="23"/>
                                    </m:rPr>
                                    <a:rPr lang="en-US" sz="2400" b="0" i="1" smtClean="0">
                                      <a:latin typeface="Cambria Math" panose="02040503050406030204" pitchFamily="18" charset="0"/>
                                      <a:ea typeface="Cambria Math" panose="02040503050406030204" pitchFamily="18" charset="0"/>
                                    </a:rPr>
                                    <m:t>𝑖</m:t>
                                  </m:r>
                                  <m:r>
                                    <a:rPr lang="en-US" sz="2400" b="0" i="1" smtClean="0">
                                      <a:latin typeface="Cambria Math" panose="02040503050406030204" pitchFamily="18" charset="0"/>
                                      <a:ea typeface="Cambria Math" panose="02040503050406030204" pitchFamily="18" charset="0"/>
                                    </a:rPr>
                                    <m:t>=1</m:t>
                                  </m:r>
                                </m:sub>
                                <m:sup>
                                  <m:r>
                                    <a:rPr lang="en-US" sz="2400" b="0" i="1" smtClean="0">
                                      <a:latin typeface="Cambria Math" panose="02040503050406030204" pitchFamily="18" charset="0"/>
                                      <a:ea typeface="Cambria Math" panose="02040503050406030204" pitchFamily="18" charset="0"/>
                                    </a:rPr>
                                    <m:t>𝑛</m:t>
                                  </m:r>
                                </m:sup>
                                <m:e>
                                  <m:sSubSup>
                                    <m:sSubSupPr>
                                      <m:ctrlPr>
                                        <a:rPr lang="en-US" sz="2400" b="0" i="1" smtClean="0">
                                          <a:latin typeface="Cambria Math" panose="02040503050406030204" pitchFamily="18" charset="0"/>
                                          <a:ea typeface="Cambria Math" panose="02040503050406030204" pitchFamily="18" charset="0"/>
                                        </a:rPr>
                                      </m:ctrlPr>
                                    </m:sSubSupPr>
                                    <m:e>
                                      <m:r>
                                        <a:rPr lang="en-US" sz="2400" b="0" i="1" smtClean="0">
                                          <a:latin typeface="Cambria Math" panose="02040503050406030204" pitchFamily="18" charset="0"/>
                                          <a:ea typeface="Cambria Math" panose="02040503050406030204" pitchFamily="18" charset="0"/>
                                        </a:rPr>
                                        <m:t>𝑒</m:t>
                                      </m:r>
                                    </m:e>
                                    <m:sub>
                                      <m:r>
                                        <a:rPr lang="en-US" sz="2400" b="0" i="1" smtClean="0">
                                          <a:latin typeface="Cambria Math" panose="02040503050406030204" pitchFamily="18" charset="0"/>
                                          <a:ea typeface="Cambria Math" panose="02040503050406030204" pitchFamily="18" charset="0"/>
                                        </a:rPr>
                                        <m:t>𝑖</m:t>
                                      </m:r>
                                    </m:sub>
                                    <m:sup>
                                      <m:r>
                                        <a:rPr lang="en-US" sz="2400" b="0" i="1" smtClean="0">
                                          <a:latin typeface="Cambria Math" panose="02040503050406030204" pitchFamily="18" charset="0"/>
                                          <a:ea typeface="Cambria Math" panose="02040503050406030204" pitchFamily="18" charset="0"/>
                                        </a:rPr>
                                        <m:t>2</m:t>
                                      </m:r>
                                    </m:sup>
                                  </m:sSubSup>
                                </m:e>
                              </m:nary>
                            </m:den>
                          </m:f>
                        </m:e>
                      </m:d>
                    </m:oMath>
                  </m:oMathPara>
                </a14:m>
                <a:endParaRPr lang="en-US" sz="2400" dirty="0"/>
              </a:p>
            </p:txBody>
          </p:sp>
        </mc:Choice>
        <mc:Fallback xmlns="">
          <p:sp>
            <p:nvSpPr>
              <p:cNvPr id="2" name="TextBox 1">
                <a:extLst>
                  <a:ext uri="{FF2B5EF4-FFF2-40B4-BE49-F238E27FC236}">
                    <a16:creationId xmlns:a16="http://schemas.microsoft.com/office/drawing/2014/main" id="{0F947E74-7936-4BA5-98D3-9D3295491775}"/>
                  </a:ext>
                </a:extLst>
              </p:cNvPr>
              <p:cNvSpPr txBox="1">
                <a:spLocks noRot="1" noChangeAspect="1" noMove="1" noResize="1" noEditPoints="1" noAdjustHandles="1" noChangeArrowheads="1" noChangeShapeType="1" noTextEdit="1"/>
              </p:cNvSpPr>
              <p:nvPr/>
            </p:nvSpPr>
            <p:spPr>
              <a:xfrm>
                <a:off x="1447800" y="3587770"/>
                <a:ext cx="3214791" cy="831831"/>
              </a:xfrm>
              <a:prstGeom prst="rect">
                <a:avLst/>
              </a:prstGeom>
              <a:blipFill>
                <a:blip r:embed="rId3"/>
                <a:stretch>
                  <a:fillRect/>
                </a:stretch>
              </a:blipFill>
            </p:spPr>
            <p:txBody>
              <a:bodyPr/>
              <a:lstStyle/>
              <a:p>
                <a:r>
                  <a:rPr lang="en-US">
                    <a:noFill/>
                  </a:rPr>
                  <a:t> </a:t>
                </a:r>
              </a:p>
            </p:txBody>
          </p:sp>
        </mc:Fallback>
      </mc:AlternateContent>
      <p:sp>
        <p:nvSpPr>
          <p:cNvPr id="4" name="Content Placeholder 3">
            <a:extLst>
              <a:ext uri="{FF2B5EF4-FFF2-40B4-BE49-F238E27FC236}">
                <a16:creationId xmlns:a16="http://schemas.microsoft.com/office/drawing/2014/main" id="{1D2B8303-77E2-47E8-B562-6C3517FD7F4D}"/>
              </a:ext>
            </a:extLst>
          </p:cNvPr>
          <p:cNvSpPr>
            <a:spLocks noGrp="1"/>
          </p:cNvSpPr>
          <p:nvPr>
            <p:ph idx="1"/>
          </p:nvPr>
        </p:nvSpPr>
        <p:spPr>
          <a:xfrm>
            <a:off x="609599" y="2160591"/>
            <a:ext cx="6347714" cy="2259010"/>
          </a:xfrm>
        </p:spPr>
        <p:txBody>
          <a:bodyPr>
            <a:normAutofit/>
          </a:bodyPr>
          <a:lstStyle/>
          <a:p>
            <a:r>
              <a:rPr lang="en-US" sz="2400" dirty="0"/>
              <a:t>Alternatively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822F51E-AF08-482B-BDFE-92C00C5AD170}"/>
              </a:ext>
            </a:extLst>
          </p:cNvPr>
          <p:cNvSpPr>
            <a:spLocks noGrp="1"/>
          </p:cNvSpPr>
          <p:nvPr>
            <p:ph type="title"/>
          </p:nvPr>
        </p:nvSpPr>
        <p:spPr>
          <a:xfrm>
            <a:off x="76200" y="228600"/>
            <a:ext cx="7239000" cy="914400"/>
          </a:xfrm>
        </p:spPr>
        <p:txBody>
          <a:bodyPr>
            <a:normAutofit fontScale="90000"/>
          </a:bodyPr>
          <a:lstStyle/>
          <a:p>
            <a:r>
              <a:rPr lang="en-US" dirty="0"/>
              <a:t>Durbin Watson Critical Values (</a:t>
            </a:r>
            <a:r>
              <a:rPr lang="el-GR" dirty="0"/>
              <a:t>α</a:t>
            </a:r>
            <a:r>
              <a:rPr lang="en-US" dirty="0"/>
              <a:t>=0.01)</a:t>
            </a:r>
          </a:p>
        </p:txBody>
      </p:sp>
      <p:pic>
        <p:nvPicPr>
          <p:cNvPr id="3" name="Picture 2">
            <a:extLst>
              <a:ext uri="{FF2B5EF4-FFF2-40B4-BE49-F238E27FC236}">
                <a16:creationId xmlns:a16="http://schemas.microsoft.com/office/drawing/2014/main" id="{A4DC630E-FF65-4330-8733-28125388CD2D}"/>
              </a:ext>
            </a:extLst>
          </p:cNvPr>
          <p:cNvPicPr>
            <a:picLocks noChangeAspect="1"/>
          </p:cNvPicPr>
          <p:nvPr/>
        </p:nvPicPr>
        <p:blipFill>
          <a:blip r:embed="rId2"/>
          <a:stretch>
            <a:fillRect/>
          </a:stretch>
        </p:blipFill>
        <p:spPr>
          <a:xfrm>
            <a:off x="209144" y="933169"/>
            <a:ext cx="8249056" cy="5696232"/>
          </a:xfrm>
          <a:prstGeom prst="rect">
            <a:avLst/>
          </a:prstGeom>
        </p:spPr>
      </p:pic>
    </p:spTree>
    <p:extLst>
      <p:ext uri="{BB962C8B-B14F-4D97-AF65-F5344CB8AC3E}">
        <p14:creationId xmlns:p14="http://schemas.microsoft.com/office/powerpoint/2010/main" val="2023322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537495DC-0ADB-4FC2-B2AD-6AF3F9ECF5A4}"/>
              </a:ext>
            </a:extLst>
          </p:cNvPr>
          <p:cNvSpPr>
            <a:spLocks noGrp="1" noRot="1" noChangeArrowheads="1"/>
          </p:cNvSpPr>
          <p:nvPr>
            <p:ph type="title"/>
          </p:nvPr>
        </p:nvSpPr>
        <p:spPr/>
        <p:txBody>
          <a:bodyPr/>
          <a:lstStyle/>
          <a:p>
            <a:r>
              <a:rPr lang="en-US" altLang="en-US" sz="4000" dirty="0"/>
              <a:t>Critical Regions of Durbin Watson test</a:t>
            </a:r>
          </a:p>
        </p:txBody>
      </p:sp>
      <p:sp>
        <p:nvSpPr>
          <p:cNvPr id="32771" name="Rectangle 4">
            <a:extLst>
              <a:ext uri="{FF2B5EF4-FFF2-40B4-BE49-F238E27FC236}">
                <a16:creationId xmlns:a16="http://schemas.microsoft.com/office/drawing/2014/main" id="{F8902C78-E2F4-4F36-BBC2-63A82396B13B}"/>
              </a:ext>
            </a:extLst>
          </p:cNvPr>
          <p:cNvSpPr>
            <a:spLocks noChangeArrowheads="1"/>
          </p:cNvSpPr>
          <p:nvPr/>
        </p:nvSpPr>
        <p:spPr bwMode="auto">
          <a:xfrm>
            <a:off x="685800" y="3276600"/>
            <a:ext cx="1752600" cy="5334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2772" name="Rectangle 5">
            <a:extLst>
              <a:ext uri="{FF2B5EF4-FFF2-40B4-BE49-F238E27FC236}">
                <a16:creationId xmlns:a16="http://schemas.microsoft.com/office/drawing/2014/main" id="{A6DF9A88-9A3C-4903-8AEF-B734060E1030}"/>
              </a:ext>
            </a:extLst>
          </p:cNvPr>
          <p:cNvSpPr>
            <a:spLocks noChangeArrowheads="1"/>
          </p:cNvSpPr>
          <p:nvPr/>
        </p:nvSpPr>
        <p:spPr bwMode="auto">
          <a:xfrm>
            <a:off x="2438400" y="3276600"/>
            <a:ext cx="914400" cy="533400"/>
          </a:xfrm>
          <a:prstGeom prst="rect">
            <a:avLst/>
          </a:prstGeom>
          <a:solidFill>
            <a:schemeClr val="hlink"/>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2773" name="Rectangle 6">
            <a:extLst>
              <a:ext uri="{FF2B5EF4-FFF2-40B4-BE49-F238E27FC236}">
                <a16:creationId xmlns:a16="http://schemas.microsoft.com/office/drawing/2014/main" id="{A4B25C1A-0CE5-4257-93F4-436D968372F5}"/>
              </a:ext>
            </a:extLst>
          </p:cNvPr>
          <p:cNvSpPr>
            <a:spLocks noChangeArrowheads="1"/>
          </p:cNvSpPr>
          <p:nvPr/>
        </p:nvSpPr>
        <p:spPr bwMode="auto">
          <a:xfrm>
            <a:off x="3352800" y="3276600"/>
            <a:ext cx="1752600" cy="533400"/>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2774" name="Rectangle 7">
            <a:extLst>
              <a:ext uri="{FF2B5EF4-FFF2-40B4-BE49-F238E27FC236}">
                <a16:creationId xmlns:a16="http://schemas.microsoft.com/office/drawing/2014/main" id="{FB9F70A3-ACC0-431A-BD78-0ACC632BBCC5}"/>
              </a:ext>
            </a:extLst>
          </p:cNvPr>
          <p:cNvSpPr>
            <a:spLocks noChangeArrowheads="1"/>
          </p:cNvSpPr>
          <p:nvPr/>
        </p:nvSpPr>
        <p:spPr bwMode="auto">
          <a:xfrm>
            <a:off x="5105400" y="3276600"/>
            <a:ext cx="914400" cy="533400"/>
          </a:xfrm>
          <a:prstGeom prst="rect">
            <a:avLst/>
          </a:prstGeom>
          <a:solidFill>
            <a:schemeClr val="hlink"/>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2775" name="Rectangle 8">
            <a:extLst>
              <a:ext uri="{FF2B5EF4-FFF2-40B4-BE49-F238E27FC236}">
                <a16:creationId xmlns:a16="http://schemas.microsoft.com/office/drawing/2014/main" id="{59D1CDB1-9731-4C94-A442-3D5EEFA2C6AF}"/>
              </a:ext>
            </a:extLst>
          </p:cNvPr>
          <p:cNvSpPr>
            <a:spLocks noChangeArrowheads="1"/>
          </p:cNvSpPr>
          <p:nvPr/>
        </p:nvSpPr>
        <p:spPr bwMode="auto">
          <a:xfrm>
            <a:off x="6019800" y="3276600"/>
            <a:ext cx="2133600" cy="5334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2776" name="Text Box 9">
            <a:extLst>
              <a:ext uri="{FF2B5EF4-FFF2-40B4-BE49-F238E27FC236}">
                <a16:creationId xmlns:a16="http://schemas.microsoft.com/office/drawing/2014/main" id="{95EB1BDB-3D35-4439-81D2-624FC59B8368}"/>
              </a:ext>
            </a:extLst>
          </p:cNvPr>
          <p:cNvSpPr txBox="1">
            <a:spLocks noChangeArrowheads="1"/>
          </p:cNvSpPr>
          <p:nvPr/>
        </p:nvSpPr>
        <p:spPr bwMode="auto">
          <a:xfrm>
            <a:off x="609600" y="4114800"/>
            <a:ext cx="381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en-US"/>
              <a:t>0</a:t>
            </a:r>
          </a:p>
        </p:txBody>
      </p:sp>
      <p:sp>
        <p:nvSpPr>
          <p:cNvPr id="32777" name="Text Box 10">
            <a:extLst>
              <a:ext uri="{FF2B5EF4-FFF2-40B4-BE49-F238E27FC236}">
                <a16:creationId xmlns:a16="http://schemas.microsoft.com/office/drawing/2014/main" id="{68EDCA9D-EF40-4182-8F6F-13F291C1B41A}"/>
              </a:ext>
            </a:extLst>
          </p:cNvPr>
          <p:cNvSpPr txBox="1">
            <a:spLocks noChangeArrowheads="1"/>
          </p:cNvSpPr>
          <p:nvPr/>
        </p:nvSpPr>
        <p:spPr bwMode="auto">
          <a:xfrm>
            <a:off x="2209800" y="41148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en-US"/>
              <a:t>d</a:t>
            </a:r>
            <a:r>
              <a:rPr lang="en-US" altLang="en-US" baseline="-25000"/>
              <a:t>L</a:t>
            </a:r>
            <a:endParaRPr lang="en-US" altLang="en-US"/>
          </a:p>
        </p:txBody>
      </p:sp>
      <p:sp>
        <p:nvSpPr>
          <p:cNvPr id="32778" name="Text Box 11">
            <a:extLst>
              <a:ext uri="{FF2B5EF4-FFF2-40B4-BE49-F238E27FC236}">
                <a16:creationId xmlns:a16="http://schemas.microsoft.com/office/drawing/2014/main" id="{636D0406-B93C-4D9C-BDA1-771CC9FA924D}"/>
              </a:ext>
            </a:extLst>
          </p:cNvPr>
          <p:cNvSpPr txBox="1">
            <a:spLocks noChangeArrowheads="1"/>
          </p:cNvSpPr>
          <p:nvPr/>
        </p:nvSpPr>
        <p:spPr bwMode="auto">
          <a:xfrm>
            <a:off x="3124200" y="41148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en-US"/>
              <a:t>d</a:t>
            </a:r>
            <a:r>
              <a:rPr lang="en-US" altLang="en-US" baseline="-25000"/>
              <a:t>U</a:t>
            </a:r>
            <a:endParaRPr lang="en-US" altLang="en-US"/>
          </a:p>
        </p:txBody>
      </p:sp>
      <p:sp>
        <p:nvSpPr>
          <p:cNvPr id="32779" name="Text Box 12">
            <a:extLst>
              <a:ext uri="{FF2B5EF4-FFF2-40B4-BE49-F238E27FC236}">
                <a16:creationId xmlns:a16="http://schemas.microsoft.com/office/drawing/2014/main" id="{375F08C8-9683-40DA-B101-36F7F869EAE0}"/>
              </a:ext>
            </a:extLst>
          </p:cNvPr>
          <p:cNvSpPr txBox="1">
            <a:spLocks noChangeArrowheads="1"/>
          </p:cNvSpPr>
          <p:nvPr/>
        </p:nvSpPr>
        <p:spPr bwMode="auto">
          <a:xfrm>
            <a:off x="4800600" y="4114800"/>
            <a:ext cx="76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en-US"/>
              <a:t>4 -d</a:t>
            </a:r>
            <a:r>
              <a:rPr lang="en-US" altLang="en-US" baseline="-25000"/>
              <a:t>U</a:t>
            </a:r>
            <a:endParaRPr lang="en-US" altLang="en-US"/>
          </a:p>
        </p:txBody>
      </p:sp>
      <p:sp>
        <p:nvSpPr>
          <p:cNvPr id="32780" name="Text Box 13">
            <a:extLst>
              <a:ext uri="{FF2B5EF4-FFF2-40B4-BE49-F238E27FC236}">
                <a16:creationId xmlns:a16="http://schemas.microsoft.com/office/drawing/2014/main" id="{A7BBD246-284B-4B32-A932-64100AF0CA72}"/>
              </a:ext>
            </a:extLst>
          </p:cNvPr>
          <p:cNvSpPr txBox="1">
            <a:spLocks noChangeArrowheads="1"/>
          </p:cNvSpPr>
          <p:nvPr/>
        </p:nvSpPr>
        <p:spPr bwMode="auto">
          <a:xfrm>
            <a:off x="5638800" y="4114800"/>
            <a:ext cx="76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en-US"/>
              <a:t>4 -d</a:t>
            </a:r>
            <a:r>
              <a:rPr lang="en-US" altLang="en-US" baseline="-25000"/>
              <a:t>L</a:t>
            </a:r>
            <a:endParaRPr lang="en-US" altLang="en-US"/>
          </a:p>
        </p:txBody>
      </p:sp>
      <p:sp>
        <p:nvSpPr>
          <p:cNvPr id="32781" name="Text Box 14">
            <a:extLst>
              <a:ext uri="{FF2B5EF4-FFF2-40B4-BE49-F238E27FC236}">
                <a16:creationId xmlns:a16="http://schemas.microsoft.com/office/drawing/2014/main" id="{F1A75406-EC65-4194-939E-0F8C73BB2767}"/>
              </a:ext>
            </a:extLst>
          </p:cNvPr>
          <p:cNvSpPr txBox="1">
            <a:spLocks noChangeArrowheads="1"/>
          </p:cNvSpPr>
          <p:nvPr/>
        </p:nvSpPr>
        <p:spPr bwMode="auto">
          <a:xfrm>
            <a:off x="7772400" y="4114800"/>
            <a:ext cx="76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spcBef>
                <a:spcPct val="50000"/>
              </a:spcBef>
            </a:pPr>
            <a:r>
              <a:rPr lang="en-US" altLang="en-US"/>
              <a:t>4 </a:t>
            </a:r>
          </a:p>
        </p:txBody>
      </p:sp>
      <p:sp>
        <p:nvSpPr>
          <p:cNvPr id="32782" name="Text Box 15">
            <a:extLst>
              <a:ext uri="{FF2B5EF4-FFF2-40B4-BE49-F238E27FC236}">
                <a16:creationId xmlns:a16="http://schemas.microsoft.com/office/drawing/2014/main" id="{A9B9461F-D6C0-458E-BC20-705D08DB5FF4}"/>
              </a:ext>
            </a:extLst>
          </p:cNvPr>
          <p:cNvSpPr txBox="1">
            <a:spLocks noChangeArrowheads="1"/>
          </p:cNvSpPr>
          <p:nvPr/>
        </p:nvSpPr>
        <p:spPr bwMode="auto">
          <a:xfrm>
            <a:off x="685800" y="4724400"/>
            <a:ext cx="1752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en-US"/>
              <a:t>Positive autocorrelation</a:t>
            </a:r>
          </a:p>
        </p:txBody>
      </p:sp>
      <p:sp>
        <p:nvSpPr>
          <p:cNvPr id="32783" name="Line 16">
            <a:extLst>
              <a:ext uri="{FF2B5EF4-FFF2-40B4-BE49-F238E27FC236}">
                <a16:creationId xmlns:a16="http://schemas.microsoft.com/office/drawing/2014/main" id="{179E9197-E426-4069-91E7-FC028F765E92}"/>
              </a:ext>
            </a:extLst>
          </p:cNvPr>
          <p:cNvSpPr>
            <a:spLocks noChangeShapeType="1"/>
          </p:cNvSpPr>
          <p:nvPr/>
        </p:nvSpPr>
        <p:spPr bwMode="auto">
          <a:xfrm>
            <a:off x="1600200" y="3810000"/>
            <a:ext cx="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784" name="Text Box 17">
            <a:extLst>
              <a:ext uri="{FF2B5EF4-FFF2-40B4-BE49-F238E27FC236}">
                <a16:creationId xmlns:a16="http://schemas.microsoft.com/office/drawing/2014/main" id="{8C60CFDC-1433-4B13-851E-7CBB98FE84DF}"/>
              </a:ext>
            </a:extLst>
          </p:cNvPr>
          <p:cNvSpPr txBox="1">
            <a:spLocks noChangeArrowheads="1"/>
          </p:cNvSpPr>
          <p:nvPr/>
        </p:nvSpPr>
        <p:spPr bwMode="auto">
          <a:xfrm>
            <a:off x="1828800" y="5607050"/>
            <a:ext cx="1752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spcBef>
                <a:spcPct val="50000"/>
              </a:spcBef>
            </a:pPr>
            <a:r>
              <a:rPr lang="en-US" altLang="en-US"/>
              <a:t>Inconclusive</a:t>
            </a:r>
          </a:p>
        </p:txBody>
      </p:sp>
      <p:sp>
        <p:nvSpPr>
          <p:cNvPr id="32785" name="Line 18">
            <a:extLst>
              <a:ext uri="{FF2B5EF4-FFF2-40B4-BE49-F238E27FC236}">
                <a16:creationId xmlns:a16="http://schemas.microsoft.com/office/drawing/2014/main" id="{6AF097ED-7CBF-4FDA-B0B7-7CF7FC8A9BD9}"/>
              </a:ext>
            </a:extLst>
          </p:cNvPr>
          <p:cNvSpPr>
            <a:spLocks noChangeShapeType="1"/>
          </p:cNvSpPr>
          <p:nvPr/>
        </p:nvSpPr>
        <p:spPr bwMode="auto">
          <a:xfrm>
            <a:off x="2895600" y="3810000"/>
            <a:ext cx="0" cy="1828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786" name="Text Box 19">
            <a:extLst>
              <a:ext uri="{FF2B5EF4-FFF2-40B4-BE49-F238E27FC236}">
                <a16:creationId xmlns:a16="http://schemas.microsoft.com/office/drawing/2014/main" id="{21899277-77E6-45BC-9BB0-3CF950919C8F}"/>
              </a:ext>
            </a:extLst>
          </p:cNvPr>
          <p:cNvSpPr txBox="1">
            <a:spLocks noChangeArrowheads="1"/>
          </p:cNvSpPr>
          <p:nvPr/>
        </p:nvSpPr>
        <p:spPr bwMode="auto">
          <a:xfrm>
            <a:off x="3352800" y="4768850"/>
            <a:ext cx="1752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en-US"/>
              <a:t>No autocorrelation</a:t>
            </a:r>
          </a:p>
        </p:txBody>
      </p:sp>
      <p:sp>
        <p:nvSpPr>
          <p:cNvPr id="32787" name="Line 20">
            <a:extLst>
              <a:ext uri="{FF2B5EF4-FFF2-40B4-BE49-F238E27FC236}">
                <a16:creationId xmlns:a16="http://schemas.microsoft.com/office/drawing/2014/main" id="{487ACDD0-120B-450C-AEED-2434DA525628}"/>
              </a:ext>
            </a:extLst>
          </p:cNvPr>
          <p:cNvSpPr>
            <a:spLocks noChangeShapeType="1"/>
          </p:cNvSpPr>
          <p:nvPr/>
        </p:nvSpPr>
        <p:spPr bwMode="auto">
          <a:xfrm>
            <a:off x="4267200" y="3810000"/>
            <a:ext cx="0" cy="914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788" name="Text Box 21">
            <a:extLst>
              <a:ext uri="{FF2B5EF4-FFF2-40B4-BE49-F238E27FC236}">
                <a16:creationId xmlns:a16="http://schemas.microsoft.com/office/drawing/2014/main" id="{B6A7E61D-F239-46B8-960D-B914BF0F3674}"/>
              </a:ext>
            </a:extLst>
          </p:cNvPr>
          <p:cNvSpPr txBox="1">
            <a:spLocks noChangeArrowheads="1"/>
          </p:cNvSpPr>
          <p:nvPr/>
        </p:nvSpPr>
        <p:spPr bwMode="auto">
          <a:xfrm>
            <a:off x="4724400" y="5638800"/>
            <a:ext cx="1752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spcBef>
                <a:spcPct val="50000"/>
              </a:spcBef>
            </a:pPr>
            <a:r>
              <a:rPr lang="en-US" altLang="en-US"/>
              <a:t>Inconclusive</a:t>
            </a:r>
          </a:p>
        </p:txBody>
      </p:sp>
      <p:sp>
        <p:nvSpPr>
          <p:cNvPr id="32789" name="Line 22">
            <a:extLst>
              <a:ext uri="{FF2B5EF4-FFF2-40B4-BE49-F238E27FC236}">
                <a16:creationId xmlns:a16="http://schemas.microsoft.com/office/drawing/2014/main" id="{D5CB35B4-D601-45EA-8F7B-F07451D1B5DC}"/>
              </a:ext>
            </a:extLst>
          </p:cNvPr>
          <p:cNvSpPr>
            <a:spLocks noChangeShapeType="1"/>
          </p:cNvSpPr>
          <p:nvPr/>
        </p:nvSpPr>
        <p:spPr bwMode="auto">
          <a:xfrm>
            <a:off x="5562600" y="3810000"/>
            <a:ext cx="0" cy="1828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790" name="Text Box 23">
            <a:extLst>
              <a:ext uri="{FF2B5EF4-FFF2-40B4-BE49-F238E27FC236}">
                <a16:creationId xmlns:a16="http://schemas.microsoft.com/office/drawing/2014/main" id="{8B308F11-377C-4D37-8A9B-FC372AA8C401}"/>
              </a:ext>
            </a:extLst>
          </p:cNvPr>
          <p:cNvSpPr txBox="1">
            <a:spLocks noChangeArrowheads="1"/>
          </p:cNvSpPr>
          <p:nvPr/>
        </p:nvSpPr>
        <p:spPr bwMode="auto">
          <a:xfrm>
            <a:off x="6324600" y="4724400"/>
            <a:ext cx="1752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en-US"/>
              <a:t>Negative autocorrelation</a:t>
            </a:r>
          </a:p>
        </p:txBody>
      </p:sp>
      <p:sp>
        <p:nvSpPr>
          <p:cNvPr id="32791" name="Line 24">
            <a:extLst>
              <a:ext uri="{FF2B5EF4-FFF2-40B4-BE49-F238E27FC236}">
                <a16:creationId xmlns:a16="http://schemas.microsoft.com/office/drawing/2014/main" id="{AF8D5BC5-1370-4D84-B9C4-43AA3D4980E0}"/>
              </a:ext>
            </a:extLst>
          </p:cNvPr>
          <p:cNvSpPr>
            <a:spLocks noChangeShapeType="1"/>
          </p:cNvSpPr>
          <p:nvPr/>
        </p:nvSpPr>
        <p:spPr bwMode="auto">
          <a:xfrm>
            <a:off x="7010400" y="3810000"/>
            <a:ext cx="0" cy="838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FD557-536C-492B-AD9C-63EBE9BE468C}"/>
              </a:ext>
            </a:extLst>
          </p:cNvPr>
          <p:cNvSpPr>
            <a:spLocks noGrp="1"/>
          </p:cNvSpPr>
          <p:nvPr>
            <p:ph type="title"/>
          </p:nvPr>
        </p:nvSpPr>
        <p:spPr/>
        <p:txBody>
          <a:bodyPr/>
          <a:lstStyle/>
          <a:p>
            <a:r>
              <a:rPr lang="en-US" dirty="0"/>
              <a:t>United Technologies</a:t>
            </a:r>
          </a:p>
        </p:txBody>
      </p:sp>
      <p:graphicFrame>
        <p:nvGraphicFramePr>
          <p:cNvPr id="6" name="Table 5">
            <a:extLst>
              <a:ext uri="{FF2B5EF4-FFF2-40B4-BE49-F238E27FC236}">
                <a16:creationId xmlns:a16="http://schemas.microsoft.com/office/drawing/2014/main" id="{16417BCC-36C3-4F10-ADEB-B92A42F044C5}"/>
              </a:ext>
            </a:extLst>
          </p:cNvPr>
          <p:cNvGraphicFramePr>
            <a:graphicFrameLocks noGrp="1"/>
          </p:cNvGraphicFramePr>
          <p:nvPr>
            <p:extLst>
              <p:ext uri="{D42A27DB-BD31-4B8C-83A1-F6EECF244321}">
                <p14:modId xmlns:p14="http://schemas.microsoft.com/office/powerpoint/2010/main" val="83388819"/>
              </p:ext>
            </p:extLst>
          </p:nvPr>
        </p:nvGraphicFramePr>
        <p:xfrm>
          <a:off x="1295400" y="1600200"/>
          <a:ext cx="6477000" cy="1877758"/>
        </p:xfrm>
        <a:graphic>
          <a:graphicData uri="http://schemas.openxmlformats.org/drawingml/2006/table">
            <a:tbl>
              <a:tblPr>
                <a:tableStyleId>{5C22544A-7EE6-4342-B048-85BDC9FD1C3A}</a:tableStyleId>
              </a:tblPr>
              <a:tblGrid>
                <a:gridCol w="1295400">
                  <a:extLst>
                    <a:ext uri="{9D8B030D-6E8A-4147-A177-3AD203B41FA5}">
                      <a16:colId xmlns:a16="http://schemas.microsoft.com/office/drawing/2014/main" val="2580753257"/>
                    </a:ext>
                  </a:extLst>
                </a:gridCol>
                <a:gridCol w="1143000">
                  <a:extLst>
                    <a:ext uri="{9D8B030D-6E8A-4147-A177-3AD203B41FA5}">
                      <a16:colId xmlns:a16="http://schemas.microsoft.com/office/drawing/2014/main" val="2009785619"/>
                    </a:ext>
                  </a:extLst>
                </a:gridCol>
                <a:gridCol w="1447800">
                  <a:extLst>
                    <a:ext uri="{9D8B030D-6E8A-4147-A177-3AD203B41FA5}">
                      <a16:colId xmlns:a16="http://schemas.microsoft.com/office/drawing/2014/main" val="1853522673"/>
                    </a:ext>
                  </a:extLst>
                </a:gridCol>
                <a:gridCol w="1295400">
                  <a:extLst>
                    <a:ext uri="{9D8B030D-6E8A-4147-A177-3AD203B41FA5}">
                      <a16:colId xmlns:a16="http://schemas.microsoft.com/office/drawing/2014/main" val="3983238645"/>
                    </a:ext>
                  </a:extLst>
                </a:gridCol>
                <a:gridCol w="1295400">
                  <a:extLst>
                    <a:ext uri="{9D8B030D-6E8A-4147-A177-3AD203B41FA5}">
                      <a16:colId xmlns:a16="http://schemas.microsoft.com/office/drawing/2014/main" val="1899413691"/>
                    </a:ext>
                  </a:extLst>
                </a:gridCol>
              </a:tblGrid>
              <a:tr h="296114">
                <a:tc gridSpan="5">
                  <a:txBody>
                    <a:bodyPr/>
                    <a:lstStyle/>
                    <a:p>
                      <a:pPr algn="ctr" fontAlgn="ctr"/>
                      <a:r>
                        <a:rPr lang="en-US" sz="1600" u="none" strike="noStrike" dirty="0">
                          <a:effectLst/>
                        </a:rPr>
                        <a:t>Model </a:t>
                      </a:r>
                      <a:r>
                        <a:rPr lang="en-US" sz="1600" u="none" strike="noStrike" dirty="0" err="1">
                          <a:effectLst/>
                        </a:rPr>
                        <a:t>Summary</a:t>
                      </a:r>
                      <a:r>
                        <a:rPr lang="en-US" sz="1600" u="none" strike="noStrike" baseline="30000" dirty="0" err="1">
                          <a:effectLst/>
                        </a:rPr>
                        <a:t>b</a:t>
                      </a:r>
                      <a:endParaRPr lang="en-US" sz="1600" b="1" i="0" u="none" strike="noStrike" dirty="0">
                        <a:solidFill>
                          <a:srgbClr val="000000"/>
                        </a:solidFill>
                        <a:effectLst/>
                        <a:latin typeface="Arial Bold" panose="020B07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41332630"/>
                  </a:ext>
                </a:extLst>
              </a:tr>
              <a:tr h="618286">
                <a:tc>
                  <a:txBody>
                    <a:bodyPr/>
                    <a:lstStyle/>
                    <a:p>
                      <a:pPr algn="ctr" fontAlgn="b"/>
                      <a:r>
                        <a:rPr lang="en-US" sz="1600" u="none" strike="noStrike" dirty="0">
                          <a:effectLst/>
                        </a:rPr>
                        <a:t>R</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600" u="none" strike="noStrike" dirty="0">
                          <a:effectLst/>
                        </a:rPr>
                        <a:t>R Square</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600" u="none" strike="noStrike" dirty="0">
                          <a:effectLst/>
                        </a:rPr>
                        <a:t>Adjusted R Square</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600" u="none" strike="noStrike">
                          <a:effectLst/>
                        </a:rPr>
                        <a:t>Std. Error of the Estimate</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600" u="none" strike="noStrike" dirty="0">
                          <a:effectLst/>
                        </a:rPr>
                        <a:t>Durbin-Watson</a:t>
                      </a:r>
                      <a:endParaRPr lang="en-US" sz="16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4074135071"/>
                  </a:ext>
                </a:extLst>
              </a:tr>
              <a:tr h="381000">
                <a:tc>
                  <a:txBody>
                    <a:bodyPr/>
                    <a:lstStyle/>
                    <a:p>
                      <a:pPr algn="ctr" fontAlgn="t"/>
                      <a:r>
                        <a:rPr lang="en-US" sz="1600" u="none" strike="noStrike" dirty="0">
                          <a:effectLst/>
                        </a:rPr>
                        <a:t>.998</a:t>
                      </a:r>
                      <a:r>
                        <a:rPr lang="en-US" sz="1600" u="none" strike="noStrike" baseline="30000" dirty="0">
                          <a:effectLst/>
                        </a:rPr>
                        <a:t>a</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effectLst/>
                        </a:rPr>
                        <a:t>.997</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effectLst/>
                        </a:rPr>
                        <a:t>.996</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effectLst/>
                        </a:rPr>
                        <a:t>1395.6099</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effectLst/>
                        </a:rPr>
                        <a:t>1.520</a:t>
                      </a:r>
                      <a:endParaRPr lang="en-US" sz="16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890352617"/>
                  </a:ext>
                </a:extLst>
              </a:tr>
              <a:tr h="296114">
                <a:tc gridSpan="5">
                  <a:txBody>
                    <a:bodyPr/>
                    <a:lstStyle/>
                    <a:p>
                      <a:pPr algn="l" fontAlgn="t"/>
                      <a:r>
                        <a:rPr lang="en-US" sz="1600" u="none" strike="noStrike" dirty="0">
                          <a:effectLst/>
                        </a:rPr>
                        <a:t>a. Predictors: (Constant), T2, OTINC, MATERIAL</a:t>
                      </a:r>
                      <a:endParaRPr lang="en-US" sz="1600" b="0" i="0" u="none" strike="noStrike" dirty="0">
                        <a:solidFill>
                          <a:srgbClr val="000000"/>
                        </a:solidFill>
                        <a:effectLst/>
                        <a:latin typeface="Arial" panose="020B06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98377746"/>
                  </a:ext>
                </a:extLst>
              </a:tr>
              <a:tr h="286244">
                <a:tc gridSpan="5">
                  <a:txBody>
                    <a:bodyPr/>
                    <a:lstStyle/>
                    <a:p>
                      <a:pPr algn="l" fontAlgn="t"/>
                      <a:r>
                        <a:rPr lang="en-US" sz="1600" u="none" strike="noStrike" dirty="0">
                          <a:effectLst/>
                        </a:rPr>
                        <a:t>b. Dependent Variable: SALES</a:t>
                      </a:r>
                      <a:endParaRPr lang="en-US" sz="1600" b="0" i="0" u="none" strike="noStrike" dirty="0">
                        <a:solidFill>
                          <a:srgbClr val="000000"/>
                        </a:solidFill>
                        <a:effectLst/>
                        <a:latin typeface="Arial" panose="020B06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15732954"/>
                  </a:ext>
                </a:extLst>
              </a:tr>
            </a:tbl>
          </a:graphicData>
        </a:graphic>
      </p:graphicFrame>
      <p:graphicFrame>
        <p:nvGraphicFramePr>
          <p:cNvPr id="7" name="Table 6">
            <a:extLst>
              <a:ext uri="{FF2B5EF4-FFF2-40B4-BE49-F238E27FC236}">
                <a16:creationId xmlns:a16="http://schemas.microsoft.com/office/drawing/2014/main" id="{5EB66950-64F2-48E6-86FB-74A6A2B0B0A4}"/>
              </a:ext>
            </a:extLst>
          </p:cNvPr>
          <p:cNvGraphicFramePr>
            <a:graphicFrameLocks noGrp="1"/>
          </p:cNvGraphicFramePr>
          <p:nvPr>
            <p:extLst>
              <p:ext uri="{D42A27DB-BD31-4B8C-83A1-F6EECF244321}">
                <p14:modId xmlns:p14="http://schemas.microsoft.com/office/powerpoint/2010/main" val="979152108"/>
              </p:ext>
            </p:extLst>
          </p:nvPr>
        </p:nvGraphicFramePr>
        <p:xfrm>
          <a:off x="533400" y="3978055"/>
          <a:ext cx="8001000" cy="2559489"/>
        </p:xfrm>
        <a:graphic>
          <a:graphicData uri="http://schemas.openxmlformats.org/drawingml/2006/table">
            <a:tbl>
              <a:tblPr>
                <a:tableStyleId>{5C22544A-7EE6-4342-B048-85BDC9FD1C3A}</a:tableStyleId>
              </a:tblPr>
              <a:tblGrid>
                <a:gridCol w="1333500">
                  <a:extLst>
                    <a:ext uri="{9D8B030D-6E8A-4147-A177-3AD203B41FA5}">
                      <a16:colId xmlns:a16="http://schemas.microsoft.com/office/drawing/2014/main" val="1720894465"/>
                    </a:ext>
                  </a:extLst>
                </a:gridCol>
                <a:gridCol w="1714500">
                  <a:extLst>
                    <a:ext uri="{9D8B030D-6E8A-4147-A177-3AD203B41FA5}">
                      <a16:colId xmlns:a16="http://schemas.microsoft.com/office/drawing/2014/main" val="260615394"/>
                    </a:ext>
                  </a:extLst>
                </a:gridCol>
                <a:gridCol w="1143000">
                  <a:extLst>
                    <a:ext uri="{9D8B030D-6E8A-4147-A177-3AD203B41FA5}">
                      <a16:colId xmlns:a16="http://schemas.microsoft.com/office/drawing/2014/main" val="2010717788"/>
                    </a:ext>
                  </a:extLst>
                </a:gridCol>
                <a:gridCol w="1355148">
                  <a:extLst>
                    <a:ext uri="{9D8B030D-6E8A-4147-A177-3AD203B41FA5}">
                      <a16:colId xmlns:a16="http://schemas.microsoft.com/office/drawing/2014/main" val="2176493652"/>
                    </a:ext>
                  </a:extLst>
                </a:gridCol>
                <a:gridCol w="1121352">
                  <a:extLst>
                    <a:ext uri="{9D8B030D-6E8A-4147-A177-3AD203B41FA5}">
                      <a16:colId xmlns:a16="http://schemas.microsoft.com/office/drawing/2014/main" val="4093921093"/>
                    </a:ext>
                  </a:extLst>
                </a:gridCol>
                <a:gridCol w="1333500">
                  <a:extLst>
                    <a:ext uri="{9D8B030D-6E8A-4147-A177-3AD203B41FA5}">
                      <a16:colId xmlns:a16="http://schemas.microsoft.com/office/drawing/2014/main" val="3831169407"/>
                    </a:ext>
                  </a:extLst>
                </a:gridCol>
              </a:tblGrid>
              <a:tr h="315884">
                <a:tc gridSpan="6">
                  <a:txBody>
                    <a:bodyPr/>
                    <a:lstStyle/>
                    <a:p>
                      <a:pPr algn="ctr" fontAlgn="ctr"/>
                      <a:r>
                        <a:rPr lang="en-US" sz="1600" u="none" strike="noStrike" dirty="0" err="1">
                          <a:effectLst/>
                        </a:rPr>
                        <a:t>Coefficients</a:t>
                      </a:r>
                      <a:r>
                        <a:rPr lang="en-US" sz="1600" u="none" strike="noStrike" baseline="30000" dirty="0" err="1">
                          <a:effectLst/>
                        </a:rPr>
                        <a:t>a</a:t>
                      </a:r>
                      <a:endParaRPr lang="en-US" sz="1600" b="1" i="0" u="none" strike="noStrike" dirty="0">
                        <a:solidFill>
                          <a:srgbClr val="000000"/>
                        </a:solidFill>
                        <a:effectLst/>
                        <a:latin typeface="Arial Bold" panose="020B07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48381690"/>
                  </a:ext>
                </a:extLst>
              </a:tr>
              <a:tr h="674716">
                <a:tc>
                  <a:txBody>
                    <a:bodyPr/>
                    <a:lstStyle/>
                    <a:p>
                      <a:pPr algn="l" fontAlgn="b"/>
                      <a:r>
                        <a:rPr lang="en-US" sz="1600" u="none" strike="noStrike" dirty="0">
                          <a:effectLst/>
                        </a:rPr>
                        <a:t> </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600" u="none" strike="noStrike" dirty="0">
                          <a:effectLst/>
                        </a:rPr>
                        <a:t>Un-standardized Coefficients</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600" u="none" strike="noStrike" dirty="0">
                          <a:effectLst/>
                        </a:rPr>
                        <a:t> </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600" u="none" strike="noStrike" dirty="0">
                          <a:effectLst/>
                        </a:rPr>
                        <a:t>Standardized Coefficients</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600" u="none" strike="noStrike">
                          <a:effectLst/>
                        </a:rPr>
                        <a:t>t</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600" u="none" strike="noStrike">
                          <a:effectLst/>
                        </a:rPr>
                        <a:t>Sig.</a:t>
                      </a:r>
                      <a:endParaRPr lang="en-US" sz="16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84116600"/>
                  </a:ext>
                </a:extLst>
              </a:tr>
              <a:tr h="326413">
                <a:tc>
                  <a:txBody>
                    <a:bodyPr/>
                    <a:lstStyle/>
                    <a:p>
                      <a:pPr algn="l" fontAlgn="b"/>
                      <a:r>
                        <a:rPr lang="en-US" sz="1600" u="none" strike="noStrike" dirty="0">
                          <a:effectLst/>
                        </a:rPr>
                        <a:t> </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600" u="none" strike="noStrike" dirty="0">
                          <a:effectLst/>
                        </a:rPr>
                        <a:t>B</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600" u="none" strike="noStrike" dirty="0">
                          <a:effectLst/>
                        </a:rPr>
                        <a:t>Std. Error</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600" u="none" strike="noStrike" dirty="0">
                          <a:solidFill>
                            <a:srgbClr val="FF0000"/>
                          </a:solidFill>
                          <a:effectLst/>
                        </a:rPr>
                        <a:t>Beta</a:t>
                      </a:r>
                      <a:endParaRPr lang="en-US" sz="1600" b="0" i="0" u="none" strike="noStrike" dirty="0">
                        <a:solidFill>
                          <a:srgbClr val="FF0000"/>
                        </a:solidFill>
                        <a:effectLst/>
                        <a:latin typeface="Arial" panose="020B0604020202020204" pitchFamily="34" charset="0"/>
                      </a:endParaRPr>
                    </a:p>
                  </a:txBody>
                  <a:tcPr marL="6350" marR="6350" marT="6350" marB="0" anchor="ctr"/>
                </a:tc>
                <a:tc>
                  <a:txBody>
                    <a:bodyPr/>
                    <a:lstStyle/>
                    <a:p>
                      <a:pPr algn="ctr" fontAlgn="b"/>
                      <a:r>
                        <a:rPr lang="en-US" sz="1600" u="none" strike="noStrike">
                          <a:effectLst/>
                        </a:rPr>
                        <a:t> </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600" u="none" strike="noStrike">
                          <a:effectLst/>
                        </a:rPr>
                        <a:t> </a:t>
                      </a:r>
                      <a:endParaRPr lang="en-US" sz="16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2148019456"/>
                  </a:ext>
                </a:extLst>
              </a:tr>
              <a:tr h="315884">
                <a:tc>
                  <a:txBody>
                    <a:bodyPr/>
                    <a:lstStyle/>
                    <a:p>
                      <a:pPr algn="l" fontAlgn="t"/>
                      <a:r>
                        <a:rPr lang="en-US" sz="1600" u="none" strike="noStrike" dirty="0">
                          <a:effectLst/>
                        </a:rPr>
                        <a:t>(Constant)</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a:effectLst/>
                        </a:rPr>
                        <a:t>733.934</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effectLst/>
                        </a:rPr>
                        <a:t>495.701</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solidFill>
                            <a:srgbClr val="FF0000"/>
                          </a:solidFill>
                          <a:effectLst/>
                        </a:rPr>
                        <a:t> </a:t>
                      </a:r>
                      <a:endParaRPr lang="en-US" sz="1600" b="0" i="0" u="none" strike="noStrike" dirty="0">
                        <a:solidFill>
                          <a:srgbClr val="FF0000"/>
                        </a:solidFill>
                        <a:effectLst/>
                        <a:latin typeface="Arial" panose="020B0604020202020204" pitchFamily="34" charset="0"/>
                      </a:endParaRPr>
                    </a:p>
                  </a:txBody>
                  <a:tcPr marL="6350" marR="6350" marT="6350" marB="0" anchor="ctr"/>
                </a:tc>
                <a:tc>
                  <a:txBody>
                    <a:bodyPr/>
                    <a:lstStyle/>
                    <a:p>
                      <a:pPr algn="ctr" fontAlgn="t"/>
                      <a:r>
                        <a:rPr lang="en-US" sz="1600" u="none" strike="noStrike">
                          <a:effectLst/>
                        </a:rPr>
                        <a:t>1.481</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a:effectLst/>
                        </a:rPr>
                        <a:t>.158</a:t>
                      </a:r>
                      <a:endParaRPr lang="en-US" sz="16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2930622361"/>
                  </a:ext>
                </a:extLst>
              </a:tr>
              <a:tr h="305354">
                <a:tc>
                  <a:txBody>
                    <a:bodyPr/>
                    <a:lstStyle/>
                    <a:p>
                      <a:pPr algn="l" fontAlgn="t"/>
                      <a:r>
                        <a:rPr lang="en-US" sz="1600" u="none" strike="noStrike" dirty="0">
                          <a:effectLst/>
                        </a:rPr>
                        <a:t>MATERIAL</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a:effectLst/>
                        </a:rPr>
                        <a:t>1.292</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effectLst/>
                        </a:rPr>
                        <a:t>.081</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solidFill>
                            <a:srgbClr val="FF0000"/>
                          </a:solidFill>
                          <a:effectLst/>
                        </a:rPr>
                        <a:t>.676</a:t>
                      </a:r>
                      <a:endParaRPr lang="en-US" sz="1600" b="0" i="0" u="none" strike="noStrike" dirty="0">
                        <a:solidFill>
                          <a:srgbClr val="FF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effectLst/>
                        </a:rPr>
                        <a:t>15.917</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a:effectLst/>
                        </a:rPr>
                        <a:t>.000</a:t>
                      </a:r>
                      <a:endParaRPr lang="en-US" sz="16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3056946729"/>
                  </a:ext>
                </a:extLst>
              </a:tr>
              <a:tr h="305354">
                <a:tc>
                  <a:txBody>
                    <a:bodyPr/>
                    <a:lstStyle/>
                    <a:p>
                      <a:pPr algn="l" fontAlgn="t"/>
                      <a:r>
                        <a:rPr lang="en-US" sz="1600" u="none" strike="noStrike" dirty="0">
                          <a:effectLst/>
                        </a:rPr>
                        <a:t>OTINC</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effectLst/>
                        </a:rPr>
                        <a:t>3.195</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effectLst/>
                        </a:rPr>
                        <a:t>.468</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solidFill>
                            <a:srgbClr val="FF0000"/>
                          </a:solidFill>
                          <a:effectLst/>
                        </a:rPr>
                        <a:t>.163</a:t>
                      </a:r>
                      <a:endParaRPr lang="en-US" sz="1600" b="0" i="0" u="none" strike="noStrike" dirty="0">
                        <a:solidFill>
                          <a:srgbClr val="FF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effectLst/>
                        </a:rPr>
                        <a:t>6.832</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effectLst/>
                        </a:rPr>
                        <a:t>.000</a:t>
                      </a:r>
                      <a:endParaRPr lang="en-US" sz="16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4110409711"/>
                  </a:ext>
                </a:extLst>
              </a:tr>
              <a:tr h="315884">
                <a:tc>
                  <a:txBody>
                    <a:bodyPr/>
                    <a:lstStyle/>
                    <a:p>
                      <a:pPr algn="l" fontAlgn="t"/>
                      <a:r>
                        <a:rPr lang="en-US" sz="1600" u="none" strike="noStrike" dirty="0">
                          <a:effectLst/>
                        </a:rPr>
                        <a:t>T2</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effectLst/>
                        </a:rPr>
                        <a:t>35.339</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effectLst/>
                        </a:rPr>
                        <a:t>7.663</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solidFill>
                            <a:srgbClr val="FF0000"/>
                          </a:solidFill>
                          <a:effectLst/>
                        </a:rPr>
                        <a:t>.194</a:t>
                      </a:r>
                      <a:endParaRPr lang="en-US" sz="1600" b="0" i="0" u="none" strike="noStrike" dirty="0">
                        <a:solidFill>
                          <a:srgbClr val="FF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effectLst/>
                        </a:rPr>
                        <a:t>4.611</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effectLst/>
                        </a:rPr>
                        <a:t>.000</a:t>
                      </a:r>
                      <a:endParaRPr lang="en-US" sz="16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4151731548"/>
                  </a:ext>
                </a:extLst>
              </a:tr>
            </a:tbl>
          </a:graphicData>
        </a:graphic>
      </p:graphicFrame>
    </p:spTree>
    <p:extLst>
      <p:ext uri="{BB962C8B-B14F-4D97-AF65-F5344CB8AC3E}">
        <p14:creationId xmlns:p14="http://schemas.microsoft.com/office/powerpoint/2010/main" val="37326785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537495DC-0ADB-4FC2-B2AD-6AF3F9ECF5A4}"/>
              </a:ext>
            </a:extLst>
          </p:cNvPr>
          <p:cNvSpPr>
            <a:spLocks noGrp="1" noRot="1" noChangeArrowheads="1"/>
          </p:cNvSpPr>
          <p:nvPr>
            <p:ph type="title"/>
          </p:nvPr>
        </p:nvSpPr>
        <p:spPr>
          <a:xfrm>
            <a:off x="217713" y="223837"/>
            <a:ext cx="7543801" cy="1320800"/>
          </a:xfrm>
        </p:spPr>
        <p:txBody>
          <a:bodyPr>
            <a:normAutofit fontScale="90000"/>
          </a:bodyPr>
          <a:lstStyle/>
          <a:p>
            <a:r>
              <a:rPr lang="en-US" altLang="en-US" sz="4000" dirty="0"/>
              <a:t>Critical Regions of Durbin Watson test United Technologies</a:t>
            </a:r>
          </a:p>
        </p:txBody>
      </p:sp>
      <p:sp>
        <p:nvSpPr>
          <p:cNvPr id="32771" name="Rectangle 4">
            <a:extLst>
              <a:ext uri="{FF2B5EF4-FFF2-40B4-BE49-F238E27FC236}">
                <a16:creationId xmlns:a16="http://schemas.microsoft.com/office/drawing/2014/main" id="{F8902C78-E2F4-4F36-BBC2-63A82396B13B}"/>
              </a:ext>
            </a:extLst>
          </p:cNvPr>
          <p:cNvSpPr>
            <a:spLocks noChangeArrowheads="1"/>
          </p:cNvSpPr>
          <p:nvPr/>
        </p:nvSpPr>
        <p:spPr bwMode="auto">
          <a:xfrm>
            <a:off x="685800" y="3276600"/>
            <a:ext cx="1752600" cy="5334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2772" name="Rectangle 5">
            <a:extLst>
              <a:ext uri="{FF2B5EF4-FFF2-40B4-BE49-F238E27FC236}">
                <a16:creationId xmlns:a16="http://schemas.microsoft.com/office/drawing/2014/main" id="{A6DF9A88-9A3C-4903-8AEF-B734060E1030}"/>
              </a:ext>
            </a:extLst>
          </p:cNvPr>
          <p:cNvSpPr>
            <a:spLocks noChangeArrowheads="1"/>
          </p:cNvSpPr>
          <p:nvPr/>
        </p:nvSpPr>
        <p:spPr bwMode="auto">
          <a:xfrm>
            <a:off x="2438400" y="3276600"/>
            <a:ext cx="914400" cy="533400"/>
          </a:xfrm>
          <a:prstGeom prst="rect">
            <a:avLst/>
          </a:prstGeom>
          <a:solidFill>
            <a:schemeClr val="hlink"/>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2773" name="Rectangle 6">
            <a:extLst>
              <a:ext uri="{FF2B5EF4-FFF2-40B4-BE49-F238E27FC236}">
                <a16:creationId xmlns:a16="http://schemas.microsoft.com/office/drawing/2014/main" id="{A4B25C1A-0CE5-4257-93F4-436D968372F5}"/>
              </a:ext>
            </a:extLst>
          </p:cNvPr>
          <p:cNvSpPr>
            <a:spLocks noChangeArrowheads="1"/>
          </p:cNvSpPr>
          <p:nvPr/>
        </p:nvSpPr>
        <p:spPr bwMode="auto">
          <a:xfrm>
            <a:off x="3352800" y="3276600"/>
            <a:ext cx="1752600" cy="533400"/>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2774" name="Rectangle 7">
            <a:extLst>
              <a:ext uri="{FF2B5EF4-FFF2-40B4-BE49-F238E27FC236}">
                <a16:creationId xmlns:a16="http://schemas.microsoft.com/office/drawing/2014/main" id="{FB9F70A3-ACC0-431A-BD78-0ACC632BBCC5}"/>
              </a:ext>
            </a:extLst>
          </p:cNvPr>
          <p:cNvSpPr>
            <a:spLocks noChangeArrowheads="1"/>
          </p:cNvSpPr>
          <p:nvPr/>
        </p:nvSpPr>
        <p:spPr bwMode="auto">
          <a:xfrm>
            <a:off x="5105400" y="3276600"/>
            <a:ext cx="914400" cy="533400"/>
          </a:xfrm>
          <a:prstGeom prst="rect">
            <a:avLst/>
          </a:prstGeom>
          <a:solidFill>
            <a:schemeClr val="hlink"/>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2775" name="Rectangle 8">
            <a:extLst>
              <a:ext uri="{FF2B5EF4-FFF2-40B4-BE49-F238E27FC236}">
                <a16:creationId xmlns:a16="http://schemas.microsoft.com/office/drawing/2014/main" id="{59D1CDB1-9731-4C94-A442-3D5EEFA2C6AF}"/>
              </a:ext>
            </a:extLst>
          </p:cNvPr>
          <p:cNvSpPr>
            <a:spLocks noChangeArrowheads="1"/>
          </p:cNvSpPr>
          <p:nvPr/>
        </p:nvSpPr>
        <p:spPr bwMode="auto">
          <a:xfrm>
            <a:off x="6019800" y="3276600"/>
            <a:ext cx="2133600" cy="5334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2776" name="Text Box 9">
            <a:extLst>
              <a:ext uri="{FF2B5EF4-FFF2-40B4-BE49-F238E27FC236}">
                <a16:creationId xmlns:a16="http://schemas.microsoft.com/office/drawing/2014/main" id="{95EB1BDB-3D35-4439-81D2-624FC59B8368}"/>
              </a:ext>
            </a:extLst>
          </p:cNvPr>
          <p:cNvSpPr txBox="1">
            <a:spLocks noChangeArrowheads="1"/>
          </p:cNvSpPr>
          <p:nvPr/>
        </p:nvSpPr>
        <p:spPr bwMode="auto">
          <a:xfrm>
            <a:off x="609600" y="4114800"/>
            <a:ext cx="381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en-US"/>
              <a:t>0</a:t>
            </a:r>
          </a:p>
        </p:txBody>
      </p:sp>
      <p:sp>
        <p:nvSpPr>
          <p:cNvPr id="32777" name="Text Box 10">
            <a:extLst>
              <a:ext uri="{FF2B5EF4-FFF2-40B4-BE49-F238E27FC236}">
                <a16:creationId xmlns:a16="http://schemas.microsoft.com/office/drawing/2014/main" id="{68EDCA9D-EF40-4182-8F6F-13F291C1B41A}"/>
              </a:ext>
            </a:extLst>
          </p:cNvPr>
          <p:cNvSpPr txBox="1">
            <a:spLocks noChangeArrowheads="1"/>
          </p:cNvSpPr>
          <p:nvPr/>
        </p:nvSpPr>
        <p:spPr bwMode="auto">
          <a:xfrm>
            <a:off x="2209800" y="41148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en-US"/>
              <a:t>d</a:t>
            </a:r>
            <a:r>
              <a:rPr lang="en-US" altLang="en-US" baseline="-25000"/>
              <a:t>L</a:t>
            </a:r>
            <a:endParaRPr lang="en-US" altLang="en-US"/>
          </a:p>
        </p:txBody>
      </p:sp>
      <p:sp>
        <p:nvSpPr>
          <p:cNvPr id="32778" name="Text Box 11">
            <a:extLst>
              <a:ext uri="{FF2B5EF4-FFF2-40B4-BE49-F238E27FC236}">
                <a16:creationId xmlns:a16="http://schemas.microsoft.com/office/drawing/2014/main" id="{636D0406-B93C-4D9C-BDA1-771CC9FA924D}"/>
              </a:ext>
            </a:extLst>
          </p:cNvPr>
          <p:cNvSpPr txBox="1">
            <a:spLocks noChangeArrowheads="1"/>
          </p:cNvSpPr>
          <p:nvPr/>
        </p:nvSpPr>
        <p:spPr bwMode="auto">
          <a:xfrm>
            <a:off x="3124200" y="41148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en-US"/>
              <a:t>d</a:t>
            </a:r>
            <a:r>
              <a:rPr lang="en-US" altLang="en-US" baseline="-25000"/>
              <a:t>U</a:t>
            </a:r>
            <a:endParaRPr lang="en-US" altLang="en-US"/>
          </a:p>
        </p:txBody>
      </p:sp>
      <p:sp>
        <p:nvSpPr>
          <p:cNvPr id="32779" name="Text Box 12">
            <a:extLst>
              <a:ext uri="{FF2B5EF4-FFF2-40B4-BE49-F238E27FC236}">
                <a16:creationId xmlns:a16="http://schemas.microsoft.com/office/drawing/2014/main" id="{375F08C8-9683-40DA-B101-36F7F869EAE0}"/>
              </a:ext>
            </a:extLst>
          </p:cNvPr>
          <p:cNvSpPr txBox="1">
            <a:spLocks noChangeArrowheads="1"/>
          </p:cNvSpPr>
          <p:nvPr/>
        </p:nvSpPr>
        <p:spPr bwMode="auto">
          <a:xfrm>
            <a:off x="4800600" y="4114800"/>
            <a:ext cx="76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en-US"/>
              <a:t>4 -d</a:t>
            </a:r>
            <a:r>
              <a:rPr lang="en-US" altLang="en-US" baseline="-25000"/>
              <a:t>U</a:t>
            </a:r>
            <a:endParaRPr lang="en-US" altLang="en-US"/>
          </a:p>
        </p:txBody>
      </p:sp>
      <p:sp>
        <p:nvSpPr>
          <p:cNvPr id="32780" name="Text Box 13">
            <a:extLst>
              <a:ext uri="{FF2B5EF4-FFF2-40B4-BE49-F238E27FC236}">
                <a16:creationId xmlns:a16="http://schemas.microsoft.com/office/drawing/2014/main" id="{A7BBD246-284B-4B32-A932-64100AF0CA72}"/>
              </a:ext>
            </a:extLst>
          </p:cNvPr>
          <p:cNvSpPr txBox="1">
            <a:spLocks noChangeArrowheads="1"/>
          </p:cNvSpPr>
          <p:nvPr/>
        </p:nvSpPr>
        <p:spPr bwMode="auto">
          <a:xfrm>
            <a:off x="5638800" y="4114800"/>
            <a:ext cx="76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en-US"/>
              <a:t>4 -d</a:t>
            </a:r>
            <a:r>
              <a:rPr lang="en-US" altLang="en-US" baseline="-25000"/>
              <a:t>L</a:t>
            </a:r>
            <a:endParaRPr lang="en-US" altLang="en-US"/>
          </a:p>
        </p:txBody>
      </p:sp>
      <p:sp>
        <p:nvSpPr>
          <p:cNvPr id="32781" name="Text Box 14">
            <a:extLst>
              <a:ext uri="{FF2B5EF4-FFF2-40B4-BE49-F238E27FC236}">
                <a16:creationId xmlns:a16="http://schemas.microsoft.com/office/drawing/2014/main" id="{F1A75406-EC65-4194-939E-0F8C73BB2767}"/>
              </a:ext>
            </a:extLst>
          </p:cNvPr>
          <p:cNvSpPr txBox="1">
            <a:spLocks noChangeArrowheads="1"/>
          </p:cNvSpPr>
          <p:nvPr/>
        </p:nvSpPr>
        <p:spPr bwMode="auto">
          <a:xfrm>
            <a:off x="7772400" y="4114800"/>
            <a:ext cx="76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spcBef>
                <a:spcPct val="50000"/>
              </a:spcBef>
            </a:pPr>
            <a:r>
              <a:rPr lang="en-US" altLang="en-US"/>
              <a:t>4 </a:t>
            </a:r>
          </a:p>
        </p:txBody>
      </p:sp>
      <p:sp>
        <p:nvSpPr>
          <p:cNvPr id="32782" name="Text Box 15">
            <a:extLst>
              <a:ext uri="{FF2B5EF4-FFF2-40B4-BE49-F238E27FC236}">
                <a16:creationId xmlns:a16="http://schemas.microsoft.com/office/drawing/2014/main" id="{A9B9461F-D6C0-458E-BC20-705D08DB5FF4}"/>
              </a:ext>
            </a:extLst>
          </p:cNvPr>
          <p:cNvSpPr txBox="1">
            <a:spLocks noChangeArrowheads="1"/>
          </p:cNvSpPr>
          <p:nvPr/>
        </p:nvSpPr>
        <p:spPr bwMode="auto">
          <a:xfrm>
            <a:off x="685800" y="4724400"/>
            <a:ext cx="1752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spcBef>
                <a:spcPct val="50000"/>
              </a:spcBef>
            </a:pPr>
            <a:r>
              <a:rPr lang="en-US" altLang="en-US" dirty="0"/>
              <a:t>Positive autocorrelation</a:t>
            </a:r>
          </a:p>
        </p:txBody>
      </p:sp>
      <p:sp>
        <p:nvSpPr>
          <p:cNvPr id="32783" name="Line 16">
            <a:extLst>
              <a:ext uri="{FF2B5EF4-FFF2-40B4-BE49-F238E27FC236}">
                <a16:creationId xmlns:a16="http://schemas.microsoft.com/office/drawing/2014/main" id="{179E9197-E426-4069-91E7-FC028F765E92}"/>
              </a:ext>
            </a:extLst>
          </p:cNvPr>
          <p:cNvSpPr>
            <a:spLocks noChangeShapeType="1"/>
          </p:cNvSpPr>
          <p:nvPr/>
        </p:nvSpPr>
        <p:spPr bwMode="auto">
          <a:xfrm>
            <a:off x="1600200" y="3810000"/>
            <a:ext cx="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784" name="Text Box 17">
            <a:extLst>
              <a:ext uri="{FF2B5EF4-FFF2-40B4-BE49-F238E27FC236}">
                <a16:creationId xmlns:a16="http://schemas.microsoft.com/office/drawing/2014/main" id="{8C60CFDC-1433-4B13-851E-7CBB98FE84DF}"/>
              </a:ext>
            </a:extLst>
          </p:cNvPr>
          <p:cNvSpPr txBox="1">
            <a:spLocks noChangeArrowheads="1"/>
          </p:cNvSpPr>
          <p:nvPr/>
        </p:nvSpPr>
        <p:spPr bwMode="auto">
          <a:xfrm>
            <a:off x="1828800" y="5607050"/>
            <a:ext cx="1752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spcBef>
                <a:spcPct val="50000"/>
              </a:spcBef>
            </a:pPr>
            <a:r>
              <a:rPr lang="en-US" altLang="en-US"/>
              <a:t>Inconclusive</a:t>
            </a:r>
          </a:p>
        </p:txBody>
      </p:sp>
      <p:sp>
        <p:nvSpPr>
          <p:cNvPr id="32785" name="Line 18">
            <a:extLst>
              <a:ext uri="{FF2B5EF4-FFF2-40B4-BE49-F238E27FC236}">
                <a16:creationId xmlns:a16="http://schemas.microsoft.com/office/drawing/2014/main" id="{6AF097ED-7CBF-4FDA-B0B7-7CF7FC8A9BD9}"/>
              </a:ext>
            </a:extLst>
          </p:cNvPr>
          <p:cNvSpPr>
            <a:spLocks noChangeShapeType="1"/>
          </p:cNvSpPr>
          <p:nvPr/>
        </p:nvSpPr>
        <p:spPr bwMode="auto">
          <a:xfrm>
            <a:off x="2895600" y="3810000"/>
            <a:ext cx="0" cy="1828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786" name="Text Box 19">
            <a:extLst>
              <a:ext uri="{FF2B5EF4-FFF2-40B4-BE49-F238E27FC236}">
                <a16:creationId xmlns:a16="http://schemas.microsoft.com/office/drawing/2014/main" id="{21899277-77E6-45BC-9BB0-3CF950919C8F}"/>
              </a:ext>
            </a:extLst>
          </p:cNvPr>
          <p:cNvSpPr txBox="1">
            <a:spLocks noChangeArrowheads="1"/>
          </p:cNvSpPr>
          <p:nvPr/>
        </p:nvSpPr>
        <p:spPr bwMode="auto">
          <a:xfrm>
            <a:off x="3352800" y="4768850"/>
            <a:ext cx="1752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spcBef>
                <a:spcPct val="50000"/>
              </a:spcBef>
            </a:pPr>
            <a:r>
              <a:rPr lang="en-US" altLang="en-US" dirty="0"/>
              <a:t>No autocorrelation</a:t>
            </a:r>
          </a:p>
        </p:txBody>
      </p:sp>
      <p:sp>
        <p:nvSpPr>
          <p:cNvPr id="32787" name="Line 20">
            <a:extLst>
              <a:ext uri="{FF2B5EF4-FFF2-40B4-BE49-F238E27FC236}">
                <a16:creationId xmlns:a16="http://schemas.microsoft.com/office/drawing/2014/main" id="{487ACDD0-120B-450C-AEED-2434DA525628}"/>
              </a:ext>
            </a:extLst>
          </p:cNvPr>
          <p:cNvSpPr>
            <a:spLocks noChangeShapeType="1"/>
          </p:cNvSpPr>
          <p:nvPr/>
        </p:nvSpPr>
        <p:spPr bwMode="auto">
          <a:xfrm>
            <a:off x="4267200" y="3810000"/>
            <a:ext cx="0" cy="914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788" name="Text Box 21">
            <a:extLst>
              <a:ext uri="{FF2B5EF4-FFF2-40B4-BE49-F238E27FC236}">
                <a16:creationId xmlns:a16="http://schemas.microsoft.com/office/drawing/2014/main" id="{B6A7E61D-F239-46B8-960D-B914BF0F3674}"/>
              </a:ext>
            </a:extLst>
          </p:cNvPr>
          <p:cNvSpPr txBox="1">
            <a:spLocks noChangeArrowheads="1"/>
          </p:cNvSpPr>
          <p:nvPr/>
        </p:nvSpPr>
        <p:spPr bwMode="auto">
          <a:xfrm>
            <a:off x="4724400" y="5638800"/>
            <a:ext cx="1752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spcBef>
                <a:spcPct val="50000"/>
              </a:spcBef>
            </a:pPr>
            <a:r>
              <a:rPr lang="en-US" altLang="en-US"/>
              <a:t>Inconclusive</a:t>
            </a:r>
          </a:p>
        </p:txBody>
      </p:sp>
      <p:sp>
        <p:nvSpPr>
          <p:cNvPr id="32789" name="Line 22">
            <a:extLst>
              <a:ext uri="{FF2B5EF4-FFF2-40B4-BE49-F238E27FC236}">
                <a16:creationId xmlns:a16="http://schemas.microsoft.com/office/drawing/2014/main" id="{D5CB35B4-D601-45EA-8F7B-F07451D1B5DC}"/>
              </a:ext>
            </a:extLst>
          </p:cNvPr>
          <p:cNvSpPr>
            <a:spLocks noChangeShapeType="1"/>
          </p:cNvSpPr>
          <p:nvPr/>
        </p:nvSpPr>
        <p:spPr bwMode="auto">
          <a:xfrm>
            <a:off x="5562600" y="3810000"/>
            <a:ext cx="0" cy="1828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790" name="Text Box 23">
            <a:extLst>
              <a:ext uri="{FF2B5EF4-FFF2-40B4-BE49-F238E27FC236}">
                <a16:creationId xmlns:a16="http://schemas.microsoft.com/office/drawing/2014/main" id="{8B308F11-377C-4D37-8A9B-FC372AA8C401}"/>
              </a:ext>
            </a:extLst>
          </p:cNvPr>
          <p:cNvSpPr txBox="1">
            <a:spLocks noChangeArrowheads="1"/>
          </p:cNvSpPr>
          <p:nvPr/>
        </p:nvSpPr>
        <p:spPr bwMode="auto">
          <a:xfrm>
            <a:off x="6096000" y="4724400"/>
            <a:ext cx="1752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spcBef>
                <a:spcPct val="50000"/>
              </a:spcBef>
            </a:pPr>
            <a:r>
              <a:rPr lang="en-US" altLang="en-US" dirty="0"/>
              <a:t>Negative autocorrelation</a:t>
            </a:r>
          </a:p>
        </p:txBody>
      </p:sp>
      <p:sp>
        <p:nvSpPr>
          <p:cNvPr id="32791" name="Line 24">
            <a:extLst>
              <a:ext uri="{FF2B5EF4-FFF2-40B4-BE49-F238E27FC236}">
                <a16:creationId xmlns:a16="http://schemas.microsoft.com/office/drawing/2014/main" id="{AF8D5BC5-1370-4D84-B9C4-43AA3D4980E0}"/>
              </a:ext>
            </a:extLst>
          </p:cNvPr>
          <p:cNvSpPr>
            <a:spLocks noChangeShapeType="1"/>
          </p:cNvSpPr>
          <p:nvPr/>
        </p:nvSpPr>
        <p:spPr bwMode="auto">
          <a:xfrm>
            <a:off x="7010400" y="3810000"/>
            <a:ext cx="0" cy="838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 name="TextBox 1">
            <a:extLst>
              <a:ext uri="{FF2B5EF4-FFF2-40B4-BE49-F238E27FC236}">
                <a16:creationId xmlns:a16="http://schemas.microsoft.com/office/drawing/2014/main" id="{05F67826-9F30-44AF-A044-33500912A75E}"/>
              </a:ext>
            </a:extLst>
          </p:cNvPr>
          <p:cNvSpPr txBox="1"/>
          <p:nvPr/>
        </p:nvSpPr>
        <p:spPr>
          <a:xfrm>
            <a:off x="849088" y="2171638"/>
            <a:ext cx="1409700" cy="369332"/>
          </a:xfrm>
          <a:prstGeom prst="rect">
            <a:avLst/>
          </a:prstGeom>
          <a:solidFill>
            <a:schemeClr val="accent3">
              <a:lumMod val="40000"/>
              <a:lumOff val="60000"/>
            </a:schemeClr>
          </a:solidFill>
        </p:spPr>
        <p:txBody>
          <a:bodyPr wrap="square" rtlCol="0">
            <a:spAutoFit/>
          </a:bodyPr>
          <a:lstStyle/>
          <a:p>
            <a:r>
              <a:rPr lang="en-US" dirty="0"/>
              <a:t>n=20; k= 3</a:t>
            </a:r>
            <a:endParaRPr lang="en-IN" dirty="0"/>
          </a:p>
        </p:txBody>
      </p:sp>
      <p:sp>
        <p:nvSpPr>
          <p:cNvPr id="5" name="TextBox 4">
            <a:extLst>
              <a:ext uri="{FF2B5EF4-FFF2-40B4-BE49-F238E27FC236}">
                <a16:creationId xmlns:a16="http://schemas.microsoft.com/office/drawing/2014/main" id="{73EFCEDC-1C0D-46B9-B494-9ECBB916E975}"/>
              </a:ext>
            </a:extLst>
          </p:cNvPr>
          <p:cNvSpPr txBox="1"/>
          <p:nvPr/>
        </p:nvSpPr>
        <p:spPr>
          <a:xfrm>
            <a:off x="1981202" y="4495800"/>
            <a:ext cx="761998" cy="369332"/>
          </a:xfrm>
          <a:prstGeom prst="rect">
            <a:avLst/>
          </a:prstGeom>
          <a:noFill/>
        </p:spPr>
        <p:txBody>
          <a:bodyPr wrap="square" rtlCol="0">
            <a:spAutoFit/>
          </a:bodyPr>
          <a:lstStyle/>
          <a:p>
            <a:r>
              <a:rPr lang="en-US" dirty="0">
                <a:solidFill>
                  <a:srgbClr val="FF0000"/>
                </a:solidFill>
              </a:rPr>
              <a:t>0.774</a:t>
            </a:r>
            <a:endParaRPr lang="en-IN" dirty="0">
              <a:solidFill>
                <a:srgbClr val="FF0000"/>
              </a:solidFill>
            </a:endParaRPr>
          </a:p>
        </p:txBody>
      </p:sp>
      <p:sp>
        <p:nvSpPr>
          <p:cNvPr id="28" name="TextBox 27">
            <a:extLst>
              <a:ext uri="{FF2B5EF4-FFF2-40B4-BE49-F238E27FC236}">
                <a16:creationId xmlns:a16="http://schemas.microsoft.com/office/drawing/2014/main" id="{5818E3DE-1B22-43B5-AB28-F1A13BFB88DD}"/>
              </a:ext>
            </a:extLst>
          </p:cNvPr>
          <p:cNvSpPr txBox="1"/>
          <p:nvPr/>
        </p:nvSpPr>
        <p:spPr>
          <a:xfrm>
            <a:off x="2917372" y="4495800"/>
            <a:ext cx="761998" cy="369332"/>
          </a:xfrm>
          <a:prstGeom prst="rect">
            <a:avLst/>
          </a:prstGeom>
          <a:noFill/>
        </p:spPr>
        <p:txBody>
          <a:bodyPr wrap="square" rtlCol="0">
            <a:spAutoFit/>
          </a:bodyPr>
          <a:lstStyle/>
          <a:p>
            <a:r>
              <a:rPr lang="en-US" dirty="0">
                <a:solidFill>
                  <a:srgbClr val="FF0000"/>
                </a:solidFill>
              </a:rPr>
              <a:t>1.410</a:t>
            </a:r>
            <a:endParaRPr lang="en-IN" dirty="0">
              <a:solidFill>
                <a:srgbClr val="FF0000"/>
              </a:solidFill>
            </a:endParaRPr>
          </a:p>
        </p:txBody>
      </p:sp>
      <p:sp>
        <p:nvSpPr>
          <p:cNvPr id="29" name="TextBox 28">
            <a:extLst>
              <a:ext uri="{FF2B5EF4-FFF2-40B4-BE49-F238E27FC236}">
                <a16:creationId xmlns:a16="http://schemas.microsoft.com/office/drawing/2014/main" id="{3E48987E-B5C8-4062-99BB-AA1D2A90986B}"/>
              </a:ext>
            </a:extLst>
          </p:cNvPr>
          <p:cNvSpPr txBox="1"/>
          <p:nvPr/>
        </p:nvSpPr>
        <p:spPr>
          <a:xfrm>
            <a:off x="4724400" y="4507468"/>
            <a:ext cx="761998" cy="369332"/>
          </a:xfrm>
          <a:prstGeom prst="rect">
            <a:avLst/>
          </a:prstGeom>
          <a:noFill/>
        </p:spPr>
        <p:txBody>
          <a:bodyPr wrap="square" rtlCol="0">
            <a:spAutoFit/>
          </a:bodyPr>
          <a:lstStyle/>
          <a:p>
            <a:r>
              <a:rPr lang="en-US" dirty="0">
                <a:solidFill>
                  <a:srgbClr val="FF0000"/>
                </a:solidFill>
              </a:rPr>
              <a:t>2.590</a:t>
            </a:r>
            <a:endParaRPr lang="en-IN" dirty="0">
              <a:solidFill>
                <a:srgbClr val="FF0000"/>
              </a:solidFill>
            </a:endParaRPr>
          </a:p>
        </p:txBody>
      </p:sp>
      <p:sp>
        <p:nvSpPr>
          <p:cNvPr id="30" name="TextBox 29">
            <a:extLst>
              <a:ext uri="{FF2B5EF4-FFF2-40B4-BE49-F238E27FC236}">
                <a16:creationId xmlns:a16="http://schemas.microsoft.com/office/drawing/2014/main" id="{2F05C243-CEF0-4531-BF66-FBC3476BB7FD}"/>
              </a:ext>
            </a:extLst>
          </p:cNvPr>
          <p:cNvSpPr txBox="1"/>
          <p:nvPr/>
        </p:nvSpPr>
        <p:spPr>
          <a:xfrm>
            <a:off x="5638802" y="4507468"/>
            <a:ext cx="761998" cy="369332"/>
          </a:xfrm>
          <a:prstGeom prst="rect">
            <a:avLst/>
          </a:prstGeom>
          <a:noFill/>
        </p:spPr>
        <p:txBody>
          <a:bodyPr wrap="square" rtlCol="0">
            <a:spAutoFit/>
          </a:bodyPr>
          <a:lstStyle/>
          <a:p>
            <a:r>
              <a:rPr lang="en-US" dirty="0">
                <a:solidFill>
                  <a:srgbClr val="FF0000"/>
                </a:solidFill>
              </a:rPr>
              <a:t>3.226</a:t>
            </a:r>
            <a:endParaRPr lang="en-IN" dirty="0">
              <a:solidFill>
                <a:srgbClr val="FF0000"/>
              </a:solidFill>
            </a:endParaRPr>
          </a:p>
        </p:txBody>
      </p:sp>
      <p:sp>
        <p:nvSpPr>
          <p:cNvPr id="31" name="TextBox 30">
            <a:extLst>
              <a:ext uri="{FF2B5EF4-FFF2-40B4-BE49-F238E27FC236}">
                <a16:creationId xmlns:a16="http://schemas.microsoft.com/office/drawing/2014/main" id="{889B04FD-347D-4A55-80FD-42DC375D22A6}"/>
              </a:ext>
            </a:extLst>
          </p:cNvPr>
          <p:cNvSpPr txBox="1"/>
          <p:nvPr/>
        </p:nvSpPr>
        <p:spPr>
          <a:xfrm>
            <a:off x="849088" y="2754868"/>
            <a:ext cx="1132113" cy="369332"/>
          </a:xfrm>
          <a:prstGeom prst="rect">
            <a:avLst/>
          </a:prstGeom>
          <a:solidFill>
            <a:schemeClr val="accent3">
              <a:lumMod val="40000"/>
              <a:lumOff val="60000"/>
            </a:schemeClr>
          </a:solidFill>
        </p:spPr>
        <p:txBody>
          <a:bodyPr wrap="square" rtlCol="0">
            <a:spAutoFit/>
          </a:bodyPr>
          <a:lstStyle/>
          <a:p>
            <a:r>
              <a:rPr lang="en-US" dirty="0"/>
              <a:t>D=1.520 </a:t>
            </a:r>
            <a:endParaRPr lang="en-IN" dirty="0"/>
          </a:p>
        </p:txBody>
      </p:sp>
      <p:pic>
        <p:nvPicPr>
          <p:cNvPr id="7" name="Picture 6">
            <a:extLst>
              <a:ext uri="{FF2B5EF4-FFF2-40B4-BE49-F238E27FC236}">
                <a16:creationId xmlns:a16="http://schemas.microsoft.com/office/drawing/2014/main" id="{A6DC5DEB-53F7-4E47-88F1-21A6C16A81E3}"/>
              </a:ext>
            </a:extLst>
          </p:cNvPr>
          <p:cNvPicPr>
            <a:picLocks noChangeAspect="1"/>
          </p:cNvPicPr>
          <p:nvPr/>
        </p:nvPicPr>
        <p:blipFill>
          <a:blip r:embed="rId3"/>
          <a:stretch>
            <a:fillRect/>
          </a:stretch>
        </p:blipFill>
        <p:spPr>
          <a:xfrm>
            <a:off x="4495800" y="101356"/>
            <a:ext cx="4517932" cy="3077432"/>
          </a:xfrm>
          <a:prstGeom prst="rect">
            <a:avLst/>
          </a:prstGeom>
        </p:spPr>
      </p:pic>
    </p:spTree>
    <p:extLst>
      <p:ext uri="{BB962C8B-B14F-4D97-AF65-F5344CB8AC3E}">
        <p14:creationId xmlns:p14="http://schemas.microsoft.com/office/powerpoint/2010/main" val="2324921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P spid="28" grpId="0"/>
      <p:bldP spid="29" grpId="0"/>
      <p:bldP spid="30" grpId="0"/>
      <p:bldP spid="3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1F257543-D2D8-4641-8E5D-10703B549F3C}"/>
              </a:ext>
            </a:extLst>
          </p:cNvPr>
          <p:cNvSpPr>
            <a:spLocks noGrp="1"/>
          </p:cNvSpPr>
          <p:nvPr>
            <p:ph type="title"/>
          </p:nvPr>
        </p:nvSpPr>
        <p:spPr/>
        <p:txBody>
          <a:bodyPr/>
          <a:lstStyle/>
          <a:p>
            <a:r>
              <a:rPr lang="en-US" altLang="en-US" dirty="0"/>
              <a:t>Multiple Regression</a:t>
            </a:r>
          </a:p>
        </p:txBody>
      </p:sp>
      <p:sp>
        <p:nvSpPr>
          <p:cNvPr id="16387" name="Content Placeholder 2">
            <a:extLst>
              <a:ext uri="{FF2B5EF4-FFF2-40B4-BE49-F238E27FC236}">
                <a16:creationId xmlns:a16="http://schemas.microsoft.com/office/drawing/2014/main" id="{CFB9EE1E-C93F-44F5-B799-1C8126369515}"/>
              </a:ext>
            </a:extLst>
          </p:cNvPr>
          <p:cNvSpPr>
            <a:spLocks noGrp="1"/>
          </p:cNvSpPr>
          <p:nvPr>
            <p:ph idx="1"/>
          </p:nvPr>
        </p:nvSpPr>
        <p:spPr/>
        <p:txBody>
          <a:bodyPr>
            <a:normAutofit/>
          </a:bodyPr>
          <a:lstStyle/>
          <a:p>
            <a:r>
              <a:rPr lang="en-US" altLang="en-US" sz="2800" dirty="0"/>
              <a:t>AIC</a:t>
            </a:r>
          </a:p>
          <a:p>
            <a:r>
              <a:rPr lang="en-US" altLang="en-US" sz="2800" dirty="0"/>
              <a:t>BIC</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ADDE4-BE81-47C2-B0D6-48CACE8AA860}"/>
              </a:ext>
            </a:extLst>
          </p:cNvPr>
          <p:cNvSpPr>
            <a:spLocks noGrp="1"/>
          </p:cNvSpPr>
          <p:nvPr>
            <p:ph type="title"/>
          </p:nvPr>
        </p:nvSpPr>
        <p:spPr>
          <a:xfrm>
            <a:off x="533400" y="353854"/>
            <a:ext cx="6347713" cy="762000"/>
          </a:xfrm>
        </p:spPr>
        <p:txBody>
          <a:bodyPr/>
          <a:lstStyle/>
          <a:p>
            <a:r>
              <a:rPr lang="en-US" dirty="0"/>
              <a:t>AIC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8DFA6D3-D498-4153-802C-FC16EC2FD7C7}"/>
                  </a:ext>
                </a:extLst>
              </p:cNvPr>
              <p:cNvSpPr>
                <a:spLocks noGrp="1"/>
              </p:cNvSpPr>
              <p:nvPr>
                <p:ph idx="1"/>
              </p:nvPr>
            </p:nvSpPr>
            <p:spPr>
              <a:xfrm>
                <a:off x="533400" y="1324708"/>
                <a:ext cx="7886700" cy="5208746"/>
              </a:xfrm>
            </p:spPr>
            <p:txBody>
              <a:bodyPr>
                <a:normAutofit lnSpcReduction="10000"/>
              </a:bodyPr>
              <a:lstStyle/>
              <a:p>
                <a:r>
                  <a:rPr lang="en-US" sz="2400" dirty="0">
                    <a:latin typeface="+mj-lt"/>
                  </a:rPr>
                  <a:t>Akaike Information Criterion (AIC) tries to balance the conflicting demands of accuracy (fit) and simplicity (small number of variables). </a:t>
                </a:r>
              </a:p>
              <a:p>
                <a:r>
                  <a:rPr lang="en-US" sz="2400" dirty="0">
                    <a:latin typeface="+mj-lt"/>
                  </a:rPr>
                  <a:t>AIC for a </a:t>
                </a:r>
                <a:r>
                  <a:rPr lang="en-US" sz="2400" i="1" dirty="0">
                    <a:latin typeface="+mj-lt"/>
                  </a:rPr>
                  <a:t>p-term </a:t>
                </a:r>
                <a:r>
                  <a:rPr lang="en-US" sz="2400" dirty="0">
                    <a:latin typeface="+mj-lt"/>
                  </a:rPr>
                  <a:t>equation (a constant, and </a:t>
                </a:r>
                <a:r>
                  <a:rPr lang="en-US" sz="2400" i="1" dirty="0">
                    <a:latin typeface="+mj-lt"/>
                  </a:rPr>
                  <a:t>p </a:t>
                </a:r>
                <a:r>
                  <a:rPr lang="en-US" sz="2400" dirty="0">
                    <a:latin typeface="+mj-lt"/>
                  </a:rPr>
                  <a:t>– 1 variables) is given by</a:t>
                </a:r>
              </a:p>
              <a:p>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𝐴𝐼𝐶</m:t>
                        </m:r>
                      </m:e>
                      <m:sub>
                        <m:r>
                          <a:rPr lang="en-US" sz="2400" b="0" i="1" smtClean="0">
                            <a:latin typeface="Cambria Math" panose="02040503050406030204" pitchFamily="18" charset="0"/>
                          </a:rPr>
                          <m:t>𝑝</m:t>
                        </m:r>
                      </m:sub>
                    </m:sSub>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𝑙𝑛</m:t>
                    </m:r>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𝑆𝑆𝐸</m:t>
                                </m:r>
                              </m:e>
                              <m:sub>
                                <m:r>
                                  <a:rPr lang="en-US" sz="2400" b="0" i="1" smtClean="0">
                                    <a:latin typeface="Cambria Math" panose="02040503050406030204" pitchFamily="18" charset="0"/>
                                  </a:rPr>
                                  <m:t>𝑝</m:t>
                                </m:r>
                              </m:sub>
                            </m:sSub>
                          </m:num>
                          <m:den>
                            <m:r>
                              <a:rPr lang="en-US" sz="2400" b="0" i="1" smtClean="0">
                                <a:latin typeface="Cambria Math" panose="02040503050406030204" pitchFamily="18" charset="0"/>
                              </a:rPr>
                              <m:t>𝑛</m:t>
                            </m:r>
                          </m:den>
                        </m:f>
                      </m:e>
                    </m:d>
                    <m:r>
                      <a:rPr lang="en-US" sz="2400" b="0" i="1" smtClean="0">
                        <a:latin typeface="Cambria Math" panose="02040503050406030204" pitchFamily="18" charset="0"/>
                      </a:rPr>
                      <m:t>+2</m:t>
                    </m:r>
                    <m:r>
                      <a:rPr lang="en-US" sz="2400" b="0" i="1" smtClean="0">
                        <a:latin typeface="Cambria Math" panose="02040503050406030204" pitchFamily="18" charset="0"/>
                      </a:rPr>
                      <m:t>𝑝</m:t>
                    </m:r>
                  </m:oMath>
                </a14:m>
                <a:endParaRPr lang="pt-BR" sz="2400" i="1" dirty="0">
                  <a:latin typeface="+mj-lt"/>
                </a:endParaRPr>
              </a:p>
              <a:p>
                <a:r>
                  <a:rPr lang="en-US" sz="2400" dirty="0">
                    <a:latin typeface="+mj-lt"/>
                  </a:rPr>
                  <a:t>The models with smaller AIC are preferred. </a:t>
                </a:r>
              </a:p>
              <a:p>
                <a:r>
                  <a:rPr lang="en-US" sz="2400" dirty="0">
                    <a:latin typeface="+mj-lt"/>
                  </a:rPr>
                  <a:t>For two models with similar SSE, AIC penalizes the model that has a larger number of variables. The numerical value of AIC for a single model is not very meaningful or descriptive. </a:t>
                </a:r>
              </a:p>
              <a:p>
                <a:r>
                  <a:rPr lang="en-US" sz="2400" dirty="0"/>
                  <a:t>This penalizes a model for having many parameters. </a:t>
                </a:r>
              </a:p>
            </p:txBody>
          </p:sp>
        </mc:Choice>
        <mc:Fallback xmlns="">
          <p:sp>
            <p:nvSpPr>
              <p:cNvPr id="3" name="Content Placeholder 2">
                <a:extLst>
                  <a:ext uri="{FF2B5EF4-FFF2-40B4-BE49-F238E27FC236}">
                    <a16:creationId xmlns:a16="http://schemas.microsoft.com/office/drawing/2014/main" id="{68DFA6D3-D498-4153-802C-FC16EC2FD7C7}"/>
                  </a:ext>
                </a:extLst>
              </p:cNvPr>
              <p:cNvSpPr>
                <a:spLocks noGrp="1" noRot="1" noChangeAspect="1" noMove="1" noResize="1" noEditPoints="1" noAdjustHandles="1" noChangeArrowheads="1" noChangeShapeType="1" noTextEdit="1"/>
              </p:cNvSpPr>
              <p:nvPr>
                <p:ph idx="1"/>
              </p:nvPr>
            </p:nvSpPr>
            <p:spPr>
              <a:xfrm>
                <a:off x="533400" y="1324708"/>
                <a:ext cx="7886700" cy="5208746"/>
              </a:xfrm>
              <a:blipFill>
                <a:blip r:embed="rId2"/>
                <a:stretch>
                  <a:fillRect l="-619" t="-1637"/>
                </a:stretch>
              </a:blipFill>
            </p:spPr>
            <p:txBody>
              <a:bodyPr/>
              <a:lstStyle/>
              <a:p>
                <a:r>
                  <a:rPr lang="en-IN">
                    <a:noFill/>
                  </a:rPr>
                  <a:t> </a:t>
                </a:r>
              </a:p>
            </p:txBody>
          </p:sp>
        </mc:Fallback>
      </mc:AlternateContent>
    </p:spTree>
    <p:extLst>
      <p:ext uri="{BB962C8B-B14F-4D97-AF65-F5344CB8AC3E}">
        <p14:creationId xmlns:p14="http://schemas.microsoft.com/office/powerpoint/2010/main" val="34172756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55571-7ECC-477A-A852-B1093854B290}"/>
              </a:ext>
            </a:extLst>
          </p:cNvPr>
          <p:cNvSpPr>
            <a:spLocks noGrp="1"/>
          </p:cNvSpPr>
          <p:nvPr>
            <p:ph type="title"/>
          </p:nvPr>
        </p:nvSpPr>
        <p:spPr>
          <a:xfrm>
            <a:off x="609599" y="165295"/>
            <a:ext cx="6347713" cy="914400"/>
          </a:xfrm>
        </p:spPr>
        <p:txBody>
          <a:bodyPr/>
          <a:lstStyle/>
          <a:p>
            <a:r>
              <a:rPr lang="en-US" dirty="0"/>
              <a:t>AIC - Advantages</a:t>
            </a:r>
          </a:p>
        </p:txBody>
      </p:sp>
      <p:sp>
        <p:nvSpPr>
          <p:cNvPr id="3" name="Content Placeholder 2">
            <a:extLst>
              <a:ext uri="{FF2B5EF4-FFF2-40B4-BE49-F238E27FC236}">
                <a16:creationId xmlns:a16="http://schemas.microsoft.com/office/drawing/2014/main" id="{F87F7AA9-6335-4713-BCDA-CE311423BF9B}"/>
              </a:ext>
            </a:extLst>
          </p:cNvPr>
          <p:cNvSpPr>
            <a:spLocks noGrp="1"/>
          </p:cNvSpPr>
          <p:nvPr>
            <p:ph idx="1"/>
          </p:nvPr>
        </p:nvSpPr>
        <p:spPr>
          <a:xfrm>
            <a:off x="609599" y="1079694"/>
            <a:ext cx="7010401" cy="5625905"/>
          </a:xfrm>
        </p:spPr>
        <p:txBody>
          <a:bodyPr>
            <a:normAutofit/>
          </a:bodyPr>
          <a:lstStyle/>
          <a:p>
            <a:r>
              <a:rPr lang="en-US" sz="2200" dirty="0"/>
              <a:t>Used to rank the models on the basis of their twin criteria of fit and simplicity. </a:t>
            </a:r>
          </a:p>
          <a:p>
            <a:r>
              <a:rPr lang="en-US" sz="2200" dirty="0"/>
              <a:t>Models with AIC not differing by 2 should be treated as equally adequate. </a:t>
            </a:r>
          </a:p>
          <a:p>
            <a:r>
              <a:rPr lang="en-US" sz="2200" dirty="0"/>
              <a:t>Larger differences indicate significant difference in quality of the models. </a:t>
            </a:r>
          </a:p>
          <a:p>
            <a:r>
              <a:rPr lang="en-US" sz="2200" dirty="0"/>
              <a:t>It allows us to compare non-nested models</a:t>
            </a:r>
          </a:p>
          <a:p>
            <a:r>
              <a:rPr lang="en-US" sz="2200" dirty="0"/>
              <a:t>Even though a simple model is farther from the true model than is a more complex model, it may be preferred because it tends to provide better estimates of certain characteristics of the true model </a:t>
            </a:r>
          </a:p>
          <a:p>
            <a:r>
              <a:rPr lang="en-US" sz="2200" dirty="0"/>
              <a:t>The optimal model is the one that tends to have fit closest to reality. </a:t>
            </a:r>
          </a:p>
        </p:txBody>
      </p:sp>
    </p:spTree>
    <p:extLst>
      <p:ext uri="{BB962C8B-B14F-4D97-AF65-F5344CB8AC3E}">
        <p14:creationId xmlns:p14="http://schemas.microsoft.com/office/powerpoint/2010/main" val="22288148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4B5A5-C71A-46E3-B937-F941FB4B69F4}"/>
              </a:ext>
            </a:extLst>
          </p:cNvPr>
          <p:cNvSpPr>
            <a:spLocks noGrp="1"/>
          </p:cNvSpPr>
          <p:nvPr>
            <p:ph type="title"/>
          </p:nvPr>
        </p:nvSpPr>
        <p:spPr>
          <a:xfrm>
            <a:off x="628650" y="405493"/>
            <a:ext cx="7372350" cy="838200"/>
          </a:xfrm>
        </p:spPr>
        <p:txBody>
          <a:bodyPr>
            <a:normAutofit/>
          </a:bodyPr>
          <a:lstStyle/>
          <a:p>
            <a:r>
              <a:rPr lang="en-US" dirty="0"/>
              <a:t>BIC (Bayes Information Criterion)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5BC697-ACF8-4996-928F-92D56777E3EA}"/>
                  </a:ext>
                </a:extLst>
              </p:cNvPr>
              <p:cNvSpPr>
                <a:spLocks noGrp="1"/>
              </p:cNvSpPr>
              <p:nvPr>
                <p:ph idx="1"/>
              </p:nvPr>
            </p:nvSpPr>
            <p:spPr>
              <a:xfrm>
                <a:off x="628650" y="1243693"/>
                <a:ext cx="7886700" cy="5208813"/>
              </a:xfrm>
            </p:spPr>
            <p:txBody>
              <a:bodyPr>
                <a:noAutofit/>
              </a:bodyPr>
              <a:lstStyle/>
              <a:p>
                <a:r>
                  <a:rPr lang="en-US" sz="2000" dirty="0"/>
                  <a:t>A modification of AIC. </a:t>
                </a:r>
              </a:p>
              <a:p>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𝐵𝐼𝐶</m:t>
                        </m:r>
                      </m:e>
                      <m:sub>
                        <m:r>
                          <a:rPr lang="en-US" sz="2000" b="0" i="1" smtClean="0">
                            <a:latin typeface="Cambria Math" panose="02040503050406030204" pitchFamily="18" charset="0"/>
                          </a:rPr>
                          <m:t>𝑝</m:t>
                        </m:r>
                      </m:sub>
                    </m:sSub>
                    <m:r>
                      <a:rPr lang="en-US" sz="2000" b="0" i="1" smtClean="0">
                        <a:latin typeface="Cambria Math" panose="02040503050406030204" pitchFamily="18" charset="0"/>
                      </a:rPr>
                      <m:t>=</m:t>
                    </m:r>
                    <m:r>
                      <a:rPr lang="en-US" sz="2000" b="0" i="1" smtClean="0">
                        <a:latin typeface="Cambria Math" panose="02040503050406030204" pitchFamily="18" charset="0"/>
                      </a:rPr>
                      <m:t>𝑛</m:t>
                    </m:r>
                    <m:r>
                      <a:rPr lang="en-US" sz="2000" b="0" i="1" smtClean="0">
                        <a:latin typeface="Cambria Math" panose="02040503050406030204" pitchFamily="18" charset="0"/>
                      </a:rPr>
                      <m:t>.</m:t>
                    </m:r>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ln</m:t>
                        </m:r>
                      </m:fName>
                      <m:e>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𝑆𝑆𝐸</m:t>
                                    </m:r>
                                  </m:e>
                                  <m:sub>
                                    <m:r>
                                      <a:rPr lang="en-US" sz="2000" b="0" i="1" smtClean="0">
                                        <a:latin typeface="Cambria Math" panose="02040503050406030204" pitchFamily="18" charset="0"/>
                                      </a:rPr>
                                      <m:t>𝑝</m:t>
                                    </m:r>
                                  </m:sub>
                                </m:sSub>
                              </m:num>
                              <m:den>
                                <m:r>
                                  <a:rPr lang="en-US" sz="2000" b="0" i="1" smtClean="0">
                                    <a:latin typeface="Cambria Math" panose="02040503050406030204" pitchFamily="18" charset="0"/>
                                  </a:rPr>
                                  <m:t>𝑛</m:t>
                                </m:r>
                              </m:den>
                            </m:f>
                          </m:e>
                        </m:d>
                      </m:e>
                    </m:func>
                    <m:r>
                      <a:rPr lang="en-US" sz="2000" b="0" i="1" smtClean="0">
                        <a:latin typeface="Cambria Math" panose="02040503050406030204" pitchFamily="18" charset="0"/>
                      </a:rPr>
                      <m:t>+</m:t>
                    </m:r>
                    <m:r>
                      <a:rPr lang="en-US" sz="2000" b="0" i="1" smtClean="0">
                        <a:latin typeface="Cambria Math" panose="02040503050406030204" pitchFamily="18" charset="0"/>
                      </a:rPr>
                      <m:t>𝑝</m:t>
                    </m:r>
                    <m:r>
                      <a:rPr lang="en-US" sz="2000" b="0" i="1" smtClean="0">
                        <a:latin typeface="Cambria Math" panose="02040503050406030204" pitchFamily="18" charset="0"/>
                      </a:rPr>
                      <m:t>.</m:t>
                    </m:r>
                    <m:r>
                      <m:rPr>
                        <m:sty m:val="p"/>
                      </m:rPr>
                      <a:rPr lang="en-US" sz="2000" b="0" i="0" smtClean="0">
                        <a:latin typeface="Cambria Math" panose="02040503050406030204" pitchFamily="18" charset="0"/>
                      </a:rPr>
                      <m:t>ln</m:t>
                    </m:r>
                    <m:r>
                      <a:rPr lang="en-US" sz="2000" b="0" i="1" smtClean="0">
                        <a:latin typeface="Cambria Math" panose="02040503050406030204" pitchFamily="18" charset="0"/>
                      </a:rPr>
                      <m:t>⁡(</m:t>
                    </m:r>
                    <m:r>
                      <a:rPr lang="en-US" sz="2000" b="0" i="1" smtClean="0">
                        <a:latin typeface="Cambria Math" panose="02040503050406030204" pitchFamily="18" charset="0"/>
                      </a:rPr>
                      <m:t>𝑛</m:t>
                    </m:r>
                    <m:r>
                      <a:rPr lang="en-US" sz="2000" b="0" i="1" smtClean="0">
                        <a:latin typeface="Cambria Math" panose="02040503050406030204" pitchFamily="18" charset="0"/>
                      </a:rPr>
                      <m:t>)</m:t>
                    </m:r>
                  </m:oMath>
                </a14:m>
                <a:endParaRPr lang="en-US" sz="2000" dirty="0"/>
              </a:p>
              <a:p>
                <a:r>
                  <a:rPr lang="en-US" sz="2000" dirty="0"/>
                  <a:t>The difference between AIC and BIC is in the severity of penalty for </a:t>
                </a:r>
                <a:r>
                  <a:rPr lang="en-US" sz="2000" i="1" dirty="0"/>
                  <a:t>p. </a:t>
                </a:r>
              </a:p>
              <a:p>
                <a:r>
                  <a:rPr lang="en-US" sz="2000" dirty="0"/>
                  <a:t>The penalty is far more severe in BIC when </a:t>
                </a:r>
                <a:r>
                  <a:rPr lang="en-US" sz="2000" i="1" dirty="0"/>
                  <a:t>n </a:t>
                </a:r>
                <a:r>
                  <a:rPr lang="en-US" sz="2000" dirty="0"/>
                  <a:t>&gt; 8. </a:t>
                </a:r>
              </a:p>
              <a:p>
                <a:r>
                  <a:rPr lang="en-US" sz="2000" dirty="0"/>
                  <a:t>This tends to control the overfitting (resulting in a choice of a larger </a:t>
                </a:r>
                <a:r>
                  <a:rPr lang="en-US" sz="2000" i="1" dirty="0"/>
                  <a:t>p) </a:t>
                </a:r>
                <a:r>
                  <a:rPr lang="en-US" sz="2000" dirty="0"/>
                  <a:t>tendency of </a:t>
                </a:r>
                <a:r>
                  <a:rPr lang="en-US" sz="2000" dirty="0" err="1"/>
                  <a:t>AlC.</a:t>
                </a:r>
                <a:r>
                  <a:rPr lang="en-US" sz="2000" dirty="0"/>
                  <a:t> </a:t>
                </a:r>
              </a:p>
              <a:p>
                <a:r>
                  <a:rPr lang="en-US" sz="2000" dirty="0"/>
                  <a:t>Another modification of AIC to avoid overfitting is the bias corrected version, AIC</a:t>
                </a:r>
                <a:r>
                  <a:rPr lang="en-US" sz="2000" baseline="-25000" dirty="0"/>
                  <a:t>c</a:t>
                </a:r>
                <a:r>
                  <a:rPr lang="en-US" sz="2000" dirty="0"/>
                  <a:t> , </a:t>
                </a:r>
              </a:p>
              <a:p>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𝐴𝐼𝐶</m:t>
                        </m:r>
                      </m:e>
                      <m:sub>
                        <m:r>
                          <a:rPr lang="en-US" sz="2000" b="0" i="1" smtClean="0">
                            <a:latin typeface="Cambria Math" panose="02040503050406030204" pitchFamily="18" charset="0"/>
                          </a:rPr>
                          <m:t>𝑐</m:t>
                        </m:r>
                      </m:sub>
                    </m:sSub>
                    <m:r>
                      <a:rPr lang="en-US" sz="2000" b="0" i="1" smtClean="0">
                        <a:latin typeface="Cambria Math" panose="02040503050406030204" pitchFamily="18" charset="0"/>
                      </a:rPr>
                      <m:t>=</m:t>
                    </m:r>
                    <m:r>
                      <a:rPr lang="en-US" sz="2000" b="0" i="1" smtClean="0">
                        <a:latin typeface="Cambria Math" panose="02040503050406030204" pitchFamily="18" charset="0"/>
                      </a:rPr>
                      <m:t>𝐴𝐼𝐶</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i="1">
                            <a:latin typeface="Cambria Math" panose="02040503050406030204" pitchFamily="18" charset="0"/>
                          </a:rPr>
                          <m:t>2(</m:t>
                        </m:r>
                        <m:r>
                          <a:rPr lang="en-US" sz="2000" i="1">
                            <a:latin typeface="Cambria Math" panose="02040503050406030204" pitchFamily="18" charset="0"/>
                          </a:rPr>
                          <m:t>𝑝</m:t>
                        </m:r>
                        <m:r>
                          <a:rPr lang="en-US" sz="2000" i="1">
                            <a:latin typeface="Cambria Math" panose="02040503050406030204" pitchFamily="18" charset="0"/>
                          </a:rPr>
                          <m:t>+2)(</m:t>
                        </m:r>
                        <m:r>
                          <a:rPr lang="en-US" sz="2000" i="1">
                            <a:latin typeface="Cambria Math" panose="02040503050406030204" pitchFamily="18" charset="0"/>
                          </a:rPr>
                          <m:t>𝑝</m:t>
                        </m:r>
                        <m:r>
                          <a:rPr lang="en-US" sz="2000" i="1">
                            <a:latin typeface="Cambria Math" panose="02040503050406030204" pitchFamily="18" charset="0"/>
                          </a:rPr>
                          <m:t>+3)</m:t>
                        </m:r>
                      </m:num>
                      <m:den>
                        <m:r>
                          <a:rPr lang="en-US" sz="2000" b="0" i="1" smtClean="0">
                            <a:latin typeface="Cambria Math" panose="02040503050406030204" pitchFamily="18" charset="0"/>
                          </a:rPr>
                          <m:t>𝑛</m:t>
                        </m:r>
                        <m:r>
                          <a:rPr lang="en-US" sz="2000" b="0" i="1" smtClean="0">
                            <a:latin typeface="Cambria Math" panose="02040503050406030204" pitchFamily="18" charset="0"/>
                          </a:rPr>
                          <m:t>−</m:t>
                        </m:r>
                        <m:r>
                          <a:rPr lang="en-US" sz="2000" b="0" i="1" smtClean="0">
                            <a:latin typeface="Cambria Math" panose="02040503050406030204" pitchFamily="18" charset="0"/>
                          </a:rPr>
                          <m:t>𝑝</m:t>
                        </m:r>
                        <m:r>
                          <a:rPr lang="en-US" sz="2000" b="0" i="1" smtClean="0">
                            <a:latin typeface="Cambria Math" panose="02040503050406030204" pitchFamily="18" charset="0"/>
                          </a:rPr>
                          <m:t>−3</m:t>
                        </m:r>
                      </m:den>
                    </m:f>
                  </m:oMath>
                </a14:m>
                <a:endParaRPr lang="en-US" sz="2000" dirty="0"/>
              </a:p>
              <a:p>
                <a:r>
                  <a:rPr lang="en-US" sz="2000" dirty="0"/>
                  <a:t>The correction to AIC is small for large </a:t>
                </a:r>
                <a:r>
                  <a:rPr lang="en-US" sz="2000" i="1" dirty="0"/>
                  <a:t>n </a:t>
                </a:r>
                <a:r>
                  <a:rPr lang="en-US" sz="2000" dirty="0"/>
                  <a:t>and moderate </a:t>
                </a:r>
                <a:r>
                  <a:rPr lang="en-US" sz="2000" i="1" dirty="0"/>
                  <a:t>p. </a:t>
                </a:r>
                <a:r>
                  <a:rPr lang="en-US" sz="2000" dirty="0"/>
                  <a:t>It is large when </a:t>
                </a:r>
                <a:r>
                  <a:rPr lang="en-US" sz="2000" i="1" dirty="0"/>
                  <a:t>n </a:t>
                </a:r>
                <a:r>
                  <a:rPr lang="en-US" sz="2000" dirty="0"/>
                  <a:t>is small and </a:t>
                </a:r>
                <a:r>
                  <a:rPr lang="en-US" sz="2000" i="1" dirty="0"/>
                  <a:t>p </a:t>
                </a:r>
                <a:r>
                  <a:rPr lang="en-US" sz="2000" dirty="0"/>
                  <a:t>large. One should never fit a large and complex model with small number of observations</a:t>
                </a:r>
              </a:p>
            </p:txBody>
          </p:sp>
        </mc:Choice>
        <mc:Fallback xmlns="">
          <p:sp>
            <p:nvSpPr>
              <p:cNvPr id="3" name="Content Placeholder 2">
                <a:extLst>
                  <a:ext uri="{FF2B5EF4-FFF2-40B4-BE49-F238E27FC236}">
                    <a16:creationId xmlns:a16="http://schemas.microsoft.com/office/drawing/2014/main" id="{335BC697-ACF8-4996-928F-92D56777E3EA}"/>
                  </a:ext>
                </a:extLst>
              </p:cNvPr>
              <p:cNvSpPr>
                <a:spLocks noGrp="1" noRot="1" noChangeAspect="1" noMove="1" noResize="1" noEditPoints="1" noAdjustHandles="1" noChangeArrowheads="1" noChangeShapeType="1" noTextEdit="1"/>
              </p:cNvSpPr>
              <p:nvPr>
                <p:ph idx="1"/>
              </p:nvPr>
            </p:nvSpPr>
            <p:spPr>
              <a:xfrm>
                <a:off x="628650" y="1243693"/>
                <a:ext cx="7886700" cy="5208813"/>
              </a:xfrm>
              <a:blipFill>
                <a:blip r:embed="rId3"/>
                <a:stretch>
                  <a:fillRect l="-309" t="-703" r="-1082" b="-3279"/>
                </a:stretch>
              </a:blipFill>
            </p:spPr>
            <p:txBody>
              <a:bodyPr/>
              <a:lstStyle/>
              <a:p>
                <a:r>
                  <a:rPr lang="en-IN">
                    <a:noFill/>
                  </a:rPr>
                  <a:t> </a:t>
                </a:r>
              </a:p>
            </p:txBody>
          </p:sp>
        </mc:Fallback>
      </mc:AlternateContent>
    </p:spTree>
    <p:extLst>
      <p:ext uri="{BB962C8B-B14F-4D97-AF65-F5344CB8AC3E}">
        <p14:creationId xmlns:p14="http://schemas.microsoft.com/office/powerpoint/2010/main" val="16462492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386" name="Rectangle 4"/>
              <p:cNvSpPr>
                <a:spLocks noGrp="1" noChangeArrowheads="1"/>
              </p:cNvSpPr>
              <p:nvPr>
                <p:ph type="title"/>
              </p:nvPr>
            </p:nvSpPr>
            <p:spPr>
              <a:xfrm>
                <a:off x="638799" y="589879"/>
                <a:ext cx="6629400" cy="628650"/>
              </a:xfrm>
            </p:spPr>
            <p:txBody>
              <a:bodyPr>
                <a:normAutofit fontScale="90000"/>
              </a:bodyPr>
              <a:lstStyle/>
              <a:p>
                <a:r>
                  <a:rPr lang="en-US" altLang="en-US" dirty="0">
                    <a:ea typeface="ＭＳ Ｐゴシック" charset="-128"/>
                  </a:rPr>
                  <a:t>Visual Interpretation of </a:t>
                </a:r>
                <a14:m>
                  <m:oMath xmlns:m="http://schemas.openxmlformats.org/officeDocument/2006/math">
                    <m:acc>
                      <m:accPr>
                        <m:chr m:val="̂"/>
                        <m:ctrlPr>
                          <a:rPr lang="en-US" altLang="en-US" i="1" smtClean="0">
                            <a:latin typeface="Cambria Math" panose="02040503050406030204" pitchFamily="18" charset="0"/>
                            <a:ea typeface="ＭＳ Ｐゴシック" charset="-128"/>
                          </a:rPr>
                        </m:ctrlPr>
                      </m:accPr>
                      <m:e>
                        <m:r>
                          <a:rPr lang="en-IN" altLang="en-US" b="0" i="1" smtClean="0">
                            <a:latin typeface="Cambria Math" panose="02040503050406030204" pitchFamily="18" charset="0"/>
                            <a:ea typeface="ＭＳ Ｐゴシック" charset="-128"/>
                          </a:rPr>
                          <m:t>𝑌</m:t>
                        </m:r>
                      </m:e>
                    </m:acc>
                    <m:r>
                      <a:rPr lang="en-IN" altLang="en-US" b="0" i="1" smtClean="0">
                        <a:latin typeface="Cambria Math" panose="02040503050406030204" pitchFamily="18" charset="0"/>
                        <a:ea typeface="ＭＳ Ｐゴシック" charset="-128"/>
                      </a:rPr>
                      <m:t> </m:t>
                    </m:r>
                    <m:r>
                      <a:rPr lang="en-IN" altLang="en-US" b="0" i="1" smtClean="0">
                        <a:latin typeface="Cambria Math" panose="02040503050406030204" pitchFamily="18" charset="0"/>
                        <a:ea typeface="ＭＳ Ｐゴシック" charset="-128"/>
                      </a:rPr>
                      <m:t>𝑎𝑛𝑑</m:t>
                    </m:r>
                    <m:r>
                      <a:rPr lang="en-IN" altLang="en-US" b="0" i="1" smtClean="0">
                        <a:latin typeface="Cambria Math" panose="02040503050406030204" pitchFamily="18" charset="0"/>
                        <a:ea typeface="ＭＳ Ｐゴシック" charset="-128"/>
                      </a:rPr>
                      <m:t> </m:t>
                    </m:r>
                    <m:sSub>
                      <m:sSubPr>
                        <m:ctrlPr>
                          <a:rPr lang="en-IN" altLang="en-US" b="0" i="1" smtClean="0">
                            <a:latin typeface="Cambria Math" panose="02040503050406030204" pitchFamily="18" charset="0"/>
                            <a:ea typeface="ＭＳ Ｐゴシック" charset="-128"/>
                          </a:rPr>
                        </m:ctrlPr>
                      </m:sSubPr>
                      <m:e>
                        <m:r>
                          <a:rPr lang="en-IN" altLang="en-US" b="0" i="1" smtClean="0">
                            <a:latin typeface="Cambria Math" panose="02040503050406030204" pitchFamily="18" charset="0"/>
                            <a:ea typeface="Cambria Math" panose="02040503050406030204" pitchFamily="18" charset="0"/>
                          </a:rPr>
                          <m:t>𝜇</m:t>
                        </m:r>
                      </m:e>
                      <m:sub>
                        <m:acc>
                          <m:accPr>
                            <m:chr m:val="̂"/>
                            <m:ctrlPr>
                              <a:rPr lang="en-IN" altLang="en-US" b="0" i="1" smtClean="0">
                                <a:latin typeface="Cambria Math" panose="02040503050406030204" pitchFamily="18" charset="0"/>
                                <a:ea typeface="ＭＳ Ｐゴシック" charset="-128"/>
                              </a:rPr>
                            </m:ctrlPr>
                          </m:accPr>
                          <m:e>
                            <m:r>
                              <a:rPr lang="en-IN" altLang="en-US" b="0" i="1" smtClean="0">
                                <a:latin typeface="Cambria Math" panose="02040503050406030204" pitchFamily="18" charset="0"/>
                                <a:ea typeface="ＭＳ Ｐゴシック" charset="-128"/>
                              </a:rPr>
                              <m:t>𝑌</m:t>
                            </m:r>
                          </m:e>
                        </m:acc>
                      </m:sub>
                    </m:sSub>
                  </m:oMath>
                </a14:m>
                <a:endParaRPr lang="en-US" altLang="en-US" dirty="0">
                  <a:ea typeface="ＭＳ Ｐゴシック" charset="-128"/>
                </a:endParaRPr>
              </a:p>
            </p:txBody>
          </p:sp>
        </mc:Choice>
        <mc:Fallback xmlns="">
          <p:sp>
            <p:nvSpPr>
              <p:cNvPr id="16386" name="Rectangle 4"/>
              <p:cNvSpPr>
                <a:spLocks noGrp="1" noRot="1" noChangeAspect="1" noMove="1" noResize="1" noEditPoints="1" noAdjustHandles="1" noChangeArrowheads="1" noChangeShapeType="1" noTextEdit="1"/>
              </p:cNvSpPr>
              <p:nvPr>
                <p:ph type="title"/>
              </p:nvPr>
            </p:nvSpPr>
            <p:spPr>
              <a:xfrm>
                <a:off x="638799" y="589879"/>
                <a:ext cx="6629400" cy="628650"/>
              </a:xfrm>
              <a:blipFill>
                <a:blip r:embed="rId3"/>
                <a:stretch>
                  <a:fillRect l="-2392" t="-10680" b="-26214"/>
                </a:stretch>
              </a:blipFill>
            </p:spPr>
            <p:txBody>
              <a:bodyPr/>
              <a:lstStyle/>
              <a:p>
                <a:r>
                  <a:rPr lang="en-IN">
                    <a:noFill/>
                  </a:rPr>
                  <a:t> </a:t>
                </a:r>
              </a:p>
            </p:txBody>
          </p:sp>
        </mc:Fallback>
      </mc:AlternateContent>
      <p:sp>
        <p:nvSpPr>
          <p:cNvPr id="16388" name="Slide Number Placeholder 5"/>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128"/>
              </a:defRPr>
            </a:lvl1pPr>
            <a:lvl2pPr marL="557213" indent="-214313" eaLnBrk="0" hangingPunct="0">
              <a:defRPr>
                <a:solidFill>
                  <a:schemeClr val="tx1"/>
                </a:solidFill>
                <a:latin typeface="Arial" charset="0"/>
                <a:ea typeface="ＭＳ Ｐゴシック" charset="-128"/>
              </a:defRPr>
            </a:lvl2pPr>
            <a:lvl3pPr marL="857250" indent="-171450" eaLnBrk="0" hangingPunct="0">
              <a:defRPr>
                <a:solidFill>
                  <a:schemeClr val="tx1"/>
                </a:solidFill>
                <a:latin typeface="Arial" charset="0"/>
                <a:ea typeface="ＭＳ Ｐゴシック" charset="-128"/>
              </a:defRPr>
            </a:lvl3pPr>
            <a:lvl4pPr marL="1200150" indent="-171450" eaLnBrk="0" hangingPunct="0">
              <a:defRPr>
                <a:solidFill>
                  <a:schemeClr val="tx1"/>
                </a:solidFill>
                <a:latin typeface="Arial" charset="0"/>
                <a:ea typeface="ＭＳ Ｐゴシック" charset="-128"/>
              </a:defRPr>
            </a:lvl4pPr>
            <a:lvl5pPr marL="1543050" indent="-171450" eaLnBrk="0" hangingPunct="0">
              <a:defRPr>
                <a:solidFill>
                  <a:schemeClr val="tx1"/>
                </a:solidFill>
                <a:latin typeface="Arial" charset="0"/>
                <a:ea typeface="ＭＳ Ｐゴシック" charset="-128"/>
              </a:defRPr>
            </a:lvl5pPr>
            <a:lvl6pPr marL="1885950" indent="-171450" eaLnBrk="0" fontAlgn="base" hangingPunct="0">
              <a:spcBef>
                <a:spcPct val="0"/>
              </a:spcBef>
              <a:spcAft>
                <a:spcPct val="0"/>
              </a:spcAft>
              <a:defRPr>
                <a:solidFill>
                  <a:schemeClr val="tx1"/>
                </a:solidFill>
                <a:latin typeface="Arial" charset="0"/>
                <a:ea typeface="ＭＳ Ｐゴシック" charset="-128"/>
              </a:defRPr>
            </a:lvl6pPr>
            <a:lvl7pPr marL="2228850" indent="-171450" eaLnBrk="0" fontAlgn="base" hangingPunct="0">
              <a:spcBef>
                <a:spcPct val="0"/>
              </a:spcBef>
              <a:spcAft>
                <a:spcPct val="0"/>
              </a:spcAft>
              <a:defRPr>
                <a:solidFill>
                  <a:schemeClr val="tx1"/>
                </a:solidFill>
                <a:latin typeface="Arial" charset="0"/>
                <a:ea typeface="ＭＳ Ｐゴシック" charset="-128"/>
              </a:defRPr>
            </a:lvl7pPr>
            <a:lvl8pPr marL="2571750" indent="-171450" eaLnBrk="0" fontAlgn="base" hangingPunct="0">
              <a:spcBef>
                <a:spcPct val="0"/>
              </a:spcBef>
              <a:spcAft>
                <a:spcPct val="0"/>
              </a:spcAft>
              <a:defRPr>
                <a:solidFill>
                  <a:schemeClr val="tx1"/>
                </a:solidFill>
                <a:latin typeface="Arial" charset="0"/>
                <a:ea typeface="ＭＳ Ｐゴシック" charset="-128"/>
              </a:defRPr>
            </a:lvl8pPr>
            <a:lvl9pPr marL="2914650" indent="-171450" eaLnBrk="0" fontAlgn="base" hangingPunct="0">
              <a:spcBef>
                <a:spcPct val="0"/>
              </a:spcBef>
              <a:spcAft>
                <a:spcPct val="0"/>
              </a:spcAft>
              <a:defRPr>
                <a:solidFill>
                  <a:schemeClr val="tx1"/>
                </a:solidFill>
                <a:latin typeface="Arial" charset="0"/>
                <a:ea typeface="ＭＳ Ｐゴシック" charset="-128"/>
              </a:defRPr>
            </a:lvl9pPr>
          </a:lstStyle>
          <a:p>
            <a:pPr eaLnBrk="1" fontAlgn="base" hangingPunct="1">
              <a:spcBef>
                <a:spcPct val="0"/>
              </a:spcBef>
              <a:spcAft>
                <a:spcPct val="0"/>
              </a:spcAft>
            </a:pPr>
            <a:fld id="{88B3D523-228C-5844-B9C8-6230110A24E8}" type="slidenum">
              <a:rPr lang="en-US" altLang="en-US">
                <a:solidFill>
                  <a:schemeClr val="bg1"/>
                </a:solidFill>
                <a:latin typeface="Calibri" charset="0"/>
              </a:rPr>
              <a:pPr eaLnBrk="1" fontAlgn="base" hangingPunct="1">
                <a:spcBef>
                  <a:spcPct val="0"/>
                </a:spcBef>
                <a:spcAft>
                  <a:spcPct val="0"/>
                </a:spcAft>
              </a:pPr>
              <a:t>21</a:t>
            </a:fld>
            <a:endParaRPr lang="en-US" altLang="en-US">
              <a:solidFill>
                <a:schemeClr val="bg1"/>
              </a:solidFill>
              <a:latin typeface="Calibri" charset="0"/>
            </a:endParaRPr>
          </a:p>
        </p:txBody>
      </p:sp>
      <p:pic>
        <p:nvPicPr>
          <p:cNvPr id="3" name="Picture 2">
            <a:extLst>
              <a:ext uri="{FF2B5EF4-FFF2-40B4-BE49-F238E27FC236}">
                <a16:creationId xmlns:a16="http://schemas.microsoft.com/office/drawing/2014/main" id="{E618B650-13AB-455B-B326-7467589950F0}"/>
              </a:ext>
            </a:extLst>
          </p:cNvPr>
          <p:cNvPicPr>
            <a:picLocks noChangeAspect="1"/>
          </p:cNvPicPr>
          <p:nvPr/>
        </p:nvPicPr>
        <p:blipFill>
          <a:blip r:embed="rId4"/>
          <a:stretch>
            <a:fillRect/>
          </a:stretch>
        </p:blipFill>
        <p:spPr>
          <a:xfrm>
            <a:off x="638799" y="2129315"/>
            <a:ext cx="8161820" cy="3325763"/>
          </a:xfrm>
          <a:prstGeom prst="rect">
            <a:avLst/>
          </a:prstGeom>
        </p:spPr>
      </p:pic>
      <mc:AlternateContent xmlns:mc="http://schemas.openxmlformats.org/markup-compatibility/2006" xmlns:a14="http://schemas.microsoft.com/office/drawing/2010/main">
        <mc:Choice Requires="a14">
          <p:sp>
            <p:nvSpPr>
              <p:cNvPr id="2" name="Rectangle 1"/>
              <p:cNvSpPr/>
              <p:nvPr/>
            </p:nvSpPr>
            <p:spPr>
              <a:xfrm>
                <a:off x="4680284" y="4767596"/>
                <a:ext cx="334842" cy="42415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en-US" sz="2100" i="1">
                              <a:latin typeface="Cambria Math" panose="02040503050406030204" pitchFamily="18" charset="0"/>
                              <a:ea typeface="ＭＳ Ｐゴシック" charset="-128"/>
                            </a:rPr>
                          </m:ctrlPr>
                        </m:accPr>
                        <m:e>
                          <m:r>
                            <a:rPr lang="en-IN" altLang="en-US" sz="2100" i="1">
                              <a:latin typeface="Cambria Math" panose="02040503050406030204" pitchFamily="18" charset="0"/>
                              <a:ea typeface="ＭＳ Ｐゴシック" charset="-128"/>
                            </a:rPr>
                            <m:t>𝑌</m:t>
                          </m:r>
                        </m:e>
                      </m:acc>
                    </m:oMath>
                  </m:oMathPara>
                </a14:m>
                <a:endParaRPr lang="en-IN" sz="2100" dirty="0"/>
              </a:p>
            </p:txBody>
          </p:sp>
        </mc:Choice>
        <mc:Fallback xmlns="">
          <p:sp>
            <p:nvSpPr>
              <p:cNvPr id="2" name="Rectangle 1"/>
              <p:cNvSpPr>
                <a:spLocks noRot="1" noChangeAspect="1" noMove="1" noResize="1" noEditPoints="1" noAdjustHandles="1" noChangeArrowheads="1" noChangeShapeType="1" noTextEdit="1"/>
              </p:cNvSpPr>
              <p:nvPr/>
            </p:nvSpPr>
            <p:spPr>
              <a:xfrm>
                <a:off x="4680284" y="4767596"/>
                <a:ext cx="334842" cy="424155"/>
              </a:xfrm>
              <a:prstGeom prst="rect">
                <a:avLst/>
              </a:prstGeom>
              <a:blipFill>
                <a:blip r:embed="rId5"/>
                <a:stretch>
                  <a:fillRect l="-1818" t="-7143" r="-9091"/>
                </a:stretch>
              </a:blipFill>
            </p:spPr>
            <p:txBody>
              <a:bodyPr/>
              <a:lstStyle/>
              <a:p>
                <a:r>
                  <a:rPr lang="en-IN">
                    <a:noFill/>
                  </a:rPr>
                  <a:t> </a:t>
                </a:r>
              </a:p>
            </p:txBody>
          </p:sp>
        </mc:Fallback>
      </mc:AlternateContent>
      <p:sp>
        <p:nvSpPr>
          <p:cNvPr id="4" name="Oval 3"/>
          <p:cNvSpPr/>
          <p:nvPr/>
        </p:nvSpPr>
        <p:spPr>
          <a:xfrm>
            <a:off x="4426714" y="4189998"/>
            <a:ext cx="121223" cy="842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5" name="TextBox 4"/>
          <p:cNvSpPr txBox="1"/>
          <p:nvPr/>
        </p:nvSpPr>
        <p:spPr>
          <a:xfrm>
            <a:off x="5991726" y="5178079"/>
            <a:ext cx="397042" cy="300082"/>
          </a:xfrm>
          <a:prstGeom prst="rect">
            <a:avLst/>
          </a:prstGeom>
          <a:noFill/>
        </p:spPr>
        <p:txBody>
          <a:bodyPr wrap="square" rtlCol="0">
            <a:spAutoFit/>
          </a:bodyPr>
          <a:lstStyle/>
          <a:p>
            <a:r>
              <a:rPr lang="en-IN" sz="1350" dirty="0"/>
              <a:t>X</a:t>
            </a:r>
            <a:r>
              <a:rPr lang="en-IN" sz="1350" baseline="-25000" dirty="0"/>
              <a:t>0</a:t>
            </a:r>
          </a:p>
        </p:txBody>
      </p:sp>
      <p:cxnSp>
        <p:nvCxnSpPr>
          <p:cNvPr id="7" name="Curved Connector 6"/>
          <p:cNvCxnSpPr/>
          <p:nvPr/>
        </p:nvCxnSpPr>
        <p:spPr>
          <a:xfrm rot="16200000" flipH="1">
            <a:off x="4379000" y="4321933"/>
            <a:ext cx="493377" cy="39794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3079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500"/>
                                        <p:tgtEl>
                                          <p:spTgt spid="7"/>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down)">
                                      <p:cBhvr>
                                        <p:cTn id="1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41521"/>
            <a:ext cx="6683765" cy="565447"/>
          </a:xfrm>
        </p:spPr>
        <p:txBody>
          <a:bodyPr>
            <a:normAutofit fontScale="90000"/>
          </a:bodyPr>
          <a:lstStyle/>
          <a:p>
            <a:r>
              <a:rPr lang="en-IN" dirty="0"/>
              <a:t>Confidence Intervals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572415"/>
                <a:ext cx="6686550" cy="4844064"/>
              </a:xfrm>
            </p:spPr>
            <p:txBody>
              <a:bodyPr>
                <a:normAutofit/>
              </a:bodyPr>
              <a:lstStyle/>
              <a:p>
                <a:r>
                  <a:rPr lang="en-IN" sz="2400" dirty="0"/>
                  <a:t>CI for </a:t>
                </a:r>
                <a14:m>
                  <m:oMath xmlns:m="http://schemas.openxmlformats.org/officeDocument/2006/math">
                    <m:acc>
                      <m:accPr>
                        <m:chr m:val="̂"/>
                        <m:ctrlPr>
                          <a:rPr lang="en-IN" sz="2400" i="1">
                            <a:latin typeface="Cambria Math" panose="02040503050406030204" pitchFamily="18" charset="0"/>
                          </a:rPr>
                        </m:ctrlPr>
                      </m:accPr>
                      <m:e>
                        <m:r>
                          <a:rPr lang="en-IN" sz="2400" i="1">
                            <a:latin typeface="Cambria Math" panose="02040503050406030204" pitchFamily="18" charset="0"/>
                          </a:rPr>
                          <m:t>𝑌</m:t>
                        </m:r>
                      </m:e>
                    </m:acc>
                  </m:oMath>
                </a14:m>
                <a:r>
                  <a:rPr lang="en-IN" sz="2400" dirty="0"/>
                  <a:t> as an individual prediction</a:t>
                </a:r>
              </a:p>
              <a:p>
                <a14:m>
                  <m:oMath xmlns:m="http://schemas.openxmlformats.org/officeDocument/2006/math">
                    <m:acc>
                      <m:accPr>
                        <m:chr m:val="̂"/>
                        <m:ctrlPr>
                          <a:rPr lang="en-IN" sz="2400" i="1">
                            <a:latin typeface="Cambria Math" panose="02040503050406030204" pitchFamily="18" charset="0"/>
                          </a:rPr>
                        </m:ctrlPr>
                      </m:accPr>
                      <m:e>
                        <m:r>
                          <a:rPr lang="en-IN" sz="2400" i="1">
                            <a:latin typeface="Cambria Math" panose="02040503050406030204" pitchFamily="18" charset="0"/>
                          </a:rPr>
                          <m:t>𝑌</m:t>
                        </m:r>
                      </m:e>
                    </m:acc>
                    <m:r>
                      <a:rPr lang="en-IN" sz="2400" i="1">
                        <a:latin typeface="Cambria Math" panose="02040503050406030204" pitchFamily="18" charset="0"/>
                        <a:ea typeface="Cambria Math" panose="02040503050406030204" pitchFamily="18" charset="0"/>
                      </a:rPr>
                      <m:t>±</m:t>
                    </m:r>
                    <m:sSub>
                      <m:sSubPr>
                        <m:ctrlPr>
                          <a:rPr lang="en-IN" sz="2400" i="1">
                            <a:latin typeface="Cambria Math" panose="02040503050406030204" pitchFamily="18" charset="0"/>
                            <a:ea typeface="Cambria Math" panose="02040503050406030204" pitchFamily="18" charset="0"/>
                          </a:rPr>
                        </m:ctrlPr>
                      </m:sSubPr>
                      <m:e>
                        <m:r>
                          <a:rPr lang="en-IN" sz="2400" i="1">
                            <a:latin typeface="Cambria Math" panose="02040503050406030204" pitchFamily="18" charset="0"/>
                            <a:ea typeface="Cambria Math" panose="02040503050406030204" pitchFamily="18" charset="0"/>
                          </a:rPr>
                          <m:t>𝑡</m:t>
                        </m:r>
                      </m:e>
                      <m:sub>
                        <m:f>
                          <m:fPr>
                            <m:type m:val="skw"/>
                            <m:ctrlPr>
                              <a:rPr lang="en-IN" sz="2400" i="1">
                                <a:latin typeface="Cambria Math" panose="02040503050406030204" pitchFamily="18" charset="0"/>
                                <a:ea typeface="Cambria Math" panose="02040503050406030204" pitchFamily="18" charset="0"/>
                              </a:rPr>
                            </m:ctrlPr>
                          </m:fPr>
                          <m:num>
                            <m:r>
                              <a:rPr lang="en-IN" sz="2400" i="1">
                                <a:latin typeface="Cambria Math" panose="02040503050406030204" pitchFamily="18" charset="0"/>
                                <a:ea typeface="Cambria Math" panose="02040503050406030204" pitchFamily="18" charset="0"/>
                              </a:rPr>
                              <m:t>𝛼</m:t>
                            </m:r>
                          </m:num>
                          <m:den>
                            <m:r>
                              <a:rPr lang="en-IN" sz="2400" i="1">
                                <a:latin typeface="Cambria Math" panose="02040503050406030204" pitchFamily="18" charset="0"/>
                                <a:ea typeface="Cambria Math" panose="02040503050406030204" pitchFamily="18" charset="0"/>
                              </a:rPr>
                              <m:t>2</m:t>
                            </m:r>
                          </m:den>
                        </m:f>
                        <m:r>
                          <a:rPr lang="en-IN" sz="2400" i="1">
                            <a:latin typeface="Cambria Math" panose="02040503050406030204" pitchFamily="18" charset="0"/>
                            <a:ea typeface="Cambria Math" panose="02040503050406030204" pitchFamily="18" charset="0"/>
                          </a:rPr>
                          <m:t>,</m:t>
                        </m:r>
                        <m:r>
                          <a:rPr lang="en-IN" sz="2400" i="1">
                            <a:latin typeface="Cambria Math" panose="02040503050406030204" pitchFamily="18" charset="0"/>
                            <a:ea typeface="Cambria Math" panose="02040503050406030204" pitchFamily="18" charset="0"/>
                          </a:rPr>
                          <m:t>𝑑𝑓</m:t>
                        </m:r>
                      </m:sub>
                    </m:sSub>
                    <m:r>
                      <a:rPr lang="en-IN" sz="2400" i="1">
                        <a:latin typeface="Cambria Math" panose="02040503050406030204" pitchFamily="18" charset="0"/>
                        <a:ea typeface="Cambria Math" panose="02040503050406030204" pitchFamily="18" charset="0"/>
                      </a:rPr>
                      <m:t>.</m:t>
                    </m:r>
                    <m:r>
                      <a:rPr lang="en-IN" sz="2400" i="1">
                        <a:latin typeface="Cambria Math" panose="02040503050406030204" pitchFamily="18" charset="0"/>
                        <a:ea typeface="Cambria Math" panose="02040503050406030204" pitchFamily="18" charset="0"/>
                      </a:rPr>
                      <m:t>𝑅𝑀𝑆𝐸</m:t>
                    </m:r>
                    <m:rad>
                      <m:radPr>
                        <m:degHide m:val="on"/>
                        <m:ctrlPr>
                          <a:rPr lang="en-IN" sz="2400" i="1">
                            <a:latin typeface="Cambria Math" panose="02040503050406030204" pitchFamily="18" charset="0"/>
                            <a:ea typeface="Cambria Math" panose="02040503050406030204" pitchFamily="18" charset="0"/>
                          </a:rPr>
                        </m:ctrlPr>
                      </m:radPr>
                      <m:deg/>
                      <m:e>
                        <m:r>
                          <a:rPr lang="en-IN" sz="2400" i="1">
                            <a:latin typeface="Cambria Math" panose="02040503050406030204" pitchFamily="18" charset="0"/>
                            <a:ea typeface="Cambria Math" panose="02040503050406030204" pitchFamily="18" charset="0"/>
                          </a:rPr>
                          <m:t>(1+</m:t>
                        </m:r>
                        <m:f>
                          <m:fPr>
                            <m:ctrlPr>
                              <a:rPr lang="en-IN" sz="2400" i="1">
                                <a:latin typeface="Cambria Math" panose="02040503050406030204" pitchFamily="18" charset="0"/>
                                <a:ea typeface="Cambria Math" panose="02040503050406030204" pitchFamily="18" charset="0"/>
                              </a:rPr>
                            </m:ctrlPr>
                          </m:fPr>
                          <m:num>
                            <m:r>
                              <a:rPr lang="en-IN" sz="2400" i="1">
                                <a:latin typeface="Cambria Math" panose="02040503050406030204" pitchFamily="18" charset="0"/>
                                <a:ea typeface="Cambria Math" panose="02040503050406030204" pitchFamily="18" charset="0"/>
                              </a:rPr>
                              <m:t>1</m:t>
                            </m:r>
                          </m:num>
                          <m:den>
                            <m:r>
                              <a:rPr lang="en-IN" sz="2400" i="1">
                                <a:latin typeface="Cambria Math" panose="02040503050406030204" pitchFamily="18" charset="0"/>
                                <a:ea typeface="Cambria Math" panose="02040503050406030204" pitchFamily="18" charset="0"/>
                              </a:rPr>
                              <m:t>𝑛</m:t>
                            </m:r>
                          </m:den>
                        </m:f>
                        <m:r>
                          <a:rPr lang="en-IN" sz="2400" i="1">
                            <a:latin typeface="Cambria Math" panose="02040503050406030204" pitchFamily="18" charset="0"/>
                            <a:ea typeface="Cambria Math" panose="02040503050406030204" pitchFamily="18" charset="0"/>
                          </a:rPr>
                          <m:t>+</m:t>
                        </m:r>
                        <m:f>
                          <m:fPr>
                            <m:ctrlPr>
                              <a:rPr lang="en-IN" sz="2400" i="1">
                                <a:latin typeface="Cambria Math" panose="02040503050406030204" pitchFamily="18" charset="0"/>
                                <a:ea typeface="Cambria Math" panose="02040503050406030204" pitchFamily="18" charset="0"/>
                              </a:rPr>
                            </m:ctrlPr>
                          </m:fPr>
                          <m:num>
                            <m:sSup>
                              <m:sSupPr>
                                <m:ctrlPr>
                                  <a:rPr lang="en-IN" sz="2400" i="1">
                                    <a:latin typeface="Cambria Math" panose="02040503050406030204" pitchFamily="18" charset="0"/>
                                    <a:ea typeface="Cambria Math" panose="02040503050406030204" pitchFamily="18" charset="0"/>
                                  </a:rPr>
                                </m:ctrlPr>
                              </m:sSupPr>
                              <m:e>
                                <m:r>
                                  <a:rPr lang="en-IN" sz="2400" i="1">
                                    <a:latin typeface="Cambria Math" panose="02040503050406030204" pitchFamily="18" charset="0"/>
                                    <a:ea typeface="Cambria Math" panose="02040503050406030204" pitchFamily="18" charset="0"/>
                                  </a:rPr>
                                  <m:t>(</m:t>
                                </m:r>
                                <m:sSub>
                                  <m:sSubPr>
                                    <m:ctrlPr>
                                      <a:rPr lang="en-IN" sz="2400" i="1">
                                        <a:latin typeface="Cambria Math" panose="02040503050406030204" pitchFamily="18" charset="0"/>
                                        <a:ea typeface="Cambria Math" panose="02040503050406030204" pitchFamily="18" charset="0"/>
                                      </a:rPr>
                                    </m:ctrlPr>
                                  </m:sSubPr>
                                  <m:e>
                                    <m:r>
                                      <a:rPr lang="en-IN" sz="2400" i="1">
                                        <a:latin typeface="Cambria Math" panose="02040503050406030204" pitchFamily="18" charset="0"/>
                                        <a:ea typeface="Cambria Math" panose="02040503050406030204" pitchFamily="18" charset="0"/>
                                      </a:rPr>
                                      <m:t>𝑋</m:t>
                                    </m:r>
                                  </m:e>
                                  <m:sub>
                                    <m:r>
                                      <a:rPr lang="en-IN" sz="2400" i="1">
                                        <a:latin typeface="Cambria Math" panose="02040503050406030204" pitchFamily="18" charset="0"/>
                                        <a:ea typeface="Cambria Math" panose="02040503050406030204" pitchFamily="18" charset="0"/>
                                      </a:rPr>
                                      <m:t>0</m:t>
                                    </m:r>
                                  </m:sub>
                                </m:sSub>
                                <m:r>
                                  <a:rPr lang="en-IN" sz="2400" i="1">
                                    <a:latin typeface="Cambria Math" panose="02040503050406030204" pitchFamily="18" charset="0"/>
                                    <a:ea typeface="Cambria Math" panose="02040503050406030204" pitchFamily="18" charset="0"/>
                                  </a:rPr>
                                  <m:t>−</m:t>
                                </m:r>
                                <m:acc>
                                  <m:accPr>
                                    <m:chr m:val="̅"/>
                                    <m:ctrlPr>
                                      <a:rPr lang="en-IN" sz="2400" i="1">
                                        <a:latin typeface="Cambria Math" panose="02040503050406030204" pitchFamily="18" charset="0"/>
                                        <a:ea typeface="Cambria Math" panose="02040503050406030204" pitchFamily="18" charset="0"/>
                                      </a:rPr>
                                    </m:ctrlPr>
                                  </m:accPr>
                                  <m:e>
                                    <m:r>
                                      <a:rPr lang="en-IN" sz="2400" i="1">
                                        <a:latin typeface="Cambria Math" panose="02040503050406030204" pitchFamily="18" charset="0"/>
                                        <a:ea typeface="Cambria Math" panose="02040503050406030204" pitchFamily="18" charset="0"/>
                                      </a:rPr>
                                      <m:t>𝑋</m:t>
                                    </m:r>
                                  </m:e>
                                </m:acc>
                                <m:r>
                                  <a:rPr lang="en-IN" sz="2400" i="1">
                                    <a:latin typeface="Cambria Math" panose="02040503050406030204" pitchFamily="18" charset="0"/>
                                  </a:rPr>
                                  <m:t>)</m:t>
                                </m:r>
                              </m:e>
                              <m:sup>
                                <m:r>
                                  <a:rPr lang="en-IN" sz="2400" i="1">
                                    <a:latin typeface="Cambria Math" panose="02040503050406030204" pitchFamily="18" charset="0"/>
                                    <a:ea typeface="Cambria Math" panose="02040503050406030204" pitchFamily="18" charset="0"/>
                                  </a:rPr>
                                  <m:t>2</m:t>
                                </m:r>
                              </m:sup>
                            </m:sSup>
                          </m:num>
                          <m:den>
                            <m:nary>
                              <m:naryPr>
                                <m:chr m:val="∑"/>
                                <m:ctrlPr>
                                  <a:rPr lang="en-IN" sz="2400" i="1">
                                    <a:latin typeface="Cambria Math" panose="02040503050406030204" pitchFamily="18" charset="0"/>
                                    <a:ea typeface="Cambria Math" panose="02040503050406030204" pitchFamily="18" charset="0"/>
                                  </a:rPr>
                                </m:ctrlPr>
                              </m:naryPr>
                              <m:sub>
                                <m:r>
                                  <m:rPr>
                                    <m:brk m:alnAt="23"/>
                                  </m:rPr>
                                  <a:rPr lang="en-IN" sz="2400" i="1">
                                    <a:latin typeface="Cambria Math" panose="02040503050406030204" pitchFamily="18" charset="0"/>
                                    <a:ea typeface="Cambria Math" panose="02040503050406030204" pitchFamily="18" charset="0"/>
                                  </a:rPr>
                                  <m:t>𝑖</m:t>
                                </m:r>
                                <m:r>
                                  <a:rPr lang="en-IN" sz="2400" i="1">
                                    <a:latin typeface="Cambria Math" panose="02040503050406030204" pitchFamily="18" charset="0"/>
                                    <a:ea typeface="Cambria Math" panose="02040503050406030204" pitchFamily="18" charset="0"/>
                                  </a:rPr>
                                  <m:t>=1</m:t>
                                </m:r>
                              </m:sub>
                              <m:sup>
                                <m:r>
                                  <a:rPr lang="en-IN" sz="2400" i="1">
                                    <a:latin typeface="Cambria Math" panose="02040503050406030204" pitchFamily="18" charset="0"/>
                                    <a:ea typeface="Cambria Math" panose="02040503050406030204" pitchFamily="18" charset="0"/>
                                  </a:rPr>
                                  <m:t>𝑛</m:t>
                                </m:r>
                              </m:sup>
                              <m:e>
                                <m:sSup>
                                  <m:sSupPr>
                                    <m:ctrlPr>
                                      <a:rPr lang="en-IN" sz="2400" i="1">
                                        <a:latin typeface="Cambria Math" panose="02040503050406030204" pitchFamily="18" charset="0"/>
                                        <a:ea typeface="Cambria Math" panose="02040503050406030204" pitchFamily="18" charset="0"/>
                                      </a:rPr>
                                    </m:ctrlPr>
                                  </m:sSupPr>
                                  <m:e>
                                    <m:d>
                                      <m:dPr>
                                        <m:ctrlPr>
                                          <a:rPr lang="en-IN" sz="2400" i="1">
                                            <a:latin typeface="Cambria Math" panose="02040503050406030204" pitchFamily="18" charset="0"/>
                                            <a:ea typeface="Cambria Math" panose="02040503050406030204" pitchFamily="18" charset="0"/>
                                          </a:rPr>
                                        </m:ctrlPr>
                                      </m:dPr>
                                      <m:e>
                                        <m:sSub>
                                          <m:sSubPr>
                                            <m:ctrlPr>
                                              <a:rPr lang="en-IN" sz="2400" i="1">
                                                <a:latin typeface="Cambria Math" panose="02040503050406030204" pitchFamily="18" charset="0"/>
                                                <a:ea typeface="Cambria Math" panose="02040503050406030204" pitchFamily="18" charset="0"/>
                                              </a:rPr>
                                            </m:ctrlPr>
                                          </m:sSubPr>
                                          <m:e>
                                            <m:r>
                                              <a:rPr lang="en-IN" sz="2400" i="1">
                                                <a:latin typeface="Cambria Math" panose="02040503050406030204" pitchFamily="18" charset="0"/>
                                                <a:ea typeface="Cambria Math" panose="02040503050406030204" pitchFamily="18" charset="0"/>
                                              </a:rPr>
                                              <m:t>𝑋</m:t>
                                            </m:r>
                                          </m:e>
                                          <m:sub>
                                            <m:r>
                                              <a:rPr lang="en-IN" sz="2400" i="1">
                                                <a:latin typeface="Cambria Math" panose="02040503050406030204" pitchFamily="18" charset="0"/>
                                                <a:ea typeface="Cambria Math" panose="02040503050406030204" pitchFamily="18" charset="0"/>
                                              </a:rPr>
                                              <m:t>𝑖</m:t>
                                            </m:r>
                                          </m:sub>
                                        </m:sSub>
                                        <m:r>
                                          <a:rPr lang="en-IN" sz="2400" i="1">
                                            <a:latin typeface="Cambria Math" panose="02040503050406030204" pitchFamily="18" charset="0"/>
                                            <a:ea typeface="Cambria Math" panose="02040503050406030204" pitchFamily="18" charset="0"/>
                                          </a:rPr>
                                          <m:t>−</m:t>
                                        </m:r>
                                        <m:acc>
                                          <m:accPr>
                                            <m:chr m:val="̅"/>
                                            <m:ctrlPr>
                                              <a:rPr lang="en-IN" sz="2400" i="1">
                                                <a:latin typeface="Cambria Math" panose="02040503050406030204" pitchFamily="18" charset="0"/>
                                                <a:ea typeface="Cambria Math" panose="02040503050406030204" pitchFamily="18" charset="0"/>
                                              </a:rPr>
                                            </m:ctrlPr>
                                          </m:accPr>
                                          <m:e>
                                            <m:r>
                                              <a:rPr lang="en-IN" sz="2400" i="1">
                                                <a:latin typeface="Cambria Math" panose="02040503050406030204" pitchFamily="18" charset="0"/>
                                                <a:ea typeface="Cambria Math" panose="02040503050406030204" pitchFamily="18" charset="0"/>
                                              </a:rPr>
                                              <m:t>𝑋</m:t>
                                            </m:r>
                                          </m:e>
                                        </m:acc>
                                      </m:e>
                                    </m:d>
                                  </m:e>
                                  <m:sup>
                                    <m:r>
                                      <a:rPr lang="en-IN" sz="2400" i="1">
                                        <a:latin typeface="Cambria Math" panose="02040503050406030204" pitchFamily="18" charset="0"/>
                                        <a:ea typeface="Cambria Math" panose="02040503050406030204" pitchFamily="18" charset="0"/>
                                      </a:rPr>
                                      <m:t>2</m:t>
                                    </m:r>
                                  </m:sup>
                                </m:sSup>
                              </m:e>
                            </m:nary>
                          </m:den>
                        </m:f>
                      </m:e>
                    </m:rad>
                    <m:r>
                      <a:rPr lang="en-IN" sz="2400" i="1">
                        <a:latin typeface="Cambria Math" panose="02040503050406030204" pitchFamily="18" charset="0"/>
                        <a:ea typeface="Cambria Math" panose="02040503050406030204" pitchFamily="18" charset="0"/>
                      </a:rPr>
                      <m:t>)</m:t>
                    </m:r>
                  </m:oMath>
                </a14:m>
                <a:endParaRPr lang="en-IN" sz="2400" dirty="0"/>
              </a:p>
              <a:p>
                <a:endParaRPr lang="en-IN" sz="2400" dirty="0"/>
              </a:p>
              <a:p>
                <a:endParaRPr lang="en-IN" sz="2400" dirty="0"/>
              </a:p>
              <a:p>
                <a:r>
                  <a:rPr lang="en-IN" sz="2400" dirty="0"/>
                  <a:t>Approximation (</a:t>
                </a:r>
                <a:r>
                  <a:rPr lang="en-IN" sz="2400" dirty="0">
                    <a:solidFill>
                      <a:srgbClr val="FF0000"/>
                    </a:solidFill>
                  </a:rPr>
                  <a:t>only as an exception</a:t>
                </a:r>
                <a:r>
                  <a:rPr lang="en-IN" sz="2400" dirty="0"/>
                  <a:t>)</a:t>
                </a:r>
              </a:p>
              <a:p>
                <a14:m>
                  <m:oMath xmlns:m="http://schemas.openxmlformats.org/officeDocument/2006/math">
                    <m:acc>
                      <m:accPr>
                        <m:chr m:val="̂"/>
                        <m:ctrlPr>
                          <a:rPr lang="en-US" sz="2400" i="1">
                            <a:latin typeface="Cambria Math" panose="02040503050406030204" pitchFamily="18" charset="0"/>
                          </a:rPr>
                        </m:ctrlPr>
                      </m:accPr>
                      <m:e>
                        <m:r>
                          <a:rPr lang="en-IN" sz="2400" i="1">
                            <a:latin typeface="Cambria Math" panose="02040503050406030204" pitchFamily="18" charset="0"/>
                          </a:rPr>
                          <m:t>𝑌</m:t>
                        </m:r>
                      </m:e>
                    </m:acc>
                    <m:r>
                      <a:rPr lang="en-US" sz="2400" i="1">
                        <a:latin typeface="Cambria Math" panose="02040503050406030204" pitchFamily="18" charset="0"/>
                        <a:ea typeface="Cambria Math" panose="02040503050406030204" pitchFamily="18" charset="0"/>
                      </a:rPr>
                      <m:t>±</m:t>
                    </m:r>
                    <m:r>
                      <a:rPr lang="en-IN" sz="2400" i="1">
                        <a:latin typeface="Cambria Math" panose="02040503050406030204" pitchFamily="18" charset="0"/>
                        <a:ea typeface="Cambria Math" panose="02040503050406030204" pitchFamily="18" charset="0"/>
                      </a:rPr>
                      <m:t>2(</m:t>
                    </m:r>
                    <m:r>
                      <a:rPr lang="en-IN" sz="2400" i="1">
                        <a:latin typeface="Cambria Math" panose="02040503050406030204" pitchFamily="18" charset="0"/>
                        <a:ea typeface="Cambria Math" panose="02040503050406030204" pitchFamily="18" charset="0"/>
                      </a:rPr>
                      <m:t>𝑅𝑀𝑆𝐸</m:t>
                    </m:r>
                    <m:r>
                      <a:rPr lang="en-IN" sz="2400" i="1">
                        <a:latin typeface="Cambria Math" panose="02040503050406030204" pitchFamily="18" charset="0"/>
                        <a:ea typeface="Cambria Math" panose="02040503050406030204" pitchFamily="18" charset="0"/>
                      </a:rPr>
                      <m:t>)</m:t>
                    </m:r>
                  </m:oMath>
                </a14:m>
                <a:endParaRPr lang="en-US" sz="24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1572415"/>
                <a:ext cx="6686550" cy="4844064"/>
              </a:xfrm>
              <a:blipFill>
                <a:blip r:embed="rId2"/>
                <a:stretch>
                  <a:fillRect l="-730" t="-881"/>
                </a:stretch>
              </a:blipFill>
            </p:spPr>
            <p:txBody>
              <a:bodyPr/>
              <a:lstStyle/>
              <a:p>
                <a:r>
                  <a:rPr lang="en-IN">
                    <a:noFill/>
                  </a:rPr>
                  <a:t> </a:t>
                </a:r>
              </a:p>
            </p:txBody>
          </p:sp>
        </mc:Fallback>
      </mc:AlternateContent>
    </p:spTree>
    <p:extLst>
      <p:ext uri="{BB962C8B-B14F-4D97-AF65-F5344CB8AC3E}">
        <p14:creationId xmlns:p14="http://schemas.microsoft.com/office/powerpoint/2010/main" val="2845225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8712" y="152400"/>
            <a:ext cx="6347713" cy="838200"/>
          </a:xfrm>
        </p:spPr>
        <p:txBody>
          <a:bodyPr/>
          <a:lstStyle/>
          <a:p>
            <a:r>
              <a:rPr lang="en-IN" dirty="0"/>
              <a:t>Confidence Intervals</a:t>
            </a:r>
          </a:p>
        </p:txBody>
      </p:sp>
      <p:sp>
        <p:nvSpPr>
          <p:cNvPr id="3" name="Content Placeholder 2"/>
          <p:cNvSpPr>
            <a:spLocks noGrp="1"/>
          </p:cNvSpPr>
          <p:nvPr>
            <p:ph idx="1"/>
          </p:nvPr>
        </p:nvSpPr>
        <p:spPr>
          <a:xfrm>
            <a:off x="304800" y="816440"/>
            <a:ext cx="8240488" cy="2121552"/>
          </a:xfrm>
          <a:solidFill>
            <a:schemeClr val="bg1"/>
          </a:solidFill>
        </p:spPr>
        <p:txBody>
          <a:bodyPr>
            <a:normAutofit lnSpcReduction="10000"/>
          </a:bodyPr>
          <a:lstStyle/>
          <a:p>
            <a:r>
              <a:rPr lang="en-US" altLang="en-US" sz="2400" dirty="0">
                <a:solidFill>
                  <a:srgbClr val="0000FF"/>
                </a:solidFill>
                <a:ea typeface="ＭＳ Ｐゴシック" charset="-128"/>
              </a:rPr>
              <a:t>Confidence intervals </a:t>
            </a:r>
            <a:r>
              <a:rPr lang="en-US" altLang="en-US" sz="2400" dirty="0">
                <a:ea typeface="ＭＳ Ｐゴシック" charset="-128"/>
              </a:rPr>
              <a:t>are narrower near the mean of the predictor and when the sample size is very large the sampling variation in b</a:t>
            </a:r>
            <a:r>
              <a:rPr lang="en-US" altLang="en-US" sz="2400" baseline="-25000" dirty="0">
                <a:ea typeface="ＭＳ Ｐゴシック" charset="-128"/>
              </a:rPr>
              <a:t>0</a:t>
            </a:r>
            <a:r>
              <a:rPr lang="en-US" altLang="en-US" sz="2400" dirty="0">
                <a:ea typeface="ＭＳ Ｐゴシック" charset="-128"/>
              </a:rPr>
              <a:t> and b</a:t>
            </a:r>
            <a:r>
              <a:rPr lang="en-US" altLang="en-US" sz="2400" baseline="-25000" dirty="0">
                <a:ea typeface="ＭＳ Ｐゴシック" charset="-128"/>
              </a:rPr>
              <a:t>1</a:t>
            </a:r>
            <a:r>
              <a:rPr lang="en-US" altLang="en-US" sz="2400" dirty="0">
                <a:ea typeface="ＭＳ Ｐゴシック" charset="-128"/>
              </a:rPr>
              <a:t> are expected to be low</a:t>
            </a:r>
          </a:p>
          <a:p>
            <a:pPr>
              <a:spcBef>
                <a:spcPts val="1800"/>
              </a:spcBef>
            </a:pPr>
            <a:r>
              <a:rPr lang="en-US" altLang="en-US" sz="2400" dirty="0">
                <a:ea typeface="ＭＳ Ｐゴシック" charset="-128"/>
              </a:rPr>
              <a:t>However, no matter how large the sample size is, there is always an error in </a:t>
            </a:r>
            <a:r>
              <a:rPr lang="en-US" altLang="en-US" sz="2400" dirty="0">
                <a:solidFill>
                  <a:srgbClr val="0000FF"/>
                </a:solidFill>
                <a:ea typeface="ＭＳ Ｐゴシック" charset="-128"/>
              </a:rPr>
              <a:t>prediction intervals</a:t>
            </a:r>
            <a:endParaRPr lang="en-US" altLang="en-US" sz="2400" dirty="0">
              <a:ea typeface="ＭＳ Ｐゴシック" charset="-128"/>
            </a:endParaRPr>
          </a:p>
        </p:txBody>
      </p:sp>
      <p:cxnSp>
        <p:nvCxnSpPr>
          <p:cNvPr id="5" name="Straight Connector 4">
            <a:extLst>
              <a:ext uri="{FF2B5EF4-FFF2-40B4-BE49-F238E27FC236}">
                <a16:creationId xmlns:a16="http://schemas.microsoft.com/office/drawing/2014/main" id="{0B589AA5-8E16-4453-BFB7-E9901A422370}"/>
              </a:ext>
            </a:extLst>
          </p:cNvPr>
          <p:cNvCxnSpPr>
            <a:cxnSpLocks/>
          </p:cNvCxnSpPr>
          <p:nvPr/>
        </p:nvCxnSpPr>
        <p:spPr>
          <a:xfrm>
            <a:off x="1219200" y="3886200"/>
            <a:ext cx="0" cy="2590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698DD8E-4EFF-4DBB-BC8A-694098A99627}"/>
              </a:ext>
            </a:extLst>
          </p:cNvPr>
          <p:cNvCxnSpPr>
            <a:cxnSpLocks/>
          </p:cNvCxnSpPr>
          <p:nvPr/>
        </p:nvCxnSpPr>
        <p:spPr>
          <a:xfrm>
            <a:off x="1219200" y="6477000"/>
            <a:ext cx="59435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23D29B9-EC85-4999-9A16-365261DE7C99}"/>
              </a:ext>
            </a:extLst>
          </p:cNvPr>
          <p:cNvCxnSpPr>
            <a:cxnSpLocks/>
          </p:cNvCxnSpPr>
          <p:nvPr/>
        </p:nvCxnSpPr>
        <p:spPr>
          <a:xfrm flipV="1">
            <a:off x="1219200" y="4406390"/>
            <a:ext cx="4876800" cy="146101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1" name="Arc 10">
            <a:extLst>
              <a:ext uri="{FF2B5EF4-FFF2-40B4-BE49-F238E27FC236}">
                <a16:creationId xmlns:a16="http://schemas.microsoft.com/office/drawing/2014/main" id="{3CE5CADA-8558-4BC3-8156-3645EC3E62AE}"/>
              </a:ext>
            </a:extLst>
          </p:cNvPr>
          <p:cNvSpPr/>
          <p:nvPr/>
        </p:nvSpPr>
        <p:spPr>
          <a:xfrm rot="7223957">
            <a:off x="861232" y="590234"/>
            <a:ext cx="4609085" cy="4267201"/>
          </a:xfrm>
          <a:prstGeom prst="arc">
            <a:avLst>
              <a:gd name="adj1" fmla="val 16200000"/>
              <a:gd name="adj2" fmla="val 380377"/>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2" name="Arc 11">
            <a:extLst>
              <a:ext uri="{FF2B5EF4-FFF2-40B4-BE49-F238E27FC236}">
                <a16:creationId xmlns:a16="http://schemas.microsoft.com/office/drawing/2014/main" id="{195C742B-4B35-4908-ADA3-AB0D5D052F71}"/>
              </a:ext>
            </a:extLst>
          </p:cNvPr>
          <p:cNvSpPr/>
          <p:nvPr/>
        </p:nvSpPr>
        <p:spPr>
          <a:xfrm rot="17781462">
            <a:off x="1992561" y="5361214"/>
            <a:ext cx="4609085" cy="4267201"/>
          </a:xfrm>
          <a:prstGeom prst="arc">
            <a:avLst>
              <a:gd name="adj1" fmla="val 16200000"/>
              <a:gd name="adj2" fmla="val 380377"/>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14" name="Straight Connector 13">
            <a:extLst>
              <a:ext uri="{FF2B5EF4-FFF2-40B4-BE49-F238E27FC236}">
                <a16:creationId xmlns:a16="http://schemas.microsoft.com/office/drawing/2014/main" id="{275EE3AD-CAF3-4570-B3A8-7BB050BD7123}"/>
              </a:ext>
            </a:extLst>
          </p:cNvPr>
          <p:cNvCxnSpPr/>
          <p:nvPr/>
        </p:nvCxnSpPr>
        <p:spPr>
          <a:xfrm flipV="1">
            <a:off x="3810000" y="3733800"/>
            <a:ext cx="0" cy="274320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A8141C5-617D-43B1-BEA5-404A0AA799C4}"/>
              </a:ext>
            </a:extLst>
          </p:cNvPr>
          <p:cNvSpPr txBox="1"/>
          <p:nvPr/>
        </p:nvSpPr>
        <p:spPr>
          <a:xfrm>
            <a:off x="5715000" y="6553200"/>
            <a:ext cx="457198" cy="369332"/>
          </a:xfrm>
          <a:prstGeom prst="rect">
            <a:avLst/>
          </a:prstGeom>
          <a:noFill/>
        </p:spPr>
        <p:txBody>
          <a:bodyPr wrap="square" rtlCol="0">
            <a:spAutoFit/>
          </a:bodyPr>
          <a:lstStyle/>
          <a:p>
            <a:r>
              <a:rPr lang="en-US" dirty="0"/>
              <a:t>X</a:t>
            </a:r>
            <a:endParaRPr lang="en-IN" dirty="0"/>
          </a:p>
        </p:txBody>
      </p:sp>
      <p:sp>
        <p:nvSpPr>
          <p:cNvPr id="19" name="TextBox 18">
            <a:extLst>
              <a:ext uri="{FF2B5EF4-FFF2-40B4-BE49-F238E27FC236}">
                <a16:creationId xmlns:a16="http://schemas.microsoft.com/office/drawing/2014/main" id="{413E9893-2D4F-4B6E-AFBF-5777862BF4FF}"/>
              </a:ext>
            </a:extLst>
          </p:cNvPr>
          <p:cNvSpPr txBox="1"/>
          <p:nvPr/>
        </p:nvSpPr>
        <p:spPr>
          <a:xfrm>
            <a:off x="762002" y="3853163"/>
            <a:ext cx="457198" cy="369332"/>
          </a:xfrm>
          <a:prstGeom prst="rect">
            <a:avLst/>
          </a:prstGeom>
          <a:noFill/>
        </p:spPr>
        <p:txBody>
          <a:bodyPr wrap="square" rtlCol="0">
            <a:spAutoFit/>
          </a:bodyPr>
          <a:lstStyle/>
          <a:p>
            <a:r>
              <a:rPr lang="en-US" dirty="0"/>
              <a:t>Y</a:t>
            </a:r>
            <a:endParaRPr lang="en-IN" dirty="0"/>
          </a:p>
        </p:txBody>
      </p:sp>
      <p:sp>
        <p:nvSpPr>
          <p:cNvPr id="20" name="TextBox 19">
            <a:extLst>
              <a:ext uri="{FF2B5EF4-FFF2-40B4-BE49-F238E27FC236}">
                <a16:creationId xmlns:a16="http://schemas.microsoft.com/office/drawing/2014/main" id="{943FE16C-AD7D-4A75-BC2F-A9EB5D164D24}"/>
              </a:ext>
            </a:extLst>
          </p:cNvPr>
          <p:cNvSpPr txBox="1"/>
          <p:nvPr/>
        </p:nvSpPr>
        <p:spPr>
          <a:xfrm>
            <a:off x="6315154" y="4202276"/>
            <a:ext cx="1000047" cy="369723"/>
          </a:xfrm>
          <a:prstGeom prst="rect">
            <a:avLst/>
          </a:prstGeom>
          <a:noFill/>
        </p:spPr>
        <p:txBody>
          <a:bodyPr wrap="square" rtlCol="0">
            <a:spAutoFit/>
          </a:bodyPr>
          <a:lstStyle/>
          <a:p>
            <a:r>
              <a:rPr lang="en-US" dirty="0"/>
              <a:t>Y=</a:t>
            </a:r>
            <a:r>
              <a:rPr lang="en-US" dirty="0" err="1"/>
              <a:t>a+bX</a:t>
            </a:r>
            <a:endParaRPr lang="en-IN" dirty="0"/>
          </a:p>
        </p:txBody>
      </p:sp>
      <p:sp>
        <p:nvSpPr>
          <p:cNvPr id="21" name="TextBox 20">
            <a:extLst>
              <a:ext uri="{FF2B5EF4-FFF2-40B4-BE49-F238E27FC236}">
                <a16:creationId xmlns:a16="http://schemas.microsoft.com/office/drawing/2014/main" id="{D6445BDE-86C7-4F6D-BB73-4C16FD42A713}"/>
              </a:ext>
            </a:extLst>
          </p:cNvPr>
          <p:cNvSpPr txBox="1"/>
          <p:nvPr/>
        </p:nvSpPr>
        <p:spPr>
          <a:xfrm>
            <a:off x="5105401" y="3547592"/>
            <a:ext cx="2971797" cy="369332"/>
          </a:xfrm>
          <a:prstGeom prst="rect">
            <a:avLst/>
          </a:prstGeom>
          <a:noFill/>
        </p:spPr>
        <p:txBody>
          <a:bodyPr wrap="square" rtlCol="0">
            <a:spAutoFit/>
          </a:bodyPr>
          <a:lstStyle/>
          <a:p>
            <a:r>
              <a:rPr lang="en-US" dirty="0"/>
              <a:t>Upper Confidence Limit</a:t>
            </a:r>
            <a:endParaRPr lang="en-IN" dirty="0"/>
          </a:p>
        </p:txBody>
      </p:sp>
      <p:sp>
        <p:nvSpPr>
          <p:cNvPr id="22" name="TextBox 21">
            <a:extLst>
              <a:ext uri="{FF2B5EF4-FFF2-40B4-BE49-F238E27FC236}">
                <a16:creationId xmlns:a16="http://schemas.microsoft.com/office/drawing/2014/main" id="{4245B1C6-BF92-4023-8C45-4BF84948B3EF}"/>
              </a:ext>
            </a:extLst>
          </p:cNvPr>
          <p:cNvSpPr txBox="1"/>
          <p:nvPr/>
        </p:nvSpPr>
        <p:spPr>
          <a:xfrm>
            <a:off x="5725886" y="5385321"/>
            <a:ext cx="2971797" cy="369332"/>
          </a:xfrm>
          <a:prstGeom prst="rect">
            <a:avLst/>
          </a:prstGeom>
          <a:noFill/>
        </p:spPr>
        <p:txBody>
          <a:bodyPr wrap="square" rtlCol="0">
            <a:spAutoFit/>
          </a:bodyPr>
          <a:lstStyle/>
          <a:p>
            <a:r>
              <a:rPr lang="en-US" dirty="0"/>
              <a:t>Lower Confidence Limit</a:t>
            </a:r>
            <a:endParaRPr lang="en-IN" dirty="0"/>
          </a:p>
        </p:txBody>
      </p:sp>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733EDB52-3B6A-4468-9F26-11C41BE3E714}"/>
                  </a:ext>
                </a:extLst>
              </p:cNvPr>
              <p:cNvSpPr txBox="1"/>
              <p:nvPr/>
            </p:nvSpPr>
            <p:spPr>
              <a:xfrm>
                <a:off x="3692238" y="6504710"/>
                <a:ext cx="223651"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acc>
                        <m:accPr>
                          <m:chr m:val="̅"/>
                          <m:ctrlPr>
                            <a:rPr lang="en-IN" i="1" smtClean="0">
                              <a:latin typeface="Cambria Math" panose="02040503050406030204" pitchFamily="18" charset="0"/>
                            </a:rPr>
                          </m:ctrlPr>
                        </m:accPr>
                        <m:e>
                          <m:r>
                            <a:rPr lang="en-US" b="0" i="1" smtClean="0">
                              <a:latin typeface="Cambria Math" panose="02040503050406030204" pitchFamily="18" charset="0"/>
                            </a:rPr>
                            <m:t>𝑋</m:t>
                          </m:r>
                        </m:e>
                      </m:acc>
                    </m:oMath>
                  </m:oMathPara>
                </a14:m>
                <a:endParaRPr lang="en-IN" dirty="0"/>
              </a:p>
            </p:txBody>
          </p:sp>
        </mc:Choice>
        <mc:Fallback>
          <p:sp>
            <p:nvSpPr>
              <p:cNvPr id="23" name="TextBox 22">
                <a:extLst>
                  <a:ext uri="{FF2B5EF4-FFF2-40B4-BE49-F238E27FC236}">
                    <a16:creationId xmlns:a16="http://schemas.microsoft.com/office/drawing/2014/main" id="{733EDB52-3B6A-4468-9F26-11C41BE3E714}"/>
                  </a:ext>
                </a:extLst>
              </p:cNvPr>
              <p:cNvSpPr txBox="1">
                <a:spLocks noRot="1" noChangeAspect="1" noMove="1" noResize="1" noEditPoints="1" noAdjustHandles="1" noChangeArrowheads="1" noChangeShapeType="1" noTextEdit="1"/>
              </p:cNvSpPr>
              <p:nvPr/>
            </p:nvSpPr>
            <p:spPr>
              <a:xfrm>
                <a:off x="3692238" y="6504710"/>
                <a:ext cx="223651" cy="276999"/>
              </a:xfrm>
              <a:prstGeom prst="rect">
                <a:avLst/>
              </a:prstGeom>
              <a:blipFill>
                <a:blip r:embed="rId2"/>
                <a:stretch>
                  <a:fillRect l="-22222" t="-2222" r="-50000" b="-11111"/>
                </a:stretch>
              </a:blipFill>
            </p:spPr>
            <p:txBody>
              <a:bodyPr/>
              <a:lstStyle/>
              <a:p>
                <a:r>
                  <a:rPr lang="en-IN">
                    <a:noFill/>
                  </a:rPr>
                  <a:t> </a:t>
                </a:r>
              </a:p>
            </p:txBody>
          </p:sp>
        </mc:Fallback>
      </mc:AlternateContent>
    </p:spTree>
    <p:extLst>
      <p:ext uri="{BB962C8B-B14F-4D97-AF65-F5344CB8AC3E}">
        <p14:creationId xmlns:p14="http://schemas.microsoft.com/office/powerpoint/2010/main" val="148636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7" grpId="0"/>
      <p:bldP spid="19" grpId="0"/>
      <p:bldP spid="20" grpId="0"/>
      <p:bldP spid="21" grpId="0"/>
      <p:bldP spid="22" grpId="0"/>
      <p:bldP spid="2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008E0-04E2-47D3-BEB6-56F03ED0B4E9}"/>
              </a:ext>
            </a:extLst>
          </p:cNvPr>
          <p:cNvSpPr>
            <a:spLocks noGrp="1"/>
          </p:cNvSpPr>
          <p:nvPr>
            <p:ph type="title"/>
          </p:nvPr>
        </p:nvSpPr>
        <p:spPr>
          <a:xfrm>
            <a:off x="609599" y="609600"/>
            <a:ext cx="6934201" cy="1320800"/>
          </a:xfrm>
        </p:spPr>
        <p:txBody>
          <a:bodyPr>
            <a:normAutofit/>
          </a:bodyPr>
          <a:lstStyle/>
          <a:p>
            <a:r>
              <a:rPr lang="en-US" sz="3400" dirty="0"/>
              <a:t>Prediction and Prediction Intervals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F07146A-C251-4CAD-A259-F1515F2CB5DB}"/>
                  </a:ext>
                </a:extLst>
              </p:cNvPr>
              <p:cNvSpPr>
                <a:spLocks noGrp="1"/>
              </p:cNvSpPr>
              <p:nvPr>
                <p:ph idx="1"/>
              </p:nvPr>
            </p:nvSpPr>
            <p:spPr>
              <a:xfrm>
                <a:off x="800098" y="1676400"/>
                <a:ext cx="6934201" cy="4343400"/>
              </a:xfrm>
            </p:spPr>
            <p:txBody>
              <a:bodyPr>
                <a:normAutofit/>
              </a:bodyPr>
              <a:lstStyle/>
              <a:p>
                <a:r>
                  <a:rPr lang="en-US" sz="2400" dirty="0">
                    <a:latin typeface="+mj-lt"/>
                  </a:rPr>
                  <a:t>The predicted value of Y for a given X vector </a:t>
                </a:r>
              </a:p>
              <a:p>
                <a:pPr marL="0" indent="0">
                  <a:buNone/>
                </a:pPr>
                <a14:m>
                  <m:oMath xmlns:m="http://schemas.openxmlformats.org/officeDocument/2006/math">
                    <m:sSub>
                      <m:sSubPr>
                        <m:ctrlPr>
                          <a:rPr lang="en-US" sz="2400" i="1" smtClean="0">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𝑌</m:t>
                            </m:r>
                          </m:e>
                        </m:acc>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oMath>
                </a14:m>
                <a:r>
                  <a:rPr lang="en-US" sz="2400" dirty="0">
                    <a:latin typeface="+mj-lt"/>
                  </a:rPr>
                  <a:t>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1</m:t>
                        </m:r>
                      </m:sub>
                    </m:sSub>
                    <m:sSub>
                      <m:sSubPr>
                        <m:ctrlPr>
                          <a:rPr lang="en-US" sz="2400" i="1">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01</m:t>
                        </m:r>
                      </m:sub>
                    </m:sSub>
                    <m:r>
                      <a:rPr lang="en-US" sz="2400" i="1">
                        <a:latin typeface="Cambria Math" panose="02040503050406030204" pitchFamily="18" charset="0"/>
                      </a:rPr>
                      <m:t>+</m:t>
                    </m:r>
                  </m:oMath>
                </a14:m>
                <a:r>
                  <a:rPr lang="en-US" sz="2400" dirty="0">
                    <a:latin typeface="+mj-lt"/>
                  </a:rPr>
                  <a:t>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2</m:t>
                        </m:r>
                      </m:sub>
                    </m:sSub>
                    <m:sSub>
                      <m:sSubPr>
                        <m:ctrlPr>
                          <a:rPr lang="en-US" sz="2400" i="1">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02</m:t>
                        </m:r>
                      </m:sub>
                    </m:sSub>
                    <m:r>
                      <a:rPr lang="en-US" sz="2400" b="0" i="1" smtClean="0">
                        <a:latin typeface="Cambria Math" panose="02040503050406030204" pitchFamily="18" charset="0"/>
                      </a:rPr>
                      <m:t>+…</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𝑘</m:t>
                        </m:r>
                      </m:sub>
                    </m:sSub>
                    <m:sSub>
                      <m:sSubPr>
                        <m:ctrlPr>
                          <a:rPr lang="en-US" sz="2400" i="1">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0</m:t>
                        </m:r>
                        <m:r>
                          <a:rPr lang="en-US" sz="2400" b="0" i="1" smtClean="0">
                            <a:latin typeface="Cambria Math" panose="02040503050406030204" pitchFamily="18" charset="0"/>
                          </a:rPr>
                          <m:t>𝑘</m:t>
                        </m:r>
                      </m:sub>
                    </m:sSub>
                  </m:oMath>
                </a14:m>
                <a:endParaRPr lang="en-US" sz="2400" dirty="0">
                  <a:latin typeface="+mj-lt"/>
                </a:endParaRPr>
              </a:p>
              <a:p>
                <a:r>
                  <a:rPr lang="en-US" sz="2400" dirty="0">
                    <a:latin typeface="+mj-lt"/>
                  </a:rPr>
                  <a:t>The standard error of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panose="02040503050406030204" pitchFamily="18" charset="0"/>
                          </a:rPr>
                          <m:t>𝑌</m:t>
                        </m:r>
                      </m:e>
                    </m:acc>
                  </m:oMath>
                </a14:m>
                <a:r>
                  <a:rPr lang="en-US" sz="2400" dirty="0">
                    <a:latin typeface="+mj-lt"/>
                  </a:rPr>
                  <a:t> is given by</a:t>
                </a:r>
              </a:p>
              <a:p>
                <a:pPr marL="0" indent="0">
                  <a:buNone/>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𝑆</m:t>
                          </m:r>
                        </m:e>
                        <m:sub>
                          <m:r>
                            <a:rPr lang="en-US" sz="2400" b="0" i="1" smtClean="0">
                              <a:latin typeface="Cambria Math" panose="02040503050406030204" pitchFamily="18" charset="0"/>
                            </a:rPr>
                            <m:t>𝑒</m:t>
                          </m:r>
                        </m:sub>
                      </m:sSub>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𝑌</m:t>
                                  </m:r>
                                </m:e>
                              </m:acc>
                            </m:e>
                            <m:sub>
                              <m:r>
                                <a:rPr lang="en-US" sz="2400" b="0" i="1" smtClean="0">
                                  <a:latin typeface="Cambria Math" panose="02040503050406030204" pitchFamily="18" charset="0"/>
                                </a:rPr>
                                <m:t>0</m:t>
                              </m:r>
                            </m:sub>
                          </m:sSub>
                        </m:e>
                      </m:d>
                      <m:r>
                        <a:rPr lang="en-US" sz="2400" b="0" i="1" smtClean="0">
                          <a:latin typeface="Cambria Math" panose="02040503050406030204" pitchFamily="18" charset="0"/>
                        </a:rPr>
                        <m:t>=</m:t>
                      </m:r>
                      <m:r>
                        <m:rPr>
                          <m:sty m:val="p"/>
                        </m:rPr>
                        <a:rPr lang="en-US" sz="2400" b="0" i="0" smtClean="0">
                          <a:latin typeface="Cambria Math" panose="02040503050406030204" pitchFamily="18" charset="0"/>
                        </a:rPr>
                        <m:t>S</m:t>
                      </m:r>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1+</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0</m:t>
                              </m:r>
                            </m:sub>
                          </m:sSub>
                          <m:sSup>
                            <m:sSupPr>
                              <m:ctrlPr>
                                <a:rPr lang="en-US" sz="2400" b="0" i="1" smtClean="0">
                                  <a:latin typeface="Cambria Math" panose="02040503050406030204" pitchFamily="18" charset="0"/>
                                </a:rPr>
                              </m:ctrlPr>
                            </m:sSupPr>
                            <m:e>
                              <m:d>
                                <m:dPr>
                                  <m:begChr m:val="["/>
                                  <m:endChr m:val="]"/>
                                  <m:ctrlPr>
                                    <a:rPr lang="en-US" sz="2400" b="0" i="1" smtClean="0">
                                      <a:latin typeface="Cambria Math" panose="02040503050406030204" pitchFamily="18" charset="0"/>
                                    </a:rPr>
                                  </m:ctrlPr>
                                </m:dPr>
                                <m:e>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𝑋</m:t>
                                      </m:r>
                                    </m:e>
                                    <m:sub>
                                      <m:r>
                                        <a:rPr lang="en-US" sz="2400" b="0" i="1" smtClean="0">
                                          <a:latin typeface="Cambria Math" panose="02040503050406030204" pitchFamily="18" charset="0"/>
                                        </a:rPr>
                                        <m:t> </m:t>
                                      </m:r>
                                    </m:sub>
                                    <m:sup>
                                      <m:r>
                                        <a:rPr lang="en-US" sz="2400" b="0" i="1" smtClean="0">
                                          <a:latin typeface="Cambria Math" panose="02040503050406030204" pitchFamily="18" charset="0"/>
                                        </a:rPr>
                                        <m:t>𝑇</m:t>
                                      </m:r>
                                    </m:sup>
                                  </m:sSubSup>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 </m:t>
                                      </m:r>
                                    </m:sub>
                                  </m:sSub>
                                </m:e>
                              </m:d>
                            </m:e>
                            <m:sup>
                              <m:r>
                                <a:rPr lang="en-US" sz="2400" b="0" i="1" smtClean="0">
                                  <a:latin typeface="Cambria Math" panose="02040503050406030204" pitchFamily="18" charset="0"/>
                                </a:rPr>
                                <m:t>−1</m:t>
                              </m:r>
                            </m:sup>
                          </m:sSup>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𝑋</m:t>
                              </m:r>
                            </m:e>
                            <m:sub>
                              <m:r>
                                <a:rPr lang="en-US" sz="2400" b="0" i="1" smtClean="0">
                                  <a:latin typeface="Cambria Math" panose="02040503050406030204" pitchFamily="18" charset="0"/>
                                </a:rPr>
                                <m:t>0</m:t>
                              </m:r>
                            </m:sub>
                            <m:sup>
                              <m:r>
                                <a:rPr lang="en-US" sz="2400" b="0" i="1" smtClean="0">
                                  <a:latin typeface="Cambria Math" panose="02040503050406030204" pitchFamily="18" charset="0"/>
                                </a:rPr>
                                <m:t>𝑇</m:t>
                              </m:r>
                            </m:sup>
                          </m:sSubSup>
                        </m:e>
                      </m:rad>
                    </m:oMath>
                  </m:oMathPara>
                </a14:m>
                <a:endParaRPr lang="en-US" sz="2400" dirty="0">
                  <a:latin typeface="+mj-lt"/>
                </a:endParaRPr>
              </a:p>
              <a:p>
                <a:endParaRPr lang="en-US" sz="2400" dirty="0">
                  <a:latin typeface="+mj-lt"/>
                </a:endParaRPr>
              </a:p>
              <a:p>
                <a:r>
                  <a:rPr lang="en-US" sz="2400" dirty="0">
                    <a:latin typeface="+mj-lt"/>
                  </a:rPr>
                  <a:t>Confidence interval of (1 – </a:t>
                </a:r>
                <a:r>
                  <a:rPr lang="el-GR" sz="2400" dirty="0">
                    <a:latin typeface="+mj-lt"/>
                  </a:rPr>
                  <a:t>α</a:t>
                </a:r>
                <a:r>
                  <a:rPr lang="en-US" sz="2400" dirty="0">
                    <a:latin typeface="+mj-lt"/>
                  </a:rPr>
                  <a:t>) </a:t>
                </a:r>
              </a:p>
              <a:p>
                <a:pPr marL="0" indent="0">
                  <a:buNone/>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𝑌</m:t>
                              </m:r>
                            </m:e>
                          </m:acc>
                        </m:e>
                        <m:sub>
                          <m:r>
                            <a:rPr lang="en-US" sz="2400" b="0" i="1" smtClean="0">
                              <a:latin typeface="Cambria Math" panose="02040503050406030204" pitchFamily="18" charset="0"/>
                            </a:rPr>
                            <m:t>0</m:t>
                          </m:r>
                        </m:sub>
                      </m:sSub>
                      <m:r>
                        <a:rPr lang="en-US" sz="2400" i="1" smtClean="0">
                          <a:latin typeface="Cambria Math" panose="02040503050406030204" pitchFamily="18" charset="0"/>
                          <a:ea typeface="Cambria Math" panose="02040503050406030204" pitchFamily="18" charset="0"/>
                        </a:rPr>
                        <m:t>±</m:t>
                      </m:r>
                      <m:sSub>
                        <m:sSubPr>
                          <m:ctrlPr>
                            <a:rPr lang="en-US" sz="240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𝑡</m:t>
                          </m:r>
                        </m:e>
                        <m:sub>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𝛼</m:t>
                              </m:r>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𝑑𝑓</m:t>
                          </m:r>
                        </m:sub>
                      </m:sSub>
                      <m:sSub>
                        <m:sSubPr>
                          <m:ctrlPr>
                            <a:rPr lang="en-US" sz="240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𝑆</m:t>
                          </m:r>
                        </m:e>
                        <m:sub>
                          <m:r>
                            <a:rPr lang="en-US" sz="2400" b="0" i="1" smtClean="0">
                              <a:latin typeface="Cambria Math" panose="02040503050406030204" pitchFamily="18" charset="0"/>
                              <a:ea typeface="Cambria Math" panose="02040503050406030204" pitchFamily="18" charset="0"/>
                            </a:rPr>
                            <m:t>𝑒</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acc>
                            <m:accPr>
                              <m:chr m:val="̂"/>
                              <m:ctrlPr>
                                <a:rPr lang="en-US" sz="2400" b="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𝑌</m:t>
                              </m:r>
                            </m:e>
                          </m:acc>
                        </m:e>
                        <m:sub>
                          <m:r>
                            <a:rPr lang="en-US" sz="2400" b="0" i="1" smtClean="0">
                              <a:latin typeface="Cambria Math" panose="02040503050406030204" pitchFamily="18" charset="0"/>
                              <a:ea typeface="Cambria Math" panose="02040503050406030204" pitchFamily="18" charset="0"/>
                            </a:rPr>
                            <m:t>0</m:t>
                          </m:r>
                        </m:sub>
                      </m:sSub>
                      <m:r>
                        <a:rPr lang="en-US" sz="2400" b="0" i="1" smtClean="0">
                          <a:latin typeface="Cambria Math" panose="02040503050406030204" pitchFamily="18" charset="0"/>
                          <a:ea typeface="Cambria Math" panose="02040503050406030204" pitchFamily="18" charset="0"/>
                        </a:rPr>
                        <m:t>)</m:t>
                      </m:r>
                    </m:oMath>
                  </m:oMathPara>
                </a14:m>
                <a:endParaRPr lang="en-US" sz="2400" dirty="0">
                  <a:latin typeface="+mj-lt"/>
                </a:endParaRPr>
              </a:p>
            </p:txBody>
          </p:sp>
        </mc:Choice>
        <mc:Fallback>
          <p:sp>
            <p:nvSpPr>
              <p:cNvPr id="3" name="Content Placeholder 2">
                <a:extLst>
                  <a:ext uri="{FF2B5EF4-FFF2-40B4-BE49-F238E27FC236}">
                    <a16:creationId xmlns:a16="http://schemas.microsoft.com/office/drawing/2014/main" id="{8F07146A-C251-4CAD-A259-F1515F2CB5DB}"/>
                  </a:ext>
                </a:extLst>
              </p:cNvPr>
              <p:cNvSpPr>
                <a:spLocks noGrp="1" noRot="1" noChangeAspect="1" noMove="1" noResize="1" noEditPoints="1" noAdjustHandles="1" noChangeArrowheads="1" noChangeShapeType="1" noTextEdit="1"/>
              </p:cNvSpPr>
              <p:nvPr>
                <p:ph idx="1"/>
              </p:nvPr>
            </p:nvSpPr>
            <p:spPr>
              <a:xfrm>
                <a:off x="800098" y="1676400"/>
                <a:ext cx="6934201" cy="4343400"/>
              </a:xfrm>
              <a:blipFill>
                <a:blip r:embed="rId2"/>
                <a:stretch>
                  <a:fillRect l="-703" t="-1122"/>
                </a:stretch>
              </a:blipFill>
            </p:spPr>
            <p:txBody>
              <a:bodyPr/>
              <a:lstStyle/>
              <a:p>
                <a:r>
                  <a:rPr lang="en-IN">
                    <a:noFill/>
                  </a:rPr>
                  <a:t> </a:t>
                </a:r>
              </a:p>
            </p:txBody>
          </p:sp>
        </mc:Fallback>
      </mc:AlternateContent>
    </p:spTree>
    <p:extLst>
      <p:ext uri="{BB962C8B-B14F-4D97-AF65-F5344CB8AC3E}">
        <p14:creationId xmlns:p14="http://schemas.microsoft.com/office/powerpoint/2010/main" val="3975494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B89AC-E4FB-45AD-9807-16ED2912F4C3}"/>
              </a:ext>
            </a:extLst>
          </p:cNvPr>
          <p:cNvSpPr>
            <a:spLocks noGrp="1"/>
          </p:cNvSpPr>
          <p:nvPr>
            <p:ph type="title"/>
          </p:nvPr>
        </p:nvSpPr>
        <p:spPr/>
        <p:txBody>
          <a:bodyPr/>
          <a:lstStyle/>
          <a:p>
            <a:r>
              <a:rPr lang="en-US" dirty="0"/>
              <a:t>Prediction Interval -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A4CBDC8-0D26-41D4-AF05-0C9CA6B3B327}"/>
                  </a:ext>
                </a:extLst>
              </p:cNvPr>
              <p:cNvSpPr>
                <a:spLocks noGrp="1"/>
              </p:cNvSpPr>
              <p:nvPr>
                <p:ph idx="1"/>
              </p:nvPr>
            </p:nvSpPr>
            <p:spPr>
              <a:xfrm>
                <a:off x="533400" y="1524000"/>
                <a:ext cx="7543802" cy="5105400"/>
              </a:xfrm>
            </p:spPr>
            <p:txBody>
              <a:bodyPr>
                <a:normAutofit fontScale="92500" lnSpcReduction="20000"/>
              </a:bodyPr>
              <a:lstStyle/>
              <a:p>
                <a:r>
                  <a:rPr lang="en-US" sz="2000" dirty="0"/>
                  <a:t>Revisit </a:t>
                </a:r>
                <a:r>
                  <a:rPr lang="en-US" sz="2000" dirty="0" err="1"/>
                  <a:t>Bendrix</a:t>
                </a:r>
                <a:endParaRPr lang="en-US" sz="2000" dirty="0"/>
              </a:p>
              <a:p>
                <a:pPr marL="0" indent="0">
                  <a:buNone/>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𝑌</m:t>
                              </m:r>
                            </m:e>
                          </m:acc>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=3996.68+43.54</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𝑖</m:t>
                          </m:r>
                          <m:r>
                            <a:rPr lang="en-US" sz="2000" b="0" i="1" smtClean="0">
                              <a:latin typeface="Cambria Math" panose="02040503050406030204" pitchFamily="18" charset="0"/>
                            </a:rPr>
                            <m:t>1</m:t>
                          </m:r>
                        </m:sub>
                      </m:sSub>
                      <m:r>
                        <a:rPr lang="en-US" sz="2000" b="0" i="1" smtClean="0">
                          <a:latin typeface="Cambria Math" panose="02040503050406030204" pitchFamily="18" charset="0"/>
                        </a:rPr>
                        <m:t>+883.62</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𝑖</m:t>
                          </m:r>
                          <m:r>
                            <a:rPr lang="en-US" sz="2000" b="0" i="1" smtClean="0">
                              <a:latin typeface="Cambria Math" panose="02040503050406030204" pitchFamily="18" charset="0"/>
                            </a:rPr>
                            <m:t>2</m:t>
                          </m:r>
                        </m:sub>
                      </m:sSub>
                    </m:oMath>
                  </m:oMathPara>
                </a14:m>
                <a:endParaRPr lang="en-US" sz="2000" dirty="0"/>
              </a:p>
              <a:p>
                <a:r>
                  <a:rPr lang="en-US" sz="2000" dirty="0"/>
                  <a:t>Calculate the forecast for X</a:t>
                </a:r>
                <a:r>
                  <a:rPr lang="en-US" sz="2000" baseline="-25000" dirty="0"/>
                  <a:t>01</a:t>
                </a:r>
                <a:r>
                  <a:rPr lang="en-US" sz="2000" dirty="0"/>
                  <a:t> = 1500 and X</a:t>
                </a:r>
                <a:r>
                  <a:rPr lang="en-US" sz="2000" baseline="-25000" dirty="0"/>
                  <a:t>02</a:t>
                </a:r>
                <a:r>
                  <a:rPr lang="en-US" sz="2000" dirty="0"/>
                  <a:t> = 40</a:t>
                </a:r>
              </a:p>
              <a:p>
                <a:endParaRPr lang="en-US" sz="2000" dirty="0"/>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𝑌</m:t>
                              </m:r>
                            </m:e>
                          </m:acc>
                        </m:e>
                        <m:sub>
                          <m:r>
                            <a:rPr lang="en-US" sz="2000" i="1">
                              <a:latin typeface="Cambria Math" panose="02040503050406030204" pitchFamily="18" charset="0"/>
                            </a:rPr>
                            <m:t>𝑖</m:t>
                          </m:r>
                        </m:sub>
                      </m:sSub>
                      <m:r>
                        <a:rPr lang="en-US" sz="2000" i="1">
                          <a:latin typeface="Cambria Math" panose="02040503050406030204" pitchFamily="18" charset="0"/>
                        </a:rPr>
                        <m:t>=3996.68+43.54</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1500</m:t>
                          </m:r>
                        </m:e>
                      </m:d>
                      <m:r>
                        <a:rPr lang="en-US" sz="2000" i="1">
                          <a:latin typeface="Cambria Math" panose="02040503050406030204" pitchFamily="18" charset="0"/>
                        </a:rPr>
                        <m:t>+883.6</m:t>
                      </m:r>
                      <m:r>
                        <a:rPr lang="en-US" sz="2000" b="0" i="1" smtClean="0">
                          <a:latin typeface="Cambria Math" panose="02040503050406030204" pitchFamily="18" charset="0"/>
                        </a:rPr>
                        <m:t>2</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40</m:t>
                          </m:r>
                        </m:e>
                      </m:d>
                      <m:r>
                        <a:rPr lang="en-US" sz="2000" b="0" i="1" smtClean="0">
                          <a:latin typeface="Cambria Math" panose="02040503050406030204" pitchFamily="18" charset="0"/>
                        </a:rPr>
                        <m:t>=104,646</m:t>
                      </m:r>
                    </m:oMath>
                  </m:oMathPara>
                </a14:m>
                <a:endParaRPr lang="en-US" sz="2000" dirty="0"/>
              </a:p>
              <a:p>
                <a:pPr marL="0" indent="0">
                  <a:buNone/>
                </a:pPr>
                <a:endParaRPr lang="en-US" sz="2000" dirty="0"/>
              </a:p>
              <a:p>
                <a:pPr marL="0" indent="0">
                  <a:buNone/>
                </a:pPr>
                <a:r>
                  <a:rPr lang="en-US" sz="2000" dirty="0"/>
                  <a:t>    </a:t>
                </a:r>
                <a14:m>
                  <m:oMath xmlns:m="http://schemas.openxmlformats.org/officeDocument/2006/math">
                    <m:sSup>
                      <m:sSupPr>
                        <m:ctrlPr>
                          <a:rPr lang="en-US" sz="2000" i="1" smtClean="0">
                            <a:latin typeface="Cambria Math" panose="02040503050406030204" pitchFamily="18" charset="0"/>
                          </a:rPr>
                        </m:ctrlPr>
                      </m:sSupPr>
                      <m:e>
                        <m:d>
                          <m:dPr>
                            <m:begChr m:val="["/>
                            <m:endChr m:val="]"/>
                            <m:ctrlPr>
                              <a:rPr lang="en-US" sz="2000" i="1" smtClean="0">
                                <a:latin typeface="Cambria Math" panose="02040503050406030204" pitchFamily="18" charset="0"/>
                              </a:rPr>
                            </m:ctrlPr>
                          </m:dPr>
                          <m:e>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𝑋</m:t>
                                </m:r>
                              </m:e>
                              <m:sup>
                                <m:r>
                                  <a:rPr lang="en-US" sz="2000" b="0" i="1" smtClean="0">
                                    <a:latin typeface="Cambria Math" panose="02040503050406030204" pitchFamily="18" charset="0"/>
                                  </a:rPr>
                                  <m:t>𝑇</m:t>
                                </m:r>
                              </m:sup>
                            </m:sSup>
                            <m:r>
                              <a:rPr lang="en-US" sz="2000" b="0" i="1" smtClean="0">
                                <a:latin typeface="Cambria Math" panose="02040503050406030204" pitchFamily="18" charset="0"/>
                              </a:rPr>
                              <m:t>𝑋</m:t>
                            </m:r>
                          </m:e>
                        </m:d>
                      </m:e>
                      <m:sup>
                        <m:r>
                          <a:rPr lang="en-US" sz="2000" b="0" i="1" smtClean="0">
                            <a:latin typeface="Cambria Math" panose="02040503050406030204" pitchFamily="18" charset="0"/>
                          </a:rPr>
                          <m:t>−1</m:t>
                        </m:r>
                      </m:sup>
                    </m:sSup>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eqArr>
                          <m:eqArrPr>
                            <m:ctrlPr>
                              <a:rPr lang="en-US" sz="2000" b="0" i="1" smtClean="0">
                                <a:latin typeface="Cambria Math" panose="02040503050406030204" pitchFamily="18" charset="0"/>
                              </a:rPr>
                            </m:ctrlPr>
                          </m:eqArrPr>
                          <m:e>
                            <m:r>
                              <a:rPr lang="en-US" sz="2000" b="0" i="1" smtClean="0">
                                <a:latin typeface="Cambria Math" panose="02040503050406030204" pitchFamily="18" charset="0"/>
                              </a:rPr>
                              <m:t>     2.58</m:t>
                            </m:r>
                            <m:r>
                              <a:rPr lang="en-US" sz="2000" b="0" i="1" smtClean="0">
                                <a:latin typeface="Cambria Math" panose="02040503050406030204" pitchFamily="18" charset="0"/>
                              </a:rPr>
                              <m:t>𝐸</m:t>
                            </m:r>
                            <m:r>
                              <a:rPr lang="en-US" sz="2000" b="0" i="1" smtClean="0">
                                <a:latin typeface="Cambria Math" panose="02040503050406030204" pitchFamily="18" charset="0"/>
                              </a:rPr>
                              <m:t>+00    −1.26</m:t>
                            </m:r>
                            <m:r>
                              <a:rPr lang="en-US" sz="2000" b="0" i="1" smtClean="0">
                                <a:latin typeface="Cambria Math" panose="02040503050406030204" pitchFamily="18" charset="0"/>
                              </a:rPr>
                              <m:t>𝐸</m:t>
                            </m:r>
                            <m:r>
                              <a:rPr lang="en-US" sz="2000" b="0" i="1" smtClean="0">
                                <a:latin typeface="Cambria Math" panose="02040503050406030204" pitchFamily="18" charset="0"/>
                              </a:rPr>
                              <m:t>−03       −2.02</m:t>
                            </m:r>
                            <m:r>
                              <a:rPr lang="en-US" sz="2000" b="0" i="1" smtClean="0">
                                <a:latin typeface="Cambria Math" panose="02040503050406030204" pitchFamily="18" charset="0"/>
                              </a:rPr>
                              <m:t>𝐸</m:t>
                            </m:r>
                            <m:r>
                              <a:rPr lang="en-US" sz="2000" b="0" i="1" smtClean="0">
                                <a:latin typeface="Cambria Math" panose="02040503050406030204" pitchFamily="18" charset="0"/>
                              </a:rPr>
                              <m:t>−02</m:t>
                            </m:r>
                          </m:e>
                          <m:e>
                            <m:r>
                              <a:rPr lang="en-US" sz="2000" b="0" i="1" smtClean="0">
                                <a:latin typeface="Cambria Math" panose="02040503050406030204" pitchFamily="18" charset="0"/>
                              </a:rPr>
                              <m:t>−1.26</m:t>
                            </m:r>
                            <m:r>
                              <a:rPr lang="en-US" sz="2000" b="0" i="1" smtClean="0">
                                <a:latin typeface="Cambria Math" panose="02040503050406030204" pitchFamily="18" charset="0"/>
                              </a:rPr>
                              <m:t>𝐸</m:t>
                            </m:r>
                            <m:r>
                              <a:rPr lang="en-US" sz="2000" b="0" i="1" smtClean="0">
                                <a:latin typeface="Cambria Math" panose="02040503050406030204" pitchFamily="18" charset="0"/>
                              </a:rPr>
                              <m:t>−03         7.63</m:t>
                            </m:r>
                            <m:r>
                              <a:rPr lang="en-US" sz="2000" b="0" i="1" smtClean="0">
                                <a:latin typeface="Cambria Math" panose="02040503050406030204" pitchFamily="18" charset="0"/>
                              </a:rPr>
                              <m:t>𝐸</m:t>
                            </m:r>
                            <m:r>
                              <a:rPr lang="en-US" sz="2000" b="0" i="1" smtClean="0">
                                <a:latin typeface="Cambria Math" panose="02040503050406030204" pitchFamily="18" charset="0"/>
                              </a:rPr>
                              <m:t>−07             4.01</m:t>
                            </m:r>
                            <m:r>
                              <a:rPr lang="en-US" sz="2000" b="0" i="1" smtClean="0">
                                <a:latin typeface="Cambria Math" panose="02040503050406030204" pitchFamily="18" charset="0"/>
                              </a:rPr>
                              <m:t>𝐸</m:t>
                            </m:r>
                            <m:r>
                              <a:rPr lang="en-US" sz="2000" b="0" i="1" smtClean="0">
                                <a:latin typeface="Cambria Math" panose="02040503050406030204" pitchFamily="18" charset="0"/>
                              </a:rPr>
                              <m:t>−06</m:t>
                            </m:r>
                          </m:e>
                          <m:e>
                            <m:r>
                              <a:rPr lang="en-US" sz="2000" b="0" i="1" smtClean="0">
                                <a:latin typeface="Cambria Math" panose="02040503050406030204" pitchFamily="18" charset="0"/>
                              </a:rPr>
                              <m:t>−2.02</m:t>
                            </m:r>
                            <m:r>
                              <a:rPr lang="en-US" sz="2000" b="0" i="1" smtClean="0">
                                <a:latin typeface="Cambria Math" panose="02040503050406030204" pitchFamily="18" charset="0"/>
                              </a:rPr>
                              <m:t>𝐸</m:t>
                            </m:r>
                            <m:r>
                              <a:rPr lang="en-US" sz="2000" b="0" i="1" smtClean="0">
                                <a:latin typeface="Cambria Math" panose="02040503050406030204" pitchFamily="18" charset="0"/>
                              </a:rPr>
                              <m:t>−02         4.01</m:t>
                            </m:r>
                            <m:r>
                              <a:rPr lang="en-US" sz="2000" b="0" i="1" smtClean="0">
                                <a:latin typeface="Cambria Math" panose="02040503050406030204" pitchFamily="18" charset="0"/>
                              </a:rPr>
                              <m:t>𝐸</m:t>
                            </m:r>
                            <m:r>
                              <a:rPr lang="en-US" sz="2000" b="0" i="1" smtClean="0">
                                <a:latin typeface="Cambria Math" panose="02040503050406030204" pitchFamily="18" charset="0"/>
                              </a:rPr>
                              <m:t>−06             4.01</m:t>
                            </m:r>
                            <m:r>
                              <a:rPr lang="en-US" sz="2000" b="0" i="1" smtClean="0">
                                <a:latin typeface="Cambria Math" panose="02040503050406030204" pitchFamily="18" charset="0"/>
                              </a:rPr>
                              <m:t>𝐸</m:t>
                            </m:r>
                            <m:r>
                              <a:rPr lang="en-US" sz="2000" b="0" i="1" smtClean="0">
                                <a:latin typeface="Cambria Math" panose="02040503050406030204" pitchFamily="18" charset="0"/>
                              </a:rPr>
                              <m:t>−04</m:t>
                            </m:r>
                          </m:e>
                        </m:eqArr>
                      </m:e>
                    </m:d>
                  </m:oMath>
                </a14:m>
                <a:endParaRPr lang="en-US" sz="2000" dirty="0"/>
              </a:p>
              <a:p>
                <a:pPr marL="0" indent="0">
                  <a:buNone/>
                </a:pPr>
                <a:endParaRPr lang="en-US" sz="2000" dirty="0"/>
              </a:p>
              <a:p>
                <a:pPr marL="0" indent="0">
                  <a:buNone/>
                </a:pPr>
                <a:r>
                  <a:rPr lang="en-US" dirty="0"/>
                  <a:t> </a:t>
                </a:r>
                <a14:m>
                  <m:oMath xmlns:m="http://schemas.openxmlformats.org/officeDocument/2006/math">
                    <m:sSup>
                      <m:sSupPr>
                        <m:ctrlPr>
                          <a:rPr lang="en-US" sz="2000" i="1">
                            <a:latin typeface="Cambria Math" panose="02040503050406030204" pitchFamily="18" charset="0"/>
                          </a:rPr>
                        </m:ctrlPr>
                      </m:sSupPr>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0</m:t>
                            </m:r>
                          </m:sub>
                        </m:sSub>
                        <m:d>
                          <m:dPr>
                            <m:begChr m:val="["/>
                            <m:endChr m:val="]"/>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pitchFamily="18" charset="0"/>
                                  </a:rPr>
                                  <m:t>𝑋</m:t>
                                </m:r>
                              </m:e>
                              <m:sup>
                                <m:r>
                                  <a:rPr lang="en-US" sz="2000" i="1">
                                    <a:latin typeface="Cambria Math" panose="02040503050406030204" pitchFamily="18" charset="0"/>
                                  </a:rPr>
                                  <m:t>𝑇</m:t>
                                </m:r>
                              </m:sup>
                            </m:sSup>
                            <m:r>
                              <a:rPr lang="en-US" sz="2000" i="1">
                                <a:latin typeface="Cambria Math" panose="02040503050406030204" pitchFamily="18" charset="0"/>
                              </a:rPr>
                              <m:t>𝑋</m:t>
                            </m:r>
                          </m:e>
                        </m:d>
                      </m:e>
                      <m:sup>
                        <m:r>
                          <a:rPr lang="en-US" sz="2000" i="1">
                            <a:latin typeface="Cambria Math" panose="02040503050406030204" pitchFamily="18" charset="0"/>
                          </a:rPr>
                          <m:t>−1</m:t>
                        </m:r>
                      </m:sup>
                    </m:sSup>
                    <m:sSubSup>
                      <m:sSubSupPr>
                        <m:ctrlPr>
                          <a:rPr lang="en-US" sz="2000" i="1" smtClean="0">
                            <a:latin typeface="Cambria Math" panose="02040503050406030204" pitchFamily="18" charset="0"/>
                          </a:rPr>
                        </m:ctrlPr>
                      </m:sSubSupPr>
                      <m:e>
                        <m:r>
                          <a:rPr lang="en-US" sz="2000" b="0" i="1" smtClean="0">
                            <a:latin typeface="Cambria Math" panose="02040503050406030204" pitchFamily="18" charset="0"/>
                          </a:rPr>
                          <m:t>𝑋</m:t>
                        </m:r>
                      </m:e>
                      <m:sub>
                        <m:r>
                          <a:rPr lang="en-US" sz="2000" b="0" i="1" smtClean="0">
                            <a:latin typeface="Cambria Math" panose="02040503050406030204" pitchFamily="18" charset="0"/>
                          </a:rPr>
                          <m:t>0</m:t>
                        </m:r>
                      </m:sub>
                      <m:sup>
                        <m:r>
                          <a:rPr lang="en-US" sz="2000" b="0" i="1" smtClean="0">
                            <a:latin typeface="Cambria Math" panose="02040503050406030204" pitchFamily="18" charset="0"/>
                          </a:rPr>
                          <m:t>𝑇</m:t>
                        </m:r>
                      </m:sup>
                    </m:sSubSup>
                    <m:r>
                      <a:rPr lang="en-US" sz="2000" i="1">
                        <a:latin typeface="Cambria Math" panose="02040503050406030204" pitchFamily="18" charset="0"/>
                      </a:rPr>
                      <m:t>=</m:t>
                    </m:r>
                    <m:d>
                      <m:dPr>
                        <m:begChr m:val="["/>
                        <m:endChr m:val="]"/>
                        <m:ctrlPr>
                          <a:rPr lang="en-US" sz="2000" i="1" smtClean="0">
                            <a:latin typeface="Cambria Math" panose="02040503050406030204" pitchFamily="18" charset="0"/>
                          </a:rPr>
                        </m:ctrlPr>
                      </m:dPr>
                      <m:e>
                        <m:r>
                          <a:rPr lang="en-US" sz="2000" b="0" i="1" smtClean="0">
                            <a:latin typeface="Cambria Math" panose="02040503050406030204" pitchFamily="18" charset="0"/>
                          </a:rPr>
                          <m:t>1    1500    40</m:t>
                        </m:r>
                      </m:e>
                    </m:d>
                    <m:d>
                      <m:dPr>
                        <m:begChr m:val="["/>
                        <m:endChr m:val="]"/>
                        <m:ctrlPr>
                          <a:rPr lang="en-US" sz="2000" i="1">
                            <a:latin typeface="Cambria Math" panose="02040503050406030204" pitchFamily="18" charset="0"/>
                          </a:rPr>
                        </m:ctrlPr>
                      </m:dPr>
                      <m:e>
                        <m:eqArr>
                          <m:eqArrPr>
                            <m:ctrlPr>
                              <a:rPr lang="en-US" sz="2000" i="1">
                                <a:latin typeface="Cambria Math" panose="02040503050406030204" pitchFamily="18" charset="0"/>
                              </a:rPr>
                            </m:ctrlPr>
                          </m:eqArrPr>
                          <m:e>
                            <m:r>
                              <a:rPr lang="en-US" sz="2000" i="1">
                                <a:latin typeface="Cambria Math" panose="02040503050406030204" pitchFamily="18" charset="0"/>
                              </a:rPr>
                              <m:t>     2.58</m:t>
                            </m:r>
                            <m:r>
                              <a:rPr lang="en-US" sz="2000" i="1">
                                <a:latin typeface="Cambria Math" panose="02040503050406030204" pitchFamily="18" charset="0"/>
                              </a:rPr>
                              <m:t>𝐸</m:t>
                            </m:r>
                            <m:r>
                              <a:rPr lang="en-US" sz="2000" i="1">
                                <a:latin typeface="Cambria Math" panose="02040503050406030204" pitchFamily="18" charset="0"/>
                              </a:rPr>
                              <m:t>+00    −1.26</m:t>
                            </m:r>
                            <m:r>
                              <a:rPr lang="en-US" sz="2000" i="1">
                                <a:latin typeface="Cambria Math" panose="02040503050406030204" pitchFamily="18" charset="0"/>
                              </a:rPr>
                              <m:t>𝐸</m:t>
                            </m:r>
                            <m:r>
                              <a:rPr lang="en-US" sz="2000" i="1">
                                <a:latin typeface="Cambria Math" panose="02040503050406030204" pitchFamily="18" charset="0"/>
                              </a:rPr>
                              <m:t>−03       −2.02</m:t>
                            </m:r>
                            <m:r>
                              <a:rPr lang="en-US" sz="2000" i="1">
                                <a:latin typeface="Cambria Math" panose="02040503050406030204" pitchFamily="18" charset="0"/>
                              </a:rPr>
                              <m:t>𝐸</m:t>
                            </m:r>
                            <m:r>
                              <a:rPr lang="en-US" sz="2000" i="1">
                                <a:latin typeface="Cambria Math" panose="02040503050406030204" pitchFamily="18" charset="0"/>
                              </a:rPr>
                              <m:t>−02</m:t>
                            </m:r>
                          </m:e>
                          <m:e>
                            <m:r>
                              <a:rPr lang="en-US" sz="2000" i="1">
                                <a:latin typeface="Cambria Math" panose="02040503050406030204" pitchFamily="18" charset="0"/>
                              </a:rPr>
                              <m:t>−1.26</m:t>
                            </m:r>
                            <m:r>
                              <a:rPr lang="en-US" sz="2000" i="1">
                                <a:latin typeface="Cambria Math" panose="02040503050406030204" pitchFamily="18" charset="0"/>
                              </a:rPr>
                              <m:t>𝐸</m:t>
                            </m:r>
                            <m:r>
                              <a:rPr lang="en-US" sz="2000" i="1">
                                <a:latin typeface="Cambria Math" panose="02040503050406030204" pitchFamily="18" charset="0"/>
                              </a:rPr>
                              <m:t>−03         7.63</m:t>
                            </m:r>
                            <m:r>
                              <a:rPr lang="en-US" sz="2000" i="1">
                                <a:latin typeface="Cambria Math" panose="02040503050406030204" pitchFamily="18" charset="0"/>
                              </a:rPr>
                              <m:t>𝐸</m:t>
                            </m:r>
                            <m:r>
                              <a:rPr lang="en-US" sz="2000" i="1">
                                <a:latin typeface="Cambria Math" panose="02040503050406030204" pitchFamily="18" charset="0"/>
                              </a:rPr>
                              <m:t>−07             4.01</m:t>
                            </m:r>
                            <m:r>
                              <a:rPr lang="en-US" sz="2000" i="1">
                                <a:latin typeface="Cambria Math" panose="02040503050406030204" pitchFamily="18" charset="0"/>
                              </a:rPr>
                              <m:t>𝐸</m:t>
                            </m:r>
                            <m:r>
                              <a:rPr lang="en-US" sz="2000" i="1">
                                <a:latin typeface="Cambria Math" panose="02040503050406030204" pitchFamily="18" charset="0"/>
                              </a:rPr>
                              <m:t>−06</m:t>
                            </m:r>
                          </m:e>
                          <m:e>
                            <m:r>
                              <a:rPr lang="en-US" sz="2000" i="1">
                                <a:latin typeface="Cambria Math" panose="02040503050406030204" pitchFamily="18" charset="0"/>
                              </a:rPr>
                              <m:t>−2.02</m:t>
                            </m:r>
                            <m:r>
                              <a:rPr lang="en-US" sz="2000" i="1">
                                <a:latin typeface="Cambria Math" panose="02040503050406030204" pitchFamily="18" charset="0"/>
                              </a:rPr>
                              <m:t>𝐸</m:t>
                            </m:r>
                            <m:r>
                              <a:rPr lang="en-US" sz="2000" i="1">
                                <a:latin typeface="Cambria Math" panose="02040503050406030204" pitchFamily="18" charset="0"/>
                              </a:rPr>
                              <m:t>−02         4.01</m:t>
                            </m:r>
                            <m:r>
                              <a:rPr lang="en-US" sz="2000" i="1">
                                <a:latin typeface="Cambria Math" panose="02040503050406030204" pitchFamily="18" charset="0"/>
                              </a:rPr>
                              <m:t>𝐸</m:t>
                            </m:r>
                            <m:r>
                              <a:rPr lang="en-US" sz="2000" i="1">
                                <a:latin typeface="Cambria Math" panose="02040503050406030204" pitchFamily="18" charset="0"/>
                              </a:rPr>
                              <m:t>−06             4.01</m:t>
                            </m:r>
                            <m:r>
                              <a:rPr lang="en-US" sz="2000" i="1">
                                <a:latin typeface="Cambria Math" panose="02040503050406030204" pitchFamily="18" charset="0"/>
                              </a:rPr>
                              <m:t>𝐸</m:t>
                            </m:r>
                            <m:r>
                              <a:rPr lang="en-US" sz="2000" i="1">
                                <a:latin typeface="Cambria Math" panose="02040503050406030204" pitchFamily="18" charset="0"/>
                              </a:rPr>
                              <m:t>−04</m:t>
                            </m:r>
                          </m:e>
                        </m:eqArr>
                      </m:e>
                    </m:d>
                    <m:d>
                      <m:dPr>
                        <m:begChr m:val="["/>
                        <m:endChr m:val="]"/>
                        <m:ctrlPr>
                          <a:rPr lang="en-US" sz="2000" i="1" smtClean="0">
                            <a:latin typeface="Cambria Math" panose="02040503050406030204" pitchFamily="18" charset="0"/>
                          </a:rPr>
                        </m:ctrlPr>
                      </m:dPr>
                      <m:e>
                        <m:eqArr>
                          <m:eqArrPr>
                            <m:ctrlPr>
                              <a:rPr lang="en-US" sz="2000" b="0" i="1" smtClean="0">
                                <a:latin typeface="Cambria Math" panose="02040503050406030204" pitchFamily="18" charset="0"/>
                              </a:rPr>
                            </m:ctrlPr>
                          </m:eqArrPr>
                          <m:e>
                            <m:r>
                              <a:rPr lang="en-US" sz="2000" b="0" i="1" smtClean="0">
                                <a:latin typeface="Cambria Math" panose="02040503050406030204" pitchFamily="18" charset="0"/>
                              </a:rPr>
                              <m:t>1</m:t>
                            </m:r>
                          </m:e>
                          <m:e>
                            <m:r>
                              <a:rPr lang="en-US" sz="2000" b="0" i="1" smtClean="0">
                                <a:latin typeface="Cambria Math" panose="02040503050406030204" pitchFamily="18" charset="0"/>
                              </a:rPr>
                              <m:t>1500</m:t>
                            </m:r>
                          </m:e>
                          <m:e>
                            <m:r>
                              <a:rPr lang="en-US" sz="2000" b="0" i="1" smtClean="0">
                                <a:latin typeface="Cambria Math" panose="02040503050406030204" pitchFamily="18" charset="0"/>
                              </a:rPr>
                              <m:t>40</m:t>
                            </m:r>
                          </m:e>
                        </m:eqArr>
                      </m:e>
                    </m:d>
                  </m:oMath>
                </a14:m>
                <a:endParaRPr lang="en-US" sz="2000" dirty="0"/>
              </a:p>
              <a:p>
                <a:pPr marL="0" indent="0" algn="ctr">
                  <a:buNone/>
                </a:pPr>
                <a:endParaRPr lang="en-US" sz="2000" dirty="0"/>
              </a:p>
              <a:p>
                <a:pPr marL="0" indent="0" algn="ctr">
                  <a:buNone/>
                </a:pPr>
                <a:r>
                  <a:rPr lang="en-US" sz="2000" dirty="0"/>
                  <a:t>=0.036274</a:t>
                </a:r>
              </a:p>
            </p:txBody>
          </p:sp>
        </mc:Choice>
        <mc:Fallback xmlns="">
          <p:sp>
            <p:nvSpPr>
              <p:cNvPr id="3" name="Content Placeholder 2">
                <a:extLst>
                  <a:ext uri="{FF2B5EF4-FFF2-40B4-BE49-F238E27FC236}">
                    <a16:creationId xmlns:a16="http://schemas.microsoft.com/office/drawing/2014/main" id="{9A4CBDC8-0D26-41D4-AF05-0C9CA6B3B327}"/>
                  </a:ext>
                </a:extLst>
              </p:cNvPr>
              <p:cNvSpPr>
                <a:spLocks noGrp="1" noRot="1" noChangeAspect="1" noMove="1" noResize="1" noEditPoints="1" noAdjustHandles="1" noChangeArrowheads="1" noChangeShapeType="1" noTextEdit="1"/>
              </p:cNvSpPr>
              <p:nvPr>
                <p:ph idx="1"/>
              </p:nvPr>
            </p:nvSpPr>
            <p:spPr>
              <a:xfrm>
                <a:off x="533400" y="1524000"/>
                <a:ext cx="7543802" cy="5105400"/>
              </a:xfrm>
              <a:blipFill>
                <a:blip r:embed="rId2"/>
                <a:stretch>
                  <a:fillRect l="-323" t="-1790"/>
                </a:stretch>
              </a:blipFill>
            </p:spPr>
            <p:txBody>
              <a:bodyPr/>
              <a:lstStyle/>
              <a:p>
                <a:r>
                  <a:rPr lang="en-IN">
                    <a:noFill/>
                  </a:rPr>
                  <a:t> </a:t>
                </a:r>
              </a:p>
            </p:txBody>
          </p:sp>
        </mc:Fallback>
      </mc:AlternateContent>
    </p:spTree>
    <p:extLst>
      <p:ext uri="{BB962C8B-B14F-4D97-AF65-F5344CB8AC3E}">
        <p14:creationId xmlns:p14="http://schemas.microsoft.com/office/powerpoint/2010/main" val="12219259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91862-2C40-40EE-BFA9-B548B49FCFB9}"/>
              </a:ext>
            </a:extLst>
          </p:cNvPr>
          <p:cNvSpPr>
            <a:spLocks noGrp="1"/>
          </p:cNvSpPr>
          <p:nvPr>
            <p:ph type="title"/>
          </p:nvPr>
        </p:nvSpPr>
        <p:spPr/>
        <p:txBody>
          <a:bodyPr/>
          <a:lstStyle/>
          <a:p>
            <a:r>
              <a:rPr lang="en-US" dirty="0" err="1"/>
              <a:t>Bendrix</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16F351-624C-4926-A1FD-97F7205227AE}"/>
                  </a:ext>
                </a:extLst>
              </p:cNvPr>
              <p:cNvSpPr>
                <a:spLocks noGrp="1"/>
              </p:cNvSpPr>
              <p:nvPr>
                <p:ph idx="1"/>
              </p:nvPr>
            </p:nvSpPr>
            <p:spPr>
              <a:xfrm>
                <a:off x="304800" y="2133600"/>
                <a:ext cx="7848600" cy="3880773"/>
              </a:xfrm>
            </p:spPr>
            <p:txBody>
              <a:bodyPr/>
              <a:lstStyle/>
              <a:p>
                <a:r>
                  <a:rPr lang="en-US" sz="2400" dirty="0"/>
                  <a:t>S=4108.99</a:t>
                </a:r>
              </a:p>
              <a:p>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𝑆</m:t>
                        </m:r>
                      </m:e>
                      <m:sub>
                        <m:r>
                          <a:rPr lang="en-US" sz="2400" i="1">
                            <a:latin typeface="Cambria Math" panose="02040503050406030204" pitchFamily="18" charset="0"/>
                          </a:rPr>
                          <m:t>𝑒</m:t>
                        </m:r>
                      </m:sub>
                    </m:sSub>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𝑌</m:t>
                                </m:r>
                              </m:e>
                            </m:acc>
                          </m:e>
                          <m:sub>
                            <m:r>
                              <a:rPr lang="en-US" sz="2400" i="1">
                                <a:latin typeface="Cambria Math" panose="02040503050406030204" pitchFamily="18" charset="0"/>
                              </a:rPr>
                              <m:t>0</m:t>
                            </m:r>
                          </m:sub>
                        </m:sSub>
                      </m:e>
                    </m:d>
                    <m:r>
                      <a:rPr lang="en-US" sz="2400" b="0" i="1" smtClean="0">
                        <a:latin typeface="Cambria Math" panose="02040503050406030204" pitchFamily="18" charset="0"/>
                      </a:rPr>
                      <m:t>=4108.99</m:t>
                    </m:r>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1+0.037264</m:t>
                        </m:r>
                      </m:e>
                    </m:rad>
                    <m:r>
                      <a:rPr lang="en-US" sz="2400" b="0" i="1" smtClean="0">
                        <a:latin typeface="Cambria Math" panose="02040503050406030204" pitchFamily="18" charset="0"/>
                      </a:rPr>
                      <m:t>=4184.85</m:t>
                    </m:r>
                  </m:oMath>
                </a14:m>
                <a:endParaRPr lang="en-US" sz="2400" dirty="0"/>
              </a:p>
              <a:p>
                <a:r>
                  <a:rPr lang="en-US" sz="2400" dirty="0"/>
                  <a:t>t</a:t>
                </a:r>
                <a:r>
                  <a:rPr lang="en-US" sz="2400" baseline="-25000" dirty="0"/>
                  <a:t>0.95,33</a:t>
                </a:r>
                <a:r>
                  <a:rPr lang="en-US" sz="2400" dirty="0"/>
                  <a:t> = 2.0345</a:t>
                </a:r>
              </a:p>
              <a:p>
                <a:r>
                  <a:rPr lang="en-US" sz="2400" dirty="0"/>
                  <a:t>95% Confidence Interval = 104,646 ± 2.0345x4184.85</a:t>
                </a:r>
              </a:p>
              <a:p>
                <a:r>
                  <a:rPr lang="en-US" sz="2400" dirty="0"/>
                  <a:t>= [96,132, 113,160]</a:t>
                </a:r>
              </a:p>
              <a:p>
                <a:endParaRPr lang="en-US" dirty="0"/>
              </a:p>
            </p:txBody>
          </p:sp>
        </mc:Choice>
        <mc:Fallback xmlns="">
          <p:sp>
            <p:nvSpPr>
              <p:cNvPr id="3" name="Content Placeholder 2">
                <a:extLst>
                  <a:ext uri="{FF2B5EF4-FFF2-40B4-BE49-F238E27FC236}">
                    <a16:creationId xmlns:a16="http://schemas.microsoft.com/office/drawing/2014/main" id="{A016F351-624C-4926-A1FD-97F7205227AE}"/>
                  </a:ext>
                </a:extLst>
              </p:cNvPr>
              <p:cNvSpPr>
                <a:spLocks noGrp="1" noRot="1" noChangeAspect="1" noMove="1" noResize="1" noEditPoints="1" noAdjustHandles="1" noChangeArrowheads="1" noChangeShapeType="1" noTextEdit="1"/>
              </p:cNvSpPr>
              <p:nvPr>
                <p:ph idx="1"/>
              </p:nvPr>
            </p:nvSpPr>
            <p:spPr>
              <a:xfrm>
                <a:off x="304800" y="2133600"/>
                <a:ext cx="7848600" cy="3880773"/>
              </a:xfrm>
              <a:blipFill>
                <a:blip r:embed="rId2"/>
                <a:stretch>
                  <a:fillRect l="-621" t="-1256"/>
                </a:stretch>
              </a:blipFill>
            </p:spPr>
            <p:txBody>
              <a:bodyPr/>
              <a:lstStyle/>
              <a:p>
                <a:r>
                  <a:rPr lang="en-US">
                    <a:noFill/>
                  </a:rPr>
                  <a:t> </a:t>
                </a:r>
              </a:p>
            </p:txBody>
          </p:sp>
        </mc:Fallback>
      </mc:AlternateContent>
    </p:spTree>
    <p:extLst>
      <p:ext uri="{BB962C8B-B14F-4D97-AF65-F5344CB8AC3E}">
        <p14:creationId xmlns:p14="http://schemas.microsoft.com/office/powerpoint/2010/main" val="35679850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577E2-9699-4310-9190-824DA52B96E0}"/>
              </a:ext>
            </a:extLst>
          </p:cNvPr>
          <p:cNvSpPr>
            <a:spLocks noGrp="1"/>
          </p:cNvSpPr>
          <p:nvPr>
            <p:ph type="title"/>
          </p:nvPr>
        </p:nvSpPr>
        <p:spPr>
          <a:xfrm>
            <a:off x="609599" y="609600"/>
            <a:ext cx="7086601" cy="914400"/>
          </a:xfrm>
        </p:spPr>
        <p:txBody>
          <a:bodyPr/>
          <a:lstStyle/>
          <a:p>
            <a:r>
              <a:rPr lang="en-US" dirty="0"/>
              <a:t>Methods of Variable Selection</a:t>
            </a:r>
          </a:p>
        </p:txBody>
      </p:sp>
      <p:sp>
        <p:nvSpPr>
          <p:cNvPr id="3" name="Content Placeholder 2">
            <a:extLst>
              <a:ext uri="{FF2B5EF4-FFF2-40B4-BE49-F238E27FC236}">
                <a16:creationId xmlns:a16="http://schemas.microsoft.com/office/drawing/2014/main" id="{006AD7AA-70C7-441E-90FF-719EAC1A8559}"/>
              </a:ext>
            </a:extLst>
          </p:cNvPr>
          <p:cNvSpPr>
            <a:spLocks noGrp="1"/>
          </p:cNvSpPr>
          <p:nvPr>
            <p:ph idx="1"/>
          </p:nvPr>
        </p:nvSpPr>
        <p:spPr>
          <a:xfrm>
            <a:off x="609598" y="1676400"/>
            <a:ext cx="7848601" cy="4648200"/>
          </a:xfrm>
        </p:spPr>
        <p:txBody>
          <a:bodyPr/>
          <a:lstStyle/>
          <a:p>
            <a:r>
              <a:rPr lang="en-US" sz="2800" dirty="0"/>
              <a:t>Forward</a:t>
            </a:r>
          </a:p>
          <a:p>
            <a:r>
              <a:rPr lang="en-US" sz="2000" dirty="0"/>
              <a:t>Assume that we have k independent variables</a:t>
            </a:r>
          </a:p>
          <a:p>
            <a:r>
              <a:rPr lang="en-US" sz="2000" dirty="0"/>
              <a:t>Calculate the correlations between dependent variable and all independent variables</a:t>
            </a:r>
          </a:p>
          <a:p>
            <a:r>
              <a:rPr lang="en-US" sz="2000" dirty="0"/>
              <a:t>Develop a simple linear regression model with the independent variable having highest correlation with the dependent variable (</a:t>
            </a:r>
            <a:r>
              <a:rPr lang="en-US" sz="2000" dirty="0">
                <a:solidFill>
                  <a:srgbClr val="FF0000"/>
                </a:solidFill>
              </a:rPr>
              <a:t>The p-value must me less than pre-defined </a:t>
            </a:r>
            <a:r>
              <a:rPr lang="el-GR" sz="2000" dirty="0">
                <a:solidFill>
                  <a:srgbClr val="FF0000"/>
                </a:solidFill>
              </a:rPr>
              <a:t>α</a:t>
            </a:r>
            <a:r>
              <a:rPr lang="en-US" sz="2000" dirty="0"/>
              <a:t>)</a:t>
            </a:r>
          </a:p>
          <a:p>
            <a:r>
              <a:rPr lang="en-US" sz="2000" dirty="0"/>
              <a:t>Add variable X</a:t>
            </a:r>
            <a:r>
              <a:rPr lang="en-US" sz="2000" baseline="-25000" dirty="0"/>
              <a:t>j</a:t>
            </a:r>
            <a:r>
              <a:rPr lang="en-US" sz="2000" dirty="0"/>
              <a:t> with smallest p-value based on “Partial F value”. (</a:t>
            </a:r>
            <a:r>
              <a:rPr lang="en-US" sz="2000" dirty="0">
                <a:solidFill>
                  <a:srgbClr val="FF0000"/>
                </a:solidFill>
              </a:rPr>
              <a:t>The p-value must me less than pre-defined </a:t>
            </a:r>
            <a:r>
              <a:rPr lang="el-GR" sz="2000" dirty="0">
                <a:solidFill>
                  <a:srgbClr val="FF0000"/>
                </a:solidFill>
              </a:rPr>
              <a:t>α</a:t>
            </a:r>
            <a:r>
              <a:rPr lang="en-US" sz="2000" dirty="0"/>
              <a:t>)</a:t>
            </a:r>
          </a:p>
          <a:p>
            <a:r>
              <a:rPr lang="en-US" sz="2000" dirty="0"/>
              <a:t>Repeat above step till (a) all independent variables are exhausted or (b) p-value based on partial F test is more than </a:t>
            </a:r>
            <a:r>
              <a:rPr lang="el-GR" sz="2000" dirty="0"/>
              <a:t>α</a:t>
            </a:r>
            <a:endParaRPr lang="en-US" sz="2000" dirty="0"/>
          </a:p>
        </p:txBody>
      </p:sp>
    </p:spTree>
    <p:extLst>
      <p:ext uri="{BB962C8B-B14F-4D97-AF65-F5344CB8AC3E}">
        <p14:creationId xmlns:p14="http://schemas.microsoft.com/office/powerpoint/2010/main" val="35930975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FEC1CD-46F8-420D-849C-5D866A052947}"/>
              </a:ext>
            </a:extLst>
          </p:cNvPr>
          <p:cNvSpPr>
            <a:spLocks noGrp="1"/>
          </p:cNvSpPr>
          <p:nvPr>
            <p:ph type="title"/>
          </p:nvPr>
        </p:nvSpPr>
        <p:spPr>
          <a:xfrm>
            <a:off x="609600" y="304800"/>
            <a:ext cx="6347714" cy="762000"/>
          </a:xfrm>
        </p:spPr>
        <p:txBody>
          <a:bodyPr/>
          <a:lstStyle/>
          <a:p>
            <a:r>
              <a:rPr lang="en-US" dirty="0"/>
              <a:t>Forward Selection</a:t>
            </a:r>
          </a:p>
        </p:txBody>
      </p:sp>
      <p:graphicFrame>
        <p:nvGraphicFramePr>
          <p:cNvPr id="5" name="Table 4">
            <a:extLst>
              <a:ext uri="{FF2B5EF4-FFF2-40B4-BE49-F238E27FC236}">
                <a16:creationId xmlns:a16="http://schemas.microsoft.com/office/drawing/2014/main" id="{D7A85A47-C8FF-4EB1-8BDB-1E694756E698}"/>
              </a:ext>
            </a:extLst>
          </p:cNvPr>
          <p:cNvGraphicFramePr>
            <a:graphicFrameLocks noGrp="1"/>
          </p:cNvGraphicFramePr>
          <p:nvPr>
            <p:extLst>
              <p:ext uri="{D42A27DB-BD31-4B8C-83A1-F6EECF244321}">
                <p14:modId xmlns:p14="http://schemas.microsoft.com/office/powerpoint/2010/main" val="980195685"/>
              </p:ext>
            </p:extLst>
          </p:nvPr>
        </p:nvGraphicFramePr>
        <p:xfrm>
          <a:off x="381000" y="1219200"/>
          <a:ext cx="8303560" cy="2438400"/>
        </p:xfrm>
        <a:graphic>
          <a:graphicData uri="http://schemas.openxmlformats.org/drawingml/2006/table">
            <a:tbl>
              <a:tblPr>
                <a:tableStyleId>{5C22544A-7EE6-4342-B048-85BDC9FD1C3A}</a:tableStyleId>
              </a:tblPr>
              <a:tblGrid>
                <a:gridCol w="1269334">
                  <a:extLst>
                    <a:ext uri="{9D8B030D-6E8A-4147-A177-3AD203B41FA5}">
                      <a16:colId xmlns:a16="http://schemas.microsoft.com/office/drawing/2014/main" val="544825424"/>
                    </a:ext>
                  </a:extLst>
                </a:gridCol>
                <a:gridCol w="1269334">
                  <a:extLst>
                    <a:ext uri="{9D8B030D-6E8A-4147-A177-3AD203B41FA5}">
                      <a16:colId xmlns:a16="http://schemas.microsoft.com/office/drawing/2014/main" val="771614413"/>
                    </a:ext>
                  </a:extLst>
                </a:gridCol>
                <a:gridCol w="1269334">
                  <a:extLst>
                    <a:ext uri="{9D8B030D-6E8A-4147-A177-3AD203B41FA5}">
                      <a16:colId xmlns:a16="http://schemas.microsoft.com/office/drawing/2014/main" val="2544012155"/>
                    </a:ext>
                  </a:extLst>
                </a:gridCol>
                <a:gridCol w="4495558">
                  <a:extLst>
                    <a:ext uri="{9D8B030D-6E8A-4147-A177-3AD203B41FA5}">
                      <a16:colId xmlns:a16="http://schemas.microsoft.com/office/drawing/2014/main" val="2738602124"/>
                    </a:ext>
                  </a:extLst>
                </a:gridCol>
              </a:tblGrid>
              <a:tr h="243623">
                <a:tc gridSpan="4">
                  <a:txBody>
                    <a:bodyPr/>
                    <a:lstStyle/>
                    <a:p>
                      <a:pPr algn="ctr" fontAlgn="ctr"/>
                      <a:r>
                        <a:rPr lang="en-US" sz="1400" u="none" strike="noStrike" dirty="0">
                          <a:effectLst/>
                        </a:rPr>
                        <a:t>Variables Entered/</a:t>
                      </a:r>
                      <a:r>
                        <a:rPr lang="en-US" sz="1400" u="none" strike="noStrike" dirty="0" err="1">
                          <a:effectLst/>
                        </a:rPr>
                        <a:t>Removed</a:t>
                      </a:r>
                      <a:r>
                        <a:rPr lang="en-US" sz="1400" u="none" strike="noStrike" baseline="30000" dirty="0" err="1">
                          <a:effectLst/>
                        </a:rPr>
                        <a:t>a</a:t>
                      </a:r>
                      <a:endParaRPr lang="en-US" sz="1400" b="1" i="0" u="none" strike="noStrike" dirty="0">
                        <a:solidFill>
                          <a:srgbClr val="000000"/>
                        </a:solidFill>
                        <a:effectLst/>
                        <a:latin typeface="Arial Bold" panose="020B07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68237531"/>
                  </a:ext>
                </a:extLst>
              </a:tr>
              <a:tr h="440688">
                <a:tc>
                  <a:txBody>
                    <a:bodyPr/>
                    <a:lstStyle/>
                    <a:p>
                      <a:pPr algn="ctr" fontAlgn="b"/>
                      <a:r>
                        <a:rPr lang="en-US" sz="1400" u="none" strike="noStrike" dirty="0">
                          <a:effectLst/>
                        </a:rPr>
                        <a:t>Model</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a:effectLst/>
                        </a:rPr>
                        <a:t>Variables Entered</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a:effectLst/>
                        </a:rPr>
                        <a:t>Variables Removed</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a:effectLst/>
                        </a:rPr>
                        <a:t>Method</a:t>
                      </a:r>
                      <a:endParaRPr lang="en-US" sz="14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148652982"/>
                  </a:ext>
                </a:extLst>
              </a:tr>
              <a:tr h="381677">
                <a:tc>
                  <a:txBody>
                    <a:bodyPr/>
                    <a:lstStyle/>
                    <a:p>
                      <a:pPr algn="ctr" fontAlgn="t"/>
                      <a:r>
                        <a:rPr lang="en-US" sz="1400" u="none" strike="noStrike" dirty="0">
                          <a:effectLst/>
                        </a:rPr>
                        <a:t>1</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T2</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l" fontAlgn="t"/>
                      <a:r>
                        <a:rPr lang="en-US" sz="1400" u="none" strike="noStrike">
                          <a:effectLst/>
                        </a:rPr>
                        <a:t>Forward (Criterion: Probability-of-F-to-enter &lt;= .050)</a:t>
                      </a:r>
                      <a:endParaRPr lang="en-US" sz="14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1956378667"/>
                  </a:ext>
                </a:extLst>
              </a:tr>
              <a:tr h="373556">
                <a:tc>
                  <a:txBody>
                    <a:bodyPr/>
                    <a:lstStyle/>
                    <a:p>
                      <a:pPr algn="ctr" fontAlgn="t"/>
                      <a:r>
                        <a:rPr lang="en-US" sz="1400" u="none" strike="noStrike" dirty="0">
                          <a:effectLst/>
                        </a:rPr>
                        <a:t>2</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OTINC</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l" fontAlgn="t"/>
                      <a:r>
                        <a:rPr lang="en-US" sz="1400" u="none" strike="noStrike" dirty="0">
                          <a:effectLst/>
                        </a:rPr>
                        <a:t>Forward (Criterion: Probability-of-F-to-enter &lt;= .050)</a:t>
                      </a:r>
                      <a:endParaRPr lang="en-US" sz="14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1846066460"/>
                  </a:ext>
                </a:extLst>
              </a:tr>
              <a:tr h="373556">
                <a:tc>
                  <a:txBody>
                    <a:bodyPr/>
                    <a:lstStyle/>
                    <a:p>
                      <a:pPr algn="ctr" fontAlgn="t"/>
                      <a:r>
                        <a:rPr lang="en-US" sz="1400" u="none" strike="noStrike" dirty="0">
                          <a:effectLst/>
                        </a:rPr>
                        <a:t>3</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MATERIAL</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l" fontAlgn="t"/>
                      <a:r>
                        <a:rPr lang="en-US" sz="1400" u="none" strike="noStrike" dirty="0">
                          <a:effectLst/>
                        </a:rPr>
                        <a:t>Forward (Criterion: Probability-of-F-to-enter &lt;= .050)</a:t>
                      </a:r>
                      <a:endParaRPr lang="en-US" sz="14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3041196495"/>
                  </a:ext>
                </a:extLst>
              </a:tr>
              <a:tr h="381677">
                <a:tc>
                  <a:txBody>
                    <a:bodyPr/>
                    <a:lstStyle/>
                    <a:p>
                      <a:pPr algn="ctr" fontAlgn="t"/>
                      <a:r>
                        <a:rPr lang="en-US" sz="1400" u="none" strike="noStrike" dirty="0">
                          <a:effectLst/>
                        </a:rPr>
                        <a:t>4</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SALES</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l" fontAlgn="t"/>
                      <a:r>
                        <a:rPr lang="en-US" sz="1400" u="none" strike="noStrike" dirty="0">
                          <a:effectLst/>
                        </a:rPr>
                        <a:t>Forward (Criterion: Probability-of-F-to-enter &lt;= .050)</a:t>
                      </a:r>
                      <a:endParaRPr lang="en-US" sz="14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1816576618"/>
                  </a:ext>
                </a:extLst>
              </a:tr>
              <a:tr h="243623">
                <a:tc gridSpan="4">
                  <a:txBody>
                    <a:bodyPr/>
                    <a:lstStyle/>
                    <a:p>
                      <a:pPr algn="l" fontAlgn="t"/>
                      <a:r>
                        <a:rPr lang="en-US" sz="1400" u="none" strike="noStrike" dirty="0">
                          <a:effectLst/>
                        </a:rPr>
                        <a:t>a. Dependent Variable: PBT</a:t>
                      </a:r>
                      <a:endParaRPr lang="en-US" sz="1400" b="0" i="0" u="none" strike="noStrike" dirty="0">
                        <a:solidFill>
                          <a:srgbClr val="000000"/>
                        </a:solidFill>
                        <a:effectLst/>
                        <a:latin typeface="Arial" panose="020B06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91425461"/>
                  </a:ext>
                </a:extLst>
              </a:tr>
            </a:tbl>
          </a:graphicData>
        </a:graphic>
      </p:graphicFrame>
      <p:graphicFrame>
        <p:nvGraphicFramePr>
          <p:cNvPr id="6" name="Table 5">
            <a:extLst>
              <a:ext uri="{FF2B5EF4-FFF2-40B4-BE49-F238E27FC236}">
                <a16:creationId xmlns:a16="http://schemas.microsoft.com/office/drawing/2014/main" id="{6DD6D298-8B64-4DC4-8583-B4B6C7A16631}"/>
              </a:ext>
            </a:extLst>
          </p:cNvPr>
          <p:cNvGraphicFramePr>
            <a:graphicFrameLocks noGrp="1"/>
          </p:cNvGraphicFramePr>
          <p:nvPr>
            <p:extLst>
              <p:ext uri="{D42A27DB-BD31-4B8C-83A1-F6EECF244321}">
                <p14:modId xmlns:p14="http://schemas.microsoft.com/office/powerpoint/2010/main" val="2562597243"/>
              </p:ext>
            </p:extLst>
          </p:nvPr>
        </p:nvGraphicFramePr>
        <p:xfrm>
          <a:off x="381000" y="3975100"/>
          <a:ext cx="8153400" cy="2580640"/>
        </p:xfrm>
        <a:graphic>
          <a:graphicData uri="http://schemas.openxmlformats.org/drawingml/2006/table">
            <a:tbl>
              <a:tblPr>
                <a:tableStyleId>{5C22544A-7EE6-4342-B048-85BDC9FD1C3A}</a:tableStyleId>
              </a:tblPr>
              <a:tblGrid>
                <a:gridCol w="1539240">
                  <a:extLst>
                    <a:ext uri="{9D8B030D-6E8A-4147-A177-3AD203B41FA5}">
                      <a16:colId xmlns:a16="http://schemas.microsoft.com/office/drawing/2014/main" val="375695376"/>
                    </a:ext>
                  </a:extLst>
                </a:gridCol>
                <a:gridCol w="1203960">
                  <a:extLst>
                    <a:ext uri="{9D8B030D-6E8A-4147-A177-3AD203B41FA5}">
                      <a16:colId xmlns:a16="http://schemas.microsoft.com/office/drawing/2014/main" val="3973654473"/>
                    </a:ext>
                  </a:extLst>
                </a:gridCol>
                <a:gridCol w="1295400">
                  <a:extLst>
                    <a:ext uri="{9D8B030D-6E8A-4147-A177-3AD203B41FA5}">
                      <a16:colId xmlns:a16="http://schemas.microsoft.com/office/drawing/2014/main" val="2501590481"/>
                    </a:ext>
                  </a:extLst>
                </a:gridCol>
                <a:gridCol w="1676400">
                  <a:extLst>
                    <a:ext uri="{9D8B030D-6E8A-4147-A177-3AD203B41FA5}">
                      <a16:colId xmlns:a16="http://schemas.microsoft.com/office/drawing/2014/main" val="3553231626"/>
                    </a:ext>
                  </a:extLst>
                </a:gridCol>
                <a:gridCol w="2438400">
                  <a:extLst>
                    <a:ext uri="{9D8B030D-6E8A-4147-A177-3AD203B41FA5}">
                      <a16:colId xmlns:a16="http://schemas.microsoft.com/office/drawing/2014/main" val="3633752731"/>
                    </a:ext>
                  </a:extLst>
                </a:gridCol>
              </a:tblGrid>
              <a:tr h="190500">
                <a:tc gridSpan="5">
                  <a:txBody>
                    <a:bodyPr/>
                    <a:lstStyle/>
                    <a:p>
                      <a:pPr algn="ctr" fontAlgn="ctr"/>
                      <a:r>
                        <a:rPr lang="en-US" sz="1400" u="none" strike="noStrike" dirty="0">
                          <a:effectLst/>
                        </a:rPr>
                        <a:t>Model Summary</a:t>
                      </a:r>
                      <a:endParaRPr lang="en-US" sz="1400" b="1" i="0" u="none" strike="noStrike" dirty="0">
                        <a:solidFill>
                          <a:srgbClr val="000000"/>
                        </a:solidFill>
                        <a:effectLst/>
                        <a:latin typeface="Arial Bold" panose="020B07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46983545"/>
                  </a:ext>
                </a:extLst>
              </a:tr>
              <a:tr h="300990">
                <a:tc>
                  <a:txBody>
                    <a:bodyPr/>
                    <a:lstStyle/>
                    <a:p>
                      <a:pPr algn="ctr" fontAlgn="b"/>
                      <a:r>
                        <a:rPr lang="en-US" sz="1400" u="none" strike="noStrike" dirty="0">
                          <a:effectLst/>
                        </a:rPr>
                        <a:t>Model</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dirty="0">
                          <a:effectLst/>
                        </a:rPr>
                        <a:t>R</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a:effectLst/>
                        </a:rPr>
                        <a:t>R Square</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dirty="0">
                          <a:effectLst/>
                        </a:rPr>
                        <a:t>Adjusted R Square</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a:effectLst/>
                        </a:rPr>
                        <a:t>Std. Error of the Estimate</a:t>
                      </a:r>
                      <a:endParaRPr lang="en-US" sz="14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2990687491"/>
                  </a:ext>
                </a:extLst>
              </a:tr>
              <a:tr h="298450">
                <a:tc>
                  <a:txBody>
                    <a:bodyPr/>
                    <a:lstStyle/>
                    <a:p>
                      <a:pPr algn="ctr" fontAlgn="t"/>
                      <a:r>
                        <a:rPr lang="en-US" sz="1400" u="none" strike="noStrike" dirty="0">
                          <a:effectLst/>
                        </a:rPr>
                        <a:t>1</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.955</a:t>
                      </a:r>
                      <a:r>
                        <a:rPr lang="en-US" sz="1400" u="none" strike="noStrike" baseline="30000">
                          <a:effectLst/>
                        </a:rPr>
                        <a:t>a</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.911</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.906</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526.5058</a:t>
                      </a:r>
                      <a:endParaRPr lang="en-US" sz="14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1104053762"/>
                  </a:ext>
                </a:extLst>
              </a:tr>
              <a:tr h="292100">
                <a:tc>
                  <a:txBody>
                    <a:bodyPr/>
                    <a:lstStyle/>
                    <a:p>
                      <a:pPr algn="ctr" fontAlgn="t"/>
                      <a:r>
                        <a:rPr lang="en-US" sz="1400" u="none" strike="noStrike" dirty="0">
                          <a:effectLst/>
                        </a:rPr>
                        <a:t>2</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.975</a:t>
                      </a:r>
                      <a:r>
                        <a:rPr lang="en-US" sz="1400" u="none" strike="noStrike" baseline="30000" dirty="0">
                          <a:effectLst/>
                        </a:rPr>
                        <a:t>b</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.951</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.945</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404.3057</a:t>
                      </a:r>
                      <a:endParaRPr lang="en-US" sz="14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728857531"/>
                  </a:ext>
                </a:extLst>
              </a:tr>
              <a:tr h="292100">
                <a:tc>
                  <a:txBody>
                    <a:bodyPr/>
                    <a:lstStyle/>
                    <a:p>
                      <a:pPr algn="ctr" fontAlgn="t"/>
                      <a:r>
                        <a:rPr lang="en-US" sz="1400" u="none" strike="noStrike" dirty="0">
                          <a:effectLst/>
                        </a:rPr>
                        <a:t>3</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.981</a:t>
                      </a:r>
                      <a:r>
                        <a:rPr lang="en-US" sz="1400" u="none" strike="noStrike" baseline="30000" dirty="0">
                          <a:effectLst/>
                        </a:rPr>
                        <a:t>c</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.963</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.956</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361.1521</a:t>
                      </a:r>
                      <a:endParaRPr lang="en-US" sz="14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3116419071"/>
                  </a:ext>
                </a:extLst>
              </a:tr>
              <a:tr h="298450">
                <a:tc>
                  <a:txBody>
                    <a:bodyPr/>
                    <a:lstStyle/>
                    <a:p>
                      <a:pPr algn="ctr" fontAlgn="t"/>
                      <a:r>
                        <a:rPr lang="en-US" sz="1400" u="none" strike="noStrike" dirty="0">
                          <a:effectLst/>
                        </a:rPr>
                        <a:t>4</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.987</a:t>
                      </a:r>
                      <a:r>
                        <a:rPr lang="en-US" sz="1400" u="none" strike="noStrike" baseline="30000" dirty="0">
                          <a:effectLst/>
                        </a:rPr>
                        <a:t>d</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.975</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.968</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305.8223</a:t>
                      </a:r>
                      <a:endParaRPr lang="en-US" sz="14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725805141"/>
                  </a:ext>
                </a:extLst>
              </a:tr>
              <a:tr h="190500">
                <a:tc gridSpan="5">
                  <a:txBody>
                    <a:bodyPr/>
                    <a:lstStyle/>
                    <a:p>
                      <a:pPr algn="l" fontAlgn="t"/>
                      <a:r>
                        <a:rPr lang="en-US" sz="1400" u="none" strike="noStrike" dirty="0">
                          <a:effectLst/>
                        </a:rPr>
                        <a:t>a. Predictors: (Constant), T2</a:t>
                      </a:r>
                      <a:endParaRPr lang="en-US" sz="1400" b="0" i="0" u="none" strike="noStrike" dirty="0">
                        <a:solidFill>
                          <a:srgbClr val="000000"/>
                        </a:solidFill>
                        <a:effectLst/>
                        <a:latin typeface="Arial" panose="020B06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05131464"/>
                  </a:ext>
                </a:extLst>
              </a:tr>
              <a:tr h="184150">
                <a:tc gridSpan="5">
                  <a:txBody>
                    <a:bodyPr/>
                    <a:lstStyle/>
                    <a:p>
                      <a:pPr algn="l" fontAlgn="t"/>
                      <a:r>
                        <a:rPr lang="fr-FR" sz="1400" u="none" strike="noStrike" dirty="0">
                          <a:effectLst/>
                        </a:rPr>
                        <a:t>b. </a:t>
                      </a:r>
                      <a:r>
                        <a:rPr lang="fr-FR" sz="1400" u="none" strike="noStrike" dirty="0" err="1">
                          <a:effectLst/>
                        </a:rPr>
                        <a:t>Predictors</a:t>
                      </a:r>
                      <a:r>
                        <a:rPr lang="fr-FR" sz="1400" u="none" strike="noStrike" dirty="0">
                          <a:effectLst/>
                        </a:rPr>
                        <a:t>: (Constant), T2, OTINC</a:t>
                      </a:r>
                      <a:endParaRPr lang="fr-FR" sz="1400" b="0" i="0" u="none" strike="noStrike" dirty="0">
                        <a:solidFill>
                          <a:srgbClr val="000000"/>
                        </a:solidFill>
                        <a:effectLst/>
                        <a:latin typeface="Arial" panose="020B06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08134056"/>
                  </a:ext>
                </a:extLst>
              </a:tr>
              <a:tr h="184150">
                <a:tc gridSpan="5">
                  <a:txBody>
                    <a:bodyPr/>
                    <a:lstStyle/>
                    <a:p>
                      <a:pPr algn="l" fontAlgn="t"/>
                      <a:r>
                        <a:rPr lang="en-US" sz="1400" u="none" strike="noStrike" dirty="0">
                          <a:effectLst/>
                        </a:rPr>
                        <a:t>c. Predictors: (Constant), T2, OTINC, MATERIAL</a:t>
                      </a:r>
                      <a:endParaRPr lang="en-US" sz="1400" b="0" i="0" u="none" strike="noStrike" dirty="0">
                        <a:solidFill>
                          <a:srgbClr val="000000"/>
                        </a:solidFill>
                        <a:effectLst/>
                        <a:latin typeface="Arial" panose="020B06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44712713"/>
                  </a:ext>
                </a:extLst>
              </a:tr>
              <a:tr h="184150">
                <a:tc gridSpan="5">
                  <a:txBody>
                    <a:bodyPr/>
                    <a:lstStyle/>
                    <a:p>
                      <a:pPr algn="l" fontAlgn="t"/>
                      <a:r>
                        <a:rPr lang="en-US" sz="1400" u="none" strike="noStrike" dirty="0">
                          <a:effectLst/>
                        </a:rPr>
                        <a:t>d. Predictors: (Constant), T2, OTINC, MATERIAL, SALES</a:t>
                      </a:r>
                      <a:endParaRPr lang="en-US" sz="1400" b="0" i="0" u="none" strike="noStrike" dirty="0">
                        <a:solidFill>
                          <a:srgbClr val="000000"/>
                        </a:solidFill>
                        <a:effectLst/>
                        <a:latin typeface="Arial" panose="020B06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11026988"/>
                  </a:ext>
                </a:extLst>
              </a:tr>
            </a:tbl>
          </a:graphicData>
        </a:graphic>
      </p:graphicFrame>
    </p:spTree>
    <p:extLst>
      <p:ext uri="{BB962C8B-B14F-4D97-AF65-F5344CB8AC3E}">
        <p14:creationId xmlns:p14="http://schemas.microsoft.com/office/powerpoint/2010/main" val="24100457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D2EC1-B250-4AA2-81B1-376523A319EB}"/>
              </a:ext>
            </a:extLst>
          </p:cNvPr>
          <p:cNvSpPr>
            <a:spLocks noGrp="1"/>
          </p:cNvSpPr>
          <p:nvPr>
            <p:ph type="title"/>
          </p:nvPr>
        </p:nvSpPr>
        <p:spPr>
          <a:xfrm>
            <a:off x="609600" y="228600"/>
            <a:ext cx="6347714" cy="685800"/>
          </a:xfrm>
        </p:spPr>
        <p:txBody>
          <a:bodyPr/>
          <a:lstStyle/>
          <a:p>
            <a:r>
              <a:rPr lang="en-US" dirty="0"/>
              <a:t>Forward Selection</a:t>
            </a:r>
          </a:p>
        </p:txBody>
      </p:sp>
      <p:graphicFrame>
        <p:nvGraphicFramePr>
          <p:cNvPr id="3" name="Table 2">
            <a:extLst>
              <a:ext uri="{FF2B5EF4-FFF2-40B4-BE49-F238E27FC236}">
                <a16:creationId xmlns:a16="http://schemas.microsoft.com/office/drawing/2014/main" id="{1360B2E7-78CB-4E98-8D09-17081A09C6F8}"/>
              </a:ext>
            </a:extLst>
          </p:cNvPr>
          <p:cNvGraphicFramePr>
            <a:graphicFrameLocks noGrp="1"/>
          </p:cNvGraphicFramePr>
          <p:nvPr>
            <p:extLst>
              <p:ext uri="{D42A27DB-BD31-4B8C-83A1-F6EECF244321}">
                <p14:modId xmlns:p14="http://schemas.microsoft.com/office/powerpoint/2010/main" val="2322552209"/>
              </p:ext>
            </p:extLst>
          </p:nvPr>
        </p:nvGraphicFramePr>
        <p:xfrm>
          <a:off x="533399" y="1219200"/>
          <a:ext cx="8077202" cy="5486397"/>
        </p:xfrm>
        <a:graphic>
          <a:graphicData uri="http://schemas.openxmlformats.org/drawingml/2006/table">
            <a:tbl>
              <a:tblPr>
                <a:tableStyleId>{5C22544A-7EE6-4342-B048-85BDC9FD1C3A}</a:tableStyleId>
              </a:tblPr>
              <a:tblGrid>
                <a:gridCol w="1153886">
                  <a:extLst>
                    <a:ext uri="{9D8B030D-6E8A-4147-A177-3AD203B41FA5}">
                      <a16:colId xmlns:a16="http://schemas.microsoft.com/office/drawing/2014/main" val="4178775225"/>
                    </a:ext>
                  </a:extLst>
                </a:gridCol>
                <a:gridCol w="1153886">
                  <a:extLst>
                    <a:ext uri="{9D8B030D-6E8A-4147-A177-3AD203B41FA5}">
                      <a16:colId xmlns:a16="http://schemas.microsoft.com/office/drawing/2014/main" val="3574565904"/>
                    </a:ext>
                  </a:extLst>
                </a:gridCol>
                <a:gridCol w="1153886">
                  <a:extLst>
                    <a:ext uri="{9D8B030D-6E8A-4147-A177-3AD203B41FA5}">
                      <a16:colId xmlns:a16="http://schemas.microsoft.com/office/drawing/2014/main" val="458735596"/>
                    </a:ext>
                  </a:extLst>
                </a:gridCol>
                <a:gridCol w="1153886">
                  <a:extLst>
                    <a:ext uri="{9D8B030D-6E8A-4147-A177-3AD203B41FA5}">
                      <a16:colId xmlns:a16="http://schemas.microsoft.com/office/drawing/2014/main" val="791537785"/>
                    </a:ext>
                  </a:extLst>
                </a:gridCol>
                <a:gridCol w="1153886">
                  <a:extLst>
                    <a:ext uri="{9D8B030D-6E8A-4147-A177-3AD203B41FA5}">
                      <a16:colId xmlns:a16="http://schemas.microsoft.com/office/drawing/2014/main" val="403755721"/>
                    </a:ext>
                  </a:extLst>
                </a:gridCol>
                <a:gridCol w="1153886">
                  <a:extLst>
                    <a:ext uri="{9D8B030D-6E8A-4147-A177-3AD203B41FA5}">
                      <a16:colId xmlns:a16="http://schemas.microsoft.com/office/drawing/2014/main" val="1804646877"/>
                    </a:ext>
                  </a:extLst>
                </a:gridCol>
                <a:gridCol w="1153886">
                  <a:extLst>
                    <a:ext uri="{9D8B030D-6E8A-4147-A177-3AD203B41FA5}">
                      <a16:colId xmlns:a16="http://schemas.microsoft.com/office/drawing/2014/main" val="3360206086"/>
                    </a:ext>
                  </a:extLst>
                </a:gridCol>
              </a:tblGrid>
              <a:tr h="274955">
                <a:tc gridSpan="7">
                  <a:txBody>
                    <a:bodyPr/>
                    <a:lstStyle/>
                    <a:p>
                      <a:pPr algn="ctr" fontAlgn="ctr"/>
                      <a:r>
                        <a:rPr lang="en-US" sz="1400" u="none" strike="noStrike" dirty="0">
                          <a:effectLst/>
                        </a:rPr>
                        <a:t>Coefficients</a:t>
                      </a:r>
                      <a:endParaRPr lang="en-US" sz="1400" b="1" i="0" u="none" strike="noStrike" dirty="0">
                        <a:solidFill>
                          <a:srgbClr val="000000"/>
                        </a:solidFill>
                        <a:effectLst/>
                        <a:latin typeface="Arial Bold" panose="020B0704020202020204" pitchFamily="34" charset="0"/>
                      </a:endParaRPr>
                    </a:p>
                  </a:txBody>
                  <a:tcPr marL="5802" marR="5802" marT="5802"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095053316"/>
                  </a:ext>
                </a:extLst>
              </a:tr>
              <a:tr h="698769">
                <a:tc rowSpan="2" gridSpan="2">
                  <a:txBody>
                    <a:bodyPr/>
                    <a:lstStyle/>
                    <a:p>
                      <a:pPr algn="ctr" fontAlgn="b"/>
                      <a:r>
                        <a:rPr lang="en-US" sz="1400" u="none" strike="noStrike" dirty="0">
                          <a:effectLst/>
                        </a:rPr>
                        <a:t>Model</a:t>
                      </a:r>
                      <a:endParaRPr lang="en-US" sz="1400" b="0" i="0" u="none" strike="noStrike" dirty="0">
                        <a:solidFill>
                          <a:srgbClr val="000000"/>
                        </a:solidFill>
                        <a:effectLst/>
                        <a:latin typeface="Arial" panose="020B0604020202020204" pitchFamily="34" charset="0"/>
                      </a:endParaRPr>
                    </a:p>
                  </a:txBody>
                  <a:tcPr marL="5802" marR="5802" marT="5802" marB="0" anchor="ctr"/>
                </a:tc>
                <a:tc rowSpan="2" hMerge="1">
                  <a:txBody>
                    <a:bodyPr/>
                    <a:lstStyle/>
                    <a:p>
                      <a:endParaRPr lang="en-US"/>
                    </a:p>
                  </a:txBody>
                  <a:tcPr/>
                </a:tc>
                <a:tc gridSpan="2">
                  <a:txBody>
                    <a:bodyPr/>
                    <a:lstStyle/>
                    <a:p>
                      <a:pPr algn="ctr" fontAlgn="b"/>
                      <a:r>
                        <a:rPr lang="en-US" sz="1400" u="none" strike="noStrike" dirty="0">
                          <a:effectLst/>
                        </a:rPr>
                        <a:t>Unstandardized Coefficients</a:t>
                      </a:r>
                      <a:endParaRPr lang="en-US" sz="1400" b="0" i="0" u="none" strike="noStrike" dirty="0">
                        <a:solidFill>
                          <a:srgbClr val="000000"/>
                        </a:solidFill>
                        <a:effectLst/>
                        <a:latin typeface="Arial" panose="020B0604020202020204" pitchFamily="34" charset="0"/>
                      </a:endParaRPr>
                    </a:p>
                  </a:txBody>
                  <a:tcPr marL="5802" marR="5802" marT="5802" marB="0" anchor="ctr"/>
                </a:tc>
                <a:tc hMerge="1">
                  <a:txBody>
                    <a:bodyPr/>
                    <a:lstStyle/>
                    <a:p>
                      <a:endParaRPr lang="en-US"/>
                    </a:p>
                  </a:txBody>
                  <a:tcPr/>
                </a:tc>
                <a:tc>
                  <a:txBody>
                    <a:bodyPr/>
                    <a:lstStyle/>
                    <a:p>
                      <a:pPr algn="ctr" fontAlgn="b"/>
                      <a:r>
                        <a:rPr lang="en-US" sz="1400" u="none" strike="noStrike">
                          <a:effectLst/>
                        </a:rPr>
                        <a:t>Standardized Coefficients</a:t>
                      </a:r>
                      <a:endParaRPr lang="en-US" sz="1400" b="0" i="0" u="none" strike="noStrike">
                        <a:solidFill>
                          <a:srgbClr val="000000"/>
                        </a:solidFill>
                        <a:effectLst/>
                        <a:latin typeface="Arial" panose="020B0604020202020204" pitchFamily="34" charset="0"/>
                      </a:endParaRPr>
                    </a:p>
                  </a:txBody>
                  <a:tcPr marL="5802" marR="5802" marT="5802" marB="0" anchor="ctr"/>
                </a:tc>
                <a:tc rowSpan="2">
                  <a:txBody>
                    <a:bodyPr/>
                    <a:lstStyle/>
                    <a:p>
                      <a:pPr algn="ctr" fontAlgn="b"/>
                      <a:r>
                        <a:rPr lang="en-US" sz="1400" u="none" strike="noStrike">
                          <a:effectLst/>
                        </a:rPr>
                        <a:t>t</a:t>
                      </a:r>
                      <a:endParaRPr lang="en-US" sz="1400" b="0" i="0" u="none" strike="noStrike">
                        <a:solidFill>
                          <a:srgbClr val="000000"/>
                        </a:solidFill>
                        <a:effectLst/>
                        <a:latin typeface="Arial" panose="020B0604020202020204" pitchFamily="34" charset="0"/>
                      </a:endParaRPr>
                    </a:p>
                  </a:txBody>
                  <a:tcPr marL="5802" marR="5802" marT="5802" marB="0" anchor="ctr"/>
                </a:tc>
                <a:tc rowSpan="2">
                  <a:txBody>
                    <a:bodyPr/>
                    <a:lstStyle/>
                    <a:p>
                      <a:pPr algn="ctr" fontAlgn="b"/>
                      <a:r>
                        <a:rPr lang="en-US" sz="1400" u="none" strike="noStrike">
                          <a:effectLst/>
                        </a:rPr>
                        <a:t>Sig.</a:t>
                      </a:r>
                      <a:endParaRPr lang="en-US" sz="1400" b="0" i="0" u="none" strike="noStrike">
                        <a:solidFill>
                          <a:srgbClr val="000000"/>
                        </a:solidFill>
                        <a:effectLst/>
                        <a:latin typeface="Arial" panose="020B0604020202020204" pitchFamily="34" charset="0"/>
                      </a:endParaRPr>
                    </a:p>
                  </a:txBody>
                  <a:tcPr marL="5802" marR="5802" marT="5802" marB="0" anchor="ctr"/>
                </a:tc>
                <a:extLst>
                  <a:ext uri="{0D108BD9-81ED-4DB2-BD59-A6C34878D82A}">
                    <a16:rowId xmlns:a16="http://schemas.microsoft.com/office/drawing/2014/main" val="789166044"/>
                  </a:ext>
                </a:extLst>
              </a:tr>
              <a:tr h="349385">
                <a:tc gridSpan="2" vMerge="1">
                  <a:txBody>
                    <a:bodyPr/>
                    <a:lstStyle/>
                    <a:p>
                      <a:endParaRPr lang="en-US"/>
                    </a:p>
                  </a:txBody>
                  <a:tcPr/>
                </a:tc>
                <a:tc hMerge="1" vMerge="1">
                  <a:txBody>
                    <a:bodyPr/>
                    <a:lstStyle/>
                    <a:p>
                      <a:endParaRPr lang="en-US"/>
                    </a:p>
                  </a:txBody>
                  <a:tcPr/>
                </a:tc>
                <a:tc>
                  <a:txBody>
                    <a:bodyPr/>
                    <a:lstStyle/>
                    <a:p>
                      <a:pPr algn="ctr" fontAlgn="b"/>
                      <a:r>
                        <a:rPr lang="en-US" sz="1400" u="none" strike="noStrike">
                          <a:effectLst/>
                        </a:rPr>
                        <a:t>B</a:t>
                      </a:r>
                      <a:endParaRPr lang="en-US" sz="1400" b="0" i="0" u="none" strike="noStrike">
                        <a:solidFill>
                          <a:srgbClr val="000000"/>
                        </a:solidFill>
                        <a:effectLst/>
                        <a:latin typeface="Arial" panose="020B0604020202020204" pitchFamily="34" charset="0"/>
                      </a:endParaRPr>
                    </a:p>
                  </a:txBody>
                  <a:tcPr marL="5802" marR="5802" marT="5802" marB="0" anchor="ctr"/>
                </a:tc>
                <a:tc>
                  <a:txBody>
                    <a:bodyPr/>
                    <a:lstStyle/>
                    <a:p>
                      <a:pPr algn="ctr" fontAlgn="b"/>
                      <a:r>
                        <a:rPr lang="en-US" sz="1400" u="none" strike="noStrike">
                          <a:effectLst/>
                        </a:rPr>
                        <a:t>Std. Error</a:t>
                      </a:r>
                      <a:endParaRPr lang="en-US" sz="1400" b="0" i="0" u="none" strike="noStrike">
                        <a:solidFill>
                          <a:srgbClr val="000000"/>
                        </a:solidFill>
                        <a:effectLst/>
                        <a:latin typeface="Arial" panose="020B0604020202020204" pitchFamily="34" charset="0"/>
                      </a:endParaRPr>
                    </a:p>
                  </a:txBody>
                  <a:tcPr marL="5802" marR="5802" marT="5802" marB="0" anchor="ctr"/>
                </a:tc>
                <a:tc>
                  <a:txBody>
                    <a:bodyPr/>
                    <a:lstStyle/>
                    <a:p>
                      <a:pPr algn="ctr" fontAlgn="b"/>
                      <a:r>
                        <a:rPr lang="en-US" sz="1400" u="none" strike="noStrike">
                          <a:effectLst/>
                        </a:rPr>
                        <a:t>Beta</a:t>
                      </a:r>
                      <a:endParaRPr lang="en-US" sz="1400" b="0" i="0" u="none" strike="noStrike">
                        <a:solidFill>
                          <a:srgbClr val="000000"/>
                        </a:solidFill>
                        <a:effectLst/>
                        <a:latin typeface="Arial" panose="020B0604020202020204" pitchFamily="34" charset="0"/>
                      </a:endParaRPr>
                    </a:p>
                  </a:txBody>
                  <a:tcPr marL="5802" marR="5802" marT="5802" marB="0" anchor="ct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334758510"/>
                  </a:ext>
                </a:extLst>
              </a:tr>
              <a:tr h="342106">
                <a:tc rowSpan="2">
                  <a:txBody>
                    <a:bodyPr/>
                    <a:lstStyle/>
                    <a:p>
                      <a:pPr algn="ctr" fontAlgn="t"/>
                      <a:r>
                        <a:rPr lang="en-US" sz="1400" u="none" strike="noStrike" dirty="0">
                          <a:effectLst/>
                        </a:rPr>
                        <a:t>1</a:t>
                      </a:r>
                      <a:endParaRPr lang="en-US" sz="1400" b="0" i="0" u="none" strike="noStrike" dirty="0">
                        <a:solidFill>
                          <a:srgbClr val="000000"/>
                        </a:solidFill>
                        <a:effectLst/>
                        <a:latin typeface="Arial" panose="020B0604020202020204" pitchFamily="34" charset="0"/>
                      </a:endParaRPr>
                    </a:p>
                  </a:txBody>
                  <a:tcPr marL="5802" marR="5802" marT="5802" marB="0" anchor="ctr">
                    <a:solidFill>
                      <a:schemeClr val="bg2"/>
                    </a:solidFill>
                  </a:tcPr>
                </a:tc>
                <a:tc>
                  <a:txBody>
                    <a:bodyPr/>
                    <a:lstStyle/>
                    <a:p>
                      <a:pPr algn="ctr" fontAlgn="t"/>
                      <a:r>
                        <a:rPr lang="en-US" sz="1400" u="none" strike="noStrike" dirty="0">
                          <a:effectLst/>
                        </a:rPr>
                        <a:t>(Constant)</a:t>
                      </a:r>
                      <a:endParaRPr lang="en-US" sz="1400" b="0" i="0" u="none" strike="noStrike" dirty="0">
                        <a:solidFill>
                          <a:srgbClr val="000000"/>
                        </a:solidFill>
                        <a:effectLst/>
                        <a:latin typeface="Arial" panose="020B0604020202020204" pitchFamily="34" charset="0"/>
                      </a:endParaRPr>
                    </a:p>
                  </a:txBody>
                  <a:tcPr marL="5802" marR="5802" marT="5802" marB="0" anchor="ctr">
                    <a:solidFill>
                      <a:schemeClr val="bg2"/>
                    </a:solidFill>
                  </a:tcPr>
                </a:tc>
                <a:tc>
                  <a:txBody>
                    <a:bodyPr/>
                    <a:lstStyle/>
                    <a:p>
                      <a:pPr algn="ctr" fontAlgn="t"/>
                      <a:r>
                        <a:rPr lang="en-US" sz="1400" u="none" strike="noStrike">
                          <a:effectLst/>
                        </a:rPr>
                        <a:t>392.134</a:t>
                      </a:r>
                      <a:endParaRPr lang="en-US" sz="1400" b="0" i="0" u="none" strike="noStrike">
                        <a:solidFill>
                          <a:srgbClr val="000000"/>
                        </a:solidFill>
                        <a:effectLst/>
                        <a:latin typeface="Arial" panose="020B0604020202020204" pitchFamily="34" charset="0"/>
                      </a:endParaRPr>
                    </a:p>
                  </a:txBody>
                  <a:tcPr marL="5802" marR="5802" marT="5802" marB="0" anchor="ctr">
                    <a:solidFill>
                      <a:schemeClr val="bg2"/>
                    </a:solidFill>
                  </a:tcPr>
                </a:tc>
                <a:tc>
                  <a:txBody>
                    <a:bodyPr/>
                    <a:lstStyle/>
                    <a:p>
                      <a:pPr algn="ctr" fontAlgn="t"/>
                      <a:r>
                        <a:rPr lang="en-US" sz="1400" u="none" strike="noStrike">
                          <a:effectLst/>
                        </a:rPr>
                        <a:t>179.515</a:t>
                      </a:r>
                      <a:endParaRPr lang="en-US" sz="1400" b="0" i="0" u="none" strike="noStrike">
                        <a:solidFill>
                          <a:srgbClr val="000000"/>
                        </a:solidFill>
                        <a:effectLst/>
                        <a:latin typeface="Arial" panose="020B0604020202020204" pitchFamily="34" charset="0"/>
                      </a:endParaRPr>
                    </a:p>
                  </a:txBody>
                  <a:tcPr marL="5802" marR="5802" marT="5802" marB="0" anchor="ctr">
                    <a:solidFill>
                      <a:schemeClr val="bg2"/>
                    </a:solidFill>
                  </a:tcPr>
                </a:tc>
                <a:tc>
                  <a:txBody>
                    <a:bodyPr/>
                    <a:lstStyle/>
                    <a:p>
                      <a:pPr algn="ctr" fontAlgn="t"/>
                      <a:r>
                        <a:rPr lang="en-US" sz="1400" u="none" strike="noStrike">
                          <a:effectLst/>
                        </a:rPr>
                        <a:t> </a:t>
                      </a:r>
                      <a:endParaRPr lang="en-US" sz="1400" b="0" i="0" u="none" strike="noStrike">
                        <a:solidFill>
                          <a:srgbClr val="000000"/>
                        </a:solidFill>
                        <a:effectLst/>
                        <a:latin typeface="Arial" panose="020B0604020202020204" pitchFamily="34" charset="0"/>
                      </a:endParaRPr>
                    </a:p>
                  </a:txBody>
                  <a:tcPr marL="5802" marR="5802" marT="5802" marB="0" anchor="ctr">
                    <a:solidFill>
                      <a:schemeClr val="bg2"/>
                    </a:solidFill>
                  </a:tcPr>
                </a:tc>
                <a:tc>
                  <a:txBody>
                    <a:bodyPr/>
                    <a:lstStyle/>
                    <a:p>
                      <a:pPr algn="ctr" fontAlgn="t"/>
                      <a:r>
                        <a:rPr lang="en-US" sz="1400" u="none" strike="noStrike">
                          <a:effectLst/>
                        </a:rPr>
                        <a:t>2.184</a:t>
                      </a:r>
                      <a:endParaRPr lang="en-US" sz="1400" b="0" i="0" u="none" strike="noStrike">
                        <a:solidFill>
                          <a:srgbClr val="000000"/>
                        </a:solidFill>
                        <a:effectLst/>
                        <a:latin typeface="Arial" panose="020B0604020202020204" pitchFamily="34" charset="0"/>
                      </a:endParaRPr>
                    </a:p>
                  </a:txBody>
                  <a:tcPr marL="5802" marR="5802" marT="5802" marB="0" anchor="ctr">
                    <a:solidFill>
                      <a:schemeClr val="bg2"/>
                    </a:solidFill>
                  </a:tcPr>
                </a:tc>
                <a:tc>
                  <a:txBody>
                    <a:bodyPr/>
                    <a:lstStyle/>
                    <a:p>
                      <a:pPr algn="ctr" fontAlgn="t"/>
                      <a:r>
                        <a:rPr lang="en-US" sz="1400" u="none" strike="noStrike" dirty="0">
                          <a:effectLst/>
                        </a:rPr>
                        <a:t>.042</a:t>
                      </a:r>
                      <a:endParaRPr lang="en-US" sz="1400" b="0" i="0" u="none" strike="noStrike" dirty="0">
                        <a:solidFill>
                          <a:srgbClr val="000000"/>
                        </a:solidFill>
                        <a:effectLst/>
                        <a:latin typeface="Arial" panose="020B0604020202020204" pitchFamily="34" charset="0"/>
                      </a:endParaRPr>
                    </a:p>
                  </a:txBody>
                  <a:tcPr marL="5802" marR="5802" marT="5802" marB="0" anchor="ctr">
                    <a:solidFill>
                      <a:schemeClr val="bg2"/>
                    </a:solidFill>
                  </a:tcPr>
                </a:tc>
                <a:extLst>
                  <a:ext uri="{0D108BD9-81ED-4DB2-BD59-A6C34878D82A}">
                    <a16:rowId xmlns:a16="http://schemas.microsoft.com/office/drawing/2014/main" val="3833420489"/>
                  </a:ext>
                </a:extLst>
              </a:tr>
              <a:tr h="334827">
                <a:tc vMerge="1">
                  <a:txBody>
                    <a:bodyPr/>
                    <a:lstStyle/>
                    <a:p>
                      <a:endParaRPr lang="en-US"/>
                    </a:p>
                  </a:txBody>
                  <a:tcPr/>
                </a:tc>
                <a:tc>
                  <a:txBody>
                    <a:bodyPr/>
                    <a:lstStyle/>
                    <a:p>
                      <a:pPr algn="ctr" fontAlgn="t"/>
                      <a:r>
                        <a:rPr lang="en-US" sz="1400" u="none" strike="noStrike" dirty="0">
                          <a:effectLst/>
                        </a:rPr>
                        <a:t>T2</a:t>
                      </a:r>
                      <a:endParaRPr lang="en-US" sz="1400" b="0" i="0" u="none" strike="noStrike" dirty="0">
                        <a:solidFill>
                          <a:srgbClr val="000000"/>
                        </a:solidFill>
                        <a:effectLst/>
                        <a:latin typeface="Arial" panose="020B0604020202020204" pitchFamily="34" charset="0"/>
                      </a:endParaRPr>
                    </a:p>
                  </a:txBody>
                  <a:tcPr marL="5802" marR="5802" marT="5802" marB="0" anchor="ctr">
                    <a:solidFill>
                      <a:schemeClr val="bg2"/>
                    </a:solidFill>
                  </a:tcPr>
                </a:tc>
                <a:tc>
                  <a:txBody>
                    <a:bodyPr/>
                    <a:lstStyle/>
                    <a:p>
                      <a:pPr algn="ctr" fontAlgn="t"/>
                      <a:r>
                        <a:rPr lang="en-US" sz="1400" u="none" strike="noStrike" dirty="0">
                          <a:effectLst/>
                        </a:rPr>
                        <a:t>12.835</a:t>
                      </a:r>
                      <a:endParaRPr lang="en-US" sz="1400" b="0" i="0" u="none" strike="noStrike" dirty="0">
                        <a:solidFill>
                          <a:srgbClr val="000000"/>
                        </a:solidFill>
                        <a:effectLst/>
                        <a:latin typeface="Arial" panose="020B0604020202020204" pitchFamily="34" charset="0"/>
                      </a:endParaRPr>
                    </a:p>
                  </a:txBody>
                  <a:tcPr marL="5802" marR="5802" marT="5802" marB="0" anchor="ctr">
                    <a:solidFill>
                      <a:schemeClr val="bg2"/>
                    </a:solidFill>
                  </a:tcPr>
                </a:tc>
                <a:tc>
                  <a:txBody>
                    <a:bodyPr/>
                    <a:lstStyle/>
                    <a:p>
                      <a:pPr algn="ctr" fontAlgn="t"/>
                      <a:r>
                        <a:rPr lang="en-US" sz="1400" u="none" strike="noStrike" dirty="0">
                          <a:effectLst/>
                        </a:rPr>
                        <a:t>.944</a:t>
                      </a:r>
                      <a:endParaRPr lang="en-US" sz="1400" b="0" i="0" u="none" strike="noStrike" dirty="0">
                        <a:solidFill>
                          <a:srgbClr val="000000"/>
                        </a:solidFill>
                        <a:effectLst/>
                        <a:latin typeface="Arial" panose="020B0604020202020204" pitchFamily="34" charset="0"/>
                      </a:endParaRPr>
                    </a:p>
                  </a:txBody>
                  <a:tcPr marL="5802" marR="5802" marT="5802" marB="0" anchor="ctr">
                    <a:solidFill>
                      <a:schemeClr val="bg2"/>
                    </a:solidFill>
                  </a:tcPr>
                </a:tc>
                <a:tc>
                  <a:txBody>
                    <a:bodyPr/>
                    <a:lstStyle/>
                    <a:p>
                      <a:pPr algn="ctr" fontAlgn="t"/>
                      <a:r>
                        <a:rPr lang="en-US" sz="1400" u="none" strike="noStrike" dirty="0">
                          <a:effectLst/>
                        </a:rPr>
                        <a:t>.955</a:t>
                      </a:r>
                      <a:endParaRPr lang="en-US" sz="1400" b="0" i="0" u="none" strike="noStrike" dirty="0">
                        <a:solidFill>
                          <a:srgbClr val="000000"/>
                        </a:solidFill>
                        <a:effectLst/>
                        <a:latin typeface="Arial" panose="020B0604020202020204" pitchFamily="34" charset="0"/>
                      </a:endParaRPr>
                    </a:p>
                  </a:txBody>
                  <a:tcPr marL="5802" marR="5802" marT="5802" marB="0" anchor="ctr">
                    <a:solidFill>
                      <a:schemeClr val="bg2"/>
                    </a:solidFill>
                  </a:tcPr>
                </a:tc>
                <a:tc>
                  <a:txBody>
                    <a:bodyPr/>
                    <a:lstStyle/>
                    <a:p>
                      <a:pPr algn="ctr" fontAlgn="t"/>
                      <a:r>
                        <a:rPr lang="en-US" sz="1400" u="none" strike="noStrike" dirty="0">
                          <a:effectLst/>
                        </a:rPr>
                        <a:t>13.590</a:t>
                      </a:r>
                      <a:endParaRPr lang="en-US" sz="1400" b="0" i="0" u="none" strike="noStrike" dirty="0">
                        <a:solidFill>
                          <a:srgbClr val="000000"/>
                        </a:solidFill>
                        <a:effectLst/>
                        <a:latin typeface="Arial" panose="020B0604020202020204" pitchFamily="34" charset="0"/>
                      </a:endParaRPr>
                    </a:p>
                  </a:txBody>
                  <a:tcPr marL="5802" marR="5802" marT="5802" marB="0" anchor="ctr">
                    <a:solidFill>
                      <a:schemeClr val="bg2"/>
                    </a:solidFill>
                  </a:tcPr>
                </a:tc>
                <a:tc>
                  <a:txBody>
                    <a:bodyPr/>
                    <a:lstStyle/>
                    <a:p>
                      <a:pPr algn="ctr" fontAlgn="t"/>
                      <a:r>
                        <a:rPr lang="en-US" sz="1400" u="none" strike="noStrike" dirty="0">
                          <a:effectLst/>
                        </a:rPr>
                        <a:t>.000</a:t>
                      </a:r>
                      <a:endParaRPr lang="en-US" sz="1400" b="0" i="0" u="none" strike="noStrike" dirty="0">
                        <a:solidFill>
                          <a:srgbClr val="000000"/>
                        </a:solidFill>
                        <a:effectLst/>
                        <a:latin typeface="Arial" panose="020B0604020202020204" pitchFamily="34" charset="0"/>
                      </a:endParaRPr>
                    </a:p>
                  </a:txBody>
                  <a:tcPr marL="5802" marR="5802" marT="5802" marB="0" anchor="ctr">
                    <a:solidFill>
                      <a:schemeClr val="bg2"/>
                    </a:solidFill>
                  </a:tcPr>
                </a:tc>
                <a:extLst>
                  <a:ext uri="{0D108BD9-81ED-4DB2-BD59-A6C34878D82A}">
                    <a16:rowId xmlns:a16="http://schemas.microsoft.com/office/drawing/2014/main" val="1402493712"/>
                  </a:ext>
                </a:extLst>
              </a:tr>
              <a:tr h="342106">
                <a:tc rowSpan="3">
                  <a:txBody>
                    <a:bodyPr/>
                    <a:lstStyle/>
                    <a:p>
                      <a:pPr algn="ctr" fontAlgn="t"/>
                      <a:r>
                        <a:rPr lang="en-US" sz="1400" u="none" strike="noStrike" dirty="0">
                          <a:effectLst/>
                        </a:rPr>
                        <a:t>2</a:t>
                      </a:r>
                      <a:endParaRPr lang="en-US" sz="1400" b="0" i="0" u="none" strike="noStrike" dirty="0">
                        <a:solidFill>
                          <a:srgbClr val="000000"/>
                        </a:solidFill>
                        <a:effectLst/>
                        <a:latin typeface="Arial" panose="020B0604020202020204" pitchFamily="34" charset="0"/>
                      </a:endParaRPr>
                    </a:p>
                  </a:txBody>
                  <a:tcPr marL="5802" marR="5802" marT="5802" marB="0" anchor="ctr">
                    <a:solidFill>
                      <a:srgbClr val="CCFF99"/>
                    </a:solidFill>
                  </a:tcPr>
                </a:tc>
                <a:tc>
                  <a:txBody>
                    <a:bodyPr/>
                    <a:lstStyle/>
                    <a:p>
                      <a:pPr algn="ctr" fontAlgn="t"/>
                      <a:r>
                        <a:rPr lang="en-US" sz="1400" u="none" strike="noStrike">
                          <a:effectLst/>
                        </a:rPr>
                        <a:t>(Constant)</a:t>
                      </a:r>
                      <a:endParaRPr lang="en-US" sz="1400" b="0" i="0" u="none" strike="noStrike">
                        <a:solidFill>
                          <a:srgbClr val="000000"/>
                        </a:solidFill>
                        <a:effectLst/>
                        <a:latin typeface="Arial" panose="020B0604020202020204" pitchFamily="34" charset="0"/>
                      </a:endParaRPr>
                    </a:p>
                  </a:txBody>
                  <a:tcPr marL="5802" marR="5802" marT="5802" marB="0" anchor="ctr">
                    <a:solidFill>
                      <a:srgbClr val="CCFF99"/>
                    </a:solidFill>
                  </a:tcPr>
                </a:tc>
                <a:tc>
                  <a:txBody>
                    <a:bodyPr/>
                    <a:lstStyle/>
                    <a:p>
                      <a:pPr algn="ctr" fontAlgn="t"/>
                      <a:r>
                        <a:rPr lang="en-US" sz="1400" u="none" strike="noStrike">
                          <a:effectLst/>
                        </a:rPr>
                        <a:t>497.386</a:t>
                      </a:r>
                      <a:endParaRPr lang="en-US" sz="1400" b="0" i="0" u="none" strike="noStrike">
                        <a:solidFill>
                          <a:srgbClr val="000000"/>
                        </a:solidFill>
                        <a:effectLst/>
                        <a:latin typeface="Arial" panose="020B0604020202020204" pitchFamily="34" charset="0"/>
                      </a:endParaRPr>
                    </a:p>
                  </a:txBody>
                  <a:tcPr marL="5802" marR="5802" marT="5802" marB="0" anchor="ctr">
                    <a:solidFill>
                      <a:srgbClr val="CCFF99"/>
                    </a:solidFill>
                  </a:tcPr>
                </a:tc>
                <a:tc>
                  <a:txBody>
                    <a:bodyPr/>
                    <a:lstStyle/>
                    <a:p>
                      <a:pPr algn="ctr" fontAlgn="t"/>
                      <a:r>
                        <a:rPr lang="en-US" sz="1400" u="none" strike="noStrike" dirty="0">
                          <a:effectLst/>
                        </a:rPr>
                        <a:t>140.790</a:t>
                      </a:r>
                      <a:endParaRPr lang="en-US" sz="1400" b="0" i="0" u="none" strike="noStrike" dirty="0">
                        <a:solidFill>
                          <a:srgbClr val="000000"/>
                        </a:solidFill>
                        <a:effectLst/>
                        <a:latin typeface="Arial" panose="020B0604020202020204" pitchFamily="34" charset="0"/>
                      </a:endParaRPr>
                    </a:p>
                  </a:txBody>
                  <a:tcPr marL="5802" marR="5802" marT="5802" marB="0" anchor="ctr">
                    <a:solidFill>
                      <a:srgbClr val="CCFF99"/>
                    </a:solidFill>
                  </a:tcPr>
                </a:tc>
                <a:tc>
                  <a:txBody>
                    <a:bodyPr/>
                    <a:lstStyle/>
                    <a:p>
                      <a:pPr algn="ct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02" marR="5802" marT="5802" marB="0" anchor="ctr">
                    <a:solidFill>
                      <a:srgbClr val="CCFF99"/>
                    </a:solidFill>
                  </a:tcPr>
                </a:tc>
                <a:tc>
                  <a:txBody>
                    <a:bodyPr/>
                    <a:lstStyle/>
                    <a:p>
                      <a:pPr algn="ctr" fontAlgn="t"/>
                      <a:r>
                        <a:rPr lang="en-US" sz="1400" u="none" strike="noStrike">
                          <a:effectLst/>
                        </a:rPr>
                        <a:t>3.533</a:t>
                      </a:r>
                      <a:endParaRPr lang="en-US" sz="1400" b="0" i="0" u="none" strike="noStrike">
                        <a:solidFill>
                          <a:srgbClr val="000000"/>
                        </a:solidFill>
                        <a:effectLst/>
                        <a:latin typeface="Arial" panose="020B0604020202020204" pitchFamily="34" charset="0"/>
                      </a:endParaRPr>
                    </a:p>
                  </a:txBody>
                  <a:tcPr marL="5802" marR="5802" marT="5802" marB="0" anchor="ctr">
                    <a:solidFill>
                      <a:srgbClr val="CCFF99"/>
                    </a:solidFill>
                  </a:tcPr>
                </a:tc>
                <a:tc>
                  <a:txBody>
                    <a:bodyPr/>
                    <a:lstStyle/>
                    <a:p>
                      <a:pPr algn="ctr" fontAlgn="t"/>
                      <a:r>
                        <a:rPr lang="en-US" sz="1400" u="none" strike="noStrike">
                          <a:effectLst/>
                        </a:rPr>
                        <a:t>.003</a:t>
                      </a:r>
                      <a:endParaRPr lang="en-US" sz="1400" b="0" i="0" u="none" strike="noStrike">
                        <a:solidFill>
                          <a:srgbClr val="000000"/>
                        </a:solidFill>
                        <a:effectLst/>
                        <a:latin typeface="Arial" panose="020B0604020202020204" pitchFamily="34" charset="0"/>
                      </a:endParaRPr>
                    </a:p>
                  </a:txBody>
                  <a:tcPr marL="5802" marR="5802" marT="5802" marB="0" anchor="ctr">
                    <a:solidFill>
                      <a:srgbClr val="CCFF99"/>
                    </a:solidFill>
                  </a:tcPr>
                </a:tc>
                <a:extLst>
                  <a:ext uri="{0D108BD9-81ED-4DB2-BD59-A6C34878D82A}">
                    <a16:rowId xmlns:a16="http://schemas.microsoft.com/office/drawing/2014/main" val="3584330057"/>
                  </a:ext>
                </a:extLst>
              </a:tr>
              <a:tr h="274955">
                <a:tc vMerge="1">
                  <a:txBody>
                    <a:bodyPr/>
                    <a:lstStyle/>
                    <a:p>
                      <a:endParaRPr lang="en-US"/>
                    </a:p>
                  </a:txBody>
                  <a:tcPr/>
                </a:tc>
                <a:tc>
                  <a:txBody>
                    <a:bodyPr/>
                    <a:lstStyle/>
                    <a:p>
                      <a:pPr algn="ctr" fontAlgn="t"/>
                      <a:r>
                        <a:rPr lang="en-US" sz="1400" u="none" strike="noStrike" dirty="0">
                          <a:effectLst/>
                        </a:rPr>
                        <a:t>T2</a:t>
                      </a:r>
                      <a:endParaRPr lang="en-US" sz="1400" b="0" i="0" u="none" strike="noStrike" dirty="0">
                        <a:solidFill>
                          <a:srgbClr val="000000"/>
                        </a:solidFill>
                        <a:effectLst/>
                        <a:latin typeface="Arial" panose="020B0604020202020204" pitchFamily="34" charset="0"/>
                      </a:endParaRPr>
                    </a:p>
                  </a:txBody>
                  <a:tcPr marL="5802" marR="5802" marT="5802" marB="0" anchor="ctr">
                    <a:solidFill>
                      <a:srgbClr val="CCFF99"/>
                    </a:solidFill>
                  </a:tcPr>
                </a:tc>
                <a:tc>
                  <a:txBody>
                    <a:bodyPr/>
                    <a:lstStyle/>
                    <a:p>
                      <a:pPr algn="ctr" fontAlgn="t"/>
                      <a:r>
                        <a:rPr lang="en-US" sz="1400" u="none" strike="noStrike">
                          <a:effectLst/>
                        </a:rPr>
                        <a:t>9.229</a:t>
                      </a:r>
                      <a:endParaRPr lang="en-US" sz="1400" b="0" i="0" u="none" strike="noStrike">
                        <a:solidFill>
                          <a:srgbClr val="000000"/>
                        </a:solidFill>
                        <a:effectLst/>
                        <a:latin typeface="Arial" panose="020B0604020202020204" pitchFamily="34" charset="0"/>
                      </a:endParaRPr>
                    </a:p>
                  </a:txBody>
                  <a:tcPr marL="5802" marR="5802" marT="5802" marB="0" anchor="ctr">
                    <a:solidFill>
                      <a:srgbClr val="CCFF99"/>
                    </a:solidFill>
                  </a:tcPr>
                </a:tc>
                <a:tc>
                  <a:txBody>
                    <a:bodyPr/>
                    <a:lstStyle/>
                    <a:p>
                      <a:pPr algn="ctr" fontAlgn="t"/>
                      <a:r>
                        <a:rPr lang="en-US" sz="1400" u="none" strike="noStrike">
                          <a:effectLst/>
                        </a:rPr>
                        <a:t>1.219</a:t>
                      </a:r>
                      <a:endParaRPr lang="en-US" sz="1400" b="0" i="0" u="none" strike="noStrike">
                        <a:solidFill>
                          <a:srgbClr val="000000"/>
                        </a:solidFill>
                        <a:effectLst/>
                        <a:latin typeface="Arial" panose="020B0604020202020204" pitchFamily="34" charset="0"/>
                      </a:endParaRPr>
                    </a:p>
                  </a:txBody>
                  <a:tcPr marL="5802" marR="5802" marT="5802" marB="0" anchor="ctr">
                    <a:solidFill>
                      <a:srgbClr val="CCFF99"/>
                    </a:solidFill>
                  </a:tcPr>
                </a:tc>
                <a:tc>
                  <a:txBody>
                    <a:bodyPr/>
                    <a:lstStyle/>
                    <a:p>
                      <a:pPr algn="ctr" fontAlgn="t"/>
                      <a:r>
                        <a:rPr lang="en-US" sz="1400" u="none" strike="noStrike">
                          <a:effectLst/>
                        </a:rPr>
                        <a:t>.686</a:t>
                      </a:r>
                      <a:endParaRPr lang="en-US" sz="1400" b="0" i="0" u="none" strike="noStrike">
                        <a:solidFill>
                          <a:srgbClr val="000000"/>
                        </a:solidFill>
                        <a:effectLst/>
                        <a:latin typeface="Arial" panose="020B0604020202020204" pitchFamily="34" charset="0"/>
                      </a:endParaRPr>
                    </a:p>
                  </a:txBody>
                  <a:tcPr marL="5802" marR="5802" marT="5802" marB="0" anchor="ctr">
                    <a:solidFill>
                      <a:srgbClr val="CCFF99"/>
                    </a:solidFill>
                  </a:tcPr>
                </a:tc>
                <a:tc>
                  <a:txBody>
                    <a:bodyPr/>
                    <a:lstStyle/>
                    <a:p>
                      <a:pPr algn="ctr" fontAlgn="t"/>
                      <a:r>
                        <a:rPr lang="en-US" sz="1400" u="none" strike="noStrike">
                          <a:effectLst/>
                        </a:rPr>
                        <a:t>7.568</a:t>
                      </a:r>
                      <a:endParaRPr lang="en-US" sz="1400" b="0" i="0" u="none" strike="noStrike">
                        <a:solidFill>
                          <a:srgbClr val="000000"/>
                        </a:solidFill>
                        <a:effectLst/>
                        <a:latin typeface="Arial" panose="020B0604020202020204" pitchFamily="34" charset="0"/>
                      </a:endParaRPr>
                    </a:p>
                  </a:txBody>
                  <a:tcPr marL="5802" marR="5802" marT="5802" marB="0" anchor="ctr">
                    <a:solidFill>
                      <a:srgbClr val="CCFF99"/>
                    </a:solidFill>
                  </a:tcPr>
                </a:tc>
                <a:tc>
                  <a:txBody>
                    <a:bodyPr/>
                    <a:lstStyle/>
                    <a:p>
                      <a:pPr algn="ctr" fontAlgn="t"/>
                      <a:r>
                        <a:rPr lang="en-US" sz="1400" u="none" strike="noStrike" dirty="0">
                          <a:effectLst/>
                        </a:rPr>
                        <a:t>.000</a:t>
                      </a:r>
                      <a:endParaRPr lang="en-US" sz="1400" b="0" i="0" u="none" strike="noStrike" dirty="0">
                        <a:solidFill>
                          <a:srgbClr val="000000"/>
                        </a:solidFill>
                        <a:effectLst/>
                        <a:latin typeface="Arial" panose="020B0604020202020204" pitchFamily="34" charset="0"/>
                      </a:endParaRPr>
                    </a:p>
                  </a:txBody>
                  <a:tcPr marL="5802" marR="5802" marT="5802" marB="0" anchor="ctr">
                    <a:solidFill>
                      <a:srgbClr val="CCFF99"/>
                    </a:solidFill>
                  </a:tcPr>
                </a:tc>
                <a:extLst>
                  <a:ext uri="{0D108BD9-81ED-4DB2-BD59-A6C34878D82A}">
                    <a16:rowId xmlns:a16="http://schemas.microsoft.com/office/drawing/2014/main" val="359871251"/>
                  </a:ext>
                </a:extLst>
              </a:tr>
              <a:tr h="274955">
                <a:tc vMerge="1">
                  <a:txBody>
                    <a:bodyPr/>
                    <a:lstStyle/>
                    <a:p>
                      <a:endParaRPr lang="en-US"/>
                    </a:p>
                  </a:txBody>
                  <a:tcPr/>
                </a:tc>
                <a:tc>
                  <a:txBody>
                    <a:bodyPr/>
                    <a:lstStyle/>
                    <a:p>
                      <a:pPr algn="ctr" fontAlgn="t"/>
                      <a:r>
                        <a:rPr lang="en-US" sz="1400" u="none" strike="noStrike" dirty="0">
                          <a:solidFill>
                            <a:srgbClr val="FF0000"/>
                          </a:solidFill>
                          <a:effectLst/>
                        </a:rPr>
                        <a:t>OTINC</a:t>
                      </a:r>
                      <a:endParaRPr lang="en-US" sz="1400" b="0" i="0" u="none" strike="noStrike" dirty="0">
                        <a:solidFill>
                          <a:srgbClr val="FF0000"/>
                        </a:solidFill>
                        <a:effectLst/>
                        <a:latin typeface="Arial" panose="020B0604020202020204" pitchFamily="34" charset="0"/>
                      </a:endParaRPr>
                    </a:p>
                  </a:txBody>
                  <a:tcPr marL="5802" marR="5802" marT="5802" marB="0" anchor="ctr">
                    <a:solidFill>
                      <a:srgbClr val="CCFF99"/>
                    </a:solidFill>
                  </a:tcPr>
                </a:tc>
                <a:tc>
                  <a:txBody>
                    <a:bodyPr/>
                    <a:lstStyle/>
                    <a:p>
                      <a:pPr algn="ctr" fontAlgn="t"/>
                      <a:r>
                        <a:rPr lang="en-US" sz="1400" u="none" strike="noStrike" dirty="0">
                          <a:solidFill>
                            <a:srgbClr val="FF0000"/>
                          </a:solidFill>
                          <a:effectLst/>
                        </a:rPr>
                        <a:t>.482</a:t>
                      </a:r>
                      <a:endParaRPr lang="en-US" sz="1400" b="0" i="0" u="none" strike="noStrike" dirty="0">
                        <a:solidFill>
                          <a:srgbClr val="FF0000"/>
                        </a:solidFill>
                        <a:effectLst/>
                        <a:latin typeface="Arial" panose="020B0604020202020204" pitchFamily="34" charset="0"/>
                      </a:endParaRPr>
                    </a:p>
                  </a:txBody>
                  <a:tcPr marL="5802" marR="5802" marT="5802" marB="0" anchor="ctr">
                    <a:solidFill>
                      <a:srgbClr val="CCFF99"/>
                    </a:solidFill>
                  </a:tcPr>
                </a:tc>
                <a:tc>
                  <a:txBody>
                    <a:bodyPr/>
                    <a:lstStyle/>
                    <a:p>
                      <a:pPr algn="ctr" fontAlgn="t"/>
                      <a:r>
                        <a:rPr lang="en-US" sz="1400" u="none" strike="noStrike" dirty="0">
                          <a:solidFill>
                            <a:srgbClr val="FF0000"/>
                          </a:solidFill>
                          <a:effectLst/>
                        </a:rPr>
                        <a:t>.131</a:t>
                      </a:r>
                      <a:endParaRPr lang="en-US" sz="1400" b="0" i="0" u="none" strike="noStrike" dirty="0">
                        <a:solidFill>
                          <a:srgbClr val="FF0000"/>
                        </a:solidFill>
                        <a:effectLst/>
                        <a:latin typeface="Arial" panose="020B0604020202020204" pitchFamily="34" charset="0"/>
                      </a:endParaRPr>
                    </a:p>
                  </a:txBody>
                  <a:tcPr marL="5802" marR="5802" marT="5802" marB="0" anchor="ctr">
                    <a:solidFill>
                      <a:srgbClr val="CCFF99"/>
                    </a:solidFill>
                  </a:tcPr>
                </a:tc>
                <a:tc>
                  <a:txBody>
                    <a:bodyPr/>
                    <a:lstStyle/>
                    <a:p>
                      <a:pPr algn="ctr" fontAlgn="t"/>
                      <a:r>
                        <a:rPr lang="en-US" sz="1400" u="none" strike="noStrike" dirty="0">
                          <a:solidFill>
                            <a:srgbClr val="FF0000"/>
                          </a:solidFill>
                          <a:effectLst/>
                        </a:rPr>
                        <a:t>.334</a:t>
                      </a:r>
                      <a:endParaRPr lang="en-US" sz="1400" b="0" i="0" u="none" strike="noStrike" dirty="0">
                        <a:solidFill>
                          <a:srgbClr val="FF0000"/>
                        </a:solidFill>
                        <a:effectLst/>
                        <a:latin typeface="Arial" panose="020B0604020202020204" pitchFamily="34" charset="0"/>
                      </a:endParaRPr>
                    </a:p>
                  </a:txBody>
                  <a:tcPr marL="5802" marR="5802" marT="5802" marB="0" anchor="ctr">
                    <a:solidFill>
                      <a:srgbClr val="CCFF99"/>
                    </a:solidFill>
                  </a:tcPr>
                </a:tc>
                <a:tc>
                  <a:txBody>
                    <a:bodyPr/>
                    <a:lstStyle/>
                    <a:p>
                      <a:pPr algn="ctr" fontAlgn="t"/>
                      <a:r>
                        <a:rPr lang="en-US" sz="1400" u="none" strike="noStrike" dirty="0">
                          <a:solidFill>
                            <a:srgbClr val="FF0000"/>
                          </a:solidFill>
                          <a:effectLst/>
                        </a:rPr>
                        <a:t>3.678</a:t>
                      </a:r>
                      <a:endParaRPr lang="en-US" sz="1400" b="0" i="0" u="none" strike="noStrike" dirty="0">
                        <a:solidFill>
                          <a:srgbClr val="FF0000"/>
                        </a:solidFill>
                        <a:effectLst/>
                        <a:latin typeface="Arial" panose="020B0604020202020204" pitchFamily="34" charset="0"/>
                      </a:endParaRPr>
                    </a:p>
                  </a:txBody>
                  <a:tcPr marL="5802" marR="5802" marT="5802" marB="0" anchor="ctr">
                    <a:solidFill>
                      <a:srgbClr val="CCFF99"/>
                    </a:solidFill>
                  </a:tcPr>
                </a:tc>
                <a:tc>
                  <a:txBody>
                    <a:bodyPr/>
                    <a:lstStyle/>
                    <a:p>
                      <a:pPr algn="ctr" fontAlgn="t"/>
                      <a:r>
                        <a:rPr lang="en-US" sz="1400" u="none" strike="noStrike" dirty="0">
                          <a:solidFill>
                            <a:srgbClr val="FF0000"/>
                          </a:solidFill>
                          <a:effectLst/>
                        </a:rPr>
                        <a:t>.002</a:t>
                      </a:r>
                      <a:endParaRPr lang="en-US" sz="1400" b="0" i="0" u="none" strike="noStrike" dirty="0">
                        <a:solidFill>
                          <a:srgbClr val="FF0000"/>
                        </a:solidFill>
                        <a:effectLst/>
                        <a:latin typeface="Arial" panose="020B0604020202020204" pitchFamily="34" charset="0"/>
                      </a:endParaRPr>
                    </a:p>
                  </a:txBody>
                  <a:tcPr marL="5802" marR="5802" marT="5802" marB="0" anchor="ctr">
                    <a:solidFill>
                      <a:srgbClr val="CCFF99"/>
                    </a:solidFill>
                  </a:tcPr>
                </a:tc>
                <a:extLst>
                  <a:ext uri="{0D108BD9-81ED-4DB2-BD59-A6C34878D82A}">
                    <a16:rowId xmlns:a16="http://schemas.microsoft.com/office/drawing/2014/main" val="2093466627"/>
                  </a:ext>
                </a:extLst>
              </a:tr>
              <a:tr h="274955">
                <a:tc rowSpan="4">
                  <a:txBody>
                    <a:bodyPr/>
                    <a:lstStyle/>
                    <a:p>
                      <a:pPr algn="ctr" fontAlgn="t"/>
                      <a:r>
                        <a:rPr lang="en-US" sz="1400" u="none" strike="noStrike" dirty="0">
                          <a:effectLst/>
                        </a:rPr>
                        <a:t>3</a:t>
                      </a:r>
                      <a:endParaRPr lang="en-US" sz="1400" b="0" i="0" u="none" strike="noStrike" dirty="0">
                        <a:solidFill>
                          <a:srgbClr val="000000"/>
                        </a:solidFill>
                        <a:effectLst/>
                        <a:latin typeface="Arial" panose="020B0604020202020204" pitchFamily="34" charset="0"/>
                      </a:endParaRPr>
                    </a:p>
                  </a:txBody>
                  <a:tcPr marL="5802" marR="5802" marT="5802" marB="0" anchor="ctr">
                    <a:solidFill>
                      <a:srgbClr val="FFC000"/>
                    </a:solidFill>
                  </a:tcPr>
                </a:tc>
                <a:tc>
                  <a:txBody>
                    <a:bodyPr/>
                    <a:lstStyle/>
                    <a:p>
                      <a:pPr algn="ctr" fontAlgn="t"/>
                      <a:r>
                        <a:rPr lang="en-US" sz="1400" u="none" strike="noStrike">
                          <a:effectLst/>
                        </a:rPr>
                        <a:t>(Constant)</a:t>
                      </a:r>
                      <a:endParaRPr lang="en-US" sz="1400" b="0" i="0" u="none" strike="noStrike">
                        <a:solidFill>
                          <a:srgbClr val="000000"/>
                        </a:solidFill>
                        <a:effectLst/>
                        <a:latin typeface="Arial" panose="020B0604020202020204" pitchFamily="34" charset="0"/>
                      </a:endParaRPr>
                    </a:p>
                  </a:txBody>
                  <a:tcPr marL="5802" marR="5802" marT="5802" marB="0" anchor="ctr">
                    <a:solidFill>
                      <a:srgbClr val="FFC000"/>
                    </a:solidFill>
                  </a:tcPr>
                </a:tc>
                <a:tc>
                  <a:txBody>
                    <a:bodyPr/>
                    <a:lstStyle/>
                    <a:p>
                      <a:pPr algn="ctr" fontAlgn="t"/>
                      <a:r>
                        <a:rPr lang="en-US" sz="1400" u="none" strike="noStrike" dirty="0">
                          <a:effectLst/>
                        </a:rPr>
                        <a:t>439.183</a:t>
                      </a:r>
                      <a:endParaRPr lang="en-US" sz="1400" b="0" i="0" u="none" strike="noStrike" dirty="0">
                        <a:solidFill>
                          <a:srgbClr val="000000"/>
                        </a:solidFill>
                        <a:effectLst/>
                        <a:latin typeface="Arial" panose="020B0604020202020204" pitchFamily="34" charset="0"/>
                      </a:endParaRPr>
                    </a:p>
                  </a:txBody>
                  <a:tcPr marL="5802" marR="5802" marT="5802" marB="0" anchor="ctr">
                    <a:solidFill>
                      <a:srgbClr val="FFC000"/>
                    </a:solidFill>
                  </a:tcPr>
                </a:tc>
                <a:tc>
                  <a:txBody>
                    <a:bodyPr/>
                    <a:lstStyle/>
                    <a:p>
                      <a:pPr algn="ctr" fontAlgn="t"/>
                      <a:r>
                        <a:rPr lang="en-US" sz="1400" u="none" strike="noStrike">
                          <a:effectLst/>
                        </a:rPr>
                        <a:t>128.276</a:t>
                      </a:r>
                      <a:endParaRPr lang="en-US" sz="1400" b="0" i="0" u="none" strike="noStrike">
                        <a:solidFill>
                          <a:srgbClr val="000000"/>
                        </a:solidFill>
                        <a:effectLst/>
                        <a:latin typeface="Arial" panose="020B0604020202020204" pitchFamily="34" charset="0"/>
                      </a:endParaRPr>
                    </a:p>
                  </a:txBody>
                  <a:tcPr marL="5802" marR="5802" marT="5802" marB="0" anchor="ctr">
                    <a:solidFill>
                      <a:srgbClr val="FFC000"/>
                    </a:solidFill>
                  </a:tcPr>
                </a:tc>
                <a:tc>
                  <a:txBody>
                    <a:bodyPr/>
                    <a:lstStyle/>
                    <a:p>
                      <a:pPr algn="ct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5802" marR="5802" marT="5802" marB="0" anchor="ctr">
                    <a:solidFill>
                      <a:srgbClr val="FFC000"/>
                    </a:solidFill>
                  </a:tcPr>
                </a:tc>
                <a:tc>
                  <a:txBody>
                    <a:bodyPr/>
                    <a:lstStyle/>
                    <a:p>
                      <a:pPr algn="ctr" fontAlgn="t"/>
                      <a:r>
                        <a:rPr lang="en-US" sz="1400" u="none" strike="noStrike">
                          <a:effectLst/>
                        </a:rPr>
                        <a:t>3.424</a:t>
                      </a:r>
                      <a:endParaRPr lang="en-US" sz="1400" b="0" i="0" u="none" strike="noStrike">
                        <a:solidFill>
                          <a:srgbClr val="000000"/>
                        </a:solidFill>
                        <a:effectLst/>
                        <a:latin typeface="Arial" panose="020B0604020202020204" pitchFamily="34" charset="0"/>
                      </a:endParaRPr>
                    </a:p>
                  </a:txBody>
                  <a:tcPr marL="5802" marR="5802" marT="5802" marB="0" anchor="ctr">
                    <a:solidFill>
                      <a:srgbClr val="FFC000"/>
                    </a:solidFill>
                  </a:tcPr>
                </a:tc>
                <a:tc>
                  <a:txBody>
                    <a:bodyPr/>
                    <a:lstStyle/>
                    <a:p>
                      <a:pPr algn="ctr" fontAlgn="t"/>
                      <a:r>
                        <a:rPr lang="en-US" sz="1400" u="none" strike="noStrike">
                          <a:effectLst/>
                        </a:rPr>
                        <a:t>.003</a:t>
                      </a:r>
                      <a:endParaRPr lang="en-US" sz="1400" b="0" i="0" u="none" strike="noStrike">
                        <a:solidFill>
                          <a:srgbClr val="000000"/>
                        </a:solidFill>
                        <a:effectLst/>
                        <a:latin typeface="Arial" panose="020B0604020202020204" pitchFamily="34" charset="0"/>
                      </a:endParaRPr>
                    </a:p>
                  </a:txBody>
                  <a:tcPr marL="5802" marR="5802" marT="5802" marB="0" anchor="ctr">
                    <a:solidFill>
                      <a:srgbClr val="FFC000"/>
                    </a:solidFill>
                  </a:tcPr>
                </a:tc>
                <a:extLst>
                  <a:ext uri="{0D108BD9-81ED-4DB2-BD59-A6C34878D82A}">
                    <a16:rowId xmlns:a16="http://schemas.microsoft.com/office/drawing/2014/main" val="218300479"/>
                  </a:ext>
                </a:extLst>
              </a:tr>
              <a:tr h="274955">
                <a:tc vMerge="1">
                  <a:txBody>
                    <a:bodyPr/>
                    <a:lstStyle/>
                    <a:p>
                      <a:endParaRPr lang="en-US"/>
                    </a:p>
                  </a:txBody>
                  <a:tcPr/>
                </a:tc>
                <a:tc>
                  <a:txBody>
                    <a:bodyPr/>
                    <a:lstStyle/>
                    <a:p>
                      <a:pPr algn="ctr" fontAlgn="t"/>
                      <a:r>
                        <a:rPr lang="en-US" sz="1400" u="none" strike="noStrike" dirty="0">
                          <a:effectLst/>
                        </a:rPr>
                        <a:t>T2</a:t>
                      </a:r>
                      <a:endParaRPr lang="en-US" sz="1400" b="0" i="0" u="none" strike="noStrike" dirty="0">
                        <a:solidFill>
                          <a:srgbClr val="000000"/>
                        </a:solidFill>
                        <a:effectLst/>
                        <a:latin typeface="Arial" panose="020B0604020202020204" pitchFamily="34" charset="0"/>
                      </a:endParaRPr>
                    </a:p>
                  </a:txBody>
                  <a:tcPr marL="5802" marR="5802" marT="5802" marB="0" anchor="ctr">
                    <a:solidFill>
                      <a:srgbClr val="FFC000"/>
                    </a:solidFill>
                  </a:tcPr>
                </a:tc>
                <a:tc>
                  <a:txBody>
                    <a:bodyPr/>
                    <a:lstStyle/>
                    <a:p>
                      <a:pPr algn="ctr" fontAlgn="t"/>
                      <a:r>
                        <a:rPr lang="en-US" sz="1400" u="none" strike="noStrike" dirty="0">
                          <a:effectLst/>
                        </a:rPr>
                        <a:t>13.046</a:t>
                      </a:r>
                      <a:endParaRPr lang="en-US" sz="1400" b="0" i="0" u="none" strike="noStrike" dirty="0">
                        <a:solidFill>
                          <a:srgbClr val="000000"/>
                        </a:solidFill>
                        <a:effectLst/>
                        <a:latin typeface="Arial" panose="020B0604020202020204" pitchFamily="34" charset="0"/>
                      </a:endParaRPr>
                    </a:p>
                  </a:txBody>
                  <a:tcPr marL="5802" marR="5802" marT="5802" marB="0" anchor="ctr">
                    <a:solidFill>
                      <a:srgbClr val="FFC000"/>
                    </a:solidFill>
                  </a:tcPr>
                </a:tc>
                <a:tc>
                  <a:txBody>
                    <a:bodyPr/>
                    <a:lstStyle/>
                    <a:p>
                      <a:pPr algn="ctr" fontAlgn="t"/>
                      <a:r>
                        <a:rPr lang="en-US" sz="1400" u="none" strike="noStrike">
                          <a:effectLst/>
                        </a:rPr>
                        <a:t>1.983</a:t>
                      </a:r>
                      <a:endParaRPr lang="en-US" sz="1400" b="0" i="0" u="none" strike="noStrike">
                        <a:solidFill>
                          <a:srgbClr val="000000"/>
                        </a:solidFill>
                        <a:effectLst/>
                        <a:latin typeface="Arial" panose="020B0604020202020204" pitchFamily="34" charset="0"/>
                      </a:endParaRPr>
                    </a:p>
                  </a:txBody>
                  <a:tcPr marL="5802" marR="5802" marT="5802" marB="0" anchor="ctr">
                    <a:solidFill>
                      <a:srgbClr val="FFC000"/>
                    </a:solidFill>
                  </a:tcPr>
                </a:tc>
                <a:tc>
                  <a:txBody>
                    <a:bodyPr/>
                    <a:lstStyle/>
                    <a:p>
                      <a:pPr algn="ctr" fontAlgn="t"/>
                      <a:r>
                        <a:rPr lang="en-US" sz="1400" u="none" strike="noStrike">
                          <a:effectLst/>
                        </a:rPr>
                        <a:t>.970</a:t>
                      </a:r>
                      <a:endParaRPr lang="en-US" sz="1400" b="0" i="0" u="none" strike="noStrike">
                        <a:solidFill>
                          <a:srgbClr val="000000"/>
                        </a:solidFill>
                        <a:effectLst/>
                        <a:latin typeface="Arial" panose="020B0604020202020204" pitchFamily="34" charset="0"/>
                      </a:endParaRPr>
                    </a:p>
                  </a:txBody>
                  <a:tcPr marL="5802" marR="5802" marT="5802" marB="0" anchor="ctr">
                    <a:solidFill>
                      <a:srgbClr val="FFC000"/>
                    </a:solidFill>
                  </a:tcPr>
                </a:tc>
                <a:tc>
                  <a:txBody>
                    <a:bodyPr/>
                    <a:lstStyle/>
                    <a:p>
                      <a:pPr algn="ctr" fontAlgn="t"/>
                      <a:r>
                        <a:rPr lang="en-US" sz="1400" u="none" strike="noStrike">
                          <a:effectLst/>
                        </a:rPr>
                        <a:t>6.579</a:t>
                      </a:r>
                      <a:endParaRPr lang="en-US" sz="1400" b="0" i="0" u="none" strike="noStrike">
                        <a:solidFill>
                          <a:srgbClr val="000000"/>
                        </a:solidFill>
                        <a:effectLst/>
                        <a:latin typeface="Arial" panose="020B0604020202020204" pitchFamily="34" charset="0"/>
                      </a:endParaRPr>
                    </a:p>
                  </a:txBody>
                  <a:tcPr marL="5802" marR="5802" marT="5802" marB="0" anchor="ctr">
                    <a:solidFill>
                      <a:srgbClr val="FFC000"/>
                    </a:solidFill>
                  </a:tcPr>
                </a:tc>
                <a:tc>
                  <a:txBody>
                    <a:bodyPr/>
                    <a:lstStyle/>
                    <a:p>
                      <a:pPr algn="ctr" fontAlgn="t"/>
                      <a:r>
                        <a:rPr lang="en-US" sz="1400" u="none" strike="noStrike">
                          <a:effectLst/>
                        </a:rPr>
                        <a:t>.000</a:t>
                      </a:r>
                      <a:endParaRPr lang="en-US" sz="1400" b="0" i="0" u="none" strike="noStrike">
                        <a:solidFill>
                          <a:srgbClr val="000000"/>
                        </a:solidFill>
                        <a:effectLst/>
                        <a:latin typeface="Arial" panose="020B0604020202020204" pitchFamily="34" charset="0"/>
                      </a:endParaRPr>
                    </a:p>
                  </a:txBody>
                  <a:tcPr marL="5802" marR="5802" marT="5802" marB="0" anchor="ctr">
                    <a:solidFill>
                      <a:srgbClr val="FFC000"/>
                    </a:solidFill>
                  </a:tcPr>
                </a:tc>
                <a:extLst>
                  <a:ext uri="{0D108BD9-81ED-4DB2-BD59-A6C34878D82A}">
                    <a16:rowId xmlns:a16="http://schemas.microsoft.com/office/drawing/2014/main" val="3037015123"/>
                  </a:ext>
                </a:extLst>
              </a:tr>
              <a:tr h="274955">
                <a:tc vMerge="1">
                  <a:txBody>
                    <a:bodyPr/>
                    <a:lstStyle/>
                    <a:p>
                      <a:endParaRPr lang="en-US"/>
                    </a:p>
                  </a:txBody>
                  <a:tcPr/>
                </a:tc>
                <a:tc>
                  <a:txBody>
                    <a:bodyPr/>
                    <a:lstStyle/>
                    <a:p>
                      <a:pPr algn="ctr" fontAlgn="t"/>
                      <a:r>
                        <a:rPr lang="en-US" sz="1400" u="none" strike="noStrike" dirty="0">
                          <a:effectLst/>
                        </a:rPr>
                        <a:t>OTINC</a:t>
                      </a:r>
                      <a:endParaRPr lang="en-US" sz="1400" b="0" i="0" u="none" strike="noStrike" dirty="0">
                        <a:solidFill>
                          <a:srgbClr val="000000"/>
                        </a:solidFill>
                        <a:effectLst/>
                        <a:latin typeface="Arial" panose="020B0604020202020204" pitchFamily="34" charset="0"/>
                      </a:endParaRPr>
                    </a:p>
                  </a:txBody>
                  <a:tcPr marL="5802" marR="5802" marT="5802" marB="0" anchor="ctr">
                    <a:solidFill>
                      <a:srgbClr val="FFC000"/>
                    </a:solidFill>
                  </a:tcPr>
                </a:tc>
                <a:tc>
                  <a:txBody>
                    <a:bodyPr/>
                    <a:lstStyle/>
                    <a:p>
                      <a:pPr algn="ctr" fontAlgn="t"/>
                      <a:r>
                        <a:rPr lang="en-US" sz="1400" u="none" strike="noStrike" dirty="0">
                          <a:effectLst/>
                        </a:rPr>
                        <a:t>.553</a:t>
                      </a:r>
                      <a:endParaRPr lang="en-US" sz="1400" b="0" i="0" u="none" strike="noStrike" dirty="0">
                        <a:solidFill>
                          <a:srgbClr val="000000"/>
                        </a:solidFill>
                        <a:effectLst/>
                        <a:latin typeface="Arial" panose="020B0604020202020204" pitchFamily="34" charset="0"/>
                      </a:endParaRPr>
                    </a:p>
                  </a:txBody>
                  <a:tcPr marL="5802" marR="5802" marT="5802" marB="0" anchor="ctr">
                    <a:solidFill>
                      <a:srgbClr val="FFC000"/>
                    </a:solidFill>
                  </a:tcPr>
                </a:tc>
                <a:tc>
                  <a:txBody>
                    <a:bodyPr/>
                    <a:lstStyle/>
                    <a:p>
                      <a:pPr algn="ctr" fontAlgn="t"/>
                      <a:r>
                        <a:rPr lang="en-US" sz="1400" u="none" strike="noStrike" dirty="0">
                          <a:effectLst/>
                        </a:rPr>
                        <a:t>.121</a:t>
                      </a:r>
                      <a:endParaRPr lang="en-US" sz="1400" b="0" i="0" u="none" strike="noStrike" dirty="0">
                        <a:solidFill>
                          <a:srgbClr val="000000"/>
                        </a:solidFill>
                        <a:effectLst/>
                        <a:latin typeface="Arial" panose="020B0604020202020204" pitchFamily="34" charset="0"/>
                      </a:endParaRPr>
                    </a:p>
                  </a:txBody>
                  <a:tcPr marL="5802" marR="5802" marT="5802" marB="0" anchor="ctr">
                    <a:solidFill>
                      <a:srgbClr val="FFC000"/>
                    </a:solidFill>
                  </a:tcPr>
                </a:tc>
                <a:tc>
                  <a:txBody>
                    <a:bodyPr/>
                    <a:lstStyle/>
                    <a:p>
                      <a:pPr algn="ctr" fontAlgn="t"/>
                      <a:r>
                        <a:rPr lang="en-US" sz="1400" u="none" strike="noStrike">
                          <a:effectLst/>
                        </a:rPr>
                        <a:t>.383</a:t>
                      </a:r>
                      <a:endParaRPr lang="en-US" sz="1400" b="0" i="0" u="none" strike="noStrike">
                        <a:solidFill>
                          <a:srgbClr val="000000"/>
                        </a:solidFill>
                        <a:effectLst/>
                        <a:latin typeface="Arial" panose="020B0604020202020204" pitchFamily="34" charset="0"/>
                      </a:endParaRPr>
                    </a:p>
                  </a:txBody>
                  <a:tcPr marL="5802" marR="5802" marT="5802" marB="0" anchor="ctr">
                    <a:solidFill>
                      <a:srgbClr val="FFC000"/>
                    </a:solidFill>
                  </a:tcPr>
                </a:tc>
                <a:tc>
                  <a:txBody>
                    <a:bodyPr/>
                    <a:lstStyle/>
                    <a:p>
                      <a:pPr algn="ctr" fontAlgn="t"/>
                      <a:r>
                        <a:rPr lang="en-US" sz="1400" u="none" strike="noStrike">
                          <a:effectLst/>
                        </a:rPr>
                        <a:t>4.569</a:t>
                      </a:r>
                      <a:endParaRPr lang="en-US" sz="1400" b="0" i="0" u="none" strike="noStrike">
                        <a:solidFill>
                          <a:srgbClr val="000000"/>
                        </a:solidFill>
                        <a:effectLst/>
                        <a:latin typeface="Arial" panose="020B0604020202020204" pitchFamily="34" charset="0"/>
                      </a:endParaRPr>
                    </a:p>
                  </a:txBody>
                  <a:tcPr marL="5802" marR="5802" marT="5802" marB="0" anchor="ctr">
                    <a:solidFill>
                      <a:srgbClr val="FFC000"/>
                    </a:solidFill>
                  </a:tcPr>
                </a:tc>
                <a:tc>
                  <a:txBody>
                    <a:bodyPr/>
                    <a:lstStyle/>
                    <a:p>
                      <a:pPr algn="ctr" fontAlgn="t"/>
                      <a:r>
                        <a:rPr lang="en-US" sz="1400" u="none" strike="noStrike">
                          <a:effectLst/>
                        </a:rPr>
                        <a:t>.000</a:t>
                      </a:r>
                      <a:endParaRPr lang="en-US" sz="1400" b="0" i="0" u="none" strike="noStrike">
                        <a:solidFill>
                          <a:srgbClr val="000000"/>
                        </a:solidFill>
                        <a:effectLst/>
                        <a:latin typeface="Arial" panose="020B0604020202020204" pitchFamily="34" charset="0"/>
                      </a:endParaRPr>
                    </a:p>
                  </a:txBody>
                  <a:tcPr marL="5802" marR="5802" marT="5802" marB="0" anchor="ctr">
                    <a:solidFill>
                      <a:srgbClr val="FFC000"/>
                    </a:solidFill>
                  </a:tcPr>
                </a:tc>
                <a:extLst>
                  <a:ext uri="{0D108BD9-81ED-4DB2-BD59-A6C34878D82A}">
                    <a16:rowId xmlns:a16="http://schemas.microsoft.com/office/drawing/2014/main" val="2616706459"/>
                  </a:ext>
                </a:extLst>
              </a:tr>
              <a:tr h="334827">
                <a:tc vMerge="1">
                  <a:txBody>
                    <a:bodyPr/>
                    <a:lstStyle/>
                    <a:p>
                      <a:endParaRPr lang="en-US"/>
                    </a:p>
                  </a:txBody>
                  <a:tcPr/>
                </a:tc>
                <a:tc>
                  <a:txBody>
                    <a:bodyPr/>
                    <a:lstStyle/>
                    <a:p>
                      <a:pPr algn="ctr" fontAlgn="t"/>
                      <a:r>
                        <a:rPr lang="en-US" sz="1400" u="none" strike="noStrike" dirty="0">
                          <a:effectLst/>
                        </a:rPr>
                        <a:t>MATERIAL</a:t>
                      </a:r>
                      <a:endParaRPr lang="en-US" sz="1400" b="0" i="0" u="none" strike="noStrike" dirty="0">
                        <a:solidFill>
                          <a:srgbClr val="000000"/>
                        </a:solidFill>
                        <a:effectLst/>
                        <a:latin typeface="Arial" panose="020B0604020202020204" pitchFamily="34" charset="0"/>
                      </a:endParaRPr>
                    </a:p>
                  </a:txBody>
                  <a:tcPr marL="5802" marR="5802" marT="5802" marB="0" anchor="ctr">
                    <a:solidFill>
                      <a:srgbClr val="FFC000"/>
                    </a:solidFill>
                  </a:tcPr>
                </a:tc>
                <a:tc>
                  <a:txBody>
                    <a:bodyPr/>
                    <a:lstStyle/>
                    <a:p>
                      <a:pPr algn="ctr" fontAlgn="t"/>
                      <a:r>
                        <a:rPr lang="en-US" sz="1400" u="none" strike="noStrike" dirty="0">
                          <a:effectLst/>
                        </a:rPr>
                        <a:t>-.048</a:t>
                      </a:r>
                      <a:endParaRPr lang="en-US" sz="1400" b="0" i="0" u="none" strike="noStrike" dirty="0">
                        <a:solidFill>
                          <a:srgbClr val="000000"/>
                        </a:solidFill>
                        <a:effectLst/>
                        <a:latin typeface="Arial" panose="020B0604020202020204" pitchFamily="34" charset="0"/>
                      </a:endParaRPr>
                    </a:p>
                  </a:txBody>
                  <a:tcPr marL="5802" marR="5802" marT="5802" marB="0" anchor="ctr">
                    <a:solidFill>
                      <a:srgbClr val="FFC000"/>
                    </a:solidFill>
                  </a:tcPr>
                </a:tc>
                <a:tc>
                  <a:txBody>
                    <a:bodyPr/>
                    <a:lstStyle/>
                    <a:p>
                      <a:pPr algn="ctr" fontAlgn="t"/>
                      <a:r>
                        <a:rPr lang="en-US" sz="1400" u="none" strike="noStrike" dirty="0">
                          <a:effectLst/>
                        </a:rPr>
                        <a:t>.021</a:t>
                      </a:r>
                      <a:endParaRPr lang="en-US" sz="1400" b="0" i="0" u="none" strike="noStrike" dirty="0">
                        <a:solidFill>
                          <a:srgbClr val="000000"/>
                        </a:solidFill>
                        <a:effectLst/>
                        <a:latin typeface="Arial" panose="020B0604020202020204" pitchFamily="34" charset="0"/>
                      </a:endParaRPr>
                    </a:p>
                  </a:txBody>
                  <a:tcPr marL="5802" marR="5802" marT="5802" marB="0" anchor="ctr">
                    <a:solidFill>
                      <a:srgbClr val="FFC000"/>
                    </a:solidFill>
                  </a:tcPr>
                </a:tc>
                <a:tc>
                  <a:txBody>
                    <a:bodyPr/>
                    <a:lstStyle/>
                    <a:p>
                      <a:pPr algn="ctr" fontAlgn="t"/>
                      <a:r>
                        <a:rPr lang="en-US" sz="1400" u="none" strike="noStrike" dirty="0">
                          <a:effectLst/>
                        </a:rPr>
                        <a:t>-.343</a:t>
                      </a:r>
                      <a:endParaRPr lang="en-US" sz="1400" b="0" i="0" u="none" strike="noStrike" dirty="0">
                        <a:solidFill>
                          <a:srgbClr val="000000"/>
                        </a:solidFill>
                        <a:effectLst/>
                        <a:latin typeface="Arial" panose="020B0604020202020204" pitchFamily="34" charset="0"/>
                      </a:endParaRPr>
                    </a:p>
                  </a:txBody>
                  <a:tcPr marL="5802" marR="5802" marT="5802" marB="0" anchor="ctr">
                    <a:solidFill>
                      <a:srgbClr val="FFC000"/>
                    </a:solidFill>
                  </a:tcPr>
                </a:tc>
                <a:tc>
                  <a:txBody>
                    <a:bodyPr/>
                    <a:lstStyle/>
                    <a:p>
                      <a:pPr algn="ctr" fontAlgn="t"/>
                      <a:r>
                        <a:rPr lang="en-US" sz="1400" u="none" strike="noStrike" dirty="0">
                          <a:effectLst/>
                        </a:rPr>
                        <a:t>-2.303</a:t>
                      </a:r>
                      <a:endParaRPr lang="en-US" sz="1400" b="0" i="0" u="none" strike="noStrike" dirty="0">
                        <a:solidFill>
                          <a:srgbClr val="000000"/>
                        </a:solidFill>
                        <a:effectLst/>
                        <a:latin typeface="Arial" panose="020B0604020202020204" pitchFamily="34" charset="0"/>
                      </a:endParaRPr>
                    </a:p>
                  </a:txBody>
                  <a:tcPr marL="5802" marR="5802" marT="5802" marB="0" anchor="ctr">
                    <a:solidFill>
                      <a:srgbClr val="FFC000"/>
                    </a:solidFill>
                  </a:tcPr>
                </a:tc>
                <a:tc>
                  <a:txBody>
                    <a:bodyPr/>
                    <a:lstStyle/>
                    <a:p>
                      <a:pPr algn="ctr" fontAlgn="t"/>
                      <a:r>
                        <a:rPr lang="en-US" sz="1400" u="none" strike="noStrike" dirty="0">
                          <a:effectLst/>
                        </a:rPr>
                        <a:t>.035</a:t>
                      </a:r>
                      <a:endParaRPr lang="en-US" sz="1400" b="0" i="0" u="none" strike="noStrike" dirty="0">
                        <a:solidFill>
                          <a:srgbClr val="000000"/>
                        </a:solidFill>
                        <a:effectLst/>
                        <a:latin typeface="Arial" panose="020B0604020202020204" pitchFamily="34" charset="0"/>
                      </a:endParaRPr>
                    </a:p>
                  </a:txBody>
                  <a:tcPr marL="5802" marR="5802" marT="5802" marB="0" anchor="ctr">
                    <a:solidFill>
                      <a:srgbClr val="FFC000"/>
                    </a:solidFill>
                  </a:tcPr>
                </a:tc>
                <a:extLst>
                  <a:ext uri="{0D108BD9-81ED-4DB2-BD59-A6C34878D82A}">
                    <a16:rowId xmlns:a16="http://schemas.microsoft.com/office/drawing/2014/main" val="3527892277"/>
                  </a:ext>
                </a:extLst>
              </a:tr>
              <a:tr h="274955">
                <a:tc rowSpan="5">
                  <a:txBody>
                    <a:bodyPr/>
                    <a:lstStyle/>
                    <a:p>
                      <a:pPr algn="ctr" fontAlgn="t"/>
                      <a:r>
                        <a:rPr lang="en-US" sz="1400" u="none" strike="noStrike" dirty="0">
                          <a:effectLst/>
                        </a:rPr>
                        <a:t>4</a:t>
                      </a:r>
                      <a:endParaRPr lang="en-US" sz="1400" b="0" i="0" u="none" strike="noStrike" dirty="0">
                        <a:solidFill>
                          <a:srgbClr val="000000"/>
                        </a:solidFill>
                        <a:effectLst/>
                        <a:latin typeface="Arial" panose="020B0604020202020204" pitchFamily="34" charset="0"/>
                      </a:endParaRPr>
                    </a:p>
                  </a:txBody>
                  <a:tcPr marL="5802" marR="5802" marT="5802" marB="0" anchor="ctr"/>
                </a:tc>
                <a:tc>
                  <a:txBody>
                    <a:bodyPr/>
                    <a:lstStyle/>
                    <a:p>
                      <a:pPr algn="ctr" fontAlgn="t"/>
                      <a:r>
                        <a:rPr lang="en-US" sz="1400" u="none" strike="noStrike" dirty="0">
                          <a:effectLst/>
                        </a:rPr>
                        <a:t>(Constant)</a:t>
                      </a:r>
                      <a:endParaRPr lang="en-US" sz="1400" b="0" i="0" u="none" strike="noStrike" dirty="0">
                        <a:solidFill>
                          <a:srgbClr val="000000"/>
                        </a:solidFill>
                        <a:effectLst/>
                        <a:latin typeface="Arial" panose="020B0604020202020204" pitchFamily="34" charset="0"/>
                      </a:endParaRPr>
                    </a:p>
                  </a:txBody>
                  <a:tcPr marL="5802" marR="5802" marT="5802" marB="0" anchor="ctr"/>
                </a:tc>
                <a:tc>
                  <a:txBody>
                    <a:bodyPr/>
                    <a:lstStyle/>
                    <a:p>
                      <a:pPr algn="ctr" fontAlgn="t"/>
                      <a:r>
                        <a:rPr lang="en-US" sz="1400" u="none" strike="noStrike">
                          <a:effectLst/>
                        </a:rPr>
                        <a:t>330.452</a:t>
                      </a:r>
                      <a:endParaRPr lang="en-US" sz="1400" b="0" i="0" u="none" strike="noStrike">
                        <a:solidFill>
                          <a:srgbClr val="000000"/>
                        </a:solidFill>
                        <a:effectLst/>
                        <a:latin typeface="Arial" panose="020B0604020202020204" pitchFamily="34" charset="0"/>
                      </a:endParaRPr>
                    </a:p>
                  </a:txBody>
                  <a:tcPr marL="5802" marR="5802" marT="5802" marB="0" anchor="ctr"/>
                </a:tc>
                <a:tc>
                  <a:txBody>
                    <a:bodyPr/>
                    <a:lstStyle/>
                    <a:p>
                      <a:pPr algn="ctr" fontAlgn="t"/>
                      <a:r>
                        <a:rPr lang="en-US" sz="1400" u="none" strike="noStrike">
                          <a:effectLst/>
                        </a:rPr>
                        <a:t>115.826</a:t>
                      </a:r>
                      <a:endParaRPr lang="en-US" sz="1400" b="0" i="0" u="none" strike="noStrike">
                        <a:solidFill>
                          <a:srgbClr val="000000"/>
                        </a:solidFill>
                        <a:effectLst/>
                        <a:latin typeface="Arial" panose="020B0604020202020204" pitchFamily="34" charset="0"/>
                      </a:endParaRPr>
                    </a:p>
                  </a:txBody>
                  <a:tcPr marL="5802" marR="5802" marT="5802" marB="0" anchor="ctr"/>
                </a:tc>
                <a:tc>
                  <a:txBody>
                    <a:bodyPr/>
                    <a:lstStyle/>
                    <a:p>
                      <a:pPr algn="ctr" fontAlgn="t"/>
                      <a:r>
                        <a:rPr lang="en-US" sz="1400" u="none" strike="noStrike">
                          <a:effectLst/>
                        </a:rPr>
                        <a:t> </a:t>
                      </a:r>
                      <a:endParaRPr lang="en-US" sz="1400" b="0" i="0" u="none" strike="noStrike">
                        <a:solidFill>
                          <a:srgbClr val="000000"/>
                        </a:solidFill>
                        <a:effectLst/>
                        <a:latin typeface="Arial" panose="020B0604020202020204" pitchFamily="34" charset="0"/>
                      </a:endParaRPr>
                    </a:p>
                  </a:txBody>
                  <a:tcPr marL="5802" marR="5802" marT="5802" marB="0" anchor="ctr"/>
                </a:tc>
                <a:tc>
                  <a:txBody>
                    <a:bodyPr/>
                    <a:lstStyle/>
                    <a:p>
                      <a:pPr algn="ctr" fontAlgn="t"/>
                      <a:r>
                        <a:rPr lang="en-US" sz="1400" u="none" strike="noStrike">
                          <a:effectLst/>
                        </a:rPr>
                        <a:t>2.853</a:t>
                      </a:r>
                      <a:endParaRPr lang="en-US" sz="1400" b="0" i="0" u="none" strike="noStrike">
                        <a:solidFill>
                          <a:srgbClr val="000000"/>
                        </a:solidFill>
                        <a:effectLst/>
                        <a:latin typeface="Arial" panose="020B0604020202020204" pitchFamily="34" charset="0"/>
                      </a:endParaRPr>
                    </a:p>
                  </a:txBody>
                  <a:tcPr marL="5802" marR="5802" marT="5802" marB="0" anchor="ctr"/>
                </a:tc>
                <a:tc>
                  <a:txBody>
                    <a:bodyPr/>
                    <a:lstStyle/>
                    <a:p>
                      <a:pPr algn="ctr" fontAlgn="t"/>
                      <a:r>
                        <a:rPr lang="en-US" sz="1400" u="none" strike="noStrike">
                          <a:effectLst/>
                        </a:rPr>
                        <a:t>.012</a:t>
                      </a:r>
                      <a:endParaRPr lang="en-US" sz="1400" b="0" i="0" u="none" strike="noStrike">
                        <a:solidFill>
                          <a:srgbClr val="000000"/>
                        </a:solidFill>
                        <a:effectLst/>
                        <a:latin typeface="Arial" panose="020B0604020202020204" pitchFamily="34" charset="0"/>
                      </a:endParaRPr>
                    </a:p>
                  </a:txBody>
                  <a:tcPr marL="5802" marR="5802" marT="5802" marB="0" anchor="ctr"/>
                </a:tc>
                <a:extLst>
                  <a:ext uri="{0D108BD9-81ED-4DB2-BD59-A6C34878D82A}">
                    <a16:rowId xmlns:a16="http://schemas.microsoft.com/office/drawing/2014/main" val="3130563334"/>
                  </a:ext>
                </a:extLst>
              </a:tr>
              <a:tr h="274955">
                <a:tc vMerge="1">
                  <a:txBody>
                    <a:bodyPr/>
                    <a:lstStyle/>
                    <a:p>
                      <a:endParaRPr lang="en-US"/>
                    </a:p>
                  </a:txBody>
                  <a:tcPr/>
                </a:tc>
                <a:tc>
                  <a:txBody>
                    <a:bodyPr/>
                    <a:lstStyle/>
                    <a:p>
                      <a:pPr algn="ctr" fontAlgn="t"/>
                      <a:r>
                        <a:rPr lang="en-US" sz="1400" u="none" strike="noStrike" dirty="0">
                          <a:effectLst/>
                        </a:rPr>
                        <a:t>T2</a:t>
                      </a:r>
                      <a:endParaRPr lang="en-US" sz="1400" b="0" i="0" u="none" strike="noStrike" dirty="0">
                        <a:solidFill>
                          <a:srgbClr val="000000"/>
                        </a:solidFill>
                        <a:effectLst/>
                        <a:latin typeface="Arial" panose="020B0604020202020204" pitchFamily="34" charset="0"/>
                      </a:endParaRPr>
                    </a:p>
                  </a:txBody>
                  <a:tcPr marL="5802" marR="5802" marT="5802" marB="0" anchor="ctr"/>
                </a:tc>
                <a:tc>
                  <a:txBody>
                    <a:bodyPr/>
                    <a:lstStyle/>
                    <a:p>
                      <a:pPr algn="ctr" fontAlgn="t"/>
                      <a:r>
                        <a:rPr lang="en-US" sz="1400" u="none" strike="noStrike">
                          <a:effectLst/>
                        </a:rPr>
                        <a:t>7.811</a:t>
                      </a:r>
                      <a:endParaRPr lang="en-US" sz="1400" b="0" i="0" u="none" strike="noStrike">
                        <a:solidFill>
                          <a:srgbClr val="000000"/>
                        </a:solidFill>
                        <a:effectLst/>
                        <a:latin typeface="Arial" panose="020B0604020202020204" pitchFamily="34" charset="0"/>
                      </a:endParaRPr>
                    </a:p>
                  </a:txBody>
                  <a:tcPr marL="5802" marR="5802" marT="5802" marB="0" anchor="ctr"/>
                </a:tc>
                <a:tc>
                  <a:txBody>
                    <a:bodyPr/>
                    <a:lstStyle/>
                    <a:p>
                      <a:pPr algn="ctr" fontAlgn="t"/>
                      <a:r>
                        <a:rPr lang="en-US" sz="1400" u="none" strike="noStrike">
                          <a:effectLst/>
                        </a:rPr>
                        <a:t>2.563</a:t>
                      </a:r>
                      <a:endParaRPr lang="en-US" sz="1400" b="0" i="0" u="none" strike="noStrike">
                        <a:solidFill>
                          <a:srgbClr val="000000"/>
                        </a:solidFill>
                        <a:effectLst/>
                        <a:latin typeface="Arial" panose="020B0604020202020204" pitchFamily="34" charset="0"/>
                      </a:endParaRPr>
                    </a:p>
                  </a:txBody>
                  <a:tcPr marL="5802" marR="5802" marT="5802" marB="0" anchor="ctr"/>
                </a:tc>
                <a:tc>
                  <a:txBody>
                    <a:bodyPr/>
                    <a:lstStyle/>
                    <a:p>
                      <a:pPr algn="ctr" fontAlgn="t"/>
                      <a:r>
                        <a:rPr lang="en-US" sz="1400" u="none" strike="noStrike" dirty="0">
                          <a:effectLst/>
                        </a:rPr>
                        <a:t>.581</a:t>
                      </a:r>
                      <a:endParaRPr lang="en-US" sz="1400" b="0" i="0" u="none" strike="noStrike" dirty="0">
                        <a:solidFill>
                          <a:srgbClr val="000000"/>
                        </a:solidFill>
                        <a:effectLst/>
                        <a:latin typeface="Arial" panose="020B0604020202020204" pitchFamily="34" charset="0"/>
                      </a:endParaRPr>
                    </a:p>
                  </a:txBody>
                  <a:tcPr marL="5802" marR="5802" marT="5802" marB="0" anchor="ctr"/>
                </a:tc>
                <a:tc>
                  <a:txBody>
                    <a:bodyPr/>
                    <a:lstStyle/>
                    <a:p>
                      <a:pPr algn="ctr" fontAlgn="t"/>
                      <a:r>
                        <a:rPr lang="en-US" sz="1400" u="none" strike="noStrike">
                          <a:effectLst/>
                        </a:rPr>
                        <a:t>3.048</a:t>
                      </a:r>
                      <a:endParaRPr lang="en-US" sz="1400" b="0" i="0" u="none" strike="noStrike">
                        <a:solidFill>
                          <a:srgbClr val="000000"/>
                        </a:solidFill>
                        <a:effectLst/>
                        <a:latin typeface="Arial" panose="020B0604020202020204" pitchFamily="34" charset="0"/>
                      </a:endParaRPr>
                    </a:p>
                  </a:txBody>
                  <a:tcPr marL="5802" marR="5802" marT="5802" marB="0" anchor="ctr"/>
                </a:tc>
                <a:tc>
                  <a:txBody>
                    <a:bodyPr/>
                    <a:lstStyle/>
                    <a:p>
                      <a:pPr algn="ctr" fontAlgn="t"/>
                      <a:r>
                        <a:rPr lang="en-US" sz="1400" u="none" strike="noStrike">
                          <a:effectLst/>
                        </a:rPr>
                        <a:t>.008</a:t>
                      </a:r>
                      <a:endParaRPr lang="en-US" sz="1400" b="0" i="0" u="none" strike="noStrike">
                        <a:solidFill>
                          <a:srgbClr val="000000"/>
                        </a:solidFill>
                        <a:effectLst/>
                        <a:latin typeface="Arial" panose="020B0604020202020204" pitchFamily="34" charset="0"/>
                      </a:endParaRPr>
                    </a:p>
                  </a:txBody>
                  <a:tcPr marL="5802" marR="5802" marT="5802" marB="0" anchor="ctr"/>
                </a:tc>
                <a:extLst>
                  <a:ext uri="{0D108BD9-81ED-4DB2-BD59-A6C34878D82A}">
                    <a16:rowId xmlns:a16="http://schemas.microsoft.com/office/drawing/2014/main" val="1469707867"/>
                  </a:ext>
                </a:extLst>
              </a:tr>
              <a:tr h="274955">
                <a:tc vMerge="1">
                  <a:txBody>
                    <a:bodyPr/>
                    <a:lstStyle/>
                    <a:p>
                      <a:endParaRPr lang="en-US"/>
                    </a:p>
                  </a:txBody>
                  <a:tcPr/>
                </a:tc>
                <a:tc>
                  <a:txBody>
                    <a:bodyPr/>
                    <a:lstStyle/>
                    <a:p>
                      <a:pPr algn="ctr" fontAlgn="t"/>
                      <a:r>
                        <a:rPr lang="en-US" sz="1400" u="none" strike="noStrike" dirty="0">
                          <a:solidFill>
                            <a:srgbClr val="FF0000"/>
                          </a:solidFill>
                          <a:effectLst/>
                        </a:rPr>
                        <a:t>OTINC</a:t>
                      </a:r>
                      <a:endParaRPr lang="en-US" sz="1400" b="0" i="0" u="none" strike="noStrike" dirty="0">
                        <a:solidFill>
                          <a:srgbClr val="FF0000"/>
                        </a:solidFill>
                        <a:effectLst/>
                        <a:latin typeface="Arial" panose="020B0604020202020204" pitchFamily="34" charset="0"/>
                      </a:endParaRPr>
                    </a:p>
                  </a:txBody>
                  <a:tcPr marL="5802" marR="5802" marT="5802" marB="0" anchor="ctr"/>
                </a:tc>
                <a:tc>
                  <a:txBody>
                    <a:bodyPr/>
                    <a:lstStyle/>
                    <a:p>
                      <a:pPr algn="ctr" fontAlgn="t"/>
                      <a:r>
                        <a:rPr lang="en-US" sz="1400" u="none" strike="noStrike" dirty="0">
                          <a:solidFill>
                            <a:srgbClr val="FF0000"/>
                          </a:solidFill>
                          <a:effectLst/>
                        </a:rPr>
                        <a:t>.080</a:t>
                      </a:r>
                      <a:endParaRPr lang="en-US" sz="1400" b="0" i="0" u="none" strike="noStrike" dirty="0">
                        <a:solidFill>
                          <a:srgbClr val="FF0000"/>
                        </a:solidFill>
                        <a:effectLst/>
                        <a:latin typeface="Arial" panose="020B0604020202020204" pitchFamily="34" charset="0"/>
                      </a:endParaRPr>
                    </a:p>
                  </a:txBody>
                  <a:tcPr marL="5802" marR="5802" marT="5802" marB="0" anchor="ctr"/>
                </a:tc>
                <a:tc>
                  <a:txBody>
                    <a:bodyPr/>
                    <a:lstStyle/>
                    <a:p>
                      <a:pPr algn="ctr" fontAlgn="t"/>
                      <a:r>
                        <a:rPr lang="en-US" sz="1400" u="none" strike="noStrike" dirty="0">
                          <a:solidFill>
                            <a:srgbClr val="FF0000"/>
                          </a:solidFill>
                          <a:effectLst/>
                        </a:rPr>
                        <a:t>.203</a:t>
                      </a:r>
                      <a:endParaRPr lang="en-US" sz="1400" b="0" i="0" u="none" strike="noStrike" dirty="0">
                        <a:solidFill>
                          <a:srgbClr val="FF0000"/>
                        </a:solidFill>
                        <a:effectLst/>
                        <a:latin typeface="Arial" panose="020B0604020202020204" pitchFamily="34" charset="0"/>
                      </a:endParaRPr>
                    </a:p>
                  </a:txBody>
                  <a:tcPr marL="5802" marR="5802" marT="5802" marB="0" anchor="ctr"/>
                </a:tc>
                <a:tc>
                  <a:txBody>
                    <a:bodyPr/>
                    <a:lstStyle/>
                    <a:p>
                      <a:pPr algn="ctr" fontAlgn="t"/>
                      <a:r>
                        <a:rPr lang="en-US" sz="1400" u="none" strike="noStrike" dirty="0">
                          <a:solidFill>
                            <a:srgbClr val="FF0000"/>
                          </a:solidFill>
                          <a:effectLst/>
                        </a:rPr>
                        <a:t>.055</a:t>
                      </a:r>
                      <a:endParaRPr lang="en-US" sz="1400" b="0" i="0" u="none" strike="noStrike" dirty="0">
                        <a:solidFill>
                          <a:srgbClr val="FF0000"/>
                        </a:solidFill>
                        <a:effectLst/>
                        <a:latin typeface="Arial" panose="020B0604020202020204" pitchFamily="34" charset="0"/>
                      </a:endParaRPr>
                    </a:p>
                  </a:txBody>
                  <a:tcPr marL="5802" marR="5802" marT="5802" marB="0" anchor="ctr"/>
                </a:tc>
                <a:tc>
                  <a:txBody>
                    <a:bodyPr/>
                    <a:lstStyle/>
                    <a:p>
                      <a:pPr algn="ctr" fontAlgn="t"/>
                      <a:r>
                        <a:rPr lang="en-US" sz="1400" u="none" strike="noStrike" dirty="0">
                          <a:solidFill>
                            <a:srgbClr val="FF0000"/>
                          </a:solidFill>
                          <a:effectLst/>
                        </a:rPr>
                        <a:t>.392</a:t>
                      </a:r>
                      <a:endParaRPr lang="en-US" sz="1400" b="0" i="0" u="none" strike="noStrike" dirty="0">
                        <a:solidFill>
                          <a:srgbClr val="FF0000"/>
                        </a:solidFill>
                        <a:effectLst/>
                        <a:latin typeface="Arial" panose="020B0604020202020204" pitchFamily="34" charset="0"/>
                      </a:endParaRPr>
                    </a:p>
                  </a:txBody>
                  <a:tcPr marL="5802" marR="5802" marT="5802" marB="0" anchor="ctr"/>
                </a:tc>
                <a:tc>
                  <a:txBody>
                    <a:bodyPr/>
                    <a:lstStyle/>
                    <a:p>
                      <a:pPr algn="ctr" fontAlgn="t"/>
                      <a:r>
                        <a:rPr lang="en-US" sz="1400" u="none" strike="noStrike" dirty="0">
                          <a:solidFill>
                            <a:srgbClr val="FF0000"/>
                          </a:solidFill>
                          <a:effectLst/>
                        </a:rPr>
                        <a:t>.700</a:t>
                      </a:r>
                      <a:endParaRPr lang="en-US" sz="1400" b="0" i="0" u="none" strike="noStrike" dirty="0">
                        <a:solidFill>
                          <a:srgbClr val="FF0000"/>
                        </a:solidFill>
                        <a:effectLst/>
                        <a:latin typeface="Arial" panose="020B0604020202020204" pitchFamily="34" charset="0"/>
                      </a:endParaRPr>
                    </a:p>
                  </a:txBody>
                  <a:tcPr marL="5802" marR="5802" marT="5802" marB="0" anchor="ctr"/>
                </a:tc>
                <a:extLst>
                  <a:ext uri="{0D108BD9-81ED-4DB2-BD59-A6C34878D82A}">
                    <a16:rowId xmlns:a16="http://schemas.microsoft.com/office/drawing/2014/main" val="2344725274"/>
                  </a:ext>
                </a:extLst>
              </a:tr>
              <a:tr h="334827">
                <a:tc vMerge="1">
                  <a:txBody>
                    <a:bodyPr/>
                    <a:lstStyle/>
                    <a:p>
                      <a:endParaRPr lang="en-US"/>
                    </a:p>
                  </a:txBody>
                  <a:tcPr/>
                </a:tc>
                <a:tc>
                  <a:txBody>
                    <a:bodyPr/>
                    <a:lstStyle/>
                    <a:p>
                      <a:pPr algn="ctr" fontAlgn="t"/>
                      <a:r>
                        <a:rPr lang="en-US" sz="1400" u="none" strike="noStrike" dirty="0">
                          <a:effectLst/>
                        </a:rPr>
                        <a:t>MATERIAL</a:t>
                      </a:r>
                      <a:endParaRPr lang="en-US" sz="1400" b="0" i="0" u="none" strike="noStrike" dirty="0">
                        <a:solidFill>
                          <a:srgbClr val="000000"/>
                        </a:solidFill>
                        <a:effectLst/>
                        <a:latin typeface="Arial" panose="020B0604020202020204" pitchFamily="34" charset="0"/>
                      </a:endParaRPr>
                    </a:p>
                  </a:txBody>
                  <a:tcPr marL="5802" marR="5802" marT="5802" marB="0" anchor="ctr"/>
                </a:tc>
                <a:tc>
                  <a:txBody>
                    <a:bodyPr/>
                    <a:lstStyle/>
                    <a:p>
                      <a:pPr algn="ctr" fontAlgn="t"/>
                      <a:r>
                        <a:rPr lang="en-US" sz="1400" u="none" strike="noStrike" dirty="0">
                          <a:effectLst/>
                        </a:rPr>
                        <a:t>-.240</a:t>
                      </a:r>
                      <a:endParaRPr lang="en-US" sz="1400" b="0" i="0" u="none" strike="noStrike" dirty="0">
                        <a:solidFill>
                          <a:srgbClr val="000000"/>
                        </a:solidFill>
                        <a:effectLst/>
                        <a:latin typeface="Arial" panose="020B0604020202020204" pitchFamily="34" charset="0"/>
                      </a:endParaRPr>
                    </a:p>
                  </a:txBody>
                  <a:tcPr marL="5802" marR="5802" marT="5802" marB="0" anchor="ctr"/>
                </a:tc>
                <a:tc>
                  <a:txBody>
                    <a:bodyPr/>
                    <a:lstStyle/>
                    <a:p>
                      <a:pPr algn="ctr" fontAlgn="t"/>
                      <a:r>
                        <a:rPr lang="en-US" sz="1400" u="none" strike="noStrike" dirty="0">
                          <a:effectLst/>
                        </a:rPr>
                        <a:t>.073</a:t>
                      </a:r>
                      <a:endParaRPr lang="en-US" sz="1400" b="0" i="0" u="none" strike="noStrike" dirty="0">
                        <a:solidFill>
                          <a:srgbClr val="000000"/>
                        </a:solidFill>
                        <a:effectLst/>
                        <a:latin typeface="Arial" panose="020B0604020202020204" pitchFamily="34" charset="0"/>
                      </a:endParaRPr>
                    </a:p>
                  </a:txBody>
                  <a:tcPr marL="5802" marR="5802" marT="5802" marB="0" anchor="ctr"/>
                </a:tc>
                <a:tc>
                  <a:txBody>
                    <a:bodyPr/>
                    <a:lstStyle/>
                    <a:p>
                      <a:pPr algn="ctr" fontAlgn="t"/>
                      <a:r>
                        <a:rPr lang="en-US" sz="1400" u="none" strike="noStrike" dirty="0">
                          <a:effectLst/>
                        </a:rPr>
                        <a:t>-1.701</a:t>
                      </a:r>
                      <a:endParaRPr lang="en-US" sz="1400" b="0" i="0" u="none" strike="noStrike" dirty="0">
                        <a:solidFill>
                          <a:srgbClr val="000000"/>
                        </a:solidFill>
                        <a:effectLst/>
                        <a:latin typeface="Arial" panose="020B0604020202020204" pitchFamily="34" charset="0"/>
                      </a:endParaRPr>
                    </a:p>
                  </a:txBody>
                  <a:tcPr marL="5802" marR="5802" marT="5802" marB="0" anchor="ctr"/>
                </a:tc>
                <a:tc>
                  <a:txBody>
                    <a:bodyPr/>
                    <a:lstStyle/>
                    <a:p>
                      <a:pPr algn="ctr" fontAlgn="t"/>
                      <a:r>
                        <a:rPr lang="en-US" sz="1400" u="none" strike="noStrike" dirty="0">
                          <a:effectLst/>
                        </a:rPr>
                        <a:t>-3.286</a:t>
                      </a:r>
                      <a:endParaRPr lang="en-US" sz="1400" b="0" i="0" u="none" strike="noStrike" dirty="0">
                        <a:solidFill>
                          <a:srgbClr val="000000"/>
                        </a:solidFill>
                        <a:effectLst/>
                        <a:latin typeface="Arial" panose="020B0604020202020204" pitchFamily="34" charset="0"/>
                      </a:endParaRPr>
                    </a:p>
                  </a:txBody>
                  <a:tcPr marL="5802" marR="5802" marT="5802" marB="0" anchor="ctr"/>
                </a:tc>
                <a:tc>
                  <a:txBody>
                    <a:bodyPr/>
                    <a:lstStyle/>
                    <a:p>
                      <a:pPr algn="ctr" fontAlgn="t"/>
                      <a:r>
                        <a:rPr lang="en-US" sz="1400" u="none" strike="noStrike" dirty="0">
                          <a:effectLst/>
                        </a:rPr>
                        <a:t>.005</a:t>
                      </a:r>
                      <a:endParaRPr lang="en-US" sz="1400" b="0" i="0" u="none" strike="noStrike" dirty="0">
                        <a:solidFill>
                          <a:srgbClr val="000000"/>
                        </a:solidFill>
                        <a:effectLst/>
                        <a:latin typeface="Arial" panose="020B0604020202020204" pitchFamily="34" charset="0"/>
                      </a:endParaRPr>
                    </a:p>
                  </a:txBody>
                  <a:tcPr marL="5802" marR="5802" marT="5802" marB="0" anchor="ctr"/>
                </a:tc>
                <a:extLst>
                  <a:ext uri="{0D108BD9-81ED-4DB2-BD59-A6C34878D82A}">
                    <a16:rowId xmlns:a16="http://schemas.microsoft.com/office/drawing/2014/main" val="2621162182"/>
                  </a:ext>
                </a:extLst>
              </a:tr>
              <a:tr h="274955">
                <a:tc vMerge="1">
                  <a:txBody>
                    <a:bodyPr/>
                    <a:lstStyle/>
                    <a:p>
                      <a:endParaRPr lang="en-US"/>
                    </a:p>
                  </a:txBody>
                  <a:tcPr/>
                </a:tc>
                <a:tc>
                  <a:txBody>
                    <a:bodyPr/>
                    <a:lstStyle/>
                    <a:p>
                      <a:pPr algn="ctr" fontAlgn="t"/>
                      <a:r>
                        <a:rPr lang="en-US" sz="1400" u="none" strike="noStrike">
                          <a:effectLst/>
                        </a:rPr>
                        <a:t>SALES</a:t>
                      </a:r>
                      <a:endParaRPr lang="en-US" sz="1400" b="0" i="0" u="none" strike="noStrike">
                        <a:solidFill>
                          <a:srgbClr val="000000"/>
                        </a:solidFill>
                        <a:effectLst/>
                        <a:latin typeface="Arial" panose="020B0604020202020204" pitchFamily="34" charset="0"/>
                      </a:endParaRPr>
                    </a:p>
                  </a:txBody>
                  <a:tcPr marL="5802" marR="5802" marT="5802" marB="0" anchor="ctr"/>
                </a:tc>
                <a:tc>
                  <a:txBody>
                    <a:bodyPr/>
                    <a:lstStyle/>
                    <a:p>
                      <a:pPr algn="ctr" fontAlgn="t"/>
                      <a:r>
                        <a:rPr lang="en-US" sz="1400" u="none" strike="noStrike" dirty="0">
                          <a:effectLst/>
                        </a:rPr>
                        <a:t>.148</a:t>
                      </a:r>
                      <a:endParaRPr lang="en-US" sz="1400" b="0" i="0" u="none" strike="noStrike" dirty="0">
                        <a:solidFill>
                          <a:srgbClr val="000000"/>
                        </a:solidFill>
                        <a:effectLst/>
                        <a:latin typeface="Arial" panose="020B0604020202020204" pitchFamily="34" charset="0"/>
                      </a:endParaRPr>
                    </a:p>
                  </a:txBody>
                  <a:tcPr marL="5802" marR="5802" marT="5802" marB="0" anchor="ctr"/>
                </a:tc>
                <a:tc>
                  <a:txBody>
                    <a:bodyPr/>
                    <a:lstStyle/>
                    <a:p>
                      <a:pPr algn="ctr" fontAlgn="t"/>
                      <a:r>
                        <a:rPr lang="en-US" sz="1400" u="none" strike="noStrike" dirty="0">
                          <a:effectLst/>
                        </a:rPr>
                        <a:t>.055</a:t>
                      </a:r>
                      <a:endParaRPr lang="en-US" sz="1400" b="0" i="0" u="none" strike="noStrike" dirty="0">
                        <a:solidFill>
                          <a:srgbClr val="000000"/>
                        </a:solidFill>
                        <a:effectLst/>
                        <a:latin typeface="Arial" panose="020B0604020202020204" pitchFamily="34" charset="0"/>
                      </a:endParaRPr>
                    </a:p>
                  </a:txBody>
                  <a:tcPr marL="5802" marR="5802" marT="5802" marB="0" anchor="ctr"/>
                </a:tc>
                <a:tc>
                  <a:txBody>
                    <a:bodyPr/>
                    <a:lstStyle/>
                    <a:p>
                      <a:pPr algn="ctr" fontAlgn="t"/>
                      <a:r>
                        <a:rPr lang="en-US" sz="1400" u="none" strike="noStrike" dirty="0">
                          <a:effectLst/>
                        </a:rPr>
                        <a:t>2.009</a:t>
                      </a:r>
                      <a:endParaRPr lang="en-US" sz="1400" b="0" i="0" u="none" strike="noStrike" dirty="0">
                        <a:solidFill>
                          <a:srgbClr val="000000"/>
                        </a:solidFill>
                        <a:effectLst/>
                        <a:latin typeface="Arial" panose="020B0604020202020204" pitchFamily="34" charset="0"/>
                      </a:endParaRPr>
                    </a:p>
                  </a:txBody>
                  <a:tcPr marL="5802" marR="5802" marT="5802" marB="0" anchor="ctr"/>
                </a:tc>
                <a:tc>
                  <a:txBody>
                    <a:bodyPr/>
                    <a:lstStyle/>
                    <a:p>
                      <a:pPr algn="ctr" fontAlgn="t"/>
                      <a:r>
                        <a:rPr lang="en-US" sz="1400" u="none" strike="noStrike" dirty="0">
                          <a:effectLst/>
                        </a:rPr>
                        <a:t>2.704</a:t>
                      </a:r>
                      <a:endParaRPr lang="en-US" sz="1400" b="0" i="0" u="none" strike="noStrike" dirty="0">
                        <a:solidFill>
                          <a:srgbClr val="000000"/>
                        </a:solidFill>
                        <a:effectLst/>
                        <a:latin typeface="Arial" panose="020B0604020202020204" pitchFamily="34" charset="0"/>
                      </a:endParaRPr>
                    </a:p>
                  </a:txBody>
                  <a:tcPr marL="5802" marR="5802" marT="5802" marB="0" anchor="ctr"/>
                </a:tc>
                <a:tc>
                  <a:txBody>
                    <a:bodyPr/>
                    <a:lstStyle/>
                    <a:p>
                      <a:pPr algn="ctr" fontAlgn="t"/>
                      <a:r>
                        <a:rPr lang="en-US" sz="1400" u="none" strike="noStrike" dirty="0">
                          <a:effectLst/>
                        </a:rPr>
                        <a:t>.016</a:t>
                      </a:r>
                      <a:endParaRPr lang="en-US" sz="1400" b="0" i="0" u="none" strike="noStrike" dirty="0">
                        <a:solidFill>
                          <a:srgbClr val="000000"/>
                        </a:solidFill>
                        <a:effectLst/>
                        <a:latin typeface="Arial" panose="020B0604020202020204" pitchFamily="34" charset="0"/>
                      </a:endParaRPr>
                    </a:p>
                  </a:txBody>
                  <a:tcPr marL="5802" marR="5802" marT="5802" marB="0" anchor="ctr"/>
                </a:tc>
                <a:extLst>
                  <a:ext uri="{0D108BD9-81ED-4DB2-BD59-A6C34878D82A}">
                    <a16:rowId xmlns:a16="http://schemas.microsoft.com/office/drawing/2014/main" val="3515593321"/>
                  </a:ext>
                </a:extLst>
              </a:tr>
            </a:tbl>
          </a:graphicData>
        </a:graphic>
      </p:graphicFrame>
    </p:spTree>
    <p:extLst>
      <p:ext uri="{BB962C8B-B14F-4D97-AF65-F5344CB8AC3E}">
        <p14:creationId xmlns:p14="http://schemas.microsoft.com/office/powerpoint/2010/main" val="9014673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577E2-9699-4310-9190-824DA52B96E0}"/>
              </a:ext>
            </a:extLst>
          </p:cNvPr>
          <p:cNvSpPr>
            <a:spLocks noGrp="1"/>
          </p:cNvSpPr>
          <p:nvPr>
            <p:ph type="title"/>
          </p:nvPr>
        </p:nvSpPr>
        <p:spPr>
          <a:xfrm>
            <a:off x="609599" y="609600"/>
            <a:ext cx="7086601" cy="914400"/>
          </a:xfrm>
        </p:spPr>
        <p:txBody>
          <a:bodyPr/>
          <a:lstStyle/>
          <a:p>
            <a:r>
              <a:rPr lang="en-US" dirty="0"/>
              <a:t>Methods of Variable Selection</a:t>
            </a:r>
          </a:p>
        </p:txBody>
      </p:sp>
      <p:sp>
        <p:nvSpPr>
          <p:cNvPr id="3" name="Content Placeholder 2">
            <a:extLst>
              <a:ext uri="{FF2B5EF4-FFF2-40B4-BE49-F238E27FC236}">
                <a16:creationId xmlns:a16="http://schemas.microsoft.com/office/drawing/2014/main" id="{006AD7AA-70C7-441E-90FF-719EAC1A8559}"/>
              </a:ext>
            </a:extLst>
          </p:cNvPr>
          <p:cNvSpPr>
            <a:spLocks noGrp="1"/>
          </p:cNvSpPr>
          <p:nvPr>
            <p:ph idx="1"/>
          </p:nvPr>
        </p:nvSpPr>
        <p:spPr>
          <a:xfrm>
            <a:off x="609598" y="1676400"/>
            <a:ext cx="7848601" cy="4648200"/>
          </a:xfrm>
        </p:spPr>
        <p:txBody>
          <a:bodyPr>
            <a:normAutofit/>
          </a:bodyPr>
          <a:lstStyle/>
          <a:p>
            <a:r>
              <a:rPr lang="en-US" sz="2800" dirty="0"/>
              <a:t>Backward</a:t>
            </a:r>
          </a:p>
          <a:p>
            <a:r>
              <a:rPr lang="en-US" sz="2000" dirty="0"/>
              <a:t>Assume that we have k independent variables</a:t>
            </a:r>
          </a:p>
          <a:p>
            <a:r>
              <a:rPr lang="en-US" sz="2000" dirty="0"/>
              <a:t>Develop a multiple linear regression model with all the k independent variables (Model 1)</a:t>
            </a:r>
          </a:p>
          <a:p>
            <a:r>
              <a:rPr lang="en-US" sz="2000" dirty="0"/>
              <a:t>Remove one variable at a time repeatedly from the above model and calculate p-value corresponding to partial F test for each of the k reduced models (Models 2)</a:t>
            </a:r>
          </a:p>
          <a:p>
            <a:r>
              <a:rPr lang="en-US" sz="2000" dirty="0"/>
              <a:t>From Model 1, remove the variable with highest p-value (</a:t>
            </a:r>
            <a:r>
              <a:rPr lang="en-US" sz="2000" dirty="0">
                <a:solidFill>
                  <a:srgbClr val="FF0000"/>
                </a:solidFill>
              </a:rPr>
              <a:t>The p-value must be more than pre-defined </a:t>
            </a:r>
            <a:r>
              <a:rPr lang="el-GR" sz="2000" dirty="0">
                <a:solidFill>
                  <a:srgbClr val="FF0000"/>
                </a:solidFill>
              </a:rPr>
              <a:t>α</a:t>
            </a:r>
            <a:r>
              <a:rPr lang="en-US" sz="2000" dirty="0"/>
              <a:t>)</a:t>
            </a:r>
          </a:p>
          <a:p>
            <a:r>
              <a:rPr lang="en-US" sz="2000" dirty="0"/>
              <a:t>Repeat above steps till (a) p-value becomes less than </a:t>
            </a:r>
            <a:r>
              <a:rPr lang="el-GR" sz="2000" dirty="0"/>
              <a:t>α</a:t>
            </a:r>
            <a:r>
              <a:rPr lang="en-US" sz="2000" dirty="0"/>
              <a:t> or(b) there are no independent variables left in the model</a:t>
            </a:r>
          </a:p>
        </p:txBody>
      </p:sp>
    </p:spTree>
    <p:extLst>
      <p:ext uri="{BB962C8B-B14F-4D97-AF65-F5344CB8AC3E}">
        <p14:creationId xmlns:p14="http://schemas.microsoft.com/office/powerpoint/2010/main" val="15530172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25603A-C21D-4586-98C7-650AD1C94A4F}"/>
              </a:ext>
            </a:extLst>
          </p:cNvPr>
          <p:cNvSpPr>
            <a:spLocks noGrp="1"/>
          </p:cNvSpPr>
          <p:nvPr>
            <p:ph type="title"/>
          </p:nvPr>
        </p:nvSpPr>
        <p:spPr>
          <a:xfrm>
            <a:off x="609600" y="304800"/>
            <a:ext cx="6347714" cy="914400"/>
          </a:xfrm>
        </p:spPr>
        <p:txBody>
          <a:bodyPr/>
          <a:lstStyle/>
          <a:p>
            <a:r>
              <a:rPr lang="en-US" dirty="0"/>
              <a:t>Backward Selection</a:t>
            </a:r>
          </a:p>
        </p:txBody>
      </p:sp>
      <p:graphicFrame>
        <p:nvGraphicFramePr>
          <p:cNvPr id="5" name="Table 4">
            <a:extLst>
              <a:ext uri="{FF2B5EF4-FFF2-40B4-BE49-F238E27FC236}">
                <a16:creationId xmlns:a16="http://schemas.microsoft.com/office/drawing/2014/main" id="{DD85781F-A8DB-462D-A6D6-867C1889046F}"/>
              </a:ext>
            </a:extLst>
          </p:cNvPr>
          <p:cNvGraphicFramePr>
            <a:graphicFrameLocks noGrp="1"/>
          </p:cNvGraphicFramePr>
          <p:nvPr>
            <p:extLst>
              <p:ext uri="{D42A27DB-BD31-4B8C-83A1-F6EECF244321}">
                <p14:modId xmlns:p14="http://schemas.microsoft.com/office/powerpoint/2010/main" val="1969183030"/>
              </p:ext>
            </p:extLst>
          </p:nvPr>
        </p:nvGraphicFramePr>
        <p:xfrm>
          <a:off x="685800" y="914400"/>
          <a:ext cx="7848600" cy="5834632"/>
        </p:xfrm>
        <a:graphic>
          <a:graphicData uri="http://schemas.openxmlformats.org/drawingml/2006/table">
            <a:tbl>
              <a:tblPr>
                <a:tableStyleId>{5C22544A-7EE6-4342-B048-85BDC9FD1C3A}</a:tableStyleId>
              </a:tblPr>
              <a:tblGrid>
                <a:gridCol w="815439">
                  <a:extLst>
                    <a:ext uri="{9D8B030D-6E8A-4147-A177-3AD203B41FA5}">
                      <a16:colId xmlns:a16="http://schemas.microsoft.com/office/drawing/2014/main" val="3750357612"/>
                    </a:ext>
                  </a:extLst>
                </a:gridCol>
                <a:gridCol w="1011966">
                  <a:extLst>
                    <a:ext uri="{9D8B030D-6E8A-4147-A177-3AD203B41FA5}">
                      <a16:colId xmlns:a16="http://schemas.microsoft.com/office/drawing/2014/main" val="2478098665"/>
                    </a:ext>
                  </a:extLst>
                </a:gridCol>
                <a:gridCol w="959901">
                  <a:extLst>
                    <a:ext uri="{9D8B030D-6E8A-4147-A177-3AD203B41FA5}">
                      <a16:colId xmlns:a16="http://schemas.microsoft.com/office/drawing/2014/main" val="1860923118"/>
                    </a:ext>
                  </a:extLst>
                </a:gridCol>
                <a:gridCol w="1479896">
                  <a:extLst>
                    <a:ext uri="{9D8B030D-6E8A-4147-A177-3AD203B41FA5}">
                      <a16:colId xmlns:a16="http://schemas.microsoft.com/office/drawing/2014/main" val="2578529805"/>
                    </a:ext>
                  </a:extLst>
                </a:gridCol>
                <a:gridCol w="1950520">
                  <a:extLst>
                    <a:ext uri="{9D8B030D-6E8A-4147-A177-3AD203B41FA5}">
                      <a16:colId xmlns:a16="http://schemas.microsoft.com/office/drawing/2014/main" val="2221539782"/>
                    </a:ext>
                  </a:extLst>
                </a:gridCol>
                <a:gridCol w="815439">
                  <a:extLst>
                    <a:ext uri="{9D8B030D-6E8A-4147-A177-3AD203B41FA5}">
                      <a16:colId xmlns:a16="http://schemas.microsoft.com/office/drawing/2014/main" val="1664727308"/>
                    </a:ext>
                  </a:extLst>
                </a:gridCol>
                <a:gridCol w="815439">
                  <a:extLst>
                    <a:ext uri="{9D8B030D-6E8A-4147-A177-3AD203B41FA5}">
                      <a16:colId xmlns:a16="http://schemas.microsoft.com/office/drawing/2014/main" val="3107692599"/>
                    </a:ext>
                  </a:extLst>
                </a:gridCol>
              </a:tblGrid>
              <a:tr h="141265">
                <a:tc gridSpan="7">
                  <a:txBody>
                    <a:bodyPr/>
                    <a:lstStyle/>
                    <a:p>
                      <a:pPr algn="ctr" fontAlgn="ctr"/>
                      <a:r>
                        <a:rPr lang="en-US" sz="1200" u="none" strike="noStrike" dirty="0" err="1">
                          <a:effectLst/>
                        </a:rPr>
                        <a:t>Coefficients</a:t>
                      </a:r>
                      <a:r>
                        <a:rPr lang="en-US" sz="1200" u="none" strike="noStrike" baseline="30000" dirty="0" err="1">
                          <a:effectLst/>
                        </a:rPr>
                        <a:t>a</a:t>
                      </a:r>
                      <a:endParaRPr lang="en-US" sz="1200" b="1" i="0" u="none" strike="noStrike" dirty="0">
                        <a:solidFill>
                          <a:srgbClr val="000000"/>
                        </a:solidFill>
                        <a:effectLst/>
                        <a:latin typeface="Arial Bold" panose="020B0704020202020204" pitchFamily="34" charset="0"/>
                      </a:endParaRPr>
                    </a:p>
                  </a:txBody>
                  <a:tcPr marL="3527" marR="3527" marT="3527"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81669385"/>
                  </a:ext>
                </a:extLst>
              </a:tr>
              <a:tr h="281162">
                <a:tc rowSpan="2" gridSpan="2">
                  <a:txBody>
                    <a:bodyPr/>
                    <a:lstStyle/>
                    <a:p>
                      <a:pPr algn="ctr" fontAlgn="b"/>
                      <a:r>
                        <a:rPr lang="en-US" sz="1200" u="none" strike="noStrike" dirty="0">
                          <a:effectLst/>
                        </a:rPr>
                        <a:t>Model</a:t>
                      </a:r>
                      <a:endParaRPr lang="en-US" sz="1200" b="0" i="0" u="none" strike="noStrike" dirty="0">
                        <a:solidFill>
                          <a:srgbClr val="000000"/>
                        </a:solidFill>
                        <a:effectLst/>
                        <a:latin typeface="Arial" panose="020B0604020202020204" pitchFamily="34" charset="0"/>
                      </a:endParaRPr>
                    </a:p>
                  </a:txBody>
                  <a:tcPr marL="3527" marR="3527" marT="3527" marB="0" anchor="ctr"/>
                </a:tc>
                <a:tc rowSpan="2" hMerge="1">
                  <a:txBody>
                    <a:bodyPr/>
                    <a:lstStyle/>
                    <a:p>
                      <a:endParaRPr lang="en-US"/>
                    </a:p>
                  </a:txBody>
                  <a:tcPr/>
                </a:tc>
                <a:tc gridSpan="2">
                  <a:txBody>
                    <a:bodyPr/>
                    <a:lstStyle/>
                    <a:p>
                      <a:pPr algn="ctr" fontAlgn="b"/>
                      <a:r>
                        <a:rPr lang="en-US" sz="1200" u="none" strike="noStrike">
                          <a:effectLst/>
                        </a:rPr>
                        <a:t>Unstandardized Coefficients</a:t>
                      </a:r>
                      <a:endParaRPr lang="en-US" sz="1200" b="0" i="0" u="none" strike="noStrike">
                        <a:solidFill>
                          <a:srgbClr val="000000"/>
                        </a:solidFill>
                        <a:effectLst/>
                        <a:latin typeface="Arial" panose="020B0604020202020204" pitchFamily="34" charset="0"/>
                      </a:endParaRPr>
                    </a:p>
                  </a:txBody>
                  <a:tcPr marL="3527" marR="3527" marT="3527" marB="0" anchor="ctr"/>
                </a:tc>
                <a:tc hMerge="1">
                  <a:txBody>
                    <a:bodyPr/>
                    <a:lstStyle/>
                    <a:p>
                      <a:endParaRPr lang="en-US"/>
                    </a:p>
                  </a:txBody>
                  <a:tcPr/>
                </a:tc>
                <a:tc>
                  <a:txBody>
                    <a:bodyPr/>
                    <a:lstStyle/>
                    <a:p>
                      <a:pPr algn="ctr" fontAlgn="b"/>
                      <a:r>
                        <a:rPr lang="en-US" sz="1200" u="none" strike="noStrike">
                          <a:effectLst/>
                        </a:rPr>
                        <a:t>Standardized Coefficients</a:t>
                      </a:r>
                      <a:endParaRPr lang="en-US" sz="1200" b="0" i="0" u="none" strike="noStrike">
                        <a:solidFill>
                          <a:srgbClr val="000000"/>
                        </a:solidFill>
                        <a:effectLst/>
                        <a:latin typeface="Arial" panose="020B0604020202020204" pitchFamily="34" charset="0"/>
                      </a:endParaRPr>
                    </a:p>
                  </a:txBody>
                  <a:tcPr marL="3527" marR="3527" marT="3527" marB="0" anchor="ctr"/>
                </a:tc>
                <a:tc rowSpan="2">
                  <a:txBody>
                    <a:bodyPr/>
                    <a:lstStyle/>
                    <a:p>
                      <a:pPr algn="ctr" fontAlgn="b"/>
                      <a:r>
                        <a:rPr lang="en-US" sz="1200" u="none" strike="noStrike">
                          <a:effectLst/>
                        </a:rPr>
                        <a:t>t</a:t>
                      </a:r>
                      <a:endParaRPr lang="en-US" sz="1200" b="0" i="0" u="none" strike="noStrike">
                        <a:solidFill>
                          <a:srgbClr val="000000"/>
                        </a:solidFill>
                        <a:effectLst/>
                        <a:latin typeface="Arial" panose="020B0604020202020204" pitchFamily="34" charset="0"/>
                      </a:endParaRPr>
                    </a:p>
                  </a:txBody>
                  <a:tcPr marL="3527" marR="3527" marT="3527" marB="0" anchor="ctr"/>
                </a:tc>
                <a:tc rowSpan="2">
                  <a:txBody>
                    <a:bodyPr/>
                    <a:lstStyle/>
                    <a:p>
                      <a:pPr algn="ctr" fontAlgn="b"/>
                      <a:r>
                        <a:rPr lang="en-US" sz="1200" u="none" strike="noStrike">
                          <a:effectLst/>
                        </a:rPr>
                        <a:t>Sig.</a:t>
                      </a:r>
                      <a:endParaRPr lang="en-US" sz="1200" b="0" i="0" u="none" strike="noStrike">
                        <a:solidFill>
                          <a:srgbClr val="000000"/>
                        </a:solidFill>
                        <a:effectLst/>
                        <a:latin typeface="Arial" panose="020B0604020202020204" pitchFamily="34" charset="0"/>
                      </a:endParaRPr>
                    </a:p>
                  </a:txBody>
                  <a:tcPr marL="3527" marR="3527" marT="3527" marB="0" anchor="ctr"/>
                </a:tc>
                <a:extLst>
                  <a:ext uri="{0D108BD9-81ED-4DB2-BD59-A6C34878D82A}">
                    <a16:rowId xmlns:a16="http://schemas.microsoft.com/office/drawing/2014/main" val="3265358309"/>
                  </a:ext>
                </a:extLst>
              </a:tr>
              <a:tr h="226023">
                <a:tc gridSpan="2" vMerge="1">
                  <a:txBody>
                    <a:bodyPr/>
                    <a:lstStyle/>
                    <a:p>
                      <a:endParaRPr lang="en-US"/>
                    </a:p>
                  </a:txBody>
                  <a:tcPr/>
                </a:tc>
                <a:tc hMerge="1" vMerge="1">
                  <a:txBody>
                    <a:bodyPr/>
                    <a:lstStyle/>
                    <a:p>
                      <a:endParaRPr lang="en-US"/>
                    </a:p>
                  </a:txBody>
                  <a:tcPr/>
                </a:tc>
                <a:tc>
                  <a:txBody>
                    <a:bodyPr/>
                    <a:lstStyle/>
                    <a:p>
                      <a:pPr algn="ctr" fontAlgn="b"/>
                      <a:r>
                        <a:rPr lang="en-US" sz="1200" u="none" strike="noStrike">
                          <a:effectLst/>
                        </a:rPr>
                        <a:t>B</a:t>
                      </a:r>
                      <a:endParaRPr lang="en-US" sz="1200" b="0" i="0" u="none" strike="noStrike">
                        <a:solidFill>
                          <a:srgbClr val="000000"/>
                        </a:solidFill>
                        <a:effectLst/>
                        <a:latin typeface="Arial" panose="020B0604020202020204" pitchFamily="34" charset="0"/>
                      </a:endParaRPr>
                    </a:p>
                  </a:txBody>
                  <a:tcPr marL="3527" marR="3527" marT="3527" marB="0" anchor="ctr"/>
                </a:tc>
                <a:tc>
                  <a:txBody>
                    <a:bodyPr/>
                    <a:lstStyle/>
                    <a:p>
                      <a:pPr algn="ctr" fontAlgn="b"/>
                      <a:r>
                        <a:rPr lang="en-US" sz="1200" u="none" strike="noStrike">
                          <a:effectLst/>
                        </a:rPr>
                        <a:t>Std. Error</a:t>
                      </a:r>
                      <a:endParaRPr lang="en-US" sz="1200" b="0" i="0" u="none" strike="noStrike">
                        <a:solidFill>
                          <a:srgbClr val="000000"/>
                        </a:solidFill>
                        <a:effectLst/>
                        <a:latin typeface="Arial" panose="020B0604020202020204" pitchFamily="34" charset="0"/>
                      </a:endParaRPr>
                    </a:p>
                  </a:txBody>
                  <a:tcPr marL="3527" marR="3527" marT="3527" marB="0" anchor="ctr"/>
                </a:tc>
                <a:tc>
                  <a:txBody>
                    <a:bodyPr/>
                    <a:lstStyle/>
                    <a:p>
                      <a:pPr algn="ctr" fontAlgn="b"/>
                      <a:r>
                        <a:rPr lang="en-US" sz="1200" u="none" strike="noStrike">
                          <a:effectLst/>
                        </a:rPr>
                        <a:t>Beta</a:t>
                      </a:r>
                      <a:endParaRPr lang="en-US" sz="1200" b="0" i="0" u="none" strike="noStrike">
                        <a:solidFill>
                          <a:srgbClr val="000000"/>
                        </a:solidFill>
                        <a:effectLst/>
                        <a:latin typeface="Arial" panose="020B0604020202020204" pitchFamily="34" charset="0"/>
                      </a:endParaRPr>
                    </a:p>
                  </a:txBody>
                  <a:tcPr marL="3527" marR="3527" marT="3527" marB="0" anchor="ct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541589889"/>
                  </a:ext>
                </a:extLst>
              </a:tr>
              <a:tr h="221315">
                <a:tc rowSpan="8">
                  <a:txBody>
                    <a:bodyPr/>
                    <a:lstStyle/>
                    <a:p>
                      <a:pPr algn="ctr" fontAlgn="t"/>
                      <a:r>
                        <a:rPr lang="en-US" sz="1200" u="none" strike="noStrike" dirty="0">
                          <a:effectLst/>
                        </a:rPr>
                        <a:t>1</a:t>
                      </a:r>
                      <a:endParaRPr lang="en-US" sz="1200" b="0" i="0" u="none" strike="noStrike" dirty="0">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a:effectLst/>
                        </a:rPr>
                        <a:t>(Constant)</a:t>
                      </a:r>
                      <a:endParaRPr lang="en-US" sz="1200" b="0" i="0" u="none" strike="noStrike">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a:effectLst/>
                        </a:rPr>
                        <a:t>4575.011</a:t>
                      </a:r>
                      <a:endParaRPr lang="en-US" sz="1200" b="0" i="0" u="none" strike="noStrike">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a:effectLst/>
                        </a:rPr>
                        <a:t>3878.233</a:t>
                      </a:r>
                      <a:endParaRPr lang="en-US" sz="1200" b="0" i="0" u="none" strike="noStrike">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a:effectLst/>
                        </a:rPr>
                        <a:t> </a:t>
                      </a:r>
                      <a:endParaRPr lang="en-US" sz="1200" b="0" i="0" u="none" strike="noStrike">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dirty="0">
                          <a:effectLst/>
                        </a:rPr>
                        <a:t>1.180</a:t>
                      </a:r>
                      <a:endParaRPr lang="en-US" sz="1200" b="0" i="0" u="none" strike="noStrike" dirty="0">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a:effectLst/>
                        </a:rPr>
                        <a:t>.261</a:t>
                      </a:r>
                      <a:endParaRPr lang="en-US" sz="1200" b="0" i="0" u="none" strike="noStrike">
                        <a:solidFill>
                          <a:srgbClr val="000000"/>
                        </a:solidFill>
                        <a:effectLst/>
                        <a:latin typeface="Arial" panose="020B0604020202020204" pitchFamily="34" charset="0"/>
                      </a:endParaRPr>
                    </a:p>
                  </a:txBody>
                  <a:tcPr marL="3527" marR="3527" marT="3527" marB="0" anchor="ctr"/>
                </a:tc>
                <a:extLst>
                  <a:ext uri="{0D108BD9-81ED-4DB2-BD59-A6C34878D82A}">
                    <a16:rowId xmlns:a16="http://schemas.microsoft.com/office/drawing/2014/main" val="1039447338"/>
                  </a:ext>
                </a:extLst>
              </a:tr>
              <a:tr h="216606">
                <a:tc vMerge="1">
                  <a:txBody>
                    <a:bodyPr/>
                    <a:lstStyle/>
                    <a:p>
                      <a:endParaRPr lang="en-US"/>
                    </a:p>
                  </a:txBody>
                  <a:tcPr/>
                </a:tc>
                <a:tc>
                  <a:txBody>
                    <a:bodyPr/>
                    <a:lstStyle/>
                    <a:p>
                      <a:pPr algn="ctr" fontAlgn="t"/>
                      <a:r>
                        <a:rPr lang="en-US" sz="1200" u="none" strike="noStrike">
                          <a:effectLst/>
                        </a:rPr>
                        <a:t>SALES</a:t>
                      </a:r>
                      <a:endParaRPr lang="en-US" sz="1200" b="0" i="0" u="none" strike="noStrike">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dirty="0">
                          <a:effectLst/>
                        </a:rPr>
                        <a:t>.133</a:t>
                      </a:r>
                      <a:endParaRPr lang="en-US" sz="1200" b="0" i="0" u="none" strike="noStrike" dirty="0">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a:effectLst/>
                        </a:rPr>
                        <a:t>.062</a:t>
                      </a:r>
                      <a:endParaRPr lang="en-US" sz="1200" b="0" i="0" u="none" strike="noStrike">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a:effectLst/>
                        </a:rPr>
                        <a:t>1.804</a:t>
                      </a:r>
                      <a:endParaRPr lang="en-US" sz="1200" b="0" i="0" u="none" strike="noStrike">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a:effectLst/>
                        </a:rPr>
                        <a:t>2.160</a:t>
                      </a:r>
                      <a:endParaRPr lang="en-US" sz="1200" b="0" i="0" u="none" strike="noStrike">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a:effectLst/>
                        </a:rPr>
                        <a:t>.052</a:t>
                      </a:r>
                      <a:endParaRPr lang="en-US" sz="1200" b="0" i="0" u="none" strike="noStrike">
                        <a:solidFill>
                          <a:srgbClr val="000000"/>
                        </a:solidFill>
                        <a:effectLst/>
                        <a:latin typeface="Arial" panose="020B0604020202020204" pitchFamily="34" charset="0"/>
                      </a:endParaRPr>
                    </a:p>
                  </a:txBody>
                  <a:tcPr marL="3527" marR="3527" marT="3527" marB="0" anchor="ctr"/>
                </a:tc>
                <a:extLst>
                  <a:ext uri="{0D108BD9-81ED-4DB2-BD59-A6C34878D82A}">
                    <a16:rowId xmlns:a16="http://schemas.microsoft.com/office/drawing/2014/main" val="309133140"/>
                  </a:ext>
                </a:extLst>
              </a:tr>
              <a:tr h="221315">
                <a:tc vMerge="1">
                  <a:txBody>
                    <a:bodyPr/>
                    <a:lstStyle/>
                    <a:p>
                      <a:endParaRPr lang="en-US"/>
                    </a:p>
                  </a:txBody>
                  <a:tcPr/>
                </a:tc>
                <a:tc>
                  <a:txBody>
                    <a:bodyPr/>
                    <a:lstStyle/>
                    <a:p>
                      <a:pPr algn="ctr" fontAlgn="t"/>
                      <a:r>
                        <a:rPr lang="en-US" sz="1200" u="none" strike="noStrike">
                          <a:effectLst/>
                        </a:rPr>
                        <a:t>MATERIAL</a:t>
                      </a:r>
                      <a:endParaRPr lang="en-US" sz="1200" b="0" i="0" u="none" strike="noStrike">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a:effectLst/>
                        </a:rPr>
                        <a:t>-.223</a:t>
                      </a:r>
                      <a:endParaRPr lang="en-US" sz="1200" b="0" i="0" u="none" strike="noStrike">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dirty="0">
                          <a:effectLst/>
                        </a:rPr>
                        <a:t>.079</a:t>
                      </a:r>
                      <a:endParaRPr lang="en-US" sz="1200" b="0" i="0" u="none" strike="noStrike" dirty="0">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dirty="0">
                          <a:effectLst/>
                        </a:rPr>
                        <a:t>-1.581</a:t>
                      </a:r>
                      <a:endParaRPr lang="en-US" sz="1200" b="0" i="0" u="none" strike="noStrike" dirty="0">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a:effectLst/>
                        </a:rPr>
                        <a:t>-2.838</a:t>
                      </a:r>
                      <a:endParaRPr lang="en-US" sz="1200" b="0" i="0" u="none" strike="noStrike">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a:effectLst/>
                        </a:rPr>
                        <a:t>.015</a:t>
                      </a:r>
                      <a:endParaRPr lang="en-US" sz="1200" b="0" i="0" u="none" strike="noStrike">
                        <a:solidFill>
                          <a:srgbClr val="000000"/>
                        </a:solidFill>
                        <a:effectLst/>
                        <a:latin typeface="Arial" panose="020B0604020202020204" pitchFamily="34" charset="0"/>
                      </a:endParaRPr>
                    </a:p>
                  </a:txBody>
                  <a:tcPr marL="3527" marR="3527" marT="3527" marB="0" anchor="ctr"/>
                </a:tc>
                <a:extLst>
                  <a:ext uri="{0D108BD9-81ED-4DB2-BD59-A6C34878D82A}">
                    <a16:rowId xmlns:a16="http://schemas.microsoft.com/office/drawing/2014/main" val="468427917"/>
                  </a:ext>
                </a:extLst>
              </a:tr>
              <a:tr h="141265">
                <a:tc vMerge="1">
                  <a:txBody>
                    <a:bodyPr/>
                    <a:lstStyle/>
                    <a:p>
                      <a:endParaRPr lang="en-US"/>
                    </a:p>
                  </a:txBody>
                  <a:tcPr/>
                </a:tc>
                <a:tc>
                  <a:txBody>
                    <a:bodyPr/>
                    <a:lstStyle/>
                    <a:p>
                      <a:pPr algn="ctr" fontAlgn="t"/>
                      <a:r>
                        <a:rPr lang="en-US" sz="1200" u="none" strike="noStrike">
                          <a:effectLst/>
                        </a:rPr>
                        <a:t>OTINC</a:t>
                      </a:r>
                      <a:endParaRPr lang="en-US" sz="1200" b="0" i="0" u="none" strike="noStrike">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a:effectLst/>
                        </a:rPr>
                        <a:t>.077</a:t>
                      </a:r>
                      <a:endParaRPr lang="en-US" sz="1200" b="0" i="0" u="none" strike="noStrike">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dirty="0">
                          <a:effectLst/>
                        </a:rPr>
                        <a:t>.221</a:t>
                      </a:r>
                      <a:endParaRPr lang="en-US" sz="1200" b="0" i="0" u="none" strike="noStrike" dirty="0">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dirty="0">
                          <a:effectLst/>
                        </a:rPr>
                        <a:t>.053</a:t>
                      </a:r>
                      <a:endParaRPr lang="en-US" sz="1200" b="0" i="0" u="none" strike="noStrike" dirty="0">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dirty="0">
                          <a:effectLst/>
                        </a:rPr>
                        <a:t>.350</a:t>
                      </a:r>
                      <a:endParaRPr lang="en-US" sz="1200" b="0" i="0" u="none" strike="noStrike" dirty="0">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a:effectLst/>
                        </a:rPr>
                        <a:t>.733</a:t>
                      </a:r>
                      <a:endParaRPr lang="en-US" sz="1200" b="0" i="0" u="none" strike="noStrike">
                        <a:solidFill>
                          <a:srgbClr val="000000"/>
                        </a:solidFill>
                        <a:effectLst/>
                        <a:latin typeface="Arial" panose="020B0604020202020204" pitchFamily="34" charset="0"/>
                      </a:endParaRPr>
                    </a:p>
                  </a:txBody>
                  <a:tcPr marL="3527" marR="3527" marT="3527" marB="0" anchor="ctr"/>
                </a:tc>
                <a:extLst>
                  <a:ext uri="{0D108BD9-81ED-4DB2-BD59-A6C34878D82A}">
                    <a16:rowId xmlns:a16="http://schemas.microsoft.com/office/drawing/2014/main" val="705465622"/>
                  </a:ext>
                </a:extLst>
              </a:tr>
              <a:tr h="136556">
                <a:tc vMerge="1">
                  <a:txBody>
                    <a:bodyPr/>
                    <a:lstStyle/>
                    <a:p>
                      <a:endParaRPr lang="en-US"/>
                    </a:p>
                  </a:txBody>
                  <a:tcPr/>
                </a:tc>
                <a:tc>
                  <a:txBody>
                    <a:bodyPr/>
                    <a:lstStyle/>
                    <a:p>
                      <a:pPr algn="ctr" fontAlgn="t"/>
                      <a:r>
                        <a:rPr lang="en-US" sz="1200" u="none" strike="noStrike" dirty="0">
                          <a:effectLst/>
                        </a:rPr>
                        <a:t>EMPL</a:t>
                      </a:r>
                      <a:endParaRPr lang="en-US" sz="1200" b="0" i="0" u="none" strike="noStrike" dirty="0">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a:effectLst/>
                        </a:rPr>
                        <a:t>-.307</a:t>
                      </a:r>
                      <a:endParaRPr lang="en-US" sz="1200" b="0" i="0" u="none" strike="noStrike">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a:effectLst/>
                        </a:rPr>
                        <a:t>.293</a:t>
                      </a:r>
                      <a:endParaRPr lang="en-US" sz="1200" b="0" i="0" u="none" strike="noStrike">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a:effectLst/>
                        </a:rPr>
                        <a:t>-.316</a:t>
                      </a:r>
                      <a:endParaRPr lang="en-US" sz="1200" b="0" i="0" u="none" strike="noStrike">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dirty="0">
                          <a:effectLst/>
                        </a:rPr>
                        <a:t>-1.047</a:t>
                      </a:r>
                      <a:endParaRPr lang="en-US" sz="1200" b="0" i="0" u="none" strike="noStrike" dirty="0">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dirty="0">
                          <a:effectLst/>
                        </a:rPr>
                        <a:t>.316</a:t>
                      </a:r>
                      <a:endParaRPr lang="en-US" sz="1200" b="0" i="0" u="none" strike="noStrike" dirty="0">
                        <a:solidFill>
                          <a:srgbClr val="000000"/>
                        </a:solidFill>
                        <a:effectLst/>
                        <a:latin typeface="Arial" panose="020B0604020202020204" pitchFamily="34" charset="0"/>
                      </a:endParaRPr>
                    </a:p>
                  </a:txBody>
                  <a:tcPr marL="3527" marR="3527" marT="3527" marB="0" anchor="ctr"/>
                </a:tc>
                <a:extLst>
                  <a:ext uri="{0D108BD9-81ED-4DB2-BD59-A6C34878D82A}">
                    <a16:rowId xmlns:a16="http://schemas.microsoft.com/office/drawing/2014/main" val="593594389"/>
                  </a:ext>
                </a:extLst>
              </a:tr>
              <a:tr h="136556">
                <a:tc vMerge="1">
                  <a:txBody>
                    <a:bodyPr/>
                    <a:lstStyle/>
                    <a:p>
                      <a:endParaRPr lang="en-US"/>
                    </a:p>
                  </a:txBody>
                  <a:tcPr/>
                </a:tc>
                <a:tc>
                  <a:txBody>
                    <a:bodyPr/>
                    <a:lstStyle/>
                    <a:p>
                      <a:pPr algn="ctr" fontAlgn="t"/>
                      <a:r>
                        <a:rPr lang="en-US" sz="1200" u="none" strike="noStrike">
                          <a:effectLst/>
                        </a:rPr>
                        <a:t>INT</a:t>
                      </a:r>
                      <a:endParaRPr lang="en-US" sz="1200" b="0" i="0" u="none" strike="noStrike">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dirty="0">
                          <a:effectLst/>
                        </a:rPr>
                        <a:t>-.006</a:t>
                      </a:r>
                      <a:endParaRPr lang="en-US" sz="1200" b="0" i="0" u="none" strike="noStrike" dirty="0">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dirty="0">
                          <a:effectLst/>
                        </a:rPr>
                        <a:t>.335</a:t>
                      </a:r>
                      <a:endParaRPr lang="en-US" sz="1200" b="0" i="0" u="none" strike="noStrike" dirty="0">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a:effectLst/>
                        </a:rPr>
                        <a:t>-.005</a:t>
                      </a:r>
                      <a:endParaRPr lang="en-US" sz="1200" b="0" i="0" u="none" strike="noStrike">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a:effectLst/>
                        </a:rPr>
                        <a:t>-.018</a:t>
                      </a:r>
                      <a:endParaRPr lang="en-US" sz="1200" b="0" i="0" u="none" strike="noStrike">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dirty="0">
                          <a:effectLst/>
                        </a:rPr>
                        <a:t>.986</a:t>
                      </a:r>
                      <a:endParaRPr lang="en-US" sz="1200" b="0" i="0" u="none" strike="noStrike" dirty="0">
                        <a:solidFill>
                          <a:srgbClr val="000000"/>
                        </a:solidFill>
                        <a:effectLst/>
                        <a:latin typeface="Arial" panose="020B0604020202020204" pitchFamily="34" charset="0"/>
                      </a:endParaRPr>
                    </a:p>
                  </a:txBody>
                  <a:tcPr marL="3527" marR="3527" marT="3527" marB="0" anchor="ctr"/>
                </a:tc>
                <a:extLst>
                  <a:ext uri="{0D108BD9-81ED-4DB2-BD59-A6C34878D82A}">
                    <a16:rowId xmlns:a16="http://schemas.microsoft.com/office/drawing/2014/main" val="1937366247"/>
                  </a:ext>
                </a:extLst>
              </a:tr>
              <a:tr h="136556">
                <a:tc vMerge="1">
                  <a:txBody>
                    <a:bodyPr/>
                    <a:lstStyle/>
                    <a:p>
                      <a:endParaRPr lang="en-US"/>
                    </a:p>
                  </a:txBody>
                  <a:tcPr/>
                </a:tc>
                <a:tc>
                  <a:txBody>
                    <a:bodyPr/>
                    <a:lstStyle/>
                    <a:p>
                      <a:pPr algn="ctr" fontAlgn="t"/>
                      <a:r>
                        <a:rPr lang="en-US" sz="1200" u="none" strike="noStrike" dirty="0">
                          <a:effectLst/>
                        </a:rPr>
                        <a:t>T</a:t>
                      </a:r>
                      <a:endParaRPr lang="en-US" sz="1200" b="0" i="0" u="none" strike="noStrike" dirty="0">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a:effectLst/>
                        </a:rPr>
                        <a:t>138.031</a:t>
                      </a:r>
                      <a:endParaRPr lang="en-US" sz="1200" b="0" i="0" u="none" strike="noStrike">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dirty="0">
                          <a:effectLst/>
                        </a:rPr>
                        <a:t>208.641</a:t>
                      </a:r>
                      <a:endParaRPr lang="en-US" sz="1200" b="0" i="0" u="none" strike="noStrike" dirty="0">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a:effectLst/>
                        </a:rPr>
                        <a:t>.475</a:t>
                      </a:r>
                      <a:endParaRPr lang="en-US" sz="1200" b="0" i="0" u="none" strike="noStrike">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dirty="0">
                          <a:effectLst/>
                        </a:rPr>
                        <a:t>.662</a:t>
                      </a:r>
                      <a:endParaRPr lang="en-US" sz="1200" b="0" i="0" u="none" strike="noStrike" dirty="0">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dirty="0">
                          <a:effectLst/>
                        </a:rPr>
                        <a:t>.521</a:t>
                      </a:r>
                      <a:endParaRPr lang="en-US" sz="1200" b="0" i="0" u="none" strike="noStrike" dirty="0">
                        <a:solidFill>
                          <a:srgbClr val="000000"/>
                        </a:solidFill>
                        <a:effectLst/>
                        <a:latin typeface="Arial" panose="020B0604020202020204" pitchFamily="34" charset="0"/>
                      </a:endParaRPr>
                    </a:p>
                  </a:txBody>
                  <a:tcPr marL="3527" marR="3527" marT="3527" marB="0" anchor="ctr"/>
                </a:tc>
                <a:extLst>
                  <a:ext uri="{0D108BD9-81ED-4DB2-BD59-A6C34878D82A}">
                    <a16:rowId xmlns:a16="http://schemas.microsoft.com/office/drawing/2014/main" val="2522245808"/>
                  </a:ext>
                </a:extLst>
              </a:tr>
              <a:tr h="136556">
                <a:tc vMerge="1">
                  <a:txBody>
                    <a:bodyPr/>
                    <a:lstStyle/>
                    <a:p>
                      <a:endParaRPr lang="en-US"/>
                    </a:p>
                  </a:txBody>
                  <a:tcPr/>
                </a:tc>
                <a:tc>
                  <a:txBody>
                    <a:bodyPr/>
                    <a:lstStyle/>
                    <a:p>
                      <a:pPr algn="ctr" fontAlgn="t"/>
                      <a:r>
                        <a:rPr lang="en-US" sz="1200" u="none" strike="noStrike" dirty="0">
                          <a:effectLst/>
                        </a:rPr>
                        <a:t>T2</a:t>
                      </a:r>
                      <a:endParaRPr lang="en-US" sz="1200" b="0" i="0" u="none" strike="noStrike" dirty="0">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a:effectLst/>
                        </a:rPr>
                        <a:t>6.526</a:t>
                      </a:r>
                      <a:endParaRPr lang="en-US" sz="1200" b="0" i="0" u="none" strike="noStrike">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a:effectLst/>
                        </a:rPr>
                        <a:t>9.890</a:t>
                      </a:r>
                      <a:endParaRPr lang="en-US" sz="1200" b="0" i="0" u="none" strike="noStrike">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dirty="0">
                          <a:effectLst/>
                        </a:rPr>
                        <a:t>.485</a:t>
                      </a:r>
                      <a:endParaRPr lang="en-US" sz="1200" b="0" i="0" u="none" strike="noStrike" dirty="0">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a:effectLst/>
                        </a:rPr>
                        <a:t>.660</a:t>
                      </a:r>
                      <a:endParaRPr lang="en-US" sz="1200" b="0" i="0" u="none" strike="noStrike">
                        <a:solidFill>
                          <a:srgbClr val="000000"/>
                        </a:solidFill>
                        <a:effectLst/>
                        <a:latin typeface="Arial" panose="020B0604020202020204" pitchFamily="34" charset="0"/>
                      </a:endParaRPr>
                    </a:p>
                  </a:txBody>
                  <a:tcPr marL="3527" marR="3527" marT="3527" marB="0" anchor="ctr"/>
                </a:tc>
                <a:tc>
                  <a:txBody>
                    <a:bodyPr/>
                    <a:lstStyle/>
                    <a:p>
                      <a:pPr algn="ctr" fontAlgn="t"/>
                      <a:r>
                        <a:rPr lang="en-US" sz="1200" u="none" strike="noStrike" dirty="0">
                          <a:effectLst/>
                        </a:rPr>
                        <a:t>.522</a:t>
                      </a:r>
                      <a:endParaRPr lang="en-US" sz="1200" b="0" i="0" u="none" strike="noStrike" dirty="0">
                        <a:solidFill>
                          <a:srgbClr val="000000"/>
                        </a:solidFill>
                        <a:effectLst/>
                        <a:latin typeface="Arial" panose="020B0604020202020204" pitchFamily="34" charset="0"/>
                      </a:endParaRPr>
                    </a:p>
                  </a:txBody>
                  <a:tcPr marL="3527" marR="3527" marT="3527" marB="0" anchor="ctr"/>
                </a:tc>
                <a:extLst>
                  <a:ext uri="{0D108BD9-81ED-4DB2-BD59-A6C34878D82A}">
                    <a16:rowId xmlns:a16="http://schemas.microsoft.com/office/drawing/2014/main" val="3195906331"/>
                  </a:ext>
                </a:extLst>
              </a:tr>
              <a:tr h="216606">
                <a:tc rowSpan="7">
                  <a:txBody>
                    <a:bodyPr/>
                    <a:lstStyle/>
                    <a:p>
                      <a:pPr algn="ctr" fontAlgn="t"/>
                      <a:r>
                        <a:rPr lang="en-US" sz="1200" u="none" strike="noStrike" dirty="0">
                          <a:effectLst/>
                        </a:rPr>
                        <a:t>2</a:t>
                      </a:r>
                      <a:endParaRPr lang="en-US" sz="1200" b="0" i="0" u="none" strike="noStrike" dirty="0">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a:effectLst/>
                        </a:rPr>
                        <a:t>(Constant)</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a:effectLst/>
                        </a:rPr>
                        <a:t>4574.598</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a:effectLst/>
                        </a:rPr>
                        <a:t>3726.074</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a:effectLst/>
                        </a:rPr>
                        <a:t> </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a:effectLst/>
                        </a:rPr>
                        <a:t>1.228</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dirty="0">
                          <a:effectLst/>
                        </a:rPr>
                        <a:t>.241</a:t>
                      </a:r>
                      <a:endParaRPr lang="en-US" sz="1200" b="0" i="0" u="none" strike="noStrike" dirty="0">
                        <a:solidFill>
                          <a:srgbClr val="000000"/>
                        </a:solidFill>
                        <a:effectLst/>
                        <a:latin typeface="Arial" panose="020B0604020202020204" pitchFamily="34" charset="0"/>
                      </a:endParaRPr>
                    </a:p>
                  </a:txBody>
                  <a:tcPr marL="3527" marR="3527" marT="3527" marB="0" anchor="ctr">
                    <a:solidFill>
                      <a:schemeClr val="bg2">
                        <a:lumMod val="90000"/>
                      </a:schemeClr>
                    </a:solidFill>
                  </a:tcPr>
                </a:tc>
                <a:extLst>
                  <a:ext uri="{0D108BD9-81ED-4DB2-BD59-A6C34878D82A}">
                    <a16:rowId xmlns:a16="http://schemas.microsoft.com/office/drawing/2014/main" val="2158272072"/>
                  </a:ext>
                </a:extLst>
              </a:tr>
              <a:tr h="136556">
                <a:tc vMerge="1">
                  <a:txBody>
                    <a:bodyPr/>
                    <a:lstStyle/>
                    <a:p>
                      <a:endParaRPr lang="en-US"/>
                    </a:p>
                  </a:txBody>
                  <a:tcPr/>
                </a:tc>
                <a:tc>
                  <a:txBody>
                    <a:bodyPr/>
                    <a:lstStyle/>
                    <a:p>
                      <a:pPr algn="ctr" fontAlgn="t"/>
                      <a:r>
                        <a:rPr lang="en-US" sz="1200" u="none" strike="noStrike" dirty="0">
                          <a:effectLst/>
                        </a:rPr>
                        <a:t>SALES</a:t>
                      </a:r>
                      <a:endParaRPr lang="en-US" sz="1200" b="0" i="0" u="none" strike="noStrike" dirty="0">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a:effectLst/>
                        </a:rPr>
                        <a:t>.133</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a:effectLst/>
                        </a:rPr>
                        <a:t>.059</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a:effectLst/>
                        </a:rPr>
                        <a:t>1.804</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a:effectLst/>
                        </a:rPr>
                        <a:t>2.249</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a:effectLst/>
                        </a:rPr>
                        <a:t>.043</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extLst>
                  <a:ext uri="{0D108BD9-81ED-4DB2-BD59-A6C34878D82A}">
                    <a16:rowId xmlns:a16="http://schemas.microsoft.com/office/drawing/2014/main" val="4052553953"/>
                  </a:ext>
                </a:extLst>
              </a:tr>
              <a:tr h="216606">
                <a:tc vMerge="1">
                  <a:txBody>
                    <a:bodyPr/>
                    <a:lstStyle/>
                    <a:p>
                      <a:endParaRPr lang="en-US"/>
                    </a:p>
                  </a:txBody>
                  <a:tcPr/>
                </a:tc>
                <a:tc>
                  <a:txBody>
                    <a:bodyPr/>
                    <a:lstStyle/>
                    <a:p>
                      <a:pPr algn="ctr" fontAlgn="t"/>
                      <a:r>
                        <a:rPr lang="en-US" sz="1200" u="none" strike="noStrike">
                          <a:effectLst/>
                        </a:rPr>
                        <a:t>MATERIAL</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dirty="0">
                          <a:effectLst/>
                        </a:rPr>
                        <a:t>-.223</a:t>
                      </a:r>
                      <a:endParaRPr lang="en-US" sz="1200" b="0" i="0" u="none" strike="noStrike" dirty="0">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dirty="0">
                          <a:effectLst/>
                        </a:rPr>
                        <a:t>.075</a:t>
                      </a:r>
                      <a:endParaRPr lang="en-US" sz="1200" b="0" i="0" u="none" strike="noStrike" dirty="0">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a:effectLst/>
                        </a:rPr>
                        <a:t>-1.582</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a:effectLst/>
                        </a:rPr>
                        <a:t>-2.960</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a:effectLst/>
                        </a:rPr>
                        <a:t>.011</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extLst>
                  <a:ext uri="{0D108BD9-81ED-4DB2-BD59-A6C34878D82A}">
                    <a16:rowId xmlns:a16="http://schemas.microsoft.com/office/drawing/2014/main" val="3769597750"/>
                  </a:ext>
                </a:extLst>
              </a:tr>
              <a:tr h="136556">
                <a:tc vMerge="1">
                  <a:txBody>
                    <a:bodyPr/>
                    <a:lstStyle/>
                    <a:p>
                      <a:endParaRPr lang="en-US"/>
                    </a:p>
                  </a:txBody>
                  <a:tcPr/>
                </a:tc>
                <a:tc>
                  <a:txBody>
                    <a:bodyPr/>
                    <a:lstStyle/>
                    <a:p>
                      <a:pPr algn="ctr" fontAlgn="t"/>
                      <a:r>
                        <a:rPr lang="en-US" sz="1200" u="none" strike="noStrike">
                          <a:effectLst/>
                        </a:rPr>
                        <a:t>OTINC</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a:effectLst/>
                        </a:rPr>
                        <a:t>.076</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a:effectLst/>
                        </a:rPr>
                        <a:t>.206</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a:effectLst/>
                        </a:rPr>
                        <a:t>.053</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dirty="0">
                          <a:effectLst/>
                        </a:rPr>
                        <a:t>.370</a:t>
                      </a:r>
                      <a:endParaRPr lang="en-US" sz="1200" b="0" i="0" u="none" strike="noStrike" dirty="0">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dirty="0">
                          <a:effectLst/>
                        </a:rPr>
                        <a:t>.717</a:t>
                      </a:r>
                      <a:endParaRPr lang="en-US" sz="1200" b="0" i="0" u="none" strike="noStrike" dirty="0">
                        <a:solidFill>
                          <a:srgbClr val="000000"/>
                        </a:solidFill>
                        <a:effectLst/>
                        <a:latin typeface="Arial" panose="020B0604020202020204" pitchFamily="34" charset="0"/>
                      </a:endParaRPr>
                    </a:p>
                  </a:txBody>
                  <a:tcPr marL="3527" marR="3527" marT="3527" marB="0" anchor="ctr">
                    <a:solidFill>
                      <a:schemeClr val="bg2">
                        <a:lumMod val="90000"/>
                      </a:schemeClr>
                    </a:solidFill>
                  </a:tcPr>
                </a:tc>
                <a:extLst>
                  <a:ext uri="{0D108BD9-81ED-4DB2-BD59-A6C34878D82A}">
                    <a16:rowId xmlns:a16="http://schemas.microsoft.com/office/drawing/2014/main" val="666537643"/>
                  </a:ext>
                </a:extLst>
              </a:tr>
              <a:tr h="216606">
                <a:tc vMerge="1">
                  <a:txBody>
                    <a:bodyPr/>
                    <a:lstStyle/>
                    <a:p>
                      <a:endParaRPr lang="en-US"/>
                    </a:p>
                  </a:txBody>
                  <a:tcPr/>
                </a:tc>
                <a:tc>
                  <a:txBody>
                    <a:bodyPr/>
                    <a:lstStyle/>
                    <a:p>
                      <a:pPr algn="ctr" fontAlgn="t"/>
                      <a:r>
                        <a:rPr lang="en-US" sz="1200" u="none" strike="noStrike">
                          <a:effectLst/>
                        </a:rPr>
                        <a:t>EMPL</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a:effectLst/>
                        </a:rPr>
                        <a:t>-.307</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a:effectLst/>
                        </a:rPr>
                        <a:t>.281</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dirty="0">
                          <a:effectLst/>
                        </a:rPr>
                        <a:t>-.316</a:t>
                      </a:r>
                      <a:endParaRPr lang="en-US" sz="1200" b="0" i="0" u="none" strike="noStrike" dirty="0">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a:effectLst/>
                        </a:rPr>
                        <a:t>-1.091</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dirty="0">
                          <a:effectLst/>
                        </a:rPr>
                        <a:t>.295</a:t>
                      </a:r>
                      <a:endParaRPr lang="en-US" sz="1200" b="0" i="0" u="none" strike="noStrike" dirty="0">
                        <a:solidFill>
                          <a:srgbClr val="000000"/>
                        </a:solidFill>
                        <a:effectLst/>
                        <a:latin typeface="Arial" panose="020B0604020202020204" pitchFamily="34" charset="0"/>
                      </a:endParaRPr>
                    </a:p>
                  </a:txBody>
                  <a:tcPr marL="3527" marR="3527" marT="3527" marB="0" anchor="ctr">
                    <a:solidFill>
                      <a:schemeClr val="bg2">
                        <a:lumMod val="90000"/>
                      </a:schemeClr>
                    </a:solidFill>
                  </a:tcPr>
                </a:tc>
                <a:extLst>
                  <a:ext uri="{0D108BD9-81ED-4DB2-BD59-A6C34878D82A}">
                    <a16:rowId xmlns:a16="http://schemas.microsoft.com/office/drawing/2014/main" val="1338206062"/>
                  </a:ext>
                </a:extLst>
              </a:tr>
              <a:tr h="141265">
                <a:tc vMerge="1">
                  <a:txBody>
                    <a:bodyPr/>
                    <a:lstStyle/>
                    <a:p>
                      <a:endParaRPr lang="en-US"/>
                    </a:p>
                  </a:txBody>
                  <a:tcPr/>
                </a:tc>
                <a:tc>
                  <a:txBody>
                    <a:bodyPr/>
                    <a:lstStyle/>
                    <a:p>
                      <a:pPr algn="ctr" fontAlgn="t"/>
                      <a:r>
                        <a:rPr lang="en-US" sz="1200" u="none" strike="noStrike">
                          <a:effectLst/>
                        </a:rPr>
                        <a:t>T</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a:effectLst/>
                        </a:rPr>
                        <a:t>139.098</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a:effectLst/>
                        </a:rPr>
                        <a:t>192.446</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a:effectLst/>
                        </a:rPr>
                        <a:t>.479</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a:effectLst/>
                        </a:rPr>
                        <a:t>.723</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dirty="0">
                          <a:effectLst/>
                        </a:rPr>
                        <a:t>.483</a:t>
                      </a:r>
                      <a:endParaRPr lang="en-US" sz="1200" b="0" i="0" u="none" strike="noStrike" dirty="0">
                        <a:solidFill>
                          <a:srgbClr val="000000"/>
                        </a:solidFill>
                        <a:effectLst/>
                        <a:latin typeface="Arial" panose="020B0604020202020204" pitchFamily="34" charset="0"/>
                      </a:endParaRPr>
                    </a:p>
                  </a:txBody>
                  <a:tcPr marL="3527" marR="3527" marT="3527" marB="0" anchor="ctr">
                    <a:solidFill>
                      <a:schemeClr val="bg2">
                        <a:lumMod val="90000"/>
                      </a:schemeClr>
                    </a:solidFill>
                  </a:tcPr>
                </a:tc>
                <a:extLst>
                  <a:ext uri="{0D108BD9-81ED-4DB2-BD59-A6C34878D82A}">
                    <a16:rowId xmlns:a16="http://schemas.microsoft.com/office/drawing/2014/main" val="1074762983"/>
                  </a:ext>
                </a:extLst>
              </a:tr>
              <a:tr h="141265">
                <a:tc vMerge="1">
                  <a:txBody>
                    <a:bodyPr/>
                    <a:lstStyle/>
                    <a:p>
                      <a:endParaRPr lang="en-US"/>
                    </a:p>
                  </a:txBody>
                  <a:tcPr/>
                </a:tc>
                <a:tc>
                  <a:txBody>
                    <a:bodyPr/>
                    <a:lstStyle/>
                    <a:p>
                      <a:pPr algn="ctr" fontAlgn="t"/>
                      <a:r>
                        <a:rPr lang="en-US" sz="1200" u="none" strike="noStrike" dirty="0">
                          <a:effectLst/>
                        </a:rPr>
                        <a:t>T2</a:t>
                      </a:r>
                      <a:endParaRPr lang="en-US" sz="1200" b="0" i="0" u="none" strike="noStrike" dirty="0">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a:effectLst/>
                        </a:rPr>
                        <a:t>6.439</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a:effectLst/>
                        </a:rPr>
                        <a:t>8.333</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a:effectLst/>
                        </a:rPr>
                        <a:t>.479</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a:effectLst/>
                        </a:rPr>
                        <a:t>.773</a:t>
                      </a:r>
                      <a:endParaRPr lang="en-US" sz="1200" b="0" i="0" u="none" strike="noStrike">
                        <a:solidFill>
                          <a:srgbClr val="000000"/>
                        </a:solidFill>
                        <a:effectLst/>
                        <a:latin typeface="Arial" panose="020B0604020202020204" pitchFamily="34" charset="0"/>
                      </a:endParaRPr>
                    </a:p>
                  </a:txBody>
                  <a:tcPr marL="3527" marR="3527" marT="3527" marB="0" anchor="ctr">
                    <a:solidFill>
                      <a:schemeClr val="bg2">
                        <a:lumMod val="90000"/>
                      </a:schemeClr>
                    </a:solidFill>
                  </a:tcPr>
                </a:tc>
                <a:tc>
                  <a:txBody>
                    <a:bodyPr/>
                    <a:lstStyle/>
                    <a:p>
                      <a:pPr algn="ctr" fontAlgn="t"/>
                      <a:r>
                        <a:rPr lang="en-US" sz="1200" u="none" strike="noStrike" dirty="0">
                          <a:effectLst/>
                        </a:rPr>
                        <a:t>.454</a:t>
                      </a:r>
                      <a:endParaRPr lang="en-US" sz="1200" b="0" i="0" u="none" strike="noStrike" dirty="0">
                        <a:solidFill>
                          <a:srgbClr val="000000"/>
                        </a:solidFill>
                        <a:effectLst/>
                        <a:latin typeface="Arial" panose="020B0604020202020204" pitchFamily="34" charset="0"/>
                      </a:endParaRPr>
                    </a:p>
                  </a:txBody>
                  <a:tcPr marL="3527" marR="3527" marT="3527" marB="0" anchor="ctr">
                    <a:solidFill>
                      <a:schemeClr val="bg2">
                        <a:lumMod val="90000"/>
                      </a:schemeClr>
                    </a:solidFill>
                  </a:tcPr>
                </a:tc>
                <a:extLst>
                  <a:ext uri="{0D108BD9-81ED-4DB2-BD59-A6C34878D82A}">
                    <a16:rowId xmlns:a16="http://schemas.microsoft.com/office/drawing/2014/main" val="2828759906"/>
                  </a:ext>
                </a:extLst>
              </a:tr>
              <a:tr h="208131">
                <a:tc rowSpan="6">
                  <a:txBody>
                    <a:bodyPr/>
                    <a:lstStyle/>
                    <a:p>
                      <a:pPr algn="ctr" fontAlgn="t"/>
                      <a:r>
                        <a:rPr lang="en-US" sz="1200" u="none" strike="noStrike" dirty="0">
                          <a:effectLst/>
                        </a:rPr>
                        <a:t>3</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dirty="0">
                          <a:effectLst/>
                        </a:rPr>
                        <a:t>(Constant)</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a:effectLst/>
                        </a:rPr>
                        <a:t>4598.645</a:t>
                      </a:r>
                      <a:endParaRPr lang="en-US" sz="1200" b="0" i="0" u="none" strike="noStrike">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a:effectLst/>
                        </a:rPr>
                        <a:t>3608.891</a:t>
                      </a:r>
                      <a:endParaRPr lang="en-US" sz="1200" b="0" i="0" u="none" strike="noStrike">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a:effectLst/>
                        </a:rPr>
                        <a:t> </a:t>
                      </a:r>
                      <a:endParaRPr lang="en-US" sz="1200" b="0" i="0" u="none" strike="noStrike">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a:effectLst/>
                        </a:rPr>
                        <a:t>1.274</a:t>
                      </a:r>
                      <a:endParaRPr lang="en-US" sz="1200" b="0" i="0" u="none" strike="noStrike">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a:effectLst/>
                        </a:rPr>
                        <a:t>.223</a:t>
                      </a:r>
                      <a:endParaRPr lang="en-US" sz="1200" b="0" i="0" u="none" strike="noStrike">
                        <a:solidFill>
                          <a:srgbClr val="000000"/>
                        </a:solidFill>
                        <a:effectLst/>
                        <a:latin typeface="Arial" panose="020B0604020202020204" pitchFamily="34" charset="0"/>
                      </a:endParaRPr>
                    </a:p>
                  </a:txBody>
                  <a:tcPr marL="3527" marR="3527" marT="3527" marB="0" anchor="ctr">
                    <a:solidFill>
                      <a:srgbClr val="99FF99"/>
                    </a:solidFill>
                  </a:tcPr>
                </a:tc>
                <a:extLst>
                  <a:ext uri="{0D108BD9-81ED-4DB2-BD59-A6C34878D82A}">
                    <a16:rowId xmlns:a16="http://schemas.microsoft.com/office/drawing/2014/main" val="1559331169"/>
                  </a:ext>
                </a:extLst>
              </a:tr>
              <a:tr h="136556">
                <a:tc vMerge="1">
                  <a:txBody>
                    <a:bodyPr/>
                    <a:lstStyle/>
                    <a:p>
                      <a:endParaRPr lang="en-US"/>
                    </a:p>
                  </a:txBody>
                  <a:tcPr/>
                </a:tc>
                <a:tc>
                  <a:txBody>
                    <a:bodyPr/>
                    <a:lstStyle/>
                    <a:p>
                      <a:pPr algn="ctr" fontAlgn="t"/>
                      <a:r>
                        <a:rPr lang="en-US" sz="1200" u="none" strike="noStrike">
                          <a:effectLst/>
                        </a:rPr>
                        <a:t>SALES</a:t>
                      </a:r>
                      <a:endParaRPr lang="en-US" sz="1200" b="0" i="0" u="none" strike="noStrike">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a:effectLst/>
                        </a:rPr>
                        <a:t>.151</a:t>
                      </a:r>
                      <a:endParaRPr lang="en-US" sz="1200" b="0" i="0" u="none" strike="noStrike">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a:effectLst/>
                        </a:rPr>
                        <a:t>.033</a:t>
                      </a:r>
                      <a:endParaRPr lang="en-US" sz="1200" b="0" i="0" u="none" strike="noStrike">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a:effectLst/>
                        </a:rPr>
                        <a:t>2.047</a:t>
                      </a:r>
                      <a:endParaRPr lang="en-US" sz="1200" b="0" i="0" u="none" strike="noStrike">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a:effectLst/>
                        </a:rPr>
                        <a:t>4.586</a:t>
                      </a:r>
                      <a:endParaRPr lang="en-US" sz="1200" b="0" i="0" u="none" strike="noStrike">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a:effectLst/>
                        </a:rPr>
                        <a:t>.000</a:t>
                      </a:r>
                      <a:endParaRPr lang="en-US" sz="1200" b="0" i="0" u="none" strike="noStrike">
                        <a:solidFill>
                          <a:srgbClr val="000000"/>
                        </a:solidFill>
                        <a:effectLst/>
                        <a:latin typeface="Arial" panose="020B0604020202020204" pitchFamily="34" charset="0"/>
                      </a:endParaRPr>
                    </a:p>
                  </a:txBody>
                  <a:tcPr marL="3527" marR="3527" marT="3527" marB="0" anchor="ctr">
                    <a:solidFill>
                      <a:srgbClr val="99FF99"/>
                    </a:solidFill>
                  </a:tcPr>
                </a:tc>
                <a:extLst>
                  <a:ext uri="{0D108BD9-81ED-4DB2-BD59-A6C34878D82A}">
                    <a16:rowId xmlns:a16="http://schemas.microsoft.com/office/drawing/2014/main" val="345322006"/>
                  </a:ext>
                </a:extLst>
              </a:tr>
              <a:tr h="216606">
                <a:tc vMerge="1">
                  <a:txBody>
                    <a:bodyPr/>
                    <a:lstStyle/>
                    <a:p>
                      <a:endParaRPr lang="en-US"/>
                    </a:p>
                  </a:txBody>
                  <a:tcPr/>
                </a:tc>
                <a:tc>
                  <a:txBody>
                    <a:bodyPr/>
                    <a:lstStyle/>
                    <a:p>
                      <a:pPr algn="ctr" fontAlgn="t"/>
                      <a:r>
                        <a:rPr lang="en-US" sz="1200" u="none" strike="noStrike">
                          <a:effectLst/>
                        </a:rPr>
                        <a:t>MATERIAL</a:t>
                      </a:r>
                      <a:endParaRPr lang="en-US" sz="1200" b="0" i="0" u="none" strike="noStrike">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a:effectLst/>
                        </a:rPr>
                        <a:t>-.245</a:t>
                      </a:r>
                      <a:endParaRPr lang="en-US" sz="1200" b="0" i="0" u="none" strike="noStrike">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a:effectLst/>
                        </a:rPr>
                        <a:t>.045</a:t>
                      </a:r>
                      <a:endParaRPr lang="en-US" sz="1200" b="0" i="0" u="none" strike="noStrike">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dirty="0">
                          <a:effectLst/>
                        </a:rPr>
                        <a:t>-1.738</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a:effectLst/>
                        </a:rPr>
                        <a:t>-5.485</a:t>
                      </a:r>
                      <a:endParaRPr lang="en-US" sz="1200" b="0" i="0" u="none" strike="noStrike">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a:effectLst/>
                        </a:rPr>
                        <a:t>.000</a:t>
                      </a:r>
                      <a:endParaRPr lang="en-US" sz="1200" b="0" i="0" u="none" strike="noStrike">
                        <a:solidFill>
                          <a:srgbClr val="000000"/>
                        </a:solidFill>
                        <a:effectLst/>
                        <a:latin typeface="Arial" panose="020B0604020202020204" pitchFamily="34" charset="0"/>
                      </a:endParaRPr>
                    </a:p>
                  </a:txBody>
                  <a:tcPr marL="3527" marR="3527" marT="3527" marB="0" anchor="ctr">
                    <a:solidFill>
                      <a:srgbClr val="99FF99"/>
                    </a:solidFill>
                  </a:tcPr>
                </a:tc>
                <a:extLst>
                  <a:ext uri="{0D108BD9-81ED-4DB2-BD59-A6C34878D82A}">
                    <a16:rowId xmlns:a16="http://schemas.microsoft.com/office/drawing/2014/main" val="3480731827"/>
                  </a:ext>
                </a:extLst>
              </a:tr>
              <a:tr h="136556">
                <a:tc vMerge="1">
                  <a:txBody>
                    <a:bodyPr/>
                    <a:lstStyle/>
                    <a:p>
                      <a:endParaRPr lang="en-US"/>
                    </a:p>
                  </a:txBody>
                  <a:tcPr/>
                </a:tc>
                <a:tc>
                  <a:txBody>
                    <a:bodyPr/>
                    <a:lstStyle/>
                    <a:p>
                      <a:pPr algn="ctr" fontAlgn="t"/>
                      <a:r>
                        <a:rPr lang="en-US" sz="1200" u="none" strike="noStrike">
                          <a:effectLst/>
                        </a:rPr>
                        <a:t>EMPL</a:t>
                      </a:r>
                      <a:endParaRPr lang="en-US" sz="1200" b="0" i="0" u="none" strike="noStrike">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a:effectLst/>
                        </a:rPr>
                        <a:t>-.310</a:t>
                      </a:r>
                      <a:endParaRPr lang="en-US" sz="1200" b="0" i="0" u="none" strike="noStrike">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a:effectLst/>
                        </a:rPr>
                        <a:t>.272</a:t>
                      </a:r>
                      <a:endParaRPr lang="en-US" sz="1200" b="0" i="0" u="none" strike="noStrike">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a:effectLst/>
                        </a:rPr>
                        <a:t>-.320</a:t>
                      </a:r>
                      <a:endParaRPr lang="en-US" sz="1200" b="0" i="0" u="none" strike="noStrike">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a:effectLst/>
                        </a:rPr>
                        <a:t>-1.139</a:t>
                      </a:r>
                      <a:endParaRPr lang="en-US" sz="1200" b="0" i="0" u="none" strike="noStrike">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a:effectLst/>
                        </a:rPr>
                        <a:t>.274</a:t>
                      </a:r>
                      <a:endParaRPr lang="en-US" sz="1200" b="0" i="0" u="none" strike="noStrike">
                        <a:solidFill>
                          <a:srgbClr val="000000"/>
                        </a:solidFill>
                        <a:effectLst/>
                        <a:latin typeface="Arial" panose="020B0604020202020204" pitchFamily="34" charset="0"/>
                      </a:endParaRPr>
                    </a:p>
                  </a:txBody>
                  <a:tcPr marL="3527" marR="3527" marT="3527" marB="0" anchor="ctr">
                    <a:solidFill>
                      <a:srgbClr val="99FF99"/>
                    </a:solidFill>
                  </a:tcPr>
                </a:tc>
                <a:extLst>
                  <a:ext uri="{0D108BD9-81ED-4DB2-BD59-A6C34878D82A}">
                    <a16:rowId xmlns:a16="http://schemas.microsoft.com/office/drawing/2014/main" val="3668359088"/>
                  </a:ext>
                </a:extLst>
              </a:tr>
              <a:tr h="136556">
                <a:tc vMerge="1">
                  <a:txBody>
                    <a:bodyPr/>
                    <a:lstStyle/>
                    <a:p>
                      <a:endParaRPr lang="en-US"/>
                    </a:p>
                  </a:txBody>
                  <a:tcPr/>
                </a:tc>
                <a:tc>
                  <a:txBody>
                    <a:bodyPr/>
                    <a:lstStyle/>
                    <a:p>
                      <a:pPr algn="ctr" fontAlgn="t"/>
                      <a:r>
                        <a:rPr lang="en-US" sz="1200" u="none" strike="noStrike" dirty="0">
                          <a:effectLst/>
                        </a:rPr>
                        <a:t>T</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dirty="0">
                          <a:effectLst/>
                        </a:rPr>
                        <a:t>142.007</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a:effectLst/>
                        </a:rPr>
                        <a:t>186.266</a:t>
                      </a:r>
                      <a:endParaRPr lang="en-US" sz="1200" b="0" i="0" u="none" strike="noStrike">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a:effectLst/>
                        </a:rPr>
                        <a:t>.489</a:t>
                      </a:r>
                      <a:endParaRPr lang="en-US" sz="1200" b="0" i="0" u="none" strike="noStrike">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dirty="0">
                          <a:effectLst/>
                        </a:rPr>
                        <a:t>.762</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a:effectLst/>
                        </a:rPr>
                        <a:t>.458</a:t>
                      </a:r>
                      <a:endParaRPr lang="en-US" sz="1200" b="0" i="0" u="none" strike="noStrike">
                        <a:solidFill>
                          <a:srgbClr val="000000"/>
                        </a:solidFill>
                        <a:effectLst/>
                        <a:latin typeface="Arial" panose="020B0604020202020204" pitchFamily="34" charset="0"/>
                      </a:endParaRPr>
                    </a:p>
                  </a:txBody>
                  <a:tcPr marL="3527" marR="3527" marT="3527" marB="0" anchor="ctr">
                    <a:solidFill>
                      <a:srgbClr val="99FF99"/>
                    </a:solidFill>
                  </a:tcPr>
                </a:tc>
                <a:extLst>
                  <a:ext uri="{0D108BD9-81ED-4DB2-BD59-A6C34878D82A}">
                    <a16:rowId xmlns:a16="http://schemas.microsoft.com/office/drawing/2014/main" val="3219367396"/>
                  </a:ext>
                </a:extLst>
              </a:tr>
              <a:tr h="136556">
                <a:tc vMerge="1">
                  <a:txBody>
                    <a:bodyPr/>
                    <a:lstStyle/>
                    <a:p>
                      <a:endParaRPr lang="en-US"/>
                    </a:p>
                  </a:txBody>
                  <a:tcPr/>
                </a:tc>
                <a:tc>
                  <a:txBody>
                    <a:bodyPr/>
                    <a:lstStyle/>
                    <a:p>
                      <a:pPr algn="ctr" fontAlgn="t"/>
                      <a:r>
                        <a:rPr lang="en-US" sz="1200" u="none" strike="noStrike" dirty="0">
                          <a:effectLst/>
                        </a:rPr>
                        <a:t>T2</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dirty="0">
                          <a:effectLst/>
                        </a:rPr>
                        <a:t>5.756</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a:effectLst/>
                        </a:rPr>
                        <a:t>7.872</a:t>
                      </a:r>
                      <a:endParaRPr lang="en-US" sz="1200" b="0" i="0" u="none" strike="noStrike">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dirty="0">
                          <a:effectLst/>
                        </a:rPr>
                        <a:t>.428</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a:effectLst/>
                        </a:rPr>
                        <a:t>.731</a:t>
                      </a:r>
                      <a:endParaRPr lang="en-US" sz="1200" b="0" i="0" u="none" strike="noStrike">
                        <a:solidFill>
                          <a:srgbClr val="000000"/>
                        </a:solidFill>
                        <a:effectLst/>
                        <a:latin typeface="Arial" panose="020B0604020202020204" pitchFamily="34" charset="0"/>
                      </a:endParaRPr>
                    </a:p>
                  </a:txBody>
                  <a:tcPr marL="3527" marR="3527" marT="3527" marB="0" anchor="ctr">
                    <a:solidFill>
                      <a:srgbClr val="99FF99"/>
                    </a:solidFill>
                  </a:tcPr>
                </a:tc>
                <a:tc>
                  <a:txBody>
                    <a:bodyPr/>
                    <a:lstStyle/>
                    <a:p>
                      <a:pPr algn="ctr" fontAlgn="t"/>
                      <a:r>
                        <a:rPr lang="en-US" sz="1200" u="none" strike="noStrike" dirty="0">
                          <a:effectLst/>
                        </a:rPr>
                        <a:t>.477</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99FF99"/>
                    </a:solidFill>
                  </a:tcPr>
                </a:tc>
                <a:extLst>
                  <a:ext uri="{0D108BD9-81ED-4DB2-BD59-A6C34878D82A}">
                    <a16:rowId xmlns:a16="http://schemas.microsoft.com/office/drawing/2014/main" val="1847884373"/>
                  </a:ext>
                </a:extLst>
              </a:tr>
              <a:tr h="208131">
                <a:tc rowSpan="5">
                  <a:txBody>
                    <a:bodyPr/>
                    <a:lstStyle/>
                    <a:p>
                      <a:pPr algn="ctr" fontAlgn="t"/>
                      <a:r>
                        <a:rPr lang="en-US" sz="1200" u="none" strike="noStrike" dirty="0">
                          <a:effectLst/>
                        </a:rPr>
                        <a:t>4</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FCFEDC"/>
                    </a:solidFill>
                  </a:tcPr>
                </a:tc>
                <a:tc>
                  <a:txBody>
                    <a:bodyPr/>
                    <a:lstStyle/>
                    <a:p>
                      <a:pPr algn="ctr" fontAlgn="t"/>
                      <a:r>
                        <a:rPr lang="en-US" sz="1200" u="none" strike="noStrike">
                          <a:effectLst/>
                        </a:rPr>
                        <a:t>(Constant)</a:t>
                      </a:r>
                      <a:endParaRPr lang="en-US" sz="1200" b="0" i="0" u="none" strike="noStrike">
                        <a:solidFill>
                          <a:srgbClr val="000000"/>
                        </a:solidFill>
                        <a:effectLst/>
                        <a:latin typeface="Arial" panose="020B0604020202020204" pitchFamily="34" charset="0"/>
                      </a:endParaRPr>
                    </a:p>
                  </a:txBody>
                  <a:tcPr marL="3527" marR="3527" marT="3527" marB="0" anchor="ctr">
                    <a:solidFill>
                      <a:srgbClr val="FCFEDC"/>
                    </a:solidFill>
                  </a:tcPr>
                </a:tc>
                <a:tc>
                  <a:txBody>
                    <a:bodyPr/>
                    <a:lstStyle/>
                    <a:p>
                      <a:pPr algn="ctr" fontAlgn="t"/>
                      <a:r>
                        <a:rPr lang="en-US" sz="1200" u="none" strike="noStrike">
                          <a:effectLst/>
                        </a:rPr>
                        <a:t>5993.152</a:t>
                      </a:r>
                      <a:endParaRPr lang="en-US" sz="1200" b="0" i="0" u="none" strike="noStrike">
                        <a:solidFill>
                          <a:srgbClr val="000000"/>
                        </a:solidFill>
                        <a:effectLst/>
                        <a:latin typeface="Arial" panose="020B0604020202020204" pitchFamily="34" charset="0"/>
                      </a:endParaRPr>
                    </a:p>
                  </a:txBody>
                  <a:tcPr marL="3527" marR="3527" marT="3527" marB="0" anchor="ctr">
                    <a:solidFill>
                      <a:srgbClr val="FCFEDC"/>
                    </a:solidFill>
                  </a:tcPr>
                </a:tc>
                <a:tc>
                  <a:txBody>
                    <a:bodyPr/>
                    <a:lstStyle/>
                    <a:p>
                      <a:pPr algn="ctr" fontAlgn="t"/>
                      <a:r>
                        <a:rPr lang="en-US" sz="1200" u="none" strike="noStrike" dirty="0">
                          <a:effectLst/>
                        </a:rPr>
                        <a:t>3015.834</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FCFEDC"/>
                    </a:solidFill>
                  </a:tcPr>
                </a:tc>
                <a:tc>
                  <a:txBody>
                    <a:bodyPr/>
                    <a:lstStyle/>
                    <a:p>
                      <a:pPr algn="ctr" fontAlgn="t"/>
                      <a:r>
                        <a:rPr lang="en-US" sz="1200" u="none" strike="noStrike">
                          <a:effectLst/>
                        </a:rPr>
                        <a:t> </a:t>
                      </a:r>
                      <a:endParaRPr lang="en-US" sz="1200" b="0" i="0" u="none" strike="noStrike">
                        <a:solidFill>
                          <a:srgbClr val="000000"/>
                        </a:solidFill>
                        <a:effectLst/>
                        <a:latin typeface="Arial" panose="020B0604020202020204" pitchFamily="34" charset="0"/>
                      </a:endParaRPr>
                    </a:p>
                  </a:txBody>
                  <a:tcPr marL="3527" marR="3527" marT="3527" marB="0" anchor="ctr">
                    <a:solidFill>
                      <a:srgbClr val="FCFEDC"/>
                    </a:solidFill>
                  </a:tcPr>
                </a:tc>
                <a:tc>
                  <a:txBody>
                    <a:bodyPr/>
                    <a:lstStyle/>
                    <a:p>
                      <a:pPr algn="ctr" fontAlgn="t"/>
                      <a:r>
                        <a:rPr lang="en-US" sz="1200" u="none" strike="noStrike">
                          <a:effectLst/>
                        </a:rPr>
                        <a:t>1.987</a:t>
                      </a:r>
                      <a:endParaRPr lang="en-US" sz="1200" b="0" i="0" u="none" strike="noStrike">
                        <a:solidFill>
                          <a:srgbClr val="000000"/>
                        </a:solidFill>
                        <a:effectLst/>
                        <a:latin typeface="Arial" panose="020B0604020202020204" pitchFamily="34" charset="0"/>
                      </a:endParaRPr>
                    </a:p>
                  </a:txBody>
                  <a:tcPr marL="3527" marR="3527" marT="3527" marB="0" anchor="ctr">
                    <a:solidFill>
                      <a:srgbClr val="FCFEDC"/>
                    </a:solidFill>
                  </a:tcPr>
                </a:tc>
                <a:tc>
                  <a:txBody>
                    <a:bodyPr/>
                    <a:lstStyle/>
                    <a:p>
                      <a:pPr algn="ctr" fontAlgn="t"/>
                      <a:r>
                        <a:rPr lang="en-US" sz="1200" u="none" strike="noStrike" dirty="0">
                          <a:effectLst/>
                        </a:rPr>
                        <a:t>.065</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FCFEDC"/>
                    </a:solidFill>
                  </a:tcPr>
                </a:tc>
                <a:extLst>
                  <a:ext uri="{0D108BD9-81ED-4DB2-BD59-A6C34878D82A}">
                    <a16:rowId xmlns:a16="http://schemas.microsoft.com/office/drawing/2014/main" val="4144651552"/>
                  </a:ext>
                </a:extLst>
              </a:tr>
              <a:tr h="136556">
                <a:tc vMerge="1">
                  <a:txBody>
                    <a:bodyPr/>
                    <a:lstStyle/>
                    <a:p>
                      <a:endParaRPr lang="en-US"/>
                    </a:p>
                  </a:txBody>
                  <a:tcPr/>
                </a:tc>
                <a:tc>
                  <a:txBody>
                    <a:bodyPr/>
                    <a:lstStyle/>
                    <a:p>
                      <a:pPr algn="ctr" fontAlgn="t"/>
                      <a:r>
                        <a:rPr lang="en-US" sz="1200" u="none" strike="noStrike">
                          <a:effectLst/>
                        </a:rPr>
                        <a:t>SALES</a:t>
                      </a:r>
                      <a:endParaRPr lang="en-US" sz="1200" b="0" i="0" u="none" strike="noStrike">
                        <a:solidFill>
                          <a:srgbClr val="000000"/>
                        </a:solidFill>
                        <a:effectLst/>
                        <a:latin typeface="Arial" panose="020B0604020202020204" pitchFamily="34" charset="0"/>
                      </a:endParaRPr>
                    </a:p>
                  </a:txBody>
                  <a:tcPr marL="3527" marR="3527" marT="3527" marB="0" anchor="ctr">
                    <a:solidFill>
                      <a:srgbClr val="FCFEDC"/>
                    </a:solidFill>
                  </a:tcPr>
                </a:tc>
                <a:tc>
                  <a:txBody>
                    <a:bodyPr/>
                    <a:lstStyle/>
                    <a:p>
                      <a:pPr algn="ctr" fontAlgn="t"/>
                      <a:r>
                        <a:rPr lang="en-US" sz="1200" u="none" strike="noStrike">
                          <a:effectLst/>
                        </a:rPr>
                        <a:t>.163</a:t>
                      </a:r>
                      <a:endParaRPr lang="en-US" sz="1200" b="0" i="0" u="none" strike="noStrike">
                        <a:solidFill>
                          <a:srgbClr val="000000"/>
                        </a:solidFill>
                        <a:effectLst/>
                        <a:latin typeface="Arial" panose="020B0604020202020204" pitchFamily="34" charset="0"/>
                      </a:endParaRPr>
                    </a:p>
                  </a:txBody>
                  <a:tcPr marL="3527" marR="3527" marT="3527" marB="0" anchor="ctr">
                    <a:solidFill>
                      <a:srgbClr val="FCFEDC"/>
                    </a:solidFill>
                  </a:tcPr>
                </a:tc>
                <a:tc>
                  <a:txBody>
                    <a:bodyPr/>
                    <a:lstStyle/>
                    <a:p>
                      <a:pPr algn="ctr" fontAlgn="t"/>
                      <a:r>
                        <a:rPr lang="en-US" sz="1200" u="none" strike="noStrike">
                          <a:effectLst/>
                        </a:rPr>
                        <a:t>.028</a:t>
                      </a:r>
                      <a:endParaRPr lang="en-US" sz="1200" b="0" i="0" u="none" strike="noStrike">
                        <a:solidFill>
                          <a:srgbClr val="000000"/>
                        </a:solidFill>
                        <a:effectLst/>
                        <a:latin typeface="Arial" panose="020B0604020202020204" pitchFamily="34" charset="0"/>
                      </a:endParaRPr>
                    </a:p>
                  </a:txBody>
                  <a:tcPr marL="3527" marR="3527" marT="3527" marB="0" anchor="ctr">
                    <a:solidFill>
                      <a:srgbClr val="FCFEDC"/>
                    </a:solidFill>
                  </a:tcPr>
                </a:tc>
                <a:tc>
                  <a:txBody>
                    <a:bodyPr/>
                    <a:lstStyle/>
                    <a:p>
                      <a:pPr algn="ctr" fontAlgn="t"/>
                      <a:r>
                        <a:rPr lang="en-US" sz="1200" u="none" strike="noStrike">
                          <a:effectLst/>
                        </a:rPr>
                        <a:t>2.206</a:t>
                      </a:r>
                      <a:endParaRPr lang="en-US" sz="1200" b="0" i="0" u="none" strike="noStrike">
                        <a:solidFill>
                          <a:srgbClr val="000000"/>
                        </a:solidFill>
                        <a:effectLst/>
                        <a:latin typeface="Arial" panose="020B0604020202020204" pitchFamily="34" charset="0"/>
                      </a:endParaRPr>
                    </a:p>
                  </a:txBody>
                  <a:tcPr marL="3527" marR="3527" marT="3527" marB="0" anchor="ctr">
                    <a:solidFill>
                      <a:srgbClr val="FCFEDC"/>
                    </a:solidFill>
                  </a:tcPr>
                </a:tc>
                <a:tc>
                  <a:txBody>
                    <a:bodyPr/>
                    <a:lstStyle/>
                    <a:p>
                      <a:pPr algn="ctr" fontAlgn="t"/>
                      <a:r>
                        <a:rPr lang="en-US" sz="1200" u="none" strike="noStrike">
                          <a:effectLst/>
                        </a:rPr>
                        <a:t>5.752</a:t>
                      </a:r>
                      <a:endParaRPr lang="en-US" sz="1200" b="0" i="0" u="none" strike="noStrike">
                        <a:solidFill>
                          <a:srgbClr val="000000"/>
                        </a:solidFill>
                        <a:effectLst/>
                        <a:latin typeface="Arial" panose="020B0604020202020204" pitchFamily="34" charset="0"/>
                      </a:endParaRPr>
                    </a:p>
                  </a:txBody>
                  <a:tcPr marL="3527" marR="3527" marT="3527" marB="0" anchor="ctr">
                    <a:solidFill>
                      <a:srgbClr val="FCFEDC"/>
                    </a:solidFill>
                  </a:tcPr>
                </a:tc>
                <a:tc>
                  <a:txBody>
                    <a:bodyPr/>
                    <a:lstStyle/>
                    <a:p>
                      <a:pPr algn="ctr" fontAlgn="t"/>
                      <a:r>
                        <a:rPr lang="en-US" sz="1200" u="none" strike="noStrike" dirty="0">
                          <a:effectLst/>
                        </a:rPr>
                        <a:t>.000</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FCFEDC"/>
                    </a:solidFill>
                  </a:tcPr>
                </a:tc>
                <a:extLst>
                  <a:ext uri="{0D108BD9-81ED-4DB2-BD59-A6C34878D82A}">
                    <a16:rowId xmlns:a16="http://schemas.microsoft.com/office/drawing/2014/main" val="807810238"/>
                  </a:ext>
                </a:extLst>
              </a:tr>
              <a:tr h="216606">
                <a:tc vMerge="1">
                  <a:txBody>
                    <a:bodyPr/>
                    <a:lstStyle/>
                    <a:p>
                      <a:endParaRPr lang="en-US"/>
                    </a:p>
                  </a:txBody>
                  <a:tcPr/>
                </a:tc>
                <a:tc>
                  <a:txBody>
                    <a:bodyPr/>
                    <a:lstStyle/>
                    <a:p>
                      <a:pPr algn="ctr" fontAlgn="t"/>
                      <a:r>
                        <a:rPr lang="en-US" sz="1200" u="none" strike="noStrike" dirty="0">
                          <a:effectLst/>
                        </a:rPr>
                        <a:t>MATERIAL</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FCFEDC"/>
                    </a:solidFill>
                  </a:tcPr>
                </a:tc>
                <a:tc>
                  <a:txBody>
                    <a:bodyPr/>
                    <a:lstStyle/>
                    <a:p>
                      <a:pPr algn="ctr" fontAlgn="t"/>
                      <a:r>
                        <a:rPr lang="en-US" sz="1200" u="none" strike="noStrike" dirty="0">
                          <a:effectLst/>
                        </a:rPr>
                        <a:t>-.247</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FCFEDC"/>
                    </a:solidFill>
                  </a:tcPr>
                </a:tc>
                <a:tc>
                  <a:txBody>
                    <a:bodyPr/>
                    <a:lstStyle/>
                    <a:p>
                      <a:pPr algn="ctr" fontAlgn="t"/>
                      <a:r>
                        <a:rPr lang="en-US" sz="1200" u="none" strike="noStrike" dirty="0">
                          <a:effectLst/>
                        </a:rPr>
                        <a:t>.044</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FCFEDC"/>
                    </a:solidFill>
                  </a:tcPr>
                </a:tc>
                <a:tc>
                  <a:txBody>
                    <a:bodyPr/>
                    <a:lstStyle/>
                    <a:p>
                      <a:pPr algn="ctr" fontAlgn="t"/>
                      <a:r>
                        <a:rPr lang="en-US" sz="1200" u="none" strike="noStrike" dirty="0">
                          <a:effectLst/>
                        </a:rPr>
                        <a:t>-1.751</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FCFEDC"/>
                    </a:solidFill>
                  </a:tcPr>
                </a:tc>
                <a:tc>
                  <a:txBody>
                    <a:bodyPr/>
                    <a:lstStyle/>
                    <a:p>
                      <a:pPr algn="ctr" fontAlgn="t"/>
                      <a:r>
                        <a:rPr lang="en-US" sz="1200" u="none" strike="noStrike">
                          <a:effectLst/>
                        </a:rPr>
                        <a:t>-5.622</a:t>
                      </a:r>
                      <a:endParaRPr lang="en-US" sz="1200" b="0" i="0" u="none" strike="noStrike">
                        <a:solidFill>
                          <a:srgbClr val="000000"/>
                        </a:solidFill>
                        <a:effectLst/>
                        <a:latin typeface="Arial" panose="020B0604020202020204" pitchFamily="34" charset="0"/>
                      </a:endParaRPr>
                    </a:p>
                  </a:txBody>
                  <a:tcPr marL="3527" marR="3527" marT="3527" marB="0" anchor="ctr">
                    <a:solidFill>
                      <a:srgbClr val="FCFEDC"/>
                    </a:solidFill>
                  </a:tcPr>
                </a:tc>
                <a:tc>
                  <a:txBody>
                    <a:bodyPr/>
                    <a:lstStyle/>
                    <a:p>
                      <a:pPr algn="ctr" fontAlgn="t"/>
                      <a:r>
                        <a:rPr lang="en-US" sz="1200" u="none" strike="noStrike" dirty="0">
                          <a:effectLst/>
                        </a:rPr>
                        <a:t>.000</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FCFEDC"/>
                    </a:solidFill>
                  </a:tcPr>
                </a:tc>
                <a:extLst>
                  <a:ext uri="{0D108BD9-81ED-4DB2-BD59-A6C34878D82A}">
                    <a16:rowId xmlns:a16="http://schemas.microsoft.com/office/drawing/2014/main" val="2611196358"/>
                  </a:ext>
                </a:extLst>
              </a:tr>
              <a:tr h="136556">
                <a:tc vMerge="1">
                  <a:txBody>
                    <a:bodyPr/>
                    <a:lstStyle/>
                    <a:p>
                      <a:endParaRPr lang="en-US"/>
                    </a:p>
                  </a:txBody>
                  <a:tcPr/>
                </a:tc>
                <a:tc>
                  <a:txBody>
                    <a:bodyPr/>
                    <a:lstStyle/>
                    <a:p>
                      <a:pPr algn="ctr" fontAlgn="t"/>
                      <a:r>
                        <a:rPr lang="en-US" sz="1200" u="none" strike="noStrike" dirty="0">
                          <a:effectLst/>
                        </a:rPr>
                        <a:t>EMPL</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FCFEDC"/>
                    </a:solidFill>
                  </a:tcPr>
                </a:tc>
                <a:tc>
                  <a:txBody>
                    <a:bodyPr/>
                    <a:lstStyle/>
                    <a:p>
                      <a:pPr algn="ctr" fontAlgn="t"/>
                      <a:r>
                        <a:rPr lang="en-US" sz="1200" u="none" strike="noStrike">
                          <a:effectLst/>
                        </a:rPr>
                        <a:t>-.428</a:t>
                      </a:r>
                      <a:endParaRPr lang="en-US" sz="1200" b="0" i="0" u="none" strike="noStrike">
                        <a:solidFill>
                          <a:srgbClr val="000000"/>
                        </a:solidFill>
                        <a:effectLst/>
                        <a:latin typeface="Arial" panose="020B0604020202020204" pitchFamily="34" charset="0"/>
                      </a:endParaRPr>
                    </a:p>
                  </a:txBody>
                  <a:tcPr marL="3527" marR="3527" marT="3527" marB="0" anchor="ctr">
                    <a:solidFill>
                      <a:srgbClr val="FCFEDC"/>
                    </a:solidFill>
                  </a:tcPr>
                </a:tc>
                <a:tc>
                  <a:txBody>
                    <a:bodyPr/>
                    <a:lstStyle/>
                    <a:p>
                      <a:pPr algn="ctr" fontAlgn="t"/>
                      <a:r>
                        <a:rPr lang="en-US" sz="1200" u="none" strike="noStrike">
                          <a:effectLst/>
                        </a:rPr>
                        <a:t>.216</a:t>
                      </a:r>
                      <a:endParaRPr lang="en-US" sz="1200" b="0" i="0" u="none" strike="noStrike">
                        <a:solidFill>
                          <a:srgbClr val="000000"/>
                        </a:solidFill>
                        <a:effectLst/>
                        <a:latin typeface="Arial" panose="020B0604020202020204" pitchFamily="34" charset="0"/>
                      </a:endParaRPr>
                    </a:p>
                  </a:txBody>
                  <a:tcPr marL="3527" marR="3527" marT="3527" marB="0" anchor="ctr">
                    <a:solidFill>
                      <a:srgbClr val="FCFEDC"/>
                    </a:solidFill>
                  </a:tcPr>
                </a:tc>
                <a:tc>
                  <a:txBody>
                    <a:bodyPr/>
                    <a:lstStyle/>
                    <a:p>
                      <a:pPr algn="ctr" fontAlgn="t"/>
                      <a:r>
                        <a:rPr lang="en-US" sz="1200" u="none" strike="noStrike" dirty="0">
                          <a:effectLst/>
                        </a:rPr>
                        <a:t>-.441</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FCFEDC"/>
                    </a:solidFill>
                  </a:tcPr>
                </a:tc>
                <a:tc>
                  <a:txBody>
                    <a:bodyPr/>
                    <a:lstStyle/>
                    <a:p>
                      <a:pPr algn="ctr" fontAlgn="t"/>
                      <a:r>
                        <a:rPr lang="en-US" sz="1200" u="none" strike="noStrike" dirty="0">
                          <a:effectLst/>
                        </a:rPr>
                        <a:t>-1.979</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FCFEDC"/>
                    </a:solidFill>
                  </a:tcPr>
                </a:tc>
                <a:tc>
                  <a:txBody>
                    <a:bodyPr/>
                    <a:lstStyle/>
                    <a:p>
                      <a:pPr algn="ctr" fontAlgn="t"/>
                      <a:r>
                        <a:rPr lang="en-US" sz="1200" u="none" strike="noStrike" dirty="0">
                          <a:effectLst/>
                        </a:rPr>
                        <a:t>.066</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FCFEDC"/>
                    </a:solidFill>
                  </a:tcPr>
                </a:tc>
                <a:extLst>
                  <a:ext uri="{0D108BD9-81ED-4DB2-BD59-A6C34878D82A}">
                    <a16:rowId xmlns:a16="http://schemas.microsoft.com/office/drawing/2014/main" val="293059616"/>
                  </a:ext>
                </a:extLst>
              </a:tr>
              <a:tr h="141265">
                <a:tc vMerge="1">
                  <a:txBody>
                    <a:bodyPr/>
                    <a:lstStyle/>
                    <a:p>
                      <a:endParaRPr lang="en-US"/>
                    </a:p>
                  </a:txBody>
                  <a:tcPr/>
                </a:tc>
                <a:tc>
                  <a:txBody>
                    <a:bodyPr/>
                    <a:lstStyle/>
                    <a:p>
                      <a:pPr algn="ctr" fontAlgn="t"/>
                      <a:r>
                        <a:rPr lang="en-US" sz="1200" u="none" strike="noStrike" dirty="0">
                          <a:effectLst/>
                        </a:rPr>
                        <a:t>T</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FCFEDC"/>
                    </a:solidFill>
                  </a:tcPr>
                </a:tc>
                <a:tc>
                  <a:txBody>
                    <a:bodyPr/>
                    <a:lstStyle/>
                    <a:p>
                      <a:pPr algn="ctr" fontAlgn="t"/>
                      <a:r>
                        <a:rPr lang="en-US" sz="1200" u="none" strike="noStrike" dirty="0">
                          <a:effectLst/>
                        </a:rPr>
                        <a:t>258.949</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FCFEDC"/>
                    </a:solidFill>
                  </a:tcPr>
                </a:tc>
                <a:tc>
                  <a:txBody>
                    <a:bodyPr/>
                    <a:lstStyle/>
                    <a:p>
                      <a:pPr algn="ctr" fontAlgn="t"/>
                      <a:r>
                        <a:rPr lang="en-US" sz="1200" u="none" strike="noStrike" dirty="0">
                          <a:effectLst/>
                        </a:rPr>
                        <a:t>93.977</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FCFEDC"/>
                    </a:solidFill>
                  </a:tcPr>
                </a:tc>
                <a:tc>
                  <a:txBody>
                    <a:bodyPr/>
                    <a:lstStyle/>
                    <a:p>
                      <a:pPr algn="ctr" fontAlgn="t"/>
                      <a:r>
                        <a:rPr lang="en-US" sz="1200" u="none" strike="noStrike" dirty="0">
                          <a:effectLst/>
                        </a:rPr>
                        <a:t>.891</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FCFEDC"/>
                    </a:solidFill>
                  </a:tcPr>
                </a:tc>
                <a:tc>
                  <a:txBody>
                    <a:bodyPr/>
                    <a:lstStyle/>
                    <a:p>
                      <a:pPr algn="ctr" fontAlgn="t"/>
                      <a:r>
                        <a:rPr lang="en-US" sz="1200" u="none" strike="noStrike" dirty="0">
                          <a:effectLst/>
                        </a:rPr>
                        <a:t>2.755</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FCFEDC"/>
                    </a:solidFill>
                  </a:tcPr>
                </a:tc>
                <a:tc>
                  <a:txBody>
                    <a:bodyPr/>
                    <a:lstStyle/>
                    <a:p>
                      <a:pPr algn="ctr" fontAlgn="t"/>
                      <a:r>
                        <a:rPr lang="en-US" sz="1200" u="none" strike="noStrike" dirty="0">
                          <a:effectLst/>
                        </a:rPr>
                        <a:t>.015</a:t>
                      </a:r>
                      <a:endParaRPr lang="en-US" sz="1200" b="0" i="0" u="none" strike="noStrike" dirty="0">
                        <a:solidFill>
                          <a:srgbClr val="000000"/>
                        </a:solidFill>
                        <a:effectLst/>
                        <a:latin typeface="Arial" panose="020B0604020202020204" pitchFamily="34" charset="0"/>
                      </a:endParaRPr>
                    </a:p>
                  </a:txBody>
                  <a:tcPr marL="3527" marR="3527" marT="3527" marB="0" anchor="ctr">
                    <a:solidFill>
                      <a:srgbClr val="FCFEDC"/>
                    </a:solidFill>
                  </a:tcPr>
                </a:tc>
                <a:extLst>
                  <a:ext uri="{0D108BD9-81ED-4DB2-BD59-A6C34878D82A}">
                    <a16:rowId xmlns:a16="http://schemas.microsoft.com/office/drawing/2014/main" val="640449162"/>
                  </a:ext>
                </a:extLst>
              </a:tr>
            </a:tbl>
          </a:graphicData>
        </a:graphic>
      </p:graphicFrame>
    </p:spTree>
    <p:extLst>
      <p:ext uri="{BB962C8B-B14F-4D97-AF65-F5344CB8AC3E}">
        <p14:creationId xmlns:p14="http://schemas.microsoft.com/office/powerpoint/2010/main" val="1541138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9D9C0-7782-48BA-A08A-76E97D39273D}"/>
              </a:ext>
            </a:extLst>
          </p:cNvPr>
          <p:cNvSpPr>
            <a:spLocks noGrp="1"/>
          </p:cNvSpPr>
          <p:nvPr>
            <p:ph type="title"/>
          </p:nvPr>
        </p:nvSpPr>
        <p:spPr>
          <a:xfrm>
            <a:off x="609598" y="304800"/>
            <a:ext cx="6347713" cy="1320800"/>
          </a:xfrm>
        </p:spPr>
        <p:txBody>
          <a:bodyPr/>
          <a:lstStyle/>
          <a:p>
            <a:r>
              <a:rPr lang="en-US" dirty="0"/>
              <a:t>Stepwise Selection</a:t>
            </a:r>
          </a:p>
        </p:txBody>
      </p:sp>
      <p:sp>
        <p:nvSpPr>
          <p:cNvPr id="3" name="Content Placeholder 2">
            <a:extLst>
              <a:ext uri="{FF2B5EF4-FFF2-40B4-BE49-F238E27FC236}">
                <a16:creationId xmlns:a16="http://schemas.microsoft.com/office/drawing/2014/main" id="{A6539BF0-9B3A-49B1-807F-053375622027}"/>
              </a:ext>
            </a:extLst>
          </p:cNvPr>
          <p:cNvSpPr>
            <a:spLocks noGrp="1"/>
          </p:cNvSpPr>
          <p:nvPr>
            <p:ph idx="1"/>
          </p:nvPr>
        </p:nvSpPr>
        <p:spPr>
          <a:xfrm>
            <a:off x="609598" y="1371600"/>
            <a:ext cx="7467602" cy="5181600"/>
          </a:xfrm>
        </p:spPr>
        <p:txBody>
          <a:bodyPr>
            <a:normAutofit lnSpcReduction="10000"/>
          </a:bodyPr>
          <a:lstStyle/>
          <a:p>
            <a:r>
              <a:rPr lang="en-US" dirty="0"/>
              <a:t>A combination of both Forward and Backward Selection</a:t>
            </a:r>
          </a:p>
          <a:p>
            <a:r>
              <a:rPr lang="en-US" dirty="0"/>
              <a:t>Pre-decide the criteria for a new variable to enter the model when the p-value is less than the pre-decided value (p-in) and also the criteria for removal of a variable from the model when the p-value is more than the pre-decided value (p-out)</a:t>
            </a:r>
          </a:p>
          <a:p>
            <a:r>
              <a:rPr lang="en-US" dirty="0"/>
              <a:t>The p-values for entering or removing are based on partial F tests</a:t>
            </a:r>
          </a:p>
          <a:p>
            <a:r>
              <a:rPr lang="en-US" dirty="0"/>
              <a:t>It is imperative that p-in &lt; p-out</a:t>
            </a:r>
          </a:p>
          <a:p>
            <a:r>
              <a:rPr lang="en-US" dirty="0"/>
              <a:t>The very first variable to be entered into then model is the one which has the highest correlation with the dependent variable (assuming that the corresponding p-value is less than p-in</a:t>
            </a:r>
          </a:p>
          <a:p>
            <a:r>
              <a:rPr lang="en-US" dirty="0"/>
              <a:t>At each subsequent step, a variable is either entered into the model (if the p-value is less than p-in) or a variable is removed from the model (if p-value is more than p-out)</a:t>
            </a:r>
          </a:p>
          <a:p>
            <a:r>
              <a:rPr lang="en-US" dirty="0"/>
              <a:t>The process continues until (a) there are no more variables left, or (b) no more variable to be entered based on p-in criterion or ( c) there are no variables in the equation for removal based on the p-out criterion</a:t>
            </a:r>
          </a:p>
        </p:txBody>
      </p:sp>
    </p:spTree>
    <p:extLst>
      <p:ext uri="{BB962C8B-B14F-4D97-AF65-F5344CB8AC3E}">
        <p14:creationId xmlns:p14="http://schemas.microsoft.com/office/powerpoint/2010/main" val="36957436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78674-C7FC-4EFB-BF5A-ECC16A68AB83}"/>
              </a:ext>
            </a:extLst>
          </p:cNvPr>
          <p:cNvSpPr>
            <a:spLocks noGrp="1"/>
          </p:cNvSpPr>
          <p:nvPr>
            <p:ph type="title"/>
          </p:nvPr>
        </p:nvSpPr>
        <p:spPr>
          <a:xfrm>
            <a:off x="609599" y="609600"/>
            <a:ext cx="6347714" cy="685800"/>
          </a:xfrm>
        </p:spPr>
        <p:txBody>
          <a:bodyPr/>
          <a:lstStyle/>
          <a:p>
            <a:r>
              <a:rPr lang="en-US" dirty="0"/>
              <a:t>Stepwise Selection</a:t>
            </a:r>
          </a:p>
        </p:txBody>
      </p:sp>
      <p:graphicFrame>
        <p:nvGraphicFramePr>
          <p:cNvPr id="4" name="Table 3">
            <a:extLst>
              <a:ext uri="{FF2B5EF4-FFF2-40B4-BE49-F238E27FC236}">
                <a16:creationId xmlns:a16="http://schemas.microsoft.com/office/drawing/2014/main" id="{7ADAB456-FC1A-4DB2-8D84-8F4C06DFF21F}"/>
              </a:ext>
            </a:extLst>
          </p:cNvPr>
          <p:cNvGraphicFramePr>
            <a:graphicFrameLocks noGrp="1"/>
          </p:cNvGraphicFramePr>
          <p:nvPr>
            <p:extLst>
              <p:ext uri="{D42A27DB-BD31-4B8C-83A1-F6EECF244321}">
                <p14:modId xmlns:p14="http://schemas.microsoft.com/office/powerpoint/2010/main" val="705603687"/>
              </p:ext>
            </p:extLst>
          </p:nvPr>
        </p:nvGraphicFramePr>
        <p:xfrm>
          <a:off x="457200" y="2057400"/>
          <a:ext cx="7391400" cy="3657600"/>
        </p:xfrm>
        <a:graphic>
          <a:graphicData uri="http://schemas.openxmlformats.org/drawingml/2006/table">
            <a:tbl>
              <a:tblPr>
                <a:tableStyleId>{5C22544A-7EE6-4342-B048-85BDC9FD1C3A}</a:tableStyleId>
              </a:tblPr>
              <a:tblGrid>
                <a:gridCol w="502328">
                  <a:extLst>
                    <a:ext uri="{9D8B030D-6E8A-4147-A177-3AD203B41FA5}">
                      <a16:colId xmlns:a16="http://schemas.microsoft.com/office/drawing/2014/main" val="3520249855"/>
                    </a:ext>
                  </a:extLst>
                </a:gridCol>
                <a:gridCol w="1004657">
                  <a:extLst>
                    <a:ext uri="{9D8B030D-6E8A-4147-A177-3AD203B41FA5}">
                      <a16:colId xmlns:a16="http://schemas.microsoft.com/office/drawing/2014/main" val="3629215955"/>
                    </a:ext>
                  </a:extLst>
                </a:gridCol>
                <a:gridCol w="1076417">
                  <a:extLst>
                    <a:ext uri="{9D8B030D-6E8A-4147-A177-3AD203B41FA5}">
                      <a16:colId xmlns:a16="http://schemas.microsoft.com/office/drawing/2014/main" val="3974050732"/>
                    </a:ext>
                  </a:extLst>
                </a:gridCol>
                <a:gridCol w="4807998">
                  <a:extLst>
                    <a:ext uri="{9D8B030D-6E8A-4147-A177-3AD203B41FA5}">
                      <a16:colId xmlns:a16="http://schemas.microsoft.com/office/drawing/2014/main" val="3799351900"/>
                    </a:ext>
                  </a:extLst>
                </a:gridCol>
              </a:tblGrid>
              <a:tr h="264534">
                <a:tc gridSpan="4">
                  <a:txBody>
                    <a:bodyPr/>
                    <a:lstStyle/>
                    <a:p>
                      <a:pPr algn="ctr" fontAlgn="ctr"/>
                      <a:r>
                        <a:rPr lang="en-US" sz="1400" u="none" strike="noStrike" dirty="0">
                          <a:effectLst/>
                        </a:rPr>
                        <a:t>Variables Entered/</a:t>
                      </a:r>
                      <a:r>
                        <a:rPr lang="en-US" sz="1400" u="none" strike="noStrike" dirty="0" err="1">
                          <a:effectLst/>
                        </a:rPr>
                        <a:t>Removed</a:t>
                      </a:r>
                      <a:r>
                        <a:rPr lang="en-US" sz="1400" u="none" strike="noStrike" baseline="30000" dirty="0" err="1">
                          <a:effectLst/>
                        </a:rPr>
                        <a:t>a</a:t>
                      </a:r>
                      <a:endParaRPr lang="en-US" sz="1400" b="1" i="0" u="none" strike="noStrike" dirty="0">
                        <a:solidFill>
                          <a:srgbClr val="000000"/>
                        </a:solidFill>
                        <a:effectLst/>
                        <a:latin typeface="Arial Bold" panose="020B07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26245331"/>
                  </a:ext>
                </a:extLst>
              </a:tr>
              <a:tr h="521422">
                <a:tc>
                  <a:txBody>
                    <a:bodyPr/>
                    <a:lstStyle/>
                    <a:p>
                      <a:pPr algn="ctr" fontAlgn="b"/>
                      <a:r>
                        <a:rPr lang="en-US" sz="1400" u="none" strike="noStrike" dirty="0">
                          <a:effectLst/>
                        </a:rPr>
                        <a:t>Model</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dirty="0">
                          <a:effectLst/>
                        </a:rPr>
                        <a:t>Variables Entered</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a:effectLst/>
                        </a:rPr>
                        <a:t>Variables Removed</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a:effectLst/>
                        </a:rPr>
                        <a:t>Method</a:t>
                      </a:r>
                      <a:endParaRPr lang="en-US" sz="14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2213488379"/>
                  </a:ext>
                </a:extLst>
              </a:tr>
              <a:tr h="521422">
                <a:tc>
                  <a:txBody>
                    <a:bodyPr/>
                    <a:lstStyle/>
                    <a:p>
                      <a:pPr algn="ctr" fontAlgn="t"/>
                      <a:r>
                        <a:rPr lang="en-US" sz="1400" u="none" strike="noStrike" dirty="0">
                          <a:effectLst/>
                        </a:rPr>
                        <a:t>1</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T2</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l" fontAlgn="t"/>
                      <a:r>
                        <a:rPr lang="en-US" sz="1400" u="none" strike="noStrike">
                          <a:effectLst/>
                        </a:rPr>
                        <a:t>Stepwise (Criteria: Probability-of-F-to-enter &lt;= .050, Probability-of-F-to-remove &gt;= .100).</a:t>
                      </a:r>
                      <a:endParaRPr lang="en-US" sz="14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3597579165"/>
                  </a:ext>
                </a:extLst>
              </a:tr>
              <a:tr h="521422">
                <a:tc>
                  <a:txBody>
                    <a:bodyPr/>
                    <a:lstStyle/>
                    <a:p>
                      <a:pPr algn="ctr" fontAlgn="t"/>
                      <a:r>
                        <a:rPr lang="en-US" sz="1400" u="none" strike="noStrike" dirty="0">
                          <a:effectLst/>
                        </a:rPr>
                        <a:t>2</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OTINC</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r" fontAlgn="t"/>
                      <a:r>
                        <a:rPr lang="en-US" sz="1400" u="none" strike="noStrike">
                          <a:effectLst/>
                        </a:rPr>
                        <a:t> </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l" fontAlgn="t"/>
                      <a:r>
                        <a:rPr lang="en-US" sz="1400" u="none" strike="noStrike">
                          <a:effectLst/>
                        </a:rPr>
                        <a:t>Stepwise (Criteria: Probability-of-F-to-enter &lt;= .050, Probability-of-F-to-remove &gt;= .100).</a:t>
                      </a:r>
                      <a:endParaRPr lang="en-US" sz="14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1786905132"/>
                  </a:ext>
                </a:extLst>
              </a:tr>
              <a:tr h="521422">
                <a:tc>
                  <a:txBody>
                    <a:bodyPr/>
                    <a:lstStyle/>
                    <a:p>
                      <a:pPr algn="ctr" fontAlgn="t"/>
                      <a:r>
                        <a:rPr lang="en-US" sz="1400" u="none" strike="noStrike" dirty="0">
                          <a:effectLst/>
                        </a:rPr>
                        <a:t>3</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MATERIAL</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l" fontAlgn="t"/>
                      <a:r>
                        <a:rPr lang="en-US" sz="1400" u="none" strike="noStrike">
                          <a:effectLst/>
                        </a:rPr>
                        <a:t>Stepwise (Criteria: Probability-of-F-to-enter &lt;= .050, Probability-of-F-to-remove &gt;= .100).</a:t>
                      </a:r>
                      <a:endParaRPr lang="en-US" sz="14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1551979583"/>
                  </a:ext>
                </a:extLst>
              </a:tr>
              <a:tr h="521422">
                <a:tc>
                  <a:txBody>
                    <a:bodyPr/>
                    <a:lstStyle/>
                    <a:p>
                      <a:pPr algn="ctr" fontAlgn="t"/>
                      <a:r>
                        <a:rPr lang="en-US" sz="1400" u="none" strike="noStrike" dirty="0">
                          <a:effectLst/>
                        </a:rPr>
                        <a:t>4</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SALES</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r" fontAlgn="t"/>
                      <a:r>
                        <a:rPr lang="en-US" sz="1400" u="none" strike="noStrike">
                          <a:effectLst/>
                        </a:rPr>
                        <a:t> </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l" fontAlgn="t"/>
                      <a:r>
                        <a:rPr lang="en-US" sz="1400" u="none" strike="noStrike" dirty="0">
                          <a:effectLst/>
                        </a:rPr>
                        <a:t>Stepwise (Criteria: Probability-of-F-to-enter &lt;= .050, Probability-of-F-to-remove &gt;= .100).</a:t>
                      </a:r>
                      <a:endParaRPr lang="en-US" sz="14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1122435700"/>
                  </a:ext>
                </a:extLst>
              </a:tr>
              <a:tr h="521422">
                <a:tc>
                  <a:txBody>
                    <a:bodyPr/>
                    <a:lstStyle/>
                    <a:p>
                      <a:pPr algn="ctr" fontAlgn="t"/>
                      <a:r>
                        <a:rPr lang="en-US" sz="1400" u="none" strike="noStrike" dirty="0">
                          <a:effectLst/>
                        </a:rPr>
                        <a:t>5</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OTINC</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l" fontAlgn="t"/>
                      <a:r>
                        <a:rPr lang="en-US" sz="1400" u="none" strike="noStrike" dirty="0">
                          <a:effectLst/>
                        </a:rPr>
                        <a:t>Stepwise (Criteria: Probability-of-F-to-enter &lt;= .050, Probability-of-F-to-remove &gt;= .100).</a:t>
                      </a:r>
                      <a:endParaRPr lang="en-US" sz="14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205176885"/>
                  </a:ext>
                </a:extLst>
              </a:tr>
              <a:tr h="264534">
                <a:tc gridSpan="4">
                  <a:txBody>
                    <a:bodyPr/>
                    <a:lstStyle/>
                    <a:p>
                      <a:pPr algn="l" fontAlgn="t"/>
                      <a:r>
                        <a:rPr lang="en-US" sz="1400" u="none" strike="noStrike" dirty="0">
                          <a:effectLst/>
                        </a:rPr>
                        <a:t>a. Dependent Variable: PBT</a:t>
                      </a:r>
                      <a:endParaRPr lang="en-US" sz="1400" b="0" i="0" u="none" strike="noStrike" dirty="0">
                        <a:solidFill>
                          <a:srgbClr val="000000"/>
                        </a:solidFill>
                        <a:effectLst/>
                        <a:latin typeface="Arial" panose="020B06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21154211"/>
                  </a:ext>
                </a:extLst>
              </a:tr>
            </a:tbl>
          </a:graphicData>
        </a:graphic>
      </p:graphicFrame>
    </p:spTree>
    <p:extLst>
      <p:ext uri="{BB962C8B-B14F-4D97-AF65-F5344CB8AC3E}">
        <p14:creationId xmlns:p14="http://schemas.microsoft.com/office/powerpoint/2010/main" val="33756299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68DE4-C68A-4F0B-9274-1489E1245A19}"/>
              </a:ext>
            </a:extLst>
          </p:cNvPr>
          <p:cNvSpPr>
            <a:spLocks noGrp="1"/>
          </p:cNvSpPr>
          <p:nvPr>
            <p:ph type="title"/>
          </p:nvPr>
        </p:nvSpPr>
        <p:spPr/>
        <p:txBody>
          <a:bodyPr/>
          <a:lstStyle/>
          <a:p>
            <a:r>
              <a:rPr lang="en-US" dirty="0"/>
              <a:t>Stepwise Selection</a:t>
            </a:r>
          </a:p>
        </p:txBody>
      </p:sp>
      <p:graphicFrame>
        <p:nvGraphicFramePr>
          <p:cNvPr id="3" name="Table 2">
            <a:extLst>
              <a:ext uri="{FF2B5EF4-FFF2-40B4-BE49-F238E27FC236}">
                <a16:creationId xmlns:a16="http://schemas.microsoft.com/office/drawing/2014/main" id="{B980AC82-C9B0-4171-B2C3-B0C671FA8AF5}"/>
              </a:ext>
            </a:extLst>
          </p:cNvPr>
          <p:cNvGraphicFramePr>
            <a:graphicFrameLocks noGrp="1"/>
          </p:cNvGraphicFramePr>
          <p:nvPr>
            <p:extLst>
              <p:ext uri="{D42A27DB-BD31-4B8C-83A1-F6EECF244321}">
                <p14:modId xmlns:p14="http://schemas.microsoft.com/office/powerpoint/2010/main" val="2469928818"/>
              </p:ext>
            </p:extLst>
          </p:nvPr>
        </p:nvGraphicFramePr>
        <p:xfrm>
          <a:off x="861312" y="2362200"/>
          <a:ext cx="6606285" cy="3733801"/>
        </p:xfrm>
        <a:graphic>
          <a:graphicData uri="http://schemas.openxmlformats.org/drawingml/2006/table">
            <a:tbl>
              <a:tblPr>
                <a:tableStyleId>{5C22544A-7EE6-4342-B048-85BDC9FD1C3A}</a:tableStyleId>
              </a:tblPr>
              <a:tblGrid>
                <a:gridCol w="1321257">
                  <a:extLst>
                    <a:ext uri="{9D8B030D-6E8A-4147-A177-3AD203B41FA5}">
                      <a16:colId xmlns:a16="http://schemas.microsoft.com/office/drawing/2014/main" val="2839784468"/>
                    </a:ext>
                  </a:extLst>
                </a:gridCol>
                <a:gridCol w="1321257">
                  <a:extLst>
                    <a:ext uri="{9D8B030D-6E8A-4147-A177-3AD203B41FA5}">
                      <a16:colId xmlns:a16="http://schemas.microsoft.com/office/drawing/2014/main" val="494262580"/>
                    </a:ext>
                  </a:extLst>
                </a:gridCol>
                <a:gridCol w="1321257">
                  <a:extLst>
                    <a:ext uri="{9D8B030D-6E8A-4147-A177-3AD203B41FA5}">
                      <a16:colId xmlns:a16="http://schemas.microsoft.com/office/drawing/2014/main" val="2194510854"/>
                    </a:ext>
                  </a:extLst>
                </a:gridCol>
                <a:gridCol w="1321257">
                  <a:extLst>
                    <a:ext uri="{9D8B030D-6E8A-4147-A177-3AD203B41FA5}">
                      <a16:colId xmlns:a16="http://schemas.microsoft.com/office/drawing/2014/main" val="1066755237"/>
                    </a:ext>
                  </a:extLst>
                </a:gridCol>
                <a:gridCol w="1321257">
                  <a:extLst>
                    <a:ext uri="{9D8B030D-6E8A-4147-A177-3AD203B41FA5}">
                      <a16:colId xmlns:a16="http://schemas.microsoft.com/office/drawing/2014/main" val="2811729998"/>
                    </a:ext>
                  </a:extLst>
                </a:gridCol>
              </a:tblGrid>
              <a:tr h="252028">
                <a:tc gridSpan="5">
                  <a:txBody>
                    <a:bodyPr/>
                    <a:lstStyle/>
                    <a:p>
                      <a:pPr algn="ctr" fontAlgn="ctr"/>
                      <a:r>
                        <a:rPr lang="en-US" sz="1400" u="none" strike="noStrike" dirty="0">
                          <a:effectLst/>
                        </a:rPr>
                        <a:t>Model Summary</a:t>
                      </a:r>
                      <a:endParaRPr lang="en-US" sz="1400" b="1" i="0" u="none" strike="noStrike" dirty="0">
                        <a:solidFill>
                          <a:srgbClr val="000000"/>
                        </a:solidFill>
                        <a:effectLst/>
                        <a:latin typeface="Arial Bold" panose="020B07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03612570"/>
                  </a:ext>
                </a:extLst>
              </a:tr>
              <a:tr h="531735">
                <a:tc>
                  <a:txBody>
                    <a:bodyPr/>
                    <a:lstStyle/>
                    <a:p>
                      <a:pPr algn="ctr" fontAlgn="b"/>
                      <a:r>
                        <a:rPr lang="en-US" sz="1400" u="none" strike="noStrike" dirty="0">
                          <a:effectLst/>
                        </a:rPr>
                        <a:t>Model</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dirty="0">
                          <a:effectLst/>
                        </a:rPr>
                        <a:t>R</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a:effectLst/>
                        </a:rPr>
                        <a:t>R Square</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a:effectLst/>
                        </a:rPr>
                        <a:t>Adjusted R Square</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a:effectLst/>
                        </a:rPr>
                        <a:t>Std. Error of the Estimate</a:t>
                      </a:r>
                      <a:endParaRPr lang="en-US" sz="14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1374447262"/>
                  </a:ext>
                </a:extLst>
              </a:tr>
              <a:tr h="342350">
                <a:tc>
                  <a:txBody>
                    <a:bodyPr/>
                    <a:lstStyle/>
                    <a:p>
                      <a:pPr algn="ctr" fontAlgn="t"/>
                      <a:r>
                        <a:rPr lang="en-US" sz="1400" u="none" strike="noStrike" dirty="0">
                          <a:effectLst/>
                        </a:rPr>
                        <a:t>1</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.955</a:t>
                      </a:r>
                      <a:r>
                        <a:rPr lang="en-US" sz="1400" u="none" strike="noStrike" baseline="30000">
                          <a:effectLst/>
                        </a:rPr>
                        <a:t>a</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.911</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.906</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526.5058</a:t>
                      </a:r>
                      <a:endParaRPr lang="en-US" sz="14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2229416630"/>
                  </a:ext>
                </a:extLst>
              </a:tr>
              <a:tr h="335066">
                <a:tc>
                  <a:txBody>
                    <a:bodyPr/>
                    <a:lstStyle/>
                    <a:p>
                      <a:pPr algn="ctr" fontAlgn="t"/>
                      <a:r>
                        <a:rPr lang="en-US" sz="1400" u="none" strike="noStrike" dirty="0">
                          <a:effectLst/>
                        </a:rPr>
                        <a:t>2</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.975</a:t>
                      </a:r>
                      <a:r>
                        <a:rPr lang="en-US" sz="1400" u="none" strike="noStrike" baseline="30000">
                          <a:effectLst/>
                        </a:rPr>
                        <a:t>b</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.951</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.945</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404.3057</a:t>
                      </a:r>
                      <a:endParaRPr lang="en-US" sz="14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4229295041"/>
                  </a:ext>
                </a:extLst>
              </a:tr>
              <a:tr h="335066">
                <a:tc>
                  <a:txBody>
                    <a:bodyPr/>
                    <a:lstStyle/>
                    <a:p>
                      <a:pPr algn="ctr" fontAlgn="t"/>
                      <a:r>
                        <a:rPr lang="en-US" sz="1400" u="none" strike="noStrike">
                          <a:effectLst/>
                        </a:rPr>
                        <a:t>3</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.981</a:t>
                      </a:r>
                      <a:r>
                        <a:rPr lang="en-US" sz="1400" u="none" strike="noStrike" baseline="30000" dirty="0">
                          <a:effectLst/>
                        </a:rPr>
                        <a:t>c</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.963</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.956</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361.1521</a:t>
                      </a:r>
                      <a:endParaRPr lang="en-US" sz="14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495935362"/>
                  </a:ext>
                </a:extLst>
              </a:tr>
              <a:tr h="335066">
                <a:tc>
                  <a:txBody>
                    <a:bodyPr/>
                    <a:lstStyle/>
                    <a:p>
                      <a:pPr algn="ctr" fontAlgn="t"/>
                      <a:r>
                        <a:rPr lang="en-US" sz="1400" u="none" strike="noStrike">
                          <a:effectLst/>
                        </a:rPr>
                        <a:t>4</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.987</a:t>
                      </a:r>
                      <a:r>
                        <a:rPr lang="en-US" sz="1400" u="none" strike="noStrike" baseline="30000" dirty="0">
                          <a:effectLst/>
                        </a:rPr>
                        <a:t>d</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.975</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.968</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305.8223</a:t>
                      </a:r>
                      <a:endParaRPr lang="en-US" sz="14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10369570"/>
                  </a:ext>
                </a:extLst>
              </a:tr>
              <a:tr h="342350">
                <a:tc>
                  <a:txBody>
                    <a:bodyPr/>
                    <a:lstStyle/>
                    <a:p>
                      <a:pPr algn="ctr" fontAlgn="t"/>
                      <a:r>
                        <a:rPr lang="en-US" sz="1400" u="none" strike="noStrike">
                          <a:effectLst/>
                        </a:rPr>
                        <a:t>5</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.987</a:t>
                      </a:r>
                      <a:r>
                        <a:rPr lang="en-US" sz="1400" u="none" strike="noStrike" baseline="30000" dirty="0">
                          <a:effectLst/>
                        </a:rPr>
                        <a:t>e</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.975</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.970</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297.6273</a:t>
                      </a:r>
                      <a:endParaRPr lang="en-US" sz="14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1186065902"/>
                  </a:ext>
                </a:extLst>
              </a:tr>
              <a:tr h="252028">
                <a:tc gridSpan="5">
                  <a:txBody>
                    <a:bodyPr/>
                    <a:lstStyle/>
                    <a:p>
                      <a:pPr algn="l" fontAlgn="t"/>
                      <a:r>
                        <a:rPr lang="en-US" sz="1400" u="none" strike="noStrike" dirty="0">
                          <a:effectLst/>
                        </a:rPr>
                        <a:t>a. Predictors: (Constant), T2</a:t>
                      </a:r>
                      <a:endParaRPr lang="en-US" sz="1400" b="0" i="0" u="none" strike="noStrike" dirty="0">
                        <a:solidFill>
                          <a:srgbClr val="000000"/>
                        </a:solidFill>
                        <a:effectLst/>
                        <a:latin typeface="Arial" panose="020B06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01412456"/>
                  </a:ext>
                </a:extLst>
              </a:tr>
              <a:tr h="252028">
                <a:tc gridSpan="5">
                  <a:txBody>
                    <a:bodyPr/>
                    <a:lstStyle/>
                    <a:p>
                      <a:pPr algn="l" fontAlgn="t"/>
                      <a:r>
                        <a:rPr lang="fr-FR" sz="1400" u="none" strike="noStrike" dirty="0">
                          <a:effectLst/>
                        </a:rPr>
                        <a:t>b. </a:t>
                      </a:r>
                      <a:r>
                        <a:rPr lang="fr-FR" sz="1400" u="none" strike="noStrike" dirty="0" err="1">
                          <a:effectLst/>
                        </a:rPr>
                        <a:t>Predictors</a:t>
                      </a:r>
                      <a:r>
                        <a:rPr lang="fr-FR" sz="1400" u="none" strike="noStrike" dirty="0">
                          <a:effectLst/>
                        </a:rPr>
                        <a:t>: (Constant), T2, OTINC</a:t>
                      </a:r>
                      <a:endParaRPr lang="fr-FR" sz="1400" b="0" i="0" u="none" strike="noStrike" dirty="0">
                        <a:solidFill>
                          <a:srgbClr val="000000"/>
                        </a:solidFill>
                        <a:effectLst/>
                        <a:latin typeface="Arial" panose="020B06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01826213"/>
                  </a:ext>
                </a:extLst>
              </a:tr>
              <a:tr h="252028">
                <a:tc gridSpan="5">
                  <a:txBody>
                    <a:bodyPr/>
                    <a:lstStyle/>
                    <a:p>
                      <a:pPr algn="l" fontAlgn="t"/>
                      <a:r>
                        <a:rPr lang="en-US" sz="1400" u="none" strike="noStrike" dirty="0">
                          <a:effectLst/>
                        </a:rPr>
                        <a:t>c. Predictors: (Constant), T2, OTINC, MATERIAL</a:t>
                      </a:r>
                      <a:endParaRPr lang="en-US" sz="1400" b="0" i="0" u="none" strike="noStrike" dirty="0">
                        <a:solidFill>
                          <a:srgbClr val="000000"/>
                        </a:solidFill>
                        <a:effectLst/>
                        <a:latin typeface="Arial" panose="020B06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54925101"/>
                  </a:ext>
                </a:extLst>
              </a:tr>
              <a:tr h="252028">
                <a:tc gridSpan="5">
                  <a:txBody>
                    <a:bodyPr/>
                    <a:lstStyle/>
                    <a:p>
                      <a:pPr algn="l" fontAlgn="t"/>
                      <a:r>
                        <a:rPr lang="en-US" sz="1400" u="none" strike="noStrike" dirty="0">
                          <a:effectLst/>
                        </a:rPr>
                        <a:t>d. Predictors: (Constant), T2, OTINC, MATERIAL, SALES</a:t>
                      </a:r>
                      <a:endParaRPr lang="en-US" sz="1400" b="0" i="0" u="none" strike="noStrike" dirty="0">
                        <a:solidFill>
                          <a:srgbClr val="000000"/>
                        </a:solidFill>
                        <a:effectLst/>
                        <a:latin typeface="Arial" panose="020B06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22059475"/>
                  </a:ext>
                </a:extLst>
              </a:tr>
              <a:tr h="252028">
                <a:tc gridSpan="5">
                  <a:txBody>
                    <a:bodyPr/>
                    <a:lstStyle/>
                    <a:p>
                      <a:pPr algn="l" fontAlgn="t"/>
                      <a:r>
                        <a:rPr lang="en-US" sz="1400" u="none" strike="noStrike" dirty="0">
                          <a:effectLst/>
                        </a:rPr>
                        <a:t>e. Predictors: (Constant), T2, MATERIAL, SALES</a:t>
                      </a:r>
                      <a:endParaRPr lang="en-US" sz="1400" b="0" i="0" u="none" strike="noStrike" dirty="0">
                        <a:solidFill>
                          <a:srgbClr val="000000"/>
                        </a:solidFill>
                        <a:effectLst/>
                        <a:latin typeface="Arial" panose="020B06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68490151"/>
                  </a:ext>
                </a:extLst>
              </a:tr>
            </a:tbl>
          </a:graphicData>
        </a:graphic>
      </p:graphicFrame>
    </p:spTree>
    <p:extLst>
      <p:ext uri="{BB962C8B-B14F-4D97-AF65-F5344CB8AC3E}">
        <p14:creationId xmlns:p14="http://schemas.microsoft.com/office/powerpoint/2010/main" val="19037330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ECBBE-9F47-484F-B1CA-1B489837ABA4}"/>
              </a:ext>
            </a:extLst>
          </p:cNvPr>
          <p:cNvSpPr>
            <a:spLocks noGrp="1"/>
          </p:cNvSpPr>
          <p:nvPr>
            <p:ph type="title"/>
          </p:nvPr>
        </p:nvSpPr>
        <p:spPr>
          <a:xfrm>
            <a:off x="609600" y="302559"/>
            <a:ext cx="6347714" cy="914400"/>
          </a:xfrm>
        </p:spPr>
        <p:txBody>
          <a:bodyPr/>
          <a:lstStyle/>
          <a:p>
            <a:r>
              <a:rPr lang="en-US" dirty="0"/>
              <a:t>Stepwise Selection</a:t>
            </a:r>
          </a:p>
        </p:txBody>
      </p:sp>
      <p:graphicFrame>
        <p:nvGraphicFramePr>
          <p:cNvPr id="3" name="Table 2">
            <a:extLst>
              <a:ext uri="{FF2B5EF4-FFF2-40B4-BE49-F238E27FC236}">
                <a16:creationId xmlns:a16="http://schemas.microsoft.com/office/drawing/2014/main" id="{3EA13539-B7F0-40CB-82C0-C7FE652E27B0}"/>
              </a:ext>
            </a:extLst>
          </p:cNvPr>
          <p:cNvGraphicFramePr>
            <a:graphicFrameLocks noGrp="1"/>
          </p:cNvGraphicFramePr>
          <p:nvPr>
            <p:extLst>
              <p:ext uri="{D42A27DB-BD31-4B8C-83A1-F6EECF244321}">
                <p14:modId xmlns:p14="http://schemas.microsoft.com/office/powerpoint/2010/main" val="3082717310"/>
              </p:ext>
            </p:extLst>
          </p:nvPr>
        </p:nvGraphicFramePr>
        <p:xfrm>
          <a:off x="533400" y="1216959"/>
          <a:ext cx="7619999" cy="5503566"/>
        </p:xfrm>
        <a:graphic>
          <a:graphicData uri="http://schemas.openxmlformats.org/drawingml/2006/table">
            <a:tbl>
              <a:tblPr>
                <a:tableStyleId>{5C22544A-7EE6-4342-B048-85BDC9FD1C3A}</a:tableStyleId>
              </a:tblPr>
              <a:tblGrid>
                <a:gridCol w="988624">
                  <a:extLst>
                    <a:ext uri="{9D8B030D-6E8A-4147-A177-3AD203B41FA5}">
                      <a16:colId xmlns:a16="http://schemas.microsoft.com/office/drawing/2014/main" val="1067234766"/>
                    </a:ext>
                  </a:extLst>
                </a:gridCol>
                <a:gridCol w="988624">
                  <a:extLst>
                    <a:ext uri="{9D8B030D-6E8A-4147-A177-3AD203B41FA5}">
                      <a16:colId xmlns:a16="http://schemas.microsoft.com/office/drawing/2014/main" val="1939244402"/>
                    </a:ext>
                  </a:extLst>
                </a:gridCol>
                <a:gridCol w="1353652">
                  <a:extLst>
                    <a:ext uri="{9D8B030D-6E8A-4147-A177-3AD203B41FA5}">
                      <a16:colId xmlns:a16="http://schemas.microsoft.com/office/drawing/2014/main" val="1730880055"/>
                    </a:ext>
                  </a:extLst>
                </a:gridCol>
                <a:gridCol w="1353652">
                  <a:extLst>
                    <a:ext uri="{9D8B030D-6E8A-4147-A177-3AD203B41FA5}">
                      <a16:colId xmlns:a16="http://schemas.microsoft.com/office/drawing/2014/main" val="1732957905"/>
                    </a:ext>
                  </a:extLst>
                </a:gridCol>
                <a:gridCol w="1353652">
                  <a:extLst>
                    <a:ext uri="{9D8B030D-6E8A-4147-A177-3AD203B41FA5}">
                      <a16:colId xmlns:a16="http://schemas.microsoft.com/office/drawing/2014/main" val="1779410309"/>
                    </a:ext>
                  </a:extLst>
                </a:gridCol>
                <a:gridCol w="851735">
                  <a:extLst>
                    <a:ext uri="{9D8B030D-6E8A-4147-A177-3AD203B41FA5}">
                      <a16:colId xmlns:a16="http://schemas.microsoft.com/office/drawing/2014/main" val="1616706433"/>
                    </a:ext>
                  </a:extLst>
                </a:gridCol>
                <a:gridCol w="730060">
                  <a:extLst>
                    <a:ext uri="{9D8B030D-6E8A-4147-A177-3AD203B41FA5}">
                      <a16:colId xmlns:a16="http://schemas.microsoft.com/office/drawing/2014/main" val="1977228410"/>
                    </a:ext>
                  </a:extLst>
                </a:gridCol>
              </a:tblGrid>
              <a:tr h="211946">
                <a:tc gridSpan="7">
                  <a:txBody>
                    <a:bodyPr/>
                    <a:lstStyle/>
                    <a:p>
                      <a:pPr algn="ctr" fontAlgn="ctr"/>
                      <a:r>
                        <a:rPr lang="en-US" sz="1400" u="none" strike="noStrike" dirty="0" err="1">
                          <a:effectLst/>
                        </a:rPr>
                        <a:t>ANOVA</a:t>
                      </a:r>
                      <a:r>
                        <a:rPr lang="en-US" sz="1400" u="none" strike="noStrike" baseline="30000" dirty="0" err="1">
                          <a:effectLst/>
                        </a:rPr>
                        <a:t>a</a:t>
                      </a:r>
                      <a:endParaRPr lang="en-US" sz="1400" b="1" i="0" u="none" strike="noStrike" dirty="0">
                        <a:solidFill>
                          <a:srgbClr val="000000"/>
                        </a:solidFill>
                        <a:effectLst/>
                        <a:latin typeface="Arial Bold" panose="020B0704020202020204" pitchFamily="34" charset="0"/>
                      </a:endParaRPr>
                    </a:p>
                  </a:txBody>
                  <a:tcPr marL="4550" marR="4550" marT="45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0900051"/>
                  </a:ext>
                </a:extLst>
              </a:tr>
              <a:tr h="402565">
                <a:tc gridSpan="2">
                  <a:txBody>
                    <a:bodyPr/>
                    <a:lstStyle/>
                    <a:p>
                      <a:pPr algn="l" fontAlgn="b"/>
                      <a:r>
                        <a:rPr lang="en-US" sz="1400" u="none" strike="noStrike">
                          <a:effectLst/>
                        </a:rPr>
                        <a:t>Model</a:t>
                      </a:r>
                      <a:endParaRPr lang="en-US" sz="1400" b="0" i="0" u="none" strike="noStrike">
                        <a:solidFill>
                          <a:srgbClr val="000000"/>
                        </a:solidFill>
                        <a:effectLst/>
                        <a:latin typeface="Arial" panose="020B0604020202020204" pitchFamily="34" charset="0"/>
                      </a:endParaRPr>
                    </a:p>
                  </a:txBody>
                  <a:tcPr marL="4550" marR="4550" marT="4550" marB="0" anchor="ctr"/>
                </a:tc>
                <a:tc hMerge="1">
                  <a:txBody>
                    <a:bodyPr/>
                    <a:lstStyle/>
                    <a:p>
                      <a:endParaRPr lang="en-US"/>
                    </a:p>
                  </a:txBody>
                  <a:tcPr/>
                </a:tc>
                <a:tc>
                  <a:txBody>
                    <a:bodyPr/>
                    <a:lstStyle/>
                    <a:p>
                      <a:pPr algn="ctr" fontAlgn="b"/>
                      <a:r>
                        <a:rPr lang="en-US" sz="1400" u="none" strike="noStrike">
                          <a:effectLst/>
                        </a:rPr>
                        <a:t>Sum of Squares</a:t>
                      </a:r>
                      <a:endParaRPr lang="en-US" sz="1400" b="0" i="0" u="none" strike="noStrike">
                        <a:solidFill>
                          <a:srgbClr val="000000"/>
                        </a:solidFill>
                        <a:effectLst/>
                        <a:latin typeface="Arial" panose="020B0604020202020204" pitchFamily="34" charset="0"/>
                      </a:endParaRPr>
                    </a:p>
                  </a:txBody>
                  <a:tcPr marL="4550" marR="4550" marT="4550" marB="0" anchor="ctr"/>
                </a:tc>
                <a:tc>
                  <a:txBody>
                    <a:bodyPr/>
                    <a:lstStyle/>
                    <a:p>
                      <a:pPr algn="ctr" fontAlgn="b"/>
                      <a:r>
                        <a:rPr lang="en-US" sz="1400" u="none" strike="noStrike" dirty="0">
                          <a:effectLst/>
                        </a:rPr>
                        <a:t>df</a:t>
                      </a:r>
                      <a:endParaRPr lang="en-US" sz="1400" b="0" i="0" u="none" strike="noStrike" dirty="0">
                        <a:solidFill>
                          <a:srgbClr val="000000"/>
                        </a:solidFill>
                        <a:effectLst/>
                        <a:latin typeface="Arial" panose="020B0604020202020204" pitchFamily="34" charset="0"/>
                      </a:endParaRPr>
                    </a:p>
                  </a:txBody>
                  <a:tcPr marL="4550" marR="4550" marT="4550" marB="0" anchor="ctr"/>
                </a:tc>
                <a:tc>
                  <a:txBody>
                    <a:bodyPr/>
                    <a:lstStyle/>
                    <a:p>
                      <a:pPr algn="ctr" fontAlgn="b"/>
                      <a:r>
                        <a:rPr lang="en-US" sz="1400" u="none" strike="noStrike">
                          <a:effectLst/>
                        </a:rPr>
                        <a:t>Mean Square</a:t>
                      </a:r>
                      <a:endParaRPr lang="en-US" sz="1400" b="0" i="0" u="none" strike="noStrike">
                        <a:solidFill>
                          <a:srgbClr val="000000"/>
                        </a:solidFill>
                        <a:effectLst/>
                        <a:latin typeface="Arial" panose="020B0604020202020204" pitchFamily="34" charset="0"/>
                      </a:endParaRPr>
                    </a:p>
                  </a:txBody>
                  <a:tcPr marL="4550" marR="4550" marT="4550" marB="0" anchor="ctr"/>
                </a:tc>
                <a:tc>
                  <a:txBody>
                    <a:bodyPr/>
                    <a:lstStyle/>
                    <a:p>
                      <a:pPr algn="ctr" fontAlgn="b"/>
                      <a:r>
                        <a:rPr lang="en-US" sz="1400" u="none" strike="noStrike" dirty="0">
                          <a:effectLst/>
                        </a:rPr>
                        <a:t>F</a:t>
                      </a:r>
                      <a:endParaRPr lang="en-US" sz="1400" b="0" i="0" u="none" strike="noStrike" dirty="0">
                        <a:solidFill>
                          <a:srgbClr val="000000"/>
                        </a:solidFill>
                        <a:effectLst/>
                        <a:latin typeface="Arial" panose="020B0604020202020204" pitchFamily="34" charset="0"/>
                      </a:endParaRPr>
                    </a:p>
                  </a:txBody>
                  <a:tcPr marL="4550" marR="4550" marT="4550" marB="0" anchor="ctr"/>
                </a:tc>
                <a:tc>
                  <a:txBody>
                    <a:bodyPr/>
                    <a:lstStyle/>
                    <a:p>
                      <a:pPr algn="ctr" fontAlgn="b"/>
                      <a:r>
                        <a:rPr lang="en-US" sz="1400" u="none" strike="noStrike">
                          <a:effectLst/>
                        </a:rPr>
                        <a:t>Sig.</a:t>
                      </a:r>
                      <a:endParaRPr lang="en-US" sz="1400" b="0" i="0" u="none" strike="noStrike">
                        <a:solidFill>
                          <a:srgbClr val="000000"/>
                        </a:solidFill>
                        <a:effectLst/>
                        <a:latin typeface="Arial" panose="020B0604020202020204" pitchFamily="34" charset="0"/>
                      </a:endParaRPr>
                    </a:p>
                  </a:txBody>
                  <a:tcPr marL="4550" marR="4550" marT="4550" marB="0" anchor="ctr"/>
                </a:tc>
                <a:extLst>
                  <a:ext uri="{0D108BD9-81ED-4DB2-BD59-A6C34878D82A}">
                    <a16:rowId xmlns:a16="http://schemas.microsoft.com/office/drawing/2014/main" val="1902002140"/>
                  </a:ext>
                </a:extLst>
              </a:tr>
              <a:tr h="259186">
                <a:tc rowSpan="3">
                  <a:txBody>
                    <a:bodyPr/>
                    <a:lstStyle/>
                    <a:p>
                      <a:pPr algn="ctr" fontAlgn="t"/>
                      <a:r>
                        <a:rPr lang="en-US" sz="1400" u="none" strike="noStrike" dirty="0">
                          <a:effectLst/>
                        </a:rPr>
                        <a:t>1</a:t>
                      </a:r>
                      <a:endParaRPr lang="en-US" sz="1400" b="0" i="0" u="none" strike="noStrike" dirty="0">
                        <a:solidFill>
                          <a:srgbClr val="000000"/>
                        </a:solidFill>
                        <a:effectLst/>
                        <a:latin typeface="Arial" panose="020B0604020202020204" pitchFamily="34" charset="0"/>
                      </a:endParaRPr>
                    </a:p>
                  </a:txBody>
                  <a:tcPr marL="4550" marR="4550" marT="4550" marB="0" anchor="ctr">
                    <a:solidFill>
                      <a:schemeClr val="bg2"/>
                    </a:solidFill>
                  </a:tcPr>
                </a:tc>
                <a:tc>
                  <a:txBody>
                    <a:bodyPr/>
                    <a:lstStyle/>
                    <a:p>
                      <a:pPr algn="l" fontAlgn="t"/>
                      <a:r>
                        <a:rPr lang="en-US" sz="1400" u="none" strike="noStrike" dirty="0">
                          <a:effectLst/>
                        </a:rPr>
                        <a:t>Regression</a:t>
                      </a:r>
                      <a:endParaRPr lang="en-US" sz="1400" b="0" i="0" u="none" strike="noStrike" dirty="0">
                        <a:solidFill>
                          <a:srgbClr val="000000"/>
                        </a:solidFill>
                        <a:effectLst/>
                        <a:latin typeface="Arial" panose="020B0604020202020204" pitchFamily="34" charset="0"/>
                      </a:endParaRPr>
                    </a:p>
                  </a:txBody>
                  <a:tcPr marL="4550" marR="4550" marT="4550" marB="0" anchor="ctr">
                    <a:solidFill>
                      <a:schemeClr val="bg2"/>
                    </a:solidFill>
                  </a:tcPr>
                </a:tc>
                <a:tc>
                  <a:txBody>
                    <a:bodyPr/>
                    <a:lstStyle/>
                    <a:p>
                      <a:pPr algn="r" fontAlgn="t"/>
                      <a:r>
                        <a:rPr lang="en-US" sz="1400" u="none" strike="noStrike" dirty="0">
                          <a:effectLst/>
                        </a:rPr>
                        <a:t>51,200,644</a:t>
                      </a:r>
                      <a:endParaRPr lang="en-US" sz="1400" b="0" i="0" u="none" strike="noStrike" dirty="0">
                        <a:solidFill>
                          <a:srgbClr val="000000"/>
                        </a:solidFill>
                        <a:effectLst/>
                        <a:latin typeface="Arial" panose="020B0604020202020204" pitchFamily="34" charset="0"/>
                      </a:endParaRPr>
                    </a:p>
                  </a:txBody>
                  <a:tcPr marL="4550" marR="4550" marT="4550" marB="0" anchor="ctr">
                    <a:solidFill>
                      <a:schemeClr val="bg2"/>
                    </a:solidFill>
                  </a:tcPr>
                </a:tc>
                <a:tc>
                  <a:txBody>
                    <a:bodyPr/>
                    <a:lstStyle/>
                    <a:p>
                      <a:pPr algn="ctr" fontAlgn="t"/>
                      <a:r>
                        <a:rPr lang="en-US" sz="1400" u="none" strike="noStrike" dirty="0">
                          <a:effectLst/>
                        </a:rPr>
                        <a:t>1</a:t>
                      </a:r>
                      <a:endParaRPr lang="en-US" sz="1400" b="0" i="0" u="none" strike="noStrike" dirty="0">
                        <a:solidFill>
                          <a:srgbClr val="000000"/>
                        </a:solidFill>
                        <a:effectLst/>
                        <a:latin typeface="Arial" panose="020B0604020202020204" pitchFamily="34" charset="0"/>
                      </a:endParaRPr>
                    </a:p>
                  </a:txBody>
                  <a:tcPr marL="4550" marR="4550" marT="4550" marB="0" anchor="ctr">
                    <a:solidFill>
                      <a:schemeClr val="bg2"/>
                    </a:solidFill>
                  </a:tcPr>
                </a:tc>
                <a:tc>
                  <a:txBody>
                    <a:bodyPr/>
                    <a:lstStyle/>
                    <a:p>
                      <a:pPr algn="r" fontAlgn="t"/>
                      <a:r>
                        <a:rPr lang="en-US" sz="1400" u="none" strike="noStrike" dirty="0">
                          <a:effectLst/>
                        </a:rPr>
                        <a:t>51,200,644</a:t>
                      </a:r>
                      <a:endParaRPr lang="en-US" sz="1400" b="0" i="0" u="none" strike="noStrike" dirty="0">
                        <a:solidFill>
                          <a:srgbClr val="000000"/>
                        </a:solidFill>
                        <a:effectLst/>
                        <a:latin typeface="Arial" panose="020B0604020202020204" pitchFamily="34" charset="0"/>
                      </a:endParaRPr>
                    </a:p>
                  </a:txBody>
                  <a:tcPr marL="4550" marR="4550" marT="4550" marB="0" anchor="ctr">
                    <a:solidFill>
                      <a:schemeClr val="bg2"/>
                    </a:solidFill>
                  </a:tcPr>
                </a:tc>
                <a:tc>
                  <a:txBody>
                    <a:bodyPr/>
                    <a:lstStyle/>
                    <a:p>
                      <a:pPr algn="ctr" fontAlgn="t"/>
                      <a:r>
                        <a:rPr lang="en-US" sz="1400" u="none" strike="noStrike">
                          <a:effectLst/>
                        </a:rPr>
                        <a:t>184.701</a:t>
                      </a:r>
                      <a:endParaRPr lang="en-US" sz="1400" b="0" i="0" u="none" strike="noStrike">
                        <a:solidFill>
                          <a:srgbClr val="000000"/>
                        </a:solidFill>
                        <a:effectLst/>
                        <a:latin typeface="Arial" panose="020B0604020202020204" pitchFamily="34" charset="0"/>
                      </a:endParaRPr>
                    </a:p>
                  </a:txBody>
                  <a:tcPr marL="4550" marR="4550" marT="4550" marB="0" anchor="ctr">
                    <a:solidFill>
                      <a:schemeClr val="bg2"/>
                    </a:solidFill>
                  </a:tcPr>
                </a:tc>
                <a:tc>
                  <a:txBody>
                    <a:bodyPr/>
                    <a:lstStyle/>
                    <a:p>
                      <a:pPr algn="ctr" fontAlgn="t"/>
                      <a:r>
                        <a:rPr lang="en-US" sz="1400" u="none" strike="noStrike">
                          <a:effectLst/>
                        </a:rPr>
                        <a:t>.000</a:t>
                      </a:r>
                      <a:r>
                        <a:rPr lang="en-US" sz="1400" u="none" strike="noStrike" baseline="30000">
                          <a:effectLst/>
                        </a:rPr>
                        <a:t>b</a:t>
                      </a:r>
                      <a:endParaRPr lang="en-US" sz="1400" b="0" i="0" u="none" strike="noStrike">
                        <a:solidFill>
                          <a:srgbClr val="000000"/>
                        </a:solidFill>
                        <a:effectLst/>
                        <a:latin typeface="Arial" panose="020B0604020202020204" pitchFamily="34" charset="0"/>
                      </a:endParaRPr>
                    </a:p>
                  </a:txBody>
                  <a:tcPr marL="4550" marR="4550" marT="4550" marB="0" anchor="ctr">
                    <a:solidFill>
                      <a:schemeClr val="bg2"/>
                    </a:solidFill>
                  </a:tcPr>
                </a:tc>
                <a:extLst>
                  <a:ext uri="{0D108BD9-81ED-4DB2-BD59-A6C34878D82A}">
                    <a16:rowId xmlns:a16="http://schemas.microsoft.com/office/drawing/2014/main" val="3030037604"/>
                  </a:ext>
                </a:extLst>
              </a:tr>
              <a:tr h="253670">
                <a:tc vMerge="1">
                  <a:txBody>
                    <a:bodyPr/>
                    <a:lstStyle/>
                    <a:p>
                      <a:endParaRPr lang="en-US"/>
                    </a:p>
                  </a:txBody>
                  <a:tcPr/>
                </a:tc>
                <a:tc>
                  <a:txBody>
                    <a:bodyPr/>
                    <a:lstStyle/>
                    <a:p>
                      <a:pPr algn="l" fontAlgn="t"/>
                      <a:r>
                        <a:rPr lang="en-US" sz="1400" u="none" strike="noStrike">
                          <a:effectLst/>
                        </a:rPr>
                        <a:t>Residual</a:t>
                      </a:r>
                      <a:endParaRPr lang="en-US" sz="1400" b="0" i="0" u="none" strike="noStrike">
                        <a:solidFill>
                          <a:srgbClr val="000000"/>
                        </a:solidFill>
                        <a:effectLst/>
                        <a:latin typeface="Arial" panose="020B0604020202020204" pitchFamily="34" charset="0"/>
                      </a:endParaRPr>
                    </a:p>
                  </a:txBody>
                  <a:tcPr marL="4550" marR="4550" marT="4550" marB="0" anchor="ctr">
                    <a:solidFill>
                      <a:schemeClr val="bg2"/>
                    </a:solidFill>
                  </a:tcPr>
                </a:tc>
                <a:tc>
                  <a:txBody>
                    <a:bodyPr/>
                    <a:lstStyle/>
                    <a:p>
                      <a:pPr algn="r" fontAlgn="t"/>
                      <a:r>
                        <a:rPr lang="en-US" sz="1400" u="none" strike="noStrike" dirty="0">
                          <a:effectLst/>
                        </a:rPr>
                        <a:t>4,989,750</a:t>
                      </a:r>
                      <a:endParaRPr lang="en-US" sz="1400" b="0" i="0" u="none" strike="noStrike" dirty="0">
                        <a:solidFill>
                          <a:srgbClr val="000000"/>
                        </a:solidFill>
                        <a:effectLst/>
                        <a:latin typeface="Arial" panose="020B0604020202020204" pitchFamily="34" charset="0"/>
                      </a:endParaRPr>
                    </a:p>
                  </a:txBody>
                  <a:tcPr marL="4550" marR="4550" marT="4550" marB="0" anchor="ctr">
                    <a:solidFill>
                      <a:schemeClr val="bg2"/>
                    </a:solidFill>
                  </a:tcPr>
                </a:tc>
                <a:tc>
                  <a:txBody>
                    <a:bodyPr/>
                    <a:lstStyle/>
                    <a:p>
                      <a:pPr algn="ctr" fontAlgn="t"/>
                      <a:r>
                        <a:rPr lang="en-US" sz="1400" u="none" strike="noStrike" dirty="0">
                          <a:effectLst/>
                        </a:rPr>
                        <a:t>18</a:t>
                      </a:r>
                      <a:endParaRPr lang="en-US" sz="1400" b="0" i="0" u="none" strike="noStrike" dirty="0">
                        <a:solidFill>
                          <a:srgbClr val="000000"/>
                        </a:solidFill>
                        <a:effectLst/>
                        <a:latin typeface="Arial" panose="020B0604020202020204" pitchFamily="34" charset="0"/>
                      </a:endParaRPr>
                    </a:p>
                  </a:txBody>
                  <a:tcPr marL="4550" marR="4550" marT="4550" marB="0" anchor="ctr">
                    <a:solidFill>
                      <a:schemeClr val="bg2"/>
                    </a:solidFill>
                  </a:tcPr>
                </a:tc>
                <a:tc>
                  <a:txBody>
                    <a:bodyPr/>
                    <a:lstStyle/>
                    <a:p>
                      <a:pPr algn="r" fontAlgn="t"/>
                      <a:r>
                        <a:rPr lang="en-US" sz="1400" u="none" strike="noStrike" dirty="0">
                          <a:effectLst/>
                        </a:rPr>
                        <a:t>277,208</a:t>
                      </a:r>
                      <a:endParaRPr lang="en-US" sz="1400" b="0" i="0" u="none" strike="noStrike" dirty="0">
                        <a:solidFill>
                          <a:srgbClr val="000000"/>
                        </a:solidFill>
                        <a:effectLst/>
                        <a:latin typeface="Arial" panose="020B0604020202020204" pitchFamily="34" charset="0"/>
                      </a:endParaRPr>
                    </a:p>
                  </a:txBody>
                  <a:tcPr marL="4550" marR="4550" marT="4550" marB="0" anchor="ctr">
                    <a:solidFill>
                      <a:schemeClr val="bg2"/>
                    </a:solidFill>
                  </a:tcPr>
                </a:tc>
                <a:tc>
                  <a:txBody>
                    <a:bodyPr/>
                    <a:lstStyle/>
                    <a:p>
                      <a:pPr algn="ct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4550" marR="4550" marT="4550" marB="0" anchor="ctr">
                    <a:solidFill>
                      <a:schemeClr val="bg2"/>
                    </a:solidFill>
                  </a:tcPr>
                </a:tc>
                <a:tc>
                  <a:txBody>
                    <a:bodyPr/>
                    <a:lstStyle/>
                    <a:p>
                      <a:pPr algn="ct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4550" marR="4550" marT="4550" marB="0" anchor="ctr">
                    <a:solidFill>
                      <a:schemeClr val="bg2"/>
                    </a:solidFill>
                  </a:tcPr>
                </a:tc>
                <a:extLst>
                  <a:ext uri="{0D108BD9-81ED-4DB2-BD59-A6C34878D82A}">
                    <a16:rowId xmlns:a16="http://schemas.microsoft.com/office/drawing/2014/main" val="241588614"/>
                  </a:ext>
                </a:extLst>
              </a:tr>
              <a:tr h="253670">
                <a:tc vMerge="1">
                  <a:txBody>
                    <a:bodyPr/>
                    <a:lstStyle/>
                    <a:p>
                      <a:endParaRPr lang="en-US"/>
                    </a:p>
                  </a:txBody>
                  <a:tcPr/>
                </a:tc>
                <a:tc>
                  <a:txBody>
                    <a:bodyPr/>
                    <a:lstStyle/>
                    <a:p>
                      <a:pPr algn="l" fontAlgn="t"/>
                      <a:r>
                        <a:rPr lang="en-US" sz="1400" u="none" strike="noStrike">
                          <a:effectLst/>
                        </a:rPr>
                        <a:t>Total</a:t>
                      </a:r>
                      <a:endParaRPr lang="en-US" sz="1400" b="0" i="0" u="none" strike="noStrike">
                        <a:solidFill>
                          <a:srgbClr val="000000"/>
                        </a:solidFill>
                        <a:effectLst/>
                        <a:latin typeface="Arial" panose="020B0604020202020204" pitchFamily="34" charset="0"/>
                      </a:endParaRPr>
                    </a:p>
                  </a:txBody>
                  <a:tcPr marL="4550" marR="4550" marT="4550" marB="0" anchor="ctr">
                    <a:solidFill>
                      <a:schemeClr val="bg2"/>
                    </a:solidFill>
                  </a:tcPr>
                </a:tc>
                <a:tc>
                  <a:txBody>
                    <a:bodyPr/>
                    <a:lstStyle/>
                    <a:p>
                      <a:pPr algn="r" fontAlgn="t"/>
                      <a:r>
                        <a:rPr lang="en-US" sz="1400" u="none" strike="noStrike" dirty="0">
                          <a:effectLst/>
                        </a:rPr>
                        <a:t>56,190,394</a:t>
                      </a:r>
                      <a:endParaRPr lang="en-US" sz="1400" b="0" i="0" u="none" strike="noStrike" dirty="0">
                        <a:solidFill>
                          <a:srgbClr val="000000"/>
                        </a:solidFill>
                        <a:effectLst/>
                        <a:latin typeface="Arial" panose="020B0604020202020204" pitchFamily="34" charset="0"/>
                      </a:endParaRPr>
                    </a:p>
                  </a:txBody>
                  <a:tcPr marL="4550" marR="4550" marT="4550" marB="0" anchor="ctr">
                    <a:solidFill>
                      <a:schemeClr val="bg2"/>
                    </a:solidFill>
                  </a:tcPr>
                </a:tc>
                <a:tc>
                  <a:txBody>
                    <a:bodyPr/>
                    <a:lstStyle/>
                    <a:p>
                      <a:pPr algn="ctr" fontAlgn="t"/>
                      <a:r>
                        <a:rPr lang="en-US" sz="1400" u="none" strike="noStrike" dirty="0">
                          <a:effectLst/>
                        </a:rPr>
                        <a:t>19</a:t>
                      </a:r>
                      <a:endParaRPr lang="en-US" sz="1400" b="0" i="0" u="none" strike="noStrike" dirty="0">
                        <a:solidFill>
                          <a:srgbClr val="000000"/>
                        </a:solidFill>
                        <a:effectLst/>
                        <a:latin typeface="Arial" panose="020B0604020202020204" pitchFamily="34" charset="0"/>
                      </a:endParaRPr>
                    </a:p>
                  </a:txBody>
                  <a:tcPr marL="4550" marR="4550" marT="4550" marB="0" anchor="ctr">
                    <a:solidFill>
                      <a:schemeClr val="bg2"/>
                    </a:solidFill>
                  </a:tcPr>
                </a:tc>
                <a:tc>
                  <a:txBody>
                    <a:bodyPr/>
                    <a:lstStyle/>
                    <a:p>
                      <a:pPr algn="l"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4550" marR="4550" marT="4550" marB="0" anchor="ctr">
                    <a:solidFill>
                      <a:schemeClr val="bg2"/>
                    </a:solidFill>
                  </a:tcPr>
                </a:tc>
                <a:tc>
                  <a:txBody>
                    <a:bodyPr/>
                    <a:lstStyle/>
                    <a:p>
                      <a:pPr algn="ct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4550" marR="4550" marT="4550" marB="0" anchor="ctr">
                    <a:solidFill>
                      <a:schemeClr val="bg2"/>
                    </a:solidFill>
                  </a:tcPr>
                </a:tc>
                <a:tc>
                  <a:txBody>
                    <a:bodyPr/>
                    <a:lstStyle/>
                    <a:p>
                      <a:pPr algn="ct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4550" marR="4550" marT="4550" marB="0" anchor="ctr">
                    <a:solidFill>
                      <a:schemeClr val="bg2"/>
                    </a:solidFill>
                  </a:tcPr>
                </a:tc>
                <a:extLst>
                  <a:ext uri="{0D108BD9-81ED-4DB2-BD59-A6C34878D82A}">
                    <a16:rowId xmlns:a16="http://schemas.microsoft.com/office/drawing/2014/main" val="2199418807"/>
                  </a:ext>
                </a:extLst>
              </a:tr>
              <a:tr h="253670">
                <a:tc rowSpan="3">
                  <a:txBody>
                    <a:bodyPr/>
                    <a:lstStyle/>
                    <a:p>
                      <a:pPr algn="ctr" fontAlgn="t"/>
                      <a:r>
                        <a:rPr lang="en-US" sz="1400" u="none" strike="noStrike" dirty="0">
                          <a:effectLst/>
                        </a:rPr>
                        <a:t>2</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99FF99"/>
                    </a:solidFill>
                  </a:tcPr>
                </a:tc>
                <a:tc>
                  <a:txBody>
                    <a:bodyPr/>
                    <a:lstStyle/>
                    <a:p>
                      <a:pPr algn="l" fontAlgn="t"/>
                      <a:r>
                        <a:rPr lang="en-US" sz="1400" u="none" strike="noStrike">
                          <a:effectLst/>
                        </a:rPr>
                        <a:t>Regression</a:t>
                      </a:r>
                      <a:endParaRPr lang="en-US" sz="1400" b="0" i="0" u="none" strike="noStrike">
                        <a:solidFill>
                          <a:srgbClr val="000000"/>
                        </a:solidFill>
                        <a:effectLst/>
                        <a:latin typeface="Arial" panose="020B0604020202020204" pitchFamily="34" charset="0"/>
                      </a:endParaRPr>
                    </a:p>
                  </a:txBody>
                  <a:tcPr marL="4550" marR="4550" marT="4550" marB="0" anchor="ctr">
                    <a:solidFill>
                      <a:srgbClr val="99FF99"/>
                    </a:solidFill>
                  </a:tcPr>
                </a:tc>
                <a:tc>
                  <a:txBody>
                    <a:bodyPr/>
                    <a:lstStyle/>
                    <a:p>
                      <a:pPr algn="r" fontAlgn="t"/>
                      <a:r>
                        <a:rPr lang="en-US" sz="1400" u="none" strike="noStrike" dirty="0">
                          <a:effectLst/>
                        </a:rPr>
                        <a:t>53,411,521</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99FF99"/>
                    </a:solidFill>
                  </a:tcPr>
                </a:tc>
                <a:tc>
                  <a:txBody>
                    <a:bodyPr/>
                    <a:lstStyle/>
                    <a:p>
                      <a:pPr algn="ctr" fontAlgn="t"/>
                      <a:r>
                        <a:rPr lang="en-US" sz="1400" u="none" strike="noStrike" dirty="0">
                          <a:effectLst/>
                        </a:rPr>
                        <a:t>2</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99FF99"/>
                    </a:solidFill>
                  </a:tcPr>
                </a:tc>
                <a:tc>
                  <a:txBody>
                    <a:bodyPr/>
                    <a:lstStyle/>
                    <a:p>
                      <a:pPr algn="r" fontAlgn="t"/>
                      <a:r>
                        <a:rPr lang="en-US" sz="1400" u="none" strike="noStrike">
                          <a:effectLst/>
                        </a:rPr>
                        <a:t>26,705,761</a:t>
                      </a:r>
                      <a:endParaRPr lang="en-US" sz="1400" b="0" i="0" u="none" strike="noStrike">
                        <a:solidFill>
                          <a:srgbClr val="000000"/>
                        </a:solidFill>
                        <a:effectLst/>
                        <a:latin typeface="Arial" panose="020B0604020202020204" pitchFamily="34" charset="0"/>
                      </a:endParaRPr>
                    </a:p>
                  </a:txBody>
                  <a:tcPr marL="4550" marR="4550" marT="4550" marB="0" anchor="ctr">
                    <a:solidFill>
                      <a:srgbClr val="99FF99"/>
                    </a:solidFill>
                  </a:tcPr>
                </a:tc>
                <a:tc>
                  <a:txBody>
                    <a:bodyPr/>
                    <a:lstStyle/>
                    <a:p>
                      <a:pPr algn="ctr" fontAlgn="t"/>
                      <a:r>
                        <a:rPr lang="en-US" sz="1400" u="none" strike="noStrike" dirty="0">
                          <a:effectLst/>
                        </a:rPr>
                        <a:t>163.375</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99FF99"/>
                    </a:solidFill>
                  </a:tcPr>
                </a:tc>
                <a:tc>
                  <a:txBody>
                    <a:bodyPr/>
                    <a:lstStyle/>
                    <a:p>
                      <a:pPr algn="ctr" fontAlgn="t"/>
                      <a:r>
                        <a:rPr lang="en-US" sz="1400" u="none" strike="noStrike">
                          <a:effectLst/>
                        </a:rPr>
                        <a:t>.000</a:t>
                      </a:r>
                      <a:r>
                        <a:rPr lang="en-US" sz="1400" u="none" strike="noStrike" baseline="30000">
                          <a:effectLst/>
                        </a:rPr>
                        <a:t>c</a:t>
                      </a:r>
                      <a:endParaRPr lang="en-US" sz="1400" b="0" i="0" u="none" strike="noStrike">
                        <a:solidFill>
                          <a:srgbClr val="000000"/>
                        </a:solidFill>
                        <a:effectLst/>
                        <a:latin typeface="Arial" panose="020B0604020202020204" pitchFamily="34" charset="0"/>
                      </a:endParaRPr>
                    </a:p>
                  </a:txBody>
                  <a:tcPr marL="4550" marR="4550" marT="4550" marB="0" anchor="ctr">
                    <a:solidFill>
                      <a:srgbClr val="99FF99"/>
                    </a:solidFill>
                  </a:tcPr>
                </a:tc>
                <a:extLst>
                  <a:ext uri="{0D108BD9-81ED-4DB2-BD59-A6C34878D82A}">
                    <a16:rowId xmlns:a16="http://schemas.microsoft.com/office/drawing/2014/main" val="1311190080"/>
                  </a:ext>
                </a:extLst>
              </a:tr>
              <a:tr h="259186">
                <a:tc vMerge="1">
                  <a:txBody>
                    <a:bodyPr/>
                    <a:lstStyle/>
                    <a:p>
                      <a:endParaRPr lang="en-US"/>
                    </a:p>
                  </a:txBody>
                  <a:tcPr/>
                </a:tc>
                <a:tc>
                  <a:txBody>
                    <a:bodyPr/>
                    <a:lstStyle/>
                    <a:p>
                      <a:pPr algn="l" fontAlgn="t"/>
                      <a:r>
                        <a:rPr lang="en-US" sz="1400" u="none" strike="noStrike" dirty="0">
                          <a:effectLst/>
                        </a:rPr>
                        <a:t>Residual</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99FF99"/>
                    </a:solidFill>
                  </a:tcPr>
                </a:tc>
                <a:tc>
                  <a:txBody>
                    <a:bodyPr/>
                    <a:lstStyle/>
                    <a:p>
                      <a:pPr algn="r" fontAlgn="t"/>
                      <a:r>
                        <a:rPr lang="en-US" sz="1400" u="none" strike="noStrike" dirty="0">
                          <a:effectLst/>
                        </a:rPr>
                        <a:t>2,778,873</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99FF99"/>
                    </a:solidFill>
                  </a:tcPr>
                </a:tc>
                <a:tc>
                  <a:txBody>
                    <a:bodyPr/>
                    <a:lstStyle/>
                    <a:p>
                      <a:pPr algn="ctr" fontAlgn="t"/>
                      <a:r>
                        <a:rPr lang="en-US" sz="1400" u="none" strike="noStrike" dirty="0">
                          <a:effectLst/>
                        </a:rPr>
                        <a:t>17</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99FF99"/>
                    </a:solidFill>
                  </a:tcPr>
                </a:tc>
                <a:tc>
                  <a:txBody>
                    <a:bodyPr/>
                    <a:lstStyle/>
                    <a:p>
                      <a:pPr algn="r" fontAlgn="t"/>
                      <a:r>
                        <a:rPr lang="en-US" sz="1400" u="none" strike="noStrike" dirty="0">
                          <a:effectLst/>
                        </a:rPr>
                        <a:t>163,463</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99FF99"/>
                    </a:solidFill>
                  </a:tcPr>
                </a:tc>
                <a:tc>
                  <a:txBody>
                    <a:bodyPr/>
                    <a:lstStyle/>
                    <a:p>
                      <a:pPr algn="ct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99FF99"/>
                    </a:solidFill>
                  </a:tcPr>
                </a:tc>
                <a:tc>
                  <a:txBody>
                    <a:bodyPr/>
                    <a:lstStyle/>
                    <a:p>
                      <a:pPr algn="ct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99FF99"/>
                    </a:solidFill>
                  </a:tcPr>
                </a:tc>
                <a:extLst>
                  <a:ext uri="{0D108BD9-81ED-4DB2-BD59-A6C34878D82A}">
                    <a16:rowId xmlns:a16="http://schemas.microsoft.com/office/drawing/2014/main" val="1296496395"/>
                  </a:ext>
                </a:extLst>
              </a:tr>
              <a:tr h="227779">
                <a:tc vMerge="1">
                  <a:txBody>
                    <a:bodyPr/>
                    <a:lstStyle/>
                    <a:p>
                      <a:endParaRPr lang="en-US"/>
                    </a:p>
                  </a:txBody>
                  <a:tcPr/>
                </a:tc>
                <a:tc>
                  <a:txBody>
                    <a:bodyPr/>
                    <a:lstStyle/>
                    <a:p>
                      <a:pPr algn="l" fontAlgn="t"/>
                      <a:r>
                        <a:rPr lang="en-US" sz="1400" u="none" strike="noStrike">
                          <a:effectLst/>
                        </a:rPr>
                        <a:t>Total</a:t>
                      </a:r>
                      <a:endParaRPr lang="en-US" sz="1400" b="0" i="0" u="none" strike="noStrike">
                        <a:solidFill>
                          <a:srgbClr val="000000"/>
                        </a:solidFill>
                        <a:effectLst/>
                        <a:latin typeface="Arial" panose="020B0604020202020204" pitchFamily="34" charset="0"/>
                      </a:endParaRPr>
                    </a:p>
                  </a:txBody>
                  <a:tcPr marL="4550" marR="4550" marT="4550" marB="0" anchor="ctr">
                    <a:solidFill>
                      <a:srgbClr val="99FF99"/>
                    </a:solidFill>
                  </a:tcPr>
                </a:tc>
                <a:tc>
                  <a:txBody>
                    <a:bodyPr/>
                    <a:lstStyle/>
                    <a:p>
                      <a:pPr algn="r" fontAlgn="t"/>
                      <a:r>
                        <a:rPr lang="en-US" sz="1400" u="none" strike="noStrike" dirty="0">
                          <a:effectLst/>
                        </a:rPr>
                        <a:t>56,190,394</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99FF99"/>
                    </a:solidFill>
                  </a:tcPr>
                </a:tc>
                <a:tc>
                  <a:txBody>
                    <a:bodyPr/>
                    <a:lstStyle/>
                    <a:p>
                      <a:pPr algn="ctr" fontAlgn="t"/>
                      <a:r>
                        <a:rPr lang="en-US" sz="1400" u="none" strike="noStrike" dirty="0">
                          <a:effectLst/>
                        </a:rPr>
                        <a:t>19</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99FF99"/>
                    </a:solidFill>
                  </a:tcPr>
                </a:tc>
                <a:tc>
                  <a:txBody>
                    <a:bodyPr/>
                    <a:lstStyle/>
                    <a:p>
                      <a:pPr algn="l"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99FF99"/>
                    </a:solidFill>
                  </a:tcPr>
                </a:tc>
                <a:tc>
                  <a:txBody>
                    <a:bodyPr/>
                    <a:lstStyle/>
                    <a:p>
                      <a:pPr algn="ct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99FF99"/>
                    </a:solidFill>
                  </a:tcPr>
                </a:tc>
                <a:tc>
                  <a:txBody>
                    <a:bodyPr/>
                    <a:lstStyle/>
                    <a:p>
                      <a:pPr algn="ct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99FF99"/>
                    </a:solidFill>
                  </a:tcPr>
                </a:tc>
                <a:extLst>
                  <a:ext uri="{0D108BD9-81ED-4DB2-BD59-A6C34878D82A}">
                    <a16:rowId xmlns:a16="http://schemas.microsoft.com/office/drawing/2014/main" val="2159716782"/>
                  </a:ext>
                </a:extLst>
              </a:tr>
              <a:tr h="253670">
                <a:tc rowSpan="3">
                  <a:txBody>
                    <a:bodyPr/>
                    <a:lstStyle/>
                    <a:p>
                      <a:pPr algn="ctr" fontAlgn="t"/>
                      <a:r>
                        <a:rPr lang="en-US" sz="1400" u="none" strike="noStrike" dirty="0">
                          <a:effectLst/>
                        </a:rPr>
                        <a:t>3</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FC000"/>
                    </a:solidFill>
                  </a:tcPr>
                </a:tc>
                <a:tc>
                  <a:txBody>
                    <a:bodyPr/>
                    <a:lstStyle/>
                    <a:p>
                      <a:pPr algn="l" fontAlgn="t"/>
                      <a:r>
                        <a:rPr lang="en-US" sz="1400" u="none" strike="noStrike" dirty="0">
                          <a:effectLst/>
                        </a:rPr>
                        <a:t>Regression</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FC000"/>
                    </a:solidFill>
                  </a:tcPr>
                </a:tc>
                <a:tc>
                  <a:txBody>
                    <a:bodyPr/>
                    <a:lstStyle/>
                    <a:p>
                      <a:pPr algn="r" fontAlgn="t"/>
                      <a:r>
                        <a:rPr lang="en-US" sz="1400" u="none" strike="noStrike">
                          <a:effectLst/>
                        </a:rPr>
                        <a:t>54,103,500</a:t>
                      </a:r>
                      <a:endParaRPr lang="en-US" sz="1400" b="0" i="0" u="none" strike="noStrike">
                        <a:solidFill>
                          <a:srgbClr val="000000"/>
                        </a:solidFill>
                        <a:effectLst/>
                        <a:latin typeface="Arial" panose="020B0604020202020204" pitchFamily="34" charset="0"/>
                      </a:endParaRPr>
                    </a:p>
                  </a:txBody>
                  <a:tcPr marL="4550" marR="4550" marT="4550" marB="0" anchor="ctr">
                    <a:solidFill>
                      <a:srgbClr val="FFC000"/>
                    </a:solidFill>
                  </a:tcPr>
                </a:tc>
                <a:tc>
                  <a:txBody>
                    <a:bodyPr/>
                    <a:lstStyle/>
                    <a:p>
                      <a:pPr algn="ctr" fontAlgn="t"/>
                      <a:r>
                        <a:rPr lang="en-US" sz="1400" u="none" strike="noStrike" dirty="0">
                          <a:effectLst/>
                        </a:rPr>
                        <a:t>3</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FC000"/>
                    </a:solidFill>
                  </a:tcPr>
                </a:tc>
                <a:tc>
                  <a:txBody>
                    <a:bodyPr/>
                    <a:lstStyle/>
                    <a:p>
                      <a:pPr algn="r" fontAlgn="t"/>
                      <a:r>
                        <a:rPr lang="en-US" sz="1400" u="none" strike="noStrike" dirty="0">
                          <a:effectLst/>
                        </a:rPr>
                        <a:t>18,034,500</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FC000"/>
                    </a:solidFill>
                  </a:tcPr>
                </a:tc>
                <a:tc>
                  <a:txBody>
                    <a:bodyPr/>
                    <a:lstStyle/>
                    <a:p>
                      <a:pPr algn="ctr" fontAlgn="t"/>
                      <a:r>
                        <a:rPr lang="en-US" sz="1400" u="none" strike="noStrike" dirty="0">
                          <a:effectLst/>
                        </a:rPr>
                        <a:t>138.269</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FC000"/>
                    </a:solidFill>
                  </a:tcPr>
                </a:tc>
                <a:tc>
                  <a:txBody>
                    <a:bodyPr/>
                    <a:lstStyle/>
                    <a:p>
                      <a:pPr algn="ctr" fontAlgn="t"/>
                      <a:r>
                        <a:rPr lang="en-US" sz="1400" u="none" strike="noStrike">
                          <a:effectLst/>
                        </a:rPr>
                        <a:t>.000</a:t>
                      </a:r>
                      <a:r>
                        <a:rPr lang="en-US" sz="1400" u="none" strike="noStrike" baseline="30000">
                          <a:effectLst/>
                        </a:rPr>
                        <a:t>d</a:t>
                      </a:r>
                      <a:endParaRPr lang="en-US" sz="1400" b="0" i="0" u="none" strike="noStrike">
                        <a:solidFill>
                          <a:srgbClr val="000000"/>
                        </a:solidFill>
                        <a:effectLst/>
                        <a:latin typeface="Arial" panose="020B0604020202020204" pitchFamily="34" charset="0"/>
                      </a:endParaRPr>
                    </a:p>
                  </a:txBody>
                  <a:tcPr marL="4550" marR="4550" marT="4550" marB="0" anchor="ctr">
                    <a:solidFill>
                      <a:srgbClr val="FFC000"/>
                    </a:solidFill>
                  </a:tcPr>
                </a:tc>
                <a:extLst>
                  <a:ext uri="{0D108BD9-81ED-4DB2-BD59-A6C34878D82A}">
                    <a16:rowId xmlns:a16="http://schemas.microsoft.com/office/drawing/2014/main" val="1397144619"/>
                  </a:ext>
                </a:extLst>
              </a:tr>
              <a:tr h="211946">
                <a:tc vMerge="1">
                  <a:txBody>
                    <a:bodyPr/>
                    <a:lstStyle/>
                    <a:p>
                      <a:endParaRPr lang="en-US"/>
                    </a:p>
                  </a:txBody>
                  <a:tcPr/>
                </a:tc>
                <a:tc>
                  <a:txBody>
                    <a:bodyPr/>
                    <a:lstStyle/>
                    <a:p>
                      <a:pPr algn="l" fontAlgn="t"/>
                      <a:r>
                        <a:rPr lang="en-US" sz="1400" u="none" strike="noStrike" dirty="0">
                          <a:effectLst/>
                        </a:rPr>
                        <a:t>Residual</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FC000"/>
                    </a:solidFill>
                  </a:tcPr>
                </a:tc>
                <a:tc>
                  <a:txBody>
                    <a:bodyPr/>
                    <a:lstStyle/>
                    <a:p>
                      <a:pPr algn="r" fontAlgn="t"/>
                      <a:r>
                        <a:rPr lang="en-US" sz="1400" u="none" strike="noStrike" dirty="0">
                          <a:effectLst/>
                        </a:rPr>
                        <a:t>2,086,894</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FC000"/>
                    </a:solidFill>
                  </a:tcPr>
                </a:tc>
                <a:tc>
                  <a:txBody>
                    <a:bodyPr/>
                    <a:lstStyle/>
                    <a:p>
                      <a:pPr algn="ctr" fontAlgn="t"/>
                      <a:r>
                        <a:rPr lang="en-US" sz="1400" u="none" strike="noStrike" dirty="0">
                          <a:effectLst/>
                        </a:rPr>
                        <a:t>16</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FC000"/>
                    </a:solidFill>
                  </a:tcPr>
                </a:tc>
                <a:tc>
                  <a:txBody>
                    <a:bodyPr/>
                    <a:lstStyle/>
                    <a:p>
                      <a:pPr algn="r" fontAlgn="t"/>
                      <a:r>
                        <a:rPr lang="en-US" sz="1400" u="none" strike="noStrike" dirty="0">
                          <a:effectLst/>
                        </a:rPr>
                        <a:t>130,431</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FC000"/>
                    </a:solidFill>
                  </a:tcPr>
                </a:tc>
                <a:tc>
                  <a:txBody>
                    <a:bodyPr/>
                    <a:lstStyle/>
                    <a:p>
                      <a:pPr algn="ct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FC000"/>
                    </a:solidFill>
                  </a:tcPr>
                </a:tc>
                <a:tc>
                  <a:txBody>
                    <a:bodyPr/>
                    <a:lstStyle/>
                    <a:p>
                      <a:pPr algn="ct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FC000"/>
                    </a:solidFill>
                  </a:tcPr>
                </a:tc>
                <a:extLst>
                  <a:ext uri="{0D108BD9-81ED-4DB2-BD59-A6C34878D82A}">
                    <a16:rowId xmlns:a16="http://schemas.microsoft.com/office/drawing/2014/main" val="3935928206"/>
                  </a:ext>
                </a:extLst>
              </a:tr>
              <a:tr h="211946">
                <a:tc vMerge="1">
                  <a:txBody>
                    <a:bodyPr/>
                    <a:lstStyle/>
                    <a:p>
                      <a:endParaRPr lang="en-US"/>
                    </a:p>
                  </a:txBody>
                  <a:tcPr/>
                </a:tc>
                <a:tc>
                  <a:txBody>
                    <a:bodyPr/>
                    <a:lstStyle/>
                    <a:p>
                      <a:pPr algn="l" fontAlgn="t"/>
                      <a:r>
                        <a:rPr lang="en-US" sz="1400" u="none" strike="noStrike">
                          <a:effectLst/>
                        </a:rPr>
                        <a:t>Total</a:t>
                      </a:r>
                      <a:endParaRPr lang="en-US" sz="1400" b="0" i="0" u="none" strike="noStrike">
                        <a:solidFill>
                          <a:srgbClr val="000000"/>
                        </a:solidFill>
                        <a:effectLst/>
                        <a:latin typeface="Arial" panose="020B0604020202020204" pitchFamily="34" charset="0"/>
                      </a:endParaRPr>
                    </a:p>
                  </a:txBody>
                  <a:tcPr marL="4550" marR="4550" marT="4550" marB="0" anchor="ctr">
                    <a:solidFill>
                      <a:srgbClr val="FFC000"/>
                    </a:solidFill>
                  </a:tcPr>
                </a:tc>
                <a:tc>
                  <a:txBody>
                    <a:bodyPr/>
                    <a:lstStyle/>
                    <a:p>
                      <a:pPr algn="r" fontAlgn="t"/>
                      <a:r>
                        <a:rPr lang="en-US" sz="1400" u="none" strike="noStrike" dirty="0">
                          <a:effectLst/>
                        </a:rPr>
                        <a:t>56,190,394</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FC000"/>
                    </a:solidFill>
                  </a:tcPr>
                </a:tc>
                <a:tc>
                  <a:txBody>
                    <a:bodyPr/>
                    <a:lstStyle/>
                    <a:p>
                      <a:pPr algn="ctr" fontAlgn="t"/>
                      <a:r>
                        <a:rPr lang="en-US" sz="1400" u="none" strike="noStrike" dirty="0">
                          <a:effectLst/>
                        </a:rPr>
                        <a:t>19</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FC000"/>
                    </a:solidFill>
                  </a:tcPr>
                </a:tc>
                <a:tc>
                  <a:txBody>
                    <a:bodyPr/>
                    <a:lstStyle/>
                    <a:p>
                      <a:pPr algn="l"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FC000"/>
                    </a:solidFill>
                  </a:tcPr>
                </a:tc>
                <a:tc>
                  <a:txBody>
                    <a:bodyPr/>
                    <a:lstStyle/>
                    <a:p>
                      <a:pPr algn="ct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FC000"/>
                    </a:solidFill>
                  </a:tcPr>
                </a:tc>
                <a:tc>
                  <a:txBody>
                    <a:bodyPr/>
                    <a:lstStyle/>
                    <a:p>
                      <a:pPr algn="ct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FC000"/>
                    </a:solidFill>
                  </a:tcPr>
                </a:tc>
                <a:extLst>
                  <a:ext uri="{0D108BD9-81ED-4DB2-BD59-A6C34878D82A}">
                    <a16:rowId xmlns:a16="http://schemas.microsoft.com/office/drawing/2014/main" val="3009074269"/>
                  </a:ext>
                </a:extLst>
              </a:tr>
              <a:tr h="253670">
                <a:tc rowSpan="3">
                  <a:txBody>
                    <a:bodyPr/>
                    <a:lstStyle/>
                    <a:p>
                      <a:pPr algn="ctr" fontAlgn="t"/>
                      <a:r>
                        <a:rPr lang="en-US" sz="1400" u="none" strike="noStrike" dirty="0">
                          <a:effectLst/>
                        </a:rPr>
                        <a:t>4</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DBFEFF"/>
                    </a:solidFill>
                  </a:tcPr>
                </a:tc>
                <a:tc>
                  <a:txBody>
                    <a:bodyPr/>
                    <a:lstStyle/>
                    <a:p>
                      <a:pPr algn="l" fontAlgn="t"/>
                      <a:r>
                        <a:rPr lang="en-US" sz="1400" u="none" strike="noStrike" dirty="0">
                          <a:effectLst/>
                        </a:rPr>
                        <a:t>Regression</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DBFEFF"/>
                    </a:solidFill>
                  </a:tcPr>
                </a:tc>
                <a:tc>
                  <a:txBody>
                    <a:bodyPr/>
                    <a:lstStyle/>
                    <a:p>
                      <a:pPr algn="r" fontAlgn="t"/>
                      <a:r>
                        <a:rPr lang="en-US" sz="1400" u="none" strike="noStrike">
                          <a:effectLst/>
                        </a:rPr>
                        <a:t>54,787,484</a:t>
                      </a:r>
                      <a:endParaRPr lang="en-US" sz="1400" b="0" i="0" u="none" strike="noStrike">
                        <a:solidFill>
                          <a:srgbClr val="000000"/>
                        </a:solidFill>
                        <a:effectLst/>
                        <a:latin typeface="Arial" panose="020B0604020202020204" pitchFamily="34" charset="0"/>
                      </a:endParaRPr>
                    </a:p>
                  </a:txBody>
                  <a:tcPr marL="4550" marR="4550" marT="4550" marB="0" anchor="ctr">
                    <a:solidFill>
                      <a:srgbClr val="DBFEFF"/>
                    </a:solidFill>
                  </a:tcPr>
                </a:tc>
                <a:tc>
                  <a:txBody>
                    <a:bodyPr/>
                    <a:lstStyle/>
                    <a:p>
                      <a:pPr algn="ctr" fontAlgn="t"/>
                      <a:r>
                        <a:rPr lang="en-US" sz="1400" u="none" strike="noStrike" dirty="0">
                          <a:effectLst/>
                        </a:rPr>
                        <a:t>4</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DBFEFF"/>
                    </a:solidFill>
                  </a:tcPr>
                </a:tc>
                <a:tc>
                  <a:txBody>
                    <a:bodyPr/>
                    <a:lstStyle/>
                    <a:p>
                      <a:pPr algn="r" fontAlgn="t"/>
                      <a:r>
                        <a:rPr lang="en-US" sz="1400" u="none" strike="noStrike">
                          <a:effectLst/>
                        </a:rPr>
                        <a:t>13,696,871</a:t>
                      </a:r>
                      <a:endParaRPr lang="en-US" sz="1400" b="0" i="0" u="none" strike="noStrike">
                        <a:solidFill>
                          <a:srgbClr val="000000"/>
                        </a:solidFill>
                        <a:effectLst/>
                        <a:latin typeface="Arial" panose="020B0604020202020204" pitchFamily="34" charset="0"/>
                      </a:endParaRPr>
                    </a:p>
                  </a:txBody>
                  <a:tcPr marL="4550" marR="4550" marT="4550" marB="0" anchor="ctr">
                    <a:solidFill>
                      <a:srgbClr val="DBFEFF"/>
                    </a:solidFill>
                  </a:tcPr>
                </a:tc>
                <a:tc>
                  <a:txBody>
                    <a:bodyPr/>
                    <a:lstStyle/>
                    <a:p>
                      <a:pPr algn="ctr" fontAlgn="t"/>
                      <a:r>
                        <a:rPr lang="en-US" sz="1400" u="none" strike="noStrike" dirty="0">
                          <a:effectLst/>
                        </a:rPr>
                        <a:t>146.448</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DBFEFF"/>
                    </a:solidFill>
                  </a:tcPr>
                </a:tc>
                <a:tc>
                  <a:txBody>
                    <a:bodyPr/>
                    <a:lstStyle/>
                    <a:p>
                      <a:pPr algn="ctr" fontAlgn="t"/>
                      <a:r>
                        <a:rPr lang="en-US" sz="1400" u="none" strike="noStrike">
                          <a:effectLst/>
                        </a:rPr>
                        <a:t>.000</a:t>
                      </a:r>
                      <a:r>
                        <a:rPr lang="en-US" sz="1400" u="none" strike="noStrike" baseline="30000">
                          <a:effectLst/>
                        </a:rPr>
                        <a:t>e</a:t>
                      </a:r>
                      <a:endParaRPr lang="en-US" sz="1400" b="0" i="0" u="none" strike="noStrike">
                        <a:solidFill>
                          <a:srgbClr val="000000"/>
                        </a:solidFill>
                        <a:effectLst/>
                        <a:latin typeface="Arial" panose="020B0604020202020204" pitchFamily="34" charset="0"/>
                      </a:endParaRPr>
                    </a:p>
                  </a:txBody>
                  <a:tcPr marL="4550" marR="4550" marT="4550" marB="0" anchor="ctr">
                    <a:solidFill>
                      <a:srgbClr val="DBFEFF"/>
                    </a:solidFill>
                  </a:tcPr>
                </a:tc>
                <a:extLst>
                  <a:ext uri="{0D108BD9-81ED-4DB2-BD59-A6C34878D82A}">
                    <a16:rowId xmlns:a16="http://schemas.microsoft.com/office/drawing/2014/main" val="927578022"/>
                  </a:ext>
                </a:extLst>
              </a:tr>
              <a:tr h="211946">
                <a:tc vMerge="1">
                  <a:txBody>
                    <a:bodyPr/>
                    <a:lstStyle/>
                    <a:p>
                      <a:endParaRPr lang="en-US"/>
                    </a:p>
                  </a:txBody>
                  <a:tcPr/>
                </a:tc>
                <a:tc>
                  <a:txBody>
                    <a:bodyPr/>
                    <a:lstStyle/>
                    <a:p>
                      <a:pPr algn="l" fontAlgn="t"/>
                      <a:r>
                        <a:rPr lang="en-US" sz="1400" u="none" strike="noStrike">
                          <a:effectLst/>
                        </a:rPr>
                        <a:t>Residual</a:t>
                      </a:r>
                      <a:endParaRPr lang="en-US" sz="1400" b="0" i="0" u="none" strike="noStrike">
                        <a:solidFill>
                          <a:srgbClr val="000000"/>
                        </a:solidFill>
                        <a:effectLst/>
                        <a:latin typeface="Arial" panose="020B0604020202020204" pitchFamily="34" charset="0"/>
                      </a:endParaRPr>
                    </a:p>
                  </a:txBody>
                  <a:tcPr marL="4550" marR="4550" marT="4550" marB="0" anchor="ctr">
                    <a:solidFill>
                      <a:srgbClr val="DBFEFF"/>
                    </a:solidFill>
                  </a:tcPr>
                </a:tc>
                <a:tc>
                  <a:txBody>
                    <a:bodyPr/>
                    <a:lstStyle/>
                    <a:p>
                      <a:pPr algn="r" fontAlgn="t"/>
                      <a:r>
                        <a:rPr lang="en-US" sz="1400" u="none" strike="noStrike">
                          <a:effectLst/>
                        </a:rPr>
                        <a:t>1,402,910</a:t>
                      </a:r>
                      <a:endParaRPr lang="en-US" sz="1400" b="0" i="0" u="none" strike="noStrike">
                        <a:solidFill>
                          <a:srgbClr val="000000"/>
                        </a:solidFill>
                        <a:effectLst/>
                        <a:latin typeface="Arial" panose="020B0604020202020204" pitchFamily="34" charset="0"/>
                      </a:endParaRPr>
                    </a:p>
                  </a:txBody>
                  <a:tcPr marL="4550" marR="4550" marT="4550" marB="0" anchor="ctr">
                    <a:solidFill>
                      <a:srgbClr val="DBFEFF"/>
                    </a:solidFill>
                  </a:tcPr>
                </a:tc>
                <a:tc>
                  <a:txBody>
                    <a:bodyPr/>
                    <a:lstStyle/>
                    <a:p>
                      <a:pPr algn="ctr" fontAlgn="t"/>
                      <a:r>
                        <a:rPr lang="en-US" sz="1400" u="none" strike="noStrike" dirty="0">
                          <a:effectLst/>
                        </a:rPr>
                        <a:t>15</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DBFEFF"/>
                    </a:solidFill>
                  </a:tcPr>
                </a:tc>
                <a:tc>
                  <a:txBody>
                    <a:bodyPr/>
                    <a:lstStyle/>
                    <a:p>
                      <a:pPr algn="r" fontAlgn="t"/>
                      <a:r>
                        <a:rPr lang="en-US" sz="1400" u="none" strike="noStrike">
                          <a:effectLst/>
                        </a:rPr>
                        <a:t>93,527</a:t>
                      </a:r>
                      <a:endParaRPr lang="en-US" sz="1400" b="0" i="0" u="none" strike="noStrike">
                        <a:solidFill>
                          <a:srgbClr val="000000"/>
                        </a:solidFill>
                        <a:effectLst/>
                        <a:latin typeface="Arial" panose="020B0604020202020204" pitchFamily="34" charset="0"/>
                      </a:endParaRPr>
                    </a:p>
                  </a:txBody>
                  <a:tcPr marL="4550" marR="4550" marT="4550" marB="0" anchor="ctr">
                    <a:solidFill>
                      <a:srgbClr val="DBFEFF"/>
                    </a:solidFill>
                  </a:tcPr>
                </a:tc>
                <a:tc>
                  <a:txBody>
                    <a:bodyPr/>
                    <a:lstStyle/>
                    <a:p>
                      <a:pPr algn="ct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DBFEFF"/>
                    </a:solidFill>
                  </a:tcPr>
                </a:tc>
                <a:tc>
                  <a:txBody>
                    <a:bodyPr/>
                    <a:lstStyle/>
                    <a:p>
                      <a:pPr algn="ctr" fontAlgn="t"/>
                      <a:r>
                        <a:rPr lang="en-US" sz="1400" u="none" strike="noStrike">
                          <a:effectLst/>
                        </a:rPr>
                        <a:t> </a:t>
                      </a:r>
                      <a:endParaRPr lang="en-US" sz="1400" b="0" i="0" u="none" strike="noStrike">
                        <a:solidFill>
                          <a:srgbClr val="000000"/>
                        </a:solidFill>
                        <a:effectLst/>
                        <a:latin typeface="Arial" panose="020B0604020202020204" pitchFamily="34" charset="0"/>
                      </a:endParaRPr>
                    </a:p>
                  </a:txBody>
                  <a:tcPr marL="4550" marR="4550" marT="4550" marB="0" anchor="ctr">
                    <a:solidFill>
                      <a:srgbClr val="DBFEFF"/>
                    </a:solidFill>
                  </a:tcPr>
                </a:tc>
                <a:extLst>
                  <a:ext uri="{0D108BD9-81ED-4DB2-BD59-A6C34878D82A}">
                    <a16:rowId xmlns:a16="http://schemas.microsoft.com/office/drawing/2014/main" val="2758193730"/>
                  </a:ext>
                </a:extLst>
              </a:tr>
              <a:tr h="211946">
                <a:tc vMerge="1">
                  <a:txBody>
                    <a:bodyPr/>
                    <a:lstStyle/>
                    <a:p>
                      <a:endParaRPr lang="en-US"/>
                    </a:p>
                  </a:txBody>
                  <a:tcPr/>
                </a:tc>
                <a:tc>
                  <a:txBody>
                    <a:bodyPr/>
                    <a:lstStyle/>
                    <a:p>
                      <a:pPr algn="l" fontAlgn="t"/>
                      <a:r>
                        <a:rPr lang="en-US" sz="1400" u="none" strike="noStrike">
                          <a:effectLst/>
                        </a:rPr>
                        <a:t>Total</a:t>
                      </a:r>
                      <a:endParaRPr lang="en-US" sz="1400" b="0" i="0" u="none" strike="noStrike">
                        <a:solidFill>
                          <a:srgbClr val="000000"/>
                        </a:solidFill>
                        <a:effectLst/>
                        <a:latin typeface="Arial" panose="020B0604020202020204" pitchFamily="34" charset="0"/>
                      </a:endParaRPr>
                    </a:p>
                  </a:txBody>
                  <a:tcPr marL="4550" marR="4550" marT="4550" marB="0" anchor="ctr">
                    <a:solidFill>
                      <a:srgbClr val="DBFEFF"/>
                    </a:solidFill>
                  </a:tcPr>
                </a:tc>
                <a:tc>
                  <a:txBody>
                    <a:bodyPr/>
                    <a:lstStyle/>
                    <a:p>
                      <a:pPr algn="r" fontAlgn="t"/>
                      <a:r>
                        <a:rPr lang="en-US" sz="1400" u="none" strike="noStrike">
                          <a:effectLst/>
                        </a:rPr>
                        <a:t>56,190,394</a:t>
                      </a:r>
                      <a:endParaRPr lang="en-US" sz="1400" b="0" i="0" u="none" strike="noStrike">
                        <a:solidFill>
                          <a:srgbClr val="000000"/>
                        </a:solidFill>
                        <a:effectLst/>
                        <a:latin typeface="Arial" panose="020B0604020202020204" pitchFamily="34" charset="0"/>
                      </a:endParaRPr>
                    </a:p>
                  </a:txBody>
                  <a:tcPr marL="4550" marR="4550" marT="4550" marB="0" anchor="ctr">
                    <a:solidFill>
                      <a:srgbClr val="DBFEFF"/>
                    </a:solidFill>
                  </a:tcPr>
                </a:tc>
                <a:tc>
                  <a:txBody>
                    <a:bodyPr/>
                    <a:lstStyle/>
                    <a:p>
                      <a:pPr algn="ctr" fontAlgn="t"/>
                      <a:r>
                        <a:rPr lang="en-US" sz="1400" u="none" strike="noStrike" dirty="0">
                          <a:effectLst/>
                        </a:rPr>
                        <a:t>19</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DBFEFF"/>
                    </a:solidFill>
                  </a:tcPr>
                </a:tc>
                <a:tc>
                  <a:txBody>
                    <a:bodyPr/>
                    <a:lstStyle/>
                    <a:p>
                      <a:pPr algn="l"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DBFEFF"/>
                    </a:solidFill>
                  </a:tcPr>
                </a:tc>
                <a:tc>
                  <a:txBody>
                    <a:bodyPr/>
                    <a:lstStyle/>
                    <a:p>
                      <a:pPr algn="ct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DBFEFF"/>
                    </a:solidFill>
                  </a:tcPr>
                </a:tc>
                <a:tc>
                  <a:txBody>
                    <a:bodyPr/>
                    <a:lstStyle/>
                    <a:p>
                      <a:pPr algn="ct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DBFEFF"/>
                    </a:solidFill>
                  </a:tcPr>
                </a:tc>
                <a:extLst>
                  <a:ext uri="{0D108BD9-81ED-4DB2-BD59-A6C34878D82A}">
                    <a16:rowId xmlns:a16="http://schemas.microsoft.com/office/drawing/2014/main" val="2734677470"/>
                  </a:ext>
                </a:extLst>
              </a:tr>
              <a:tr h="253670">
                <a:tc rowSpan="3">
                  <a:txBody>
                    <a:bodyPr/>
                    <a:lstStyle/>
                    <a:p>
                      <a:pPr algn="ctr" fontAlgn="t"/>
                      <a:r>
                        <a:rPr lang="en-US" sz="1400" u="none" strike="noStrike" dirty="0">
                          <a:effectLst/>
                        </a:rPr>
                        <a:t>5</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EDCFC"/>
                    </a:solidFill>
                  </a:tcPr>
                </a:tc>
                <a:tc>
                  <a:txBody>
                    <a:bodyPr/>
                    <a:lstStyle/>
                    <a:p>
                      <a:pPr algn="l" fontAlgn="t"/>
                      <a:r>
                        <a:rPr lang="en-US" sz="1400" u="none" strike="noStrike" dirty="0">
                          <a:effectLst/>
                        </a:rPr>
                        <a:t>Regression</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EDCFC"/>
                    </a:solidFill>
                  </a:tcPr>
                </a:tc>
                <a:tc>
                  <a:txBody>
                    <a:bodyPr/>
                    <a:lstStyle/>
                    <a:p>
                      <a:pPr algn="r" fontAlgn="t"/>
                      <a:r>
                        <a:rPr lang="en-US" sz="1400" u="none" strike="noStrike" dirty="0">
                          <a:effectLst/>
                        </a:rPr>
                        <a:t>54,773,082</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EDCFC"/>
                    </a:solidFill>
                  </a:tcPr>
                </a:tc>
                <a:tc>
                  <a:txBody>
                    <a:bodyPr/>
                    <a:lstStyle/>
                    <a:p>
                      <a:pPr algn="ctr" fontAlgn="t"/>
                      <a:r>
                        <a:rPr lang="en-US" sz="1400" u="none" strike="noStrike" dirty="0">
                          <a:effectLst/>
                        </a:rPr>
                        <a:t>3</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EDCFC"/>
                    </a:solidFill>
                  </a:tcPr>
                </a:tc>
                <a:tc>
                  <a:txBody>
                    <a:bodyPr/>
                    <a:lstStyle/>
                    <a:p>
                      <a:pPr algn="r" fontAlgn="t"/>
                      <a:r>
                        <a:rPr lang="en-US" sz="1400" u="none" strike="noStrike" dirty="0">
                          <a:effectLst/>
                        </a:rPr>
                        <a:t>18,257,694</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EDCFC"/>
                    </a:solidFill>
                  </a:tcPr>
                </a:tc>
                <a:tc>
                  <a:txBody>
                    <a:bodyPr/>
                    <a:lstStyle/>
                    <a:p>
                      <a:pPr algn="ctr" fontAlgn="t"/>
                      <a:r>
                        <a:rPr lang="en-US" sz="1400" u="none" strike="noStrike" dirty="0">
                          <a:effectLst/>
                        </a:rPr>
                        <a:t>206.111</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EDCFC"/>
                    </a:solidFill>
                  </a:tcPr>
                </a:tc>
                <a:tc>
                  <a:txBody>
                    <a:bodyPr/>
                    <a:lstStyle/>
                    <a:p>
                      <a:pPr algn="ctr" fontAlgn="t"/>
                      <a:r>
                        <a:rPr lang="en-US" sz="1400" u="none" strike="noStrike" dirty="0">
                          <a:effectLst/>
                        </a:rPr>
                        <a:t>.000</a:t>
                      </a:r>
                      <a:r>
                        <a:rPr lang="en-US" sz="1400" u="none" strike="noStrike" baseline="30000" dirty="0">
                          <a:effectLst/>
                        </a:rPr>
                        <a:t>f</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EDCFC"/>
                    </a:solidFill>
                  </a:tcPr>
                </a:tc>
                <a:extLst>
                  <a:ext uri="{0D108BD9-81ED-4DB2-BD59-A6C34878D82A}">
                    <a16:rowId xmlns:a16="http://schemas.microsoft.com/office/drawing/2014/main" val="2597877844"/>
                  </a:ext>
                </a:extLst>
              </a:tr>
              <a:tr h="211946">
                <a:tc vMerge="1">
                  <a:txBody>
                    <a:bodyPr/>
                    <a:lstStyle/>
                    <a:p>
                      <a:endParaRPr lang="en-US"/>
                    </a:p>
                  </a:txBody>
                  <a:tcPr/>
                </a:tc>
                <a:tc>
                  <a:txBody>
                    <a:bodyPr/>
                    <a:lstStyle/>
                    <a:p>
                      <a:pPr algn="l" fontAlgn="t"/>
                      <a:r>
                        <a:rPr lang="en-US" sz="1400" u="none" strike="noStrike">
                          <a:effectLst/>
                        </a:rPr>
                        <a:t>Residual</a:t>
                      </a:r>
                      <a:endParaRPr lang="en-US" sz="1400" b="0" i="0" u="none" strike="noStrike">
                        <a:solidFill>
                          <a:srgbClr val="000000"/>
                        </a:solidFill>
                        <a:effectLst/>
                        <a:latin typeface="Arial" panose="020B0604020202020204" pitchFamily="34" charset="0"/>
                      </a:endParaRPr>
                    </a:p>
                  </a:txBody>
                  <a:tcPr marL="4550" marR="4550" marT="4550" marB="0" anchor="ctr">
                    <a:solidFill>
                      <a:srgbClr val="FEDCFC"/>
                    </a:solidFill>
                  </a:tcPr>
                </a:tc>
                <a:tc>
                  <a:txBody>
                    <a:bodyPr/>
                    <a:lstStyle/>
                    <a:p>
                      <a:pPr algn="r" fontAlgn="t"/>
                      <a:r>
                        <a:rPr lang="en-US" sz="1400" u="none" strike="noStrike" dirty="0">
                          <a:effectLst/>
                        </a:rPr>
                        <a:t>1,417,312</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EDCFC"/>
                    </a:solidFill>
                  </a:tcPr>
                </a:tc>
                <a:tc>
                  <a:txBody>
                    <a:bodyPr/>
                    <a:lstStyle/>
                    <a:p>
                      <a:pPr algn="ctr" fontAlgn="t"/>
                      <a:r>
                        <a:rPr lang="en-US" sz="1400" u="none" strike="noStrike" dirty="0">
                          <a:effectLst/>
                        </a:rPr>
                        <a:t>16</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EDCFC"/>
                    </a:solidFill>
                  </a:tcPr>
                </a:tc>
                <a:tc>
                  <a:txBody>
                    <a:bodyPr/>
                    <a:lstStyle/>
                    <a:p>
                      <a:pPr algn="r" fontAlgn="t"/>
                      <a:r>
                        <a:rPr lang="en-US" sz="1400" u="none" strike="noStrike" dirty="0">
                          <a:effectLst/>
                        </a:rPr>
                        <a:t>88,582</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EDCFC"/>
                    </a:solidFill>
                  </a:tcPr>
                </a:tc>
                <a:tc>
                  <a:txBody>
                    <a:bodyPr/>
                    <a:lstStyle/>
                    <a:p>
                      <a:pPr algn="l"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EDCFC"/>
                    </a:solidFill>
                  </a:tcPr>
                </a:tc>
                <a:tc>
                  <a:txBody>
                    <a:bodyPr/>
                    <a:lstStyle/>
                    <a:p>
                      <a:pPr algn="l" fontAlgn="t"/>
                      <a:r>
                        <a:rPr lang="en-US" sz="1400" u="none" strike="noStrike">
                          <a:effectLst/>
                        </a:rPr>
                        <a:t> </a:t>
                      </a:r>
                      <a:endParaRPr lang="en-US" sz="1400" b="0" i="0" u="none" strike="noStrike">
                        <a:solidFill>
                          <a:srgbClr val="000000"/>
                        </a:solidFill>
                        <a:effectLst/>
                        <a:latin typeface="Arial" panose="020B0604020202020204" pitchFamily="34" charset="0"/>
                      </a:endParaRPr>
                    </a:p>
                  </a:txBody>
                  <a:tcPr marL="4550" marR="4550" marT="4550" marB="0" anchor="ctr">
                    <a:solidFill>
                      <a:srgbClr val="FEDCFC"/>
                    </a:solidFill>
                  </a:tcPr>
                </a:tc>
                <a:extLst>
                  <a:ext uri="{0D108BD9-81ED-4DB2-BD59-A6C34878D82A}">
                    <a16:rowId xmlns:a16="http://schemas.microsoft.com/office/drawing/2014/main" val="1777592623"/>
                  </a:ext>
                </a:extLst>
              </a:tr>
              <a:tr h="211946">
                <a:tc vMerge="1">
                  <a:txBody>
                    <a:bodyPr/>
                    <a:lstStyle/>
                    <a:p>
                      <a:endParaRPr lang="en-US"/>
                    </a:p>
                  </a:txBody>
                  <a:tcPr/>
                </a:tc>
                <a:tc>
                  <a:txBody>
                    <a:bodyPr/>
                    <a:lstStyle/>
                    <a:p>
                      <a:pPr algn="l" fontAlgn="t"/>
                      <a:r>
                        <a:rPr lang="en-US" sz="1400" u="none" strike="noStrike">
                          <a:effectLst/>
                        </a:rPr>
                        <a:t>Total</a:t>
                      </a:r>
                      <a:endParaRPr lang="en-US" sz="1400" b="0" i="0" u="none" strike="noStrike">
                        <a:solidFill>
                          <a:srgbClr val="000000"/>
                        </a:solidFill>
                        <a:effectLst/>
                        <a:latin typeface="Arial" panose="020B0604020202020204" pitchFamily="34" charset="0"/>
                      </a:endParaRPr>
                    </a:p>
                  </a:txBody>
                  <a:tcPr marL="4550" marR="4550" marT="4550" marB="0" anchor="ctr">
                    <a:solidFill>
                      <a:srgbClr val="FEDCFC"/>
                    </a:solidFill>
                  </a:tcPr>
                </a:tc>
                <a:tc>
                  <a:txBody>
                    <a:bodyPr/>
                    <a:lstStyle/>
                    <a:p>
                      <a:pPr algn="r" fontAlgn="t"/>
                      <a:r>
                        <a:rPr lang="en-US" sz="1400" u="none" strike="noStrike" dirty="0">
                          <a:effectLst/>
                        </a:rPr>
                        <a:t>56,190,394</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EDCFC"/>
                    </a:solidFill>
                  </a:tcPr>
                </a:tc>
                <a:tc>
                  <a:txBody>
                    <a:bodyPr/>
                    <a:lstStyle/>
                    <a:p>
                      <a:pPr algn="ctr" fontAlgn="t"/>
                      <a:r>
                        <a:rPr lang="en-US" sz="1400" u="none" strike="noStrike" dirty="0">
                          <a:effectLst/>
                        </a:rPr>
                        <a:t>19</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EDCFC"/>
                    </a:solidFill>
                  </a:tcPr>
                </a:tc>
                <a:tc>
                  <a:txBody>
                    <a:bodyPr/>
                    <a:lstStyle/>
                    <a:p>
                      <a:pPr algn="l"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EDCFC"/>
                    </a:solidFill>
                  </a:tcPr>
                </a:tc>
                <a:tc>
                  <a:txBody>
                    <a:bodyPr/>
                    <a:lstStyle/>
                    <a:p>
                      <a:pPr algn="l"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EDCFC"/>
                    </a:solidFill>
                  </a:tcPr>
                </a:tc>
                <a:tc>
                  <a:txBody>
                    <a:bodyPr/>
                    <a:lstStyle/>
                    <a:p>
                      <a:pPr algn="l"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4550" marR="4550" marT="4550" marB="0" anchor="ctr">
                    <a:solidFill>
                      <a:srgbClr val="FEDCFC"/>
                    </a:solidFill>
                  </a:tcPr>
                </a:tc>
                <a:extLst>
                  <a:ext uri="{0D108BD9-81ED-4DB2-BD59-A6C34878D82A}">
                    <a16:rowId xmlns:a16="http://schemas.microsoft.com/office/drawing/2014/main" val="2816363385"/>
                  </a:ext>
                </a:extLst>
              </a:tr>
              <a:tr h="211946">
                <a:tc gridSpan="7">
                  <a:txBody>
                    <a:bodyPr/>
                    <a:lstStyle/>
                    <a:p>
                      <a:pPr algn="l" fontAlgn="t"/>
                      <a:r>
                        <a:rPr lang="en-US" sz="1400" u="none" strike="noStrike" dirty="0">
                          <a:effectLst/>
                        </a:rPr>
                        <a:t>a. Dependent Variable: PBT</a:t>
                      </a:r>
                      <a:endParaRPr lang="en-US" sz="1400" b="0" i="0" u="none" strike="noStrike" dirty="0">
                        <a:solidFill>
                          <a:srgbClr val="000000"/>
                        </a:solidFill>
                        <a:effectLst/>
                        <a:latin typeface="Arial" panose="020B0604020202020204" pitchFamily="34" charset="0"/>
                      </a:endParaRPr>
                    </a:p>
                  </a:txBody>
                  <a:tcPr marL="4550" marR="4550" marT="45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06442263"/>
                  </a:ext>
                </a:extLst>
              </a:tr>
              <a:tr h="211946">
                <a:tc gridSpan="7">
                  <a:txBody>
                    <a:bodyPr/>
                    <a:lstStyle/>
                    <a:p>
                      <a:pPr algn="l" fontAlgn="t"/>
                      <a:r>
                        <a:rPr lang="en-US" sz="1400" u="none" strike="noStrike" dirty="0">
                          <a:effectLst/>
                        </a:rPr>
                        <a:t>b. Predictors: (Constant), T2</a:t>
                      </a:r>
                      <a:endParaRPr lang="en-US" sz="1400" b="0" i="0" u="none" strike="noStrike" dirty="0">
                        <a:solidFill>
                          <a:srgbClr val="000000"/>
                        </a:solidFill>
                        <a:effectLst/>
                        <a:latin typeface="Arial" panose="020B0604020202020204" pitchFamily="34" charset="0"/>
                      </a:endParaRPr>
                    </a:p>
                  </a:txBody>
                  <a:tcPr marL="4550" marR="4550" marT="45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84814497"/>
                  </a:ext>
                </a:extLst>
              </a:tr>
              <a:tr h="211946">
                <a:tc gridSpan="7">
                  <a:txBody>
                    <a:bodyPr/>
                    <a:lstStyle/>
                    <a:p>
                      <a:pPr algn="l" fontAlgn="t"/>
                      <a:r>
                        <a:rPr lang="fr-FR" sz="1400" u="none" strike="noStrike" dirty="0">
                          <a:effectLst/>
                        </a:rPr>
                        <a:t>c. </a:t>
                      </a:r>
                      <a:r>
                        <a:rPr lang="fr-FR" sz="1400" u="none" strike="noStrike" dirty="0" err="1">
                          <a:effectLst/>
                        </a:rPr>
                        <a:t>Predictors</a:t>
                      </a:r>
                      <a:r>
                        <a:rPr lang="fr-FR" sz="1400" u="none" strike="noStrike" dirty="0">
                          <a:effectLst/>
                        </a:rPr>
                        <a:t>: (Constant), T2, OTINC</a:t>
                      </a:r>
                      <a:endParaRPr lang="fr-FR" sz="1400" b="0" i="0" u="none" strike="noStrike" dirty="0">
                        <a:solidFill>
                          <a:srgbClr val="000000"/>
                        </a:solidFill>
                        <a:effectLst/>
                        <a:latin typeface="Arial" panose="020B0604020202020204" pitchFamily="34" charset="0"/>
                      </a:endParaRPr>
                    </a:p>
                  </a:txBody>
                  <a:tcPr marL="4550" marR="4550" marT="45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31154205"/>
                  </a:ext>
                </a:extLst>
              </a:tr>
              <a:tr h="211946">
                <a:tc gridSpan="7">
                  <a:txBody>
                    <a:bodyPr/>
                    <a:lstStyle/>
                    <a:p>
                      <a:pPr algn="l" fontAlgn="t"/>
                      <a:r>
                        <a:rPr lang="en-US" sz="1400" u="none" strike="noStrike" dirty="0">
                          <a:effectLst/>
                        </a:rPr>
                        <a:t>d. Predictors: (Constant), T2, OTINC, MATERIAL</a:t>
                      </a:r>
                      <a:endParaRPr lang="en-US" sz="1400" b="0" i="0" u="none" strike="noStrike" dirty="0">
                        <a:solidFill>
                          <a:srgbClr val="000000"/>
                        </a:solidFill>
                        <a:effectLst/>
                        <a:latin typeface="Arial" panose="020B0604020202020204" pitchFamily="34" charset="0"/>
                      </a:endParaRPr>
                    </a:p>
                  </a:txBody>
                  <a:tcPr marL="4550" marR="4550" marT="45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95189270"/>
                  </a:ext>
                </a:extLst>
              </a:tr>
              <a:tr h="211946">
                <a:tc gridSpan="7">
                  <a:txBody>
                    <a:bodyPr/>
                    <a:lstStyle/>
                    <a:p>
                      <a:pPr algn="l" fontAlgn="t"/>
                      <a:r>
                        <a:rPr lang="en-US" sz="1400" u="none" strike="noStrike" dirty="0">
                          <a:effectLst/>
                        </a:rPr>
                        <a:t>e. Predictors: (Constant), T2, OTINC, MATERIAL, SALES</a:t>
                      </a:r>
                      <a:endParaRPr lang="en-US" sz="1400" b="0" i="0" u="none" strike="noStrike" dirty="0">
                        <a:solidFill>
                          <a:srgbClr val="000000"/>
                        </a:solidFill>
                        <a:effectLst/>
                        <a:latin typeface="Arial" panose="020B0604020202020204" pitchFamily="34" charset="0"/>
                      </a:endParaRPr>
                    </a:p>
                  </a:txBody>
                  <a:tcPr marL="4550" marR="4550" marT="45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01368933"/>
                  </a:ext>
                </a:extLst>
              </a:tr>
              <a:tr h="211946">
                <a:tc gridSpan="7">
                  <a:txBody>
                    <a:bodyPr/>
                    <a:lstStyle/>
                    <a:p>
                      <a:pPr algn="l" fontAlgn="t"/>
                      <a:r>
                        <a:rPr lang="en-US" sz="1400" u="none" strike="noStrike" dirty="0">
                          <a:effectLst/>
                        </a:rPr>
                        <a:t>f. Predictors: (Constant), T2, MATERIAL, SALES</a:t>
                      </a:r>
                      <a:endParaRPr lang="en-US" sz="1400" b="0" i="0" u="none" strike="noStrike" dirty="0">
                        <a:solidFill>
                          <a:srgbClr val="000000"/>
                        </a:solidFill>
                        <a:effectLst/>
                        <a:latin typeface="Arial" panose="020B0604020202020204" pitchFamily="34" charset="0"/>
                      </a:endParaRPr>
                    </a:p>
                  </a:txBody>
                  <a:tcPr marL="4550" marR="4550" marT="45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88133897"/>
                  </a:ext>
                </a:extLst>
              </a:tr>
            </a:tbl>
          </a:graphicData>
        </a:graphic>
      </p:graphicFrame>
    </p:spTree>
    <p:extLst>
      <p:ext uri="{BB962C8B-B14F-4D97-AF65-F5344CB8AC3E}">
        <p14:creationId xmlns:p14="http://schemas.microsoft.com/office/powerpoint/2010/main" val="39764736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0CBEB-2972-4C80-B670-928FCA9BB437}"/>
              </a:ext>
            </a:extLst>
          </p:cNvPr>
          <p:cNvSpPr>
            <a:spLocks noGrp="1"/>
          </p:cNvSpPr>
          <p:nvPr>
            <p:ph type="title"/>
          </p:nvPr>
        </p:nvSpPr>
        <p:spPr>
          <a:xfrm>
            <a:off x="609600" y="304800"/>
            <a:ext cx="6347714" cy="762000"/>
          </a:xfrm>
        </p:spPr>
        <p:txBody>
          <a:bodyPr/>
          <a:lstStyle/>
          <a:p>
            <a:r>
              <a:rPr lang="en-US" dirty="0"/>
              <a:t>Stepwise Selection</a:t>
            </a:r>
          </a:p>
        </p:txBody>
      </p:sp>
      <p:graphicFrame>
        <p:nvGraphicFramePr>
          <p:cNvPr id="3" name="Table 2">
            <a:extLst>
              <a:ext uri="{FF2B5EF4-FFF2-40B4-BE49-F238E27FC236}">
                <a16:creationId xmlns:a16="http://schemas.microsoft.com/office/drawing/2014/main" id="{177057C9-2D18-4027-8E35-F9FC5A3BE29D}"/>
              </a:ext>
            </a:extLst>
          </p:cNvPr>
          <p:cNvGraphicFramePr>
            <a:graphicFrameLocks noGrp="1"/>
          </p:cNvGraphicFramePr>
          <p:nvPr>
            <p:extLst>
              <p:ext uri="{D42A27DB-BD31-4B8C-83A1-F6EECF244321}">
                <p14:modId xmlns:p14="http://schemas.microsoft.com/office/powerpoint/2010/main" val="454995485"/>
              </p:ext>
            </p:extLst>
          </p:nvPr>
        </p:nvGraphicFramePr>
        <p:xfrm>
          <a:off x="1143000" y="1064559"/>
          <a:ext cx="6934203" cy="5481817"/>
        </p:xfrm>
        <a:graphic>
          <a:graphicData uri="http://schemas.openxmlformats.org/drawingml/2006/table">
            <a:tbl>
              <a:tblPr>
                <a:tableStyleId>{5C22544A-7EE6-4342-B048-85BDC9FD1C3A}</a:tableStyleId>
              </a:tblPr>
              <a:tblGrid>
                <a:gridCol w="664029">
                  <a:extLst>
                    <a:ext uri="{9D8B030D-6E8A-4147-A177-3AD203B41FA5}">
                      <a16:colId xmlns:a16="http://schemas.microsoft.com/office/drawing/2014/main" val="2133034673"/>
                    </a:ext>
                  </a:extLst>
                </a:gridCol>
                <a:gridCol w="1045029">
                  <a:extLst>
                    <a:ext uri="{9D8B030D-6E8A-4147-A177-3AD203B41FA5}">
                      <a16:colId xmlns:a16="http://schemas.microsoft.com/office/drawing/2014/main" val="3210791162"/>
                    </a:ext>
                  </a:extLst>
                </a:gridCol>
                <a:gridCol w="1045029">
                  <a:extLst>
                    <a:ext uri="{9D8B030D-6E8A-4147-A177-3AD203B41FA5}">
                      <a16:colId xmlns:a16="http://schemas.microsoft.com/office/drawing/2014/main" val="1270076653"/>
                    </a:ext>
                  </a:extLst>
                </a:gridCol>
                <a:gridCol w="1045029">
                  <a:extLst>
                    <a:ext uri="{9D8B030D-6E8A-4147-A177-3AD203B41FA5}">
                      <a16:colId xmlns:a16="http://schemas.microsoft.com/office/drawing/2014/main" val="3140433228"/>
                    </a:ext>
                  </a:extLst>
                </a:gridCol>
                <a:gridCol w="1230084">
                  <a:extLst>
                    <a:ext uri="{9D8B030D-6E8A-4147-A177-3AD203B41FA5}">
                      <a16:colId xmlns:a16="http://schemas.microsoft.com/office/drawing/2014/main" val="3769853537"/>
                    </a:ext>
                  </a:extLst>
                </a:gridCol>
                <a:gridCol w="859974">
                  <a:extLst>
                    <a:ext uri="{9D8B030D-6E8A-4147-A177-3AD203B41FA5}">
                      <a16:colId xmlns:a16="http://schemas.microsoft.com/office/drawing/2014/main" val="3132483073"/>
                    </a:ext>
                  </a:extLst>
                </a:gridCol>
                <a:gridCol w="1045029">
                  <a:extLst>
                    <a:ext uri="{9D8B030D-6E8A-4147-A177-3AD203B41FA5}">
                      <a16:colId xmlns:a16="http://schemas.microsoft.com/office/drawing/2014/main" val="1665974345"/>
                    </a:ext>
                  </a:extLst>
                </a:gridCol>
              </a:tblGrid>
              <a:tr h="171692">
                <a:tc gridSpan="7">
                  <a:txBody>
                    <a:bodyPr/>
                    <a:lstStyle/>
                    <a:p>
                      <a:pPr algn="ctr" fontAlgn="ctr"/>
                      <a:r>
                        <a:rPr lang="en-US" sz="1400" u="none" strike="noStrike" dirty="0" err="1">
                          <a:effectLst/>
                        </a:rPr>
                        <a:t>Coefficients</a:t>
                      </a:r>
                      <a:r>
                        <a:rPr lang="en-US" sz="1400" u="none" strike="noStrike" baseline="30000" dirty="0" err="1">
                          <a:effectLst/>
                        </a:rPr>
                        <a:t>a</a:t>
                      </a:r>
                      <a:endParaRPr lang="en-US" sz="1400" b="1" i="0" u="none" strike="noStrike" dirty="0">
                        <a:solidFill>
                          <a:srgbClr val="000000"/>
                        </a:solidFill>
                        <a:effectLst/>
                        <a:latin typeface="Arial Bold" panose="020B0704020202020204" pitchFamily="34" charset="0"/>
                      </a:endParaRPr>
                    </a:p>
                  </a:txBody>
                  <a:tcPr marL="4386" marR="4386" marT="4386"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91030613"/>
                  </a:ext>
                </a:extLst>
              </a:tr>
              <a:tr h="321226">
                <a:tc rowSpan="2" gridSpan="2">
                  <a:txBody>
                    <a:bodyPr/>
                    <a:lstStyle/>
                    <a:p>
                      <a:pPr algn="l" fontAlgn="b"/>
                      <a:r>
                        <a:rPr lang="en-US" sz="1400" u="none" strike="noStrike" dirty="0">
                          <a:effectLst/>
                        </a:rPr>
                        <a:t>Model</a:t>
                      </a:r>
                      <a:endParaRPr lang="en-US" sz="1400" b="0" i="0" u="none" strike="noStrike" dirty="0">
                        <a:solidFill>
                          <a:srgbClr val="000000"/>
                        </a:solidFill>
                        <a:effectLst/>
                        <a:latin typeface="Arial" panose="020B0604020202020204" pitchFamily="34" charset="0"/>
                      </a:endParaRPr>
                    </a:p>
                  </a:txBody>
                  <a:tcPr marL="4386" marR="4386" marT="4386" marB="0" anchor="ctr"/>
                </a:tc>
                <a:tc rowSpan="2" hMerge="1">
                  <a:txBody>
                    <a:bodyPr/>
                    <a:lstStyle/>
                    <a:p>
                      <a:endParaRPr lang="en-US"/>
                    </a:p>
                  </a:txBody>
                  <a:tcPr/>
                </a:tc>
                <a:tc gridSpan="2">
                  <a:txBody>
                    <a:bodyPr/>
                    <a:lstStyle/>
                    <a:p>
                      <a:pPr algn="ctr" fontAlgn="b"/>
                      <a:r>
                        <a:rPr lang="en-US" sz="1400" u="none" strike="noStrike">
                          <a:effectLst/>
                        </a:rPr>
                        <a:t>Unstandardized Coefficients</a:t>
                      </a:r>
                      <a:endParaRPr lang="en-US" sz="1400" b="0" i="0" u="none" strike="noStrike">
                        <a:solidFill>
                          <a:srgbClr val="000000"/>
                        </a:solidFill>
                        <a:effectLst/>
                        <a:latin typeface="Arial" panose="020B0604020202020204" pitchFamily="34" charset="0"/>
                      </a:endParaRPr>
                    </a:p>
                  </a:txBody>
                  <a:tcPr marL="4386" marR="4386" marT="4386" marB="0" anchor="ctr"/>
                </a:tc>
                <a:tc hMerge="1">
                  <a:txBody>
                    <a:bodyPr/>
                    <a:lstStyle/>
                    <a:p>
                      <a:endParaRPr lang="en-US"/>
                    </a:p>
                  </a:txBody>
                  <a:tcPr/>
                </a:tc>
                <a:tc>
                  <a:txBody>
                    <a:bodyPr/>
                    <a:lstStyle/>
                    <a:p>
                      <a:pPr algn="ctr" fontAlgn="b"/>
                      <a:r>
                        <a:rPr lang="en-US" sz="1400" u="none" strike="noStrike" dirty="0">
                          <a:effectLst/>
                        </a:rPr>
                        <a:t>Standardized Coefficients</a:t>
                      </a:r>
                      <a:endParaRPr lang="en-US" sz="1400" b="0" i="0" u="none" strike="noStrike" dirty="0">
                        <a:solidFill>
                          <a:srgbClr val="000000"/>
                        </a:solidFill>
                        <a:effectLst/>
                        <a:latin typeface="Arial" panose="020B0604020202020204" pitchFamily="34" charset="0"/>
                      </a:endParaRPr>
                    </a:p>
                  </a:txBody>
                  <a:tcPr marL="4386" marR="4386" marT="4386" marB="0" anchor="ctr"/>
                </a:tc>
                <a:tc rowSpan="2">
                  <a:txBody>
                    <a:bodyPr/>
                    <a:lstStyle/>
                    <a:p>
                      <a:pPr algn="ctr" fontAlgn="b"/>
                      <a:r>
                        <a:rPr lang="en-US" sz="1400" u="none" strike="noStrike" dirty="0">
                          <a:effectLst/>
                        </a:rPr>
                        <a:t>t</a:t>
                      </a:r>
                      <a:endParaRPr lang="en-US" sz="1400" b="0" i="0" u="none" strike="noStrike" dirty="0">
                        <a:solidFill>
                          <a:srgbClr val="000000"/>
                        </a:solidFill>
                        <a:effectLst/>
                        <a:latin typeface="Arial" panose="020B0604020202020204" pitchFamily="34" charset="0"/>
                      </a:endParaRPr>
                    </a:p>
                  </a:txBody>
                  <a:tcPr marL="4386" marR="4386" marT="4386" marB="0" anchor="ctr"/>
                </a:tc>
                <a:tc rowSpan="2">
                  <a:txBody>
                    <a:bodyPr/>
                    <a:lstStyle/>
                    <a:p>
                      <a:pPr algn="ctr" fontAlgn="b"/>
                      <a:r>
                        <a:rPr lang="en-US" sz="1400" u="none" strike="noStrike">
                          <a:effectLst/>
                        </a:rPr>
                        <a:t>Sig.</a:t>
                      </a:r>
                      <a:endParaRPr lang="en-US" sz="1400" b="0" i="0" u="none" strike="noStrike">
                        <a:solidFill>
                          <a:srgbClr val="000000"/>
                        </a:solidFill>
                        <a:effectLst/>
                        <a:latin typeface="Arial" panose="020B0604020202020204" pitchFamily="34" charset="0"/>
                      </a:endParaRPr>
                    </a:p>
                  </a:txBody>
                  <a:tcPr marL="4386" marR="4386" marT="4386" marB="0" anchor="ctr"/>
                </a:tc>
                <a:extLst>
                  <a:ext uri="{0D108BD9-81ED-4DB2-BD59-A6C34878D82A}">
                    <a16:rowId xmlns:a16="http://schemas.microsoft.com/office/drawing/2014/main" val="4145483655"/>
                  </a:ext>
                </a:extLst>
              </a:tr>
              <a:tr h="274708">
                <a:tc gridSpan="2" vMerge="1">
                  <a:txBody>
                    <a:bodyPr/>
                    <a:lstStyle/>
                    <a:p>
                      <a:endParaRPr lang="en-US"/>
                    </a:p>
                  </a:txBody>
                  <a:tcPr/>
                </a:tc>
                <a:tc hMerge="1" vMerge="1">
                  <a:txBody>
                    <a:bodyPr/>
                    <a:lstStyle/>
                    <a:p>
                      <a:endParaRPr lang="en-US"/>
                    </a:p>
                  </a:txBody>
                  <a:tcPr/>
                </a:tc>
                <a:tc>
                  <a:txBody>
                    <a:bodyPr/>
                    <a:lstStyle/>
                    <a:p>
                      <a:pPr algn="ctr" fontAlgn="b"/>
                      <a:r>
                        <a:rPr lang="en-US" sz="1400" u="none" strike="noStrike">
                          <a:effectLst/>
                        </a:rPr>
                        <a:t>B</a:t>
                      </a:r>
                      <a:endParaRPr lang="en-US" sz="1400" b="0" i="0" u="none" strike="noStrike">
                        <a:solidFill>
                          <a:srgbClr val="000000"/>
                        </a:solidFill>
                        <a:effectLst/>
                        <a:latin typeface="Arial" panose="020B0604020202020204" pitchFamily="34" charset="0"/>
                      </a:endParaRPr>
                    </a:p>
                  </a:txBody>
                  <a:tcPr marL="4386" marR="4386" marT="4386" marB="0" anchor="ctr"/>
                </a:tc>
                <a:tc>
                  <a:txBody>
                    <a:bodyPr/>
                    <a:lstStyle/>
                    <a:p>
                      <a:pPr algn="ctr" fontAlgn="b"/>
                      <a:r>
                        <a:rPr lang="en-US" sz="1400" u="none" strike="noStrike">
                          <a:effectLst/>
                        </a:rPr>
                        <a:t>Std. Error</a:t>
                      </a:r>
                      <a:endParaRPr lang="en-US" sz="1400" b="0" i="0" u="none" strike="noStrike">
                        <a:solidFill>
                          <a:srgbClr val="000000"/>
                        </a:solidFill>
                        <a:effectLst/>
                        <a:latin typeface="Arial" panose="020B0604020202020204" pitchFamily="34" charset="0"/>
                      </a:endParaRPr>
                    </a:p>
                  </a:txBody>
                  <a:tcPr marL="4386" marR="4386" marT="4386" marB="0" anchor="ctr"/>
                </a:tc>
                <a:tc>
                  <a:txBody>
                    <a:bodyPr/>
                    <a:lstStyle/>
                    <a:p>
                      <a:pPr algn="ctr" fontAlgn="b"/>
                      <a:r>
                        <a:rPr lang="en-US" sz="1400" u="none" strike="noStrike">
                          <a:effectLst/>
                        </a:rPr>
                        <a:t>Beta</a:t>
                      </a:r>
                      <a:endParaRPr lang="en-US" sz="1400" b="0" i="0" u="none" strike="noStrike">
                        <a:solidFill>
                          <a:srgbClr val="000000"/>
                        </a:solidFill>
                        <a:effectLst/>
                        <a:latin typeface="Arial" panose="020B0604020202020204" pitchFamily="34" charset="0"/>
                      </a:endParaRPr>
                    </a:p>
                  </a:txBody>
                  <a:tcPr marL="4386" marR="4386" marT="4386" marB="0" anchor="ct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616993405"/>
                  </a:ext>
                </a:extLst>
              </a:tr>
              <a:tr h="268985">
                <a:tc rowSpan="2">
                  <a:txBody>
                    <a:bodyPr/>
                    <a:lstStyle/>
                    <a:p>
                      <a:pPr algn="ctr" fontAlgn="t"/>
                      <a:r>
                        <a:rPr lang="en-US" sz="1400" u="none" strike="noStrike" dirty="0">
                          <a:effectLst/>
                        </a:rPr>
                        <a:t>1</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1">
                        <a:lumMod val="20000"/>
                        <a:lumOff val="80000"/>
                      </a:schemeClr>
                    </a:solidFill>
                  </a:tcPr>
                </a:tc>
                <a:tc>
                  <a:txBody>
                    <a:bodyPr/>
                    <a:lstStyle/>
                    <a:p>
                      <a:pPr algn="l" fontAlgn="t"/>
                      <a:r>
                        <a:rPr lang="en-US" sz="1400" u="none" strike="noStrike" dirty="0">
                          <a:effectLst/>
                        </a:rPr>
                        <a:t>(Constant)</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1">
                        <a:lumMod val="20000"/>
                        <a:lumOff val="80000"/>
                      </a:schemeClr>
                    </a:solidFill>
                  </a:tcPr>
                </a:tc>
                <a:tc>
                  <a:txBody>
                    <a:bodyPr/>
                    <a:lstStyle/>
                    <a:p>
                      <a:pPr algn="r" fontAlgn="t"/>
                      <a:r>
                        <a:rPr lang="en-US" sz="1400" u="none" strike="noStrike" dirty="0">
                          <a:effectLst/>
                        </a:rPr>
                        <a:t>392.134</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1">
                        <a:lumMod val="20000"/>
                        <a:lumOff val="80000"/>
                      </a:schemeClr>
                    </a:solidFill>
                  </a:tcPr>
                </a:tc>
                <a:tc>
                  <a:txBody>
                    <a:bodyPr/>
                    <a:lstStyle/>
                    <a:p>
                      <a:pPr algn="r" fontAlgn="t"/>
                      <a:r>
                        <a:rPr lang="en-US" sz="1400" u="none" strike="noStrike">
                          <a:effectLst/>
                        </a:rPr>
                        <a:t>179.515</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1">
                        <a:lumMod val="20000"/>
                        <a:lumOff val="80000"/>
                      </a:schemeClr>
                    </a:solidFill>
                  </a:tcPr>
                </a:tc>
                <a:tc>
                  <a:txBody>
                    <a:bodyPr/>
                    <a:lstStyle/>
                    <a:p>
                      <a:pPr algn="l" fontAlgn="t"/>
                      <a:r>
                        <a:rPr lang="en-US" sz="1400" u="none" strike="noStrike">
                          <a:effectLst/>
                        </a:rPr>
                        <a:t> </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1">
                        <a:lumMod val="20000"/>
                        <a:lumOff val="80000"/>
                      </a:schemeClr>
                    </a:solidFill>
                  </a:tcPr>
                </a:tc>
                <a:tc>
                  <a:txBody>
                    <a:bodyPr/>
                    <a:lstStyle/>
                    <a:p>
                      <a:pPr algn="ctr" fontAlgn="t"/>
                      <a:r>
                        <a:rPr lang="en-US" sz="1400" u="none" strike="noStrike">
                          <a:effectLst/>
                        </a:rPr>
                        <a:t>2.184</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1">
                        <a:lumMod val="20000"/>
                        <a:lumOff val="80000"/>
                      </a:schemeClr>
                    </a:solidFill>
                  </a:tcPr>
                </a:tc>
                <a:tc>
                  <a:txBody>
                    <a:bodyPr/>
                    <a:lstStyle/>
                    <a:p>
                      <a:pPr algn="ctr" fontAlgn="t"/>
                      <a:r>
                        <a:rPr lang="en-US" sz="1400" u="none" strike="noStrike" dirty="0">
                          <a:effectLst/>
                        </a:rPr>
                        <a:t>.042</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1">
                        <a:lumMod val="20000"/>
                        <a:lumOff val="80000"/>
                      </a:schemeClr>
                    </a:solidFill>
                  </a:tcPr>
                </a:tc>
                <a:extLst>
                  <a:ext uri="{0D108BD9-81ED-4DB2-BD59-A6C34878D82A}">
                    <a16:rowId xmlns:a16="http://schemas.microsoft.com/office/drawing/2014/main" val="3997517002"/>
                  </a:ext>
                </a:extLst>
              </a:tr>
              <a:tr h="263261">
                <a:tc vMerge="1">
                  <a:txBody>
                    <a:bodyPr/>
                    <a:lstStyle/>
                    <a:p>
                      <a:endParaRPr lang="en-US"/>
                    </a:p>
                  </a:txBody>
                  <a:tcPr/>
                </a:tc>
                <a:tc>
                  <a:txBody>
                    <a:bodyPr/>
                    <a:lstStyle/>
                    <a:p>
                      <a:pPr algn="l" fontAlgn="t"/>
                      <a:r>
                        <a:rPr lang="en-US" sz="1400" u="none" strike="noStrike">
                          <a:effectLst/>
                        </a:rPr>
                        <a:t>T2</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1">
                        <a:lumMod val="20000"/>
                        <a:lumOff val="80000"/>
                      </a:schemeClr>
                    </a:solidFill>
                  </a:tcPr>
                </a:tc>
                <a:tc>
                  <a:txBody>
                    <a:bodyPr/>
                    <a:lstStyle/>
                    <a:p>
                      <a:pPr algn="r" fontAlgn="t"/>
                      <a:r>
                        <a:rPr lang="en-US" sz="1400" u="none" strike="noStrike">
                          <a:effectLst/>
                        </a:rPr>
                        <a:t>12.835</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1">
                        <a:lumMod val="20000"/>
                        <a:lumOff val="80000"/>
                      </a:schemeClr>
                    </a:solidFill>
                  </a:tcPr>
                </a:tc>
                <a:tc>
                  <a:txBody>
                    <a:bodyPr/>
                    <a:lstStyle/>
                    <a:p>
                      <a:pPr algn="r" fontAlgn="t"/>
                      <a:r>
                        <a:rPr lang="en-US" sz="1400" u="none" strike="noStrike" dirty="0">
                          <a:effectLst/>
                        </a:rPr>
                        <a:t>.944</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1">
                        <a:lumMod val="20000"/>
                        <a:lumOff val="80000"/>
                      </a:schemeClr>
                    </a:solidFill>
                  </a:tcPr>
                </a:tc>
                <a:tc>
                  <a:txBody>
                    <a:bodyPr/>
                    <a:lstStyle/>
                    <a:p>
                      <a:pPr algn="r" fontAlgn="t"/>
                      <a:r>
                        <a:rPr lang="en-US" sz="1400" u="none" strike="noStrike" dirty="0">
                          <a:effectLst/>
                        </a:rPr>
                        <a:t>.955</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1">
                        <a:lumMod val="20000"/>
                        <a:lumOff val="80000"/>
                      </a:schemeClr>
                    </a:solidFill>
                  </a:tcPr>
                </a:tc>
                <a:tc>
                  <a:txBody>
                    <a:bodyPr/>
                    <a:lstStyle/>
                    <a:p>
                      <a:pPr algn="ctr" fontAlgn="t"/>
                      <a:r>
                        <a:rPr lang="en-US" sz="1400" u="none" strike="noStrike" dirty="0">
                          <a:effectLst/>
                        </a:rPr>
                        <a:t>13.590</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1">
                        <a:lumMod val="20000"/>
                        <a:lumOff val="80000"/>
                      </a:schemeClr>
                    </a:solidFill>
                  </a:tcPr>
                </a:tc>
                <a:tc>
                  <a:txBody>
                    <a:bodyPr/>
                    <a:lstStyle/>
                    <a:p>
                      <a:pPr algn="ctr" fontAlgn="t"/>
                      <a:r>
                        <a:rPr lang="en-US" sz="1400" u="none" strike="noStrike" dirty="0">
                          <a:effectLst/>
                        </a:rPr>
                        <a:t>.000</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1">
                        <a:lumMod val="20000"/>
                        <a:lumOff val="80000"/>
                      </a:schemeClr>
                    </a:solidFill>
                  </a:tcPr>
                </a:tc>
                <a:extLst>
                  <a:ext uri="{0D108BD9-81ED-4DB2-BD59-A6C34878D82A}">
                    <a16:rowId xmlns:a16="http://schemas.microsoft.com/office/drawing/2014/main" val="4117439736"/>
                  </a:ext>
                </a:extLst>
              </a:tr>
              <a:tr h="263261">
                <a:tc rowSpan="3">
                  <a:txBody>
                    <a:bodyPr/>
                    <a:lstStyle/>
                    <a:p>
                      <a:pPr algn="ctr" fontAlgn="t"/>
                      <a:r>
                        <a:rPr lang="en-US" sz="1400" u="none" strike="noStrike" dirty="0">
                          <a:effectLst/>
                        </a:rPr>
                        <a:t>2</a:t>
                      </a:r>
                      <a:endParaRPr lang="en-US" sz="1400" b="0" i="0" u="none" strike="noStrike" dirty="0">
                        <a:solidFill>
                          <a:srgbClr val="000000"/>
                        </a:solidFill>
                        <a:effectLst/>
                        <a:latin typeface="Arial" panose="020B0604020202020204" pitchFamily="34" charset="0"/>
                      </a:endParaRPr>
                    </a:p>
                  </a:txBody>
                  <a:tcPr marL="4386" marR="4386" marT="4386" marB="0" anchor="ctr">
                    <a:solidFill>
                      <a:srgbClr val="CCFF99"/>
                    </a:solidFill>
                  </a:tcPr>
                </a:tc>
                <a:tc>
                  <a:txBody>
                    <a:bodyPr/>
                    <a:lstStyle/>
                    <a:p>
                      <a:pPr algn="l" fontAlgn="t"/>
                      <a:r>
                        <a:rPr lang="en-US" sz="1400" u="none" strike="noStrike" dirty="0">
                          <a:effectLst/>
                        </a:rPr>
                        <a:t>(Constant)</a:t>
                      </a:r>
                      <a:endParaRPr lang="en-US" sz="1400" b="0" i="0" u="none" strike="noStrike" dirty="0">
                        <a:solidFill>
                          <a:srgbClr val="000000"/>
                        </a:solidFill>
                        <a:effectLst/>
                        <a:latin typeface="Arial" panose="020B0604020202020204" pitchFamily="34" charset="0"/>
                      </a:endParaRPr>
                    </a:p>
                  </a:txBody>
                  <a:tcPr marL="4386" marR="4386" marT="4386" marB="0" anchor="ctr">
                    <a:solidFill>
                      <a:srgbClr val="CCFF99"/>
                    </a:solidFill>
                  </a:tcPr>
                </a:tc>
                <a:tc>
                  <a:txBody>
                    <a:bodyPr/>
                    <a:lstStyle/>
                    <a:p>
                      <a:pPr algn="r" fontAlgn="t"/>
                      <a:r>
                        <a:rPr lang="en-US" sz="1400" u="none" strike="noStrike" dirty="0">
                          <a:effectLst/>
                        </a:rPr>
                        <a:t>497.386</a:t>
                      </a:r>
                      <a:endParaRPr lang="en-US" sz="1400" b="0" i="0" u="none" strike="noStrike" dirty="0">
                        <a:solidFill>
                          <a:srgbClr val="000000"/>
                        </a:solidFill>
                        <a:effectLst/>
                        <a:latin typeface="Arial" panose="020B0604020202020204" pitchFamily="34" charset="0"/>
                      </a:endParaRPr>
                    </a:p>
                  </a:txBody>
                  <a:tcPr marL="4386" marR="4386" marT="4386" marB="0" anchor="ctr">
                    <a:solidFill>
                      <a:srgbClr val="CCFF99"/>
                    </a:solidFill>
                  </a:tcPr>
                </a:tc>
                <a:tc>
                  <a:txBody>
                    <a:bodyPr/>
                    <a:lstStyle/>
                    <a:p>
                      <a:pPr algn="r" fontAlgn="t"/>
                      <a:r>
                        <a:rPr lang="en-US" sz="1400" u="none" strike="noStrike">
                          <a:effectLst/>
                        </a:rPr>
                        <a:t>140.790</a:t>
                      </a:r>
                      <a:endParaRPr lang="en-US" sz="1400" b="0" i="0" u="none" strike="noStrike">
                        <a:solidFill>
                          <a:srgbClr val="000000"/>
                        </a:solidFill>
                        <a:effectLst/>
                        <a:latin typeface="Arial" panose="020B0604020202020204" pitchFamily="34" charset="0"/>
                      </a:endParaRPr>
                    </a:p>
                  </a:txBody>
                  <a:tcPr marL="4386" marR="4386" marT="4386" marB="0" anchor="ctr">
                    <a:solidFill>
                      <a:srgbClr val="CCFF99"/>
                    </a:solidFill>
                  </a:tcPr>
                </a:tc>
                <a:tc>
                  <a:txBody>
                    <a:bodyPr/>
                    <a:lstStyle/>
                    <a:p>
                      <a:pPr algn="l" fontAlgn="t"/>
                      <a:r>
                        <a:rPr lang="en-US" sz="1400" u="none" strike="noStrike">
                          <a:effectLst/>
                        </a:rPr>
                        <a:t> </a:t>
                      </a:r>
                      <a:endParaRPr lang="en-US" sz="1400" b="0" i="0" u="none" strike="noStrike">
                        <a:solidFill>
                          <a:srgbClr val="000000"/>
                        </a:solidFill>
                        <a:effectLst/>
                        <a:latin typeface="Arial" panose="020B0604020202020204" pitchFamily="34" charset="0"/>
                      </a:endParaRPr>
                    </a:p>
                  </a:txBody>
                  <a:tcPr marL="4386" marR="4386" marT="4386" marB="0" anchor="ctr">
                    <a:solidFill>
                      <a:srgbClr val="CCFF99"/>
                    </a:solidFill>
                  </a:tcPr>
                </a:tc>
                <a:tc>
                  <a:txBody>
                    <a:bodyPr/>
                    <a:lstStyle/>
                    <a:p>
                      <a:pPr algn="ctr" fontAlgn="t"/>
                      <a:r>
                        <a:rPr lang="en-US" sz="1400" u="none" strike="noStrike">
                          <a:effectLst/>
                        </a:rPr>
                        <a:t>3.533</a:t>
                      </a:r>
                      <a:endParaRPr lang="en-US" sz="1400" b="0" i="0" u="none" strike="noStrike">
                        <a:solidFill>
                          <a:srgbClr val="000000"/>
                        </a:solidFill>
                        <a:effectLst/>
                        <a:latin typeface="Arial" panose="020B0604020202020204" pitchFamily="34" charset="0"/>
                      </a:endParaRPr>
                    </a:p>
                  </a:txBody>
                  <a:tcPr marL="4386" marR="4386" marT="4386" marB="0" anchor="ctr">
                    <a:solidFill>
                      <a:srgbClr val="CCFF99"/>
                    </a:solidFill>
                  </a:tcPr>
                </a:tc>
                <a:tc>
                  <a:txBody>
                    <a:bodyPr/>
                    <a:lstStyle/>
                    <a:p>
                      <a:pPr algn="ctr" fontAlgn="t"/>
                      <a:r>
                        <a:rPr lang="en-US" sz="1400" u="none" strike="noStrike">
                          <a:effectLst/>
                        </a:rPr>
                        <a:t>.003</a:t>
                      </a:r>
                      <a:endParaRPr lang="en-US" sz="1400" b="0" i="0" u="none" strike="noStrike">
                        <a:solidFill>
                          <a:srgbClr val="000000"/>
                        </a:solidFill>
                        <a:effectLst/>
                        <a:latin typeface="Arial" panose="020B0604020202020204" pitchFamily="34" charset="0"/>
                      </a:endParaRPr>
                    </a:p>
                  </a:txBody>
                  <a:tcPr marL="4386" marR="4386" marT="4386" marB="0" anchor="ctr">
                    <a:solidFill>
                      <a:srgbClr val="CCFF99"/>
                    </a:solidFill>
                  </a:tcPr>
                </a:tc>
                <a:extLst>
                  <a:ext uri="{0D108BD9-81ED-4DB2-BD59-A6C34878D82A}">
                    <a16:rowId xmlns:a16="http://schemas.microsoft.com/office/drawing/2014/main" val="771459302"/>
                  </a:ext>
                </a:extLst>
              </a:tr>
              <a:tr h="268985">
                <a:tc vMerge="1">
                  <a:txBody>
                    <a:bodyPr/>
                    <a:lstStyle/>
                    <a:p>
                      <a:endParaRPr lang="en-US"/>
                    </a:p>
                  </a:txBody>
                  <a:tcPr/>
                </a:tc>
                <a:tc>
                  <a:txBody>
                    <a:bodyPr/>
                    <a:lstStyle/>
                    <a:p>
                      <a:pPr algn="l" fontAlgn="t"/>
                      <a:r>
                        <a:rPr lang="en-US" sz="1400" u="none" strike="noStrike">
                          <a:effectLst/>
                        </a:rPr>
                        <a:t>T2</a:t>
                      </a:r>
                      <a:endParaRPr lang="en-US" sz="1400" b="0" i="0" u="none" strike="noStrike">
                        <a:solidFill>
                          <a:srgbClr val="000000"/>
                        </a:solidFill>
                        <a:effectLst/>
                        <a:latin typeface="Arial" panose="020B0604020202020204" pitchFamily="34" charset="0"/>
                      </a:endParaRPr>
                    </a:p>
                  </a:txBody>
                  <a:tcPr marL="4386" marR="4386" marT="4386" marB="0" anchor="ctr">
                    <a:solidFill>
                      <a:srgbClr val="CCFF99"/>
                    </a:solidFill>
                  </a:tcPr>
                </a:tc>
                <a:tc>
                  <a:txBody>
                    <a:bodyPr/>
                    <a:lstStyle/>
                    <a:p>
                      <a:pPr algn="r" fontAlgn="t"/>
                      <a:r>
                        <a:rPr lang="en-US" sz="1400" u="none" strike="noStrike" dirty="0">
                          <a:effectLst/>
                        </a:rPr>
                        <a:t>9.229</a:t>
                      </a:r>
                      <a:endParaRPr lang="en-US" sz="1400" b="0" i="0" u="none" strike="noStrike" dirty="0">
                        <a:solidFill>
                          <a:srgbClr val="000000"/>
                        </a:solidFill>
                        <a:effectLst/>
                        <a:latin typeface="Arial" panose="020B0604020202020204" pitchFamily="34" charset="0"/>
                      </a:endParaRPr>
                    </a:p>
                  </a:txBody>
                  <a:tcPr marL="4386" marR="4386" marT="4386" marB="0" anchor="ctr">
                    <a:solidFill>
                      <a:srgbClr val="CCFF99"/>
                    </a:solidFill>
                  </a:tcPr>
                </a:tc>
                <a:tc>
                  <a:txBody>
                    <a:bodyPr/>
                    <a:lstStyle/>
                    <a:p>
                      <a:pPr algn="r" fontAlgn="t"/>
                      <a:r>
                        <a:rPr lang="en-US" sz="1400" u="none" strike="noStrike">
                          <a:effectLst/>
                        </a:rPr>
                        <a:t>1.219</a:t>
                      </a:r>
                      <a:endParaRPr lang="en-US" sz="1400" b="0" i="0" u="none" strike="noStrike">
                        <a:solidFill>
                          <a:srgbClr val="000000"/>
                        </a:solidFill>
                        <a:effectLst/>
                        <a:latin typeface="Arial" panose="020B0604020202020204" pitchFamily="34" charset="0"/>
                      </a:endParaRPr>
                    </a:p>
                  </a:txBody>
                  <a:tcPr marL="4386" marR="4386" marT="4386" marB="0" anchor="ctr">
                    <a:solidFill>
                      <a:srgbClr val="CCFF99"/>
                    </a:solidFill>
                  </a:tcPr>
                </a:tc>
                <a:tc>
                  <a:txBody>
                    <a:bodyPr/>
                    <a:lstStyle/>
                    <a:p>
                      <a:pPr algn="r" fontAlgn="t"/>
                      <a:r>
                        <a:rPr lang="en-US" sz="1400" u="none" strike="noStrike">
                          <a:effectLst/>
                        </a:rPr>
                        <a:t>.686</a:t>
                      </a:r>
                      <a:endParaRPr lang="en-US" sz="1400" b="0" i="0" u="none" strike="noStrike">
                        <a:solidFill>
                          <a:srgbClr val="000000"/>
                        </a:solidFill>
                        <a:effectLst/>
                        <a:latin typeface="Arial" panose="020B0604020202020204" pitchFamily="34" charset="0"/>
                      </a:endParaRPr>
                    </a:p>
                  </a:txBody>
                  <a:tcPr marL="4386" marR="4386" marT="4386" marB="0" anchor="ctr">
                    <a:solidFill>
                      <a:srgbClr val="CCFF99"/>
                    </a:solidFill>
                  </a:tcPr>
                </a:tc>
                <a:tc>
                  <a:txBody>
                    <a:bodyPr/>
                    <a:lstStyle/>
                    <a:p>
                      <a:pPr algn="ctr" fontAlgn="t"/>
                      <a:r>
                        <a:rPr lang="en-US" sz="1400" u="none" strike="noStrike" dirty="0">
                          <a:effectLst/>
                        </a:rPr>
                        <a:t>7.568</a:t>
                      </a:r>
                      <a:endParaRPr lang="en-US" sz="1400" b="0" i="0" u="none" strike="noStrike" dirty="0">
                        <a:solidFill>
                          <a:srgbClr val="000000"/>
                        </a:solidFill>
                        <a:effectLst/>
                        <a:latin typeface="Arial" panose="020B0604020202020204" pitchFamily="34" charset="0"/>
                      </a:endParaRPr>
                    </a:p>
                  </a:txBody>
                  <a:tcPr marL="4386" marR="4386" marT="4386" marB="0" anchor="ctr">
                    <a:solidFill>
                      <a:srgbClr val="CCFF99"/>
                    </a:solidFill>
                  </a:tcPr>
                </a:tc>
                <a:tc>
                  <a:txBody>
                    <a:bodyPr/>
                    <a:lstStyle/>
                    <a:p>
                      <a:pPr algn="ctr" fontAlgn="t"/>
                      <a:r>
                        <a:rPr lang="en-US" sz="1400" u="none" strike="noStrike">
                          <a:effectLst/>
                        </a:rPr>
                        <a:t>.000</a:t>
                      </a:r>
                      <a:endParaRPr lang="en-US" sz="1400" b="0" i="0" u="none" strike="noStrike">
                        <a:solidFill>
                          <a:srgbClr val="000000"/>
                        </a:solidFill>
                        <a:effectLst/>
                        <a:latin typeface="Arial" panose="020B0604020202020204" pitchFamily="34" charset="0"/>
                      </a:endParaRPr>
                    </a:p>
                  </a:txBody>
                  <a:tcPr marL="4386" marR="4386" marT="4386" marB="0" anchor="ctr">
                    <a:solidFill>
                      <a:srgbClr val="CCFF99"/>
                    </a:solidFill>
                  </a:tcPr>
                </a:tc>
                <a:extLst>
                  <a:ext uri="{0D108BD9-81ED-4DB2-BD59-A6C34878D82A}">
                    <a16:rowId xmlns:a16="http://schemas.microsoft.com/office/drawing/2014/main" val="2650942334"/>
                  </a:ext>
                </a:extLst>
              </a:tr>
              <a:tr h="171692">
                <a:tc vMerge="1">
                  <a:txBody>
                    <a:bodyPr/>
                    <a:lstStyle/>
                    <a:p>
                      <a:endParaRPr lang="en-US"/>
                    </a:p>
                  </a:txBody>
                  <a:tcPr/>
                </a:tc>
                <a:tc>
                  <a:txBody>
                    <a:bodyPr/>
                    <a:lstStyle/>
                    <a:p>
                      <a:pPr algn="l" fontAlgn="t"/>
                      <a:r>
                        <a:rPr lang="en-US" sz="1400" u="none" strike="noStrike" dirty="0">
                          <a:effectLst/>
                        </a:rPr>
                        <a:t>OTINC</a:t>
                      </a:r>
                      <a:endParaRPr lang="en-US" sz="1400" b="0" i="0" u="none" strike="noStrike" dirty="0">
                        <a:solidFill>
                          <a:srgbClr val="000000"/>
                        </a:solidFill>
                        <a:effectLst/>
                        <a:latin typeface="Arial" panose="020B0604020202020204" pitchFamily="34" charset="0"/>
                      </a:endParaRPr>
                    </a:p>
                  </a:txBody>
                  <a:tcPr marL="4386" marR="4386" marT="4386" marB="0" anchor="ctr">
                    <a:solidFill>
                      <a:srgbClr val="CCFF99"/>
                    </a:solidFill>
                  </a:tcPr>
                </a:tc>
                <a:tc>
                  <a:txBody>
                    <a:bodyPr/>
                    <a:lstStyle/>
                    <a:p>
                      <a:pPr algn="r" fontAlgn="t"/>
                      <a:r>
                        <a:rPr lang="en-US" sz="1400" u="none" strike="noStrike" dirty="0">
                          <a:effectLst/>
                        </a:rPr>
                        <a:t>.482</a:t>
                      </a:r>
                      <a:endParaRPr lang="en-US" sz="1400" b="0" i="0" u="none" strike="noStrike" dirty="0">
                        <a:solidFill>
                          <a:srgbClr val="000000"/>
                        </a:solidFill>
                        <a:effectLst/>
                        <a:latin typeface="Arial" panose="020B0604020202020204" pitchFamily="34" charset="0"/>
                      </a:endParaRPr>
                    </a:p>
                  </a:txBody>
                  <a:tcPr marL="4386" marR="4386" marT="4386" marB="0" anchor="ctr">
                    <a:solidFill>
                      <a:srgbClr val="CCFF99"/>
                    </a:solidFill>
                  </a:tcPr>
                </a:tc>
                <a:tc>
                  <a:txBody>
                    <a:bodyPr/>
                    <a:lstStyle/>
                    <a:p>
                      <a:pPr algn="r" fontAlgn="t"/>
                      <a:r>
                        <a:rPr lang="en-US" sz="1400" u="none" strike="noStrike" dirty="0">
                          <a:effectLst/>
                        </a:rPr>
                        <a:t>.131</a:t>
                      </a:r>
                      <a:endParaRPr lang="en-US" sz="1400" b="0" i="0" u="none" strike="noStrike" dirty="0">
                        <a:solidFill>
                          <a:srgbClr val="000000"/>
                        </a:solidFill>
                        <a:effectLst/>
                        <a:latin typeface="Arial" panose="020B0604020202020204" pitchFamily="34" charset="0"/>
                      </a:endParaRPr>
                    </a:p>
                  </a:txBody>
                  <a:tcPr marL="4386" marR="4386" marT="4386" marB="0" anchor="ctr">
                    <a:solidFill>
                      <a:srgbClr val="CCFF99"/>
                    </a:solidFill>
                  </a:tcPr>
                </a:tc>
                <a:tc>
                  <a:txBody>
                    <a:bodyPr/>
                    <a:lstStyle/>
                    <a:p>
                      <a:pPr algn="r" fontAlgn="t"/>
                      <a:r>
                        <a:rPr lang="en-US" sz="1400" u="none" strike="noStrike" dirty="0">
                          <a:effectLst/>
                        </a:rPr>
                        <a:t>.334</a:t>
                      </a:r>
                      <a:endParaRPr lang="en-US" sz="1400" b="0" i="0" u="none" strike="noStrike" dirty="0">
                        <a:solidFill>
                          <a:srgbClr val="000000"/>
                        </a:solidFill>
                        <a:effectLst/>
                        <a:latin typeface="Arial" panose="020B0604020202020204" pitchFamily="34" charset="0"/>
                      </a:endParaRPr>
                    </a:p>
                  </a:txBody>
                  <a:tcPr marL="4386" marR="4386" marT="4386" marB="0" anchor="ctr">
                    <a:solidFill>
                      <a:srgbClr val="CCFF99"/>
                    </a:solidFill>
                  </a:tcPr>
                </a:tc>
                <a:tc>
                  <a:txBody>
                    <a:bodyPr/>
                    <a:lstStyle/>
                    <a:p>
                      <a:pPr algn="ctr" fontAlgn="t"/>
                      <a:r>
                        <a:rPr lang="en-US" sz="1400" u="none" strike="noStrike" dirty="0">
                          <a:effectLst/>
                        </a:rPr>
                        <a:t>3.678</a:t>
                      </a:r>
                      <a:endParaRPr lang="en-US" sz="1400" b="0" i="0" u="none" strike="noStrike" dirty="0">
                        <a:solidFill>
                          <a:srgbClr val="000000"/>
                        </a:solidFill>
                        <a:effectLst/>
                        <a:latin typeface="Arial" panose="020B0604020202020204" pitchFamily="34" charset="0"/>
                      </a:endParaRPr>
                    </a:p>
                  </a:txBody>
                  <a:tcPr marL="4386" marR="4386" marT="4386" marB="0" anchor="ctr">
                    <a:solidFill>
                      <a:srgbClr val="CCFF99"/>
                    </a:solidFill>
                  </a:tcPr>
                </a:tc>
                <a:tc>
                  <a:txBody>
                    <a:bodyPr/>
                    <a:lstStyle/>
                    <a:p>
                      <a:pPr algn="ctr" fontAlgn="t"/>
                      <a:r>
                        <a:rPr lang="en-US" sz="1400" u="none" strike="noStrike" dirty="0">
                          <a:effectLst/>
                        </a:rPr>
                        <a:t>.002</a:t>
                      </a:r>
                      <a:endParaRPr lang="en-US" sz="1400" b="0" i="0" u="none" strike="noStrike" dirty="0">
                        <a:solidFill>
                          <a:srgbClr val="000000"/>
                        </a:solidFill>
                        <a:effectLst/>
                        <a:latin typeface="Arial" panose="020B0604020202020204" pitchFamily="34" charset="0"/>
                      </a:endParaRPr>
                    </a:p>
                  </a:txBody>
                  <a:tcPr marL="4386" marR="4386" marT="4386" marB="0" anchor="ctr">
                    <a:solidFill>
                      <a:srgbClr val="CCFF99"/>
                    </a:solidFill>
                  </a:tcPr>
                </a:tc>
                <a:extLst>
                  <a:ext uri="{0D108BD9-81ED-4DB2-BD59-A6C34878D82A}">
                    <a16:rowId xmlns:a16="http://schemas.microsoft.com/office/drawing/2014/main" val="2567151229"/>
                  </a:ext>
                </a:extLst>
              </a:tr>
              <a:tr h="263261">
                <a:tc rowSpan="4">
                  <a:txBody>
                    <a:bodyPr/>
                    <a:lstStyle/>
                    <a:p>
                      <a:pPr algn="ctr" fontAlgn="t"/>
                      <a:r>
                        <a:rPr lang="en-US" sz="1400" u="none" strike="noStrike" dirty="0">
                          <a:effectLst/>
                        </a:rPr>
                        <a:t>3</a:t>
                      </a:r>
                      <a:endParaRPr lang="en-US" sz="1400" b="0" i="0" u="none" strike="noStrike" dirty="0">
                        <a:solidFill>
                          <a:srgbClr val="000000"/>
                        </a:solidFill>
                        <a:effectLst/>
                        <a:latin typeface="Arial" panose="020B0604020202020204" pitchFamily="34" charset="0"/>
                      </a:endParaRPr>
                    </a:p>
                  </a:txBody>
                  <a:tcPr marL="4386" marR="4386" marT="4386" marB="0" anchor="ctr">
                    <a:solidFill>
                      <a:srgbClr val="FEDCFC"/>
                    </a:solidFill>
                  </a:tcPr>
                </a:tc>
                <a:tc>
                  <a:txBody>
                    <a:bodyPr/>
                    <a:lstStyle/>
                    <a:p>
                      <a:pPr algn="l" fontAlgn="t"/>
                      <a:r>
                        <a:rPr lang="en-US" sz="1400" u="none" strike="noStrike" dirty="0">
                          <a:effectLst/>
                        </a:rPr>
                        <a:t>(Constant)</a:t>
                      </a:r>
                      <a:endParaRPr lang="en-US" sz="1400" b="0" i="0" u="none" strike="noStrike" dirty="0">
                        <a:solidFill>
                          <a:srgbClr val="000000"/>
                        </a:solidFill>
                        <a:effectLst/>
                        <a:latin typeface="Arial" panose="020B0604020202020204" pitchFamily="34" charset="0"/>
                      </a:endParaRPr>
                    </a:p>
                  </a:txBody>
                  <a:tcPr marL="4386" marR="4386" marT="4386" marB="0" anchor="ctr">
                    <a:solidFill>
                      <a:srgbClr val="FEDCFC"/>
                    </a:solidFill>
                  </a:tcPr>
                </a:tc>
                <a:tc>
                  <a:txBody>
                    <a:bodyPr/>
                    <a:lstStyle/>
                    <a:p>
                      <a:pPr algn="r" fontAlgn="t"/>
                      <a:r>
                        <a:rPr lang="en-US" sz="1400" u="none" strike="noStrike">
                          <a:effectLst/>
                        </a:rPr>
                        <a:t>439.183</a:t>
                      </a:r>
                      <a:endParaRPr lang="en-US" sz="1400" b="0" i="0" u="none" strike="noStrike">
                        <a:solidFill>
                          <a:srgbClr val="000000"/>
                        </a:solidFill>
                        <a:effectLst/>
                        <a:latin typeface="Arial" panose="020B0604020202020204" pitchFamily="34" charset="0"/>
                      </a:endParaRPr>
                    </a:p>
                  </a:txBody>
                  <a:tcPr marL="4386" marR="4386" marT="4386" marB="0" anchor="ctr">
                    <a:solidFill>
                      <a:srgbClr val="FEDCFC"/>
                    </a:solidFill>
                  </a:tcPr>
                </a:tc>
                <a:tc>
                  <a:txBody>
                    <a:bodyPr/>
                    <a:lstStyle/>
                    <a:p>
                      <a:pPr algn="r" fontAlgn="t"/>
                      <a:r>
                        <a:rPr lang="en-US" sz="1400" u="none" strike="noStrike">
                          <a:effectLst/>
                        </a:rPr>
                        <a:t>128.276</a:t>
                      </a:r>
                      <a:endParaRPr lang="en-US" sz="1400" b="0" i="0" u="none" strike="noStrike">
                        <a:solidFill>
                          <a:srgbClr val="000000"/>
                        </a:solidFill>
                        <a:effectLst/>
                        <a:latin typeface="Arial" panose="020B0604020202020204" pitchFamily="34" charset="0"/>
                      </a:endParaRPr>
                    </a:p>
                  </a:txBody>
                  <a:tcPr marL="4386" marR="4386" marT="4386" marB="0" anchor="ctr">
                    <a:solidFill>
                      <a:srgbClr val="FEDCFC"/>
                    </a:solidFill>
                  </a:tcPr>
                </a:tc>
                <a:tc>
                  <a:txBody>
                    <a:bodyPr/>
                    <a:lstStyle/>
                    <a:p>
                      <a:pPr algn="l" fontAlgn="t"/>
                      <a:r>
                        <a:rPr lang="en-US" sz="1400" u="none" strike="noStrike">
                          <a:effectLst/>
                        </a:rPr>
                        <a:t> </a:t>
                      </a:r>
                      <a:endParaRPr lang="en-US" sz="1400" b="0" i="0" u="none" strike="noStrike">
                        <a:solidFill>
                          <a:srgbClr val="000000"/>
                        </a:solidFill>
                        <a:effectLst/>
                        <a:latin typeface="Arial" panose="020B0604020202020204" pitchFamily="34" charset="0"/>
                      </a:endParaRPr>
                    </a:p>
                  </a:txBody>
                  <a:tcPr marL="4386" marR="4386" marT="4386" marB="0" anchor="ctr">
                    <a:solidFill>
                      <a:srgbClr val="FEDCFC"/>
                    </a:solidFill>
                  </a:tcPr>
                </a:tc>
                <a:tc>
                  <a:txBody>
                    <a:bodyPr/>
                    <a:lstStyle/>
                    <a:p>
                      <a:pPr algn="ctr" fontAlgn="t"/>
                      <a:r>
                        <a:rPr lang="en-US" sz="1400" u="none" strike="noStrike">
                          <a:effectLst/>
                        </a:rPr>
                        <a:t>3.424</a:t>
                      </a:r>
                      <a:endParaRPr lang="en-US" sz="1400" b="0" i="0" u="none" strike="noStrike">
                        <a:solidFill>
                          <a:srgbClr val="000000"/>
                        </a:solidFill>
                        <a:effectLst/>
                        <a:latin typeface="Arial" panose="020B0604020202020204" pitchFamily="34" charset="0"/>
                      </a:endParaRPr>
                    </a:p>
                  </a:txBody>
                  <a:tcPr marL="4386" marR="4386" marT="4386" marB="0" anchor="ctr">
                    <a:solidFill>
                      <a:srgbClr val="FEDCFC"/>
                    </a:solidFill>
                  </a:tcPr>
                </a:tc>
                <a:tc>
                  <a:txBody>
                    <a:bodyPr/>
                    <a:lstStyle/>
                    <a:p>
                      <a:pPr algn="ctr" fontAlgn="t"/>
                      <a:r>
                        <a:rPr lang="en-US" sz="1400" u="none" strike="noStrike">
                          <a:effectLst/>
                        </a:rPr>
                        <a:t>.003</a:t>
                      </a:r>
                      <a:endParaRPr lang="en-US" sz="1400" b="0" i="0" u="none" strike="noStrike">
                        <a:solidFill>
                          <a:srgbClr val="000000"/>
                        </a:solidFill>
                        <a:effectLst/>
                        <a:latin typeface="Arial" panose="020B0604020202020204" pitchFamily="34" charset="0"/>
                      </a:endParaRPr>
                    </a:p>
                  </a:txBody>
                  <a:tcPr marL="4386" marR="4386" marT="4386" marB="0" anchor="ctr">
                    <a:solidFill>
                      <a:srgbClr val="FEDCFC"/>
                    </a:solidFill>
                  </a:tcPr>
                </a:tc>
                <a:extLst>
                  <a:ext uri="{0D108BD9-81ED-4DB2-BD59-A6C34878D82A}">
                    <a16:rowId xmlns:a16="http://schemas.microsoft.com/office/drawing/2014/main" val="518088108"/>
                  </a:ext>
                </a:extLst>
              </a:tr>
              <a:tr h="165969">
                <a:tc vMerge="1">
                  <a:txBody>
                    <a:bodyPr/>
                    <a:lstStyle/>
                    <a:p>
                      <a:endParaRPr lang="en-US"/>
                    </a:p>
                  </a:txBody>
                  <a:tcPr/>
                </a:tc>
                <a:tc>
                  <a:txBody>
                    <a:bodyPr/>
                    <a:lstStyle/>
                    <a:p>
                      <a:pPr algn="l" fontAlgn="t"/>
                      <a:r>
                        <a:rPr lang="en-US" sz="1400" u="none" strike="noStrike" dirty="0">
                          <a:effectLst/>
                        </a:rPr>
                        <a:t>T2</a:t>
                      </a:r>
                      <a:endParaRPr lang="en-US" sz="1400" b="0" i="0" u="none" strike="noStrike" dirty="0">
                        <a:solidFill>
                          <a:srgbClr val="000000"/>
                        </a:solidFill>
                        <a:effectLst/>
                        <a:latin typeface="Arial" panose="020B0604020202020204" pitchFamily="34" charset="0"/>
                      </a:endParaRPr>
                    </a:p>
                  </a:txBody>
                  <a:tcPr marL="4386" marR="4386" marT="4386" marB="0" anchor="ctr">
                    <a:solidFill>
                      <a:srgbClr val="FEDCFC"/>
                    </a:solidFill>
                  </a:tcPr>
                </a:tc>
                <a:tc>
                  <a:txBody>
                    <a:bodyPr/>
                    <a:lstStyle/>
                    <a:p>
                      <a:pPr algn="r" fontAlgn="t"/>
                      <a:r>
                        <a:rPr lang="en-US" sz="1400" u="none" strike="noStrike">
                          <a:effectLst/>
                        </a:rPr>
                        <a:t>13.046</a:t>
                      </a:r>
                      <a:endParaRPr lang="en-US" sz="1400" b="0" i="0" u="none" strike="noStrike">
                        <a:solidFill>
                          <a:srgbClr val="000000"/>
                        </a:solidFill>
                        <a:effectLst/>
                        <a:latin typeface="Arial" panose="020B0604020202020204" pitchFamily="34" charset="0"/>
                      </a:endParaRPr>
                    </a:p>
                  </a:txBody>
                  <a:tcPr marL="4386" marR="4386" marT="4386" marB="0" anchor="ctr">
                    <a:solidFill>
                      <a:srgbClr val="FEDCFC"/>
                    </a:solidFill>
                  </a:tcPr>
                </a:tc>
                <a:tc>
                  <a:txBody>
                    <a:bodyPr/>
                    <a:lstStyle/>
                    <a:p>
                      <a:pPr algn="r" fontAlgn="t"/>
                      <a:r>
                        <a:rPr lang="en-US" sz="1400" u="none" strike="noStrike">
                          <a:effectLst/>
                        </a:rPr>
                        <a:t>1.983</a:t>
                      </a:r>
                      <a:endParaRPr lang="en-US" sz="1400" b="0" i="0" u="none" strike="noStrike">
                        <a:solidFill>
                          <a:srgbClr val="000000"/>
                        </a:solidFill>
                        <a:effectLst/>
                        <a:latin typeface="Arial" panose="020B0604020202020204" pitchFamily="34" charset="0"/>
                      </a:endParaRPr>
                    </a:p>
                  </a:txBody>
                  <a:tcPr marL="4386" marR="4386" marT="4386" marB="0" anchor="ctr">
                    <a:solidFill>
                      <a:srgbClr val="FEDCFC"/>
                    </a:solidFill>
                  </a:tcPr>
                </a:tc>
                <a:tc>
                  <a:txBody>
                    <a:bodyPr/>
                    <a:lstStyle/>
                    <a:p>
                      <a:pPr algn="r" fontAlgn="t"/>
                      <a:r>
                        <a:rPr lang="en-US" sz="1400" u="none" strike="noStrike">
                          <a:effectLst/>
                        </a:rPr>
                        <a:t>.970</a:t>
                      </a:r>
                      <a:endParaRPr lang="en-US" sz="1400" b="0" i="0" u="none" strike="noStrike">
                        <a:solidFill>
                          <a:srgbClr val="000000"/>
                        </a:solidFill>
                        <a:effectLst/>
                        <a:latin typeface="Arial" panose="020B0604020202020204" pitchFamily="34" charset="0"/>
                      </a:endParaRPr>
                    </a:p>
                  </a:txBody>
                  <a:tcPr marL="4386" marR="4386" marT="4386" marB="0" anchor="ctr">
                    <a:solidFill>
                      <a:srgbClr val="FEDCFC"/>
                    </a:solidFill>
                  </a:tcPr>
                </a:tc>
                <a:tc>
                  <a:txBody>
                    <a:bodyPr/>
                    <a:lstStyle/>
                    <a:p>
                      <a:pPr algn="ctr" fontAlgn="t"/>
                      <a:r>
                        <a:rPr lang="en-US" sz="1400" u="none" strike="noStrike" dirty="0">
                          <a:effectLst/>
                        </a:rPr>
                        <a:t>6.579</a:t>
                      </a:r>
                      <a:endParaRPr lang="en-US" sz="1400" b="0" i="0" u="none" strike="noStrike" dirty="0">
                        <a:solidFill>
                          <a:srgbClr val="000000"/>
                        </a:solidFill>
                        <a:effectLst/>
                        <a:latin typeface="Arial" panose="020B0604020202020204" pitchFamily="34" charset="0"/>
                      </a:endParaRPr>
                    </a:p>
                  </a:txBody>
                  <a:tcPr marL="4386" marR="4386" marT="4386" marB="0" anchor="ctr">
                    <a:solidFill>
                      <a:srgbClr val="FEDCFC"/>
                    </a:solidFill>
                  </a:tcPr>
                </a:tc>
                <a:tc>
                  <a:txBody>
                    <a:bodyPr/>
                    <a:lstStyle/>
                    <a:p>
                      <a:pPr algn="ctr" fontAlgn="t"/>
                      <a:r>
                        <a:rPr lang="en-US" sz="1400" u="none" strike="noStrike">
                          <a:effectLst/>
                        </a:rPr>
                        <a:t>.000</a:t>
                      </a:r>
                      <a:endParaRPr lang="en-US" sz="1400" b="0" i="0" u="none" strike="noStrike">
                        <a:solidFill>
                          <a:srgbClr val="000000"/>
                        </a:solidFill>
                        <a:effectLst/>
                        <a:latin typeface="Arial" panose="020B0604020202020204" pitchFamily="34" charset="0"/>
                      </a:endParaRPr>
                    </a:p>
                  </a:txBody>
                  <a:tcPr marL="4386" marR="4386" marT="4386" marB="0" anchor="ctr">
                    <a:solidFill>
                      <a:srgbClr val="FEDCFC"/>
                    </a:solidFill>
                  </a:tcPr>
                </a:tc>
                <a:extLst>
                  <a:ext uri="{0D108BD9-81ED-4DB2-BD59-A6C34878D82A}">
                    <a16:rowId xmlns:a16="http://schemas.microsoft.com/office/drawing/2014/main" val="366955875"/>
                  </a:ext>
                </a:extLst>
              </a:tr>
              <a:tr h="165969">
                <a:tc vMerge="1">
                  <a:txBody>
                    <a:bodyPr/>
                    <a:lstStyle/>
                    <a:p>
                      <a:endParaRPr lang="en-US"/>
                    </a:p>
                  </a:txBody>
                  <a:tcPr/>
                </a:tc>
                <a:tc>
                  <a:txBody>
                    <a:bodyPr/>
                    <a:lstStyle/>
                    <a:p>
                      <a:pPr algn="l" fontAlgn="t"/>
                      <a:r>
                        <a:rPr lang="en-US" sz="1400" u="none" strike="noStrike" dirty="0">
                          <a:effectLst/>
                        </a:rPr>
                        <a:t>OTINC</a:t>
                      </a:r>
                      <a:endParaRPr lang="en-US" sz="1400" b="0" i="0" u="none" strike="noStrike" dirty="0">
                        <a:solidFill>
                          <a:srgbClr val="000000"/>
                        </a:solidFill>
                        <a:effectLst/>
                        <a:latin typeface="Arial" panose="020B0604020202020204" pitchFamily="34" charset="0"/>
                      </a:endParaRPr>
                    </a:p>
                  </a:txBody>
                  <a:tcPr marL="4386" marR="4386" marT="4386" marB="0" anchor="ctr">
                    <a:solidFill>
                      <a:srgbClr val="FEDCFC"/>
                    </a:solidFill>
                  </a:tcPr>
                </a:tc>
                <a:tc>
                  <a:txBody>
                    <a:bodyPr/>
                    <a:lstStyle/>
                    <a:p>
                      <a:pPr algn="r" fontAlgn="t"/>
                      <a:r>
                        <a:rPr lang="en-US" sz="1400" u="none" strike="noStrike">
                          <a:effectLst/>
                        </a:rPr>
                        <a:t>.553</a:t>
                      </a:r>
                      <a:endParaRPr lang="en-US" sz="1400" b="0" i="0" u="none" strike="noStrike">
                        <a:solidFill>
                          <a:srgbClr val="000000"/>
                        </a:solidFill>
                        <a:effectLst/>
                        <a:latin typeface="Arial" panose="020B0604020202020204" pitchFamily="34" charset="0"/>
                      </a:endParaRPr>
                    </a:p>
                  </a:txBody>
                  <a:tcPr marL="4386" marR="4386" marT="4386" marB="0" anchor="ctr">
                    <a:solidFill>
                      <a:srgbClr val="FEDCFC"/>
                    </a:solidFill>
                  </a:tcPr>
                </a:tc>
                <a:tc>
                  <a:txBody>
                    <a:bodyPr/>
                    <a:lstStyle/>
                    <a:p>
                      <a:pPr algn="r" fontAlgn="t"/>
                      <a:r>
                        <a:rPr lang="en-US" sz="1400" u="none" strike="noStrike">
                          <a:effectLst/>
                        </a:rPr>
                        <a:t>.121</a:t>
                      </a:r>
                      <a:endParaRPr lang="en-US" sz="1400" b="0" i="0" u="none" strike="noStrike">
                        <a:solidFill>
                          <a:srgbClr val="000000"/>
                        </a:solidFill>
                        <a:effectLst/>
                        <a:latin typeface="Arial" panose="020B0604020202020204" pitchFamily="34" charset="0"/>
                      </a:endParaRPr>
                    </a:p>
                  </a:txBody>
                  <a:tcPr marL="4386" marR="4386" marT="4386" marB="0" anchor="ctr">
                    <a:solidFill>
                      <a:srgbClr val="FEDCFC"/>
                    </a:solidFill>
                  </a:tcPr>
                </a:tc>
                <a:tc>
                  <a:txBody>
                    <a:bodyPr/>
                    <a:lstStyle/>
                    <a:p>
                      <a:pPr algn="r" fontAlgn="t"/>
                      <a:r>
                        <a:rPr lang="en-US" sz="1400" u="none" strike="noStrike">
                          <a:effectLst/>
                        </a:rPr>
                        <a:t>.383</a:t>
                      </a:r>
                      <a:endParaRPr lang="en-US" sz="1400" b="0" i="0" u="none" strike="noStrike">
                        <a:solidFill>
                          <a:srgbClr val="000000"/>
                        </a:solidFill>
                        <a:effectLst/>
                        <a:latin typeface="Arial" panose="020B0604020202020204" pitchFamily="34" charset="0"/>
                      </a:endParaRPr>
                    </a:p>
                  </a:txBody>
                  <a:tcPr marL="4386" marR="4386" marT="4386" marB="0" anchor="ctr">
                    <a:solidFill>
                      <a:srgbClr val="FEDCFC"/>
                    </a:solidFill>
                  </a:tcPr>
                </a:tc>
                <a:tc>
                  <a:txBody>
                    <a:bodyPr/>
                    <a:lstStyle/>
                    <a:p>
                      <a:pPr algn="ctr" fontAlgn="t"/>
                      <a:r>
                        <a:rPr lang="en-US" sz="1400" u="none" strike="noStrike">
                          <a:effectLst/>
                        </a:rPr>
                        <a:t>4.569</a:t>
                      </a:r>
                      <a:endParaRPr lang="en-US" sz="1400" b="0" i="0" u="none" strike="noStrike">
                        <a:solidFill>
                          <a:srgbClr val="000000"/>
                        </a:solidFill>
                        <a:effectLst/>
                        <a:latin typeface="Arial" panose="020B0604020202020204" pitchFamily="34" charset="0"/>
                      </a:endParaRPr>
                    </a:p>
                  </a:txBody>
                  <a:tcPr marL="4386" marR="4386" marT="4386" marB="0" anchor="ctr">
                    <a:solidFill>
                      <a:srgbClr val="FEDCFC"/>
                    </a:solidFill>
                  </a:tcPr>
                </a:tc>
                <a:tc>
                  <a:txBody>
                    <a:bodyPr/>
                    <a:lstStyle/>
                    <a:p>
                      <a:pPr algn="ctr" fontAlgn="t"/>
                      <a:r>
                        <a:rPr lang="en-US" sz="1400" u="none" strike="noStrike" dirty="0">
                          <a:effectLst/>
                        </a:rPr>
                        <a:t>.000</a:t>
                      </a:r>
                      <a:endParaRPr lang="en-US" sz="1400" b="0" i="0" u="none" strike="noStrike" dirty="0">
                        <a:solidFill>
                          <a:srgbClr val="000000"/>
                        </a:solidFill>
                        <a:effectLst/>
                        <a:latin typeface="Arial" panose="020B0604020202020204" pitchFamily="34" charset="0"/>
                      </a:endParaRPr>
                    </a:p>
                  </a:txBody>
                  <a:tcPr marL="4386" marR="4386" marT="4386" marB="0" anchor="ctr">
                    <a:solidFill>
                      <a:srgbClr val="FEDCFC"/>
                    </a:solidFill>
                  </a:tcPr>
                </a:tc>
                <a:extLst>
                  <a:ext uri="{0D108BD9-81ED-4DB2-BD59-A6C34878D82A}">
                    <a16:rowId xmlns:a16="http://schemas.microsoft.com/office/drawing/2014/main" val="3723163121"/>
                  </a:ext>
                </a:extLst>
              </a:tr>
              <a:tr h="263261">
                <a:tc vMerge="1">
                  <a:txBody>
                    <a:bodyPr/>
                    <a:lstStyle/>
                    <a:p>
                      <a:endParaRPr lang="en-US"/>
                    </a:p>
                  </a:txBody>
                  <a:tcPr/>
                </a:tc>
                <a:tc>
                  <a:txBody>
                    <a:bodyPr/>
                    <a:lstStyle/>
                    <a:p>
                      <a:pPr algn="l" fontAlgn="t"/>
                      <a:r>
                        <a:rPr lang="en-US" sz="1400" u="none" strike="noStrike" dirty="0">
                          <a:effectLst/>
                        </a:rPr>
                        <a:t>MATERIAL</a:t>
                      </a:r>
                      <a:endParaRPr lang="en-US" sz="1400" b="0" i="0" u="none" strike="noStrike" dirty="0">
                        <a:solidFill>
                          <a:srgbClr val="000000"/>
                        </a:solidFill>
                        <a:effectLst/>
                        <a:latin typeface="Arial" panose="020B0604020202020204" pitchFamily="34" charset="0"/>
                      </a:endParaRPr>
                    </a:p>
                  </a:txBody>
                  <a:tcPr marL="4386" marR="4386" marT="4386" marB="0" anchor="ctr">
                    <a:solidFill>
                      <a:srgbClr val="FEDCFC"/>
                    </a:solidFill>
                  </a:tcPr>
                </a:tc>
                <a:tc>
                  <a:txBody>
                    <a:bodyPr/>
                    <a:lstStyle/>
                    <a:p>
                      <a:pPr algn="r" fontAlgn="t"/>
                      <a:r>
                        <a:rPr lang="en-US" sz="1400" u="none" strike="noStrike" dirty="0">
                          <a:effectLst/>
                        </a:rPr>
                        <a:t>-.048</a:t>
                      </a:r>
                      <a:endParaRPr lang="en-US" sz="1400" b="0" i="0" u="none" strike="noStrike" dirty="0">
                        <a:solidFill>
                          <a:srgbClr val="000000"/>
                        </a:solidFill>
                        <a:effectLst/>
                        <a:latin typeface="Arial" panose="020B0604020202020204" pitchFamily="34" charset="0"/>
                      </a:endParaRPr>
                    </a:p>
                  </a:txBody>
                  <a:tcPr marL="4386" marR="4386" marT="4386" marB="0" anchor="ctr">
                    <a:solidFill>
                      <a:srgbClr val="FEDCFC"/>
                    </a:solidFill>
                  </a:tcPr>
                </a:tc>
                <a:tc>
                  <a:txBody>
                    <a:bodyPr/>
                    <a:lstStyle/>
                    <a:p>
                      <a:pPr algn="r" fontAlgn="t"/>
                      <a:r>
                        <a:rPr lang="en-US" sz="1400" u="none" strike="noStrike" dirty="0">
                          <a:effectLst/>
                        </a:rPr>
                        <a:t>.021</a:t>
                      </a:r>
                      <a:endParaRPr lang="en-US" sz="1400" b="0" i="0" u="none" strike="noStrike" dirty="0">
                        <a:solidFill>
                          <a:srgbClr val="000000"/>
                        </a:solidFill>
                        <a:effectLst/>
                        <a:latin typeface="Arial" panose="020B0604020202020204" pitchFamily="34" charset="0"/>
                      </a:endParaRPr>
                    </a:p>
                  </a:txBody>
                  <a:tcPr marL="4386" marR="4386" marT="4386" marB="0" anchor="ctr">
                    <a:solidFill>
                      <a:srgbClr val="FEDCFC"/>
                    </a:solidFill>
                  </a:tcPr>
                </a:tc>
                <a:tc>
                  <a:txBody>
                    <a:bodyPr/>
                    <a:lstStyle/>
                    <a:p>
                      <a:pPr algn="r" fontAlgn="t"/>
                      <a:r>
                        <a:rPr lang="en-US" sz="1400" u="none" strike="noStrike">
                          <a:effectLst/>
                        </a:rPr>
                        <a:t>-.343</a:t>
                      </a:r>
                      <a:endParaRPr lang="en-US" sz="1400" b="0" i="0" u="none" strike="noStrike">
                        <a:solidFill>
                          <a:srgbClr val="000000"/>
                        </a:solidFill>
                        <a:effectLst/>
                        <a:latin typeface="Arial" panose="020B0604020202020204" pitchFamily="34" charset="0"/>
                      </a:endParaRPr>
                    </a:p>
                  </a:txBody>
                  <a:tcPr marL="4386" marR="4386" marT="4386" marB="0" anchor="ctr">
                    <a:solidFill>
                      <a:srgbClr val="FEDCFC"/>
                    </a:solidFill>
                  </a:tcPr>
                </a:tc>
                <a:tc>
                  <a:txBody>
                    <a:bodyPr/>
                    <a:lstStyle/>
                    <a:p>
                      <a:pPr algn="ctr" fontAlgn="t"/>
                      <a:r>
                        <a:rPr lang="en-US" sz="1400" u="none" strike="noStrike" dirty="0">
                          <a:effectLst/>
                        </a:rPr>
                        <a:t>-2.303</a:t>
                      </a:r>
                      <a:endParaRPr lang="en-US" sz="1400" b="0" i="0" u="none" strike="noStrike" dirty="0">
                        <a:solidFill>
                          <a:srgbClr val="000000"/>
                        </a:solidFill>
                        <a:effectLst/>
                        <a:latin typeface="Arial" panose="020B0604020202020204" pitchFamily="34" charset="0"/>
                      </a:endParaRPr>
                    </a:p>
                  </a:txBody>
                  <a:tcPr marL="4386" marR="4386" marT="4386" marB="0" anchor="ctr">
                    <a:solidFill>
                      <a:srgbClr val="FEDCFC"/>
                    </a:solidFill>
                  </a:tcPr>
                </a:tc>
                <a:tc>
                  <a:txBody>
                    <a:bodyPr/>
                    <a:lstStyle/>
                    <a:p>
                      <a:pPr algn="ctr" fontAlgn="t"/>
                      <a:r>
                        <a:rPr lang="en-US" sz="1400" u="none" strike="noStrike" dirty="0">
                          <a:effectLst/>
                        </a:rPr>
                        <a:t>.035</a:t>
                      </a:r>
                      <a:endParaRPr lang="en-US" sz="1400" b="0" i="0" u="none" strike="noStrike" dirty="0">
                        <a:solidFill>
                          <a:srgbClr val="000000"/>
                        </a:solidFill>
                        <a:effectLst/>
                        <a:latin typeface="Arial" panose="020B0604020202020204" pitchFamily="34" charset="0"/>
                      </a:endParaRPr>
                    </a:p>
                  </a:txBody>
                  <a:tcPr marL="4386" marR="4386" marT="4386" marB="0" anchor="ctr">
                    <a:solidFill>
                      <a:srgbClr val="FEDCFC"/>
                    </a:solidFill>
                  </a:tcPr>
                </a:tc>
                <a:extLst>
                  <a:ext uri="{0D108BD9-81ED-4DB2-BD59-A6C34878D82A}">
                    <a16:rowId xmlns:a16="http://schemas.microsoft.com/office/drawing/2014/main" val="160307107"/>
                  </a:ext>
                </a:extLst>
              </a:tr>
              <a:tr h="165969">
                <a:tc rowSpan="5">
                  <a:txBody>
                    <a:bodyPr/>
                    <a:lstStyle/>
                    <a:p>
                      <a:pPr algn="ctr" fontAlgn="t"/>
                      <a:r>
                        <a:rPr lang="en-US" sz="1400" u="none" strike="noStrike" dirty="0">
                          <a:effectLst/>
                        </a:rPr>
                        <a:t>4</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tc>
                  <a:txBody>
                    <a:bodyPr/>
                    <a:lstStyle/>
                    <a:p>
                      <a:pPr algn="l" fontAlgn="t"/>
                      <a:r>
                        <a:rPr lang="en-US" sz="1400" u="none" strike="noStrike" dirty="0">
                          <a:effectLst/>
                        </a:rPr>
                        <a:t>(Constant)</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tc>
                  <a:txBody>
                    <a:bodyPr/>
                    <a:lstStyle/>
                    <a:p>
                      <a:pPr algn="r" fontAlgn="t"/>
                      <a:r>
                        <a:rPr lang="en-US" sz="1400" u="none" strike="noStrike">
                          <a:effectLst/>
                        </a:rPr>
                        <a:t>330.452</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tc>
                  <a:txBody>
                    <a:bodyPr/>
                    <a:lstStyle/>
                    <a:p>
                      <a:pPr algn="r" fontAlgn="t"/>
                      <a:r>
                        <a:rPr lang="en-US" sz="1400" u="none" strike="noStrike">
                          <a:effectLst/>
                        </a:rPr>
                        <a:t>115.826</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tc>
                  <a:txBody>
                    <a:bodyPr/>
                    <a:lstStyle/>
                    <a:p>
                      <a:pPr algn="l" fontAlgn="t"/>
                      <a:r>
                        <a:rPr lang="en-US" sz="1400" u="none" strike="noStrike">
                          <a:effectLst/>
                        </a:rPr>
                        <a:t> </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tc>
                  <a:txBody>
                    <a:bodyPr/>
                    <a:lstStyle/>
                    <a:p>
                      <a:pPr algn="ctr" fontAlgn="t"/>
                      <a:r>
                        <a:rPr lang="en-US" sz="1400" u="none" strike="noStrike" dirty="0">
                          <a:effectLst/>
                        </a:rPr>
                        <a:t>2.853</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tc>
                  <a:txBody>
                    <a:bodyPr/>
                    <a:lstStyle/>
                    <a:p>
                      <a:pPr algn="ctr" fontAlgn="t"/>
                      <a:r>
                        <a:rPr lang="en-US" sz="1400" u="none" strike="noStrike">
                          <a:effectLst/>
                        </a:rPr>
                        <a:t>.012</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extLst>
                  <a:ext uri="{0D108BD9-81ED-4DB2-BD59-A6C34878D82A}">
                    <a16:rowId xmlns:a16="http://schemas.microsoft.com/office/drawing/2014/main" val="2184635592"/>
                  </a:ext>
                </a:extLst>
              </a:tr>
              <a:tr h="165969">
                <a:tc vMerge="1">
                  <a:txBody>
                    <a:bodyPr/>
                    <a:lstStyle/>
                    <a:p>
                      <a:endParaRPr lang="en-US"/>
                    </a:p>
                  </a:txBody>
                  <a:tcPr/>
                </a:tc>
                <a:tc>
                  <a:txBody>
                    <a:bodyPr/>
                    <a:lstStyle/>
                    <a:p>
                      <a:pPr algn="l" fontAlgn="t"/>
                      <a:r>
                        <a:rPr lang="en-US" sz="1400" u="none" strike="noStrike" dirty="0">
                          <a:effectLst/>
                        </a:rPr>
                        <a:t>T2</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tc>
                  <a:txBody>
                    <a:bodyPr/>
                    <a:lstStyle/>
                    <a:p>
                      <a:pPr algn="r" fontAlgn="t"/>
                      <a:r>
                        <a:rPr lang="en-US" sz="1400" u="none" strike="noStrike">
                          <a:effectLst/>
                        </a:rPr>
                        <a:t>7.811</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tc>
                  <a:txBody>
                    <a:bodyPr/>
                    <a:lstStyle/>
                    <a:p>
                      <a:pPr algn="r" fontAlgn="t"/>
                      <a:r>
                        <a:rPr lang="en-US" sz="1400" u="none" strike="noStrike">
                          <a:effectLst/>
                        </a:rPr>
                        <a:t>2.563</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tc>
                  <a:txBody>
                    <a:bodyPr/>
                    <a:lstStyle/>
                    <a:p>
                      <a:pPr algn="r" fontAlgn="t"/>
                      <a:r>
                        <a:rPr lang="en-US" sz="1400" u="none" strike="noStrike">
                          <a:effectLst/>
                        </a:rPr>
                        <a:t>.581</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tc>
                  <a:txBody>
                    <a:bodyPr/>
                    <a:lstStyle/>
                    <a:p>
                      <a:pPr algn="ctr" fontAlgn="t"/>
                      <a:r>
                        <a:rPr lang="en-US" sz="1400" u="none" strike="noStrike">
                          <a:effectLst/>
                        </a:rPr>
                        <a:t>3.048</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tc>
                  <a:txBody>
                    <a:bodyPr/>
                    <a:lstStyle/>
                    <a:p>
                      <a:pPr algn="ctr" fontAlgn="t"/>
                      <a:r>
                        <a:rPr lang="en-US" sz="1400" u="none" strike="noStrike">
                          <a:effectLst/>
                        </a:rPr>
                        <a:t>.008</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extLst>
                  <a:ext uri="{0D108BD9-81ED-4DB2-BD59-A6C34878D82A}">
                    <a16:rowId xmlns:a16="http://schemas.microsoft.com/office/drawing/2014/main" val="3288220856"/>
                  </a:ext>
                </a:extLst>
              </a:tr>
              <a:tr h="263261">
                <a:tc vMerge="1">
                  <a:txBody>
                    <a:bodyPr/>
                    <a:lstStyle/>
                    <a:p>
                      <a:endParaRPr lang="en-US"/>
                    </a:p>
                  </a:txBody>
                  <a:tcPr/>
                </a:tc>
                <a:tc>
                  <a:txBody>
                    <a:bodyPr/>
                    <a:lstStyle/>
                    <a:p>
                      <a:pPr algn="l" fontAlgn="t"/>
                      <a:r>
                        <a:rPr lang="en-US" sz="1400" u="none" strike="noStrike" dirty="0">
                          <a:effectLst/>
                        </a:rPr>
                        <a:t>OTINC</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tc>
                  <a:txBody>
                    <a:bodyPr/>
                    <a:lstStyle/>
                    <a:p>
                      <a:pPr algn="r" fontAlgn="t"/>
                      <a:r>
                        <a:rPr lang="en-US" sz="1400" u="none" strike="noStrike">
                          <a:effectLst/>
                        </a:rPr>
                        <a:t>.080</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tc>
                  <a:txBody>
                    <a:bodyPr/>
                    <a:lstStyle/>
                    <a:p>
                      <a:pPr algn="r" fontAlgn="t"/>
                      <a:r>
                        <a:rPr lang="en-US" sz="1400" u="none" strike="noStrike">
                          <a:effectLst/>
                        </a:rPr>
                        <a:t>.203</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tc>
                  <a:txBody>
                    <a:bodyPr/>
                    <a:lstStyle/>
                    <a:p>
                      <a:pPr algn="r" fontAlgn="t"/>
                      <a:r>
                        <a:rPr lang="en-US" sz="1400" u="none" strike="noStrike" dirty="0">
                          <a:effectLst/>
                        </a:rPr>
                        <a:t>.055</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tc>
                  <a:txBody>
                    <a:bodyPr/>
                    <a:lstStyle/>
                    <a:p>
                      <a:pPr algn="ctr" fontAlgn="t"/>
                      <a:r>
                        <a:rPr lang="en-US" sz="1400" u="none" strike="noStrike" dirty="0">
                          <a:effectLst/>
                        </a:rPr>
                        <a:t>.392</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tc>
                  <a:txBody>
                    <a:bodyPr/>
                    <a:lstStyle/>
                    <a:p>
                      <a:pPr algn="ctr" fontAlgn="t"/>
                      <a:r>
                        <a:rPr lang="en-US" sz="1400" u="none" strike="noStrike">
                          <a:effectLst/>
                        </a:rPr>
                        <a:t>.700</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extLst>
                  <a:ext uri="{0D108BD9-81ED-4DB2-BD59-A6C34878D82A}">
                    <a16:rowId xmlns:a16="http://schemas.microsoft.com/office/drawing/2014/main" val="2956020549"/>
                  </a:ext>
                </a:extLst>
              </a:tr>
              <a:tr h="263261">
                <a:tc vMerge="1">
                  <a:txBody>
                    <a:bodyPr/>
                    <a:lstStyle/>
                    <a:p>
                      <a:endParaRPr lang="en-US"/>
                    </a:p>
                  </a:txBody>
                  <a:tcPr/>
                </a:tc>
                <a:tc>
                  <a:txBody>
                    <a:bodyPr/>
                    <a:lstStyle/>
                    <a:p>
                      <a:pPr algn="l" fontAlgn="t"/>
                      <a:r>
                        <a:rPr lang="en-US" sz="1400" u="none" strike="noStrike" dirty="0">
                          <a:effectLst/>
                        </a:rPr>
                        <a:t>MATERIAL</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tc>
                  <a:txBody>
                    <a:bodyPr/>
                    <a:lstStyle/>
                    <a:p>
                      <a:pPr algn="r" fontAlgn="t"/>
                      <a:r>
                        <a:rPr lang="en-US" sz="1400" u="none" strike="noStrike">
                          <a:effectLst/>
                        </a:rPr>
                        <a:t>-.240</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tc>
                  <a:txBody>
                    <a:bodyPr/>
                    <a:lstStyle/>
                    <a:p>
                      <a:pPr algn="r" fontAlgn="t"/>
                      <a:r>
                        <a:rPr lang="en-US" sz="1400" u="none" strike="noStrike">
                          <a:effectLst/>
                        </a:rPr>
                        <a:t>.073</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tc>
                  <a:txBody>
                    <a:bodyPr/>
                    <a:lstStyle/>
                    <a:p>
                      <a:pPr algn="r" fontAlgn="t"/>
                      <a:r>
                        <a:rPr lang="en-US" sz="1400" u="none" strike="noStrike" dirty="0">
                          <a:effectLst/>
                        </a:rPr>
                        <a:t>-1.701</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tc>
                  <a:txBody>
                    <a:bodyPr/>
                    <a:lstStyle/>
                    <a:p>
                      <a:pPr algn="ctr" fontAlgn="t"/>
                      <a:r>
                        <a:rPr lang="en-US" sz="1400" u="none" strike="noStrike" dirty="0">
                          <a:effectLst/>
                        </a:rPr>
                        <a:t>-3.286</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tc>
                  <a:txBody>
                    <a:bodyPr/>
                    <a:lstStyle/>
                    <a:p>
                      <a:pPr algn="ctr" fontAlgn="t"/>
                      <a:r>
                        <a:rPr lang="en-US" sz="1400" u="none" strike="noStrike" dirty="0">
                          <a:effectLst/>
                        </a:rPr>
                        <a:t>.005</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extLst>
                  <a:ext uri="{0D108BD9-81ED-4DB2-BD59-A6C34878D82A}">
                    <a16:rowId xmlns:a16="http://schemas.microsoft.com/office/drawing/2014/main" val="571888504"/>
                  </a:ext>
                </a:extLst>
              </a:tr>
              <a:tr h="171692">
                <a:tc vMerge="1">
                  <a:txBody>
                    <a:bodyPr/>
                    <a:lstStyle/>
                    <a:p>
                      <a:endParaRPr lang="en-US"/>
                    </a:p>
                  </a:txBody>
                  <a:tcPr/>
                </a:tc>
                <a:tc>
                  <a:txBody>
                    <a:bodyPr/>
                    <a:lstStyle/>
                    <a:p>
                      <a:pPr algn="l" fontAlgn="t"/>
                      <a:r>
                        <a:rPr lang="en-US" sz="1400" u="none" strike="noStrike">
                          <a:effectLst/>
                        </a:rPr>
                        <a:t>SALES</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tc>
                  <a:txBody>
                    <a:bodyPr/>
                    <a:lstStyle/>
                    <a:p>
                      <a:pPr algn="r" fontAlgn="t"/>
                      <a:r>
                        <a:rPr lang="en-US" sz="1400" u="none" strike="noStrike" dirty="0">
                          <a:effectLst/>
                        </a:rPr>
                        <a:t>.148</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tc>
                  <a:txBody>
                    <a:bodyPr/>
                    <a:lstStyle/>
                    <a:p>
                      <a:pPr algn="r" fontAlgn="t"/>
                      <a:r>
                        <a:rPr lang="en-US" sz="1400" u="none" strike="noStrike" dirty="0">
                          <a:effectLst/>
                        </a:rPr>
                        <a:t>.055</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tc>
                  <a:txBody>
                    <a:bodyPr/>
                    <a:lstStyle/>
                    <a:p>
                      <a:pPr algn="r" fontAlgn="t"/>
                      <a:r>
                        <a:rPr lang="en-US" sz="1400" u="none" strike="noStrike">
                          <a:effectLst/>
                        </a:rPr>
                        <a:t>2.009</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tc>
                  <a:txBody>
                    <a:bodyPr/>
                    <a:lstStyle/>
                    <a:p>
                      <a:pPr algn="ctr" fontAlgn="t"/>
                      <a:r>
                        <a:rPr lang="en-US" sz="1400" u="none" strike="noStrike" dirty="0">
                          <a:effectLst/>
                        </a:rPr>
                        <a:t>2.704</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tc>
                  <a:txBody>
                    <a:bodyPr/>
                    <a:lstStyle/>
                    <a:p>
                      <a:pPr algn="ctr" fontAlgn="t"/>
                      <a:r>
                        <a:rPr lang="en-US" sz="1400" u="none" strike="noStrike" dirty="0">
                          <a:effectLst/>
                        </a:rPr>
                        <a:t>.016</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1">
                        <a:lumMod val="40000"/>
                        <a:lumOff val="60000"/>
                      </a:schemeClr>
                    </a:solidFill>
                  </a:tcPr>
                </a:tc>
                <a:extLst>
                  <a:ext uri="{0D108BD9-81ED-4DB2-BD59-A6C34878D82A}">
                    <a16:rowId xmlns:a16="http://schemas.microsoft.com/office/drawing/2014/main" val="4072148718"/>
                  </a:ext>
                </a:extLst>
              </a:tr>
              <a:tr h="171692">
                <a:tc rowSpan="4">
                  <a:txBody>
                    <a:bodyPr/>
                    <a:lstStyle/>
                    <a:p>
                      <a:pPr algn="ctr" fontAlgn="t"/>
                      <a:r>
                        <a:rPr lang="en-US" sz="1400" u="none" strike="noStrike" dirty="0">
                          <a:effectLst/>
                        </a:rPr>
                        <a:t>5</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6">
                        <a:lumMod val="60000"/>
                        <a:lumOff val="40000"/>
                      </a:schemeClr>
                    </a:solidFill>
                  </a:tcPr>
                </a:tc>
                <a:tc>
                  <a:txBody>
                    <a:bodyPr/>
                    <a:lstStyle/>
                    <a:p>
                      <a:pPr algn="l" fontAlgn="t"/>
                      <a:r>
                        <a:rPr lang="en-US" sz="1400" u="none" strike="noStrike">
                          <a:effectLst/>
                        </a:rPr>
                        <a:t>(Constant)</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6">
                        <a:lumMod val="60000"/>
                        <a:lumOff val="40000"/>
                      </a:schemeClr>
                    </a:solidFill>
                  </a:tcPr>
                </a:tc>
                <a:tc>
                  <a:txBody>
                    <a:bodyPr/>
                    <a:lstStyle/>
                    <a:p>
                      <a:pPr algn="r" fontAlgn="t"/>
                      <a:r>
                        <a:rPr lang="en-US" sz="1400" u="none" strike="noStrike" dirty="0">
                          <a:effectLst/>
                        </a:rPr>
                        <a:t>313.769</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6">
                        <a:lumMod val="60000"/>
                        <a:lumOff val="40000"/>
                      </a:schemeClr>
                    </a:solidFill>
                  </a:tcPr>
                </a:tc>
                <a:tc>
                  <a:txBody>
                    <a:bodyPr/>
                    <a:lstStyle/>
                    <a:p>
                      <a:pPr algn="r" fontAlgn="t"/>
                      <a:r>
                        <a:rPr lang="en-US" sz="1400" u="none" strike="noStrike">
                          <a:effectLst/>
                        </a:rPr>
                        <a:t>104.856</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6">
                        <a:lumMod val="60000"/>
                        <a:lumOff val="40000"/>
                      </a:schemeClr>
                    </a:solidFill>
                  </a:tcPr>
                </a:tc>
                <a:tc>
                  <a:txBody>
                    <a:bodyPr/>
                    <a:lstStyle/>
                    <a:p>
                      <a:pPr algn="l" fontAlgn="t"/>
                      <a:r>
                        <a:rPr lang="en-US" sz="1400" u="none" strike="noStrike">
                          <a:effectLst/>
                        </a:rPr>
                        <a:t> </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6">
                        <a:lumMod val="60000"/>
                        <a:lumOff val="40000"/>
                      </a:schemeClr>
                    </a:solidFill>
                  </a:tcPr>
                </a:tc>
                <a:tc>
                  <a:txBody>
                    <a:bodyPr/>
                    <a:lstStyle/>
                    <a:p>
                      <a:pPr algn="ctr" fontAlgn="t"/>
                      <a:r>
                        <a:rPr lang="en-US" sz="1400" u="none" strike="noStrike" dirty="0">
                          <a:effectLst/>
                        </a:rPr>
                        <a:t>2.992</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6">
                        <a:lumMod val="60000"/>
                        <a:lumOff val="40000"/>
                      </a:schemeClr>
                    </a:solidFill>
                  </a:tcPr>
                </a:tc>
                <a:tc>
                  <a:txBody>
                    <a:bodyPr/>
                    <a:lstStyle/>
                    <a:p>
                      <a:pPr algn="ctr" fontAlgn="t"/>
                      <a:r>
                        <a:rPr lang="en-US" sz="1400" u="none" strike="noStrike">
                          <a:effectLst/>
                        </a:rPr>
                        <a:t>.009</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6">
                        <a:lumMod val="60000"/>
                        <a:lumOff val="40000"/>
                      </a:schemeClr>
                    </a:solidFill>
                  </a:tcPr>
                </a:tc>
                <a:extLst>
                  <a:ext uri="{0D108BD9-81ED-4DB2-BD59-A6C34878D82A}">
                    <a16:rowId xmlns:a16="http://schemas.microsoft.com/office/drawing/2014/main" val="682938666"/>
                  </a:ext>
                </a:extLst>
              </a:tr>
              <a:tr h="165969">
                <a:tc vMerge="1">
                  <a:txBody>
                    <a:bodyPr/>
                    <a:lstStyle/>
                    <a:p>
                      <a:endParaRPr lang="en-US"/>
                    </a:p>
                  </a:txBody>
                  <a:tcPr/>
                </a:tc>
                <a:tc>
                  <a:txBody>
                    <a:bodyPr/>
                    <a:lstStyle/>
                    <a:p>
                      <a:pPr algn="l" fontAlgn="t"/>
                      <a:r>
                        <a:rPr lang="en-US" sz="1400" u="none" strike="noStrike" dirty="0">
                          <a:effectLst/>
                        </a:rPr>
                        <a:t>T2</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6">
                        <a:lumMod val="60000"/>
                        <a:lumOff val="40000"/>
                      </a:schemeClr>
                    </a:solidFill>
                  </a:tcPr>
                </a:tc>
                <a:tc>
                  <a:txBody>
                    <a:bodyPr/>
                    <a:lstStyle/>
                    <a:p>
                      <a:pPr algn="r" fontAlgn="t"/>
                      <a:r>
                        <a:rPr lang="en-US" sz="1400" u="none" strike="noStrike">
                          <a:effectLst/>
                        </a:rPr>
                        <a:t>7.226</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6">
                        <a:lumMod val="60000"/>
                        <a:lumOff val="40000"/>
                      </a:schemeClr>
                    </a:solidFill>
                  </a:tcPr>
                </a:tc>
                <a:tc>
                  <a:txBody>
                    <a:bodyPr/>
                    <a:lstStyle/>
                    <a:p>
                      <a:pPr algn="r" fontAlgn="t"/>
                      <a:r>
                        <a:rPr lang="en-US" sz="1400" u="none" strike="noStrike" dirty="0">
                          <a:effectLst/>
                        </a:rPr>
                        <a:t>2.030</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6">
                        <a:lumMod val="60000"/>
                        <a:lumOff val="40000"/>
                      </a:schemeClr>
                    </a:solidFill>
                  </a:tcPr>
                </a:tc>
                <a:tc>
                  <a:txBody>
                    <a:bodyPr/>
                    <a:lstStyle/>
                    <a:p>
                      <a:pPr algn="r" fontAlgn="t"/>
                      <a:r>
                        <a:rPr lang="en-US" sz="1400" u="none" strike="noStrike">
                          <a:effectLst/>
                        </a:rPr>
                        <a:t>.537</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6">
                        <a:lumMod val="60000"/>
                        <a:lumOff val="40000"/>
                      </a:schemeClr>
                    </a:solidFill>
                  </a:tcPr>
                </a:tc>
                <a:tc>
                  <a:txBody>
                    <a:bodyPr/>
                    <a:lstStyle/>
                    <a:p>
                      <a:pPr algn="ctr" fontAlgn="t"/>
                      <a:r>
                        <a:rPr lang="en-US" sz="1400" u="none" strike="noStrike" dirty="0">
                          <a:effectLst/>
                        </a:rPr>
                        <a:t>3.560</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6">
                        <a:lumMod val="60000"/>
                        <a:lumOff val="40000"/>
                      </a:schemeClr>
                    </a:solidFill>
                  </a:tcPr>
                </a:tc>
                <a:tc>
                  <a:txBody>
                    <a:bodyPr/>
                    <a:lstStyle/>
                    <a:p>
                      <a:pPr algn="ctr" fontAlgn="t"/>
                      <a:r>
                        <a:rPr lang="en-US" sz="1400" u="none" strike="noStrike">
                          <a:effectLst/>
                        </a:rPr>
                        <a:t>.003</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6">
                        <a:lumMod val="60000"/>
                        <a:lumOff val="40000"/>
                      </a:schemeClr>
                    </a:solidFill>
                  </a:tcPr>
                </a:tc>
                <a:extLst>
                  <a:ext uri="{0D108BD9-81ED-4DB2-BD59-A6C34878D82A}">
                    <a16:rowId xmlns:a16="http://schemas.microsoft.com/office/drawing/2014/main" val="3995875692"/>
                  </a:ext>
                </a:extLst>
              </a:tr>
              <a:tr h="263261">
                <a:tc vMerge="1">
                  <a:txBody>
                    <a:bodyPr/>
                    <a:lstStyle/>
                    <a:p>
                      <a:endParaRPr lang="en-US"/>
                    </a:p>
                  </a:txBody>
                  <a:tcPr/>
                </a:tc>
                <a:tc>
                  <a:txBody>
                    <a:bodyPr/>
                    <a:lstStyle/>
                    <a:p>
                      <a:pPr algn="l" fontAlgn="t"/>
                      <a:r>
                        <a:rPr lang="en-US" sz="1400" u="none" strike="noStrike">
                          <a:effectLst/>
                        </a:rPr>
                        <a:t>MATERIAL</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6">
                        <a:lumMod val="60000"/>
                        <a:lumOff val="40000"/>
                      </a:schemeClr>
                    </a:solidFill>
                  </a:tcPr>
                </a:tc>
                <a:tc>
                  <a:txBody>
                    <a:bodyPr/>
                    <a:lstStyle/>
                    <a:p>
                      <a:pPr algn="r" fontAlgn="t"/>
                      <a:r>
                        <a:rPr lang="en-US" sz="1400" u="none" strike="noStrike">
                          <a:effectLst/>
                        </a:rPr>
                        <a:t>-.263</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6">
                        <a:lumMod val="60000"/>
                        <a:lumOff val="40000"/>
                      </a:schemeClr>
                    </a:solidFill>
                  </a:tcPr>
                </a:tc>
                <a:tc>
                  <a:txBody>
                    <a:bodyPr/>
                    <a:lstStyle/>
                    <a:p>
                      <a:pPr algn="r" fontAlgn="t"/>
                      <a:r>
                        <a:rPr lang="en-US" sz="1400" u="none" strike="noStrike" dirty="0">
                          <a:effectLst/>
                        </a:rPr>
                        <a:t>.042</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6">
                        <a:lumMod val="60000"/>
                        <a:lumOff val="40000"/>
                      </a:schemeClr>
                    </a:solidFill>
                  </a:tcPr>
                </a:tc>
                <a:tc>
                  <a:txBody>
                    <a:bodyPr/>
                    <a:lstStyle/>
                    <a:p>
                      <a:pPr algn="r" fontAlgn="t"/>
                      <a:r>
                        <a:rPr lang="en-US" sz="1400" u="none" strike="noStrike" dirty="0">
                          <a:effectLst/>
                        </a:rPr>
                        <a:t>-1.865</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6">
                        <a:lumMod val="60000"/>
                        <a:lumOff val="40000"/>
                      </a:schemeClr>
                    </a:solidFill>
                  </a:tcPr>
                </a:tc>
                <a:tc>
                  <a:txBody>
                    <a:bodyPr/>
                    <a:lstStyle/>
                    <a:p>
                      <a:pPr algn="ctr" fontAlgn="t"/>
                      <a:r>
                        <a:rPr lang="en-US" sz="1400" u="none" strike="noStrike" dirty="0">
                          <a:effectLst/>
                        </a:rPr>
                        <a:t>-6.245</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6">
                        <a:lumMod val="60000"/>
                        <a:lumOff val="40000"/>
                      </a:schemeClr>
                    </a:solidFill>
                  </a:tcPr>
                </a:tc>
                <a:tc>
                  <a:txBody>
                    <a:bodyPr/>
                    <a:lstStyle/>
                    <a:p>
                      <a:pPr algn="ctr" fontAlgn="t"/>
                      <a:r>
                        <a:rPr lang="en-US" sz="1400" u="none" strike="noStrike" dirty="0">
                          <a:effectLst/>
                        </a:rPr>
                        <a:t>.000</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6">
                        <a:lumMod val="60000"/>
                        <a:lumOff val="40000"/>
                      </a:schemeClr>
                    </a:solidFill>
                  </a:tcPr>
                </a:tc>
                <a:extLst>
                  <a:ext uri="{0D108BD9-81ED-4DB2-BD59-A6C34878D82A}">
                    <a16:rowId xmlns:a16="http://schemas.microsoft.com/office/drawing/2014/main" val="2316811792"/>
                  </a:ext>
                </a:extLst>
              </a:tr>
              <a:tr h="171692">
                <a:tc vMerge="1">
                  <a:txBody>
                    <a:bodyPr/>
                    <a:lstStyle/>
                    <a:p>
                      <a:endParaRPr lang="en-US"/>
                    </a:p>
                  </a:txBody>
                  <a:tcPr/>
                </a:tc>
                <a:tc>
                  <a:txBody>
                    <a:bodyPr/>
                    <a:lstStyle/>
                    <a:p>
                      <a:pPr algn="l" fontAlgn="t"/>
                      <a:r>
                        <a:rPr lang="en-US" sz="1400" u="none" strike="noStrike">
                          <a:effectLst/>
                        </a:rPr>
                        <a:t>SALES</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6">
                        <a:lumMod val="60000"/>
                        <a:lumOff val="40000"/>
                      </a:schemeClr>
                    </a:solidFill>
                  </a:tcPr>
                </a:tc>
                <a:tc>
                  <a:txBody>
                    <a:bodyPr/>
                    <a:lstStyle/>
                    <a:p>
                      <a:pPr algn="r" fontAlgn="t"/>
                      <a:r>
                        <a:rPr lang="en-US" sz="1400" u="none" strike="noStrike">
                          <a:effectLst/>
                        </a:rPr>
                        <a:t>.167</a:t>
                      </a:r>
                      <a:endParaRPr lang="en-US" sz="1400" b="0" i="0" u="none" strike="noStrike">
                        <a:solidFill>
                          <a:srgbClr val="000000"/>
                        </a:solidFill>
                        <a:effectLst/>
                        <a:latin typeface="Arial" panose="020B0604020202020204" pitchFamily="34" charset="0"/>
                      </a:endParaRPr>
                    </a:p>
                  </a:txBody>
                  <a:tcPr marL="4386" marR="4386" marT="4386" marB="0" anchor="ctr">
                    <a:solidFill>
                      <a:schemeClr val="accent6">
                        <a:lumMod val="60000"/>
                        <a:lumOff val="40000"/>
                      </a:schemeClr>
                    </a:solidFill>
                  </a:tcPr>
                </a:tc>
                <a:tc>
                  <a:txBody>
                    <a:bodyPr/>
                    <a:lstStyle/>
                    <a:p>
                      <a:pPr algn="r" fontAlgn="t"/>
                      <a:r>
                        <a:rPr lang="en-US" sz="1400" u="none" strike="noStrike" dirty="0">
                          <a:effectLst/>
                        </a:rPr>
                        <a:t>.027</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6">
                        <a:lumMod val="60000"/>
                        <a:lumOff val="40000"/>
                      </a:schemeClr>
                    </a:solidFill>
                  </a:tcPr>
                </a:tc>
                <a:tc>
                  <a:txBody>
                    <a:bodyPr/>
                    <a:lstStyle/>
                    <a:p>
                      <a:pPr algn="r" fontAlgn="t"/>
                      <a:r>
                        <a:rPr lang="en-US" sz="1400" u="none" strike="noStrike" dirty="0">
                          <a:effectLst/>
                        </a:rPr>
                        <a:t>2.261</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6">
                        <a:lumMod val="60000"/>
                        <a:lumOff val="40000"/>
                      </a:schemeClr>
                    </a:solidFill>
                  </a:tcPr>
                </a:tc>
                <a:tc>
                  <a:txBody>
                    <a:bodyPr/>
                    <a:lstStyle/>
                    <a:p>
                      <a:pPr algn="ctr" fontAlgn="t"/>
                      <a:r>
                        <a:rPr lang="en-US" sz="1400" u="none" strike="noStrike" dirty="0">
                          <a:effectLst/>
                        </a:rPr>
                        <a:t>6.188</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6">
                        <a:lumMod val="60000"/>
                        <a:lumOff val="40000"/>
                      </a:schemeClr>
                    </a:solidFill>
                  </a:tcPr>
                </a:tc>
                <a:tc>
                  <a:txBody>
                    <a:bodyPr/>
                    <a:lstStyle/>
                    <a:p>
                      <a:pPr algn="ctr" fontAlgn="t"/>
                      <a:r>
                        <a:rPr lang="en-US" sz="1400" u="none" strike="noStrike" dirty="0">
                          <a:effectLst/>
                        </a:rPr>
                        <a:t>.000</a:t>
                      </a:r>
                      <a:endParaRPr lang="en-US" sz="1400" b="0" i="0" u="none" strike="noStrike" dirty="0">
                        <a:solidFill>
                          <a:srgbClr val="000000"/>
                        </a:solidFill>
                        <a:effectLst/>
                        <a:latin typeface="Arial" panose="020B0604020202020204" pitchFamily="34" charset="0"/>
                      </a:endParaRPr>
                    </a:p>
                  </a:txBody>
                  <a:tcPr marL="4386" marR="4386" marT="4386" marB="0" anchor="ctr">
                    <a:solidFill>
                      <a:schemeClr val="accent6">
                        <a:lumMod val="60000"/>
                        <a:lumOff val="40000"/>
                      </a:schemeClr>
                    </a:solidFill>
                  </a:tcPr>
                </a:tc>
                <a:extLst>
                  <a:ext uri="{0D108BD9-81ED-4DB2-BD59-A6C34878D82A}">
                    <a16:rowId xmlns:a16="http://schemas.microsoft.com/office/drawing/2014/main" val="2911077325"/>
                  </a:ext>
                </a:extLst>
              </a:tr>
              <a:tr h="171692">
                <a:tc gridSpan="7">
                  <a:txBody>
                    <a:bodyPr/>
                    <a:lstStyle/>
                    <a:p>
                      <a:pPr algn="l" fontAlgn="t"/>
                      <a:r>
                        <a:rPr lang="en-US" sz="1400" u="none" strike="noStrike" dirty="0">
                          <a:effectLst/>
                        </a:rPr>
                        <a:t>a. Dependent Variable: PBT</a:t>
                      </a:r>
                      <a:endParaRPr lang="en-US" sz="1400" b="0" i="0" u="none" strike="noStrike" dirty="0">
                        <a:solidFill>
                          <a:srgbClr val="000000"/>
                        </a:solidFill>
                        <a:effectLst/>
                        <a:latin typeface="Arial" panose="020B0604020202020204" pitchFamily="34" charset="0"/>
                      </a:endParaRPr>
                    </a:p>
                  </a:txBody>
                  <a:tcPr marL="4386" marR="4386" marT="4386"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0263918"/>
                  </a:ext>
                </a:extLst>
              </a:tr>
            </a:tbl>
          </a:graphicData>
        </a:graphic>
      </p:graphicFrame>
    </p:spTree>
    <p:extLst>
      <p:ext uri="{BB962C8B-B14F-4D97-AF65-F5344CB8AC3E}">
        <p14:creationId xmlns:p14="http://schemas.microsoft.com/office/powerpoint/2010/main" val="4633817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3A093-4936-4270-8475-D355F13B8029}"/>
              </a:ext>
            </a:extLst>
          </p:cNvPr>
          <p:cNvSpPr>
            <a:spLocks noGrp="1"/>
          </p:cNvSpPr>
          <p:nvPr>
            <p:ph type="title"/>
          </p:nvPr>
        </p:nvSpPr>
        <p:spPr>
          <a:xfrm>
            <a:off x="609600" y="304800"/>
            <a:ext cx="6347714" cy="838200"/>
          </a:xfrm>
        </p:spPr>
        <p:txBody>
          <a:bodyPr/>
          <a:lstStyle/>
          <a:p>
            <a:r>
              <a:rPr lang="en-US" dirty="0"/>
              <a:t>Stepwise Selection</a:t>
            </a:r>
          </a:p>
        </p:txBody>
      </p:sp>
      <p:graphicFrame>
        <p:nvGraphicFramePr>
          <p:cNvPr id="3" name="Table 2">
            <a:extLst>
              <a:ext uri="{FF2B5EF4-FFF2-40B4-BE49-F238E27FC236}">
                <a16:creationId xmlns:a16="http://schemas.microsoft.com/office/drawing/2014/main" id="{7ED99432-5C31-46D2-9922-A2A6F4C90F5B}"/>
              </a:ext>
            </a:extLst>
          </p:cNvPr>
          <p:cNvGraphicFramePr>
            <a:graphicFrameLocks noGrp="1"/>
          </p:cNvGraphicFramePr>
          <p:nvPr>
            <p:extLst>
              <p:ext uri="{D42A27DB-BD31-4B8C-83A1-F6EECF244321}">
                <p14:modId xmlns:p14="http://schemas.microsoft.com/office/powerpoint/2010/main" val="2373398429"/>
              </p:ext>
            </p:extLst>
          </p:nvPr>
        </p:nvGraphicFramePr>
        <p:xfrm>
          <a:off x="547856" y="990600"/>
          <a:ext cx="7757943" cy="5714994"/>
        </p:xfrm>
        <a:graphic>
          <a:graphicData uri="http://schemas.openxmlformats.org/drawingml/2006/table">
            <a:tbl>
              <a:tblPr>
                <a:tableStyleId>{5C22544A-7EE6-4342-B048-85BDC9FD1C3A}</a:tableStyleId>
              </a:tblPr>
              <a:tblGrid>
                <a:gridCol w="713386">
                  <a:extLst>
                    <a:ext uri="{9D8B030D-6E8A-4147-A177-3AD203B41FA5}">
                      <a16:colId xmlns:a16="http://schemas.microsoft.com/office/drawing/2014/main" val="3833548398"/>
                    </a:ext>
                  </a:extLst>
                </a:gridCol>
                <a:gridCol w="890691">
                  <a:extLst>
                    <a:ext uri="{9D8B030D-6E8A-4147-A177-3AD203B41FA5}">
                      <a16:colId xmlns:a16="http://schemas.microsoft.com/office/drawing/2014/main" val="317524051"/>
                    </a:ext>
                  </a:extLst>
                </a:gridCol>
                <a:gridCol w="809719">
                  <a:extLst>
                    <a:ext uri="{9D8B030D-6E8A-4147-A177-3AD203B41FA5}">
                      <a16:colId xmlns:a16="http://schemas.microsoft.com/office/drawing/2014/main" val="2983472790"/>
                    </a:ext>
                  </a:extLst>
                </a:gridCol>
                <a:gridCol w="1000748">
                  <a:extLst>
                    <a:ext uri="{9D8B030D-6E8A-4147-A177-3AD203B41FA5}">
                      <a16:colId xmlns:a16="http://schemas.microsoft.com/office/drawing/2014/main" val="2681611309"/>
                    </a:ext>
                  </a:extLst>
                </a:gridCol>
                <a:gridCol w="838200">
                  <a:extLst>
                    <a:ext uri="{9D8B030D-6E8A-4147-A177-3AD203B41FA5}">
                      <a16:colId xmlns:a16="http://schemas.microsoft.com/office/drawing/2014/main" val="3624933148"/>
                    </a:ext>
                  </a:extLst>
                </a:gridCol>
                <a:gridCol w="1524000">
                  <a:extLst>
                    <a:ext uri="{9D8B030D-6E8A-4147-A177-3AD203B41FA5}">
                      <a16:colId xmlns:a16="http://schemas.microsoft.com/office/drawing/2014/main" val="2112567509"/>
                    </a:ext>
                  </a:extLst>
                </a:gridCol>
                <a:gridCol w="1981199">
                  <a:extLst>
                    <a:ext uri="{9D8B030D-6E8A-4147-A177-3AD203B41FA5}">
                      <a16:colId xmlns:a16="http://schemas.microsoft.com/office/drawing/2014/main" val="4187015059"/>
                    </a:ext>
                  </a:extLst>
                </a:gridCol>
              </a:tblGrid>
              <a:tr h="193139">
                <a:tc gridSpan="7">
                  <a:txBody>
                    <a:bodyPr/>
                    <a:lstStyle/>
                    <a:p>
                      <a:pPr algn="ctr" fontAlgn="ctr"/>
                      <a:r>
                        <a:rPr lang="en-US" sz="1200" u="none" strike="noStrike" dirty="0">
                          <a:effectLst/>
                        </a:rPr>
                        <a:t>Excluded </a:t>
                      </a:r>
                      <a:r>
                        <a:rPr lang="en-US" sz="1200" u="none" strike="noStrike" dirty="0" err="1">
                          <a:effectLst/>
                        </a:rPr>
                        <a:t>Variables</a:t>
                      </a:r>
                      <a:r>
                        <a:rPr lang="en-US" sz="1200" u="none" strike="noStrike" baseline="30000" dirty="0" err="1">
                          <a:effectLst/>
                        </a:rPr>
                        <a:t>a</a:t>
                      </a:r>
                      <a:endParaRPr lang="en-US" sz="1200" b="1" i="0" u="none" strike="noStrike" dirty="0">
                        <a:solidFill>
                          <a:srgbClr val="000000"/>
                        </a:solidFill>
                        <a:effectLst/>
                        <a:latin typeface="Arial Bold" panose="020B0704020202020204" pitchFamily="34" charset="0"/>
                      </a:endParaRPr>
                    </a:p>
                  </a:txBody>
                  <a:tcPr marL="3921" marR="3921" marT="3921"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91814113"/>
                  </a:ext>
                </a:extLst>
              </a:tr>
              <a:tr h="200788">
                <a:tc rowSpan="2" gridSpan="2">
                  <a:txBody>
                    <a:bodyPr/>
                    <a:lstStyle/>
                    <a:p>
                      <a:pPr algn="l" fontAlgn="b"/>
                      <a:r>
                        <a:rPr lang="en-US" sz="1200" u="none" strike="noStrike">
                          <a:effectLst/>
                        </a:rPr>
                        <a:t>Model</a:t>
                      </a:r>
                      <a:endParaRPr lang="en-US" sz="1200" b="0" i="0" u="none" strike="noStrike">
                        <a:solidFill>
                          <a:srgbClr val="000000"/>
                        </a:solidFill>
                        <a:effectLst/>
                        <a:latin typeface="Arial" panose="020B0604020202020204" pitchFamily="34" charset="0"/>
                      </a:endParaRPr>
                    </a:p>
                  </a:txBody>
                  <a:tcPr marL="3921" marR="3921" marT="3921" marB="0" anchor="ctr"/>
                </a:tc>
                <a:tc rowSpan="2" hMerge="1">
                  <a:txBody>
                    <a:bodyPr/>
                    <a:lstStyle/>
                    <a:p>
                      <a:endParaRPr lang="en-US"/>
                    </a:p>
                  </a:txBody>
                  <a:tcPr/>
                </a:tc>
                <a:tc rowSpan="2">
                  <a:txBody>
                    <a:bodyPr/>
                    <a:lstStyle/>
                    <a:p>
                      <a:pPr algn="ctr" fontAlgn="b"/>
                      <a:r>
                        <a:rPr lang="en-US" sz="1200" u="none" strike="noStrike" dirty="0">
                          <a:effectLst/>
                        </a:rPr>
                        <a:t>Beta In</a:t>
                      </a:r>
                      <a:endParaRPr lang="en-US" sz="1200" b="0" i="0" u="none" strike="noStrike" dirty="0">
                        <a:solidFill>
                          <a:srgbClr val="000000"/>
                        </a:solidFill>
                        <a:effectLst/>
                        <a:latin typeface="Arial" panose="020B0604020202020204" pitchFamily="34" charset="0"/>
                      </a:endParaRPr>
                    </a:p>
                  </a:txBody>
                  <a:tcPr marL="3921" marR="3921" marT="3921" marB="0" anchor="ctr"/>
                </a:tc>
                <a:tc rowSpan="2">
                  <a:txBody>
                    <a:bodyPr/>
                    <a:lstStyle/>
                    <a:p>
                      <a:pPr algn="ctr" fontAlgn="b"/>
                      <a:r>
                        <a:rPr lang="en-US" sz="1200" u="none" strike="noStrike" dirty="0">
                          <a:effectLst/>
                        </a:rPr>
                        <a:t>t</a:t>
                      </a:r>
                      <a:endParaRPr lang="en-US" sz="1200" b="0" i="0" u="none" strike="noStrike" dirty="0">
                        <a:solidFill>
                          <a:srgbClr val="000000"/>
                        </a:solidFill>
                        <a:effectLst/>
                        <a:latin typeface="Arial" panose="020B0604020202020204" pitchFamily="34" charset="0"/>
                      </a:endParaRPr>
                    </a:p>
                  </a:txBody>
                  <a:tcPr marL="3921" marR="3921" marT="3921" marB="0" anchor="ctr"/>
                </a:tc>
                <a:tc rowSpan="2">
                  <a:txBody>
                    <a:bodyPr/>
                    <a:lstStyle/>
                    <a:p>
                      <a:pPr algn="ctr" fontAlgn="b"/>
                      <a:r>
                        <a:rPr lang="en-US" sz="1200" u="none" strike="noStrike" dirty="0">
                          <a:effectLst/>
                        </a:rPr>
                        <a:t>Sig.</a:t>
                      </a:r>
                      <a:endParaRPr lang="en-US" sz="1200" b="0" i="0" u="none" strike="noStrike" dirty="0">
                        <a:solidFill>
                          <a:srgbClr val="000000"/>
                        </a:solidFill>
                        <a:effectLst/>
                        <a:latin typeface="Arial" panose="020B0604020202020204" pitchFamily="34" charset="0"/>
                      </a:endParaRPr>
                    </a:p>
                  </a:txBody>
                  <a:tcPr marL="3921" marR="3921" marT="3921" marB="0" anchor="ctr"/>
                </a:tc>
                <a:tc rowSpan="2">
                  <a:txBody>
                    <a:bodyPr/>
                    <a:lstStyle/>
                    <a:p>
                      <a:pPr algn="ctr" fontAlgn="b"/>
                      <a:r>
                        <a:rPr lang="en-US" sz="1200" u="none" strike="noStrike" dirty="0">
                          <a:effectLst/>
                        </a:rPr>
                        <a:t>Partial Correlation</a:t>
                      </a:r>
                      <a:endParaRPr lang="en-US" sz="1200" b="0" i="0" u="none" strike="noStrike" dirty="0">
                        <a:solidFill>
                          <a:srgbClr val="000000"/>
                        </a:solidFill>
                        <a:effectLst/>
                        <a:latin typeface="Arial" panose="020B0604020202020204" pitchFamily="34" charset="0"/>
                      </a:endParaRPr>
                    </a:p>
                  </a:txBody>
                  <a:tcPr marL="3921" marR="3921" marT="3921" marB="0" anchor="ctr"/>
                </a:tc>
                <a:tc>
                  <a:txBody>
                    <a:bodyPr/>
                    <a:lstStyle/>
                    <a:p>
                      <a:pPr algn="ctr" fontAlgn="b"/>
                      <a:r>
                        <a:rPr lang="en-US" sz="1200" u="none" strike="noStrike">
                          <a:effectLst/>
                        </a:rPr>
                        <a:t>Collinearity Statistics</a:t>
                      </a:r>
                      <a:endParaRPr lang="en-US" sz="1200" b="0" i="0" u="none" strike="noStrike">
                        <a:solidFill>
                          <a:srgbClr val="000000"/>
                        </a:solidFill>
                        <a:effectLst/>
                        <a:latin typeface="Arial" panose="020B0604020202020204" pitchFamily="34" charset="0"/>
                      </a:endParaRPr>
                    </a:p>
                  </a:txBody>
                  <a:tcPr marL="3921" marR="3921" marT="3921" marB="0" anchor="ctr"/>
                </a:tc>
                <a:extLst>
                  <a:ext uri="{0D108BD9-81ED-4DB2-BD59-A6C34878D82A}">
                    <a16:rowId xmlns:a16="http://schemas.microsoft.com/office/drawing/2014/main" val="403436783"/>
                  </a:ext>
                </a:extLst>
              </a:tr>
              <a:tr h="282673">
                <a:tc gridSpan="2" vMerge="1">
                  <a:txBody>
                    <a:bodyPr/>
                    <a:lstStyle/>
                    <a:p>
                      <a:endParaRPr lang="en-US"/>
                    </a:p>
                  </a:txBody>
                  <a:tcPr/>
                </a:tc>
                <a:tc hMerge="1"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b"/>
                      <a:r>
                        <a:rPr lang="en-US" sz="1200" u="none" strike="noStrike">
                          <a:effectLst/>
                        </a:rPr>
                        <a:t>Tolerance</a:t>
                      </a:r>
                      <a:endParaRPr lang="en-US" sz="1200" b="0" i="0" u="none" strike="noStrike">
                        <a:solidFill>
                          <a:srgbClr val="000000"/>
                        </a:solidFill>
                        <a:effectLst/>
                        <a:latin typeface="Arial" panose="020B0604020202020204" pitchFamily="34" charset="0"/>
                      </a:endParaRPr>
                    </a:p>
                  </a:txBody>
                  <a:tcPr marL="3921" marR="3921" marT="3921" marB="0" anchor="ctr"/>
                </a:tc>
                <a:extLst>
                  <a:ext uri="{0D108BD9-81ED-4DB2-BD59-A6C34878D82A}">
                    <a16:rowId xmlns:a16="http://schemas.microsoft.com/office/drawing/2014/main" val="37938522"/>
                  </a:ext>
                </a:extLst>
              </a:tr>
              <a:tr h="276783">
                <a:tc rowSpan="6">
                  <a:txBody>
                    <a:bodyPr/>
                    <a:lstStyle/>
                    <a:p>
                      <a:pPr algn="ctr" fontAlgn="t"/>
                      <a:r>
                        <a:rPr lang="en-US" sz="1200" u="none" strike="noStrike" dirty="0">
                          <a:effectLst/>
                        </a:rPr>
                        <a:t>1</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l" fontAlgn="t"/>
                      <a:r>
                        <a:rPr lang="en-US" sz="1200" u="none" strike="noStrike">
                          <a:effectLst/>
                        </a:rPr>
                        <a:t>SALES</a:t>
                      </a:r>
                      <a:endParaRPr lang="en-US" sz="1200" b="0" i="0" u="none" strike="noStrike">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a:effectLst/>
                        </a:rPr>
                        <a:t>.167</a:t>
                      </a:r>
                      <a:r>
                        <a:rPr lang="en-US" sz="1200" u="none" strike="noStrike" baseline="30000">
                          <a:effectLst/>
                        </a:rPr>
                        <a:t>b</a:t>
                      </a:r>
                      <a:endParaRPr lang="en-US" sz="1200" b="0" i="0" u="none" strike="noStrike">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a:effectLst/>
                        </a:rPr>
                        <a:t>.640</a:t>
                      </a:r>
                      <a:endParaRPr lang="en-US" sz="1200" b="0" i="0" u="none" strike="noStrike">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dirty="0">
                          <a:effectLst/>
                        </a:rPr>
                        <a:t>.530</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dirty="0">
                          <a:effectLst/>
                        </a:rPr>
                        <a:t>.153</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a:effectLst/>
                        </a:rPr>
                        <a:t>.075</a:t>
                      </a:r>
                      <a:endParaRPr lang="en-US" sz="1200" b="0" i="0" u="none" strike="noStrike">
                        <a:solidFill>
                          <a:srgbClr val="000000"/>
                        </a:solidFill>
                        <a:effectLst/>
                        <a:latin typeface="Arial" panose="020B0604020202020204" pitchFamily="34" charset="0"/>
                      </a:endParaRPr>
                    </a:p>
                  </a:txBody>
                  <a:tcPr marL="3921" marR="3921" marT="3921" marB="0" anchor="ctr">
                    <a:solidFill>
                      <a:srgbClr val="DBFEFF"/>
                    </a:solidFill>
                  </a:tcPr>
                </a:tc>
                <a:extLst>
                  <a:ext uri="{0D108BD9-81ED-4DB2-BD59-A6C34878D82A}">
                    <a16:rowId xmlns:a16="http://schemas.microsoft.com/office/drawing/2014/main" val="4235394600"/>
                  </a:ext>
                </a:extLst>
              </a:tr>
              <a:tr h="270895">
                <a:tc vMerge="1">
                  <a:txBody>
                    <a:bodyPr/>
                    <a:lstStyle/>
                    <a:p>
                      <a:endParaRPr lang="en-US"/>
                    </a:p>
                  </a:txBody>
                  <a:tcPr/>
                </a:tc>
                <a:tc>
                  <a:txBody>
                    <a:bodyPr/>
                    <a:lstStyle/>
                    <a:p>
                      <a:pPr algn="l" fontAlgn="t"/>
                      <a:r>
                        <a:rPr lang="en-US" sz="1200" u="none" strike="noStrike" dirty="0">
                          <a:effectLst/>
                        </a:rPr>
                        <a:t>MATERIAL</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dirty="0">
                          <a:effectLst/>
                        </a:rPr>
                        <a:t>-.169</a:t>
                      </a:r>
                      <a:r>
                        <a:rPr lang="en-US" sz="1200" u="none" strike="noStrike" baseline="30000" dirty="0">
                          <a:effectLst/>
                        </a:rPr>
                        <a:t>b</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a:effectLst/>
                        </a:rPr>
                        <a:t>-.798</a:t>
                      </a:r>
                      <a:endParaRPr lang="en-US" sz="1200" b="0" i="0" u="none" strike="noStrike">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dirty="0">
                          <a:effectLst/>
                        </a:rPr>
                        <a:t>.436</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a:effectLst/>
                        </a:rPr>
                        <a:t>-.190</a:t>
                      </a:r>
                      <a:endParaRPr lang="en-US" sz="1200" b="0" i="0" u="none" strike="noStrike">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a:effectLst/>
                        </a:rPr>
                        <a:t>.112</a:t>
                      </a:r>
                      <a:endParaRPr lang="en-US" sz="1200" b="0" i="0" u="none" strike="noStrike">
                        <a:solidFill>
                          <a:srgbClr val="000000"/>
                        </a:solidFill>
                        <a:effectLst/>
                        <a:latin typeface="Arial" panose="020B0604020202020204" pitchFamily="34" charset="0"/>
                      </a:endParaRPr>
                    </a:p>
                  </a:txBody>
                  <a:tcPr marL="3921" marR="3921" marT="3921" marB="0" anchor="ctr">
                    <a:solidFill>
                      <a:srgbClr val="DBFEFF"/>
                    </a:solidFill>
                  </a:tcPr>
                </a:tc>
                <a:extLst>
                  <a:ext uri="{0D108BD9-81ED-4DB2-BD59-A6C34878D82A}">
                    <a16:rowId xmlns:a16="http://schemas.microsoft.com/office/drawing/2014/main" val="790083670"/>
                  </a:ext>
                </a:extLst>
              </a:tr>
              <a:tr h="270895">
                <a:tc vMerge="1">
                  <a:txBody>
                    <a:bodyPr/>
                    <a:lstStyle/>
                    <a:p>
                      <a:endParaRPr lang="en-US"/>
                    </a:p>
                  </a:txBody>
                  <a:tcPr/>
                </a:tc>
                <a:tc>
                  <a:txBody>
                    <a:bodyPr/>
                    <a:lstStyle/>
                    <a:p>
                      <a:pPr algn="l" fontAlgn="t"/>
                      <a:r>
                        <a:rPr lang="en-US" sz="1200" u="none" strike="noStrike">
                          <a:effectLst/>
                        </a:rPr>
                        <a:t>OTINC</a:t>
                      </a:r>
                      <a:endParaRPr lang="en-US" sz="1200" b="0" i="0" u="none" strike="noStrike">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a:effectLst/>
                        </a:rPr>
                        <a:t>.334</a:t>
                      </a:r>
                      <a:r>
                        <a:rPr lang="en-US" sz="1200" u="none" strike="noStrike" baseline="30000">
                          <a:effectLst/>
                        </a:rPr>
                        <a:t>b</a:t>
                      </a:r>
                      <a:endParaRPr lang="en-US" sz="1200" b="0" i="0" u="none" strike="noStrike">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a:effectLst/>
                        </a:rPr>
                        <a:t>3.678</a:t>
                      </a:r>
                      <a:endParaRPr lang="en-US" sz="1200" b="0" i="0" u="none" strike="noStrike">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a:effectLst/>
                        </a:rPr>
                        <a:t>.002</a:t>
                      </a:r>
                      <a:endParaRPr lang="en-US" sz="1200" b="0" i="0" u="none" strike="noStrike">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a:effectLst/>
                        </a:rPr>
                        <a:t>.666</a:t>
                      </a:r>
                      <a:endParaRPr lang="en-US" sz="1200" b="0" i="0" u="none" strike="noStrike">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a:effectLst/>
                        </a:rPr>
                        <a:t>.354</a:t>
                      </a:r>
                      <a:endParaRPr lang="en-US" sz="1200" b="0" i="0" u="none" strike="noStrike">
                        <a:solidFill>
                          <a:srgbClr val="000000"/>
                        </a:solidFill>
                        <a:effectLst/>
                        <a:latin typeface="Arial" panose="020B0604020202020204" pitchFamily="34" charset="0"/>
                      </a:endParaRPr>
                    </a:p>
                  </a:txBody>
                  <a:tcPr marL="3921" marR="3921" marT="3921" marB="0" anchor="ctr">
                    <a:solidFill>
                      <a:srgbClr val="DBFEFF"/>
                    </a:solidFill>
                  </a:tcPr>
                </a:tc>
                <a:extLst>
                  <a:ext uri="{0D108BD9-81ED-4DB2-BD59-A6C34878D82A}">
                    <a16:rowId xmlns:a16="http://schemas.microsoft.com/office/drawing/2014/main" val="4132705931"/>
                  </a:ext>
                </a:extLst>
              </a:tr>
              <a:tr h="276783">
                <a:tc vMerge="1">
                  <a:txBody>
                    <a:bodyPr/>
                    <a:lstStyle/>
                    <a:p>
                      <a:endParaRPr lang="en-US"/>
                    </a:p>
                  </a:txBody>
                  <a:tcPr/>
                </a:tc>
                <a:tc>
                  <a:txBody>
                    <a:bodyPr/>
                    <a:lstStyle/>
                    <a:p>
                      <a:pPr algn="l" fontAlgn="t"/>
                      <a:r>
                        <a:rPr lang="en-US" sz="1200" u="none" strike="noStrike">
                          <a:effectLst/>
                        </a:rPr>
                        <a:t>EMPL</a:t>
                      </a:r>
                      <a:endParaRPr lang="en-US" sz="1200" b="0" i="0" u="none" strike="noStrike">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dirty="0">
                          <a:effectLst/>
                        </a:rPr>
                        <a:t>-.223</a:t>
                      </a:r>
                      <a:r>
                        <a:rPr lang="en-US" sz="1200" u="none" strike="noStrike" baseline="30000" dirty="0">
                          <a:effectLst/>
                        </a:rPr>
                        <a:t>b</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dirty="0">
                          <a:effectLst/>
                        </a:rPr>
                        <a:t>-1.626</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dirty="0">
                          <a:effectLst/>
                        </a:rPr>
                        <a:t>.122</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a:effectLst/>
                        </a:rPr>
                        <a:t>-.367</a:t>
                      </a:r>
                      <a:endParaRPr lang="en-US" sz="1200" b="0" i="0" u="none" strike="noStrike">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a:effectLst/>
                        </a:rPr>
                        <a:t>.240</a:t>
                      </a:r>
                      <a:endParaRPr lang="en-US" sz="1200" b="0" i="0" u="none" strike="noStrike">
                        <a:solidFill>
                          <a:srgbClr val="000000"/>
                        </a:solidFill>
                        <a:effectLst/>
                        <a:latin typeface="Arial" panose="020B0604020202020204" pitchFamily="34" charset="0"/>
                      </a:endParaRPr>
                    </a:p>
                  </a:txBody>
                  <a:tcPr marL="3921" marR="3921" marT="3921" marB="0" anchor="ctr">
                    <a:solidFill>
                      <a:srgbClr val="DBFEFF"/>
                    </a:solidFill>
                  </a:tcPr>
                </a:tc>
                <a:extLst>
                  <a:ext uri="{0D108BD9-81ED-4DB2-BD59-A6C34878D82A}">
                    <a16:rowId xmlns:a16="http://schemas.microsoft.com/office/drawing/2014/main" val="1449925839"/>
                  </a:ext>
                </a:extLst>
              </a:tr>
              <a:tr h="193139">
                <a:tc vMerge="1">
                  <a:txBody>
                    <a:bodyPr/>
                    <a:lstStyle/>
                    <a:p>
                      <a:endParaRPr lang="en-US"/>
                    </a:p>
                  </a:txBody>
                  <a:tcPr/>
                </a:tc>
                <a:tc>
                  <a:txBody>
                    <a:bodyPr/>
                    <a:lstStyle/>
                    <a:p>
                      <a:pPr algn="l" fontAlgn="t"/>
                      <a:r>
                        <a:rPr lang="en-US" sz="1200" u="none" strike="noStrike">
                          <a:effectLst/>
                        </a:rPr>
                        <a:t>INT</a:t>
                      </a:r>
                      <a:endParaRPr lang="en-US" sz="1200" b="0" i="0" u="none" strike="noStrike">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dirty="0">
                          <a:effectLst/>
                        </a:rPr>
                        <a:t>.282</a:t>
                      </a:r>
                      <a:r>
                        <a:rPr lang="en-US" sz="1200" u="none" strike="noStrike" baseline="30000" dirty="0">
                          <a:effectLst/>
                        </a:rPr>
                        <a:t>b</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a:effectLst/>
                        </a:rPr>
                        <a:t>1.292</a:t>
                      </a:r>
                      <a:endParaRPr lang="en-US" sz="1200" b="0" i="0" u="none" strike="noStrike">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a:effectLst/>
                        </a:rPr>
                        <a:t>.214</a:t>
                      </a:r>
                      <a:endParaRPr lang="en-US" sz="1200" b="0" i="0" u="none" strike="noStrike">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dirty="0">
                          <a:effectLst/>
                        </a:rPr>
                        <a:t>.299</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a:effectLst/>
                        </a:rPr>
                        <a:t>.100</a:t>
                      </a:r>
                      <a:endParaRPr lang="en-US" sz="1200" b="0" i="0" u="none" strike="noStrike">
                        <a:solidFill>
                          <a:srgbClr val="000000"/>
                        </a:solidFill>
                        <a:effectLst/>
                        <a:latin typeface="Arial" panose="020B0604020202020204" pitchFamily="34" charset="0"/>
                      </a:endParaRPr>
                    </a:p>
                  </a:txBody>
                  <a:tcPr marL="3921" marR="3921" marT="3921" marB="0" anchor="ctr">
                    <a:solidFill>
                      <a:srgbClr val="DBFEFF"/>
                    </a:solidFill>
                  </a:tcPr>
                </a:tc>
                <a:extLst>
                  <a:ext uri="{0D108BD9-81ED-4DB2-BD59-A6C34878D82A}">
                    <a16:rowId xmlns:a16="http://schemas.microsoft.com/office/drawing/2014/main" val="182532946"/>
                  </a:ext>
                </a:extLst>
              </a:tr>
              <a:tr h="270895">
                <a:tc vMerge="1">
                  <a:txBody>
                    <a:bodyPr/>
                    <a:lstStyle/>
                    <a:p>
                      <a:endParaRPr lang="en-US"/>
                    </a:p>
                  </a:txBody>
                  <a:tcPr/>
                </a:tc>
                <a:tc>
                  <a:txBody>
                    <a:bodyPr/>
                    <a:lstStyle/>
                    <a:p>
                      <a:pPr algn="l" fontAlgn="t"/>
                      <a:r>
                        <a:rPr lang="en-US" sz="1200" u="none" strike="noStrike">
                          <a:effectLst/>
                        </a:rPr>
                        <a:t>T</a:t>
                      </a:r>
                      <a:endParaRPr lang="en-US" sz="1200" b="0" i="0" u="none" strike="noStrike">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dirty="0">
                          <a:effectLst/>
                        </a:rPr>
                        <a:t>-.338</a:t>
                      </a:r>
                      <a:r>
                        <a:rPr lang="en-US" sz="1200" u="none" strike="noStrike" baseline="30000" dirty="0">
                          <a:effectLst/>
                        </a:rPr>
                        <a:t>b</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dirty="0">
                          <a:effectLst/>
                        </a:rPr>
                        <a:t>-1.153</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dirty="0">
                          <a:effectLst/>
                        </a:rPr>
                        <a:t>.265</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dirty="0">
                          <a:effectLst/>
                        </a:rPr>
                        <a:t>-.269</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DBFEFF"/>
                    </a:solidFill>
                  </a:tcPr>
                </a:tc>
                <a:tc>
                  <a:txBody>
                    <a:bodyPr/>
                    <a:lstStyle/>
                    <a:p>
                      <a:pPr algn="ctr" fontAlgn="t"/>
                      <a:r>
                        <a:rPr lang="en-US" sz="1200" u="none" strike="noStrike" dirty="0">
                          <a:effectLst/>
                        </a:rPr>
                        <a:t>.056</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DBFEFF"/>
                    </a:solidFill>
                  </a:tcPr>
                </a:tc>
                <a:extLst>
                  <a:ext uri="{0D108BD9-81ED-4DB2-BD59-A6C34878D82A}">
                    <a16:rowId xmlns:a16="http://schemas.microsoft.com/office/drawing/2014/main" val="2975439321"/>
                  </a:ext>
                </a:extLst>
              </a:tr>
              <a:tr h="193139">
                <a:tc rowSpan="5">
                  <a:txBody>
                    <a:bodyPr/>
                    <a:lstStyle/>
                    <a:p>
                      <a:pPr algn="ctr" fontAlgn="t"/>
                      <a:r>
                        <a:rPr lang="en-US" sz="1200" u="none" strike="noStrike" dirty="0">
                          <a:effectLst/>
                        </a:rPr>
                        <a:t>2</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CCFF99"/>
                    </a:solidFill>
                  </a:tcPr>
                </a:tc>
                <a:tc>
                  <a:txBody>
                    <a:bodyPr/>
                    <a:lstStyle/>
                    <a:p>
                      <a:pPr algn="l" fontAlgn="t"/>
                      <a:r>
                        <a:rPr lang="en-US" sz="1200" u="none" strike="noStrike">
                          <a:effectLst/>
                        </a:rPr>
                        <a:t>SALES</a:t>
                      </a:r>
                      <a:endParaRPr lang="en-US" sz="1200" b="0" i="0" u="none" strike="noStrike">
                        <a:solidFill>
                          <a:srgbClr val="000000"/>
                        </a:solidFill>
                        <a:effectLst/>
                        <a:latin typeface="Arial" panose="020B0604020202020204" pitchFamily="34" charset="0"/>
                      </a:endParaRPr>
                    </a:p>
                  </a:txBody>
                  <a:tcPr marL="3921" marR="3921" marT="3921" marB="0" anchor="ctr">
                    <a:solidFill>
                      <a:srgbClr val="CCFF99"/>
                    </a:solidFill>
                  </a:tcPr>
                </a:tc>
                <a:tc>
                  <a:txBody>
                    <a:bodyPr/>
                    <a:lstStyle/>
                    <a:p>
                      <a:pPr algn="ctr" fontAlgn="t"/>
                      <a:r>
                        <a:rPr lang="en-US" sz="1200" u="none" strike="noStrike">
                          <a:effectLst/>
                        </a:rPr>
                        <a:t>-.358</a:t>
                      </a:r>
                      <a:r>
                        <a:rPr lang="en-US" sz="1200" u="none" strike="noStrike" baseline="30000">
                          <a:effectLst/>
                        </a:rPr>
                        <a:t>c</a:t>
                      </a:r>
                      <a:endParaRPr lang="en-US" sz="1200" b="0" i="0" u="none" strike="noStrike">
                        <a:solidFill>
                          <a:srgbClr val="000000"/>
                        </a:solidFill>
                        <a:effectLst/>
                        <a:latin typeface="Arial" panose="020B0604020202020204" pitchFamily="34" charset="0"/>
                      </a:endParaRPr>
                    </a:p>
                  </a:txBody>
                  <a:tcPr marL="3921" marR="3921" marT="3921" marB="0" anchor="ctr">
                    <a:solidFill>
                      <a:srgbClr val="CCFF99"/>
                    </a:solidFill>
                  </a:tcPr>
                </a:tc>
                <a:tc>
                  <a:txBody>
                    <a:bodyPr/>
                    <a:lstStyle/>
                    <a:p>
                      <a:pPr algn="ctr" fontAlgn="t"/>
                      <a:r>
                        <a:rPr lang="en-US" sz="1200" u="none" strike="noStrike" dirty="0">
                          <a:effectLst/>
                        </a:rPr>
                        <a:t>-1.559</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CCFF99"/>
                    </a:solidFill>
                  </a:tcPr>
                </a:tc>
                <a:tc>
                  <a:txBody>
                    <a:bodyPr/>
                    <a:lstStyle/>
                    <a:p>
                      <a:pPr algn="ctr" fontAlgn="t"/>
                      <a:r>
                        <a:rPr lang="en-US" sz="1200" u="none" strike="noStrike" dirty="0">
                          <a:effectLst/>
                        </a:rPr>
                        <a:t>.139</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CCFF99"/>
                    </a:solidFill>
                  </a:tcPr>
                </a:tc>
                <a:tc>
                  <a:txBody>
                    <a:bodyPr/>
                    <a:lstStyle/>
                    <a:p>
                      <a:pPr algn="ctr" fontAlgn="t"/>
                      <a:r>
                        <a:rPr lang="en-US" sz="1200" u="none" strike="noStrike" dirty="0">
                          <a:effectLst/>
                        </a:rPr>
                        <a:t>-.363</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CCFF99"/>
                    </a:solidFill>
                  </a:tcPr>
                </a:tc>
                <a:tc>
                  <a:txBody>
                    <a:bodyPr/>
                    <a:lstStyle/>
                    <a:p>
                      <a:pPr algn="ctr" fontAlgn="t"/>
                      <a:r>
                        <a:rPr lang="en-US" sz="1200" u="none" strike="noStrike">
                          <a:effectLst/>
                        </a:rPr>
                        <a:t>.051</a:t>
                      </a:r>
                      <a:endParaRPr lang="en-US" sz="1200" b="0" i="0" u="none" strike="noStrike">
                        <a:solidFill>
                          <a:srgbClr val="000000"/>
                        </a:solidFill>
                        <a:effectLst/>
                        <a:latin typeface="Arial" panose="020B0604020202020204" pitchFamily="34" charset="0"/>
                      </a:endParaRPr>
                    </a:p>
                  </a:txBody>
                  <a:tcPr marL="3921" marR="3921" marT="3921" marB="0" anchor="ctr">
                    <a:solidFill>
                      <a:srgbClr val="CCFF99"/>
                    </a:solidFill>
                  </a:tcPr>
                </a:tc>
                <a:extLst>
                  <a:ext uri="{0D108BD9-81ED-4DB2-BD59-A6C34878D82A}">
                    <a16:rowId xmlns:a16="http://schemas.microsoft.com/office/drawing/2014/main" val="1044868113"/>
                  </a:ext>
                </a:extLst>
              </a:tr>
              <a:tr h="270895">
                <a:tc vMerge="1">
                  <a:txBody>
                    <a:bodyPr/>
                    <a:lstStyle/>
                    <a:p>
                      <a:endParaRPr lang="en-US"/>
                    </a:p>
                  </a:txBody>
                  <a:tcPr/>
                </a:tc>
                <a:tc>
                  <a:txBody>
                    <a:bodyPr/>
                    <a:lstStyle/>
                    <a:p>
                      <a:pPr algn="l" fontAlgn="t"/>
                      <a:r>
                        <a:rPr lang="en-US" sz="1200" u="none" strike="noStrike" dirty="0">
                          <a:effectLst/>
                        </a:rPr>
                        <a:t>MATERIAL</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CCFF99"/>
                    </a:solidFill>
                  </a:tcPr>
                </a:tc>
                <a:tc>
                  <a:txBody>
                    <a:bodyPr/>
                    <a:lstStyle/>
                    <a:p>
                      <a:pPr algn="ctr" fontAlgn="t"/>
                      <a:r>
                        <a:rPr lang="en-US" sz="1200" u="none" strike="noStrike" dirty="0">
                          <a:effectLst/>
                        </a:rPr>
                        <a:t>-.343</a:t>
                      </a:r>
                      <a:r>
                        <a:rPr lang="en-US" sz="1200" u="none" strike="noStrike" baseline="30000" dirty="0">
                          <a:effectLst/>
                        </a:rPr>
                        <a:t>c</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CCFF99"/>
                    </a:solidFill>
                  </a:tcPr>
                </a:tc>
                <a:tc>
                  <a:txBody>
                    <a:bodyPr/>
                    <a:lstStyle/>
                    <a:p>
                      <a:pPr algn="ctr" fontAlgn="t"/>
                      <a:r>
                        <a:rPr lang="en-US" sz="1200" u="none" strike="noStrike">
                          <a:effectLst/>
                        </a:rPr>
                        <a:t>-2.303</a:t>
                      </a:r>
                      <a:endParaRPr lang="en-US" sz="1200" b="0" i="0" u="none" strike="noStrike">
                        <a:solidFill>
                          <a:srgbClr val="000000"/>
                        </a:solidFill>
                        <a:effectLst/>
                        <a:latin typeface="Arial" panose="020B0604020202020204" pitchFamily="34" charset="0"/>
                      </a:endParaRPr>
                    </a:p>
                  </a:txBody>
                  <a:tcPr marL="3921" marR="3921" marT="3921" marB="0" anchor="ctr">
                    <a:solidFill>
                      <a:srgbClr val="CCFF99"/>
                    </a:solidFill>
                  </a:tcPr>
                </a:tc>
                <a:tc>
                  <a:txBody>
                    <a:bodyPr/>
                    <a:lstStyle/>
                    <a:p>
                      <a:pPr algn="ctr" fontAlgn="t"/>
                      <a:r>
                        <a:rPr lang="en-US" sz="1200" u="none" strike="noStrike" dirty="0">
                          <a:effectLst/>
                        </a:rPr>
                        <a:t>.035</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CCFF99"/>
                    </a:solidFill>
                  </a:tcPr>
                </a:tc>
                <a:tc>
                  <a:txBody>
                    <a:bodyPr/>
                    <a:lstStyle/>
                    <a:p>
                      <a:pPr algn="ctr" fontAlgn="t"/>
                      <a:r>
                        <a:rPr lang="en-US" sz="1200" u="none" strike="noStrike">
                          <a:effectLst/>
                        </a:rPr>
                        <a:t>-.499</a:t>
                      </a:r>
                      <a:endParaRPr lang="en-US" sz="1200" b="0" i="0" u="none" strike="noStrike">
                        <a:solidFill>
                          <a:srgbClr val="000000"/>
                        </a:solidFill>
                        <a:effectLst/>
                        <a:latin typeface="Arial" panose="020B0604020202020204" pitchFamily="34" charset="0"/>
                      </a:endParaRPr>
                    </a:p>
                  </a:txBody>
                  <a:tcPr marL="3921" marR="3921" marT="3921" marB="0" anchor="ctr">
                    <a:solidFill>
                      <a:srgbClr val="CCFF99"/>
                    </a:solidFill>
                  </a:tcPr>
                </a:tc>
                <a:tc>
                  <a:txBody>
                    <a:bodyPr/>
                    <a:lstStyle/>
                    <a:p>
                      <a:pPr algn="ctr" fontAlgn="t"/>
                      <a:r>
                        <a:rPr lang="en-US" sz="1200" u="none" strike="noStrike">
                          <a:effectLst/>
                        </a:rPr>
                        <a:t>.105</a:t>
                      </a:r>
                      <a:endParaRPr lang="en-US" sz="1200" b="0" i="0" u="none" strike="noStrike">
                        <a:solidFill>
                          <a:srgbClr val="000000"/>
                        </a:solidFill>
                        <a:effectLst/>
                        <a:latin typeface="Arial" panose="020B0604020202020204" pitchFamily="34" charset="0"/>
                      </a:endParaRPr>
                    </a:p>
                  </a:txBody>
                  <a:tcPr marL="3921" marR="3921" marT="3921" marB="0" anchor="ctr">
                    <a:solidFill>
                      <a:srgbClr val="CCFF99"/>
                    </a:solidFill>
                  </a:tcPr>
                </a:tc>
                <a:extLst>
                  <a:ext uri="{0D108BD9-81ED-4DB2-BD59-A6C34878D82A}">
                    <a16:rowId xmlns:a16="http://schemas.microsoft.com/office/drawing/2014/main" val="2861195766"/>
                  </a:ext>
                </a:extLst>
              </a:tr>
              <a:tr h="270895">
                <a:tc vMerge="1">
                  <a:txBody>
                    <a:bodyPr/>
                    <a:lstStyle/>
                    <a:p>
                      <a:endParaRPr lang="en-US"/>
                    </a:p>
                  </a:txBody>
                  <a:tcPr/>
                </a:tc>
                <a:tc>
                  <a:txBody>
                    <a:bodyPr/>
                    <a:lstStyle/>
                    <a:p>
                      <a:pPr algn="l" fontAlgn="t"/>
                      <a:r>
                        <a:rPr lang="en-US" sz="1200" u="none" strike="noStrike">
                          <a:effectLst/>
                        </a:rPr>
                        <a:t>EMPL</a:t>
                      </a:r>
                      <a:endParaRPr lang="en-US" sz="1200" b="0" i="0" u="none" strike="noStrike">
                        <a:solidFill>
                          <a:srgbClr val="000000"/>
                        </a:solidFill>
                        <a:effectLst/>
                        <a:latin typeface="Arial" panose="020B0604020202020204" pitchFamily="34" charset="0"/>
                      </a:endParaRPr>
                    </a:p>
                  </a:txBody>
                  <a:tcPr marL="3921" marR="3921" marT="3921" marB="0" anchor="ctr">
                    <a:solidFill>
                      <a:srgbClr val="CCFF99"/>
                    </a:solidFill>
                  </a:tcPr>
                </a:tc>
                <a:tc>
                  <a:txBody>
                    <a:bodyPr/>
                    <a:lstStyle/>
                    <a:p>
                      <a:pPr algn="ctr" fontAlgn="t"/>
                      <a:r>
                        <a:rPr lang="en-US" sz="1200" u="none" strike="noStrike" dirty="0">
                          <a:effectLst/>
                        </a:rPr>
                        <a:t>-.017</a:t>
                      </a:r>
                      <a:r>
                        <a:rPr lang="en-US" sz="1200" u="none" strike="noStrike" baseline="30000" dirty="0">
                          <a:effectLst/>
                        </a:rPr>
                        <a:t>c</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CCFF99"/>
                    </a:solidFill>
                  </a:tcPr>
                </a:tc>
                <a:tc>
                  <a:txBody>
                    <a:bodyPr/>
                    <a:lstStyle/>
                    <a:p>
                      <a:pPr algn="ctr" fontAlgn="t"/>
                      <a:r>
                        <a:rPr lang="en-US" sz="1200" u="none" strike="noStrike" dirty="0">
                          <a:effectLst/>
                        </a:rPr>
                        <a:t>-.130</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CCFF99"/>
                    </a:solidFill>
                  </a:tcPr>
                </a:tc>
                <a:tc>
                  <a:txBody>
                    <a:bodyPr/>
                    <a:lstStyle/>
                    <a:p>
                      <a:pPr algn="ctr" fontAlgn="t"/>
                      <a:r>
                        <a:rPr lang="en-US" sz="1200" u="none" strike="noStrike">
                          <a:effectLst/>
                        </a:rPr>
                        <a:t>.899</a:t>
                      </a:r>
                      <a:endParaRPr lang="en-US" sz="1200" b="0" i="0" u="none" strike="noStrike">
                        <a:solidFill>
                          <a:srgbClr val="000000"/>
                        </a:solidFill>
                        <a:effectLst/>
                        <a:latin typeface="Arial" panose="020B0604020202020204" pitchFamily="34" charset="0"/>
                      </a:endParaRPr>
                    </a:p>
                  </a:txBody>
                  <a:tcPr marL="3921" marR="3921" marT="3921" marB="0" anchor="ctr">
                    <a:solidFill>
                      <a:srgbClr val="CCFF99"/>
                    </a:solidFill>
                  </a:tcPr>
                </a:tc>
                <a:tc>
                  <a:txBody>
                    <a:bodyPr/>
                    <a:lstStyle/>
                    <a:p>
                      <a:pPr algn="ctr" fontAlgn="t"/>
                      <a:r>
                        <a:rPr lang="en-US" sz="1200" u="none" strike="noStrike" dirty="0">
                          <a:effectLst/>
                        </a:rPr>
                        <a:t>-.032</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CCFF99"/>
                    </a:solidFill>
                  </a:tcPr>
                </a:tc>
                <a:tc>
                  <a:txBody>
                    <a:bodyPr/>
                    <a:lstStyle/>
                    <a:p>
                      <a:pPr algn="ctr" fontAlgn="t"/>
                      <a:r>
                        <a:rPr lang="en-US" sz="1200" u="none" strike="noStrike">
                          <a:effectLst/>
                        </a:rPr>
                        <a:t>.175</a:t>
                      </a:r>
                      <a:endParaRPr lang="en-US" sz="1200" b="0" i="0" u="none" strike="noStrike">
                        <a:solidFill>
                          <a:srgbClr val="000000"/>
                        </a:solidFill>
                        <a:effectLst/>
                        <a:latin typeface="Arial" panose="020B0604020202020204" pitchFamily="34" charset="0"/>
                      </a:endParaRPr>
                    </a:p>
                  </a:txBody>
                  <a:tcPr marL="3921" marR="3921" marT="3921" marB="0" anchor="ctr">
                    <a:solidFill>
                      <a:srgbClr val="CCFF99"/>
                    </a:solidFill>
                  </a:tcPr>
                </a:tc>
                <a:extLst>
                  <a:ext uri="{0D108BD9-81ED-4DB2-BD59-A6C34878D82A}">
                    <a16:rowId xmlns:a16="http://schemas.microsoft.com/office/drawing/2014/main" val="1906622348"/>
                  </a:ext>
                </a:extLst>
              </a:tr>
              <a:tr h="193139">
                <a:tc vMerge="1">
                  <a:txBody>
                    <a:bodyPr/>
                    <a:lstStyle/>
                    <a:p>
                      <a:endParaRPr lang="en-US"/>
                    </a:p>
                  </a:txBody>
                  <a:tcPr/>
                </a:tc>
                <a:tc>
                  <a:txBody>
                    <a:bodyPr/>
                    <a:lstStyle/>
                    <a:p>
                      <a:pPr algn="l" fontAlgn="t"/>
                      <a:r>
                        <a:rPr lang="en-US" sz="1200" u="none" strike="noStrike">
                          <a:effectLst/>
                        </a:rPr>
                        <a:t>INT</a:t>
                      </a:r>
                      <a:endParaRPr lang="en-US" sz="1200" b="0" i="0" u="none" strike="noStrike">
                        <a:solidFill>
                          <a:srgbClr val="000000"/>
                        </a:solidFill>
                        <a:effectLst/>
                        <a:latin typeface="Arial" panose="020B0604020202020204" pitchFamily="34" charset="0"/>
                      </a:endParaRPr>
                    </a:p>
                  </a:txBody>
                  <a:tcPr marL="3921" marR="3921" marT="3921" marB="0" anchor="ctr">
                    <a:solidFill>
                      <a:srgbClr val="CCFF99"/>
                    </a:solidFill>
                  </a:tcPr>
                </a:tc>
                <a:tc>
                  <a:txBody>
                    <a:bodyPr/>
                    <a:lstStyle/>
                    <a:p>
                      <a:pPr algn="ctr" fontAlgn="t"/>
                      <a:r>
                        <a:rPr lang="en-US" sz="1200" u="none" strike="noStrike">
                          <a:effectLst/>
                        </a:rPr>
                        <a:t>-.148</a:t>
                      </a:r>
                      <a:r>
                        <a:rPr lang="en-US" sz="1200" u="none" strike="noStrike" baseline="30000">
                          <a:effectLst/>
                        </a:rPr>
                        <a:t>c</a:t>
                      </a:r>
                      <a:endParaRPr lang="en-US" sz="1200" b="0" i="0" u="none" strike="noStrike">
                        <a:solidFill>
                          <a:srgbClr val="000000"/>
                        </a:solidFill>
                        <a:effectLst/>
                        <a:latin typeface="Arial" panose="020B0604020202020204" pitchFamily="34" charset="0"/>
                      </a:endParaRPr>
                    </a:p>
                  </a:txBody>
                  <a:tcPr marL="3921" marR="3921" marT="3921" marB="0" anchor="ctr">
                    <a:solidFill>
                      <a:srgbClr val="CCFF99"/>
                    </a:solidFill>
                  </a:tcPr>
                </a:tc>
                <a:tc>
                  <a:txBody>
                    <a:bodyPr/>
                    <a:lstStyle/>
                    <a:p>
                      <a:pPr algn="ctr" fontAlgn="t"/>
                      <a:r>
                        <a:rPr lang="en-US" sz="1200" u="none" strike="noStrike" dirty="0">
                          <a:effectLst/>
                        </a:rPr>
                        <a:t>-.682</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CCFF99"/>
                    </a:solidFill>
                  </a:tcPr>
                </a:tc>
                <a:tc>
                  <a:txBody>
                    <a:bodyPr/>
                    <a:lstStyle/>
                    <a:p>
                      <a:pPr algn="ctr" fontAlgn="t"/>
                      <a:r>
                        <a:rPr lang="en-US" sz="1200" u="none" strike="noStrike">
                          <a:effectLst/>
                        </a:rPr>
                        <a:t>.505</a:t>
                      </a:r>
                      <a:endParaRPr lang="en-US" sz="1200" b="0" i="0" u="none" strike="noStrike">
                        <a:solidFill>
                          <a:srgbClr val="000000"/>
                        </a:solidFill>
                        <a:effectLst/>
                        <a:latin typeface="Arial" panose="020B0604020202020204" pitchFamily="34" charset="0"/>
                      </a:endParaRPr>
                    </a:p>
                  </a:txBody>
                  <a:tcPr marL="3921" marR="3921" marT="3921" marB="0" anchor="ctr">
                    <a:solidFill>
                      <a:srgbClr val="CCFF99"/>
                    </a:solidFill>
                  </a:tcPr>
                </a:tc>
                <a:tc>
                  <a:txBody>
                    <a:bodyPr/>
                    <a:lstStyle/>
                    <a:p>
                      <a:pPr algn="ctr" fontAlgn="t"/>
                      <a:r>
                        <a:rPr lang="en-US" sz="1200" u="none" strike="noStrike">
                          <a:effectLst/>
                        </a:rPr>
                        <a:t>-.168</a:t>
                      </a:r>
                      <a:endParaRPr lang="en-US" sz="1200" b="0" i="0" u="none" strike="noStrike">
                        <a:solidFill>
                          <a:srgbClr val="000000"/>
                        </a:solidFill>
                        <a:effectLst/>
                        <a:latin typeface="Arial" panose="020B0604020202020204" pitchFamily="34" charset="0"/>
                      </a:endParaRPr>
                    </a:p>
                  </a:txBody>
                  <a:tcPr marL="3921" marR="3921" marT="3921" marB="0" anchor="ctr">
                    <a:solidFill>
                      <a:srgbClr val="CCFF99"/>
                    </a:solidFill>
                  </a:tcPr>
                </a:tc>
                <a:tc>
                  <a:txBody>
                    <a:bodyPr/>
                    <a:lstStyle/>
                    <a:p>
                      <a:pPr algn="ctr" fontAlgn="t"/>
                      <a:r>
                        <a:rPr lang="en-US" sz="1200" u="none" strike="noStrike" dirty="0">
                          <a:effectLst/>
                        </a:rPr>
                        <a:t>.064</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CCFF99"/>
                    </a:solidFill>
                  </a:tcPr>
                </a:tc>
                <a:extLst>
                  <a:ext uri="{0D108BD9-81ED-4DB2-BD59-A6C34878D82A}">
                    <a16:rowId xmlns:a16="http://schemas.microsoft.com/office/drawing/2014/main" val="952216390"/>
                  </a:ext>
                </a:extLst>
              </a:tr>
              <a:tr h="193139">
                <a:tc vMerge="1">
                  <a:txBody>
                    <a:bodyPr/>
                    <a:lstStyle/>
                    <a:p>
                      <a:endParaRPr lang="en-US"/>
                    </a:p>
                  </a:txBody>
                  <a:tcPr/>
                </a:tc>
                <a:tc>
                  <a:txBody>
                    <a:bodyPr/>
                    <a:lstStyle/>
                    <a:p>
                      <a:pPr algn="l" fontAlgn="t"/>
                      <a:r>
                        <a:rPr lang="en-US" sz="1200" u="none" strike="noStrike">
                          <a:effectLst/>
                        </a:rPr>
                        <a:t>T</a:t>
                      </a:r>
                      <a:endParaRPr lang="en-US" sz="1200" b="0" i="0" u="none" strike="noStrike">
                        <a:solidFill>
                          <a:srgbClr val="000000"/>
                        </a:solidFill>
                        <a:effectLst/>
                        <a:latin typeface="Arial" panose="020B0604020202020204" pitchFamily="34" charset="0"/>
                      </a:endParaRPr>
                    </a:p>
                  </a:txBody>
                  <a:tcPr marL="3921" marR="3921" marT="3921" marB="0" anchor="ctr">
                    <a:solidFill>
                      <a:srgbClr val="CCFF99"/>
                    </a:solidFill>
                  </a:tcPr>
                </a:tc>
                <a:tc>
                  <a:txBody>
                    <a:bodyPr/>
                    <a:lstStyle/>
                    <a:p>
                      <a:pPr algn="ctr" fontAlgn="t"/>
                      <a:r>
                        <a:rPr lang="en-US" sz="1200" u="none" strike="noStrike" dirty="0">
                          <a:effectLst/>
                        </a:rPr>
                        <a:t>.115</a:t>
                      </a:r>
                      <a:r>
                        <a:rPr lang="en-US" sz="1200" u="none" strike="noStrike" baseline="30000" dirty="0">
                          <a:effectLst/>
                        </a:rPr>
                        <a:t>c</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CCFF99"/>
                    </a:solidFill>
                  </a:tcPr>
                </a:tc>
                <a:tc>
                  <a:txBody>
                    <a:bodyPr/>
                    <a:lstStyle/>
                    <a:p>
                      <a:pPr algn="ctr" fontAlgn="t"/>
                      <a:r>
                        <a:rPr lang="en-US" sz="1200" u="none" strike="noStrike" dirty="0">
                          <a:effectLst/>
                        </a:rPr>
                        <a:t>.427</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CCFF99"/>
                    </a:solidFill>
                  </a:tcPr>
                </a:tc>
                <a:tc>
                  <a:txBody>
                    <a:bodyPr/>
                    <a:lstStyle/>
                    <a:p>
                      <a:pPr algn="ctr" fontAlgn="t"/>
                      <a:r>
                        <a:rPr lang="en-US" sz="1200" u="none" strike="noStrike" dirty="0">
                          <a:effectLst/>
                        </a:rPr>
                        <a:t>.675</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CCFF99"/>
                    </a:solidFill>
                  </a:tcPr>
                </a:tc>
                <a:tc>
                  <a:txBody>
                    <a:bodyPr/>
                    <a:lstStyle/>
                    <a:p>
                      <a:pPr algn="ctr" fontAlgn="t"/>
                      <a:r>
                        <a:rPr lang="en-US" sz="1200" u="none" strike="noStrike" dirty="0">
                          <a:effectLst/>
                        </a:rPr>
                        <a:t>.106</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CCFF99"/>
                    </a:solidFill>
                  </a:tcPr>
                </a:tc>
                <a:tc>
                  <a:txBody>
                    <a:bodyPr/>
                    <a:lstStyle/>
                    <a:p>
                      <a:pPr algn="ctr" fontAlgn="t"/>
                      <a:r>
                        <a:rPr lang="en-US" sz="1200" u="none" strike="noStrike" dirty="0">
                          <a:effectLst/>
                        </a:rPr>
                        <a:t>.042</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CCFF99"/>
                    </a:solidFill>
                  </a:tcPr>
                </a:tc>
                <a:extLst>
                  <a:ext uri="{0D108BD9-81ED-4DB2-BD59-A6C34878D82A}">
                    <a16:rowId xmlns:a16="http://schemas.microsoft.com/office/drawing/2014/main" val="1988932490"/>
                  </a:ext>
                </a:extLst>
              </a:tr>
              <a:tr h="270895">
                <a:tc rowSpan="4">
                  <a:txBody>
                    <a:bodyPr/>
                    <a:lstStyle/>
                    <a:p>
                      <a:pPr algn="ctr" fontAlgn="t"/>
                      <a:r>
                        <a:rPr lang="en-US" sz="1200" u="none" strike="noStrike" dirty="0">
                          <a:effectLst/>
                        </a:rPr>
                        <a:t>3</a:t>
                      </a:r>
                      <a:endParaRPr lang="en-US" sz="1200" b="0" i="0" u="none" strike="noStrike" dirty="0">
                        <a:solidFill>
                          <a:srgbClr val="000000"/>
                        </a:solidFill>
                        <a:effectLst/>
                        <a:latin typeface="Arial" panose="020B0604020202020204" pitchFamily="34" charset="0"/>
                      </a:endParaRPr>
                    </a:p>
                  </a:txBody>
                  <a:tcPr marL="3921" marR="3921" marT="3921" marB="0" anchor="ctr"/>
                </a:tc>
                <a:tc>
                  <a:txBody>
                    <a:bodyPr/>
                    <a:lstStyle/>
                    <a:p>
                      <a:pPr algn="l" fontAlgn="t"/>
                      <a:r>
                        <a:rPr lang="en-US" sz="1200" u="none" strike="noStrike">
                          <a:effectLst/>
                        </a:rPr>
                        <a:t>SALES</a:t>
                      </a:r>
                      <a:endParaRPr lang="en-US" sz="1200" b="0" i="0" u="none" strike="noStrike">
                        <a:solidFill>
                          <a:srgbClr val="000000"/>
                        </a:solidFill>
                        <a:effectLst/>
                        <a:latin typeface="Arial" panose="020B0604020202020204" pitchFamily="34" charset="0"/>
                      </a:endParaRPr>
                    </a:p>
                  </a:txBody>
                  <a:tcPr marL="3921" marR="3921" marT="3921" marB="0" anchor="ctr"/>
                </a:tc>
                <a:tc>
                  <a:txBody>
                    <a:bodyPr/>
                    <a:lstStyle/>
                    <a:p>
                      <a:pPr algn="ctr" fontAlgn="t"/>
                      <a:r>
                        <a:rPr lang="en-US" sz="1200" u="none" strike="noStrike">
                          <a:effectLst/>
                        </a:rPr>
                        <a:t>2.009</a:t>
                      </a:r>
                      <a:r>
                        <a:rPr lang="en-US" sz="1200" u="none" strike="noStrike" baseline="30000">
                          <a:effectLst/>
                        </a:rPr>
                        <a:t>d</a:t>
                      </a:r>
                      <a:endParaRPr lang="en-US" sz="1200" b="0" i="0" u="none" strike="noStrike">
                        <a:solidFill>
                          <a:srgbClr val="000000"/>
                        </a:solidFill>
                        <a:effectLst/>
                        <a:latin typeface="Arial" panose="020B0604020202020204" pitchFamily="34" charset="0"/>
                      </a:endParaRPr>
                    </a:p>
                  </a:txBody>
                  <a:tcPr marL="3921" marR="3921" marT="3921" marB="0" anchor="ctr"/>
                </a:tc>
                <a:tc>
                  <a:txBody>
                    <a:bodyPr/>
                    <a:lstStyle/>
                    <a:p>
                      <a:pPr algn="ctr" fontAlgn="t"/>
                      <a:r>
                        <a:rPr lang="en-US" sz="1200" u="none" strike="noStrike" dirty="0">
                          <a:effectLst/>
                        </a:rPr>
                        <a:t>2.704</a:t>
                      </a:r>
                      <a:endParaRPr lang="en-US" sz="1200" b="0" i="0" u="none" strike="noStrike" dirty="0">
                        <a:solidFill>
                          <a:srgbClr val="000000"/>
                        </a:solidFill>
                        <a:effectLst/>
                        <a:latin typeface="Arial" panose="020B0604020202020204" pitchFamily="34" charset="0"/>
                      </a:endParaRPr>
                    </a:p>
                  </a:txBody>
                  <a:tcPr marL="3921" marR="3921" marT="3921" marB="0" anchor="ctr"/>
                </a:tc>
                <a:tc>
                  <a:txBody>
                    <a:bodyPr/>
                    <a:lstStyle/>
                    <a:p>
                      <a:pPr algn="ctr" fontAlgn="t"/>
                      <a:r>
                        <a:rPr lang="en-US" sz="1200" u="none" strike="noStrike" dirty="0">
                          <a:effectLst/>
                        </a:rPr>
                        <a:t>.016</a:t>
                      </a:r>
                      <a:endParaRPr lang="en-US" sz="1200" b="0" i="0" u="none" strike="noStrike" dirty="0">
                        <a:solidFill>
                          <a:srgbClr val="000000"/>
                        </a:solidFill>
                        <a:effectLst/>
                        <a:latin typeface="Arial" panose="020B0604020202020204" pitchFamily="34" charset="0"/>
                      </a:endParaRPr>
                    </a:p>
                  </a:txBody>
                  <a:tcPr marL="3921" marR="3921" marT="3921" marB="0" anchor="ctr"/>
                </a:tc>
                <a:tc>
                  <a:txBody>
                    <a:bodyPr/>
                    <a:lstStyle/>
                    <a:p>
                      <a:pPr algn="ctr" fontAlgn="t"/>
                      <a:r>
                        <a:rPr lang="en-US" sz="1200" u="none" strike="noStrike" dirty="0">
                          <a:effectLst/>
                        </a:rPr>
                        <a:t>.572</a:t>
                      </a:r>
                      <a:endParaRPr lang="en-US" sz="1200" b="0" i="0" u="none" strike="noStrike" dirty="0">
                        <a:solidFill>
                          <a:srgbClr val="000000"/>
                        </a:solidFill>
                        <a:effectLst/>
                        <a:latin typeface="Arial" panose="020B0604020202020204" pitchFamily="34" charset="0"/>
                      </a:endParaRPr>
                    </a:p>
                  </a:txBody>
                  <a:tcPr marL="3921" marR="3921" marT="3921" marB="0" anchor="ctr"/>
                </a:tc>
                <a:tc>
                  <a:txBody>
                    <a:bodyPr/>
                    <a:lstStyle/>
                    <a:p>
                      <a:pPr algn="ctr" fontAlgn="t"/>
                      <a:r>
                        <a:rPr lang="en-US" sz="1200" u="none" strike="noStrike">
                          <a:effectLst/>
                        </a:rPr>
                        <a:t>.003</a:t>
                      </a:r>
                      <a:endParaRPr lang="en-US" sz="1200" b="0" i="0" u="none" strike="noStrike">
                        <a:solidFill>
                          <a:srgbClr val="000000"/>
                        </a:solidFill>
                        <a:effectLst/>
                        <a:latin typeface="Arial" panose="020B0604020202020204" pitchFamily="34" charset="0"/>
                      </a:endParaRPr>
                    </a:p>
                  </a:txBody>
                  <a:tcPr marL="3921" marR="3921" marT="3921" marB="0" anchor="ctr"/>
                </a:tc>
                <a:extLst>
                  <a:ext uri="{0D108BD9-81ED-4DB2-BD59-A6C34878D82A}">
                    <a16:rowId xmlns:a16="http://schemas.microsoft.com/office/drawing/2014/main" val="622458276"/>
                  </a:ext>
                </a:extLst>
              </a:tr>
              <a:tr h="270895">
                <a:tc vMerge="1">
                  <a:txBody>
                    <a:bodyPr/>
                    <a:lstStyle/>
                    <a:p>
                      <a:endParaRPr lang="en-US"/>
                    </a:p>
                  </a:txBody>
                  <a:tcPr/>
                </a:tc>
                <a:tc>
                  <a:txBody>
                    <a:bodyPr/>
                    <a:lstStyle/>
                    <a:p>
                      <a:pPr algn="l" fontAlgn="t"/>
                      <a:r>
                        <a:rPr lang="en-US" sz="1200" u="none" strike="noStrike">
                          <a:effectLst/>
                        </a:rPr>
                        <a:t>EMPL</a:t>
                      </a:r>
                      <a:endParaRPr lang="en-US" sz="1200" b="0" i="0" u="none" strike="noStrike">
                        <a:solidFill>
                          <a:srgbClr val="000000"/>
                        </a:solidFill>
                        <a:effectLst/>
                        <a:latin typeface="Arial" panose="020B0604020202020204" pitchFamily="34" charset="0"/>
                      </a:endParaRPr>
                    </a:p>
                  </a:txBody>
                  <a:tcPr marL="3921" marR="3921" marT="3921" marB="0" anchor="ctr"/>
                </a:tc>
                <a:tc>
                  <a:txBody>
                    <a:bodyPr/>
                    <a:lstStyle/>
                    <a:p>
                      <a:pPr algn="ctr" fontAlgn="t"/>
                      <a:r>
                        <a:rPr lang="en-US" sz="1200" u="none" strike="noStrike">
                          <a:effectLst/>
                        </a:rPr>
                        <a:t>-.214</a:t>
                      </a:r>
                      <a:r>
                        <a:rPr lang="en-US" sz="1200" u="none" strike="noStrike" baseline="30000">
                          <a:effectLst/>
                        </a:rPr>
                        <a:t>d</a:t>
                      </a:r>
                      <a:endParaRPr lang="en-US" sz="1200" b="0" i="0" u="none" strike="noStrike">
                        <a:solidFill>
                          <a:srgbClr val="000000"/>
                        </a:solidFill>
                        <a:effectLst/>
                        <a:latin typeface="Arial" panose="020B0604020202020204" pitchFamily="34" charset="0"/>
                      </a:endParaRPr>
                    </a:p>
                  </a:txBody>
                  <a:tcPr marL="3921" marR="3921" marT="3921" marB="0" anchor="ctr"/>
                </a:tc>
                <a:tc>
                  <a:txBody>
                    <a:bodyPr/>
                    <a:lstStyle/>
                    <a:p>
                      <a:pPr algn="ctr" fontAlgn="t"/>
                      <a:r>
                        <a:rPr lang="en-US" sz="1200" u="none" strike="noStrike" dirty="0">
                          <a:effectLst/>
                        </a:rPr>
                        <a:t>-1.673</a:t>
                      </a:r>
                      <a:endParaRPr lang="en-US" sz="1200" b="0" i="0" u="none" strike="noStrike" dirty="0">
                        <a:solidFill>
                          <a:srgbClr val="000000"/>
                        </a:solidFill>
                        <a:effectLst/>
                        <a:latin typeface="Arial" panose="020B0604020202020204" pitchFamily="34" charset="0"/>
                      </a:endParaRPr>
                    </a:p>
                  </a:txBody>
                  <a:tcPr marL="3921" marR="3921" marT="3921" marB="0" anchor="ctr"/>
                </a:tc>
                <a:tc>
                  <a:txBody>
                    <a:bodyPr/>
                    <a:lstStyle/>
                    <a:p>
                      <a:pPr algn="ctr" fontAlgn="t"/>
                      <a:r>
                        <a:rPr lang="en-US" sz="1200" u="none" strike="noStrike" dirty="0">
                          <a:effectLst/>
                        </a:rPr>
                        <a:t>.115</a:t>
                      </a:r>
                      <a:endParaRPr lang="en-US" sz="1200" b="0" i="0" u="none" strike="noStrike" dirty="0">
                        <a:solidFill>
                          <a:srgbClr val="000000"/>
                        </a:solidFill>
                        <a:effectLst/>
                        <a:latin typeface="Arial" panose="020B0604020202020204" pitchFamily="34" charset="0"/>
                      </a:endParaRPr>
                    </a:p>
                  </a:txBody>
                  <a:tcPr marL="3921" marR="3921" marT="3921" marB="0" anchor="ctr"/>
                </a:tc>
                <a:tc>
                  <a:txBody>
                    <a:bodyPr/>
                    <a:lstStyle/>
                    <a:p>
                      <a:pPr algn="ctr" fontAlgn="t"/>
                      <a:r>
                        <a:rPr lang="en-US" sz="1200" u="none" strike="noStrike" dirty="0">
                          <a:effectLst/>
                        </a:rPr>
                        <a:t>-.397</a:t>
                      </a:r>
                      <a:endParaRPr lang="en-US" sz="1200" b="0" i="0" u="none" strike="noStrike" dirty="0">
                        <a:solidFill>
                          <a:srgbClr val="000000"/>
                        </a:solidFill>
                        <a:effectLst/>
                        <a:latin typeface="Arial" panose="020B0604020202020204" pitchFamily="34" charset="0"/>
                      </a:endParaRPr>
                    </a:p>
                  </a:txBody>
                  <a:tcPr marL="3921" marR="3921" marT="3921" marB="0" anchor="ctr"/>
                </a:tc>
                <a:tc>
                  <a:txBody>
                    <a:bodyPr/>
                    <a:lstStyle/>
                    <a:p>
                      <a:pPr algn="ctr" fontAlgn="t"/>
                      <a:r>
                        <a:rPr lang="en-US" sz="1200" u="none" strike="noStrike" dirty="0">
                          <a:effectLst/>
                        </a:rPr>
                        <a:t>.127</a:t>
                      </a:r>
                      <a:endParaRPr lang="en-US" sz="1200" b="0" i="0" u="none" strike="noStrike" dirty="0">
                        <a:solidFill>
                          <a:srgbClr val="000000"/>
                        </a:solidFill>
                        <a:effectLst/>
                        <a:latin typeface="Arial" panose="020B0604020202020204" pitchFamily="34" charset="0"/>
                      </a:endParaRPr>
                    </a:p>
                  </a:txBody>
                  <a:tcPr marL="3921" marR="3921" marT="3921" marB="0" anchor="ctr"/>
                </a:tc>
                <a:extLst>
                  <a:ext uri="{0D108BD9-81ED-4DB2-BD59-A6C34878D82A}">
                    <a16:rowId xmlns:a16="http://schemas.microsoft.com/office/drawing/2014/main" val="2504403292"/>
                  </a:ext>
                </a:extLst>
              </a:tr>
              <a:tr h="193139">
                <a:tc vMerge="1">
                  <a:txBody>
                    <a:bodyPr/>
                    <a:lstStyle/>
                    <a:p>
                      <a:endParaRPr lang="en-US"/>
                    </a:p>
                  </a:txBody>
                  <a:tcPr/>
                </a:tc>
                <a:tc>
                  <a:txBody>
                    <a:bodyPr/>
                    <a:lstStyle/>
                    <a:p>
                      <a:pPr algn="l" fontAlgn="t"/>
                      <a:r>
                        <a:rPr lang="en-US" sz="1200" u="none" strike="noStrike">
                          <a:effectLst/>
                        </a:rPr>
                        <a:t>INT</a:t>
                      </a:r>
                      <a:endParaRPr lang="en-US" sz="1200" b="0" i="0" u="none" strike="noStrike">
                        <a:solidFill>
                          <a:srgbClr val="000000"/>
                        </a:solidFill>
                        <a:effectLst/>
                        <a:latin typeface="Arial" panose="020B0604020202020204" pitchFamily="34" charset="0"/>
                      </a:endParaRPr>
                    </a:p>
                  </a:txBody>
                  <a:tcPr marL="3921" marR="3921" marT="3921" marB="0" anchor="ctr"/>
                </a:tc>
                <a:tc>
                  <a:txBody>
                    <a:bodyPr/>
                    <a:lstStyle/>
                    <a:p>
                      <a:pPr algn="ctr" fontAlgn="t"/>
                      <a:r>
                        <a:rPr lang="en-US" sz="1200" u="none" strike="noStrike">
                          <a:effectLst/>
                        </a:rPr>
                        <a:t>.153</a:t>
                      </a:r>
                      <a:r>
                        <a:rPr lang="en-US" sz="1200" u="none" strike="noStrike" baseline="30000">
                          <a:effectLst/>
                        </a:rPr>
                        <a:t>d</a:t>
                      </a:r>
                      <a:endParaRPr lang="en-US" sz="1200" b="0" i="0" u="none" strike="noStrike">
                        <a:solidFill>
                          <a:srgbClr val="000000"/>
                        </a:solidFill>
                        <a:effectLst/>
                        <a:latin typeface="Arial" panose="020B0604020202020204" pitchFamily="34" charset="0"/>
                      </a:endParaRPr>
                    </a:p>
                  </a:txBody>
                  <a:tcPr marL="3921" marR="3921" marT="3921" marB="0" anchor="ctr"/>
                </a:tc>
                <a:tc>
                  <a:txBody>
                    <a:bodyPr/>
                    <a:lstStyle/>
                    <a:p>
                      <a:pPr algn="ctr" fontAlgn="t"/>
                      <a:r>
                        <a:rPr lang="en-US" sz="1200" u="none" strike="noStrike">
                          <a:effectLst/>
                        </a:rPr>
                        <a:t>.648</a:t>
                      </a:r>
                      <a:endParaRPr lang="en-US" sz="1200" b="0" i="0" u="none" strike="noStrike">
                        <a:solidFill>
                          <a:srgbClr val="000000"/>
                        </a:solidFill>
                        <a:effectLst/>
                        <a:latin typeface="Arial" panose="020B0604020202020204" pitchFamily="34" charset="0"/>
                      </a:endParaRPr>
                    </a:p>
                  </a:txBody>
                  <a:tcPr marL="3921" marR="3921" marT="3921" marB="0" anchor="ctr"/>
                </a:tc>
                <a:tc>
                  <a:txBody>
                    <a:bodyPr/>
                    <a:lstStyle/>
                    <a:p>
                      <a:pPr algn="ctr" fontAlgn="t"/>
                      <a:r>
                        <a:rPr lang="en-US" sz="1200" u="none" strike="noStrike" dirty="0">
                          <a:effectLst/>
                        </a:rPr>
                        <a:t>.527</a:t>
                      </a:r>
                      <a:endParaRPr lang="en-US" sz="1200" b="0" i="0" u="none" strike="noStrike" dirty="0">
                        <a:solidFill>
                          <a:srgbClr val="000000"/>
                        </a:solidFill>
                        <a:effectLst/>
                        <a:latin typeface="Arial" panose="020B0604020202020204" pitchFamily="34" charset="0"/>
                      </a:endParaRPr>
                    </a:p>
                  </a:txBody>
                  <a:tcPr marL="3921" marR="3921" marT="3921" marB="0" anchor="ctr"/>
                </a:tc>
                <a:tc>
                  <a:txBody>
                    <a:bodyPr/>
                    <a:lstStyle/>
                    <a:p>
                      <a:pPr algn="ctr" fontAlgn="t"/>
                      <a:r>
                        <a:rPr lang="en-US" sz="1200" u="none" strike="noStrike" dirty="0">
                          <a:effectLst/>
                        </a:rPr>
                        <a:t>.165</a:t>
                      </a:r>
                      <a:endParaRPr lang="en-US" sz="1200" b="0" i="0" u="none" strike="noStrike" dirty="0">
                        <a:solidFill>
                          <a:srgbClr val="000000"/>
                        </a:solidFill>
                        <a:effectLst/>
                        <a:latin typeface="Arial" panose="020B0604020202020204" pitchFamily="34" charset="0"/>
                      </a:endParaRPr>
                    </a:p>
                  </a:txBody>
                  <a:tcPr marL="3921" marR="3921" marT="3921" marB="0" anchor="ctr"/>
                </a:tc>
                <a:tc>
                  <a:txBody>
                    <a:bodyPr/>
                    <a:lstStyle/>
                    <a:p>
                      <a:pPr algn="ctr" fontAlgn="t"/>
                      <a:r>
                        <a:rPr lang="en-US" sz="1200" u="none" strike="noStrike">
                          <a:effectLst/>
                        </a:rPr>
                        <a:t>.043</a:t>
                      </a:r>
                      <a:endParaRPr lang="en-US" sz="1200" b="0" i="0" u="none" strike="noStrike">
                        <a:solidFill>
                          <a:srgbClr val="000000"/>
                        </a:solidFill>
                        <a:effectLst/>
                        <a:latin typeface="Arial" panose="020B0604020202020204" pitchFamily="34" charset="0"/>
                      </a:endParaRPr>
                    </a:p>
                  </a:txBody>
                  <a:tcPr marL="3921" marR="3921" marT="3921" marB="0" anchor="ctr"/>
                </a:tc>
                <a:extLst>
                  <a:ext uri="{0D108BD9-81ED-4DB2-BD59-A6C34878D82A}">
                    <a16:rowId xmlns:a16="http://schemas.microsoft.com/office/drawing/2014/main" val="742571846"/>
                  </a:ext>
                </a:extLst>
              </a:tr>
              <a:tr h="193139">
                <a:tc vMerge="1">
                  <a:txBody>
                    <a:bodyPr/>
                    <a:lstStyle/>
                    <a:p>
                      <a:endParaRPr lang="en-US"/>
                    </a:p>
                  </a:txBody>
                  <a:tcPr/>
                </a:tc>
                <a:tc>
                  <a:txBody>
                    <a:bodyPr/>
                    <a:lstStyle/>
                    <a:p>
                      <a:pPr algn="l" fontAlgn="t"/>
                      <a:r>
                        <a:rPr lang="en-US" sz="1200" u="none" strike="noStrike">
                          <a:effectLst/>
                        </a:rPr>
                        <a:t>T</a:t>
                      </a:r>
                      <a:endParaRPr lang="en-US" sz="1200" b="0" i="0" u="none" strike="noStrike">
                        <a:solidFill>
                          <a:srgbClr val="000000"/>
                        </a:solidFill>
                        <a:effectLst/>
                        <a:latin typeface="Arial" panose="020B0604020202020204" pitchFamily="34" charset="0"/>
                      </a:endParaRPr>
                    </a:p>
                  </a:txBody>
                  <a:tcPr marL="3921" marR="3921" marT="3921" marB="0" anchor="ctr"/>
                </a:tc>
                <a:tc>
                  <a:txBody>
                    <a:bodyPr/>
                    <a:lstStyle/>
                    <a:p>
                      <a:pPr algn="ctr" fontAlgn="t"/>
                      <a:r>
                        <a:rPr lang="en-US" sz="1200" u="none" strike="noStrike" dirty="0">
                          <a:effectLst/>
                        </a:rPr>
                        <a:t>-.395</a:t>
                      </a:r>
                      <a:r>
                        <a:rPr lang="en-US" sz="1200" u="none" strike="noStrike" baseline="30000" dirty="0">
                          <a:effectLst/>
                        </a:rPr>
                        <a:t>d</a:t>
                      </a:r>
                      <a:endParaRPr lang="en-US" sz="1200" b="0" i="0" u="none" strike="noStrike" dirty="0">
                        <a:solidFill>
                          <a:srgbClr val="000000"/>
                        </a:solidFill>
                        <a:effectLst/>
                        <a:latin typeface="Arial" panose="020B0604020202020204" pitchFamily="34" charset="0"/>
                      </a:endParaRPr>
                    </a:p>
                  </a:txBody>
                  <a:tcPr marL="3921" marR="3921" marT="3921" marB="0" anchor="ctr"/>
                </a:tc>
                <a:tc>
                  <a:txBody>
                    <a:bodyPr/>
                    <a:lstStyle/>
                    <a:p>
                      <a:pPr algn="ctr" fontAlgn="t"/>
                      <a:r>
                        <a:rPr lang="en-US" sz="1200" u="none" strike="noStrike" dirty="0">
                          <a:effectLst/>
                        </a:rPr>
                        <a:t>-1.318</a:t>
                      </a:r>
                      <a:endParaRPr lang="en-US" sz="1200" b="0" i="0" u="none" strike="noStrike" dirty="0">
                        <a:solidFill>
                          <a:srgbClr val="000000"/>
                        </a:solidFill>
                        <a:effectLst/>
                        <a:latin typeface="Arial" panose="020B0604020202020204" pitchFamily="34" charset="0"/>
                      </a:endParaRPr>
                    </a:p>
                  </a:txBody>
                  <a:tcPr marL="3921" marR="3921" marT="3921" marB="0" anchor="ctr"/>
                </a:tc>
                <a:tc>
                  <a:txBody>
                    <a:bodyPr/>
                    <a:lstStyle/>
                    <a:p>
                      <a:pPr algn="ctr" fontAlgn="t"/>
                      <a:r>
                        <a:rPr lang="en-US" sz="1200" u="none" strike="noStrike">
                          <a:effectLst/>
                        </a:rPr>
                        <a:t>.207</a:t>
                      </a:r>
                      <a:endParaRPr lang="en-US" sz="1200" b="0" i="0" u="none" strike="noStrike">
                        <a:solidFill>
                          <a:srgbClr val="000000"/>
                        </a:solidFill>
                        <a:effectLst/>
                        <a:latin typeface="Arial" panose="020B0604020202020204" pitchFamily="34" charset="0"/>
                      </a:endParaRPr>
                    </a:p>
                  </a:txBody>
                  <a:tcPr marL="3921" marR="3921" marT="3921" marB="0" anchor="ctr"/>
                </a:tc>
                <a:tc>
                  <a:txBody>
                    <a:bodyPr/>
                    <a:lstStyle/>
                    <a:p>
                      <a:pPr algn="ctr" fontAlgn="t"/>
                      <a:r>
                        <a:rPr lang="en-US" sz="1200" u="none" strike="noStrike">
                          <a:effectLst/>
                        </a:rPr>
                        <a:t>-.322</a:t>
                      </a:r>
                      <a:endParaRPr lang="en-US" sz="1200" b="0" i="0" u="none" strike="noStrike">
                        <a:solidFill>
                          <a:srgbClr val="000000"/>
                        </a:solidFill>
                        <a:effectLst/>
                        <a:latin typeface="Arial" panose="020B0604020202020204" pitchFamily="34" charset="0"/>
                      </a:endParaRPr>
                    </a:p>
                  </a:txBody>
                  <a:tcPr marL="3921" marR="3921" marT="3921" marB="0" anchor="ctr"/>
                </a:tc>
                <a:tc>
                  <a:txBody>
                    <a:bodyPr/>
                    <a:lstStyle/>
                    <a:p>
                      <a:pPr algn="ctr" fontAlgn="t"/>
                      <a:r>
                        <a:rPr lang="en-US" sz="1200" u="none" strike="noStrike">
                          <a:effectLst/>
                        </a:rPr>
                        <a:t>.025</a:t>
                      </a:r>
                      <a:endParaRPr lang="en-US" sz="1200" b="0" i="0" u="none" strike="noStrike">
                        <a:solidFill>
                          <a:srgbClr val="000000"/>
                        </a:solidFill>
                        <a:effectLst/>
                        <a:latin typeface="Arial" panose="020B0604020202020204" pitchFamily="34" charset="0"/>
                      </a:endParaRPr>
                    </a:p>
                  </a:txBody>
                  <a:tcPr marL="3921" marR="3921" marT="3921" marB="0" anchor="ctr"/>
                </a:tc>
                <a:extLst>
                  <a:ext uri="{0D108BD9-81ED-4DB2-BD59-A6C34878D82A}">
                    <a16:rowId xmlns:a16="http://schemas.microsoft.com/office/drawing/2014/main" val="3464655566"/>
                  </a:ext>
                </a:extLst>
              </a:tr>
              <a:tr h="193139">
                <a:tc rowSpan="3">
                  <a:txBody>
                    <a:bodyPr/>
                    <a:lstStyle/>
                    <a:p>
                      <a:pPr algn="ctr" fontAlgn="t"/>
                      <a:r>
                        <a:rPr lang="en-US" sz="1200" u="none" strike="noStrike" dirty="0">
                          <a:effectLst/>
                        </a:rPr>
                        <a:t>4</a:t>
                      </a:r>
                      <a:endParaRPr lang="en-US" sz="1200" b="0" i="0" u="none" strike="noStrike" dirty="0">
                        <a:solidFill>
                          <a:srgbClr val="000000"/>
                        </a:solidFill>
                        <a:effectLst/>
                        <a:latin typeface="Arial" panose="020B0604020202020204" pitchFamily="34" charset="0"/>
                      </a:endParaRPr>
                    </a:p>
                  </a:txBody>
                  <a:tcPr marL="3921" marR="3921" marT="3921" marB="0" anchor="ctr">
                    <a:solidFill>
                      <a:schemeClr val="accent1">
                        <a:lumMod val="40000"/>
                        <a:lumOff val="60000"/>
                      </a:schemeClr>
                    </a:solidFill>
                  </a:tcPr>
                </a:tc>
                <a:tc>
                  <a:txBody>
                    <a:bodyPr/>
                    <a:lstStyle/>
                    <a:p>
                      <a:pPr algn="l" fontAlgn="t"/>
                      <a:r>
                        <a:rPr lang="en-US" sz="1200" u="none" strike="noStrike">
                          <a:effectLst/>
                        </a:rPr>
                        <a:t>EMPL</a:t>
                      </a:r>
                      <a:endParaRPr lang="en-US" sz="1200" b="0" i="0" u="none" strike="noStrike">
                        <a:solidFill>
                          <a:srgbClr val="000000"/>
                        </a:solidFill>
                        <a:effectLst/>
                        <a:latin typeface="Arial" panose="020B0604020202020204" pitchFamily="34" charset="0"/>
                      </a:endParaRPr>
                    </a:p>
                  </a:txBody>
                  <a:tcPr marL="3921" marR="3921" marT="3921" marB="0" anchor="ctr">
                    <a:solidFill>
                      <a:schemeClr val="accent1">
                        <a:lumMod val="40000"/>
                        <a:lumOff val="60000"/>
                      </a:schemeClr>
                    </a:solidFill>
                  </a:tcPr>
                </a:tc>
                <a:tc>
                  <a:txBody>
                    <a:bodyPr/>
                    <a:lstStyle/>
                    <a:p>
                      <a:pPr algn="ctr" fontAlgn="t"/>
                      <a:r>
                        <a:rPr lang="en-US" sz="1200" u="none" strike="noStrike">
                          <a:effectLst/>
                        </a:rPr>
                        <a:t>-.127</a:t>
                      </a:r>
                      <a:r>
                        <a:rPr lang="en-US" sz="1200" u="none" strike="noStrike" baseline="30000">
                          <a:effectLst/>
                        </a:rPr>
                        <a:t>e</a:t>
                      </a:r>
                      <a:endParaRPr lang="en-US" sz="1200" b="0" i="0" u="none" strike="noStrike">
                        <a:solidFill>
                          <a:srgbClr val="000000"/>
                        </a:solidFill>
                        <a:effectLst/>
                        <a:latin typeface="Arial" panose="020B0604020202020204" pitchFamily="34" charset="0"/>
                      </a:endParaRPr>
                    </a:p>
                  </a:txBody>
                  <a:tcPr marL="3921" marR="3921" marT="3921" marB="0" anchor="ctr">
                    <a:solidFill>
                      <a:schemeClr val="accent1">
                        <a:lumMod val="40000"/>
                        <a:lumOff val="60000"/>
                      </a:schemeClr>
                    </a:solidFill>
                  </a:tcPr>
                </a:tc>
                <a:tc>
                  <a:txBody>
                    <a:bodyPr/>
                    <a:lstStyle/>
                    <a:p>
                      <a:pPr algn="ctr" fontAlgn="t"/>
                      <a:r>
                        <a:rPr lang="en-US" sz="1200" u="none" strike="noStrike">
                          <a:effectLst/>
                        </a:rPr>
                        <a:t>-1.050</a:t>
                      </a:r>
                      <a:endParaRPr lang="en-US" sz="1200" b="0" i="0" u="none" strike="noStrike">
                        <a:solidFill>
                          <a:srgbClr val="000000"/>
                        </a:solidFill>
                        <a:effectLst/>
                        <a:latin typeface="Arial" panose="020B0604020202020204" pitchFamily="34" charset="0"/>
                      </a:endParaRPr>
                    </a:p>
                  </a:txBody>
                  <a:tcPr marL="3921" marR="3921" marT="3921" marB="0" anchor="ctr">
                    <a:solidFill>
                      <a:schemeClr val="accent1">
                        <a:lumMod val="40000"/>
                        <a:lumOff val="60000"/>
                      </a:schemeClr>
                    </a:solidFill>
                  </a:tcPr>
                </a:tc>
                <a:tc>
                  <a:txBody>
                    <a:bodyPr/>
                    <a:lstStyle/>
                    <a:p>
                      <a:pPr algn="ctr" fontAlgn="t"/>
                      <a:r>
                        <a:rPr lang="en-US" sz="1200" u="none" strike="noStrike" dirty="0">
                          <a:effectLst/>
                        </a:rPr>
                        <a:t>.312</a:t>
                      </a:r>
                      <a:endParaRPr lang="en-US" sz="1200" b="0" i="0" u="none" strike="noStrike" dirty="0">
                        <a:solidFill>
                          <a:srgbClr val="000000"/>
                        </a:solidFill>
                        <a:effectLst/>
                        <a:latin typeface="Arial" panose="020B0604020202020204" pitchFamily="34" charset="0"/>
                      </a:endParaRPr>
                    </a:p>
                  </a:txBody>
                  <a:tcPr marL="3921" marR="3921" marT="3921" marB="0" anchor="ctr">
                    <a:solidFill>
                      <a:schemeClr val="accent1">
                        <a:lumMod val="40000"/>
                        <a:lumOff val="60000"/>
                      </a:schemeClr>
                    </a:solidFill>
                  </a:tcPr>
                </a:tc>
                <a:tc>
                  <a:txBody>
                    <a:bodyPr/>
                    <a:lstStyle/>
                    <a:p>
                      <a:pPr algn="ctr" fontAlgn="t"/>
                      <a:r>
                        <a:rPr lang="en-US" sz="1200" u="none" strike="noStrike" dirty="0">
                          <a:effectLst/>
                        </a:rPr>
                        <a:t>-.270</a:t>
                      </a:r>
                      <a:endParaRPr lang="en-US" sz="1200" b="0" i="0" u="none" strike="noStrike" dirty="0">
                        <a:solidFill>
                          <a:srgbClr val="000000"/>
                        </a:solidFill>
                        <a:effectLst/>
                        <a:latin typeface="Arial" panose="020B0604020202020204" pitchFamily="34" charset="0"/>
                      </a:endParaRPr>
                    </a:p>
                  </a:txBody>
                  <a:tcPr marL="3921" marR="3921" marT="3921" marB="0" anchor="ctr">
                    <a:solidFill>
                      <a:schemeClr val="accent1">
                        <a:lumMod val="40000"/>
                        <a:lumOff val="60000"/>
                      </a:schemeClr>
                    </a:solidFill>
                  </a:tcPr>
                </a:tc>
                <a:tc>
                  <a:txBody>
                    <a:bodyPr/>
                    <a:lstStyle/>
                    <a:p>
                      <a:pPr algn="ctr" fontAlgn="t"/>
                      <a:r>
                        <a:rPr lang="en-US" sz="1200" u="none" strike="noStrike">
                          <a:effectLst/>
                        </a:rPr>
                        <a:t>.114</a:t>
                      </a:r>
                      <a:endParaRPr lang="en-US" sz="1200" b="0" i="0" u="none" strike="noStrike">
                        <a:solidFill>
                          <a:srgbClr val="000000"/>
                        </a:solidFill>
                        <a:effectLst/>
                        <a:latin typeface="Arial" panose="020B0604020202020204" pitchFamily="34" charset="0"/>
                      </a:endParaRPr>
                    </a:p>
                  </a:txBody>
                  <a:tcPr marL="3921" marR="3921" marT="3921" marB="0" anchor="ctr">
                    <a:solidFill>
                      <a:schemeClr val="accent1">
                        <a:lumMod val="40000"/>
                        <a:lumOff val="60000"/>
                      </a:schemeClr>
                    </a:solidFill>
                  </a:tcPr>
                </a:tc>
                <a:extLst>
                  <a:ext uri="{0D108BD9-81ED-4DB2-BD59-A6C34878D82A}">
                    <a16:rowId xmlns:a16="http://schemas.microsoft.com/office/drawing/2014/main" val="150057529"/>
                  </a:ext>
                </a:extLst>
              </a:tr>
              <a:tr h="270895">
                <a:tc vMerge="1">
                  <a:txBody>
                    <a:bodyPr/>
                    <a:lstStyle/>
                    <a:p>
                      <a:endParaRPr lang="en-US"/>
                    </a:p>
                  </a:txBody>
                  <a:tcPr/>
                </a:tc>
                <a:tc>
                  <a:txBody>
                    <a:bodyPr/>
                    <a:lstStyle/>
                    <a:p>
                      <a:pPr algn="l" fontAlgn="t"/>
                      <a:r>
                        <a:rPr lang="en-US" sz="1200" u="none" strike="noStrike" dirty="0">
                          <a:effectLst/>
                        </a:rPr>
                        <a:t>INT</a:t>
                      </a:r>
                      <a:endParaRPr lang="en-US" sz="1200" b="0" i="0" u="none" strike="noStrike" dirty="0">
                        <a:solidFill>
                          <a:srgbClr val="000000"/>
                        </a:solidFill>
                        <a:effectLst/>
                        <a:latin typeface="Arial" panose="020B0604020202020204" pitchFamily="34" charset="0"/>
                      </a:endParaRPr>
                    </a:p>
                  </a:txBody>
                  <a:tcPr marL="3921" marR="3921" marT="3921" marB="0" anchor="ctr">
                    <a:solidFill>
                      <a:schemeClr val="accent1">
                        <a:lumMod val="40000"/>
                        <a:lumOff val="60000"/>
                      </a:schemeClr>
                    </a:solidFill>
                  </a:tcPr>
                </a:tc>
                <a:tc>
                  <a:txBody>
                    <a:bodyPr/>
                    <a:lstStyle/>
                    <a:p>
                      <a:pPr algn="ctr" fontAlgn="t"/>
                      <a:r>
                        <a:rPr lang="en-US" sz="1200" u="none" strike="noStrike" dirty="0">
                          <a:effectLst/>
                        </a:rPr>
                        <a:t>.055</a:t>
                      </a:r>
                      <a:r>
                        <a:rPr lang="en-US" sz="1200" u="none" strike="noStrike" baseline="30000" dirty="0">
                          <a:effectLst/>
                        </a:rPr>
                        <a:t>e</a:t>
                      </a:r>
                      <a:endParaRPr lang="en-US" sz="1200" b="0" i="0" u="none" strike="noStrike" dirty="0">
                        <a:solidFill>
                          <a:srgbClr val="000000"/>
                        </a:solidFill>
                        <a:effectLst/>
                        <a:latin typeface="Arial" panose="020B0604020202020204" pitchFamily="34" charset="0"/>
                      </a:endParaRPr>
                    </a:p>
                  </a:txBody>
                  <a:tcPr marL="3921" marR="3921" marT="3921" marB="0" anchor="ctr">
                    <a:solidFill>
                      <a:schemeClr val="accent1">
                        <a:lumMod val="40000"/>
                        <a:lumOff val="60000"/>
                      </a:schemeClr>
                    </a:solidFill>
                  </a:tcPr>
                </a:tc>
                <a:tc>
                  <a:txBody>
                    <a:bodyPr/>
                    <a:lstStyle/>
                    <a:p>
                      <a:pPr algn="ctr" fontAlgn="t"/>
                      <a:r>
                        <a:rPr lang="en-US" sz="1200" u="none" strike="noStrike" dirty="0">
                          <a:effectLst/>
                        </a:rPr>
                        <a:t>.269</a:t>
                      </a:r>
                      <a:endParaRPr lang="en-US" sz="1200" b="0" i="0" u="none" strike="noStrike" dirty="0">
                        <a:solidFill>
                          <a:srgbClr val="000000"/>
                        </a:solidFill>
                        <a:effectLst/>
                        <a:latin typeface="Arial" panose="020B0604020202020204" pitchFamily="34" charset="0"/>
                      </a:endParaRPr>
                    </a:p>
                  </a:txBody>
                  <a:tcPr marL="3921" marR="3921" marT="3921" marB="0" anchor="ctr">
                    <a:solidFill>
                      <a:schemeClr val="accent1">
                        <a:lumMod val="40000"/>
                        <a:lumOff val="60000"/>
                      </a:schemeClr>
                    </a:solidFill>
                  </a:tcPr>
                </a:tc>
                <a:tc>
                  <a:txBody>
                    <a:bodyPr/>
                    <a:lstStyle/>
                    <a:p>
                      <a:pPr algn="ctr" fontAlgn="t"/>
                      <a:r>
                        <a:rPr lang="en-US" sz="1200" u="none" strike="noStrike">
                          <a:effectLst/>
                        </a:rPr>
                        <a:t>.792</a:t>
                      </a:r>
                      <a:endParaRPr lang="en-US" sz="1200" b="0" i="0" u="none" strike="noStrike">
                        <a:solidFill>
                          <a:srgbClr val="000000"/>
                        </a:solidFill>
                        <a:effectLst/>
                        <a:latin typeface="Arial" panose="020B0604020202020204" pitchFamily="34" charset="0"/>
                      </a:endParaRPr>
                    </a:p>
                  </a:txBody>
                  <a:tcPr marL="3921" marR="3921" marT="3921" marB="0" anchor="ctr">
                    <a:solidFill>
                      <a:schemeClr val="accent1">
                        <a:lumMod val="40000"/>
                        <a:lumOff val="60000"/>
                      </a:schemeClr>
                    </a:solidFill>
                  </a:tcPr>
                </a:tc>
                <a:tc>
                  <a:txBody>
                    <a:bodyPr/>
                    <a:lstStyle/>
                    <a:p>
                      <a:pPr algn="ctr" fontAlgn="t"/>
                      <a:r>
                        <a:rPr lang="en-US" sz="1200" u="none" strike="noStrike" dirty="0">
                          <a:effectLst/>
                        </a:rPr>
                        <a:t>.072</a:t>
                      </a:r>
                      <a:endParaRPr lang="en-US" sz="1200" b="0" i="0" u="none" strike="noStrike" dirty="0">
                        <a:solidFill>
                          <a:srgbClr val="000000"/>
                        </a:solidFill>
                        <a:effectLst/>
                        <a:latin typeface="Arial" panose="020B0604020202020204" pitchFamily="34" charset="0"/>
                      </a:endParaRPr>
                    </a:p>
                  </a:txBody>
                  <a:tcPr marL="3921" marR="3921" marT="3921" marB="0" anchor="ctr">
                    <a:solidFill>
                      <a:schemeClr val="accent1">
                        <a:lumMod val="40000"/>
                        <a:lumOff val="60000"/>
                      </a:schemeClr>
                    </a:solidFill>
                  </a:tcPr>
                </a:tc>
                <a:tc>
                  <a:txBody>
                    <a:bodyPr/>
                    <a:lstStyle/>
                    <a:p>
                      <a:pPr algn="ctr" fontAlgn="t"/>
                      <a:r>
                        <a:rPr lang="en-US" sz="1200" u="none" strike="noStrike" dirty="0">
                          <a:effectLst/>
                        </a:rPr>
                        <a:t>.042</a:t>
                      </a:r>
                      <a:endParaRPr lang="en-US" sz="1200" b="0" i="0" u="none" strike="noStrike" dirty="0">
                        <a:solidFill>
                          <a:srgbClr val="000000"/>
                        </a:solidFill>
                        <a:effectLst/>
                        <a:latin typeface="Arial" panose="020B0604020202020204" pitchFamily="34" charset="0"/>
                      </a:endParaRPr>
                    </a:p>
                  </a:txBody>
                  <a:tcPr marL="3921" marR="3921" marT="3921" marB="0" anchor="ctr">
                    <a:solidFill>
                      <a:schemeClr val="accent1">
                        <a:lumMod val="40000"/>
                        <a:lumOff val="60000"/>
                      </a:schemeClr>
                    </a:solidFill>
                  </a:tcPr>
                </a:tc>
                <a:extLst>
                  <a:ext uri="{0D108BD9-81ED-4DB2-BD59-A6C34878D82A}">
                    <a16:rowId xmlns:a16="http://schemas.microsoft.com/office/drawing/2014/main" val="1310632516"/>
                  </a:ext>
                </a:extLst>
              </a:tr>
              <a:tr h="193139">
                <a:tc vMerge="1">
                  <a:txBody>
                    <a:bodyPr/>
                    <a:lstStyle/>
                    <a:p>
                      <a:endParaRPr lang="en-US"/>
                    </a:p>
                  </a:txBody>
                  <a:tcPr/>
                </a:tc>
                <a:tc>
                  <a:txBody>
                    <a:bodyPr/>
                    <a:lstStyle/>
                    <a:p>
                      <a:pPr algn="l" fontAlgn="t"/>
                      <a:r>
                        <a:rPr lang="en-US" sz="1200" u="none" strike="noStrike">
                          <a:effectLst/>
                        </a:rPr>
                        <a:t>T</a:t>
                      </a:r>
                      <a:endParaRPr lang="en-US" sz="1200" b="0" i="0" u="none" strike="noStrike">
                        <a:solidFill>
                          <a:srgbClr val="000000"/>
                        </a:solidFill>
                        <a:effectLst/>
                        <a:latin typeface="Arial" panose="020B0604020202020204" pitchFamily="34" charset="0"/>
                      </a:endParaRPr>
                    </a:p>
                  </a:txBody>
                  <a:tcPr marL="3921" marR="3921" marT="3921" marB="0" anchor="ctr">
                    <a:solidFill>
                      <a:schemeClr val="accent1">
                        <a:lumMod val="40000"/>
                        <a:lumOff val="60000"/>
                      </a:schemeClr>
                    </a:solidFill>
                  </a:tcPr>
                </a:tc>
                <a:tc>
                  <a:txBody>
                    <a:bodyPr/>
                    <a:lstStyle/>
                    <a:p>
                      <a:pPr algn="ctr" fontAlgn="t"/>
                      <a:r>
                        <a:rPr lang="en-US" sz="1200" u="none" strike="noStrike" dirty="0">
                          <a:effectLst/>
                        </a:rPr>
                        <a:t>-.176</a:t>
                      </a:r>
                      <a:r>
                        <a:rPr lang="en-US" sz="1200" u="none" strike="noStrike" baseline="30000" dirty="0">
                          <a:effectLst/>
                        </a:rPr>
                        <a:t>e</a:t>
                      </a:r>
                      <a:endParaRPr lang="en-US" sz="1200" b="0" i="0" u="none" strike="noStrike" dirty="0">
                        <a:solidFill>
                          <a:srgbClr val="000000"/>
                        </a:solidFill>
                        <a:effectLst/>
                        <a:latin typeface="Arial" panose="020B0604020202020204" pitchFamily="34" charset="0"/>
                      </a:endParaRPr>
                    </a:p>
                  </a:txBody>
                  <a:tcPr marL="3921" marR="3921" marT="3921" marB="0" anchor="ctr">
                    <a:solidFill>
                      <a:schemeClr val="accent1">
                        <a:lumMod val="40000"/>
                        <a:lumOff val="60000"/>
                      </a:schemeClr>
                    </a:solidFill>
                  </a:tcPr>
                </a:tc>
                <a:tc>
                  <a:txBody>
                    <a:bodyPr/>
                    <a:lstStyle/>
                    <a:p>
                      <a:pPr algn="ctr" fontAlgn="t"/>
                      <a:r>
                        <a:rPr lang="en-US" sz="1200" u="none" strike="noStrike" dirty="0">
                          <a:effectLst/>
                        </a:rPr>
                        <a:t>-.624</a:t>
                      </a:r>
                      <a:endParaRPr lang="en-US" sz="1200" b="0" i="0" u="none" strike="noStrike" dirty="0">
                        <a:solidFill>
                          <a:srgbClr val="000000"/>
                        </a:solidFill>
                        <a:effectLst/>
                        <a:latin typeface="Arial" panose="020B0604020202020204" pitchFamily="34" charset="0"/>
                      </a:endParaRPr>
                    </a:p>
                  </a:txBody>
                  <a:tcPr marL="3921" marR="3921" marT="3921" marB="0" anchor="ctr">
                    <a:solidFill>
                      <a:schemeClr val="accent1">
                        <a:lumMod val="40000"/>
                        <a:lumOff val="60000"/>
                      </a:schemeClr>
                    </a:solidFill>
                  </a:tcPr>
                </a:tc>
                <a:tc>
                  <a:txBody>
                    <a:bodyPr/>
                    <a:lstStyle/>
                    <a:p>
                      <a:pPr algn="ctr" fontAlgn="t"/>
                      <a:r>
                        <a:rPr lang="en-US" sz="1200" u="none" strike="noStrike" dirty="0">
                          <a:effectLst/>
                        </a:rPr>
                        <a:t>.542</a:t>
                      </a:r>
                      <a:endParaRPr lang="en-US" sz="1200" b="0" i="0" u="none" strike="noStrike" dirty="0">
                        <a:solidFill>
                          <a:srgbClr val="000000"/>
                        </a:solidFill>
                        <a:effectLst/>
                        <a:latin typeface="Arial" panose="020B0604020202020204" pitchFamily="34" charset="0"/>
                      </a:endParaRPr>
                    </a:p>
                  </a:txBody>
                  <a:tcPr marL="3921" marR="3921" marT="3921" marB="0" anchor="ctr">
                    <a:solidFill>
                      <a:schemeClr val="accent1">
                        <a:lumMod val="40000"/>
                        <a:lumOff val="60000"/>
                      </a:schemeClr>
                    </a:solidFill>
                  </a:tcPr>
                </a:tc>
                <a:tc>
                  <a:txBody>
                    <a:bodyPr/>
                    <a:lstStyle/>
                    <a:p>
                      <a:pPr algn="ctr" fontAlgn="t"/>
                      <a:r>
                        <a:rPr lang="en-US" sz="1200" u="none" strike="noStrike" dirty="0">
                          <a:effectLst/>
                        </a:rPr>
                        <a:t>-.165</a:t>
                      </a:r>
                      <a:endParaRPr lang="en-US" sz="1200" b="0" i="0" u="none" strike="noStrike" dirty="0">
                        <a:solidFill>
                          <a:srgbClr val="000000"/>
                        </a:solidFill>
                        <a:effectLst/>
                        <a:latin typeface="Arial" panose="020B0604020202020204" pitchFamily="34" charset="0"/>
                      </a:endParaRPr>
                    </a:p>
                  </a:txBody>
                  <a:tcPr marL="3921" marR="3921" marT="3921" marB="0" anchor="ctr">
                    <a:solidFill>
                      <a:schemeClr val="accent1">
                        <a:lumMod val="40000"/>
                        <a:lumOff val="60000"/>
                      </a:schemeClr>
                    </a:solidFill>
                  </a:tcPr>
                </a:tc>
                <a:tc>
                  <a:txBody>
                    <a:bodyPr/>
                    <a:lstStyle/>
                    <a:p>
                      <a:pPr algn="ctr" fontAlgn="t"/>
                      <a:r>
                        <a:rPr lang="en-US" sz="1200" u="none" strike="noStrike" dirty="0">
                          <a:effectLst/>
                        </a:rPr>
                        <a:t>.022</a:t>
                      </a:r>
                      <a:endParaRPr lang="en-US" sz="1200" b="0" i="0" u="none" strike="noStrike" dirty="0">
                        <a:solidFill>
                          <a:srgbClr val="000000"/>
                        </a:solidFill>
                        <a:effectLst/>
                        <a:latin typeface="Arial" panose="020B0604020202020204" pitchFamily="34" charset="0"/>
                      </a:endParaRPr>
                    </a:p>
                  </a:txBody>
                  <a:tcPr marL="3921" marR="3921" marT="3921" marB="0" anchor="ctr">
                    <a:solidFill>
                      <a:schemeClr val="accent1">
                        <a:lumMod val="40000"/>
                        <a:lumOff val="60000"/>
                      </a:schemeClr>
                    </a:solidFill>
                  </a:tcPr>
                </a:tc>
                <a:extLst>
                  <a:ext uri="{0D108BD9-81ED-4DB2-BD59-A6C34878D82A}">
                    <a16:rowId xmlns:a16="http://schemas.microsoft.com/office/drawing/2014/main" val="2404938730"/>
                  </a:ext>
                </a:extLst>
              </a:tr>
              <a:tr h="193139">
                <a:tc rowSpan="4">
                  <a:txBody>
                    <a:bodyPr/>
                    <a:lstStyle/>
                    <a:p>
                      <a:pPr algn="ctr" fontAlgn="t"/>
                      <a:r>
                        <a:rPr lang="en-US" sz="1200" u="none" strike="noStrike" dirty="0">
                          <a:effectLst/>
                        </a:rPr>
                        <a:t>5</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00FFCC"/>
                    </a:solidFill>
                  </a:tcPr>
                </a:tc>
                <a:tc>
                  <a:txBody>
                    <a:bodyPr/>
                    <a:lstStyle/>
                    <a:p>
                      <a:pPr algn="l" fontAlgn="t"/>
                      <a:r>
                        <a:rPr lang="en-US" sz="1200" u="none" strike="noStrike">
                          <a:effectLst/>
                        </a:rPr>
                        <a:t>OTINC</a:t>
                      </a:r>
                      <a:endParaRPr lang="en-US" sz="1200" b="0" i="0" u="none" strike="noStrike">
                        <a:solidFill>
                          <a:srgbClr val="000000"/>
                        </a:solidFill>
                        <a:effectLst/>
                        <a:latin typeface="Arial" panose="020B0604020202020204" pitchFamily="34" charset="0"/>
                      </a:endParaRPr>
                    </a:p>
                  </a:txBody>
                  <a:tcPr marL="3921" marR="3921" marT="3921" marB="0" anchor="ctr">
                    <a:solidFill>
                      <a:srgbClr val="00FFCC"/>
                    </a:solidFill>
                  </a:tcPr>
                </a:tc>
                <a:tc>
                  <a:txBody>
                    <a:bodyPr/>
                    <a:lstStyle/>
                    <a:p>
                      <a:pPr algn="ctr" fontAlgn="t"/>
                      <a:r>
                        <a:rPr lang="en-US" sz="1200" u="none" strike="noStrike">
                          <a:effectLst/>
                        </a:rPr>
                        <a:t>.055</a:t>
                      </a:r>
                      <a:r>
                        <a:rPr lang="en-US" sz="1200" u="none" strike="noStrike" baseline="30000">
                          <a:effectLst/>
                        </a:rPr>
                        <a:t>f</a:t>
                      </a:r>
                      <a:endParaRPr lang="en-US" sz="1200" b="0" i="0" u="none" strike="noStrike">
                        <a:solidFill>
                          <a:srgbClr val="000000"/>
                        </a:solidFill>
                        <a:effectLst/>
                        <a:latin typeface="Arial" panose="020B0604020202020204" pitchFamily="34" charset="0"/>
                      </a:endParaRPr>
                    </a:p>
                  </a:txBody>
                  <a:tcPr marL="3921" marR="3921" marT="3921" marB="0" anchor="ctr">
                    <a:solidFill>
                      <a:srgbClr val="00FFCC"/>
                    </a:solidFill>
                  </a:tcPr>
                </a:tc>
                <a:tc>
                  <a:txBody>
                    <a:bodyPr/>
                    <a:lstStyle/>
                    <a:p>
                      <a:pPr algn="ctr" fontAlgn="t"/>
                      <a:r>
                        <a:rPr lang="en-US" sz="1200" u="none" strike="noStrike" dirty="0">
                          <a:effectLst/>
                        </a:rPr>
                        <a:t>.392</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00FFCC"/>
                    </a:solidFill>
                  </a:tcPr>
                </a:tc>
                <a:tc>
                  <a:txBody>
                    <a:bodyPr/>
                    <a:lstStyle/>
                    <a:p>
                      <a:pPr algn="ctr" fontAlgn="t"/>
                      <a:r>
                        <a:rPr lang="en-US" sz="1200" u="none" strike="noStrike" dirty="0">
                          <a:effectLst/>
                        </a:rPr>
                        <a:t>.700</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00FFCC"/>
                    </a:solidFill>
                  </a:tcPr>
                </a:tc>
                <a:tc>
                  <a:txBody>
                    <a:bodyPr/>
                    <a:lstStyle/>
                    <a:p>
                      <a:pPr algn="ctr" fontAlgn="t"/>
                      <a:r>
                        <a:rPr lang="en-US" sz="1200" u="none" strike="noStrike" dirty="0">
                          <a:effectLst/>
                        </a:rPr>
                        <a:t>.101</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00FFCC"/>
                    </a:solidFill>
                  </a:tcPr>
                </a:tc>
                <a:tc>
                  <a:txBody>
                    <a:bodyPr/>
                    <a:lstStyle/>
                    <a:p>
                      <a:pPr algn="ctr" fontAlgn="t"/>
                      <a:r>
                        <a:rPr lang="en-US" sz="1200" u="none" strike="noStrike" dirty="0">
                          <a:effectLst/>
                        </a:rPr>
                        <a:t>.084</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00FFCC"/>
                    </a:solidFill>
                  </a:tcPr>
                </a:tc>
                <a:extLst>
                  <a:ext uri="{0D108BD9-81ED-4DB2-BD59-A6C34878D82A}">
                    <a16:rowId xmlns:a16="http://schemas.microsoft.com/office/drawing/2014/main" val="3421478876"/>
                  </a:ext>
                </a:extLst>
              </a:tr>
              <a:tr h="193139">
                <a:tc vMerge="1">
                  <a:txBody>
                    <a:bodyPr/>
                    <a:lstStyle/>
                    <a:p>
                      <a:endParaRPr lang="en-US"/>
                    </a:p>
                  </a:txBody>
                  <a:tcPr/>
                </a:tc>
                <a:tc>
                  <a:txBody>
                    <a:bodyPr/>
                    <a:lstStyle/>
                    <a:p>
                      <a:pPr algn="l" fontAlgn="t"/>
                      <a:r>
                        <a:rPr lang="en-US" sz="1200" u="none" strike="noStrike">
                          <a:effectLst/>
                        </a:rPr>
                        <a:t>EMPL</a:t>
                      </a:r>
                      <a:endParaRPr lang="en-US" sz="1200" b="0" i="0" u="none" strike="noStrike">
                        <a:solidFill>
                          <a:srgbClr val="000000"/>
                        </a:solidFill>
                        <a:effectLst/>
                        <a:latin typeface="Arial" panose="020B0604020202020204" pitchFamily="34" charset="0"/>
                      </a:endParaRPr>
                    </a:p>
                  </a:txBody>
                  <a:tcPr marL="3921" marR="3921" marT="3921" marB="0" anchor="ctr">
                    <a:solidFill>
                      <a:srgbClr val="00FFCC"/>
                    </a:solidFill>
                  </a:tcPr>
                </a:tc>
                <a:tc>
                  <a:txBody>
                    <a:bodyPr/>
                    <a:lstStyle/>
                    <a:p>
                      <a:pPr algn="ctr" fontAlgn="t"/>
                      <a:r>
                        <a:rPr lang="en-US" sz="1200" u="none" strike="noStrike">
                          <a:effectLst/>
                        </a:rPr>
                        <a:t>-.126</a:t>
                      </a:r>
                      <a:r>
                        <a:rPr lang="en-US" sz="1200" u="none" strike="noStrike" baseline="30000">
                          <a:effectLst/>
                        </a:rPr>
                        <a:t>f</a:t>
                      </a:r>
                      <a:endParaRPr lang="en-US" sz="1200" b="0" i="0" u="none" strike="noStrike">
                        <a:solidFill>
                          <a:srgbClr val="000000"/>
                        </a:solidFill>
                        <a:effectLst/>
                        <a:latin typeface="Arial" panose="020B0604020202020204" pitchFamily="34" charset="0"/>
                      </a:endParaRPr>
                    </a:p>
                  </a:txBody>
                  <a:tcPr marL="3921" marR="3921" marT="3921" marB="0" anchor="ctr">
                    <a:solidFill>
                      <a:srgbClr val="00FFCC"/>
                    </a:solidFill>
                  </a:tcPr>
                </a:tc>
                <a:tc>
                  <a:txBody>
                    <a:bodyPr/>
                    <a:lstStyle/>
                    <a:p>
                      <a:pPr algn="ctr" fontAlgn="t"/>
                      <a:r>
                        <a:rPr lang="en-US" sz="1200" u="none" strike="noStrike" dirty="0">
                          <a:effectLst/>
                        </a:rPr>
                        <a:t>-1.075</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00FFCC"/>
                    </a:solidFill>
                  </a:tcPr>
                </a:tc>
                <a:tc>
                  <a:txBody>
                    <a:bodyPr/>
                    <a:lstStyle/>
                    <a:p>
                      <a:pPr algn="ctr" fontAlgn="t"/>
                      <a:r>
                        <a:rPr lang="en-US" sz="1200" u="none" strike="noStrike" dirty="0">
                          <a:effectLst/>
                        </a:rPr>
                        <a:t>.299</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00FFCC"/>
                    </a:solidFill>
                  </a:tcPr>
                </a:tc>
                <a:tc>
                  <a:txBody>
                    <a:bodyPr/>
                    <a:lstStyle/>
                    <a:p>
                      <a:pPr algn="ctr" fontAlgn="t"/>
                      <a:r>
                        <a:rPr lang="en-US" sz="1200" u="none" strike="noStrike">
                          <a:effectLst/>
                        </a:rPr>
                        <a:t>-.267</a:t>
                      </a:r>
                      <a:endParaRPr lang="en-US" sz="1200" b="0" i="0" u="none" strike="noStrike">
                        <a:solidFill>
                          <a:srgbClr val="000000"/>
                        </a:solidFill>
                        <a:effectLst/>
                        <a:latin typeface="Arial" panose="020B0604020202020204" pitchFamily="34" charset="0"/>
                      </a:endParaRPr>
                    </a:p>
                  </a:txBody>
                  <a:tcPr marL="3921" marR="3921" marT="3921" marB="0" anchor="ctr">
                    <a:solidFill>
                      <a:srgbClr val="00FFCC"/>
                    </a:solidFill>
                  </a:tcPr>
                </a:tc>
                <a:tc>
                  <a:txBody>
                    <a:bodyPr/>
                    <a:lstStyle/>
                    <a:p>
                      <a:pPr algn="ctr" fontAlgn="t"/>
                      <a:r>
                        <a:rPr lang="en-US" sz="1200" u="none" strike="noStrike" dirty="0">
                          <a:effectLst/>
                        </a:rPr>
                        <a:t>.114</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00FFCC"/>
                    </a:solidFill>
                  </a:tcPr>
                </a:tc>
                <a:extLst>
                  <a:ext uri="{0D108BD9-81ED-4DB2-BD59-A6C34878D82A}">
                    <a16:rowId xmlns:a16="http://schemas.microsoft.com/office/drawing/2014/main" val="2683389050"/>
                  </a:ext>
                </a:extLst>
              </a:tr>
              <a:tr h="193139">
                <a:tc vMerge="1">
                  <a:txBody>
                    <a:bodyPr/>
                    <a:lstStyle/>
                    <a:p>
                      <a:endParaRPr lang="en-US"/>
                    </a:p>
                  </a:txBody>
                  <a:tcPr/>
                </a:tc>
                <a:tc>
                  <a:txBody>
                    <a:bodyPr/>
                    <a:lstStyle/>
                    <a:p>
                      <a:pPr algn="l" fontAlgn="t"/>
                      <a:r>
                        <a:rPr lang="en-US" sz="1200" u="none" strike="noStrike">
                          <a:effectLst/>
                        </a:rPr>
                        <a:t>INT</a:t>
                      </a:r>
                      <a:endParaRPr lang="en-US" sz="1200" b="0" i="0" u="none" strike="noStrike">
                        <a:solidFill>
                          <a:srgbClr val="000000"/>
                        </a:solidFill>
                        <a:effectLst/>
                        <a:latin typeface="Arial" panose="020B0604020202020204" pitchFamily="34" charset="0"/>
                      </a:endParaRPr>
                    </a:p>
                  </a:txBody>
                  <a:tcPr marL="3921" marR="3921" marT="3921" marB="0" anchor="ctr">
                    <a:solidFill>
                      <a:srgbClr val="00FFCC"/>
                    </a:solidFill>
                  </a:tcPr>
                </a:tc>
                <a:tc>
                  <a:txBody>
                    <a:bodyPr/>
                    <a:lstStyle/>
                    <a:p>
                      <a:pPr algn="ctr" fontAlgn="t"/>
                      <a:r>
                        <a:rPr lang="en-US" sz="1200" u="none" strike="noStrike" dirty="0">
                          <a:effectLst/>
                        </a:rPr>
                        <a:t>.068</a:t>
                      </a:r>
                      <a:r>
                        <a:rPr lang="en-US" sz="1200" u="none" strike="noStrike" baseline="30000" dirty="0">
                          <a:effectLst/>
                        </a:rPr>
                        <a:t>f</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00FFCC"/>
                    </a:solidFill>
                  </a:tcPr>
                </a:tc>
                <a:tc>
                  <a:txBody>
                    <a:bodyPr/>
                    <a:lstStyle/>
                    <a:p>
                      <a:pPr algn="ctr" fontAlgn="t"/>
                      <a:r>
                        <a:rPr lang="en-US" sz="1200" u="none" strike="noStrike" dirty="0">
                          <a:effectLst/>
                        </a:rPr>
                        <a:t>.348</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00FFCC"/>
                    </a:solidFill>
                  </a:tcPr>
                </a:tc>
                <a:tc>
                  <a:txBody>
                    <a:bodyPr/>
                    <a:lstStyle/>
                    <a:p>
                      <a:pPr algn="ctr" fontAlgn="t"/>
                      <a:r>
                        <a:rPr lang="en-US" sz="1200" u="none" strike="noStrike" dirty="0">
                          <a:effectLst/>
                        </a:rPr>
                        <a:t>.733</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00FFCC"/>
                    </a:solidFill>
                  </a:tcPr>
                </a:tc>
                <a:tc>
                  <a:txBody>
                    <a:bodyPr/>
                    <a:lstStyle/>
                    <a:p>
                      <a:pPr algn="ctr" fontAlgn="t"/>
                      <a:r>
                        <a:rPr lang="en-US" sz="1200" u="none" strike="noStrike" dirty="0">
                          <a:effectLst/>
                        </a:rPr>
                        <a:t>.089</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00FFCC"/>
                    </a:solidFill>
                  </a:tcPr>
                </a:tc>
                <a:tc>
                  <a:txBody>
                    <a:bodyPr/>
                    <a:lstStyle/>
                    <a:p>
                      <a:pPr algn="ctr" fontAlgn="t"/>
                      <a:r>
                        <a:rPr lang="en-US" sz="1200" u="none" strike="noStrike" dirty="0">
                          <a:effectLst/>
                        </a:rPr>
                        <a:t>.043</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00FFCC"/>
                    </a:solidFill>
                  </a:tcPr>
                </a:tc>
                <a:extLst>
                  <a:ext uri="{0D108BD9-81ED-4DB2-BD59-A6C34878D82A}">
                    <a16:rowId xmlns:a16="http://schemas.microsoft.com/office/drawing/2014/main" val="338635204"/>
                  </a:ext>
                </a:extLst>
              </a:tr>
              <a:tr h="193139">
                <a:tc vMerge="1">
                  <a:txBody>
                    <a:bodyPr/>
                    <a:lstStyle/>
                    <a:p>
                      <a:endParaRPr lang="en-US"/>
                    </a:p>
                  </a:txBody>
                  <a:tcPr/>
                </a:tc>
                <a:tc>
                  <a:txBody>
                    <a:bodyPr/>
                    <a:lstStyle/>
                    <a:p>
                      <a:pPr algn="l" fontAlgn="t"/>
                      <a:r>
                        <a:rPr lang="en-US" sz="1200" u="none" strike="noStrike">
                          <a:effectLst/>
                        </a:rPr>
                        <a:t>T</a:t>
                      </a:r>
                      <a:endParaRPr lang="en-US" sz="1200" b="0" i="0" u="none" strike="noStrike">
                        <a:solidFill>
                          <a:srgbClr val="000000"/>
                        </a:solidFill>
                        <a:effectLst/>
                        <a:latin typeface="Arial" panose="020B0604020202020204" pitchFamily="34" charset="0"/>
                      </a:endParaRPr>
                    </a:p>
                  </a:txBody>
                  <a:tcPr marL="3921" marR="3921" marT="3921" marB="0" anchor="ctr">
                    <a:solidFill>
                      <a:srgbClr val="00FFCC"/>
                    </a:solidFill>
                  </a:tcPr>
                </a:tc>
                <a:tc>
                  <a:txBody>
                    <a:bodyPr/>
                    <a:lstStyle/>
                    <a:p>
                      <a:pPr algn="ctr" fontAlgn="t"/>
                      <a:r>
                        <a:rPr lang="en-US" sz="1200" u="none" strike="noStrike" dirty="0">
                          <a:effectLst/>
                        </a:rPr>
                        <a:t>-.173</a:t>
                      </a:r>
                      <a:r>
                        <a:rPr lang="en-US" sz="1200" u="none" strike="noStrike" baseline="30000" dirty="0">
                          <a:effectLst/>
                        </a:rPr>
                        <a:t>f</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00FFCC"/>
                    </a:solidFill>
                  </a:tcPr>
                </a:tc>
                <a:tc>
                  <a:txBody>
                    <a:bodyPr/>
                    <a:lstStyle/>
                    <a:p>
                      <a:pPr algn="ctr" fontAlgn="t"/>
                      <a:r>
                        <a:rPr lang="en-US" sz="1200" u="none" strike="noStrike" dirty="0">
                          <a:effectLst/>
                        </a:rPr>
                        <a:t>-.631</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00FFCC"/>
                    </a:solidFill>
                  </a:tcPr>
                </a:tc>
                <a:tc>
                  <a:txBody>
                    <a:bodyPr/>
                    <a:lstStyle/>
                    <a:p>
                      <a:pPr algn="ctr" fontAlgn="t"/>
                      <a:r>
                        <a:rPr lang="en-US" sz="1200" u="none" strike="noStrike" dirty="0">
                          <a:effectLst/>
                        </a:rPr>
                        <a:t>.538</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00FFCC"/>
                    </a:solidFill>
                  </a:tcPr>
                </a:tc>
                <a:tc>
                  <a:txBody>
                    <a:bodyPr/>
                    <a:lstStyle/>
                    <a:p>
                      <a:pPr algn="ctr" fontAlgn="t"/>
                      <a:r>
                        <a:rPr lang="en-US" sz="1200" u="none" strike="noStrike" dirty="0">
                          <a:effectLst/>
                        </a:rPr>
                        <a:t>-.161</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00FFCC"/>
                    </a:solidFill>
                  </a:tcPr>
                </a:tc>
                <a:tc>
                  <a:txBody>
                    <a:bodyPr/>
                    <a:lstStyle/>
                    <a:p>
                      <a:pPr algn="ctr" fontAlgn="t"/>
                      <a:r>
                        <a:rPr lang="en-US" sz="1200" u="none" strike="noStrike" dirty="0">
                          <a:effectLst/>
                        </a:rPr>
                        <a:t>.022</a:t>
                      </a:r>
                      <a:endParaRPr lang="en-US" sz="1200" b="0" i="0" u="none" strike="noStrike" dirty="0">
                        <a:solidFill>
                          <a:srgbClr val="000000"/>
                        </a:solidFill>
                        <a:effectLst/>
                        <a:latin typeface="Arial" panose="020B0604020202020204" pitchFamily="34" charset="0"/>
                      </a:endParaRPr>
                    </a:p>
                  </a:txBody>
                  <a:tcPr marL="3921" marR="3921" marT="3921" marB="0" anchor="ctr">
                    <a:solidFill>
                      <a:srgbClr val="00FFCC"/>
                    </a:solidFill>
                  </a:tcPr>
                </a:tc>
                <a:extLst>
                  <a:ext uri="{0D108BD9-81ED-4DB2-BD59-A6C34878D82A}">
                    <a16:rowId xmlns:a16="http://schemas.microsoft.com/office/drawing/2014/main" val="3794582598"/>
                  </a:ext>
                </a:extLst>
              </a:tr>
            </a:tbl>
          </a:graphicData>
        </a:graphic>
      </p:graphicFrame>
    </p:spTree>
    <p:extLst>
      <p:ext uri="{BB962C8B-B14F-4D97-AF65-F5344CB8AC3E}">
        <p14:creationId xmlns:p14="http://schemas.microsoft.com/office/powerpoint/2010/main" val="31750878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C0463-6AD2-41A6-B783-793F1CC153D2}"/>
              </a:ext>
            </a:extLst>
          </p:cNvPr>
          <p:cNvSpPr>
            <a:spLocks noGrp="1"/>
          </p:cNvSpPr>
          <p:nvPr>
            <p:ph type="title"/>
          </p:nvPr>
        </p:nvSpPr>
        <p:spPr>
          <a:xfrm>
            <a:off x="609599" y="609600"/>
            <a:ext cx="6347713" cy="838200"/>
          </a:xfrm>
        </p:spPr>
        <p:txBody>
          <a:bodyPr/>
          <a:lstStyle/>
          <a:p>
            <a:r>
              <a:rPr lang="en-US" dirty="0"/>
              <a:t>Overfitting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6E8A00A-928F-4C94-A0A2-204356CDF98F}"/>
                  </a:ext>
                </a:extLst>
              </p:cNvPr>
              <p:cNvSpPr>
                <a:spLocks noGrp="1"/>
              </p:cNvSpPr>
              <p:nvPr>
                <p:ph idx="1"/>
              </p:nvPr>
            </p:nvSpPr>
            <p:spPr>
              <a:xfrm>
                <a:off x="381000" y="1524000"/>
                <a:ext cx="7772402" cy="4517363"/>
              </a:xfrm>
            </p:spPr>
            <p:txBody>
              <a:bodyPr>
                <a:noAutofit/>
              </a:bodyPr>
              <a:lstStyle/>
              <a:p>
                <a:r>
                  <a:rPr lang="en-US" sz="2200" dirty="0"/>
                  <a:t>Too many explanatory variables can lead to Overfitting</a:t>
                </a:r>
              </a:p>
              <a:p>
                <a:r>
                  <a:rPr lang="en-US" sz="2200" b="1" i="1" dirty="0"/>
                  <a:t>Mallows C</a:t>
                </a:r>
                <a:r>
                  <a:rPr lang="en-US" sz="2200" b="1" i="1" baseline="-25000" dirty="0"/>
                  <a:t>p</a:t>
                </a:r>
                <a:r>
                  <a:rPr lang="en-US" sz="2200" dirty="0"/>
                  <a:t> helps to identify the right number of explanatory variables</a:t>
                </a:r>
              </a:p>
              <a:p>
                <a14:m>
                  <m:oMath xmlns:m="http://schemas.openxmlformats.org/officeDocument/2006/math">
                    <m:sSub>
                      <m:sSubPr>
                        <m:ctrlPr>
                          <a:rPr lang="en-US" sz="2200" i="1" smtClean="0">
                            <a:latin typeface="Cambria Math" panose="02040503050406030204" pitchFamily="18" charset="0"/>
                          </a:rPr>
                        </m:ctrlPr>
                      </m:sSubPr>
                      <m:e>
                        <m:r>
                          <a:rPr lang="en-US" sz="2200" b="0" i="1" smtClean="0">
                            <a:latin typeface="Cambria Math" panose="02040503050406030204" pitchFamily="18" charset="0"/>
                          </a:rPr>
                          <m:t>𝐶</m:t>
                        </m:r>
                      </m:e>
                      <m:sub>
                        <m:r>
                          <a:rPr lang="en-US" sz="2200" b="0" i="1" smtClean="0">
                            <a:latin typeface="Cambria Math" panose="02040503050406030204" pitchFamily="18" charset="0"/>
                          </a:rPr>
                          <m:t>𝑝</m:t>
                        </m:r>
                      </m:sub>
                    </m:sSub>
                    <m:r>
                      <a:rPr lang="en-US" sz="2200" b="0" i="1" smtClean="0">
                        <a:latin typeface="Cambria Math" panose="02040503050406030204" pitchFamily="18" charset="0"/>
                      </a:rPr>
                      <m:t>=</m:t>
                    </m:r>
                    <m:d>
                      <m:dPr>
                        <m:ctrlPr>
                          <a:rPr lang="en-US" sz="2200" b="0" i="1" smtClean="0">
                            <a:latin typeface="Cambria Math" panose="02040503050406030204" pitchFamily="18" charset="0"/>
                          </a:rPr>
                        </m:ctrlPr>
                      </m:dPr>
                      <m:e>
                        <m:f>
                          <m:fPr>
                            <m:ctrlPr>
                              <a:rPr lang="en-US" sz="2200" i="1">
                                <a:latin typeface="Cambria Math" panose="02040503050406030204" pitchFamily="18" charset="0"/>
                              </a:rPr>
                            </m:ctrlPr>
                          </m:fPr>
                          <m:num>
                            <m:sSub>
                              <m:sSubPr>
                                <m:ctrlPr>
                                  <a:rPr lang="en-US" sz="2200" i="1" smtClean="0">
                                    <a:latin typeface="Cambria Math" panose="02040503050406030204" pitchFamily="18" charset="0"/>
                                  </a:rPr>
                                </m:ctrlPr>
                              </m:sSubPr>
                              <m:e>
                                <m:r>
                                  <a:rPr lang="en-US" sz="2200" b="0" i="1" smtClean="0">
                                    <a:latin typeface="Cambria Math" panose="02040503050406030204" pitchFamily="18" charset="0"/>
                                  </a:rPr>
                                  <m:t>𝑆𝑆𝐸</m:t>
                                </m:r>
                              </m:e>
                              <m:sub>
                                <m:r>
                                  <a:rPr lang="en-US" sz="2200" b="0" i="1" smtClean="0">
                                    <a:latin typeface="Cambria Math" panose="02040503050406030204" pitchFamily="18" charset="0"/>
                                  </a:rPr>
                                  <m:t>𝑝</m:t>
                                </m:r>
                              </m:sub>
                            </m:sSub>
                          </m:num>
                          <m:den>
                            <m:sSub>
                              <m:sSubPr>
                                <m:ctrlPr>
                                  <a:rPr lang="en-US" sz="2200" i="1" smtClean="0">
                                    <a:latin typeface="Cambria Math" panose="02040503050406030204" pitchFamily="18" charset="0"/>
                                  </a:rPr>
                                </m:ctrlPr>
                              </m:sSubPr>
                              <m:e>
                                <m:r>
                                  <a:rPr lang="en-US" sz="2200" b="0" i="1" smtClean="0">
                                    <a:latin typeface="Cambria Math" panose="02040503050406030204" pitchFamily="18" charset="0"/>
                                  </a:rPr>
                                  <m:t>𝑀𝑆𝐸</m:t>
                                </m:r>
                              </m:e>
                              <m:sub>
                                <m:r>
                                  <a:rPr lang="en-US" sz="2200" b="0" i="1" smtClean="0">
                                    <a:latin typeface="Cambria Math" panose="02040503050406030204" pitchFamily="18" charset="0"/>
                                  </a:rPr>
                                  <m:t>𝑓</m:t>
                                </m:r>
                              </m:sub>
                            </m:sSub>
                          </m:den>
                        </m:f>
                      </m:e>
                    </m:d>
                    <m:r>
                      <a:rPr lang="en-US" sz="2200" b="0" i="1" smtClean="0">
                        <a:latin typeface="Cambria Math" panose="02040503050406030204" pitchFamily="18" charset="0"/>
                      </a:rPr>
                      <m:t>−(</m:t>
                    </m:r>
                    <m:r>
                      <a:rPr lang="en-US" sz="2200" b="0" i="1" smtClean="0">
                        <a:latin typeface="Cambria Math" panose="02040503050406030204" pitchFamily="18" charset="0"/>
                      </a:rPr>
                      <m:t>𝑛</m:t>
                    </m:r>
                    <m:r>
                      <a:rPr lang="en-US" sz="2200" b="0" i="1" smtClean="0">
                        <a:latin typeface="Cambria Math" panose="02040503050406030204" pitchFamily="18" charset="0"/>
                      </a:rPr>
                      <m:t>−2</m:t>
                    </m:r>
                    <m:r>
                      <a:rPr lang="en-US" sz="2200" b="0" i="1" smtClean="0">
                        <a:latin typeface="Cambria Math" panose="02040503050406030204" pitchFamily="18" charset="0"/>
                      </a:rPr>
                      <m:t>𝑝</m:t>
                    </m:r>
                    <m:r>
                      <a:rPr lang="en-US" sz="2200" b="0" i="1" smtClean="0">
                        <a:latin typeface="Cambria Math" panose="02040503050406030204" pitchFamily="18" charset="0"/>
                      </a:rPr>
                      <m:t>)</m:t>
                    </m:r>
                  </m:oMath>
                </a14:m>
                <a:endParaRPr lang="en-US" sz="2200" dirty="0"/>
              </a:p>
              <a:p>
                <a:r>
                  <a:rPr lang="en-US" sz="2200" dirty="0"/>
                  <a:t>Where SSE</a:t>
                </a:r>
                <a:r>
                  <a:rPr lang="en-US" sz="2200" baseline="-25000" dirty="0"/>
                  <a:t>p</a:t>
                </a:r>
                <a:r>
                  <a:rPr lang="en-US" sz="2200" dirty="0"/>
                  <a:t> is the sum of squared errors with p parameters in the model and MSE</a:t>
                </a:r>
                <a:r>
                  <a:rPr lang="en-US" sz="2200" baseline="-25000" dirty="0"/>
                  <a:t>f</a:t>
                </a:r>
                <a:r>
                  <a:rPr lang="en-US" sz="2200" dirty="0"/>
                  <a:t> is the Mean Squared Error with all the variables in the model , n is the number of observations.</a:t>
                </a:r>
              </a:p>
              <a:p>
                <a:r>
                  <a:rPr lang="en-US" sz="2200" dirty="0"/>
                  <a:t>The best regression model is the one with p closest to C</a:t>
                </a:r>
                <a:r>
                  <a:rPr lang="en-US" sz="2200" baseline="-25000" dirty="0"/>
                  <a:t>p</a:t>
                </a:r>
              </a:p>
              <a:p>
                <a:r>
                  <a:rPr lang="en-US" sz="2200" dirty="0"/>
                  <a:t>Hence calculate C</a:t>
                </a:r>
                <a:r>
                  <a:rPr lang="en-US" sz="2200" baseline="-25000" dirty="0"/>
                  <a:t>p</a:t>
                </a:r>
                <a:r>
                  <a:rPr lang="en-US" sz="2200" dirty="0"/>
                  <a:t> after each iteration and select p </a:t>
                </a:r>
              </a:p>
            </p:txBody>
          </p:sp>
        </mc:Choice>
        <mc:Fallback xmlns="">
          <p:sp>
            <p:nvSpPr>
              <p:cNvPr id="3" name="Content Placeholder 2">
                <a:extLst>
                  <a:ext uri="{FF2B5EF4-FFF2-40B4-BE49-F238E27FC236}">
                    <a16:creationId xmlns:a16="http://schemas.microsoft.com/office/drawing/2014/main" id="{56E8A00A-928F-4C94-A0A2-204356CDF98F}"/>
                  </a:ext>
                </a:extLst>
              </p:cNvPr>
              <p:cNvSpPr>
                <a:spLocks noGrp="1" noRot="1" noChangeAspect="1" noMove="1" noResize="1" noEditPoints="1" noAdjustHandles="1" noChangeArrowheads="1" noChangeShapeType="1" noTextEdit="1"/>
              </p:cNvSpPr>
              <p:nvPr>
                <p:ph idx="1"/>
              </p:nvPr>
            </p:nvSpPr>
            <p:spPr>
              <a:xfrm>
                <a:off x="381000" y="1524000"/>
                <a:ext cx="7772402" cy="4517363"/>
              </a:xfrm>
              <a:blipFill>
                <a:blip r:embed="rId2"/>
                <a:stretch>
                  <a:fillRect l="-549" t="-1080"/>
                </a:stretch>
              </a:blipFill>
            </p:spPr>
            <p:txBody>
              <a:bodyPr/>
              <a:lstStyle/>
              <a:p>
                <a:r>
                  <a:rPr lang="en-US">
                    <a:noFill/>
                  </a:rPr>
                  <a:t> </a:t>
                </a:r>
              </a:p>
            </p:txBody>
          </p:sp>
        </mc:Fallback>
      </mc:AlternateContent>
    </p:spTree>
    <p:extLst>
      <p:ext uri="{BB962C8B-B14F-4D97-AF65-F5344CB8AC3E}">
        <p14:creationId xmlns:p14="http://schemas.microsoft.com/office/powerpoint/2010/main" val="15839910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0D0EFF5D-E91A-456D-92DB-4B5F97F04500}"/>
              </a:ext>
            </a:extLst>
          </p:cNvPr>
          <p:cNvSpPr>
            <a:spLocks noGrp="1" noChangeArrowheads="1"/>
          </p:cNvSpPr>
          <p:nvPr>
            <p:ph type="title"/>
          </p:nvPr>
        </p:nvSpPr>
        <p:spPr/>
        <p:txBody>
          <a:bodyPr/>
          <a:lstStyle/>
          <a:p>
            <a:r>
              <a:rPr lang="en-US" altLang="en-US"/>
              <a:t>Multicollinearity</a:t>
            </a:r>
          </a:p>
        </p:txBody>
      </p:sp>
      <p:sp>
        <p:nvSpPr>
          <p:cNvPr id="20483" name="Rectangle 3">
            <a:extLst>
              <a:ext uri="{FF2B5EF4-FFF2-40B4-BE49-F238E27FC236}">
                <a16:creationId xmlns:a16="http://schemas.microsoft.com/office/drawing/2014/main" id="{EE3FABAA-9056-4210-A83A-516396BEF449}"/>
              </a:ext>
            </a:extLst>
          </p:cNvPr>
          <p:cNvSpPr>
            <a:spLocks noGrp="1" noChangeArrowheads="1"/>
          </p:cNvSpPr>
          <p:nvPr>
            <p:ph idx="1"/>
          </p:nvPr>
        </p:nvSpPr>
        <p:spPr/>
        <p:txBody>
          <a:bodyPr>
            <a:normAutofit/>
          </a:bodyPr>
          <a:lstStyle/>
          <a:p>
            <a:pPr eaLnBrk="0" hangingPunct="0">
              <a:spcBef>
                <a:spcPct val="33000"/>
              </a:spcBef>
              <a:buSzPct val="65000"/>
            </a:pPr>
            <a:r>
              <a:rPr lang="en-US" altLang="en-US" sz="2400" dirty="0"/>
              <a:t>High correlation between </a:t>
            </a:r>
            <a:r>
              <a:rPr lang="en-US" altLang="en-US" sz="2400" i="1" dirty="0"/>
              <a:t>X</a:t>
            </a:r>
            <a:r>
              <a:rPr lang="en-US" altLang="en-US" sz="2400" dirty="0"/>
              <a:t> variables</a:t>
            </a:r>
          </a:p>
          <a:p>
            <a:pPr eaLnBrk="0" hangingPunct="0">
              <a:spcBef>
                <a:spcPct val="33000"/>
              </a:spcBef>
              <a:buSzPct val="65000"/>
            </a:pPr>
            <a:r>
              <a:rPr lang="en-US" altLang="en-US" sz="2400" dirty="0"/>
              <a:t>Coefficients measure combined effect</a:t>
            </a:r>
          </a:p>
          <a:p>
            <a:pPr eaLnBrk="0" hangingPunct="0">
              <a:spcBef>
                <a:spcPct val="33000"/>
              </a:spcBef>
              <a:buSzPct val="65000"/>
            </a:pPr>
            <a:r>
              <a:rPr lang="en-US" altLang="en-US" sz="2400" dirty="0"/>
              <a:t>Leads to unstable coefficients depending on </a:t>
            </a:r>
            <a:r>
              <a:rPr lang="en-US" altLang="en-US" sz="2400" i="1" dirty="0"/>
              <a:t>X</a:t>
            </a:r>
            <a:r>
              <a:rPr lang="en-US" altLang="en-US" sz="2400" dirty="0"/>
              <a:t> variables in model</a:t>
            </a:r>
          </a:p>
          <a:p>
            <a:pPr eaLnBrk="0" hangingPunct="0">
              <a:spcBef>
                <a:spcPct val="33000"/>
              </a:spcBef>
              <a:buSzPct val="65000"/>
            </a:pPr>
            <a:r>
              <a:rPr lang="en-US" altLang="en-US" sz="2400" dirty="0"/>
              <a:t>Always exists;  matter of degree</a:t>
            </a:r>
          </a:p>
        </p:txBody>
      </p:sp>
    </p:spTree>
    <p:extLst>
      <p:ext uri="{BB962C8B-B14F-4D97-AF65-F5344CB8AC3E}">
        <p14:creationId xmlns:p14="http://schemas.microsoft.com/office/powerpoint/2010/main" val="7393835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p:cNvSpPr>
            <a:spLocks noGrp="1"/>
          </p:cNvSpPr>
          <p:nvPr>
            <p:ph type="title"/>
          </p:nvPr>
        </p:nvSpPr>
        <p:spPr>
          <a:xfrm>
            <a:off x="609600" y="381000"/>
            <a:ext cx="6629400" cy="628650"/>
          </a:xfrm>
        </p:spPr>
        <p:txBody>
          <a:bodyPr>
            <a:normAutofit fontScale="90000"/>
          </a:bodyPr>
          <a:lstStyle/>
          <a:p>
            <a:r>
              <a:rPr lang="en-US" altLang="en-US" dirty="0">
                <a:ea typeface="ＭＳ Ｐゴシック" charset="-128"/>
              </a:rPr>
              <a:t>Multicollinearity in practice</a:t>
            </a:r>
          </a:p>
        </p:txBody>
      </p:sp>
      <p:sp>
        <p:nvSpPr>
          <p:cNvPr id="30722" name="Content Placeholder 4"/>
          <p:cNvSpPr>
            <a:spLocks noGrp="1"/>
          </p:cNvSpPr>
          <p:nvPr>
            <p:ph idx="1"/>
          </p:nvPr>
        </p:nvSpPr>
        <p:spPr>
          <a:xfrm>
            <a:off x="381000" y="1358153"/>
            <a:ext cx="7543800" cy="5034888"/>
          </a:xfrm>
        </p:spPr>
        <p:txBody>
          <a:bodyPr>
            <a:noAutofit/>
          </a:bodyPr>
          <a:lstStyle/>
          <a:p>
            <a:pPr marL="0" indent="0">
              <a:spcBef>
                <a:spcPts val="600"/>
              </a:spcBef>
            </a:pPr>
            <a:r>
              <a:rPr lang="en-US" altLang="en-US" sz="2400" dirty="0">
                <a:ea typeface="ＭＳ Ｐゴシック" charset="-128"/>
              </a:rPr>
              <a:t>In practice, perfect multicollinearity (e.g. X</a:t>
            </a:r>
            <a:r>
              <a:rPr lang="en-US" altLang="en-US" sz="2400" baseline="-25000" dirty="0">
                <a:ea typeface="ＭＳ Ｐゴシック" charset="-128"/>
              </a:rPr>
              <a:t>3</a:t>
            </a:r>
            <a:r>
              <a:rPr lang="en-US" altLang="en-US" sz="2400" dirty="0">
                <a:ea typeface="ＭＳ Ｐゴシック" charset="-128"/>
              </a:rPr>
              <a:t> = 2X</a:t>
            </a:r>
            <a:r>
              <a:rPr lang="en-US" altLang="en-US" sz="2400" baseline="-25000" dirty="0">
                <a:ea typeface="ＭＳ Ｐゴシック" charset="-128"/>
              </a:rPr>
              <a:t>1</a:t>
            </a:r>
            <a:r>
              <a:rPr lang="en-US" altLang="en-US" sz="2400" dirty="0">
                <a:ea typeface="ＭＳ Ｐゴシック" charset="-128"/>
              </a:rPr>
              <a:t> – 3X</a:t>
            </a:r>
            <a:r>
              <a:rPr lang="en-US" altLang="en-US" sz="2400" baseline="-25000" dirty="0">
                <a:ea typeface="ＭＳ Ｐゴシック" charset="-128"/>
              </a:rPr>
              <a:t>2</a:t>
            </a:r>
            <a:r>
              <a:rPr lang="en-US" altLang="en-US" sz="2400" dirty="0">
                <a:ea typeface="ＭＳ Ｐゴシック" charset="-128"/>
              </a:rPr>
              <a:t>) is rare, unless some error has been committed</a:t>
            </a:r>
          </a:p>
          <a:p>
            <a:pPr marL="0" indent="0">
              <a:spcBef>
                <a:spcPts val="600"/>
              </a:spcBef>
            </a:pPr>
            <a:r>
              <a:rPr lang="en-US" altLang="en-US" sz="2400" dirty="0">
                <a:ea typeface="ＭＳ Ｐゴシック" charset="-128"/>
              </a:rPr>
              <a:t>But high correlation between predictor variables could be problematic (approx. benchmark |r| &gt; 0.7)</a:t>
            </a:r>
          </a:p>
          <a:p>
            <a:pPr marL="0" indent="0">
              <a:spcBef>
                <a:spcPts val="600"/>
              </a:spcBef>
            </a:pPr>
            <a:r>
              <a:rPr lang="en-US" altLang="en-US" sz="2400" dirty="0">
                <a:solidFill>
                  <a:srgbClr val="0000FF"/>
                </a:solidFill>
                <a:ea typeface="ＭＳ Ｐゴシック" charset="-128"/>
              </a:rPr>
              <a:t>Variance Inflation Factors</a:t>
            </a:r>
            <a:r>
              <a:rPr lang="en-US" altLang="en-US" sz="2400" dirty="0">
                <a:ea typeface="ＭＳ Ｐゴシック" charset="-128"/>
              </a:rPr>
              <a:t> (VIF) are typically used to confirm this suspicion</a:t>
            </a:r>
          </a:p>
          <a:p>
            <a:pPr lvl="1">
              <a:spcBef>
                <a:spcPts val="600"/>
              </a:spcBef>
            </a:pPr>
            <a:r>
              <a:rPr lang="en-US" altLang="en-US" sz="2000" dirty="0">
                <a:ea typeface="ＭＳ Ｐゴシック" charset="-128"/>
              </a:rPr>
              <a:t>Regress each predictor variable (</a:t>
            </a:r>
            <a:r>
              <a:rPr lang="en-US" altLang="en-US" sz="2000" dirty="0" err="1">
                <a:ea typeface="ＭＳ Ｐゴシック" charset="-128"/>
              </a:rPr>
              <a:t>X</a:t>
            </a:r>
            <a:r>
              <a:rPr lang="en-US" altLang="en-US" sz="2000" baseline="-25000" dirty="0" err="1">
                <a:ea typeface="ＭＳ Ｐゴシック" charset="-128"/>
              </a:rPr>
              <a:t>j</a:t>
            </a:r>
            <a:r>
              <a:rPr lang="en-US" altLang="en-US" sz="2000" dirty="0">
                <a:ea typeface="ＭＳ Ｐゴシック" charset="-128"/>
              </a:rPr>
              <a:t>) on the remaining predictors and calculate R</a:t>
            </a:r>
            <a:r>
              <a:rPr lang="en-US" altLang="en-US" sz="2000" baseline="-25000" dirty="0">
                <a:ea typeface="ＭＳ Ｐゴシック" charset="-128"/>
              </a:rPr>
              <a:t>j</a:t>
            </a:r>
            <a:r>
              <a:rPr lang="en-US" altLang="en-US" sz="2000" baseline="30000" dirty="0">
                <a:ea typeface="ＭＳ Ｐゴシック" charset="-128"/>
              </a:rPr>
              <a:t>2</a:t>
            </a:r>
          </a:p>
          <a:p>
            <a:pPr lvl="1">
              <a:spcBef>
                <a:spcPts val="600"/>
              </a:spcBef>
            </a:pPr>
            <a:r>
              <a:rPr lang="en-US" altLang="en-US" sz="2000" dirty="0" err="1">
                <a:ea typeface="ＭＳ Ｐゴシック" charset="-128"/>
              </a:rPr>
              <a:t>VIF</a:t>
            </a:r>
            <a:r>
              <a:rPr lang="en-US" altLang="en-US" sz="2000" baseline="-25000" dirty="0" err="1">
                <a:ea typeface="ＭＳ Ｐゴシック" charset="-128"/>
              </a:rPr>
              <a:t>j</a:t>
            </a:r>
            <a:r>
              <a:rPr lang="en-US" altLang="en-US" sz="2000" dirty="0">
                <a:ea typeface="ＭＳ Ｐゴシック" charset="-128"/>
              </a:rPr>
              <a:t> = 1/(1-R</a:t>
            </a:r>
            <a:r>
              <a:rPr lang="en-US" altLang="en-US" sz="2000" baseline="-25000" dirty="0">
                <a:ea typeface="ＭＳ Ｐゴシック" charset="-128"/>
              </a:rPr>
              <a:t>j</a:t>
            </a:r>
            <a:r>
              <a:rPr lang="en-US" altLang="en-US" sz="2000" baseline="30000" dirty="0">
                <a:ea typeface="ＭＳ Ｐゴシック" charset="-128"/>
              </a:rPr>
              <a:t>2</a:t>
            </a:r>
            <a:r>
              <a:rPr lang="en-US" altLang="en-US" sz="2000" dirty="0">
                <a:ea typeface="ＭＳ Ｐゴシック" charset="-128"/>
              </a:rPr>
              <a:t>) is the variance inflation factor associated with predictor variable </a:t>
            </a:r>
            <a:r>
              <a:rPr lang="en-US" altLang="en-US" sz="2000" i="1" dirty="0">
                <a:ea typeface="ＭＳ Ｐゴシック" charset="-128"/>
              </a:rPr>
              <a:t>j</a:t>
            </a:r>
          </a:p>
          <a:p>
            <a:pPr lvl="1">
              <a:spcBef>
                <a:spcPts val="600"/>
              </a:spcBef>
            </a:pPr>
            <a:r>
              <a:rPr lang="en-US" altLang="en-US" sz="2000" dirty="0">
                <a:ea typeface="ＭＳ Ｐゴシック" charset="-128"/>
              </a:rPr>
              <a:t>High VIF =&gt; large variation in this predictor variable is explained by other predictor variables</a:t>
            </a:r>
          </a:p>
          <a:p>
            <a:pPr lvl="1">
              <a:spcBef>
                <a:spcPts val="600"/>
              </a:spcBef>
            </a:pPr>
            <a:r>
              <a:rPr lang="en-US" altLang="en-US" sz="2000" dirty="0">
                <a:ea typeface="ＭＳ Ｐゴシック" charset="-128"/>
              </a:rPr>
              <a:t>Rule of thumb is VIF&gt;10</a:t>
            </a:r>
          </a:p>
        </p:txBody>
      </p:sp>
      <p:sp>
        <p:nvSpPr>
          <p:cNvPr id="30723" name="Slide Number Placeholder 5"/>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800">
                <a:solidFill>
                  <a:schemeClr val="tx1"/>
                </a:solidFill>
                <a:latin typeface="Arial" charset="0"/>
                <a:ea typeface="ＭＳ Ｐゴシック" charset="-128"/>
              </a:defRPr>
            </a:lvl1pPr>
            <a:lvl2pPr marL="557213" indent="-214313" eaLnBrk="0" hangingPunct="0">
              <a:defRPr sz="1800">
                <a:solidFill>
                  <a:schemeClr val="tx1"/>
                </a:solidFill>
                <a:latin typeface="Arial" charset="0"/>
                <a:ea typeface="ＭＳ Ｐゴシック" charset="-128"/>
              </a:defRPr>
            </a:lvl2pPr>
            <a:lvl3pPr marL="857250" indent="-171450" eaLnBrk="0" hangingPunct="0">
              <a:defRPr sz="1800">
                <a:solidFill>
                  <a:schemeClr val="tx1"/>
                </a:solidFill>
                <a:latin typeface="Arial" charset="0"/>
                <a:ea typeface="ＭＳ Ｐゴシック" charset="-128"/>
              </a:defRPr>
            </a:lvl3pPr>
            <a:lvl4pPr marL="1200150" indent="-171450" eaLnBrk="0" hangingPunct="0">
              <a:defRPr sz="1800">
                <a:solidFill>
                  <a:schemeClr val="tx1"/>
                </a:solidFill>
                <a:latin typeface="Arial" charset="0"/>
                <a:ea typeface="ＭＳ Ｐゴシック" charset="-128"/>
              </a:defRPr>
            </a:lvl4pPr>
            <a:lvl5pPr marL="1543050" indent="-171450" eaLnBrk="0" hangingPunct="0">
              <a:defRPr sz="1800">
                <a:solidFill>
                  <a:schemeClr val="tx1"/>
                </a:solidFill>
                <a:latin typeface="Arial" charset="0"/>
                <a:ea typeface="ＭＳ Ｐゴシック" charset="-128"/>
              </a:defRPr>
            </a:lvl5pPr>
            <a:lvl6pPr marL="1885950" indent="-171450" eaLnBrk="0" fontAlgn="base" hangingPunct="0">
              <a:spcBef>
                <a:spcPct val="0"/>
              </a:spcBef>
              <a:spcAft>
                <a:spcPct val="0"/>
              </a:spcAft>
              <a:defRPr sz="1800">
                <a:solidFill>
                  <a:schemeClr val="tx1"/>
                </a:solidFill>
                <a:latin typeface="Arial" charset="0"/>
                <a:ea typeface="ＭＳ Ｐゴシック" charset="-128"/>
              </a:defRPr>
            </a:lvl6pPr>
            <a:lvl7pPr marL="2228850" indent="-171450" eaLnBrk="0" fontAlgn="base" hangingPunct="0">
              <a:spcBef>
                <a:spcPct val="0"/>
              </a:spcBef>
              <a:spcAft>
                <a:spcPct val="0"/>
              </a:spcAft>
              <a:defRPr sz="1800">
                <a:solidFill>
                  <a:schemeClr val="tx1"/>
                </a:solidFill>
                <a:latin typeface="Arial" charset="0"/>
                <a:ea typeface="ＭＳ Ｐゴシック" charset="-128"/>
              </a:defRPr>
            </a:lvl7pPr>
            <a:lvl8pPr marL="2571750" indent="-171450" eaLnBrk="0" fontAlgn="base" hangingPunct="0">
              <a:spcBef>
                <a:spcPct val="0"/>
              </a:spcBef>
              <a:spcAft>
                <a:spcPct val="0"/>
              </a:spcAft>
              <a:defRPr sz="1800">
                <a:solidFill>
                  <a:schemeClr val="tx1"/>
                </a:solidFill>
                <a:latin typeface="Arial" charset="0"/>
                <a:ea typeface="ＭＳ Ｐゴシック" charset="-128"/>
              </a:defRPr>
            </a:lvl8pPr>
            <a:lvl9pPr marL="2914650" indent="-171450" eaLnBrk="0" fontAlgn="base" hangingPunct="0">
              <a:spcBef>
                <a:spcPct val="0"/>
              </a:spcBef>
              <a:spcAft>
                <a:spcPct val="0"/>
              </a:spcAft>
              <a:defRPr sz="1800">
                <a:solidFill>
                  <a:schemeClr val="tx1"/>
                </a:solidFill>
                <a:latin typeface="Arial" charset="0"/>
                <a:ea typeface="ＭＳ Ｐゴシック" charset="-128"/>
              </a:defRPr>
            </a:lvl9pPr>
          </a:lstStyle>
          <a:p>
            <a:pPr eaLnBrk="1" fontAlgn="base" hangingPunct="1">
              <a:spcBef>
                <a:spcPct val="0"/>
              </a:spcBef>
              <a:spcAft>
                <a:spcPct val="0"/>
              </a:spcAft>
            </a:pPr>
            <a:fld id="{7DAC996D-9E96-D649-82D7-6DB1E3F8A7AF}" type="slidenum">
              <a:rPr lang="en-US" altLang="en-US" sz="900">
                <a:solidFill>
                  <a:schemeClr val="bg1"/>
                </a:solidFill>
                <a:latin typeface="Calibri" charset="0"/>
              </a:rPr>
              <a:pPr eaLnBrk="1" fontAlgn="base" hangingPunct="1">
                <a:spcBef>
                  <a:spcPct val="0"/>
                </a:spcBef>
                <a:spcAft>
                  <a:spcPct val="0"/>
                </a:spcAft>
              </a:pPr>
              <a:t>40</a:t>
            </a:fld>
            <a:endParaRPr lang="en-US" altLang="en-US" sz="900">
              <a:solidFill>
                <a:schemeClr val="bg1"/>
              </a:solidFill>
              <a:latin typeface="Calibri" charset="0"/>
            </a:endParaRPr>
          </a:p>
        </p:txBody>
      </p:sp>
    </p:spTree>
    <p:extLst>
      <p:ext uri="{BB962C8B-B14F-4D97-AF65-F5344CB8AC3E}">
        <p14:creationId xmlns:p14="http://schemas.microsoft.com/office/powerpoint/2010/main" val="14839549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nvPr>
        </p:nvSpPr>
        <p:spPr>
          <a:xfrm>
            <a:off x="457200" y="228600"/>
            <a:ext cx="5632190" cy="1032592"/>
          </a:xfrm>
        </p:spPr>
        <p:txBody>
          <a:bodyPr>
            <a:normAutofit fontScale="90000"/>
          </a:bodyPr>
          <a:lstStyle/>
          <a:p>
            <a:r>
              <a:rPr lang="en-US" altLang="en-US" dirty="0">
                <a:ea typeface="ＭＳ Ｐゴシック" charset="-128"/>
              </a:rPr>
              <a:t>Other indicators/signs of multicollinearity</a:t>
            </a:r>
          </a:p>
        </p:txBody>
      </p:sp>
      <p:sp>
        <p:nvSpPr>
          <p:cNvPr id="31746" name="Content Placeholder 4"/>
          <p:cNvSpPr>
            <a:spLocks noGrp="1"/>
          </p:cNvSpPr>
          <p:nvPr>
            <p:ph idx="1"/>
          </p:nvPr>
        </p:nvSpPr>
        <p:spPr>
          <a:xfrm>
            <a:off x="533400" y="1676400"/>
            <a:ext cx="6967537" cy="4800600"/>
          </a:xfrm>
        </p:spPr>
        <p:txBody>
          <a:bodyPr>
            <a:noAutofit/>
          </a:bodyPr>
          <a:lstStyle/>
          <a:p>
            <a:pPr>
              <a:lnSpc>
                <a:spcPct val="90000"/>
              </a:lnSpc>
              <a:spcBef>
                <a:spcPts val="450"/>
              </a:spcBef>
              <a:spcAft>
                <a:spcPts val="450"/>
              </a:spcAft>
            </a:pPr>
            <a:r>
              <a:rPr lang="en-US" altLang="en-US" sz="2400" dirty="0">
                <a:solidFill>
                  <a:srgbClr val="0000FF"/>
                </a:solidFill>
                <a:ea typeface="ＭＳ Ｐゴシック" charset="-128"/>
              </a:rPr>
              <a:t>Large F-value </a:t>
            </a:r>
            <a:r>
              <a:rPr lang="en-US" altLang="en-US" sz="2400" dirty="0">
                <a:ea typeface="ＭＳ Ｐゴシック" charset="-128"/>
              </a:rPr>
              <a:t>(overall significance) and/or R</a:t>
            </a:r>
            <a:r>
              <a:rPr lang="en-US" altLang="en-US" sz="2400" baseline="30000" dirty="0">
                <a:ea typeface="ＭＳ Ｐゴシック" charset="-128"/>
              </a:rPr>
              <a:t>2</a:t>
            </a:r>
            <a:r>
              <a:rPr lang="en-US" altLang="en-US" sz="2400" dirty="0">
                <a:ea typeface="ＭＳ Ｐゴシック" charset="-128"/>
              </a:rPr>
              <a:t>, but </a:t>
            </a:r>
            <a:r>
              <a:rPr lang="en-US" altLang="en-US" sz="2400" dirty="0">
                <a:solidFill>
                  <a:srgbClr val="0000FF"/>
                </a:solidFill>
                <a:ea typeface="ＭＳ Ｐゴシック" charset="-128"/>
              </a:rPr>
              <a:t>low t-values </a:t>
            </a:r>
            <a:r>
              <a:rPr lang="en-US" altLang="en-US" sz="2400" dirty="0">
                <a:ea typeface="ＭＳ Ｐゴシック" charset="-128"/>
              </a:rPr>
              <a:t>(individual significance)</a:t>
            </a:r>
          </a:p>
          <a:p>
            <a:pPr lvl="1">
              <a:lnSpc>
                <a:spcPct val="90000"/>
              </a:lnSpc>
              <a:spcBef>
                <a:spcPts val="450"/>
              </a:spcBef>
              <a:spcAft>
                <a:spcPts val="450"/>
              </a:spcAft>
            </a:pPr>
            <a:r>
              <a:rPr lang="en-US" altLang="en-US" sz="2000" dirty="0">
                <a:ea typeface="ＭＳ Ｐゴシック" charset="-128"/>
              </a:rPr>
              <a:t>The loss of precision in </a:t>
            </a:r>
            <a:r>
              <a:rPr lang="ja-JP" altLang="en-US" sz="2000" dirty="0">
                <a:ea typeface="ＭＳ Ｐゴシック" charset="-128"/>
              </a:rPr>
              <a:t>“</a:t>
            </a:r>
            <a:r>
              <a:rPr lang="en-US" altLang="ja-JP" sz="2000" dirty="0" err="1">
                <a:ea typeface="ＭＳ Ｐゴシック" charset="-128"/>
              </a:rPr>
              <a:t>partialling</a:t>
            </a:r>
            <a:r>
              <a:rPr lang="ja-JP" altLang="en-US" sz="2000" dirty="0">
                <a:ea typeface="ＭＳ Ｐゴシック" charset="-128"/>
              </a:rPr>
              <a:t>”</a:t>
            </a:r>
            <a:r>
              <a:rPr lang="en-US" altLang="ja-JP" sz="2000" dirty="0">
                <a:ea typeface="ＭＳ Ｐゴシック" charset="-128"/>
              </a:rPr>
              <a:t> out the effects of individual predictors does not affect overall significance</a:t>
            </a:r>
          </a:p>
          <a:p>
            <a:pPr>
              <a:spcBef>
                <a:spcPts val="450"/>
              </a:spcBef>
              <a:spcAft>
                <a:spcPts val="450"/>
              </a:spcAft>
            </a:pPr>
            <a:r>
              <a:rPr lang="en-US" altLang="en-US" sz="2400" dirty="0">
                <a:ea typeface="ＭＳ Ｐゴシック" charset="-128"/>
              </a:rPr>
              <a:t>The parameter estimates maybe unstable – jump around for small changes in data</a:t>
            </a:r>
          </a:p>
          <a:p>
            <a:pPr>
              <a:lnSpc>
                <a:spcPct val="90000"/>
              </a:lnSpc>
              <a:spcBef>
                <a:spcPts val="450"/>
              </a:spcBef>
              <a:spcAft>
                <a:spcPts val="450"/>
              </a:spcAft>
            </a:pPr>
            <a:r>
              <a:rPr lang="en-US" altLang="en-US" sz="2400" dirty="0">
                <a:ea typeface="ＭＳ Ｐゴシック" charset="-128"/>
              </a:rPr>
              <a:t>Unexpected signs for the coefficients</a:t>
            </a:r>
          </a:p>
          <a:p>
            <a:pPr>
              <a:lnSpc>
                <a:spcPct val="90000"/>
              </a:lnSpc>
              <a:spcBef>
                <a:spcPts val="450"/>
              </a:spcBef>
              <a:spcAft>
                <a:spcPts val="450"/>
              </a:spcAft>
            </a:pPr>
            <a:r>
              <a:rPr lang="en-US" altLang="en-US" sz="2400" dirty="0">
                <a:ea typeface="ＭＳ Ｐゴシック" charset="-128"/>
              </a:rPr>
              <a:t>Suspect multicollinearity if your approach is “kitchen sink” regression</a:t>
            </a:r>
          </a:p>
          <a:p>
            <a:pPr>
              <a:spcBef>
                <a:spcPts val="450"/>
              </a:spcBef>
              <a:spcAft>
                <a:spcPts val="450"/>
              </a:spcAft>
            </a:pPr>
            <a:endParaRPr lang="en-US" altLang="en-US" dirty="0">
              <a:ea typeface="ＭＳ Ｐゴシック" charset="-128"/>
            </a:endParaRPr>
          </a:p>
        </p:txBody>
      </p:sp>
      <p:sp>
        <p:nvSpPr>
          <p:cNvPr id="31747" name="Slide Number Placeholder 5"/>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800">
                <a:solidFill>
                  <a:schemeClr val="tx1"/>
                </a:solidFill>
                <a:latin typeface="Arial" charset="0"/>
                <a:ea typeface="ＭＳ Ｐゴシック" charset="-128"/>
              </a:defRPr>
            </a:lvl1pPr>
            <a:lvl2pPr marL="557213" indent="-214313" eaLnBrk="0" hangingPunct="0">
              <a:defRPr sz="1800">
                <a:solidFill>
                  <a:schemeClr val="tx1"/>
                </a:solidFill>
                <a:latin typeface="Arial" charset="0"/>
                <a:ea typeface="ＭＳ Ｐゴシック" charset="-128"/>
              </a:defRPr>
            </a:lvl2pPr>
            <a:lvl3pPr marL="857250" indent="-171450" eaLnBrk="0" hangingPunct="0">
              <a:defRPr sz="1800">
                <a:solidFill>
                  <a:schemeClr val="tx1"/>
                </a:solidFill>
                <a:latin typeface="Arial" charset="0"/>
                <a:ea typeface="ＭＳ Ｐゴシック" charset="-128"/>
              </a:defRPr>
            </a:lvl3pPr>
            <a:lvl4pPr marL="1200150" indent="-171450" eaLnBrk="0" hangingPunct="0">
              <a:defRPr sz="1800">
                <a:solidFill>
                  <a:schemeClr val="tx1"/>
                </a:solidFill>
                <a:latin typeface="Arial" charset="0"/>
                <a:ea typeface="ＭＳ Ｐゴシック" charset="-128"/>
              </a:defRPr>
            </a:lvl4pPr>
            <a:lvl5pPr marL="1543050" indent="-171450" eaLnBrk="0" hangingPunct="0">
              <a:defRPr sz="1800">
                <a:solidFill>
                  <a:schemeClr val="tx1"/>
                </a:solidFill>
                <a:latin typeface="Arial" charset="0"/>
                <a:ea typeface="ＭＳ Ｐゴシック" charset="-128"/>
              </a:defRPr>
            </a:lvl5pPr>
            <a:lvl6pPr marL="1885950" indent="-171450" eaLnBrk="0" fontAlgn="base" hangingPunct="0">
              <a:spcBef>
                <a:spcPct val="0"/>
              </a:spcBef>
              <a:spcAft>
                <a:spcPct val="0"/>
              </a:spcAft>
              <a:defRPr sz="1800">
                <a:solidFill>
                  <a:schemeClr val="tx1"/>
                </a:solidFill>
                <a:latin typeface="Arial" charset="0"/>
                <a:ea typeface="ＭＳ Ｐゴシック" charset="-128"/>
              </a:defRPr>
            </a:lvl6pPr>
            <a:lvl7pPr marL="2228850" indent="-171450" eaLnBrk="0" fontAlgn="base" hangingPunct="0">
              <a:spcBef>
                <a:spcPct val="0"/>
              </a:spcBef>
              <a:spcAft>
                <a:spcPct val="0"/>
              </a:spcAft>
              <a:defRPr sz="1800">
                <a:solidFill>
                  <a:schemeClr val="tx1"/>
                </a:solidFill>
                <a:latin typeface="Arial" charset="0"/>
                <a:ea typeface="ＭＳ Ｐゴシック" charset="-128"/>
              </a:defRPr>
            </a:lvl7pPr>
            <a:lvl8pPr marL="2571750" indent="-171450" eaLnBrk="0" fontAlgn="base" hangingPunct="0">
              <a:spcBef>
                <a:spcPct val="0"/>
              </a:spcBef>
              <a:spcAft>
                <a:spcPct val="0"/>
              </a:spcAft>
              <a:defRPr sz="1800">
                <a:solidFill>
                  <a:schemeClr val="tx1"/>
                </a:solidFill>
                <a:latin typeface="Arial" charset="0"/>
                <a:ea typeface="ＭＳ Ｐゴシック" charset="-128"/>
              </a:defRPr>
            </a:lvl8pPr>
            <a:lvl9pPr marL="2914650" indent="-171450" eaLnBrk="0" fontAlgn="base" hangingPunct="0">
              <a:spcBef>
                <a:spcPct val="0"/>
              </a:spcBef>
              <a:spcAft>
                <a:spcPct val="0"/>
              </a:spcAft>
              <a:defRPr sz="1800">
                <a:solidFill>
                  <a:schemeClr val="tx1"/>
                </a:solidFill>
                <a:latin typeface="Arial" charset="0"/>
                <a:ea typeface="ＭＳ Ｐゴシック" charset="-128"/>
              </a:defRPr>
            </a:lvl9pPr>
          </a:lstStyle>
          <a:p>
            <a:pPr eaLnBrk="1" fontAlgn="base" hangingPunct="1">
              <a:spcBef>
                <a:spcPct val="0"/>
              </a:spcBef>
              <a:spcAft>
                <a:spcPct val="0"/>
              </a:spcAft>
            </a:pPr>
            <a:fld id="{B7597F6B-0827-6541-908C-5C312ABE9BA6}" type="slidenum">
              <a:rPr lang="en-US" altLang="en-US" sz="900">
                <a:solidFill>
                  <a:schemeClr val="bg1"/>
                </a:solidFill>
                <a:latin typeface="Calibri" charset="0"/>
              </a:rPr>
              <a:pPr eaLnBrk="1" fontAlgn="base" hangingPunct="1">
                <a:spcBef>
                  <a:spcPct val="0"/>
                </a:spcBef>
                <a:spcAft>
                  <a:spcPct val="0"/>
                </a:spcAft>
              </a:pPr>
              <a:t>41</a:t>
            </a:fld>
            <a:endParaRPr lang="en-US" altLang="en-US" sz="900">
              <a:solidFill>
                <a:schemeClr val="bg1"/>
              </a:solidFill>
              <a:latin typeface="Calibri" charset="0"/>
            </a:endParaRPr>
          </a:p>
        </p:txBody>
      </p:sp>
    </p:spTree>
    <p:extLst>
      <p:ext uri="{BB962C8B-B14F-4D97-AF65-F5344CB8AC3E}">
        <p14:creationId xmlns:p14="http://schemas.microsoft.com/office/powerpoint/2010/main" val="35970445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B6AD3-7BDA-4EBA-8403-EE0A230BDF42}"/>
              </a:ext>
            </a:extLst>
          </p:cNvPr>
          <p:cNvSpPr>
            <a:spLocks noGrp="1"/>
          </p:cNvSpPr>
          <p:nvPr>
            <p:ph type="title"/>
          </p:nvPr>
        </p:nvSpPr>
        <p:spPr>
          <a:xfrm>
            <a:off x="609599" y="609600"/>
            <a:ext cx="6347713" cy="838200"/>
          </a:xfrm>
        </p:spPr>
        <p:txBody>
          <a:bodyPr/>
          <a:lstStyle/>
          <a:p>
            <a:r>
              <a:rPr lang="en-US" dirty="0"/>
              <a:t>Agricultural Production Data</a:t>
            </a:r>
          </a:p>
        </p:txBody>
      </p:sp>
      <p:graphicFrame>
        <p:nvGraphicFramePr>
          <p:cNvPr id="4" name="Content Placeholder 3">
            <a:extLst>
              <a:ext uri="{FF2B5EF4-FFF2-40B4-BE49-F238E27FC236}">
                <a16:creationId xmlns:a16="http://schemas.microsoft.com/office/drawing/2014/main" id="{DDF14FCC-86EC-466B-9DAB-1414F44F3795}"/>
              </a:ext>
            </a:extLst>
          </p:cNvPr>
          <p:cNvGraphicFramePr>
            <a:graphicFrameLocks noGrp="1"/>
          </p:cNvGraphicFramePr>
          <p:nvPr>
            <p:ph idx="1"/>
          </p:nvPr>
        </p:nvGraphicFramePr>
        <p:xfrm>
          <a:off x="914400" y="2209800"/>
          <a:ext cx="6512862" cy="3276603"/>
        </p:xfrm>
        <a:graphic>
          <a:graphicData uri="http://schemas.openxmlformats.org/drawingml/2006/table">
            <a:tbl>
              <a:tblPr>
                <a:tableStyleId>{5C22544A-7EE6-4342-B048-85BDC9FD1C3A}</a:tableStyleId>
              </a:tblPr>
              <a:tblGrid>
                <a:gridCol w="1085477">
                  <a:extLst>
                    <a:ext uri="{9D8B030D-6E8A-4147-A177-3AD203B41FA5}">
                      <a16:colId xmlns:a16="http://schemas.microsoft.com/office/drawing/2014/main" val="612712409"/>
                    </a:ext>
                  </a:extLst>
                </a:gridCol>
                <a:gridCol w="1085477">
                  <a:extLst>
                    <a:ext uri="{9D8B030D-6E8A-4147-A177-3AD203B41FA5}">
                      <a16:colId xmlns:a16="http://schemas.microsoft.com/office/drawing/2014/main" val="320624367"/>
                    </a:ext>
                  </a:extLst>
                </a:gridCol>
                <a:gridCol w="1085477">
                  <a:extLst>
                    <a:ext uri="{9D8B030D-6E8A-4147-A177-3AD203B41FA5}">
                      <a16:colId xmlns:a16="http://schemas.microsoft.com/office/drawing/2014/main" val="607028799"/>
                    </a:ext>
                  </a:extLst>
                </a:gridCol>
                <a:gridCol w="1085477">
                  <a:extLst>
                    <a:ext uri="{9D8B030D-6E8A-4147-A177-3AD203B41FA5}">
                      <a16:colId xmlns:a16="http://schemas.microsoft.com/office/drawing/2014/main" val="3583507699"/>
                    </a:ext>
                  </a:extLst>
                </a:gridCol>
                <a:gridCol w="1085477">
                  <a:extLst>
                    <a:ext uri="{9D8B030D-6E8A-4147-A177-3AD203B41FA5}">
                      <a16:colId xmlns:a16="http://schemas.microsoft.com/office/drawing/2014/main" val="933264298"/>
                    </a:ext>
                  </a:extLst>
                </a:gridCol>
                <a:gridCol w="1085477">
                  <a:extLst>
                    <a:ext uri="{9D8B030D-6E8A-4147-A177-3AD203B41FA5}">
                      <a16:colId xmlns:a16="http://schemas.microsoft.com/office/drawing/2014/main" val="4118294468"/>
                    </a:ext>
                  </a:extLst>
                </a:gridCol>
              </a:tblGrid>
              <a:tr h="297873">
                <a:tc>
                  <a:txBody>
                    <a:bodyPr/>
                    <a:lstStyle/>
                    <a:p>
                      <a:pPr algn="ctr" fontAlgn="b"/>
                      <a:r>
                        <a:rPr lang="en-US" sz="1600" u="none" strike="noStrike" dirty="0">
                          <a:effectLst/>
                        </a:rPr>
                        <a:t>Production</a:t>
                      </a:r>
                      <a:endParaRPr lang="en-US" sz="16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Seed </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Labor</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Ln (Prod)</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Ln(Seed)</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Ln(Lab)</a:t>
                      </a:r>
                      <a:endParaRPr lang="en-US" sz="16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041880410"/>
                  </a:ext>
                </a:extLst>
              </a:tr>
              <a:tr h="297873">
                <a:tc>
                  <a:txBody>
                    <a:bodyPr/>
                    <a:lstStyle/>
                    <a:p>
                      <a:pPr algn="ctr" fontAlgn="b"/>
                      <a:r>
                        <a:rPr lang="en-US" sz="1600" u="none" strike="noStrike">
                          <a:effectLst/>
                        </a:rPr>
                        <a:t>70</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80</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810</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dirty="0">
                          <a:effectLst/>
                        </a:rPr>
                        <a:t>4.25</a:t>
                      </a:r>
                      <a:endParaRPr lang="en-US" sz="16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4.38</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6.7</a:t>
                      </a:r>
                      <a:endParaRPr lang="en-US" sz="16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148938218"/>
                  </a:ext>
                </a:extLst>
              </a:tr>
              <a:tr h="297873">
                <a:tc>
                  <a:txBody>
                    <a:bodyPr/>
                    <a:lstStyle/>
                    <a:p>
                      <a:pPr algn="ctr" fontAlgn="b"/>
                      <a:r>
                        <a:rPr lang="en-US" sz="1600" u="none" strike="noStrike">
                          <a:effectLst/>
                        </a:rPr>
                        <a:t>65</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100</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1009</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4.17</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4.61</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6.92</a:t>
                      </a:r>
                      <a:endParaRPr lang="en-US" sz="16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250782319"/>
                  </a:ext>
                </a:extLst>
              </a:tr>
              <a:tr h="297873">
                <a:tc>
                  <a:txBody>
                    <a:bodyPr/>
                    <a:lstStyle/>
                    <a:p>
                      <a:pPr algn="ctr" fontAlgn="b"/>
                      <a:r>
                        <a:rPr lang="en-US" sz="1600" u="none" strike="noStrike">
                          <a:effectLst/>
                        </a:rPr>
                        <a:t>90</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120</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dirty="0">
                          <a:effectLst/>
                        </a:rPr>
                        <a:t>1273</a:t>
                      </a:r>
                      <a:endParaRPr lang="en-US" sz="16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4.5</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4.79</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7.15</a:t>
                      </a:r>
                      <a:endParaRPr lang="en-US" sz="16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006016443"/>
                  </a:ext>
                </a:extLst>
              </a:tr>
              <a:tr h="297873">
                <a:tc>
                  <a:txBody>
                    <a:bodyPr/>
                    <a:lstStyle/>
                    <a:p>
                      <a:pPr algn="ctr" fontAlgn="b"/>
                      <a:r>
                        <a:rPr lang="en-US" sz="1600" u="none" strike="noStrike">
                          <a:effectLst/>
                        </a:rPr>
                        <a:t>95</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140</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1425</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4.55</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4.94</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7.26</a:t>
                      </a:r>
                      <a:endParaRPr lang="en-US" sz="16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053415355"/>
                  </a:ext>
                </a:extLst>
              </a:tr>
              <a:tr h="297873">
                <a:tc>
                  <a:txBody>
                    <a:bodyPr/>
                    <a:lstStyle/>
                    <a:p>
                      <a:pPr algn="ctr" fontAlgn="b"/>
                      <a:r>
                        <a:rPr lang="en-US" sz="1600" u="none" strike="noStrike">
                          <a:effectLst/>
                        </a:rPr>
                        <a:t>110</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160</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1633</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4.7</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5.08</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7.4</a:t>
                      </a:r>
                      <a:endParaRPr lang="en-US" sz="16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314624003"/>
                  </a:ext>
                </a:extLst>
              </a:tr>
              <a:tr h="297873">
                <a:tc>
                  <a:txBody>
                    <a:bodyPr/>
                    <a:lstStyle/>
                    <a:p>
                      <a:pPr algn="ctr" fontAlgn="b"/>
                      <a:r>
                        <a:rPr lang="en-US" sz="1600" u="none" strike="noStrike">
                          <a:effectLst/>
                        </a:rPr>
                        <a:t>115</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180</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1876</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dirty="0">
                          <a:effectLst/>
                        </a:rPr>
                        <a:t>4.74</a:t>
                      </a:r>
                      <a:endParaRPr lang="en-US" sz="16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5.19</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7.54</a:t>
                      </a:r>
                      <a:endParaRPr lang="en-US" sz="16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091623607"/>
                  </a:ext>
                </a:extLst>
              </a:tr>
              <a:tr h="297873">
                <a:tc>
                  <a:txBody>
                    <a:bodyPr/>
                    <a:lstStyle/>
                    <a:p>
                      <a:pPr algn="ctr" fontAlgn="b"/>
                      <a:r>
                        <a:rPr lang="en-US" sz="1600" u="none" strike="noStrike">
                          <a:effectLst/>
                        </a:rPr>
                        <a:t>120</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200</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2052</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4.79</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dirty="0">
                          <a:effectLst/>
                        </a:rPr>
                        <a:t>5.3</a:t>
                      </a:r>
                      <a:endParaRPr lang="en-US" sz="16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7.63</a:t>
                      </a:r>
                      <a:endParaRPr lang="en-US" sz="16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919299751"/>
                  </a:ext>
                </a:extLst>
              </a:tr>
              <a:tr h="297873">
                <a:tc>
                  <a:txBody>
                    <a:bodyPr/>
                    <a:lstStyle/>
                    <a:p>
                      <a:pPr algn="ctr" fontAlgn="b"/>
                      <a:r>
                        <a:rPr lang="en-US" sz="1600" u="none" strike="noStrike">
                          <a:effectLst/>
                        </a:rPr>
                        <a:t>140</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220</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2201</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4.94</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5.39</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7.7</a:t>
                      </a:r>
                      <a:endParaRPr lang="en-US" sz="16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2431338"/>
                  </a:ext>
                </a:extLst>
              </a:tr>
              <a:tr h="297873">
                <a:tc>
                  <a:txBody>
                    <a:bodyPr/>
                    <a:lstStyle/>
                    <a:p>
                      <a:pPr algn="ctr" fontAlgn="b"/>
                      <a:r>
                        <a:rPr lang="en-US" sz="1600" u="none" strike="noStrike">
                          <a:effectLst/>
                        </a:rPr>
                        <a:t>155</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240</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2435</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5.04</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5.48</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dirty="0">
                          <a:effectLst/>
                        </a:rPr>
                        <a:t>7.8</a:t>
                      </a:r>
                      <a:endParaRPr lang="en-US" sz="16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434175852"/>
                  </a:ext>
                </a:extLst>
              </a:tr>
              <a:tr h="297873">
                <a:tc>
                  <a:txBody>
                    <a:bodyPr/>
                    <a:lstStyle/>
                    <a:p>
                      <a:pPr algn="ctr" fontAlgn="b"/>
                      <a:r>
                        <a:rPr lang="en-US" sz="1600" u="none" strike="noStrike">
                          <a:effectLst/>
                        </a:rPr>
                        <a:t>150</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260</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2686</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5.01</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a:effectLst/>
                        </a:rPr>
                        <a:t>5.56</a:t>
                      </a:r>
                      <a:endParaRPr lang="en-U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600" u="none" strike="noStrike" dirty="0">
                          <a:effectLst/>
                        </a:rPr>
                        <a:t>7.9</a:t>
                      </a:r>
                      <a:endParaRPr lang="en-US" sz="16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127672843"/>
                  </a:ext>
                </a:extLst>
              </a:tr>
            </a:tbl>
          </a:graphicData>
        </a:graphic>
      </p:graphicFrame>
    </p:spTree>
    <p:extLst>
      <p:ext uri="{BB962C8B-B14F-4D97-AF65-F5344CB8AC3E}">
        <p14:creationId xmlns:p14="http://schemas.microsoft.com/office/powerpoint/2010/main" val="20629958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72035-ED93-438D-95DF-D53A518FE6E9}"/>
              </a:ext>
            </a:extLst>
          </p:cNvPr>
          <p:cNvSpPr>
            <a:spLocks noGrp="1"/>
          </p:cNvSpPr>
          <p:nvPr>
            <p:ph type="title"/>
          </p:nvPr>
        </p:nvSpPr>
        <p:spPr/>
        <p:txBody>
          <a:bodyPr/>
          <a:lstStyle/>
          <a:p>
            <a:r>
              <a:rPr lang="en-US" dirty="0"/>
              <a:t>Production Data</a:t>
            </a:r>
          </a:p>
        </p:txBody>
      </p:sp>
      <p:graphicFrame>
        <p:nvGraphicFramePr>
          <p:cNvPr id="4" name="Content Placeholder 3">
            <a:extLst>
              <a:ext uri="{FF2B5EF4-FFF2-40B4-BE49-F238E27FC236}">
                <a16:creationId xmlns:a16="http://schemas.microsoft.com/office/drawing/2014/main" id="{B5851A95-2DA1-4FD5-967D-33E70B5BF13A}"/>
              </a:ext>
            </a:extLst>
          </p:cNvPr>
          <p:cNvGraphicFramePr>
            <a:graphicFrameLocks noGrp="1"/>
          </p:cNvGraphicFramePr>
          <p:nvPr>
            <p:ph idx="1"/>
          </p:nvPr>
        </p:nvGraphicFramePr>
        <p:xfrm>
          <a:off x="838200" y="1447800"/>
          <a:ext cx="5943600" cy="1143000"/>
        </p:xfrm>
        <a:graphic>
          <a:graphicData uri="http://schemas.openxmlformats.org/drawingml/2006/table">
            <a:tbl>
              <a:tblPr>
                <a:tableStyleId>{5C22544A-7EE6-4342-B048-85BDC9FD1C3A}</a:tableStyleId>
              </a:tblPr>
              <a:tblGrid>
                <a:gridCol w="1485900">
                  <a:extLst>
                    <a:ext uri="{9D8B030D-6E8A-4147-A177-3AD203B41FA5}">
                      <a16:colId xmlns:a16="http://schemas.microsoft.com/office/drawing/2014/main" val="3784475073"/>
                    </a:ext>
                  </a:extLst>
                </a:gridCol>
                <a:gridCol w="1485900">
                  <a:extLst>
                    <a:ext uri="{9D8B030D-6E8A-4147-A177-3AD203B41FA5}">
                      <a16:colId xmlns:a16="http://schemas.microsoft.com/office/drawing/2014/main" val="1921296649"/>
                    </a:ext>
                  </a:extLst>
                </a:gridCol>
                <a:gridCol w="1485900">
                  <a:extLst>
                    <a:ext uri="{9D8B030D-6E8A-4147-A177-3AD203B41FA5}">
                      <a16:colId xmlns:a16="http://schemas.microsoft.com/office/drawing/2014/main" val="4172958910"/>
                    </a:ext>
                  </a:extLst>
                </a:gridCol>
                <a:gridCol w="1485900">
                  <a:extLst>
                    <a:ext uri="{9D8B030D-6E8A-4147-A177-3AD203B41FA5}">
                      <a16:colId xmlns:a16="http://schemas.microsoft.com/office/drawing/2014/main" val="3439147059"/>
                    </a:ext>
                  </a:extLst>
                </a:gridCol>
              </a:tblGrid>
              <a:tr h="785067">
                <a:tc>
                  <a:txBody>
                    <a:bodyPr/>
                    <a:lstStyle/>
                    <a:p>
                      <a:pPr algn="ctr" fontAlgn="b"/>
                      <a:r>
                        <a:rPr lang="en-US" sz="1800" u="none" strike="noStrike" dirty="0">
                          <a:effectLst/>
                        </a:rPr>
                        <a:t>R</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800" u="none" strike="noStrike" dirty="0">
                          <a:effectLst/>
                        </a:rPr>
                        <a:t>R Square</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800" u="none" strike="noStrike" dirty="0">
                          <a:effectLst/>
                        </a:rPr>
                        <a:t>Adjusted R Square</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800" u="none" strike="noStrike" dirty="0">
                          <a:effectLst/>
                        </a:rPr>
                        <a:t>Std. Error of the Estimate</a:t>
                      </a:r>
                      <a:endParaRPr lang="en-US" sz="18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3358767442"/>
                  </a:ext>
                </a:extLst>
              </a:tr>
              <a:tr h="357933">
                <a:tc>
                  <a:txBody>
                    <a:bodyPr/>
                    <a:lstStyle/>
                    <a:p>
                      <a:pPr algn="ctr" fontAlgn="t"/>
                      <a:r>
                        <a:rPr lang="en-US" sz="1800" u="none" strike="noStrike" dirty="0">
                          <a:effectLst/>
                        </a:rPr>
                        <a:t>.982</a:t>
                      </a:r>
                      <a:r>
                        <a:rPr lang="en-US" sz="1800" u="none" strike="noStrike" baseline="30000" dirty="0">
                          <a:effectLst/>
                        </a:rPr>
                        <a:t>a</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dirty="0">
                          <a:effectLst/>
                        </a:rPr>
                        <a:t>.964</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dirty="0">
                          <a:effectLst/>
                        </a:rPr>
                        <a:t>.953</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dirty="0">
                          <a:effectLst/>
                        </a:rPr>
                        <a:t>6.8080</a:t>
                      </a:r>
                      <a:endParaRPr lang="en-US" sz="18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1825376655"/>
                  </a:ext>
                </a:extLst>
              </a:tr>
            </a:tbl>
          </a:graphicData>
        </a:graphic>
      </p:graphicFrame>
      <p:graphicFrame>
        <p:nvGraphicFramePr>
          <p:cNvPr id="5" name="Table 4">
            <a:extLst>
              <a:ext uri="{FF2B5EF4-FFF2-40B4-BE49-F238E27FC236}">
                <a16:creationId xmlns:a16="http://schemas.microsoft.com/office/drawing/2014/main" id="{12E8BDD6-72BB-4634-8946-0A3EF061901C}"/>
              </a:ext>
            </a:extLst>
          </p:cNvPr>
          <p:cNvGraphicFramePr>
            <a:graphicFrameLocks noGrp="1"/>
          </p:cNvGraphicFramePr>
          <p:nvPr/>
        </p:nvGraphicFramePr>
        <p:xfrm>
          <a:off x="838200" y="2819400"/>
          <a:ext cx="6934201" cy="1530738"/>
        </p:xfrm>
        <a:graphic>
          <a:graphicData uri="http://schemas.openxmlformats.org/drawingml/2006/table">
            <a:tbl>
              <a:tblPr>
                <a:tableStyleId>{5C22544A-7EE6-4342-B048-85BDC9FD1C3A}</a:tableStyleId>
              </a:tblPr>
              <a:tblGrid>
                <a:gridCol w="1423577">
                  <a:extLst>
                    <a:ext uri="{9D8B030D-6E8A-4147-A177-3AD203B41FA5}">
                      <a16:colId xmlns:a16="http://schemas.microsoft.com/office/drawing/2014/main" val="1039590865"/>
                    </a:ext>
                  </a:extLst>
                </a:gridCol>
                <a:gridCol w="1383123">
                  <a:extLst>
                    <a:ext uri="{9D8B030D-6E8A-4147-A177-3AD203B41FA5}">
                      <a16:colId xmlns:a16="http://schemas.microsoft.com/office/drawing/2014/main" val="2287779503"/>
                    </a:ext>
                  </a:extLst>
                </a:gridCol>
                <a:gridCol w="821126">
                  <a:extLst>
                    <a:ext uri="{9D8B030D-6E8A-4147-A177-3AD203B41FA5}">
                      <a16:colId xmlns:a16="http://schemas.microsoft.com/office/drawing/2014/main" val="1084902554"/>
                    </a:ext>
                  </a:extLst>
                </a:gridCol>
                <a:gridCol w="1102125">
                  <a:extLst>
                    <a:ext uri="{9D8B030D-6E8A-4147-A177-3AD203B41FA5}">
                      <a16:colId xmlns:a16="http://schemas.microsoft.com/office/drawing/2014/main" val="318358485"/>
                    </a:ext>
                  </a:extLst>
                </a:gridCol>
                <a:gridCol w="1102125">
                  <a:extLst>
                    <a:ext uri="{9D8B030D-6E8A-4147-A177-3AD203B41FA5}">
                      <a16:colId xmlns:a16="http://schemas.microsoft.com/office/drawing/2014/main" val="2073644285"/>
                    </a:ext>
                  </a:extLst>
                </a:gridCol>
                <a:gridCol w="1102125">
                  <a:extLst>
                    <a:ext uri="{9D8B030D-6E8A-4147-A177-3AD203B41FA5}">
                      <a16:colId xmlns:a16="http://schemas.microsoft.com/office/drawing/2014/main" val="997567841"/>
                    </a:ext>
                  </a:extLst>
                </a:gridCol>
              </a:tblGrid>
              <a:tr h="457200">
                <a:tc>
                  <a:txBody>
                    <a:bodyPr/>
                    <a:lstStyle/>
                    <a:p>
                      <a:pPr algn="ctr" fontAlgn="b"/>
                      <a:r>
                        <a:rPr lang="en-US" sz="1800" u="none" strike="noStrike" dirty="0">
                          <a:effectLst/>
                        </a:rPr>
                        <a:t> </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800" u="none" strike="noStrike" dirty="0">
                          <a:effectLst/>
                        </a:rPr>
                        <a:t>Sum of Squares</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800" u="none" strike="noStrike">
                          <a:effectLst/>
                        </a:rPr>
                        <a:t>df</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800" u="none" strike="noStrike">
                          <a:effectLst/>
                        </a:rPr>
                        <a:t>Mean Square</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800" u="none" strike="noStrike">
                          <a:effectLst/>
                        </a:rPr>
                        <a:t>F</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800" u="none" strike="noStrike">
                          <a:effectLst/>
                        </a:rPr>
                        <a:t>Sig.</a:t>
                      </a:r>
                      <a:endParaRPr lang="en-US" sz="18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693471892"/>
                  </a:ext>
                </a:extLst>
              </a:tr>
              <a:tr h="414408">
                <a:tc>
                  <a:txBody>
                    <a:bodyPr/>
                    <a:lstStyle/>
                    <a:p>
                      <a:pPr algn="ctr" fontAlgn="t"/>
                      <a:r>
                        <a:rPr lang="en-US" sz="1800" u="none" strike="noStrike">
                          <a:effectLst/>
                        </a:rPr>
                        <a:t>Regression</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dirty="0">
                          <a:effectLst/>
                        </a:rPr>
                        <a:t>8565.554</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dirty="0">
                          <a:effectLst/>
                        </a:rPr>
                        <a:t>2</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a:effectLst/>
                        </a:rPr>
                        <a:t>4282.777</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a:effectLst/>
                        </a:rPr>
                        <a:t>92.402</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dirty="0">
                          <a:effectLst/>
                        </a:rPr>
                        <a:t>.000</a:t>
                      </a:r>
                      <a:endParaRPr lang="en-US" sz="18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3647087718"/>
                  </a:ext>
                </a:extLst>
              </a:tr>
              <a:tr h="259005">
                <a:tc>
                  <a:txBody>
                    <a:bodyPr/>
                    <a:lstStyle/>
                    <a:p>
                      <a:pPr algn="ctr" fontAlgn="t"/>
                      <a:r>
                        <a:rPr lang="en-US" sz="1800" u="none" strike="noStrike">
                          <a:effectLst/>
                        </a:rPr>
                        <a:t>Residual</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a:effectLst/>
                        </a:rPr>
                        <a:t>324.446</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dirty="0">
                          <a:effectLst/>
                        </a:rPr>
                        <a:t>7</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dirty="0">
                          <a:effectLst/>
                        </a:rPr>
                        <a:t>46.349</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a:effectLst/>
                        </a:rPr>
                        <a:t> </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a:effectLst/>
                        </a:rPr>
                        <a:t> </a:t>
                      </a:r>
                      <a:endParaRPr lang="en-US" sz="18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2586617579"/>
                  </a:ext>
                </a:extLst>
              </a:tr>
              <a:tr h="250371">
                <a:tc>
                  <a:txBody>
                    <a:bodyPr/>
                    <a:lstStyle/>
                    <a:p>
                      <a:pPr algn="ctr" fontAlgn="t"/>
                      <a:r>
                        <a:rPr lang="en-US" sz="1800" u="none" strike="noStrike">
                          <a:effectLst/>
                        </a:rPr>
                        <a:t>Total</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a:effectLst/>
                        </a:rPr>
                        <a:t>8890.000</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a:effectLst/>
                        </a:rPr>
                        <a:t>9</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dirty="0">
                          <a:effectLst/>
                        </a:rPr>
                        <a:t> </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dirty="0">
                          <a:effectLst/>
                        </a:rPr>
                        <a:t> </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dirty="0">
                          <a:effectLst/>
                        </a:rPr>
                        <a:t> </a:t>
                      </a:r>
                      <a:endParaRPr lang="en-US" sz="18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1397167066"/>
                  </a:ext>
                </a:extLst>
              </a:tr>
            </a:tbl>
          </a:graphicData>
        </a:graphic>
      </p:graphicFrame>
      <p:graphicFrame>
        <p:nvGraphicFramePr>
          <p:cNvPr id="6" name="Table 5">
            <a:extLst>
              <a:ext uri="{FF2B5EF4-FFF2-40B4-BE49-F238E27FC236}">
                <a16:creationId xmlns:a16="http://schemas.microsoft.com/office/drawing/2014/main" id="{10CEF224-3EEF-4EBF-9386-DE0DC3BD809F}"/>
              </a:ext>
            </a:extLst>
          </p:cNvPr>
          <p:cNvGraphicFramePr>
            <a:graphicFrameLocks noGrp="1"/>
          </p:cNvGraphicFramePr>
          <p:nvPr/>
        </p:nvGraphicFramePr>
        <p:xfrm>
          <a:off x="829235" y="4724400"/>
          <a:ext cx="6934200" cy="1628970"/>
        </p:xfrm>
        <a:graphic>
          <a:graphicData uri="http://schemas.openxmlformats.org/drawingml/2006/table">
            <a:tbl>
              <a:tblPr>
                <a:tableStyleId>{5C22544A-7EE6-4342-B048-85BDC9FD1C3A}</a:tableStyleId>
              </a:tblPr>
              <a:tblGrid>
                <a:gridCol w="1155700">
                  <a:extLst>
                    <a:ext uri="{9D8B030D-6E8A-4147-A177-3AD203B41FA5}">
                      <a16:colId xmlns:a16="http://schemas.microsoft.com/office/drawing/2014/main" val="3400180159"/>
                    </a:ext>
                  </a:extLst>
                </a:gridCol>
                <a:gridCol w="1155700">
                  <a:extLst>
                    <a:ext uri="{9D8B030D-6E8A-4147-A177-3AD203B41FA5}">
                      <a16:colId xmlns:a16="http://schemas.microsoft.com/office/drawing/2014/main" val="2038137076"/>
                    </a:ext>
                  </a:extLst>
                </a:gridCol>
                <a:gridCol w="1155700">
                  <a:extLst>
                    <a:ext uri="{9D8B030D-6E8A-4147-A177-3AD203B41FA5}">
                      <a16:colId xmlns:a16="http://schemas.microsoft.com/office/drawing/2014/main" val="1689953105"/>
                    </a:ext>
                  </a:extLst>
                </a:gridCol>
                <a:gridCol w="1311089">
                  <a:extLst>
                    <a:ext uri="{9D8B030D-6E8A-4147-A177-3AD203B41FA5}">
                      <a16:colId xmlns:a16="http://schemas.microsoft.com/office/drawing/2014/main" val="4222293505"/>
                    </a:ext>
                  </a:extLst>
                </a:gridCol>
                <a:gridCol w="1000311">
                  <a:extLst>
                    <a:ext uri="{9D8B030D-6E8A-4147-A177-3AD203B41FA5}">
                      <a16:colId xmlns:a16="http://schemas.microsoft.com/office/drawing/2014/main" val="4032006656"/>
                    </a:ext>
                  </a:extLst>
                </a:gridCol>
                <a:gridCol w="1155700">
                  <a:extLst>
                    <a:ext uri="{9D8B030D-6E8A-4147-A177-3AD203B41FA5}">
                      <a16:colId xmlns:a16="http://schemas.microsoft.com/office/drawing/2014/main" val="2468017481"/>
                    </a:ext>
                  </a:extLst>
                </a:gridCol>
              </a:tblGrid>
              <a:tr h="533012">
                <a:tc rowSpan="2">
                  <a:txBody>
                    <a:bodyPr/>
                    <a:lstStyle/>
                    <a:p>
                      <a:pPr algn="ctr" fontAlgn="b"/>
                      <a:r>
                        <a:rPr lang="en-US" sz="1600" u="none" strike="noStrike" dirty="0">
                          <a:effectLst/>
                        </a:rPr>
                        <a:t> </a:t>
                      </a:r>
                      <a:endParaRPr lang="en-US" sz="1600" b="0" i="0" u="none" strike="noStrike" dirty="0">
                        <a:solidFill>
                          <a:srgbClr val="000000"/>
                        </a:solidFill>
                        <a:effectLst/>
                        <a:latin typeface="Arial" panose="020B0604020202020204" pitchFamily="34" charset="0"/>
                      </a:endParaRPr>
                    </a:p>
                  </a:txBody>
                  <a:tcPr marL="6350" marR="6350" marT="6350" marB="0" anchor="b"/>
                </a:tc>
                <a:tc gridSpan="2">
                  <a:txBody>
                    <a:bodyPr/>
                    <a:lstStyle/>
                    <a:p>
                      <a:pPr algn="ctr" fontAlgn="b"/>
                      <a:r>
                        <a:rPr lang="en-US" sz="1600" u="none" strike="noStrike" dirty="0">
                          <a:effectLst/>
                        </a:rPr>
                        <a:t>Unstandardized Coefficients</a:t>
                      </a:r>
                      <a:endParaRPr lang="en-US" sz="1600" b="0" i="0" u="none" strike="noStrike" dirty="0">
                        <a:solidFill>
                          <a:srgbClr val="000000"/>
                        </a:solidFill>
                        <a:effectLst/>
                        <a:latin typeface="Arial" panose="020B0604020202020204" pitchFamily="34" charset="0"/>
                      </a:endParaRPr>
                    </a:p>
                  </a:txBody>
                  <a:tcPr marL="6350" marR="6350" marT="6350" marB="0" anchor="b"/>
                </a:tc>
                <a:tc hMerge="1">
                  <a:txBody>
                    <a:bodyPr/>
                    <a:lstStyle/>
                    <a:p>
                      <a:endParaRPr lang="en-US"/>
                    </a:p>
                  </a:txBody>
                  <a:tcPr/>
                </a:tc>
                <a:tc>
                  <a:txBody>
                    <a:bodyPr/>
                    <a:lstStyle/>
                    <a:p>
                      <a:pPr algn="ctr" fontAlgn="b"/>
                      <a:r>
                        <a:rPr lang="en-US" sz="1600" u="none" strike="noStrike">
                          <a:effectLst/>
                        </a:rPr>
                        <a:t>Standardized Coefficients</a:t>
                      </a:r>
                      <a:endParaRPr lang="en-US" sz="1600" b="0" i="0" u="none" strike="noStrike">
                        <a:solidFill>
                          <a:srgbClr val="000000"/>
                        </a:solidFill>
                        <a:effectLst/>
                        <a:latin typeface="Arial" panose="020B0604020202020204" pitchFamily="34" charset="0"/>
                      </a:endParaRPr>
                    </a:p>
                  </a:txBody>
                  <a:tcPr marL="6350" marR="6350" marT="6350" marB="0" anchor="b"/>
                </a:tc>
                <a:tc rowSpan="2">
                  <a:txBody>
                    <a:bodyPr/>
                    <a:lstStyle/>
                    <a:p>
                      <a:pPr algn="ctr" fontAlgn="b"/>
                      <a:r>
                        <a:rPr lang="en-US" sz="1600" u="none" strike="noStrike">
                          <a:effectLst/>
                        </a:rPr>
                        <a:t>t</a:t>
                      </a:r>
                      <a:endParaRPr lang="en-US" sz="1600" b="0" i="0" u="none" strike="noStrike">
                        <a:solidFill>
                          <a:srgbClr val="000000"/>
                        </a:solidFill>
                        <a:effectLst/>
                        <a:latin typeface="Arial" panose="020B0604020202020204" pitchFamily="34" charset="0"/>
                      </a:endParaRPr>
                    </a:p>
                  </a:txBody>
                  <a:tcPr marL="6350" marR="6350" marT="6350" marB="0" anchor="b"/>
                </a:tc>
                <a:tc rowSpan="2">
                  <a:txBody>
                    <a:bodyPr/>
                    <a:lstStyle/>
                    <a:p>
                      <a:pPr algn="ctr" fontAlgn="b"/>
                      <a:r>
                        <a:rPr lang="en-US" sz="1600" u="none" strike="noStrike">
                          <a:effectLst/>
                        </a:rPr>
                        <a:t>Sig.</a:t>
                      </a:r>
                      <a:endParaRPr lang="en-US" sz="1600" b="0" i="0" u="none" strike="noStrike">
                        <a:solidFill>
                          <a:srgbClr val="000000"/>
                        </a:solidFill>
                        <a:effectLst/>
                        <a:latin typeface="Arial" panose="020B0604020202020204" pitchFamily="34" charset="0"/>
                      </a:endParaRPr>
                    </a:p>
                  </a:txBody>
                  <a:tcPr marL="6350" marR="6350" marT="6350" marB="0" anchor="b"/>
                </a:tc>
                <a:extLst>
                  <a:ext uri="{0D108BD9-81ED-4DB2-BD59-A6C34878D82A}">
                    <a16:rowId xmlns:a16="http://schemas.microsoft.com/office/drawing/2014/main" val="4148495574"/>
                  </a:ext>
                </a:extLst>
              </a:tr>
              <a:tr h="304800">
                <a:tc vMerge="1">
                  <a:txBody>
                    <a:bodyPr/>
                    <a:lstStyle/>
                    <a:p>
                      <a:endParaRPr lang="en-US"/>
                    </a:p>
                  </a:txBody>
                  <a:tcPr/>
                </a:tc>
                <a:tc>
                  <a:txBody>
                    <a:bodyPr/>
                    <a:lstStyle/>
                    <a:p>
                      <a:pPr algn="ctr" fontAlgn="b"/>
                      <a:r>
                        <a:rPr lang="en-US" sz="1600" u="none" strike="noStrike">
                          <a:effectLst/>
                        </a:rPr>
                        <a:t>B</a:t>
                      </a:r>
                      <a:endParaRPr lang="en-US" sz="1600" b="0" i="0" u="none" strike="noStrike">
                        <a:solidFill>
                          <a:srgbClr val="000000"/>
                        </a:solidFill>
                        <a:effectLst/>
                        <a:latin typeface="Arial" panose="020B0604020202020204" pitchFamily="34" charset="0"/>
                      </a:endParaRPr>
                    </a:p>
                  </a:txBody>
                  <a:tcPr marL="6350" marR="6350" marT="6350" marB="0" anchor="b"/>
                </a:tc>
                <a:tc>
                  <a:txBody>
                    <a:bodyPr/>
                    <a:lstStyle/>
                    <a:p>
                      <a:pPr algn="ctr" fontAlgn="b"/>
                      <a:r>
                        <a:rPr lang="en-US" sz="1600" u="none" strike="noStrike" dirty="0">
                          <a:effectLst/>
                        </a:rPr>
                        <a:t>Std. Error</a:t>
                      </a:r>
                      <a:endParaRPr lang="en-US" sz="1600" b="0" i="0" u="none" strike="noStrike" dirty="0">
                        <a:solidFill>
                          <a:srgbClr val="000000"/>
                        </a:solidFill>
                        <a:effectLst/>
                        <a:latin typeface="Arial" panose="020B0604020202020204" pitchFamily="34" charset="0"/>
                      </a:endParaRPr>
                    </a:p>
                  </a:txBody>
                  <a:tcPr marL="6350" marR="6350" marT="6350" marB="0" anchor="b"/>
                </a:tc>
                <a:tc>
                  <a:txBody>
                    <a:bodyPr/>
                    <a:lstStyle/>
                    <a:p>
                      <a:pPr algn="ctr" fontAlgn="b"/>
                      <a:r>
                        <a:rPr lang="en-US" sz="1600" u="none" strike="noStrike">
                          <a:effectLst/>
                        </a:rPr>
                        <a:t>Beta</a:t>
                      </a:r>
                      <a:endParaRPr lang="en-US" sz="1600" b="0" i="0" u="none" strike="noStrike">
                        <a:solidFill>
                          <a:srgbClr val="000000"/>
                        </a:solidFill>
                        <a:effectLst/>
                        <a:latin typeface="Arial" panose="020B0604020202020204" pitchFamily="34" charset="0"/>
                      </a:endParaRPr>
                    </a:p>
                  </a:txBody>
                  <a:tcPr marL="6350" marR="6350" marT="6350" marB="0" anchor="b"/>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602816713"/>
                  </a:ext>
                </a:extLst>
              </a:tr>
              <a:tr h="263719">
                <a:tc>
                  <a:txBody>
                    <a:bodyPr/>
                    <a:lstStyle/>
                    <a:p>
                      <a:pPr algn="ctr" fontAlgn="t"/>
                      <a:r>
                        <a:rPr lang="en-US" sz="1600" u="none" strike="noStrike">
                          <a:effectLst/>
                        </a:rPr>
                        <a:t>(Constant)</a:t>
                      </a:r>
                      <a:endParaRPr lang="en-US" sz="16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1600" u="none" strike="noStrike" dirty="0">
                          <a:effectLst/>
                        </a:rPr>
                        <a:t>24.775</a:t>
                      </a:r>
                      <a:endParaRPr lang="en-US" sz="1600" b="0" i="0" u="none" strike="noStrike" dirty="0">
                        <a:solidFill>
                          <a:srgbClr val="000000"/>
                        </a:solidFill>
                        <a:effectLst/>
                        <a:latin typeface="Arial" panose="020B0604020202020204" pitchFamily="34" charset="0"/>
                      </a:endParaRPr>
                    </a:p>
                  </a:txBody>
                  <a:tcPr marL="6350" marR="6350" marT="6350" marB="0"/>
                </a:tc>
                <a:tc>
                  <a:txBody>
                    <a:bodyPr/>
                    <a:lstStyle/>
                    <a:p>
                      <a:pPr algn="ctr" fontAlgn="t"/>
                      <a:r>
                        <a:rPr lang="en-US" sz="1600" u="none" strike="noStrike" dirty="0">
                          <a:effectLst/>
                        </a:rPr>
                        <a:t>6.752</a:t>
                      </a:r>
                      <a:endParaRPr lang="en-US" sz="1600" b="0" i="0" u="none" strike="noStrike" dirty="0">
                        <a:solidFill>
                          <a:srgbClr val="000000"/>
                        </a:solidFill>
                        <a:effectLst/>
                        <a:latin typeface="Arial" panose="020B0604020202020204" pitchFamily="34" charset="0"/>
                      </a:endParaRPr>
                    </a:p>
                  </a:txBody>
                  <a:tcPr marL="6350" marR="6350" marT="6350" marB="0"/>
                </a:tc>
                <a:tc>
                  <a:txBody>
                    <a:bodyPr/>
                    <a:lstStyle/>
                    <a:p>
                      <a:pPr algn="ctr" fontAlgn="t"/>
                      <a:r>
                        <a:rPr lang="en-US" sz="1600" u="none" strike="noStrike">
                          <a:effectLst/>
                        </a:rPr>
                        <a:t> </a:t>
                      </a:r>
                      <a:endParaRPr lang="en-US" sz="16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1600" u="none" strike="noStrike">
                          <a:effectLst/>
                        </a:rPr>
                        <a:t>3.669</a:t>
                      </a:r>
                      <a:endParaRPr lang="en-US" sz="16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1600" u="none" strike="noStrike">
                          <a:effectLst/>
                        </a:rPr>
                        <a:t>.008</a:t>
                      </a:r>
                      <a:endParaRPr lang="en-US" sz="1600" b="0" i="0" u="none" strike="noStrike">
                        <a:solidFill>
                          <a:srgbClr val="000000"/>
                        </a:solidFill>
                        <a:effectLst/>
                        <a:latin typeface="Arial" panose="020B0604020202020204" pitchFamily="34" charset="0"/>
                      </a:endParaRPr>
                    </a:p>
                  </a:txBody>
                  <a:tcPr marL="6350" marR="6350" marT="6350" marB="0"/>
                </a:tc>
                <a:extLst>
                  <a:ext uri="{0D108BD9-81ED-4DB2-BD59-A6C34878D82A}">
                    <a16:rowId xmlns:a16="http://schemas.microsoft.com/office/drawing/2014/main" val="1237617022"/>
                  </a:ext>
                </a:extLst>
              </a:tr>
              <a:tr h="254929">
                <a:tc>
                  <a:txBody>
                    <a:bodyPr/>
                    <a:lstStyle/>
                    <a:p>
                      <a:pPr algn="ctr" fontAlgn="t"/>
                      <a:r>
                        <a:rPr lang="en-US" sz="1600" u="none" strike="noStrike">
                          <a:effectLst/>
                        </a:rPr>
                        <a:t>Seed</a:t>
                      </a:r>
                      <a:endParaRPr lang="en-US" sz="16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1600" u="none" strike="noStrike">
                          <a:effectLst/>
                        </a:rPr>
                        <a:t>.942</a:t>
                      </a:r>
                      <a:endParaRPr lang="en-US" sz="16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1600" u="none" strike="noStrike" dirty="0">
                          <a:effectLst/>
                        </a:rPr>
                        <a:t>.823</a:t>
                      </a:r>
                      <a:endParaRPr lang="en-US" sz="1600" b="0" i="0" u="none" strike="noStrike" dirty="0">
                        <a:solidFill>
                          <a:srgbClr val="000000"/>
                        </a:solidFill>
                        <a:effectLst/>
                        <a:latin typeface="Arial" panose="020B0604020202020204" pitchFamily="34" charset="0"/>
                      </a:endParaRPr>
                    </a:p>
                  </a:txBody>
                  <a:tcPr marL="6350" marR="6350" marT="6350" marB="0"/>
                </a:tc>
                <a:tc>
                  <a:txBody>
                    <a:bodyPr/>
                    <a:lstStyle/>
                    <a:p>
                      <a:pPr algn="ctr" fontAlgn="t"/>
                      <a:r>
                        <a:rPr lang="en-US" sz="1600" u="none" strike="noStrike">
                          <a:effectLst/>
                        </a:rPr>
                        <a:t>1.814</a:t>
                      </a:r>
                      <a:endParaRPr lang="en-US" sz="16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1600" u="none" strike="noStrike">
                          <a:effectLst/>
                        </a:rPr>
                        <a:t>1.144</a:t>
                      </a:r>
                      <a:endParaRPr lang="en-US" sz="16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1600" u="none" strike="noStrike">
                          <a:effectLst/>
                        </a:rPr>
                        <a:t>.290</a:t>
                      </a:r>
                      <a:endParaRPr lang="en-US" sz="1600" b="0" i="0" u="none" strike="noStrike">
                        <a:solidFill>
                          <a:srgbClr val="000000"/>
                        </a:solidFill>
                        <a:effectLst/>
                        <a:latin typeface="Arial" panose="020B0604020202020204" pitchFamily="34" charset="0"/>
                      </a:endParaRPr>
                    </a:p>
                  </a:txBody>
                  <a:tcPr marL="6350" marR="6350" marT="6350" marB="0"/>
                </a:tc>
                <a:extLst>
                  <a:ext uri="{0D108BD9-81ED-4DB2-BD59-A6C34878D82A}">
                    <a16:rowId xmlns:a16="http://schemas.microsoft.com/office/drawing/2014/main" val="3705832040"/>
                  </a:ext>
                </a:extLst>
              </a:tr>
              <a:tr h="272510">
                <a:tc>
                  <a:txBody>
                    <a:bodyPr/>
                    <a:lstStyle/>
                    <a:p>
                      <a:pPr algn="ctr" fontAlgn="t"/>
                      <a:r>
                        <a:rPr lang="en-US" sz="1600" u="none" strike="noStrike">
                          <a:effectLst/>
                        </a:rPr>
                        <a:t>Labour</a:t>
                      </a:r>
                      <a:endParaRPr lang="en-US" sz="16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1600" u="none" strike="noStrike">
                          <a:effectLst/>
                        </a:rPr>
                        <a:t>-.042</a:t>
                      </a:r>
                      <a:endParaRPr lang="en-US" sz="16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1600" u="none" strike="noStrike">
                          <a:effectLst/>
                        </a:rPr>
                        <a:t>.081</a:t>
                      </a:r>
                      <a:endParaRPr lang="en-US" sz="16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1600" u="none" strike="noStrike" dirty="0">
                          <a:effectLst/>
                        </a:rPr>
                        <a:t>-.834</a:t>
                      </a:r>
                      <a:endParaRPr lang="en-US" sz="1600" b="0" i="0" u="none" strike="noStrike" dirty="0">
                        <a:solidFill>
                          <a:srgbClr val="000000"/>
                        </a:solidFill>
                        <a:effectLst/>
                        <a:latin typeface="Arial" panose="020B0604020202020204" pitchFamily="34" charset="0"/>
                      </a:endParaRPr>
                    </a:p>
                  </a:txBody>
                  <a:tcPr marL="6350" marR="6350" marT="6350" marB="0"/>
                </a:tc>
                <a:tc>
                  <a:txBody>
                    <a:bodyPr/>
                    <a:lstStyle/>
                    <a:p>
                      <a:pPr algn="ctr" fontAlgn="t"/>
                      <a:r>
                        <a:rPr lang="en-US" sz="1600" u="none" strike="noStrike" dirty="0">
                          <a:effectLst/>
                        </a:rPr>
                        <a:t>-.526</a:t>
                      </a:r>
                      <a:endParaRPr lang="en-US" sz="1600" b="0" i="0" u="none" strike="noStrike" dirty="0">
                        <a:solidFill>
                          <a:srgbClr val="000000"/>
                        </a:solidFill>
                        <a:effectLst/>
                        <a:latin typeface="Arial" panose="020B0604020202020204" pitchFamily="34" charset="0"/>
                      </a:endParaRPr>
                    </a:p>
                  </a:txBody>
                  <a:tcPr marL="6350" marR="6350" marT="6350" marB="0"/>
                </a:tc>
                <a:tc>
                  <a:txBody>
                    <a:bodyPr/>
                    <a:lstStyle/>
                    <a:p>
                      <a:pPr algn="ctr" fontAlgn="t"/>
                      <a:r>
                        <a:rPr lang="en-US" sz="1600" u="none" strike="noStrike" dirty="0">
                          <a:effectLst/>
                        </a:rPr>
                        <a:t>.615</a:t>
                      </a:r>
                      <a:endParaRPr lang="en-US" sz="1600" b="0" i="0" u="none" strike="noStrike" dirty="0">
                        <a:solidFill>
                          <a:srgbClr val="000000"/>
                        </a:solidFill>
                        <a:effectLst/>
                        <a:latin typeface="Arial" panose="020B0604020202020204" pitchFamily="34" charset="0"/>
                      </a:endParaRPr>
                    </a:p>
                  </a:txBody>
                  <a:tcPr marL="6350" marR="6350" marT="6350" marB="0"/>
                </a:tc>
                <a:extLst>
                  <a:ext uri="{0D108BD9-81ED-4DB2-BD59-A6C34878D82A}">
                    <a16:rowId xmlns:a16="http://schemas.microsoft.com/office/drawing/2014/main" val="643583075"/>
                  </a:ext>
                </a:extLst>
              </a:tr>
            </a:tbl>
          </a:graphicData>
        </a:graphic>
      </p:graphicFrame>
    </p:spTree>
    <p:extLst>
      <p:ext uri="{BB962C8B-B14F-4D97-AF65-F5344CB8AC3E}">
        <p14:creationId xmlns:p14="http://schemas.microsoft.com/office/powerpoint/2010/main" val="1355618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814AF-1381-4CA0-9994-6F00A56C7E4E}"/>
              </a:ext>
            </a:extLst>
          </p:cNvPr>
          <p:cNvSpPr>
            <a:spLocks noGrp="1"/>
          </p:cNvSpPr>
          <p:nvPr>
            <p:ph type="title"/>
          </p:nvPr>
        </p:nvSpPr>
        <p:spPr/>
        <p:txBody>
          <a:bodyPr/>
          <a:lstStyle/>
          <a:p>
            <a:r>
              <a:rPr lang="en-US" dirty="0"/>
              <a:t>Correlation Matrix</a:t>
            </a:r>
          </a:p>
        </p:txBody>
      </p:sp>
      <p:graphicFrame>
        <p:nvGraphicFramePr>
          <p:cNvPr id="4" name="Content Placeholder 3">
            <a:extLst>
              <a:ext uri="{FF2B5EF4-FFF2-40B4-BE49-F238E27FC236}">
                <a16:creationId xmlns:a16="http://schemas.microsoft.com/office/drawing/2014/main" id="{5EC35DA0-377B-4FBA-842A-EA56D46BD9B0}"/>
              </a:ext>
            </a:extLst>
          </p:cNvPr>
          <p:cNvGraphicFramePr>
            <a:graphicFrameLocks noGrp="1"/>
          </p:cNvGraphicFramePr>
          <p:nvPr>
            <p:ph idx="1"/>
          </p:nvPr>
        </p:nvGraphicFramePr>
        <p:xfrm>
          <a:off x="754108" y="2209800"/>
          <a:ext cx="6942092" cy="3809998"/>
        </p:xfrm>
        <a:graphic>
          <a:graphicData uri="http://schemas.openxmlformats.org/drawingml/2006/table">
            <a:tbl>
              <a:tblPr>
                <a:tableStyleId>{5C22544A-7EE6-4342-B048-85BDC9FD1C3A}</a:tableStyleId>
              </a:tblPr>
              <a:tblGrid>
                <a:gridCol w="1566256">
                  <a:extLst>
                    <a:ext uri="{9D8B030D-6E8A-4147-A177-3AD203B41FA5}">
                      <a16:colId xmlns:a16="http://schemas.microsoft.com/office/drawing/2014/main" val="2012199006"/>
                    </a:ext>
                  </a:extLst>
                </a:gridCol>
                <a:gridCol w="2146731">
                  <a:extLst>
                    <a:ext uri="{9D8B030D-6E8A-4147-A177-3AD203B41FA5}">
                      <a16:colId xmlns:a16="http://schemas.microsoft.com/office/drawing/2014/main" val="1639848854"/>
                    </a:ext>
                  </a:extLst>
                </a:gridCol>
                <a:gridCol w="1252260">
                  <a:extLst>
                    <a:ext uri="{9D8B030D-6E8A-4147-A177-3AD203B41FA5}">
                      <a16:colId xmlns:a16="http://schemas.microsoft.com/office/drawing/2014/main" val="1439172792"/>
                    </a:ext>
                  </a:extLst>
                </a:gridCol>
                <a:gridCol w="997978">
                  <a:extLst>
                    <a:ext uri="{9D8B030D-6E8A-4147-A177-3AD203B41FA5}">
                      <a16:colId xmlns:a16="http://schemas.microsoft.com/office/drawing/2014/main" val="3104923541"/>
                    </a:ext>
                  </a:extLst>
                </a:gridCol>
                <a:gridCol w="978867">
                  <a:extLst>
                    <a:ext uri="{9D8B030D-6E8A-4147-A177-3AD203B41FA5}">
                      <a16:colId xmlns:a16="http://schemas.microsoft.com/office/drawing/2014/main" val="655069504"/>
                    </a:ext>
                  </a:extLst>
                </a:gridCol>
              </a:tblGrid>
              <a:tr h="522489">
                <a:tc gridSpan="2">
                  <a:txBody>
                    <a:bodyPr/>
                    <a:lstStyle/>
                    <a:p>
                      <a:pPr algn="ctr" fontAlgn="b"/>
                      <a:r>
                        <a:rPr lang="en-US" sz="1800" u="none" strike="noStrike" dirty="0">
                          <a:effectLst/>
                        </a:rPr>
                        <a:t> </a:t>
                      </a:r>
                      <a:endParaRPr lang="en-US" sz="1800" b="0" i="0" u="none" strike="noStrike" dirty="0">
                        <a:solidFill>
                          <a:srgbClr val="000000"/>
                        </a:solidFill>
                        <a:effectLst/>
                        <a:latin typeface="Arial" panose="020B0604020202020204" pitchFamily="34" charset="0"/>
                      </a:endParaRPr>
                    </a:p>
                  </a:txBody>
                  <a:tcPr marL="6350" marR="6350" marT="6350" marB="0" anchor="ctr"/>
                </a:tc>
                <a:tc hMerge="1">
                  <a:txBody>
                    <a:bodyPr/>
                    <a:lstStyle/>
                    <a:p>
                      <a:endParaRPr lang="en-US"/>
                    </a:p>
                  </a:txBody>
                  <a:tcPr/>
                </a:tc>
                <a:tc>
                  <a:txBody>
                    <a:bodyPr/>
                    <a:lstStyle/>
                    <a:p>
                      <a:pPr algn="ctr" fontAlgn="b"/>
                      <a:r>
                        <a:rPr lang="en-US" sz="1800" u="none" strike="noStrike" dirty="0">
                          <a:effectLst/>
                        </a:rPr>
                        <a:t>Production</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800" u="none" strike="noStrike">
                          <a:effectLst/>
                        </a:rPr>
                        <a:t>Seed</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800" u="none" strike="noStrike">
                          <a:effectLst/>
                        </a:rPr>
                        <a:t>Labour</a:t>
                      </a:r>
                      <a:endParaRPr lang="en-US" sz="18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660321591"/>
                  </a:ext>
                </a:extLst>
              </a:tr>
              <a:tr h="427794">
                <a:tc rowSpan="3">
                  <a:txBody>
                    <a:bodyPr/>
                    <a:lstStyle/>
                    <a:p>
                      <a:pPr algn="ctr" fontAlgn="t"/>
                      <a:r>
                        <a:rPr lang="en-US" sz="1800" u="none" strike="noStrike">
                          <a:effectLst/>
                        </a:rPr>
                        <a:t>Production</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dirty="0">
                          <a:effectLst/>
                        </a:rPr>
                        <a:t>Pearson Correlation</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a:effectLst/>
                        </a:rPr>
                        <a:t>1</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a:effectLst/>
                        </a:rPr>
                        <a:t>.981</a:t>
                      </a:r>
                      <a:r>
                        <a:rPr lang="en-US" sz="1800" u="none" strike="noStrike" baseline="30000">
                          <a:effectLst/>
                        </a:rPr>
                        <a:t>**</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a:effectLst/>
                        </a:rPr>
                        <a:t>.978</a:t>
                      </a:r>
                      <a:r>
                        <a:rPr lang="en-US" sz="1800" u="none" strike="noStrike" baseline="30000">
                          <a:effectLst/>
                        </a:rPr>
                        <a:t>**</a:t>
                      </a:r>
                      <a:endParaRPr lang="en-US" sz="18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231379540"/>
                  </a:ext>
                </a:extLst>
              </a:tr>
              <a:tr h="336992">
                <a:tc vMerge="1">
                  <a:txBody>
                    <a:bodyPr/>
                    <a:lstStyle/>
                    <a:p>
                      <a:endParaRPr lang="en-US"/>
                    </a:p>
                  </a:txBody>
                  <a:tcPr/>
                </a:tc>
                <a:tc>
                  <a:txBody>
                    <a:bodyPr/>
                    <a:lstStyle/>
                    <a:p>
                      <a:pPr algn="ctr" fontAlgn="t"/>
                      <a:r>
                        <a:rPr lang="en-US" sz="1800" u="none" strike="noStrike" dirty="0">
                          <a:effectLst/>
                        </a:rPr>
                        <a:t>Sig. (2-tailed)</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a:effectLst/>
                        </a:rPr>
                        <a:t> </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a:effectLst/>
                        </a:rPr>
                        <a:t>.000</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a:effectLst/>
                        </a:rPr>
                        <a:t>.000</a:t>
                      </a:r>
                      <a:endParaRPr lang="en-US" sz="18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2670976582"/>
                  </a:ext>
                </a:extLst>
              </a:tr>
              <a:tr h="336992">
                <a:tc vMerge="1">
                  <a:txBody>
                    <a:bodyPr/>
                    <a:lstStyle/>
                    <a:p>
                      <a:endParaRPr lang="en-US"/>
                    </a:p>
                  </a:txBody>
                  <a:tcPr/>
                </a:tc>
                <a:tc>
                  <a:txBody>
                    <a:bodyPr/>
                    <a:lstStyle/>
                    <a:p>
                      <a:pPr algn="ctr" fontAlgn="t"/>
                      <a:r>
                        <a:rPr lang="en-US" sz="1800" u="none" strike="noStrike" dirty="0">
                          <a:effectLst/>
                        </a:rPr>
                        <a:t>N</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a:effectLst/>
                        </a:rPr>
                        <a:t>10</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a:effectLst/>
                        </a:rPr>
                        <a:t>10</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a:effectLst/>
                        </a:rPr>
                        <a:t>10</a:t>
                      </a:r>
                      <a:endParaRPr lang="en-US" sz="18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797771216"/>
                  </a:ext>
                </a:extLst>
              </a:tr>
              <a:tr h="336992">
                <a:tc rowSpan="3">
                  <a:txBody>
                    <a:bodyPr/>
                    <a:lstStyle/>
                    <a:p>
                      <a:pPr algn="ctr" fontAlgn="t"/>
                      <a:r>
                        <a:rPr lang="en-US" sz="1800" u="none" strike="noStrike">
                          <a:effectLst/>
                        </a:rPr>
                        <a:t>Seed</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dirty="0">
                          <a:effectLst/>
                        </a:rPr>
                        <a:t>Pearson Correlation</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a:effectLst/>
                        </a:rPr>
                        <a:t>.981</a:t>
                      </a:r>
                      <a:r>
                        <a:rPr lang="en-US" sz="1800" u="none" strike="noStrike" baseline="30000">
                          <a:effectLst/>
                        </a:rPr>
                        <a:t>**</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a:effectLst/>
                        </a:rPr>
                        <a:t>1</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a:effectLst/>
                        </a:rPr>
                        <a:t>.999</a:t>
                      </a:r>
                      <a:r>
                        <a:rPr lang="en-US" sz="1800" u="none" strike="noStrike" baseline="30000">
                          <a:effectLst/>
                        </a:rPr>
                        <a:t>**</a:t>
                      </a:r>
                      <a:endParaRPr lang="en-US" sz="18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723416105"/>
                  </a:ext>
                </a:extLst>
              </a:tr>
              <a:tr h="427794">
                <a:tc vMerge="1">
                  <a:txBody>
                    <a:bodyPr/>
                    <a:lstStyle/>
                    <a:p>
                      <a:endParaRPr lang="en-US"/>
                    </a:p>
                  </a:txBody>
                  <a:tcPr/>
                </a:tc>
                <a:tc>
                  <a:txBody>
                    <a:bodyPr/>
                    <a:lstStyle/>
                    <a:p>
                      <a:pPr algn="ctr" fontAlgn="t"/>
                      <a:r>
                        <a:rPr lang="en-US" sz="1800" u="none" strike="noStrike" dirty="0">
                          <a:effectLst/>
                        </a:rPr>
                        <a:t>Sig. (2-tailed)</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dirty="0">
                          <a:effectLst/>
                        </a:rPr>
                        <a:t>.000</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a:effectLst/>
                        </a:rPr>
                        <a:t> </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a:effectLst/>
                        </a:rPr>
                        <a:t>.000</a:t>
                      </a:r>
                      <a:endParaRPr lang="en-US" sz="18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48087534"/>
                  </a:ext>
                </a:extLst>
              </a:tr>
              <a:tr h="336992">
                <a:tc vMerge="1">
                  <a:txBody>
                    <a:bodyPr/>
                    <a:lstStyle/>
                    <a:p>
                      <a:endParaRPr lang="en-US"/>
                    </a:p>
                  </a:txBody>
                  <a:tcPr/>
                </a:tc>
                <a:tc>
                  <a:txBody>
                    <a:bodyPr/>
                    <a:lstStyle/>
                    <a:p>
                      <a:pPr algn="ctr" fontAlgn="t"/>
                      <a:r>
                        <a:rPr lang="en-US" sz="1800" u="none" strike="noStrike" dirty="0">
                          <a:effectLst/>
                        </a:rPr>
                        <a:t>N</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dirty="0">
                          <a:effectLst/>
                        </a:rPr>
                        <a:t>10</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dirty="0">
                          <a:effectLst/>
                        </a:rPr>
                        <a:t>10</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a:effectLst/>
                        </a:rPr>
                        <a:t>10</a:t>
                      </a:r>
                      <a:endParaRPr lang="en-US" sz="18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868324291"/>
                  </a:ext>
                </a:extLst>
              </a:tr>
              <a:tr h="336992">
                <a:tc rowSpan="3">
                  <a:txBody>
                    <a:bodyPr/>
                    <a:lstStyle/>
                    <a:p>
                      <a:pPr algn="ctr" fontAlgn="t"/>
                      <a:r>
                        <a:rPr lang="en-US" sz="1800" u="none" strike="noStrike">
                          <a:effectLst/>
                        </a:rPr>
                        <a:t>Labour</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dirty="0">
                          <a:effectLst/>
                        </a:rPr>
                        <a:t>Pearson Correlation</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dirty="0">
                          <a:effectLst/>
                        </a:rPr>
                        <a:t>.978</a:t>
                      </a:r>
                      <a:r>
                        <a:rPr lang="en-US" sz="1800" u="none" strike="noStrike" baseline="30000" dirty="0">
                          <a:effectLst/>
                        </a:rPr>
                        <a:t>**</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dirty="0">
                          <a:effectLst/>
                        </a:rPr>
                        <a:t>.999</a:t>
                      </a:r>
                      <a:r>
                        <a:rPr lang="en-US" sz="1800" u="none" strike="noStrike" baseline="30000" dirty="0">
                          <a:effectLst/>
                        </a:rPr>
                        <a:t>**</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a:effectLst/>
                        </a:rPr>
                        <a:t>1</a:t>
                      </a:r>
                      <a:endParaRPr lang="en-US" sz="18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4042501603"/>
                  </a:ext>
                </a:extLst>
              </a:tr>
              <a:tr h="409969">
                <a:tc vMerge="1">
                  <a:txBody>
                    <a:bodyPr/>
                    <a:lstStyle/>
                    <a:p>
                      <a:endParaRPr lang="en-US"/>
                    </a:p>
                  </a:txBody>
                  <a:tcPr/>
                </a:tc>
                <a:tc>
                  <a:txBody>
                    <a:bodyPr/>
                    <a:lstStyle/>
                    <a:p>
                      <a:pPr algn="ctr" fontAlgn="t"/>
                      <a:r>
                        <a:rPr lang="en-US" sz="1800" u="none" strike="noStrike" dirty="0">
                          <a:effectLst/>
                        </a:rPr>
                        <a:t>Sig. (2-tailed)</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dirty="0">
                          <a:effectLst/>
                        </a:rPr>
                        <a:t>.000</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dirty="0">
                          <a:effectLst/>
                        </a:rPr>
                        <a:t>.000</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dirty="0">
                          <a:effectLst/>
                        </a:rPr>
                        <a:t> </a:t>
                      </a:r>
                      <a:endParaRPr lang="en-US" sz="18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3671836127"/>
                  </a:ext>
                </a:extLst>
              </a:tr>
              <a:tr h="336992">
                <a:tc vMerge="1">
                  <a:txBody>
                    <a:bodyPr/>
                    <a:lstStyle/>
                    <a:p>
                      <a:endParaRPr lang="en-US"/>
                    </a:p>
                  </a:txBody>
                  <a:tcPr/>
                </a:tc>
                <a:tc>
                  <a:txBody>
                    <a:bodyPr/>
                    <a:lstStyle/>
                    <a:p>
                      <a:pPr algn="ctr" fontAlgn="t"/>
                      <a:r>
                        <a:rPr lang="en-US" sz="1800" u="none" strike="noStrike">
                          <a:effectLst/>
                        </a:rPr>
                        <a:t>N</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a:effectLst/>
                        </a:rPr>
                        <a:t>10</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dirty="0">
                          <a:effectLst/>
                        </a:rPr>
                        <a:t>10</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800" u="none" strike="noStrike" dirty="0">
                          <a:effectLst/>
                        </a:rPr>
                        <a:t>10</a:t>
                      </a:r>
                      <a:endParaRPr lang="en-US" sz="18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1756993484"/>
                  </a:ext>
                </a:extLst>
              </a:tr>
            </a:tbl>
          </a:graphicData>
        </a:graphic>
      </p:graphicFrame>
    </p:spTree>
    <p:extLst>
      <p:ext uri="{BB962C8B-B14F-4D97-AF65-F5344CB8AC3E}">
        <p14:creationId xmlns:p14="http://schemas.microsoft.com/office/powerpoint/2010/main" val="13040026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F5F7D-0E97-4AD2-B10E-205B9683E0DC}"/>
              </a:ext>
            </a:extLst>
          </p:cNvPr>
          <p:cNvSpPr>
            <a:spLocks noGrp="1"/>
          </p:cNvSpPr>
          <p:nvPr>
            <p:ph type="title"/>
          </p:nvPr>
        </p:nvSpPr>
        <p:spPr>
          <a:xfrm>
            <a:off x="609600" y="392667"/>
            <a:ext cx="6347713" cy="883861"/>
          </a:xfrm>
        </p:spPr>
        <p:txBody>
          <a:bodyPr/>
          <a:lstStyle/>
          <a:p>
            <a:r>
              <a:rPr lang="en-US" dirty="0"/>
              <a:t>Collinearity Statistics</a:t>
            </a:r>
          </a:p>
        </p:txBody>
      </p:sp>
      <p:graphicFrame>
        <p:nvGraphicFramePr>
          <p:cNvPr id="4" name="Content Placeholder 3">
            <a:extLst>
              <a:ext uri="{FF2B5EF4-FFF2-40B4-BE49-F238E27FC236}">
                <a16:creationId xmlns:a16="http://schemas.microsoft.com/office/drawing/2014/main" id="{A8716618-FD54-4311-BA0C-7C5588106CBE}"/>
              </a:ext>
            </a:extLst>
          </p:cNvPr>
          <p:cNvGraphicFramePr>
            <a:graphicFrameLocks noGrp="1"/>
          </p:cNvGraphicFramePr>
          <p:nvPr>
            <p:ph idx="1"/>
          </p:nvPr>
        </p:nvGraphicFramePr>
        <p:xfrm>
          <a:off x="228600" y="1600200"/>
          <a:ext cx="8458199" cy="2054860"/>
        </p:xfrm>
        <a:graphic>
          <a:graphicData uri="http://schemas.openxmlformats.org/drawingml/2006/table">
            <a:tbl>
              <a:tblPr>
                <a:tableStyleId>{5C22544A-7EE6-4342-B048-85BDC9FD1C3A}</a:tableStyleId>
              </a:tblPr>
              <a:tblGrid>
                <a:gridCol w="1267388">
                  <a:extLst>
                    <a:ext uri="{9D8B030D-6E8A-4147-A177-3AD203B41FA5}">
                      <a16:colId xmlns:a16="http://schemas.microsoft.com/office/drawing/2014/main" val="2432424567"/>
                    </a:ext>
                  </a:extLst>
                </a:gridCol>
                <a:gridCol w="798979">
                  <a:extLst>
                    <a:ext uri="{9D8B030D-6E8A-4147-A177-3AD203B41FA5}">
                      <a16:colId xmlns:a16="http://schemas.microsoft.com/office/drawing/2014/main" val="1530402321"/>
                    </a:ext>
                  </a:extLst>
                </a:gridCol>
                <a:gridCol w="798979">
                  <a:extLst>
                    <a:ext uri="{9D8B030D-6E8A-4147-A177-3AD203B41FA5}">
                      <a16:colId xmlns:a16="http://schemas.microsoft.com/office/drawing/2014/main" val="22000465"/>
                    </a:ext>
                  </a:extLst>
                </a:gridCol>
                <a:gridCol w="798979">
                  <a:extLst>
                    <a:ext uri="{9D8B030D-6E8A-4147-A177-3AD203B41FA5}">
                      <a16:colId xmlns:a16="http://schemas.microsoft.com/office/drawing/2014/main" val="2021072621"/>
                    </a:ext>
                  </a:extLst>
                </a:gridCol>
                <a:gridCol w="798979">
                  <a:extLst>
                    <a:ext uri="{9D8B030D-6E8A-4147-A177-3AD203B41FA5}">
                      <a16:colId xmlns:a16="http://schemas.microsoft.com/office/drawing/2014/main" val="3922316453"/>
                    </a:ext>
                  </a:extLst>
                </a:gridCol>
                <a:gridCol w="798979">
                  <a:extLst>
                    <a:ext uri="{9D8B030D-6E8A-4147-A177-3AD203B41FA5}">
                      <a16:colId xmlns:a16="http://schemas.microsoft.com/office/drawing/2014/main" val="3642903502"/>
                    </a:ext>
                  </a:extLst>
                </a:gridCol>
                <a:gridCol w="798979">
                  <a:extLst>
                    <a:ext uri="{9D8B030D-6E8A-4147-A177-3AD203B41FA5}">
                      <a16:colId xmlns:a16="http://schemas.microsoft.com/office/drawing/2014/main" val="2146503054"/>
                    </a:ext>
                  </a:extLst>
                </a:gridCol>
                <a:gridCol w="644338">
                  <a:extLst>
                    <a:ext uri="{9D8B030D-6E8A-4147-A177-3AD203B41FA5}">
                      <a16:colId xmlns:a16="http://schemas.microsoft.com/office/drawing/2014/main" val="1061972345"/>
                    </a:ext>
                  </a:extLst>
                </a:gridCol>
                <a:gridCol w="953620">
                  <a:extLst>
                    <a:ext uri="{9D8B030D-6E8A-4147-A177-3AD203B41FA5}">
                      <a16:colId xmlns:a16="http://schemas.microsoft.com/office/drawing/2014/main" val="876702995"/>
                    </a:ext>
                  </a:extLst>
                </a:gridCol>
                <a:gridCol w="798979">
                  <a:extLst>
                    <a:ext uri="{9D8B030D-6E8A-4147-A177-3AD203B41FA5}">
                      <a16:colId xmlns:a16="http://schemas.microsoft.com/office/drawing/2014/main" val="1769946618"/>
                    </a:ext>
                  </a:extLst>
                </a:gridCol>
              </a:tblGrid>
              <a:tr h="609600">
                <a:tc rowSpan="2">
                  <a:txBody>
                    <a:bodyPr/>
                    <a:lstStyle/>
                    <a:p>
                      <a:pPr algn="ctr" fontAlgn="b"/>
                      <a:r>
                        <a:rPr lang="en-US" sz="1600" u="none" strike="noStrike" dirty="0">
                          <a:effectLst/>
                        </a:rPr>
                        <a:t> </a:t>
                      </a:r>
                      <a:endParaRPr lang="en-US" sz="1600" b="0" i="0" u="none" strike="noStrike" dirty="0">
                        <a:solidFill>
                          <a:srgbClr val="000000"/>
                        </a:solidFill>
                        <a:effectLst/>
                        <a:latin typeface="Arial" panose="020B0604020202020204" pitchFamily="34" charset="0"/>
                      </a:endParaRPr>
                    </a:p>
                  </a:txBody>
                  <a:tcPr marL="6350" marR="6350" marT="6350" marB="0" anchor="ctr"/>
                </a:tc>
                <a:tc gridSpan="2">
                  <a:txBody>
                    <a:bodyPr/>
                    <a:lstStyle/>
                    <a:p>
                      <a:pPr algn="ctr" fontAlgn="b"/>
                      <a:r>
                        <a:rPr lang="en-US" sz="1600" u="none" strike="noStrike" dirty="0">
                          <a:effectLst/>
                        </a:rPr>
                        <a:t>Unstandardized Coefficients</a:t>
                      </a:r>
                      <a:endParaRPr lang="en-US" sz="1600" b="0" i="0" u="none" strike="noStrike" dirty="0">
                        <a:solidFill>
                          <a:srgbClr val="000000"/>
                        </a:solidFill>
                        <a:effectLst/>
                        <a:latin typeface="Arial" panose="020B0604020202020204" pitchFamily="34" charset="0"/>
                      </a:endParaRPr>
                    </a:p>
                  </a:txBody>
                  <a:tcPr marL="6350" marR="6350" marT="6350" marB="0" anchor="ctr"/>
                </a:tc>
                <a:tc hMerge="1">
                  <a:txBody>
                    <a:bodyPr/>
                    <a:lstStyle/>
                    <a:p>
                      <a:endParaRPr lang="en-US"/>
                    </a:p>
                  </a:txBody>
                  <a:tcPr/>
                </a:tc>
                <a:tc rowSpan="2">
                  <a:txBody>
                    <a:bodyPr/>
                    <a:lstStyle/>
                    <a:p>
                      <a:pPr algn="ctr" fontAlgn="b"/>
                      <a:r>
                        <a:rPr lang="en-US" sz="1600" u="none" strike="noStrike" dirty="0">
                          <a:effectLst/>
                        </a:rPr>
                        <a:t>t</a:t>
                      </a:r>
                      <a:endParaRPr lang="en-US" sz="1600" b="0" i="0" u="none" strike="noStrike" dirty="0">
                        <a:solidFill>
                          <a:srgbClr val="000000"/>
                        </a:solidFill>
                        <a:effectLst/>
                        <a:latin typeface="Arial" panose="020B0604020202020204" pitchFamily="34" charset="0"/>
                      </a:endParaRPr>
                    </a:p>
                  </a:txBody>
                  <a:tcPr marL="6350" marR="6350" marT="6350" marB="0" anchor="ctr"/>
                </a:tc>
                <a:tc rowSpan="2">
                  <a:txBody>
                    <a:bodyPr/>
                    <a:lstStyle/>
                    <a:p>
                      <a:pPr algn="ctr" fontAlgn="b"/>
                      <a:r>
                        <a:rPr lang="en-US" sz="1600" u="none" strike="noStrike">
                          <a:effectLst/>
                        </a:rPr>
                        <a:t>Sig.</a:t>
                      </a:r>
                      <a:endParaRPr lang="en-US" sz="1600" b="0" i="0" u="none" strike="noStrike">
                        <a:solidFill>
                          <a:srgbClr val="000000"/>
                        </a:solidFill>
                        <a:effectLst/>
                        <a:latin typeface="Arial" panose="020B0604020202020204" pitchFamily="34" charset="0"/>
                      </a:endParaRPr>
                    </a:p>
                  </a:txBody>
                  <a:tcPr marL="6350" marR="6350" marT="6350" marB="0" anchor="ctr"/>
                </a:tc>
                <a:tc gridSpan="3">
                  <a:txBody>
                    <a:bodyPr/>
                    <a:lstStyle/>
                    <a:p>
                      <a:pPr algn="ctr" fontAlgn="b"/>
                      <a:r>
                        <a:rPr lang="en-US" sz="1600" u="none" strike="noStrike">
                          <a:effectLst/>
                        </a:rPr>
                        <a:t>Correlations</a:t>
                      </a:r>
                      <a:endParaRPr lang="en-US" sz="1600" b="0" i="0" u="none" strike="noStrike">
                        <a:solidFill>
                          <a:srgbClr val="000000"/>
                        </a:solidFill>
                        <a:effectLst/>
                        <a:latin typeface="Arial" panose="020B06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tc gridSpan="2">
                  <a:txBody>
                    <a:bodyPr/>
                    <a:lstStyle/>
                    <a:p>
                      <a:pPr algn="ctr" fontAlgn="b"/>
                      <a:r>
                        <a:rPr lang="en-US" sz="1600" u="none" strike="noStrike">
                          <a:effectLst/>
                        </a:rPr>
                        <a:t>Collinearity Statistics</a:t>
                      </a:r>
                      <a:endParaRPr lang="en-US" sz="1600" b="0" i="0" u="none" strike="noStrike">
                        <a:solidFill>
                          <a:srgbClr val="000000"/>
                        </a:solidFill>
                        <a:effectLst/>
                        <a:latin typeface="Arial" panose="020B0604020202020204" pitchFamily="34" charset="0"/>
                      </a:endParaRPr>
                    </a:p>
                  </a:txBody>
                  <a:tcPr marL="6350" marR="6350" marT="6350" marB="0" anchor="ctr"/>
                </a:tc>
                <a:tc hMerge="1">
                  <a:txBody>
                    <a:bodyPr/>
                    <a:lstStyle/>
                    <a:p>
                      <a:endParaRPr lang="en-US"/>
                    </a:p>
                  </a:txBody>
                  <a:tcPr/>
                </a:tc>
                <a:extLst>
                  <a:ext uri="{0D108BD9-81ED-4DB2-BD59-A6C34878D82A}">
                    <a16:rowId xmlns:a16="http://schemas.microsoft.com/office/drawing/2014/main" val="3066622171"/>
                  </a:ext>
                </a:extLst>
              </a:tr>
              <a:tr h="304800">
                <a:tc vMerge="1">
                  <a:txBody>
                    <a:bodyPr/>
                    <a:lstStyle/>
                    <a:p>
                      <a:endParaRPr lang="en-US"/>
                    </a:p>
                  </a:txBody>
                  <a:tcPr/>
                </a:tc>
                <a:tc>
                  <a:txBody>
                    <a:bodyPr/>
                    <a:lstStyle/>
                    <a:p>
                      <a:pPr algn="ctr" fontAlgn="b"/>
                      <a:r>
                        <a:rPr lang="en-US" sz="1600" u="none" strike="noStrike">
                          <a:effectLst/>
                        </a:rPr>
                        <a:t>B</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600" u="none" strike="noStrike" dirty="0">
                          <a:effectLst/>
                        </a:rPr>
                        <a:t>Std. Error</a:t>
                      </a:r>
                      <a:endParaRPr lang="en-US" sz="1600" b="0" i="0" u="none" strike="noStrike" dirty="0">
                        <a:solidFill>
                          <a:srgbClr val="000000"/>
                        </a:solidFill>
                        <a:effectLst/>
                        <a:latin typeface="Arial" panose="020B0604020202020204" pitchFamily="34" charset="0"/>
                      </a:endParaRPr>
                    </a:p>
                  </a:txBody>
                  <a:tcPr marL="6350" marR="6350" marT="6350" marB="0" anchor="ctr"/>
                </a:tc>
                <a:tc vMerge="1">
                  <a:txBody>
                    <a:bodyPr/>
                    <a:lstStyle/>
                    <a:p>
                      <a:endParaRPr lang="en-US"/>
                    </a:p>
                  </a:txBody>
                  <a:tcPr/>
                </a:tc>
                <a:tc vMerge="1">
                  <a:txBody>
                    <a:bodyPr/>
                    <a:lstStyle/>
                    <a:p>
                      <a:endParaRPr lang="en-US"/>
                    </a:p>
                  </a:txBody>
                  <a:tcPr/>
                </a:tc>
                <a:tc>
                  <a:txBody>
                    <a:bodyPr/>
                    <a:lstStyle/>
                    <a:p>
                      <a:pPr algn="ctr" fontAlgn="b"/>
                      <a:r>
                        <a:rPr lang="en-US" sz="1600" u="none" strike="noStrike">
                          <a:effectLst/>
                        </a:rPr>
                        <a:t>Zero-order</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600" u="none" strike="noStrike">
                          <a:effectLst/>
                        </a:rPr>
                        <a:t>Partial</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600" u="none" strike="noStrike">
                          <a:effectLst/>
                        </a:rPr>
                        <a:t>Part</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600" u="none" strike="noStrike">
                          <a:effectLst/>
                        </a:rPr>
                        <a:t>Tolerance</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600" u="none" strike="noStrike">
                          <a:effectLst/>
                        </a:rPr>
                        <a:t>VIF</a:t>
                      </a:r>
                      <a:endParaRPr lang="en-US" sz="16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1065619924"/>
                  </a:ext>
                </a:extLst>
              </a:tr>
              <a:tr h="190500">
                <a:tc>
                  <a:txBody>
                    <a:bodyPr/>
                    <a:lstStyle/>
                    <a:p>
                      <a:pPr algn="ctr" fontAlgn="t"/>
                      <a:r>
                        <a:rPr lang="en-US" sz="1600" u="none" strike="noStrike">
                          <a:effectLst/>
                        </a:rPr>
                        <a:t>(Constant)</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a:effectLst/>
                        </a:rPr>
                        <a:t>24.775</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a:effectLst/>
                        </a:rPr>
                        <a:t>6.752</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a:effectLst/>
                        </a:rPr>
                        <a:t>3.669</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effectLst/>
                        </a:rPr>
                        <a:t>.008</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a:effectLst/>
                        </a:rPr>
                        <a:t> </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a:effectLst/>
                        </a:rPr>
                        <a:t> </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a:effectLst/>
                        </a:rPr>
                        <a:t> </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a:effectLst/>
                        </a:rPr>
                        <a:t> </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a:effectLst/>
                        </a:rPr>
                        <a:t> </a:t>
                      </a:r>
                      <a:endParaRPr lang="en-US" sz="16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1859498219"/>
                  </a:ext>
                </a:extLst>
              </a:tr>
              <a:tr h="184150">
                <a:tc>
                  <a:txBody>
                    <a:bodyPr/>
                    <a:lstStyle/>
                    <a:p>
                      <a:pPr algn="ctr" fontAlgn="t"/>
                      <a:r>
                        <a:rPr lang="en-US" sz="1600" u="none" strike="noStrike">
                          <a:effectLst/>
                        </a:rPr>
                        <a:t>Seed</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a:effectLst/>
                        </a:rPr>
                        <a:t>.942</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effectLst/>
                        </a:rPr>
                        <a:t>.823</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a:effectLst/>
                        </a:rPr>
                        <a:t>1.144</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effectLst/>
                        </a:rPr>
                        <a:t>.290</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effectLst/>
                        </a:rPr>
                        <a:t>.981</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effectLst/>
                        </a:rPr>
                        <a:t>.397</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a:effectLst/>
                        </a:rPr>
                        <a:t>.083</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solidFill>
                            <a:srgbClr val="FF0000"/>
                          </a:solidFill>
                          <a:effectLst/>
                        </a:rPr>
                        <a:t>.002</a:t>
                      </a:r>
                      <a:endParaRPr lang="en-US" sz="1600" b="0" i="0" u="none" strike="noStrike" dirty="0">
                        <a:solidFill>
                          <a:srgbClr val="FF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solidFill>
                            <a:srgbClr val="FF0000"/>
                          </a:solidFill>
                          <a:effectLst/>
                        </a:rPr>
                        <a:t>482.128</a:t>
                      </a:r>
                      <a:endParaRPr lang="en-US" sz="1600" b="0" i="0" u="none" strike="noStrike" dirty="0">
                        <a:solidFill>
                          <a:srgbClr val="FF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2051499041"/>
                  </a:ext>
                </a:extLst>
              </a:tr>
              <a:tr h="450850">
                <a:tc>
                  <a:txBody>
                    <a:bodyPr/>
                    <a:lstStyle/>
                    <a:p>
                      <a:pPr algn="ctr" fontAlgn="t"/>
                      <a:r>
                        <a:rPr lang="en-US" sz="1600" u="none" strike="noStrike">
                          <a:effectLst/>
                        </a:rPr>
                        <a:t>Labour</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a:effectLst/>
                        </a:rPr>
                        <a:t>-.042</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a:effectLst/>
                        </a:rPr>
                        <a:t>.081</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a:effectLst/>
                        </a:rPr>
                        <a:t>-.526</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a:effectLst/>
                        </a:rPr>
                        <a:t>.615</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a:effectLst/>
                        </a:rPr>
                        <a:t>.978</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a:effectLst/>
                        </a:rPr>
                        <a:t>-.195</a:t>
                      </a:r>
                      <a:endParaRPr lang="en-US" sz="16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effectLst/>
                        </a:rPr>
                        <a:t>-.038</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solidFill>
                            <a:srgbClr val="FF0000"/>
                          </a:solidFill>
                          <a:effectLst/>
                        </a:rPr>
                        <a:t>.002</a:t>
                      </a:r>
                      <a:endParaRPr lang="en-US" sz="1600" b="0" i="0" u="none" strike="noStrike" dirty="0">
                        <a:solidFill>
                          <a:srgbClr val="FF0000"/>
                        </a:solidFill>
                        <a:effectLst/>
                        <a:latin typeface="Arial" panose="020B0604020202020204" pitchFamily="34" charset="0"/>
                      </a:endParaRPr>
                    </a:p>
                  </a:txBody>
                  <a:tcPr marL="6350" marR="6350" marT="6350" marB="0" anchor="ctr"/>
                </a:tc>
                <a:tc>
                  <a:txBody>
                    <a:bodyPr/>
                    <a:lstStyle/>
                    <a:p>
                      <a:pPr algn="ctr" fontAlgn="t"/>
                      <a:r>
                        <a:rPr lang="en-US" sz="1600" u="none" strike="noStrike" dirty="0">
                          <a:solidFill>
                            <a:srgbClr val="FF0000"/>
                          </a:solidFill>
                          <a:effectLst/>
                        </a:rPr>
                        <a:t>482.128</a:t>
                      </a:r>
                      <a:endParaRPr lang="en-US" sz="1600" b="0" i="0" u="none" strike="noStrike" dirty="0">
                        <a:solidFill>
                          <a:srgbClr val="FF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2683395716"/>
                  </a:ext>
                </a:extLst>
              </a:tr>
            </a:tbl>
          </a:graphicData>
        </a:graphic>
      </p:graphicFrame>
      <p:sp>
        <p:nvSpPr>
          <p:cNvPr id="5" name="TextBox 4">
            <a:extLst>
              <a:ext uri="{FF2B5EF4-FFF2-40B4-BE49-F238E27FC236}">
                <a16:creationId xmlns:a16="http://schemas.microsoft.com/office/drawing/2014/main" id="{91051BA5-999D-46E3-A813-1CC2C386A351}"/>
              </a:ext>
            </a:extLst>
          </p:cNvPr>
          <p:cNvSpPr txBox="1"/>
          <p:nvPr/>
        </p:nvSpPr>
        <p:spPr>
          <a:xfrm>
            <a:off x="266699" y="4191000"/>
            <a:ext cx="8458198" cy="1200329"/>
          </a:xfrm>
          <a:prstGeom prst="rect">
            <a:avLst/>
          </a:prstGeom>
          <a:noFill/>
          <a:ln>
            <a:solidFill>
              <a:schemeClr val="accent1"/>
            </a:solidFill>
          </a:ln>
        </p:spPr>
        <p:txBody>
          <a:bodyPr wrap="square" rtlCol="0">
            <a:spAutoFit/>
          </a:bodyPr>
          <a:lstStyle/>
          <a:p>
            <a:r>
              <a:rPr lang="en-US" dirty="0"/>
              <a:t>Tolerance, is 1 minus that </a:t>
            </a:r>
            <a:r>
              <a:rPr lang="en-US" i="1" dirty="0"/>
              <a:t>R</a:t>
            </a:r>
            <a:r>
              <a:rPr lang="en-US" i="1" baseline="30000" dirty="0"/>
              <a:t>2 </a:t>
            </a:r>
            <a:r>
              <a:rPr lang="en-US" i="1" dirty="0"/>
              <a:t>(between the two predictors)</a:t>
            </a:r>
            <a:r>
              <a:rPr lang="en-US" dirty="0"/>
              <a:t> </a:t>
            </a:r>
          </a:p>
          <a:p>
            <a:r>
              <a:rPr lang="en-US" dirty="0"/>
              <a:t>VIF, the </a:t>
            </a:r>
            <a:r>
              <a:rPr lang="en-US" b="1" dirty="0"/>
              <a:t>variance inflation factor</a:t>
            </a:r>
            <a:r>
              <a:rPr lang="en-US" dirty="0"/>
              <a:t> is the reciprocal of the tolerance.  Very low values of tolerance (.1 or less) indicate a problem.  Very high values of VIF (10 or more, although some would say 5 or even 4) indicate a problem.  </a:t>
            </a:r>
          </a:p>
        </p:txBody>
      </p:sp>
      <p:sp>
        <p:nvSpPr>
          <p:cNvPr id="6" name="TextBox 5">
            <a:extLst>
              <a:ext uri="{FF2B5EF4-FFF2-40B4-BE49-F238E27FC236}">
                <a16:creationId xmlns:a16="http://schemas.microsoft.com/office/drawing/2014/main" id="{57DB65BE-0DB3-48F7-AC3B-E4DD61AB1C56}"/>
              </a:ext>
            </a:extLst>
          </p:cNvPr>
          <p:cNvSpPr txBox="1"/>
          <p:nvPr/>
        </p:nvSpPr>
        <p:spPr>
          <a:xfrm>
            <a:off x="304798" y="5715000"/>
            <a:ext cx="8382000" cy="369332"/>
          </a:xfrm>
          <a:prstGeom prst="rect">
            <a:avLst/>
          </a:prstGeom>
          <a:noFill/>
          <a:ln>
            <a:solidFill>
              <a:schemeClr val="accent1"/>
            </a:solidFill>
          </a:ln>
        </p:spPr>
        <p:txBody>
          <a:bodyPr wrap="square" rtlCol="0">
            <a:spAutoFit/>
          </a:bodyPr>
          <a:lstStyle/>
          <a:p>
            <a:r>
              <a:rPr lang="en-US" dirty="0" err="1"/>
              <a:t>Semipartial</a:t>
            </a:r>
            <a:r>
              <a:rPr lang="en-US" dirty="0"/>
              <a:t> correlation coefficients, are called“ </a:t>
            </a:r>
            <a:r>
              <a:rPr lang="en-US" b="1" dirty="0"/>
              <a:t>part correlations</a:t>
            </a:r>
            <a:r>
              <a:rPr lang="en-US" dirty="0"/>
              <a:t>“ by SPSS</a:t>
            </a:r>
          </a:p>
        </p:txBody>
      </p:sp>
    </p:spTree>
    <p:extLst>
      <p:ext uri="{BB962C8B-B14F-4D97-AF65-F5344CB8AC3E}">
        <p14:creationId xmlns:p14="http://schemas.microsoft.com/office/powerpoint/2010/main" val="36356395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2F9AE-B13F-4CF3-B9B8-7F0F568A736A}"/>
              </a:ext>
            </a:extLst>
          </p:cNvPr>
          <p:cNvSpPr>
            <a:spLocks noGrp="1"/>
          </p:cNvSpPr>
          <p:nvPr>
            <p:ph type="title"/>
          </p:nvPr>
        </p:nvSpPr>
        <p:spPr>
          <a:xfrm>
            <a:off x="609599" y="609600"/>
            <a:ext cx="6347714" cy="762000"/>
          </a:xfrm>
        </p:spPr>
        <p:txBody>
          <a:bodyPr/>
          <a:lstStyle/>
          <a:p>
            <a:r>
              <a:rPr lang="en-US" dirty="0"/>
              <a:t>Revisit United Technologies</a:t>
            </a:r>
          </a:p>
        </p:txBody>
      </p:sp>
      <p:graphicFrame>
        <p:nvGraphicFramePr>
          <p:cNvPr id="5" name="Table 4">
            <a:extLst>
              <a:ext uri="{FF2B5EF4-FFF2-40B4-BE49-F238E27FC236}">
                <a16:creationId xmlns:a16="http://schemas.microsoft.com/office/drawing/2014/main" id="{42846568-A661-4953-9B2A-7D47D4383C4E}"/>
              </a:ext>
            </a:extLst>
          </p:cNvPr>
          <p:cNvGraphicFramePr>
            <a:graphicFrameLocks noGrp="1"/>
          </p:cNvGraphicFramePr>
          <p:nvPr/>
        </p:nvGraphicFramePr>
        <p:xfrm>
          <a:off x="152400" y="1431962"/>
          <a:ext cx="8305800" cy="2225636"/>
        </p:xfrm>
        <a:graphic>
          <a:graphicData uri="http://schemas.openxmlformats.org/drawingml/2006/table">
            <a:tbl>
              <a:tblPr>
                <a:tableStyleId>{5C22544A-7EE6-4342-B048-85BDC9FD1C3A}</a:tableStyleId>
              </a:tblPr>
              <a:tblGrid>
                <a:gridCol w="967740">
                  <a:extLst>
                    <a:ext uri="{9D8B030D-6E8A-4147-A177-3AD203B41FA5}">
                      <a16:colId xmlns:a16="http://schemas.microsoft.com/office/drawing/2014/main" val="2416713789"/>
                    </a:ext>
                  </a:extLst>
                </a:gridCol>
                <a:gridCol w="815340">
                  <a:extLst>
                    <a:ext uri="{9D8B030D-6E8A-4147-A177-3AD203B41FA5}">
                      <a16:colId xmlns:a16="http://schemas.microsoft.com/office/drawing/2014/main" val="1449402229"/>
                    </a:ext>
                  </a:extLst>
                </a:gridCol>
                <a:gridCol w="815340">
                  <a:extLst>
                    <a:ext uri="{9D8B030D-6E8A-4147-A177-3AD203B41FA5}">
                      <a16:colId xmlns:a16="http://schemas.microsoft.com/office/drawing/2014/main" val="943125954"/>
                    </a:ext>
                  </a:extLst>
                </a:gridCol>
                <a:gridCol w="815340">
                  <a:extLst>
                    <a:ext uri="{9D8B030D-6E8A-4147-A177-3AD203B41FA5}">
                      <a16:colId xmlns:a16="http://schemas.microsoft.com/office/drawing/2014/main" val="3740478965"/>
                    </a:ext>
                  </a:extLst>
                </a:gridCol>
                <a:gridCol w="815340">
                  <a:extLst>
                    <a:ext uri="{9D8B030D-6E8A-4147-A177-3AD203B41FA5}">
                      <a16:colId xmlns:a16="http://schemas.microsoft.com/office/drawing/2014/main" val="3326428209"/>
                    </a:ext>
                  </a:extLst>
                </a:gridCol>
                <a:gridCol w="1028700">
                  <a:extLst>
                    <a:ext uri="{9D8B030D-6E8A-4147-A177-3AD203B41FA5}">
                      <a16:colId xmlns:a16="http://schemas.microsoft.com/office/drawing/2014/main" val="3737211892"/>
                    </a:ext>
                  </a:extLst>
                </a:gridCol>
                <a:gridCol w="838200">
                  <a:extLst>
                    <a:ext uri="{9D8B030D-6E8A-4147-A177-3AD203B41FA5}">
                      <a16:colId xmlns:a16="http://schemas.microsoft.com/office/drawing/2014/main" val="1055163125"/>
                    </a:ext>
                  </a:extLst>
                </a:gridCol>
                <a:gridCol w="579120">
                  <a:extLst>
                    <a:ext uri="{9D8B030D-6E8A-4147-A177-3AD203B41FA5}">
                      <a16:colId xmlns:a16="http://schemas.microsoft.com/office/drawing/2014/main" val="302210290"/>
                    </a:ext>
                  </a:extLst>
                </a:gridCol>
                <a:gridCol w="1021080">
                  <a:extLst>
                    <a:ext uri="{9D8B030D-6E8A-4147-A177-3AD203B41FA5}">
                      <a16:colId xmlns:a16="http://schemas.microsoft.com/office/drawing/2014/main" val="2932161206"/>
                    </a:ext>
                  </a:extLst>
                </a:gridCol>
                <a:gridCol w="609600">
                  <a:extLst>
                    <a:ext uri="{9D8B030D-6E8A-4147-A177-3AD203B41FA5}">
                      <a16:colId xmlns:a16="http://schemas.microsoft.com/office/drawing/2014/main" val="1344247470"/>
                    </a:ext>
                  </a:extLst>
                </a:gridCol>
              </a:tblGrid>
              <a:tr h="268130">
                <a:tc gridSpan="10">
                  <a:txBody>
                    <a:bodyPr/>
                    <a:lstStyle/>
                    <a:p>
                      <a:pPr algn="ctr" fontAlgn="ctr"/>
                      <a:r>
                        <a:rPr lang="en-US" sz="1400" u="none" strike="noStrike" dirty="0" err="1">
                          <a:effectLst/>
                        </a:rPr>
                        <a:t>Coefficients</a:t>
                      </a:r>
                      <a:r>
                        <a:rPr lang="en-US" sz="1400" u="none" strike="noStrike" baseline="30000" dirty="0" err="1">
                          <a:effectLst/>
                        </a:rPr>
                        <a:t>a</a:t>
                      </a:r>
                      <a:endParaRPr lang="en-US" sz="1400" b="1" i="0" u="none" strike="noStrike" dirty="0">
                        <a:solidFill>
                          <a:srgbClr val="000000"/>
                        </a:solidFill>
                        <a:effectLst/>
                        <a:latin typeface="Arial Bold" panose="020B07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88056864"/>
                  </a:ext>
                </a:extLst>
              </a:tr>
              <a:tr h="528512">
                <a:tc rowSpan="2">
                  <a:txBody>
                    <a:bodyPr/>
                    <a:lstStyle/>
                    <a:p>
                      <a:pPr algn="ctr" fontAlgn="b"/>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6350" marR="6350" marT="6350" marB="0" anchor="ctr"/>
                </a:tc>
                <a:tc gridSpan="2">
                  <a:txBody>
                    <a:bodyPr/>
                    <a:lstStyle/>
                    <a:p>
                      <a:pPr algn="ctr" fontAlgn="b"/>
                      <a:r>
                        <a:rPr lang="en-US" sz="1400" u="none" strike="noStrike" dirty="0">
                          <a:effectLst/>
                        </a:rPr>
                        <a:t>Unstandardized Coefficients</a:t>
                      </a:r>
                      <a:endParaRPr lang="en-US" sz="1400" b="0" i="0" u="none" strike="noStrike" dirty="0">
                        <a:solidFill>
                          <a:srgbClr val="000000"/>
                        </a:solidFill>
                        <a:effectLst/>
                        <a:latin typeface="Arial" panose="020B0604020202020204" pitchFamily="34" charset="0"/>
                      </a:endParaRPr>
                    </a:p>
                  </a:txBody>
                  <a:tcPr marL="6350" marR="6350" marT="6350" marB="0" anchor="ctr"/>
                </a:tc>
                <a:tc hMerge="1">
                  <a:txBody>
                    <a:bodyPr/>
                    <a:lstStyle/>
                    <a:p>
                      <a:endParaRPr lang="en-US"/>
                    </a:p>
                  </a:txBody>
                  <a:tcPr/>
                </a:tc>
                <a:tc rowSpan="2">
                  <a:txBody>
                    <a:bodyPr/>
                    <a:lstStyle/>
                    <a:p>
                      <a:pPr algn="ctr" fontAlgn="b"/>
                      <a:r>
                        <a:rPr lang="en-US" sz="1400" u="none" strike="noStrike" dirty="0">
                          <a:effectLst/>
                        </a:rPr>
                        <a:t>t</a:t>
                      </a:r>
                      <a:endParaRPr lang="en-US" sz="1400" b="0" i="0" u="none" strike="noStrike" dirty="0">
                        <a:solidFill>
                          <a:srgbClr val="000000"/>
                        </a:solidFill>
                        <a:effectLst/>
                        <a:latin typeface="Arial" panose="020B0604020202020204" pitchFamily="34" charset="0"/>
                      </a:endParaRPr>
                    </a:p>
                  </a:txBody>
                  <a:tcPr marL="6350" marR="6350" marT="6350" marB="0" anchor="ctr"/>
                </a:tc>
                <a:tc rowSpan="2">
                  <a:txBody>
                    <a:bodyPr/>
                    <a:lstStyle/>
                    <a:p>
                      <a:pPr algn="ctr" fontAlgn="b"/>
                      <a:r>
                        <a:rPr lang="en-US" sz="1400" u="none" strike="noStrike">
                          <a:effectLst/>
                        </a:rPr>
                        <a:t>Sig.</a:t>
                      </a:r>
                      <a:endParaRPr lang="en-US" sz="1400" b="0" i="0" u="none" strike="noStrike">
                        <a:solidFill>
                          <a:srgbClr val="000000"/>
                        </a:solidFill>
                        <a:effectLst/>
                        <a:latin typeface="Arial" panose="020B0604020202020204" pitchFamily="34" charset="0"/>
                      </a:endParaRPr>
                    </a:p>
                  </a:txBody>
                  <a:tcPr marL="6350" marR="6350" marT="6350" marB="0" anchor="ctr"/>
                </a:tc>
                <a:tc gridSpan="3">
                  <a:txBody>
                    <a:bodyPr/>
                    <a:lstStyle/>
                    <a:p>
                      <a:pPr algn="ctr" fontAlgn="b"/>
                      <a:r>
                        <a:rPr lang="en-US" sz="1400" u="none" strike="noStrike">
                          <a:effectLst/>
                        </a:rPr>
                        <a:t>Correlations</a:t>
                      </a:r>
                      <a:endParaRPr lang="en-US" sz="1400" b="0" i="0" u="none" strike="noStrike">
                        <a:solidFill>
                          <a:srgbClr val="000000"/>
                        </a:solidFill>
                        <a:effectLst/>
                        <a:latin typeface="Arial" panose="020B06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tc gridSpan="2">
                  <a:txBody>
                    <a:bodyPr/>
                    <a:lstStyle/>
                    <a:p>
                      <a:pPr algn="ctr" fontAlgn="b"/>
                      <a:r>
                        <a:rPr lang="en-US" sz="1400" u="none" strike="noStrike">
                          <a:effectLst/>
                        </a:rPr>
                        <a:t>Collinearity Statistics</a:t>
                      </a:r>
                      <a:endParaRPr lang="en-US" sz="1400" b="0" i="0" u="none" strike="noStrike">
                        <a:solidFill>
                          <a:srgbClr val="000000"/>
                        </a:solidFill>
                        <a:effectLst/>
                        <a:latin typeface="Arial" panose="020B0604020202020204" pitchFamily="34" charset="0"/>
                      </a:endParaRPr>
                    </a:p>
                  </a:txBody>
                  <a:tcPr marL="6350" marR="6350" marT="6350" marB="0" anchor="ctr"/>
                </a:tc>
                <a:tc hMerge="1">
                  <a:txBody>
                    <a:bodyPr/>
                    <a:lstStyle/>
                    <a:p>
                      <a:endParaRPr lang="en-US"/>
                    </a:p>
                  </a:txBody>
                  <a:tcPr/>
                </a:tc>
                <a:extLst>
                  <a:ext uri="{0D108BD9-81ED-4DB2-BD59-A6C34878D82A}">
                    <a16:rowId xmlns:a16="http://schemas.microsoft.com/office/drawing/2014/main" val="2003560248"/>
                  </a:ext>
                </a:extLst>
              </a:tr>
              <a:tr h="268130">
                <a:tc vMerge="1">
                  <a:txBody>
                    <a:bodyPr/>
                    <a:lstStyle/>
                    <a:p>
                      <a:endParaRPr lang="en-US"/>
                    </a:p>
                  </a:txBody>
                  <a:tcPr/>
                </a:tc>
                <a:tc>
                  <a:txBody>
                    <a:bodyPr/>
                    <a:lstStyle/>
                    <a:p>
                      <a:pPr algn="ctr" fontAlgn="b"/>
                      <a:r>
                        <a:rPr lang="en-US" sz="1400" u="none" strike="noStrike" dirty="0">
                          <a:effectLst/>
                        </a:rPr>
                        <a:t>B</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dirty="0">
                          <a:effectLst/>
                        </a:rPr>
                        <a:t>Std. Error</a:t>
                      </a:r>
                      <a:endParaRPr lang="en-US" sz="1400" b="0" i="0" u="none" strike="noStrike" dirty="0">
                        <a:solidFill>
                          <a:srgbClr val="000000"/>
                        </a:solidFill>
                        <a:effectLst/>
                        <a:latin typeface="Arial" panose="020B0604020202020204" pitchFamily="34" charset="0"/>
                      </a:endParaRPr>
                    </a:p>
                  </a:txBody>
                  <a:tcPr marL="6350" marR="6350" marT="6350" marB="0" anchor="ctr"/>
                </a:tc>
                <a:tc vMerge="1">
                  <a:txBody>
                    <a:bodyPr/>
                    <a:lstStyle/>
                    <a:p>
                      <a:endParaRPr lang="en-US"/>
                    </a:p>
                  </a:txBody>
                  <a:tcPr/>
                </a:tc>
                <a:tc vMerge="1">
                  <a:txBody>
                    <a:bodyPr/>
                    <a:lstStyle/>
                    <a:p>
                      <a:endParaRPr lang="en-US"/>
                    </a:p>
                  </a:txBody>
                  <a:tcPr/>
                </a:tc>
                <a:tc>
                  <a:txBody>
                    <a:bodyPr/>
                    <a:lstStyle/>
                    <a:p>
                      <a:pPr algn="ctr" fontAlgn="b"/>
                      <a:r>
                        <a:rPr lang="en-US" sz="1400" u="none" strike="noStrike">
                          <a:effectLst/>
                        </a:rPr>
                        <a:t>Zero-order</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a:effectLst/>
                        </a:rPr>
                        <a:t>Partial</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a:effectLst/>
                        </a:rPr>
                        <a:t>Part</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a:effectLst/>
                        </a:rPr>
                        <a:t>Tolerance</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dirty="0">
                          <a:solidFill>
                            <a:srgbClr val="FF0000"/>
                          </a:solidFill>
                          <a:effectLst/>
                        </a:rPr>
                        <a:t>VIF</a:t>
                      </a:r>
                      <a:endParaRPr lang="en-US" sz="1400" b="0" i="0" u="none" strike="noStrike" dirty="0">
                        <a:solidFill>
                          <a:srgbClr val="FF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717103322"/>
                  </a:ext>
                </a:extLst>
              </a:tr>
              <a:tr h="268130">
                <a:tc>
                  <a:txBody>
                    <a:bodyPr/>
                    <a:lstStyle/>
                    <a:p>
                      <a:pPr algn="ctr" fontAlgn="t"/>
                      <a:r>
                        <a:rPr lang="en-US" sz="1400" u="none" strike="noStrike" dirty="0">
                          <a:effectLst/>
                        </a:rPr>
                        <a:t>(Constant)</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251.765</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942.077</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.267</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.792</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 </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 </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solidFill>
                            <a:srgbClr val="FF0000"/>
                          </a:solidFill>
                          <a:effectLst/>
                        </a:rPr>
                        <a:t> </a:t>
                      </a:r>
                      <a:endParaRPr lang="en-US" sz="1400" b="0" i="0" u="none" strike="noStrike" dirty="0">
                        <a:solidFill>
                          <a:srgbClr val="FF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1652966662"/>
                  </a:ext>
                </a:extLst>
              </a:tr>
              <a:tr h="356474">
                <a:tc>
                  <a:txBody>
                    <a:bodyPr/>
                    <a:lstStyle/>
                    <a:p>
                      <a:pPr algn="ctr" fontAlgn="t"/>
                      <a:r>
                        <a:rPr lang="en-US" sz="1400" u="none" strike="noStrike" dirty="0">
                          <a:effectLst/>
                        </a:rPr>
                        <a:t>MATERIAL</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1.434</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.151</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9.514</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.000</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.990</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.918</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.251</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.112</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solidFill>
                            <a:srgbClr val="FF0000"/>
                          </a:solidFill>
                          <a:effectLst/>
                        </a:rPr>
                        <a:t>8.944</a:t>
                      </a:r>
                      <a:endParaRPr lang="en-US" sz="1400" b="0" i="0" u="none" strike="noStrike" dirty="0">
                        <a:solidFill>
                          <a:srgbClr val="FF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2620473707"/>
                  </a:ext>
                </a:extLst>
              </a:tr>
              <a:tr h="268130">
                <a:tc>
                  <a:txBody>
                    <a:bodyPr/>
                    <a:lstStyle/>
                    <a:p>
                      <a:pPr algn="ctr" fontAlgn="t"/>
                      <a:r>
                        <a:rPr lang="en-US" sz="1400" u="none" strike="noStrike" dirty="0">
                          <a:effectLst/>
                        </a:rPr>
                        <a:t>T2</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46.519</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14.374</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3.236</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.005</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.962</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.617</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.085</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.112</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solidFill>
                            <a:srgbClr val="FF0000"/>
                          </a:solidFill>
                          <a:effectLst/>
                        </a:rPr>
                        <a:t>8.944</a:t>
                      </a:r>
                      <a:endParaRPr lang="en-US" sz="1400" b="0" i="0" u="none" strike="noStrike" dirty="0">
                        <a:solidFill>
                          <a:srgbClr val="FF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3214009034"/>
                  </a:ext>
                </a:extLst>
              </a:tr>
              <a:tr h="268130">
                <a:tc gridSpan="10">
                  <a:txBody>
                    <a:bodyPr/>
                    <a:lstStyle/>
                    <a:p>
                      <a:pPr algn="ctr" fontAlgn="t"/>
                      <a:r>
                        <a:rPr lang="en-US" sz="1400" u="none" strike="noStrike" dirty="0">
                          <a:effectLst/>
                        </a:rPr>
                        <a:t>a. Dependent Variable: SALES</a:t>
                      </a:r>
                      <a:endParaRPr lang="en-US" sz="1400" b="0" i="0" u="none" strike="noStrike" dirty="0">
                        <a:solidFill>
                          <a:srgbClr val="000000"/>
                        </a:solidFill>
                        <a:effectLst/>
                        <a:latin typeface="Arial" panose="020B06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14712428"/>
                  </a:ext>
                </a:extLst>
              </a:tr>
            </a:tbl>
          </a:graphicData>
        </a:graphic>
      </p:graphicFrame>
      <p:sp>
        <p:nvSpPr>
          <p:cNvPr id="6" name="TextBox 5">
            <a:extLst>
              <a:ext uri="{FF2B5EF4-FFF2-40B4-BE49-F238E27FC236}">
                <a16:creationId xmlns:a16="http://schemas.microsoft.com/office/drawing/2014/main" id="{D0DB8950-44F8-4886-B1A2-AC29844D91E8}"/>
              </a:ext>
            </a:extLst>
          </p:cNvPr>
          <p:cNvSpPr txBox="1"/>
          <p:nvPr/>
        </p:nvSpPr>
        <p:spPr>
          <a:xfrm>
            <a:off x="1092258" y="3886200"/>
            <a:ext cx="5867400" cy="400110"/>
          </a:xfrm>
          <a:prstGeom prst="rect">
            <a:avLst/>
          </a:prstGeom>
          <a:noFill/>
        </p:spPr>
        <p:txBody>
          <a:bodyPr wrap="square" rtlCol="0">
            <a:spAutoFit/>
          </a:bodyPr>
          <a:lstStyle/>
          <a:p>
            <a:r>
              <a:rPr lang="en-US" sz="2000" dirty="0"/>
              <a:t>After Log Transformation</a:t>
            </a:r>
          </a:p>
        </p:txBody>
      </p:sp>
      <p:graphicFrame>
        <p:nvGraphicFramePr>
          <p:cNvPr id="7" name="Table 6">
            <a:extLst>
              <a:ext uri="{FF2B5EF4-FFF2-40B4-BE49-F238E27FC236}">
                <a16:creationId xmlns:a16="http://schemas.microsoft.com/office/drawing/2014/main" id="{72F0755F-6B20-41BB-8FAE-612EB2BD0F5B}"/>
              </a:ext>
            </a:extLst>
          </p:cNvPr>
          <p:cNvGraphicFramePr>
            <a:graphicFrameLocks noGrp="1"/>
          </p:cNvGraphicFramePr>
          <p:nvPr/>
        </p:nvGraphicFramePr>
        <p:xfrm>
          <a:off x="356346" y="4495800"/>
          <a:ext cx="8077201" cy="2052319"/>
        </p:xfrm>
        <a:graphic>
          <a:graphicData uri="http://schemas.openxmlformats.org/drawingml/2006/table">
            <a:tbl>
              <a:tblPr>
                <a:tableStyleId>{5C22544A-7EE6-4342-B048-85BDC9FD1C3A}</a:tableStyleId>
              </a:tblPr>
              <a:tblGrid>
                <a:gridCol w="853684">
                  <a:extLst>
                    <a:ext uri="{9D8B030D-6E8A-4147-A177-3AD203B41FA5}">
                      <a16:colId xmlns:a16="http://schemas.microsoft.com/office/drawing/2014/main" val="1542118546"/>
                    </a:ext>
                  </a:extLst>
                </a:gridCol>
                <a:gridCol w="802613">
                  <a:extLst>
                    <a:ext uri="{9D8B030D-6E8A-4147-A177-3AD203B41FA5}">
                      <a16:colId xmlns:a16="http://schemas.microsoft.com/office/drawing/2014/main" val="1658748593"/>
                    </a:ext>
                  </a:extLst>
                </a:gridCol>
                <a:gridCol w="802613">
                  <a:extLst>
                    <a:ext uri="{9D8B030D-6E8A-4147-A177-3AD203B41FA5}">
                      <a16:colId xmlns:a16="http://schemas.microsoft.com/office/drawing/2014/main" val="3351061204"/>
                    </a:ext>
                  </a:extLst>
                </a:gridCol>
                <a:gridCol w="802613">
                  <a:extLst>
                    <a:ext uri="{9D8B030D-6E8A-4147-A177-3AD203B41FA5}">
                      <a16:colId xmlns:a16="http://schemas.microsoft.com/office/drawing/2014/main" val="1747967753"/>
                    </a:ext>
                  </a:extLst>
                </a:gridCol>
                <a:gridCol w="802613">
                  <a:extLst>
                    <a:ext uri="{9D8B030D-6E8A-4147-A177-3AD203B41FA5}">
                      <a16:colId xmlns:a16="http://schemas.microsoft.com/office/drawing/2014/main" val="4143168754"/>
                    </a:ext>
                  </a:extLst>
                </a:gridCol>
                <a:gridCol w="983433">
                  <a:extLst>
                    <a:ext uri="{9D8B030D-6E8A-4147-A177-3AD203B41FA5}">
                      <a16:colId xmlns:a16="http://schemas.microsoft.com/office/drawing/2014/main" val="1256911199"/>
                    </a:ext>
                  </a:extLst>
                </a:gridCol>
                <a:gridCol w="621793">
                  <a:extLst>
                    <a:ext uri="{9D8B030D-6E8A-4147-A177-3AD203B41FA5}">
                      <a16:colId xmlns:a16="http://schemas.microsoft.com/office/drawing/2014/main" val="862188139"/>
                    </a:ext>
                  </a:extLst>
                </a:gridCol>
                <a:gridCol w="802613">
                  <a:extLst>
                    <a:ext uri="{9D8B030D-6E8A-4147-A177-3AD203B41FA5}">
                      <a16:colId xmlns:a16="http://schemas.microsoft.com/office/drawing/2014/main" val="1980603560"/>
                    </a:ext>
                  </a:extLst>
                </a:gridCol>
                <a:gridCol w="802613">
                  <a:extLst>
                    <a:ext uri="{9D8B030D-6E8A-4147-A177-3AD203B41FA5}">
                      <a16:colId xmlns:a16="http://schemas.microsoft.com/office/drawing/2014/main" val="1802627499"/>
                    </a:ext>
                  </a:extLst>
                </a:gridCol>
                <a:gridCol w="802613">
                  <a:extLst>
                    <a:ext uri="{9D8B030D-6E8A-4147-A177-3AD203B41FA5}">
                      <a16:colId xmlns:a16="http://schemas.microsoft.com/office/drawing/2014/main" val="3537015647"/>
                    </a:ext>
                  </a:extLst>
                </a:gridCol>
              </a:tblGrid>
              <a:tr h="247250">
                <a:tc gridSpan="10">
                  <a:txBody>
                    <a:bodyPr/>
                    <a:lstStyle/>
                    <a:p>
                      <a:pPr algn="ctr" fontAlgn="ctr"/>
                      <a:r>
                        <a:rPr lang="en-US" sz="1400" u="none" strike="noStrike" dirty="0" err="1">
                          <a:effectLst/>
                        </a:rPr>
                        <a:t>Coefficients</a:t>
                      </a:r>
                      <a:r>
                        <a:rPr lang="en-US" sz="1400" u="none" strike="noStrike" baseline="30000" dirty="0" err="1">
                          <a:effectLst/>
                        </a:rPr>
                        <a:t>a</a:t>
                      </a:r>
                      <a:endParaRPr lang="en-US" sz="1400" b="1" i="0" u="none" strike="noStrike" dirty="0">
                        <a:solidFill>
                          <a:srgbClr val="000000"/>
                        </a:solidFill>
                        <a:effectLst/>
                        <a:latin typeface="Arial Bold" panose="020B07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76181451"/>
                  </a:ext>
                </a:extLst>
              </a:tr>
              <a:tr h="487355">
                <a:tc rowSpan="2">
                  <a:txBody>
                    <a:bodyPr/>
                    <a:lstStyle/>
                    <a:p>
                      <a:pPr algn="ctr" fontAlgn="b"/>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6350" marR="6350" marT="6350" marB="0" anchor="ctr"/>
                </a:tc>
                <a:tc gridSpan="2">
                  <a:txBody>
                    <a:bodyPr/>
                    <a:lstStyle/>
                    <a:p>
                      <a:pPr algn="ctr" fontAlgn="b"/>
                      <a:r>
                        <a:rPr lang="en-US" sz="1400" u="none" strike="noStrike">
                          <a:effectLst/>
                        </a:rPr>
                        <a:t>Unstandardized Coefficients</a:t>
                      </a:r>
                      <a:endParaRPr lang="en-US" sz="1400" b="0" i="0" u="none" strike="noStrike">
                        <a:solidFill>
                          <a:srgbClr val="000000"/>
                        </a:solidFill>
                        <a:effectLst/>
                        <a:latin typeface="Arial" panose="020B0604020202020204" pitchFamily="34" charset="0"/>
                      </a:endParaRPr>
                    </a:p>
                  </a:txBody>
                  <a:tcPr marL="6350" marR="6350" marT="6350" marB="0" anchor="ctr"/>
                </a:tc>
                <a:tc hMerge="1">
                  <a:txBody>
                    <a:bodyPr/>
                    <a:lstStyle/>
                    <a:p>
                      <a:endParaRPr lang="en-US"/>
                    </a:p>
                  </a:txBody>
                  <a:tcPr/>
                </a:tc>
                <a:tc rowSpan="2">
                  <a:txBody>
                    <a:bodyPr/>
                    <a:lstStyle/>
                    <a:p>
                      <a:pPr algn="ctr" fontAlgn="b"/>
                      <a:r>
                        <a:rPr lang="en-US" sz="1400" u="none" strike="noStrike">
                          <a:effectLst/>
                        </a:rPr>
                        <a:t>t</a:t>
                      </a:r>
                      <a:endParaRPr lang="en-US" sz="1400" b="0" i="0" u="none" strike="noStrike">
                        <a:solidFill>
                          <a:srgbClr val="000000"/>
                        </a:solidFill>
                        <a:effectLst/>
                        <a:latin typeface="Arial" panose="020B0604020202020204" pitchFamily="34" charset="0"/>
                      </a:endParaRPr>
                    </a:p>
                  </a:txBody>
                  <a:tcPr marL="6350" marR="6350" marT="6350" marB="0" anchor="ctr"/>
                </a:tc>
                <a:tc rowSpan="2">
                  <a:txBody>
                    <a:bodyPr/>
                    <a:lstStyle/>
                    <a:p>
                      <a:pPr algn="ctr" fontAlgn="b"/>
                      <a:r>
                        <a:rPr lang="en-US" sz="1400" u="none" strike="noStrike">
                          <a:effectLst/>
                        </a:rPr>
                        <a:t>Sig.</a:t>
                      </a:r>
                      <a:endParaRPr lang="en-US" sz="1400" b="0" i="0" u="none" strike="noStrike">
                        <a:solidFill>
                          <a:srgbClr val="000000"/>
                        </a:solidFill>
                        <a:effectLst/>
                        <a:latin typeface="Arial" panose="020B0604020202020204" pitchFamily="34" charset="0"/>
                      </a:endParaRPr>
                    </a:p>
                  </a:txBody>
                  <a:tcPr marL="6350" marR="6350" marT="6350" marB="0" anchor="ctr"/>
                </a:tc>
                <a:tc gridSpan="3">
                  <a:txBody>
                    <a:bodyPr/>
                    <a:lstStyle/>
                    <a:p>
                      <a:pPr algn="ctr" fontAlgn="b"/>
                      <a:r>
                        <a:rPr lang="en-US" sz="1400" u="none" strike="noStrike">
                          <a:effectLst/>
                        </a:rPr>
                        <a:t>Correlations</a:t>
                      </a:r>
                      <a:endParaRPr lang="en-US" sz="1400" b="0" i="0" u="none" strike="noStrike">
                        <a:solidFill>
                          <a:srgbClr val="000000"/>
                        </a:solidFill>
                        <a:effectLst/>
                        <a:latin typeface="Arial" panose="020B06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tc gridSpan="2">
                  <a:txBody>
                    <a:bodyPr/>
                    <a:lstStyle/>
                    <a:p>
                      <a:pPr algn="ctr" fontAlgn="b"/>
                      <a:r>
                        <a:rPr lang="en-US" sz="1400" u="none" strike="noStrike">
                          <a:effectLst/>
                        </a:rPr>
                        <a:t>Collinearity Statistics</a:t>
                      </a:r>
                      <a:endParaRPr lang="en-US" sz="1400" b="0" i="0" u="none" strike="noStrike">
                        <a:solidFill>
                          <a:srgbClr val="000000"/>
                        </a:solidFill>
                        <a:effectLst/>
                        <a:latin typeface="Arial" panose="020B0604020202020204" pitchFamily="34" charset="0"/>
                      </a:endParaRPr>
                    </a:p>
                  </a:txBody>
                  <a:tcPr marL="6350" marR="6350" marT="6350" marB="0" anchor="ctr"/>
                </a:tc>
                <a:tc hMerge="1">
                  <a:txBody>
                    <a:bodyPr/>
                    <a:lstStyle/>
                    <a:p>
                      <a:endParaRPr lang="en-US"/>
                    </a:p>
                  </a:txBody>
                  <a:tcPr/>
                </a:tc>
                <a:extLst>
                  <a:ext uri="{0D108BD9-81ED-4DB2-BD59-A6C34878D82A}">
                    <a16:rowId xmlns:a16="http://schemas.microsoft.com/office/drawing/2014/main" val="1493094410"/>
                  </a:ext>
                </a:extLst>
              </a:tr>
              <a:tr h="247250">
                <a:tc vMerge="1">
                  <a:txBody>
                    <a:bodyPr/>
                    <a:lstStyle/>
                    <a:p>
                      <a:endParaRPr lang="en-US"/>
                    </a:p>
                  </a:txBody>
                  <a:tcPr/>
                </a:tc>
                <a:tc>
                  <a:txBody>
                    <a:bodyPr/>
                    <a:lstStyle/>
                    <a:p>
                      <a:pPr algn="ctr" fontAlgn="b"/>
                      <a:r>
                        <a:rPr lang="en-US" sz="1400" u="none" strike="noStrike" dirty="0">
                          <a:effectLst/>
                        </a:rPr>
                        <a:t>B</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a:effectLst/>
                        </a:rPr>
                        <a:t>Std. Error</a:t>
                      </a:r>
                      <a:endParaRPr lang="en-US" sz="1400" b="0" i="0" u="none" strike="noStrike">
                        <a:solidFill>
                          <a:srgbClr val="000000"/>
                        </a:solidFill>
                        <a:effectLst/>
                        <a:latin typeface="Arial" panose="020B0604020202020204" pitchFamily="34" charset="0"/>
                      </a:endParaRPr>
                    </a:p>
                  </a:txBody>
                  <a:tcPr marL="6350" marR="6350" marT="6350" marB="0" anchor="ctr"/>
                </a:tc>
                <a:tc vMerge="1">
                  <a:txBody>
                    <a:bodyPr/>
                    <a:lstStyle/>
                    <a:p>
                      <a:endParaRPr lang="en-US"/>
                    </a:p>
                  </a:txBody>
                  <a:tcPr/>
                </a:tc>
                <a:tc vMerge="1">
                  <a:txBody>
                    <a:bodyPr/>
                    <a:lstStyle/>
                    <a:p>
                      <a:endParaRPr lang="en-US"/>
                    </a:p>
                  </a:txBody>
                  <a:tcPr/>
                </a:tc>
                <a:tc>
                  <a:txBody>
                    <a:bodyPr/>
                    <a:lstStyle/>
                    <a:p>
                      <a:pPr algn="ctr" fontAlgn="b"/>
                      <a:r>
                        <a:rPr lang="en-US" sz="1400" u="none" strike="noStrike">
                          <a:effectLst/>
                        </a:rPr>
                        <a:t>Zero-order</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a:effectLst/>
                        </a:rPr>
                        <a:t>Partial</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a:effectLst/>
                        </a:rPr>
                        <a:t>Part</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a:effectLst/>
                        </a:rPr>
                        <a:t>Tolerance</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dirty="0">
                          <a:solidFill>
                            <a:srgbClr val="FF0000"/>
                          </a:solidFill>
                          <a:effectLst/>
                        </a:rPr>
                        <a:t>VIF</a:t>
                      </a:r>
                      <a:endParaRPr lang="en-US" sz="1400" b="0" i="0" u="none" strike="noStrike" dirty="0">
                        <a:solidFill>
                          <a:srgbClr val="FF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2111987587"/>
                  </a:ext>
                </a:extLst>
              </a:tr>
              <a:tr h="247250">
                <a:tc>
                  <a:txBody>
                    <a:bodyPr/>
                    <a:lstStyle/>
                    <a:p>
                      <a:pPr algn="ctr" fontAlgn="t"/>
                      <a:r>
                        <a:rPr lang="en-US" sz="1400" u="none" strike="noStrike" dirty="0">
                          <a:effectLst/>
                        </a:rPr>
                        <a:t>(Constant)</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1.710</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.321</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5.319</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.000</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 </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 </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 </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 </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solidFill>
                            <a:srgbClr val="FF0000"/>
                          </a:solidFill>
                          <a:effectLst/>
                        </a:rPr>
                        <a:t> </a:t>
                      </a:r>
                      <a:endParaRPr lang="en-US" sz="1400" b="0" i="0" u="none" strike="noStrike" dirty="0">
                        <a:solidFill>
                          <a:srgbClr val="FF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1608646022"/>
                  </a:ext>
                </a:extLst>
              </a:tr>
              <a:tr h="328714">
                <a:tc>
                  <a:txBody>
                    <a:bodyPr/>
                    <a:lstStyle/>
                    <a:p>
                      <a:pPr algn="ctr" fontAlgn="t"/>
                      <a:r>
                        <a:rPr lang="en-US" sz="1400" u="none" strike="noStrike" dirty="0" err="1">
                          <a:effectLst/>
                        </a:rPr>
                        <a:t>LnMat</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.862</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.048</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18.144</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.000</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.992</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.975</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.488</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.294</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solidFill>
                            <a:srgbClr val="FF0000"/>
                          </a:solidFill>
                          <a:effectLst/>
                        </a:rPr>
                        <a:t>3.401</a:t>
                      </a:r>
                      <a:endParaRPr lang="en-US" sz="1400" b="0" i="0" u="none" strike="noStrike" dirty="0">
                        <a:solidFill>
                          <a:srgbClr val="FF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3018073260"/>
                  </a:ext>
                </a:extLst>
              </a:tr>
              <a:tr h="247250">
                <a:tc>
                  <a:txBody>
                    <a:bodyPr/>
                    <a:lstStyle/>
                    <a:p>
                      <a:pPr algn="ctr" fontAlgn="t"/>
                      <a:r>
                        <a:rPr lang="en-US" sz="1400" u="none" strike="noStrike" dirty="0">
                          <a:effectLst/>
                        </a:rPr>
                        <a:t>LnT2</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.066</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.030</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2.194</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.042</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.866</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.470</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.059</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.294</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solidFill>
                            <a:srgbClr val="FF0000"/>
                          </a:solidFill>
                          <a:effectLst/>
                        </a:rPr>
                        <a:t>3.401</a:t>
                      </a:r>
                      <a:endParaRPr lang="en-US" sz="1400" b="0" i="0" u="none" strike="noStrike" dirty="0">
                        <a:solidFill>
                          <a:srgbClr val="FF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810160966"/>
                  </a:ext>
                </a:extLst>
              </a:tr>
              <a:tr h="247250">
                <a:tc gridSpan="10">
                  <a:txBody>
                    <a:bodyPr/>
                    <a:lstStyle/>
                    <a:p>
                      <a:pPr algn="ctr" fontAlgn="t"/>
                      <a:r>
                        <a:rPr lang="en-US" sz="1400" u="none" strike="noStrike" dirty="0">
                          <a:effectLst/>
                        </a:rPr>
                        <a:t>a. Dependent Variable: </a:t>
                      </a:r>
                      <a:r>
                        <a:rPr lang="en-US" sz="1400" u="none" strike="noStrike" dirty="0" err="1">
                          <a:effectLst/>
                        </a:rPr>
                        <a:t>LnSales</a:t>
                      </a:r>
                      <a:endParaRPr lang="en-US" sz="1400" b="0" i="0" u="none" strike="noStrike" dirty="0">
                        <a:solidFill>
                          <a:srgbClr val="000000"/>
                        </a:solidFill>
                        <a:effectLst/>
                        <a:latin typeface="Arial" panose="020B06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36349331"/>
                  </a:ext>
                </a:extLst>
              </a:tr>
            </a:tbl>
          </a:graphicData>
        </a:graphic>
      </p:graphicFrame>
    </p:spTree>
    <p:extLst>
      <p:ext uri="{BB962C8B-B14F-4D97-AF65-F5344CB8AC3E}">
        <p14:creationId xmlns:p14="http://schemas.microsoft.com/office/powerpoint/2010/main" val="14706650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002E5-E8E1-4504-8132-F95904237599}"/>
              </a:ext>
            </a:extLst>
          </p:cNvPr>
          <p:cNvSpPr>
            <a:spLocks noGrp="1"/>
          </p:cNvSpPr>
          <p:nvPr>
            <p:ph type="title"/>
          </p:nvPr>
        </p:nvSpPr>
        <p:spPr>
          <a:xfrm>
            <a:off x="602875" y="258569"/>
            <a:ext cx="6347713" cy="1320800"/>
          </a:xfrm>
        </p:spPr>
        <p:txBody>
          <a:bodyPr/>
          <a:lstStyle/>
          <a:p>
            <a:r>
              <a:rPr lang="en-US" dirty="0"/>
              <a:t>Log Transformations</a:t>
            </a:r>
          </a:p>
        </p:txBody>
      </p:sp>
      <p:graphicFrame>
        <p:nvGraphicFramePr>
          <p:cNvPr id="4" name="Content Placeholder 3">
            <a:extLst>
              <a:ext uri="{FF2B5EF4-FFF2-40B4-BE49-F238E27FC236}">
                <a16:creationId xmlns:a16="http://schemas.microsoft.com/office/drawing/2014/main" id="{579F6227-1C8B-4BE8-83B8-3EFB8F09F2E1}"/>
              </a:ext>
            </a:extLst>
          </p:cNvPr>
          <p:cNvGraphicFramePr>
            <a:graphicFrameLocks noGrp="1"/>
          </p:cNvGraphicFramePr>
          <p:nvPr>
            <p:ph idx="1"/>
          </p:nvPr>
        </p:nvGraphicFramePr>
        <p:xfrm>
          <a:off x="244988" y="1096328"/>
          <a:ext cx="6232014" cy="2499373"/>
        </p:xfrm>
        <a:graphic>
          <a:graphicData uri="http://schemas.openxmlformats.org/drawingml/2006/table">
            <a:tbl>
              <a:tblPr>
                <a:tableStyleId>{5C22544A-7EE6-4342-B048-85BDC9FD1C3A}</a:tableStyleId>
              </a:tblPr>
              <a:tblGrid>
                <a:gridCol w="1038669">
                  <a:extLst>
                    <a:ext uri="{9D8B030D-6E8A-4147-A177-3AD203B41FA5}">
                      <a16:colId xmlns:a16="http://schemas.microsoft.com/office/drawing/2014/main" val="4129378429"/>
                    </a:ext>
                  </a:extLst>
                </a:gridCol>
                <a:gridCol w="1038669">
                  <a:extLst>
                    <a:ext uri="{9D8B030D-6E8A-4147-A177-3AD203B41FA5}">
                      <a16:colId xmlns:a16="http://schemas.microsoft.com/office/drawing/2014/main" val="3278794556"/>
                    </a:ext>
                  </a:extLst>
                </a:gridCol>
                <a:gridCol w="1038669">
                  <a:extLst>
                    <a:ext uri="{9D8B030D-6E8A-4147-A177-3AD203B41FA5}">
                      <a16:colId xmlns:a16="http://schemas.microsoft.com/office/drawing/2014/main" val="864585014"/>
                    </a:ext>
                  </a:extLst>
                </a:gridCol>
                <a:gridCol w="1038669">
                  <a:extLst>
                    <a:ext uri="{9D8B030D-6E8A-4147-A177-3AD203B41FA5}">
                      <a16:colId xmlns:a16="http://schemas.microsoft.com/office/drawing/2014/main" val="471485810"/>
                    </a:ext>
                  </a:extLst>
                </a:gridCol>
                <a:gridCol w="1038669">
                  <a:extLst>
                    <a:ext uri="{9D8B030D-6E8A-4147-A177-3AD203B41FA5}">
                      <a16:colId xmlns:a16="http://schemas.microsoft.com/office/drawing/2014/main" val="2262401578"/>
                    </a:ext>
                  </a:extLst>
                </a:gridCol>
                <a:gridCol w="1038669">
                  <a:extLst>
                    <a:ext uri="{9D8B030D-6E8A-4147-A177-3AD203B41FA5}">
                      <a16:colId xmlns:a16="http://schemas.microsoft.com/office/drawing/2014/main" val="4075754369"/>
                    </a:ext>
                  </a:extLst>
                </a:gridCol>
              </a:tblGrid>
              <a:tr h="280742">
                <a:tc gridSpan="6">
                  <a:txBody>
                    <a:bodyPr/>
                    <a:lstStyle/>
                    <a:p>
                      <a:pPr algn="ctr" fontAlgn="ctr"/>
                      <a:r>
                        <a:rPr lang="en-US" sz="1400" u="none" strike="noStrike" dirty="0" err="1">
                          <a:effectLst/>
                        </a:rPr>
                        <a:t>Coefficients</a:t>
                      </a:r>
                      <a:r>
                        <a:rPr lang="en-US" sz="1400" u="none" strike="noStrike" baseline="30000" dirty="0" err="1">
                          <a:effectLst/>
                        </a:rPr>
                        <a:t>a</a:t>
                      </a:r>
                      <a:endParaRPr lang="en-US" sz="1400" b="1" i="0" u="none" strike="noStrike" dirty="0">
                        <a:solidFill>
                          <a:srgbClr val="000000"/>
                        </a:solidFill>
                        <a:effectLst/>
                        <a:latin typeface="Arial Bold" panose="020B07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82840091"/>
                  </a:ext>
                </a:extLst>
              </a:tr>
              <a:tr h="749417">
                <a:tc rowSpan="2">
                  <a:txBody>
                    <a:bodyPr/>
                    <a:lstStyle/>
                    <a:p>
                      <a:pPr algn="l" fontAlgn="b"/>
                      <a:r>
                        <a:rPr lang="en-US" sz="1400" u="none" strike="noStrike">
                          <a:effectLst/>
                        </a:rPr>
                        <a:t> </a:t>
                      </a:r>
                      <a:endParaRPr lang="en-US" sz="1400" b="0" i="0" u="none" strike="noStrike">
                        <a:solidFill>
                          <a:srgbClr val="000000"/>
                        </a:solidFill>
                        <a:effectLst/>
                        <a:latin typeface="Arial" panose="020B0604020202020204" pitchFamily="34" charset="0"/>
                      </a:endParaRPr>
                    </a:p>
                  </a:txBody>
                  <a:tcPr marL="6350" marR="6350" marT="6350" marB="0" anchor="ctr"/>
                </a:tc>
                <a:tc gridSpan="2">
                  <a:txBody>
                    <a:bodyPr/>
                    <a:lstStyle/>
                    <a:p>
                      <a:pPr algn="ctr" fontAlgn="b"/>
                      <a:r>
                        <a:rPr lang="en-US" sz="1400" u="none" strike="noStrike" dirty="0">
                          <a:effectLst/>
                        </a:rPr>
                        <a:t>Unstandardized Coefficients</a:t>
                      </a:r>
                      <a:endParaRPr lang="en-US" sz="1400" b="0" i="0" u="none" strike="noStrike" dirty="0">
                        <a:solidFill>
                          <a:srgbClr val="000000"/>
                        </a:solidFill>
                        <a:effectLst/>
                        <a:latin typeface="Arial" panose="020B0604020202020204" pitchFamily="34" charset="0"/>
                      </a:endParaRPr>
                    </a:p>
                  </a:txBody>
                  <a:tcPr marL="6350" marR="6350" marT="6350" marB="0" anchor="ctr"/>
                </a:tc>
                <a:tc hMerge="1">
                  <a:txBody>
                    <a:bodyPr/>
                    <a:lstStyle/>
                    <a:p>
                      <a:endParaRPr lang="en-US"/>
                    </a:p>
                  </a:txBody>
                  <a:tcPr/>
                </a:tc>
                <a:tc>
                  <a:txBody>
                    <a:bodyPr/>
                    <a:lstStyle/>
                    <a:p>
                      <a:pPr algn="ctr" fontAlgn="b"/>
                      <a:r>
                        <a:rPr lang="en-US" sz="1400" u="none" strike="noStrike">
                          <a:effectLst/>
                        </a:rPr>
                        <a:t>Standardized Coefficients</a:t>
                      </a:r>
                      <a:endParaRPr lang="en-US" sz="1400" b="0" i="0" u="none" strike="noStrike">
                        <a:solidFill>
                          <a:srgbClr val="000000"/>
                        </a:solidFill>
                        <a:effectLst/>
                        <a:latin typeface="Arial" panose="020B0604020202020204" pitchFamily="34" charset="0"/>
                      </a:endParaRPr>
                    </a:p>
                  </a:txBody>
                  <a:tcPr marL="6350" marR="6350" marT="6350" marB="0" anchor="ctr"/>
                </a:tc>
                <a:tc rowSpan="2">
                  <a:txBody>
                    <a:bodyPr/>
                    <a:lstStyle/>
                    <a:p>
                      <a:pPr algn="ctr" fontAlgn="b"/>
                      <a:r>
                        <a:rPr lang="en-US" sz="1400" u="none" strike="noStrike">
                          <a:effectLst/>
                        </a:rPr>
                        <a:t>t</a:t>
                      </a:r>
                      <a:endParaRPr lang="en-US" sz="1400" b="0" i="0" u="none" strike="noStrike">
                        <a:solidFill>
                          <a:srgbClr val="000000"/>
                        </a:solidFill>
                        <a:effectLst/>
                        <a:latin typeface="Arial" panose="020B0604020202020204" pitchFamily="34" charset="0"/>
                      </a:endParaRPr>
                    </a:p>
                  </a:txBody>
                  <a:tcPr marL="6350" marR="6350" marT="6350" marB="0" anchor="ctr"/>
                </a:tc>
                <a:tc rowSpan="2">
                  <a:txBody>
                    <a:bodyPr/>
                    <a:lstStyle/>
                    <a:p>
                      <a:pPr algn="ctr" fontAlgn="b"/>
                      <a:r>
                        <a:rPr lang="en-US" sz="1400" u="none" strike="noStrike">
                          <a:effectLst/>
                        </a:rPr>
                        <a:t>Sig.</a:t>
                      </a:r>
                      <a:endParaRPr lang="en-US" sz="14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2971156697"/>
                  </a:ext>
                </a:extLst>
              </a:tr>
              <a:tr h="280742">
                <a:tc vMerge="1">
                  <a:txBody>
                    <a:bodyPr/>
                    <a:lstStyle/>
                    <a:p>
                      <a:endParaRPr lang="en-US"/>
                    </a:p>
                  </a:txBody>
                  <a:tcPr/>
                </a:tc>
                <a:tc>
                  <a:txBody>
                    <a:bodyPr/>
                    <a:lstStyle/>
                    <a:p>
                      <a:pPr algn="ctr" fontAlgn="b"/>
                      <a:r>
                        <a:rPr lang="en-US" sz="1400" u="none" strike="noStrike">
                          <a:effectLst/>
                        </a:rPr>
                        <a:t>B</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dirty="0">
                          <a:effectLst/>
                        </a:rPr>
                        <a:t>Std. Error</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b"/>
                      <a:r>
                        <a:rPr lang="en-US" sz="1400" u="none" strike="noStrike">
                          <a:effectLst/>
                        </a:rPr>
                        <a:t>Beta</a:t>
                      </a:r>
                      <a:endParaRPr lang="en-US" sz="1400" b="0" i="0" u="none" strike="noStrike">
                        <a:solidFill>
                          <a:srgbClr val="000000"/>
                        </a:solidFill>
                        <a:effectLst/>
                        <a:latin typeface="Arial" panose="020B0604020202020204" pitchFamily="34" charset="0"/>
                      </a:endParaRPr>
                    </a:p>
                  </a:txBody>
                  <a:tcPr marL="6350" marR="6350" marT="6350" marB="0" anchor="ct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856914282"/>
                  </a:ext>
                </a:extLst>
              </a:tr>
              <a:tr h="280742">
                <a:tc>
                  <a:txBody>
                    <a:bodyPr/>
                    <a:lstStyle/>
                    <a:p>
                      <a:pPr algn="l" fontAlgn="t"/>
                      <a:r>
                        <a:rPr lang="en-US" sz="1400" u="none" strike="noStrike">
                          <a:effectLst/>
                        </a:rPr>
                        <a:t>(Constant)</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-1.862</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.538</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 </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-3.458</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.003</a:t>
                      </a:r>
                      <a:endParaRPr lang="en-US" sz="14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2026540698"/>
                  </a:ext>
                </a:extLst>
              </a:tr>
              <a:tr h="271383">
                <a:tc>
                  <a:txBody>
                    <a:bodyPr/>
                    <a:lstStyle/>
                    <a:p>
                      <a:pPr algn="l" fontAlgn="t"/>
                      <a:r>
                        <a:rPr lang="en-US" sz="1400" u="none" strike="noStrike">
                          <a:effectLst/>
                        </a:rPr>
                        <a:t>LnSales</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2.356</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.333</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2.827</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7.078</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.000</a:t>
                      </a:r>
                      <a:endParaRPr lang="en-US" sz="14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2864477181"/>
                  </a:ext>
                </a:extLst>
              </a:tr>
              <a:tr h="280742">
                <a:tc>
                  <a:txBody>
                    <a:bodyPr/>
                    <a:lstStyle/>
                    <a:p>
                      <a:pPr algn="l" fontAlgn="t"/>
                      <a:r>
                        <a:rPr lang="en-US" sz="1400" u="none" strike="noStrike">
                          <a:effectLst/>
                        </a:rPr>
                        <a:t>LnMat</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-1.510</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.319</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-1.893</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a:effectLst/>
                        </a:rPr>
                        <a:t>-4.739</a:t>
                      </a:r>
                      <a:endParaRPr lang="en-US" sz="14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t"/>
                      <a:r>
                        <a:rPr lang="en-US" sz="1400" u="none" strike="noStrike" dirty="0">
                          <a:effectLst/>
                        </a:rPr>
                        <a:t>.000</a:t>
                      </a:r>
                      <a:endParaRPr lang="en-US" sz="14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2704077033"/>
                  </a:ext>
                </a:extLst>
              </a:tr>
              <a:tr h="355605">
                <a:tc gridSpan="6">
                  <a:txBody>
                    <a:bodyPr/>
                    <a:lstStyle/>
                    <a:p>
                      <a:pPr algn="ctr" fontAlgn="t"/>
                      <a:r>
                        <a:rPr lang="en-US" sz="1400" u="none" strike="noStrike" dirty="0">
                          <a:effectLst/>
                        </a:rPr>
                        <a:t>a. Dependent Variable: </a:t>
                      </a:r>
                      <a:r>
                        <a:rPr lang="en-US" sz="1400" u="none" strike="noStrike" dirty="0" err="1">
                          <a:effectLst/>
                        </a:rPr>
                        <a:t>LnPBT</a:t>
                      </a:r>
                      <a:endParaRPr lang="en-US" sz="1400" b="0" i="0" u="none" strike="noStrike" dirty="0">
                        <a:solidFill>
                          <a:srgbClr val="000000"/>
                        </a:solidFill>
                        <a:effectLst/>
                        <a:latin typeface="Arial" panose="020B0604020202020204" pitchFamily="34"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89849535"/>
                  </a:ext>
                </a:extLst>
              </a:tr>
            </a:tbl>
          </a:graphicData>
        </a:graphic>
      </p:graphicFrame>
      <p:graphicFrame>
        <p:nvGraphicFramePr>
          <p:cNvPr id="5" name="Table 4">
            <a:extLst>
              <a:ext uri="{FF2B5EF4-FFF2-40B4-BE49-F238E27FC236}">
                <a16:creationId xmlns:a16="http://schemas.microsoft.com/office/drawing/2014/main" id="{5B553820-3A51-48B6-A18F-D2D7D4F0F828}"/>
              </a:ext>
            </a:extLst>
          </p:cNvPr>
          <p:cNvGraphicFramePr>
            <a:graphicFrameLocks noGrp="1"/>
          </p:cNvGraphicFramePr>
          <p:nvPr/>
        </p:nvGraphicFramePr>
        <p:xfrm>
          <a:off x="6641458" y="1095461"/>
          <a:ext cx="2362200" cy="1113492"/>
        </p:xfrm>
        <a:graphic>
          <a:graphicData uri="http://schemas.openxmlformats.org/drawingml/2006/table">
            <a:tbl>
              <a:tblPr>
                <a:tableStyleId>{5C22544A-7EE6-4342-B048-85BDC9FD1C3A}</a:tableStyleId>
              </a:tblPr>
              <a:tblGrid>
                <a:gridCol w="787400">
                  <a:extLst>
                    <a:ext uri="{9D8B030D-6E8A-4147-A177-3AD203B41FA5}">
                      <a16:colId xmlns:a16="http://schemas.microsoft.com/office/drawing/2014/main" val="3270365398"/>
                    </a:ext>
                  </a:extLst>
                </a:gridCol>
                <a:gridCol w="787400">
                  <a:extLst>
                    <a:ext uri="{9D8B030D-6E8A-4147-A177-3AD203B41FA5}">
                      <a16:colId xmlns:a16="http://schemas.microsoft.com/office/drawing/2014/main" val="128272366"/>
                    </a:ext>
                  </a:extLst>
                </a:gridCol>
                <a:gridCol w="787400">
                  <a:extLst>
                    <a:ext uri="{9D8B030D-6E8A-4147-A177-3AD203B41FA5}">
                      <a16:colId xmlns:a16="http://schemas.microsoft.com/office/drawing/2014/main" val="590998000"/>
                    </a:ext>
                  </a:extLst>
                </a:gridCol>
              </a:tblGrid>
              <a:tr h="278373">
                <a:tc gridSpan="3">
                  <a:txBody>
                    <a:bodyPr/>
                    <a:lstStyle/>
                    <a:p>
                      <a:pPr algn="ctr" fontAlgn="t"/>
                      <a:r>
                        <a:rPr lang="en-US" sz="1400" u="none" strike="noStrike" dirty="0">
                          <a:effectLst/>
                        </a:rPr>
                        <a:t>Covariances</a:t>
                      </a:r>
                      <a:endParaRPr lang="en-US" sz="1400" b="0" i="0" u="none" strike="noStrike" dirty="0">
                        <a:solidFill>
                          <a:srgbClr val="000000"/>
                        </a:solidFill>
                        <a:effectLst/>
                        <a:latin typeface="Arial" panose="020B0604020202020204" pitchFamily="34" charset="0"/>
                      </a:endParaRPr>
                    </a:p>
                  </a:txBody>
                  <a:tcPr marL="6350" marR="6350" marT="635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97985656"/>
                  </a:ext>
                </a:extLst>
              </a:tr>
              <a:tr h="278373">
                <a:tc>
                  <a:txBody>
                    <a:bodyPr/>
                    <a:lstStyle/>
                    <a:p>
                      <a:pPr algn="ctr" fontAlgn="b"/>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6350" marR="6350" marT="6350" marB="0" anchor="b"/>
                </a:tc>
                <a:tc>
                  <a:txBody>
                    <a:bodyPr/>
                    <a:lstStyle/>
                    <a:p>
                      <a:pPr algn="ctr" fontAlgn="b"/>
                      <a:r>
                        <a:rPr lang="en-US" sz="1400" u="none" strike="noStrike" dirty="0" err="1">
                          <a:effectLst/>
                        </a:rPr>
                        <a:t>LnSales</a:t>
                      </a:r>
                      <a:endParaRPr lang="en-US" sz="1400" b="0" i="0" u="none" strike="noStrike" dirty="0">
                        <a:solidFill>
                          <a:srgbClr val="000000"/>
                        </a:solidFill>
                        <a:effectLst/>
                        <a:latin typeface="Arial" panose="020B0604020202020204" pitchFamily="34" charset="0"/>
                      </a:endParaRPr>
                    </a:p>
                  </a:txBody>
                  <a:tcPr marL="6350" marR="6350" marT="6350" marB="0" anchor="b"/>
                </a:tc>
                <a:tc>
                  <a:txBody>
                    <a:bodyPr/>
                    <a:lstStyle/>
                    <a:p>
                      <a:pPr algn="ctr" fontAlgn="b"/>
                      <a:r>
                        <a:rPr lang="en-US" sz="1400" u="none" strike="noStrike" dirty="0" err="1">
                          <a:effectLst/>
                        </a:rPr>
                        <a:t>LnMat</a:t>
                      </a:r>
                      <a:endParaRPr lang="en-US" sz="1400" b="0" i="0" u="none" strike="noStrike" dirty="0">
                        <a:solidFill>
                          <a:srgbClr val="000000"/>
                        </a:solidFill>
                        <a:effectLst/>
                        <a:latin typeface="Arial" panose="020B0604020202020204" pitchFamily="34" charset="0"/>
                      </a:endParaRPr>
                    </a:p>
                  </a:txBody>
                  <a:tcPr marL="6350" marR="6350" marT="6350" marB="0" anchor="b"/>
                </a:tc>
                <a:extLst>
                  <a:ext uri="{0D108BD9-81ED-4DB2-BD59-A6C34878D82A}">
                    <a16:rowId xmlns:a16="http://schemas.microsoft.com/office/drawing/2014/main" val="4112094039"/>
                  </a:ext>
                </a:extLst>
              </a:tr>
              <a:tr h="278373">
                <a:tc>
                  <a:txBody>
                    <a:bodyPr/>
                    <a:lstStyle/>
                    <a:p>
                      <a:pPr algn="ctr" fontAlgn="t"/>
                      <a:r>
                        <a:rPr lang="en-US" sz="1400" u="none" strike="noStrike">
                          <a:effectLst/>
                        </a:rPr>
                        <a:t>LnSales</a:t>
                      </a:r>
                      <a:endParaRPr lang="en-US" sz="14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1400" u="none" strike="noStrike" dirty="0">
                          <a:effectLst/>
                        </a:rPr>
                        <a:t>.169</a:t>
                      </a:r>
                      <a:endParaRPr lang="en-US" sz="1400" b="0" i="0" u="none" strike="noStrike" dirty="0">
                        <a:solidFill>
                          <a:srgbClr val="000000"/>
                        </a:solidFill>
                        <a:effectLst/>
                        <a:latin typeface="Arial" panose="020B0604020202020204" pitchFamily="34" charset="0"/>
                      </a:endParaRPr>
                    </a:p>
                  </a:txBody>
                  <a:tcPr marL="6350" marR="6350" marT="6350" marB="0"/>
                </a:tc>
                <a:tc>
                  <a:txBody>
                    <a:bodyPr/>
                    <a:lstStyle/>
                    <a:p>
                      <a:pPr algn="ctr" fontAlgn="t"/>
                      <a:r>
                        <a:rPr lang="en-US" sz="1400" u="none" strike="noStrike">
                          <a:effectLst/>
                        </a:rPr>
                        <a:t>-.139</a:t>
                      </a:r>
                      <a:endParaRPr lang="en-US" sz="1400" b="0" i="0" u="none" strike="noStrike">
                        <a:solidFill>
                          <a:srgbClr val="000000"/>
                        </a:solidFill>
                        <a:effectLst/>
                        <a:latin typeface="Arial" panose="020B0604020202020204" pitchFamily="34" charset="0"/>
                      </a:endParaRPr>
                    </a:p>
                  </a:txBody>
                  <a:tcPr marL="6350" marR="6350" marT="6350" marB="0"/>
                </a:tc>
                <a:extLst>
                  <a:ext uri="{0D108BD9-81ED-4DB2-BD59-A6C34878D82A}">
                    <a16:rowId xmlns:a16="http://schemas.microsoft.com/office/drawing/2014/main" val="3535784517"/>
                  </a:ext>
                </a:extLst>
              </a:tr>
              <a:tr h="278373">
                <a:tc>
                  <a:txBody>
                    <a:bodyPr/>
                    <a:lstStyle/>
                    <a:p>
                      <a:pPr algn="ctr" fontAlgn="t"/>
                      <a:r>
                        <a:rPr lang="en-US" sz="1400" u="none" strike="noStrike">
                          <a:effectLst/>
                        </a:rPr>
                        <a:t>LnMat</a:t>
                      </a:r>
                      <a:endParaRPr lang="en-US" sz="1400" b="0" i="0" u="none" strike="noStrike">
                        <a:solidFill>
                          <a:srgbClr val="000000"/>
                        </a:solidFill>
                        <a:effectLst/>
                        <a:latin typeface="Arial" panose="020B0604020202020204" pitchFamily="34" charset="0"/>
                      </a:endParaRPr>
                    </a:p>
                  </a:txBody>
                  <a:tcPr marL="6350" marR="6350" marT="6350" marB="0"/>
                </a:tc>
                <a:tc>
                  <a:txBody>
                    <a:bodyPr/>
                    <a:lstStyle/>
                    <a:p>
                      <a:pPr algn="ctr" fontAlgn="t"/>
                      <a:r>
                        <a:rPr lang="en-US" sz="1400" u="none" strike="noStrike" dirty="0">
                          <a:effectLst/>
                        </a:rPr>
                        <a:t>-.139</a:t>
                      </a:r>
                      <a:endParaRPr lang="en-US" sz="1400" b="0" i="0" u="none" strike="noStrike" dirty="0">
                        <a:solidFill>
                          <a:srgbClr val="000000"/>
                        </a:solidFill>
                        <a:effectLst/>
                        <a:latin typeface="Arial" panose="020B0604020202020204" pitchFamily="34" charset="0"/>
                      </a:endParaRPr>
                    </a:p>
                  </a:txBody>
                  <a:tcPr marL="6350" marR="6350" marT="6350" marB="0"/>
                </a:tc>
                <a:tc>
                  <a:txBody>
                    <a:bodyPr/>
                    <a:lstStyle/>
                    <a:p>
                      <a:pPr algn="ctr" fontAlgn="t"/>
                      <a:r>
                        <a:rPr lang="en-US" sz="1400" u="none" strike="noStrike" dirty="0">
                          <a:effectLst/>
                        </a:rPr>
                        <a:t>.117</a:t>
                      </a:r>
                      <a:endParaRPr lang="en-US" sz="1400" b="0" i="0" u="none" strike="noStrike" dirty="0">
                        <a:solidFill>
                          <a:srgbClr val="000000"/>
                        </a:solidFill>
                        <a:effectLst/>
                        <a:latin typeface="Arial" panose="020B0604020202020204" pitchFamily="34" charset="0"/>
                      </a:endParaRPr>
                    </a:p>
                  </a:txBody>
                  <a:tcPr marL="6350" marR="6350" marT="6350" marB="0"/>
                </a:tc>
                <a:extLst>
                  <a:ext uri="{0D108BD9-81ED-4DB2-BD59-A6C34878D82A}">
                    <a16:rowId xmlns:a16="http://schemas.microsoft.com/office/drawing/2014/main" val="3998193592"/>
                  </a:ext>
                </a:extLst>
              </a:tr>
            </a:tbl>
          </a:graphicData>
        </a:graphic>
      </p:graphicFrame>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A2B0C16-C103-42A3-812F-F24A8C13C830}"/>
                  </a:ext>
                </a:extLst>
              </p:cNvPr>
              <p:cNvSpPr txBox="1"/>
              <p:nvPr/>
            </p:nvSpPr>
            <p:spPr>
              <a:xfrm>
                <a:off x="602875" y="3810000"/>
                <a:ext cx="458715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2</m:t>
                          </m:r>
                        </m:sub>
                      </m:sSub>
                      <m:r>
                        <a:rPr lang="en-US" b="0" i="1" smtClean="0">
                          <a:latin typeface="Cambria Math" panose="02040503050406030204" pitchFamily="18" charset="0"/>
                        </a:rPr>
                        <m:t>=1 (</m:t>
                      </m:r>
                      <m:r>
                        <a:rPr lang="en-US" b="0" i="1" smtClean="0">
                          <a:latin typeface="Cambria Math" panose="02040503050406030204" pitchFamily="18" charset="0"/>
                        </a:rPr>
                        <m:t>𝐶𝑜𝑛𝑠𝑡𝑎𝑛𝑡</m:t>
                      </m:r>
                      <m:r>
                        <a:rPr lang="en-US" b="0" i="1" smtClean="0">
                          <a:latin typeface="Cambria Math" panose="02040503050406030204" pitchFamily="18" charset="0"/>
                        </a:rPr>
                        <m:t> </m:t>
                      </m:r>
                      <m:r>
                        <a:rPr lang="en-US" b="0" i="1" smtClean="0">
                          <a:latin typeface="Cambria Math" panose="02040503050406030204" pitchFamily="18" charset="0"/>
                        </a:rPr>
                        <m:t>𝑅𝑒𝑡𝑢𝑟𝑛𝑠</m:t>
                      </m:r>
                      <m:r>
                        <a:rPr lang="en-US" b="0" i="1" smtClean="0">
                          <a:latin typeface="Cambria Math" panose="02040503050406030204" pitchFamily="18" charset="0"/>
                        </a:rPr>
                        <m:t> </m:t>
                      </m:r>
                      <m:r>
                        <a:rPr lang="en-US" b="0" i="1" smtClean="0">
                          <a:latin typeface="Cambria Math" panose="02040503050406030204" pitchFamily="18" charset="0"/>
                        </a:rPr>
                        <m:t>𝑡𝑜</m:t>
                      </m:r>
                      <m:r>
                        <a:rPr lang="en-US" b="0" i="1" smtClean="0">
                          <a:latin typeface="Cambria Math" panose="02040503050406030204" pitchFamily="18" charset="0"/>
                        </a:rPr>
                        <m:t> </m:t>
                      </m:r>
                      <m:r>
                        <a:rPr lang="en-US" b="0" i="1" smtClean="0">
                          <a:latin typeface="Cambria Math" panose="02040503050406030204" pitchFamily="18" charset="0"/>
                        </a:rPr>
                        <m:t>𝑠𝑐𝑎𝑙𝑒</m:t>
                      </m:r>
                      <m:r>
                        <a:rPr lang="en-US" b="0" i="1" smtClean="0">
                          <a:latin typeface="Cambria Math" panose="02040503050406030204" pitchFamily="18" charset="0"/>
                        </a:rPr>
                        <m:t>)</m:t>
                      </m:r>
                    </m:oMath>
                  </m:oMathPara>
                </a14:m>
                <a:endParaRPr lang="en-US" dirty="0"/>
              </a:p>
            </p:txBody>
          </p:sp>
        </mc:Choice>
        <mc:Fallback xmlns="">
          <p:sp>
            <p:nvSpPr>
              <p:cNvPr id="6" name="TextBox 5">
                <a:extLst>
                  <a:ext uri="{FF2B5EF4-FFF2-40B4-BE49-F238E27FC236}">
                    <a16:creationId xmlns:a16="http://schemas.microsoft.com/office/drawing/2014/main" id="{8A2B0C16-C103-42A3-812F-F24A8C13C830}"/>
                  </a:ext>
                </a:extLst>
              </p:cNvPr>
              <p:cNvSpPr txBox="1">
                <a:spLocks noRot="1" noChangeAspect="1" noMove="1" noResize="1" noEditPoints="1" noAdjustHandles="1" noChangeArrowheads="1" noChangeShapeType="1" noTextEdit="1"/>
              </p:cNvSpPr>
              <p:nvPr/>
            </p:nvSpPr>
            <p:spPr>
              <a:xfrm>
                <a:off x="602875" y="3810000"/>
                <a:ext cx="4587153" cy="276999"/>
              </a:xfrm>
              <a:prstGeom prst="rect">
                <a:avLst/>
              </a:prstGeom>
              <a:blipFill>
                <a:blip r:embed="rId2"/>
                <a:stretch>
                  <a:fillRect l="-665" r="-1330" b="-3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36D09FDA-A07C-47CC-90E0-D9394537EAB9}"/>
                  </a:ext>
                </a:extLst>
              </p:cNvPr>
              <p:cNvSpPr/>
              <p:nvPr/>
            </p:nvSpPr>
            <p:spPr>
              <a:xfrm>
                <a:off x="330993" y="4258611"/>
                <a:ext cx="5105400"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𝐴</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2</m:t>
                          </m:r>
                        </m:sub>
                      </m:sSub>
                      <m:r>
                        <a:rPr lang="en-US"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1 (</m:t>
                      </m:r>
                      <m:r>
                        <a:rPr lang="en-US" i="1">
                          <a:latin typeface="Cambria Math" panose="02040503050406030204" pitchFamily="18" charset="0"/>
                        </a:rPr>
                        <m:t>𝐶𝑜𝑛𝑠𝑡𝑎𝑛𝑡</m:t>
                      </m:r>
                      <m:r>
                        <a:rPr lang="en-US" i="1">
                          <a:latin typeface="Cambria Math" panose="02040503050406030204" pitchFamily="18" charset="0"/>
                        </a:rPr>
                        <m:t> </m:t>
                      </m:r>
                      <m:r>
                        <a:rPr lang="en-US" i="1">
                          <a:latin typeface="Cambria Math" panose="02040503050406030204" pitchFamily="18" charset="0"/>
                        </a:rPr>
                        <m:t>𝑅𝑒𝑡𝑢𝑟𝑛𝑠</m:t>
                      </m:r>
                      <m:r>
                        <a:rPr lang="en-US" i="1">
                          <a:latin typeface="Cambria Math" panose="02040503050406030204" pitchFamily="18" charset="0"/>
                        </a:rPr>
                        <m:t> </m:t>
                      </m:r>
                      <m:r>
                        <a:rPr lang="en-US" i="1">
                          <a:latin typeface="Cambria Math" panose="02040503050406030204" pitchFamily="18" charset="0"/>
                        </a:rPr>
                        <m:t>𝑡𝑜</m:t>
                      </m:r>
                      <m:r>
                        <a:rPr lang="en-US" i="1">
                          <a:latin typeface="Cambria Math" panose="02040503050406030204" pitchFamily="18" charset="0"/>
                        </a:rPr>
                        <m:t> </m:t>
                      </m:r>
                      <m:r>
                        <a:rPr lang="en-US" i="1">
                          <a:latin typeface="Cambria Math" panose="02040503050406030204" pitchFamily="18" charset="0"/>
                        </a:rPr>
                        <m:t>𝑠𝑐𝑎𝑙𝑒</m:t>
                      </m:r>
                      <m:r>
                        <a:rPr lang="en-US" i="1">
                          <a:latin typeface="Cambria Math" panose="02040503050406030204" pitchFamily="18" charset="0"/>
                        </a:rPr>
                        <m:t>)</m:t>
                      </m:r>
                    </m:oMath>
                  </m:oMathPara>
                </a14:m>
                <a:endParaRPr lang="en-US" dirty="0"/>
              </a:p>
            </p:txBody>
          </p:sp>
        </mc:Choice>
        <mc:Fallback xmlns="">
          <p:sp>
            <p:nvSpPr>
              <p:cNvPr id="7" name="Rectangle 6">
                <a:extLst>
                  <a:ext uri="{FF2B5EF4-FFF2-40B4-BE49-F238E27FC236}">
                    <a16:creationId xmlns:a16="http://schemas.microsoft.com/office/drawing/2014/main" id="{36D09FDA-A07C-47CC-90E0-D9394537EAB9}"/>
                  </a:ext>
                </a:extLst>
              </p:cNvPr>
              <p:cNvSpPr>
                <a:spLocks noRot="1" noChangeAspect="1" noMove="1" noResize="1" noEditPoints="1" noAdjustHandles="1" noChangeArrowheads="1" noChangeShapeType="1" noTextEdit="1"/>
              </p:cNvSpPr>
              <p:nvPr/>
            </p:nvSpPr>
            <p:spPr>
              <a:xfrm>
                <a:off x="330993" y="4258611"/>
                <a:ext cx="5105400" cy="369332"/>
              </a:xfrm>
              <a:prstGeom prst="rect">
                <a:avLst/>
              </a:prstGeom>
              <a:blipFill>
                <a:blip r:embed="rId3"/>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A7DBAB3-ED66-4DB0-9EAA-0D6F90EB583D}"/>
                  </a:ext>
                </a:extLst>
              </p:cNvPr>
              <p:cNvSpPr txBox="1"/>
              <p:nvPr/>
            </p:nvSpPr>
            <p:spPr>
              <a:xfrm>
                <a:off x="711993" y="5378415"/>
                <a:ext cx="4073359" cy="471732"/>
              </a:xfrm>
              <a:prstGeom prst="rect">
                <a:avLst/>
              </a:prstGeom>
              <a:noFill/>
            </p:spPr>
            <p:txBody>
              <a:bodyPr wrap="none" lIns="0" tIns="0" rIns="0" bIns="0" rtlCol="0">
                <a:spAutoFit/>
              </a:bodyPr>
              <a:lstStyle/>
              <a:p>
                <a14:m>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𝑒</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r>
                              <a:rPr lang="en-US" b="0" i="1" smtClean="0">
                                <a:latin typeface="Cambria Math" panose="02040503050406030204" pitchFamily="18" charset="0"/>
                              </a:rPr>
                              <m:t>)</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(2.356−1.510−1)</m:t>
                        </m:r>
                      </m:num>
                      <m:den>
                        <m:r>
                          <a:rPr lang="en-US" b="0" i="1" smtClean="0">
                            <a:latin typeface="Cambria Math" panose="02040503050406030204" pitchFamily="18" charset="0"/>
                          </a:rPr>
                          <m:t>0.0868</m:t>
                        </m:r>
                      </m:den>
                    </m:f>
                    <m:r>
                      <a:rPr lang="en-US" b="0" i="1" smtClean="0">
                        <a:latin typeface="Cambria Math" panose="02040503050406030204" pitchFamily="18" charset="0"/>
                      </a:rPr>
                      <m:t>=−1.7816 </m:t>
                    </m:r>
                  </m:oMath>
                </a14:m>
                <a:r>
                  <a:rPr lang="en-US" dirty="0"/>
                  <a:t> </a:t>
                </a:r>
              </a:p>
            </p:txBody>
          </p:sp>
        </mc:Choice>
        <mc:Fallback xmlns="">
          <p:sp>
            <p:nvSpPr>
              <p:cNvPr id="8" name="TextBox 7">
                <a:extLst>
                  <a:ext uri="{FF2B5EF4-FFF2-40B4-BE49-F238E27FC236}">
                    <a16:creationId xmlns:a16="http://schemas.microsoft.com/office/drawing/2014/main" id="{9A7DBAB3-ED66-4DB0-9EAA-0D6F90EB583D}"/>
                  </a:ext>
                </a:extLst>
              </p:cNvPr>
              <p:cNvSpPr txBox="1">
                <a:spLocks noRot="1" noChangeAspect="1" noMove="1" noResize="1" noEditPoints="1" noAdjustHandles="1" noChangeArrowheads="1" noChangeShapeType="1" noTextEdit="1"/>
              </p:cNvSpPr>
              <p:nvPr/>
            </p:nvSpPr>
            <p:spPr>
              <a:xfrm>
                <a:off x="711993" y="5378415"/>
                <a:ext cx="4073359" cy="471732"/>
              </a:xfrm>
              <a:prstGeom prst="rect">
                <a:avLst/>
              </a:prstGeom>
              <a:blipFill>
                <a:blip r:embed="rId4"/>
                <a:stretch>
                  <a:fillRect l="-1946" t="-2564" b="-128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8250F9D-0355-4F67-BE3F-CDAAFE32B083}"/>
                  </a:ext>
                </a:extLst>
              </p:cNvPr>
              <p:cNvSpPr txBox="1"/>
              <p:nvPr/>
            </p:nvSpPr>
            <p:spPr>
              <a:xfrm>
                <a:off x="602875" y="4737523"/>
                <a:ext cx="7210307" cy="4265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𝑒</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𝑉</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r>
                                <a:rPr lang="en-US" b="0" i="1" smtClean="0">
                                  <a:latin typeface="Cambria Math" panose="02040503050406030204" pitchFamily="18" charset="0"/>
                                </a:rPr>
                                <m:t>𝑉</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e>
                              </m:d>
                              <m:r>
                                <a:rPr lang="en-US" b="0" i="1" smtClean="0">
                                  <a:latin typeface="Cambria Math" panose="02040503050406030204" pitchFamily="18" charset="0"/>
                                </a:rPr>
                                <m:t>+2</m:t>
                              </m:r>
                              <m:r>
                                <a:rPr lang="en-US" b="0" i="1" smtClean="0">
                                  <a:latin typeface="Cambria Math" panose="02040503050406030204" pitchFamily="18" charset="0"/>
                                </a:rPr>
                                <m:t>𝐶𝑜𝑣</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r>
                                <a:rPr lang="en-US" b="0" i="1" smtClean="0">
                                  <a:latin typeface="Cambria Math" panose="02040503050406030204" pitchFamily="18" charset="0"/>
                                </a:rPr>
                                <m:t>)</m:t>
                              </m:r>
                            </m:e>
                          </m:rad>
                        </m:sub>
                      </m:sSub>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0.169+0.117−2</m:t>
                          </m:r>
                          <m:d>
                            <m:dPr>
                              <m:ctrlPr>
                                <a:rPr lang="en-US" b="0" i="1" smtClean="0">
                                  <a:latin typeface="Cambria Math" panose="02040503050406030204" pitchFamily="18" charset="0"/>
                                </a:rPr>
                              </m:ctrlPr>
                            </m:dPr>
                            <m:e>
                              <m:r>
                                <a:rPr lang="en-US" b="0" i="1" smtClean="0">
                                  <a:latin typeface="Cambria Math" panose="02040503050406030204" pitchFamily="18" charset="0"/>
                                </a:rPr>
                                <m:t>0.139</m:t>
                              </m:r>
                            </m:e>
                          </m:d>
                          <m:r>
                            <a:rPr lang="en-US" b="0" i="1" smtClean="0">
                              <a:latin typeface="Cambria Math" panose="02040503050406030204" pitchFamily="18" charset="0"/>
                            </a:rPr>
                            <m:t>=</m:t>
                          </m:r>
                        </m:e>
                      </m:rad>
                      <m:r>
                        <a:rPr lang="en-US" b="0" i="1" smtClean="0">
                          <a:latin typeface="Cambria Math" panose="02040503050406030204" pitchFamily="18" charset="0"/>
                        </a:rPr>
                        <m:t>0.0868</m:t>
                      </m:r>
                    </m:oMath>
                  </m:oMathPara>
                </a14:m>
                <a:endParaRPr lang="en-US" dirty="0"/>
              </a:p>
            </p:txBody>
          </p:sp>
        </mc:Choice>
        <mc:Fallback xmlns="">
          <p:sp>
            <p:nvSpPr>
              <p:cNvPr id="9" name="TextBox 8">
                <a:extLst>
                  <a:ext uri="{FF2B5EF4-FFF2-40B4-BE49-F238E27FC236}">
                    <a16:creationId xmlns:a16="http://schemas.microsoft.com/office/drawing/2014/main" id="{B8250F9D-0355-4F67-BE3F-CDAAFE32B083}"/>
                  </a:ext>
                </a:extLst>
              </p:cNvPr>
              <p:cNvSpPr txBox="1">
                <a:spLocks noRot="1" noChangeAspect="1" noMove="1" noResize="1" noEditPoints="1" noAdjustHandles="1" noChangeArrowheads="1" noChangeShapeType="1" noTextEdit="1"/>
              </p:cNvSpPr>
              <p:nvPr/>
            </p:nvSpPr>
            <p:spPr>
              <a:xfrm>
                <a:off x="602875" y="4737523"/>
                <a:ext cx="7210307" cy="426592"/>
              </a:xfrm>
              <a:prstGeom prst="rect">
                <a:avLst/>
              </a:prstGeom>
              <a:blipFill>
                <a:blip r:embed="rId5"/>
                <a:stretch>
                  <a:fillRect l="-254" r="-169" b="-15714"/>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F38483C8-0E71-495B-84FD-81B871E1896A}"/>
              </a:ext>
            </a:extLst>
          </p:cNvPr>
          <p:cNvSpPr txBox="1"/>
          <p:nvPr/>
        </p:nvSpPr>
        <p:spPr>
          <a:xfrm>
            <a:off x="635793" y="6009511"/>
            <a:ext cx="1987925" cy="369332"/>
          </a:xfrm>
          <a:prstGeom prst="rect">
            <a:avLst/>
          </a:prstGeom>
          <a:noFill/>
        </p:spPr>
        <p:txBody>
          <a:bodyPr wrap="square" rtlCol="0">
            <a:spAutoFit/>
          </a:bodyPr>
          <a:lstStyle/>
          <a:p>
            <a:r>
              <a:rPr lang="en-US" i="1" dirty="0"/>
              <a:t>p</a:t>
            </a:r>
            <a:r>
              <a:rPr lang="en-US" dirty="0"/>
              <a:t>-value = 0.118</a:t>
            </a:r>
          </a:p>
        </p:txBody>
      </p:sp>
    </p:spTree>
    <p:extLst>
      <p:ext uri="{BB962C8B-B14F-4D97-AF65-F5344CB8AC3E}">
        <p14:creationId xmlns:p14="http://schemas.microsoft.com/office/powerpoint/2010/main" val="31527674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p:cNvSpPr>
          <p:nvPr>
            <p:ph type="title"/>
          </p:nvPr>
        </p:nvSpPr>
        <p:spPr>
          <a:xfrm>
            <a:off x="533400" y="228600"/>
            <a:ext cx="6629400" cy="628650"/>
          </a:xfrm>
        </p:spPr>
        <p:txBody>
          <a:bodyPr>
            <a:normAutofit fontScale="90000"/>
          </a:bodyPr>
          <a:lstStyle/>
          <a:p>
            <a:r>
              <a:rPr lang="en-US" altLang="en-US" dirty="0">
                <a:ea typeface="ＭＳ Ｐゴシック" charset="-128"/>
              </a:rPr>
              <a:t>Correcting for Multicollinearity</a:t>
            </a:r>
          </a:p>
        </p:txBody>
      </p:sp>
      <p:sp>
        <p:nvSpPr>
          <p:cNvPr id="33794" name="Content Placeholder 2"/>
          <p:cNvSpPr>
            <a:spLocks noGrp="1"/>
          </p:cNvSpPr>
          <p:nvPr>
            <p:ph idx="1"/>
          </p:nvPr>
        </p:nvSpPr>
        <p:spPr>
          <a:xfrm>
            <a:off x="609600" y="1219200"/>
            <a:ext cx="7297539" cy="3654380"/>
          </a:xfrm>
        </p:spPr>
        <p:txBody>
          <a:bodyPr>
            <a:noAutofit/>
          </a:bodyPr>
          <a:lstStyle/>
          <a:p>
            <a:r>
              <a:rPr lang="en-US" altLang="en-US" sz="2400" dirty="0">
                <a:solidFill>
                  <a:srgbClr val="0000FF"/>
                </a:solidFill>
                <a:ea typeface="ＭＳ Ｐゴシック" charset="-128"/>
              </a:rPr>
              <a:t>Do nothing</a:t>
            </a:r>
            <a:endParaRPr lang="en-US" altLang="en-US" sz="2400" dirty="0">
              <a:ea typeface="ＭＳ Ｐゴシック" charset="-128"/>
            </a:endParaRPr>
          </a:p>
          <a:p>
            <a:pPr lvl="1"/>
            <a:r>
              <a:rPr lang="en-US" altLang="en-US" sz="2000" dirty="0">
                <a:ea typeface="ＭＳ Ｐゴシック" charset="-128"/>
              </a:rPr>
              <a:t>If the sole purpose of the model is prediction (since estimates of y are unbiased) </a:t>
            </a:r>
          </a:p>
          <a:p>
            <a:pPr lvl="1"/>
            <a:r>
              <a:rPr lang="en-US" altLang="en-US" sz="2000" dirty="0">
                <a:ea typeface="ＭＳ Ｐゴシック" charset="-128"/>
              </a:rPr>
              <a:t>If deleting a variable greatly reduces R</a:t>
            </a:r>
            <a:r>
              <a:rPr lang="en-US" altLang="en-US" sz="2000" baseline="30000" dirty="0">
                <a:ea typeface="ＭＳ Ｐゴシック" charset="-128"/>
              </a:rPr>
              <a:t>2</a:t>
            </a:r>
            <a:r>
              <a:rPr lang="en-US" altLang="en-US" sz="2000" dirty="0">
                <a:ea typeface="ＭＳ Ｐゴシック" charset="-128"/>
              </a:rPr>
              <a:t>.</a:t>
            </a:r>
          </a:p>
          <a:p>
            <a:r>
              <a:rPr lang="en-US" altLang="en-US" sz="2400" dirty="0">
                <a:solidFill>
                  <a:srgbClr val="0000FF"/>
                </a:solidFill>
                <a:ea typeface="ＭＳ Ｐゴシック" charset="-128"/>
              </a:rPr>
              <a:t>Drop the variable</a:t>
            </a:r>
            <a:endParaRPr lang="en-US" altLang="en-US" sz="2400" dirty="0">
              <a:ea typeface="ＭＳ Ｐゴシック" charset="-128"/>
            </a:endParaRPr>
          </a:p>
          <a:p>
            <a:pPr lvl="1"/>
            <a:r>
              <a:rPr lang="en-US" altLang="en-US" sz="2000" dirty="0">
                <a:ea typeface="ＭＳ Ｐゴシック" charset="-128"/>
              </a:rPr>
              <a:t>However, beware that this might introduce an omitted variable bias</a:t>
            </a:r>
          </a:p>
          <a:p>
            <a:pPr lvl="1"/>
            <a:r>
              <a:rPr lang="en-US" altLang="en-US" sz="2000" dirty="0">
                <a:ea typeface="ＭＳ Ｐゴシック" charset="-128"/>
              </a:rPr>
              <a:t>Rule of thumb is to drop variables with high VIF but use managerial intuition and knowledge</a:t>
            </a:r>
          </a:p>
          <a:p>
            <a:r>
              <a:rPr lang="en-US" altLang="en-US" sz="2400" dirty="0">
                <a:solidFill>
                  <a:srgbClr val="0000FF"/>
                </a:solidFill>
                <a:ea typeface="ＭＳ Ｐゴシック" charset="-128"/>
              </a:rPr>
              <a:t>Use a priori information</a:t>
            </a:r>
            <a:endParaRPr lang="en-US" altLang="en-US" sz="2400" dirty="0">
              <a:ea typeface="ＭＳ Ｐゴシック" charset="-128"/>
            </a:endParaRPr>
          </a:p>
          <a:p>
            <a:pPr lvl="1"/>
            <a:r>
              <a:rPr lang="en-US" altLang="en-US" sz="2000" dirty="0">
                <a:ea typeface="ＭＳ Ｐゴシック" charset="-128"/>
              </a:rPr>
              <a:t>Build a new compound variable that is a function of the correlated variables</a:t>
            </a:r>
          </a:p>
        </p:txBody>
      </p:sp>
      <p:sp>
        <p:nvSpPr>
          <p:cNvPr id="33795" name="Slide Number Placeholder 5"/>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800">
                <a:solidFill>
                  <a:schemeClr val="tx1"/>
                </a:solidFill>
                <a:latin typeface="Arial" charset="0"/>
                <a:ea typeface="ＭＳ Ｐゴシック" charset="-128"/>
              </a:defRPr>
            </a:lvl1pPr>
            <a:lvl2pPr marL="557213" indent="-214313" eaLnBrk="0" hangingPunct="0">
              <a:defRPr sz="1800">
                <a:solidFill>
                  <a:schemeClr val="tx1"/>
                </a:solidFill>
                <a:latin typeface="Arial" charset="0"/>
                <a:ea typeface="ＭＳ Ｐゴシック" charset="-128"/>
              </a:defRPr>
            </a:lvl2pPr>
            <a:lvl3pPr marL="857250" indent="-171450" eaLnBrk="0" hangingPunct="0">
              <a:defRPr sz="1800">
                <a:solidFill>
                  <a:schemeClr val="tx1"/>
                </a:solidFill>
                <a:latin typeface="Arial" charset="0"/>
                <a:ea typeface="ＭＳ Ｐゴシック" charset="-128"/>
              </a:defRPr>
            </a:lvl3pPr>
            <a:lvl4pPr marL="1200150" indent="-171450" eaLnBrk="0" hangingPunct="0">
              <a:defRPr sz="1800">
                <a:solidFill>
                  <a:schemeClr val="tx1"/>
                </a:solidFill>
                <a:latin typeface="Arial" charset="0"/>
                <a:ea typeface="ＭＳ Ｐゴシック" charset="-128"/>
              </a:defRPr>
            </a:lvl4pPr>
            <a:lvl5pPr marL="1543050" indent="-171450" eaLnBrk="0" hangingPunct="0">
              <a:defRPr sz="1800">
                <a:solidFill>
                  <a:schemeClr val="tx1"/>
                </a:solidFill>
                <a:latin typeface="Arial" charset="0"/>
                <a:ea typeface="ＭＳ Ｐゴシック" charset="-128"/>
              </a:defRPr>
            </a:lvl5pPr>
            <a:lvl6pPr marL="1885950" indent="-171450" eaLnBrk="0" fontAlgn="base" hangingPunct="0">
              <a:spcBef>
                <a:spcPct val="0"/>
              </a:spcBef>
              <a:spcAft>
                <a:spcPct val="0"/>
              </a:spcAft>
              <a:defRPr sz="1800">
                <a:solidFill>
                  <a:schemeClr val="tx1"/>
                </a:solidFill>
                <a:latin typeface="Arial" charset="0"/>
                <a:ea typeface="ＭＳ Ｐゴシック" charset="-128"/>
              </a:defRPr>
            </a:lvl6pPr>
            <a:lvl7pPr marL="2228850" indent="-171450" eaLnBrk="0" fontAlgn="base" hangingPunct="0">
              <a:spcBef>
                <a:spcPct val="0"/>
              </a:spcBef>
              <a:spcAft>
                <a:spcPct val="0"/>
              </a:spcAft>
              <a:defRPr sz="1800">
                <a:solidFill>
                  <a:schemeClr val="tx1"/>
                </a:solidFill>
                <a:latin typeface="Arial" charset="0"/>
                <a:ea typeface="ＭＳ Ｐゴシック" charset="-128"/>
              </a:defRPr>
            </a:lvl7pPr>
            <a:lvl8pPr marL="2571750" indent="-171450" eaLnBrk="0" fontAlgn="base" hangingPunct="0">
              <a:spcBef>
                <a:spcPct val="0"/>
              </a:spcBef>
              <a:spcAft>
                <a:spcPct val="0"/>
              </a:spcAft>
              <a:defRPr sz="1800">
                <a:solidFill>
                  <a:schemeClr val="tx1"/>
                </a:solidFill>
                <a:latin typeface="Arial" charset="0"/>
                <a:ea typeface="ＭＳ Ｐゴシック" charset="-128"/>
              </a:defRPr>
            </a:lvl8pPr>
            <a:lvl9pPr marL="2914650" indent="-171450" eaLnBrk="0" fontAlgn="base" hangingPunct="0">
              <a:spcBef>
                <a:spcPct val="0"/>
              </a:spcBef>
              <a:spcAft>
                <a:spcPct val="0"/>
              </a:spcAft>
              <a:defRPr sz="1800">
                <a:solidFill>
                  <a:schemeClr val="tx1"/>
                </a:solidFill>
                <a:latin typeface="Arial" charset="0"/>
                <a:ea typeface="ＭＳ Ｐゴシック" charset="-128"/>
              </a:defRPr>
            </a:lvl9pPr>
          </a:lstStyle>
          <a:p>
            <a:pPr eaLnBrk="1" fontAlgn="base" hangingPunct="1">
              <a:spcBef>
                <a:spcPct val="0"/>
              </a:spcBef>
              <a:spcAft>
                <a:spcPct val="0"/>
              </a:spcAft>
            </a:pPr>
            <a:fld id="{772C8ACB-7D38-714A-AD5A-045F21736224}" type="slidenum">
              <a:rPr lang="en-US" altLang="en-US" sz="900">
                <a:solidFill>
                  <a:schemeClr val="bg1"/>
                </a:solidFill>
                <a:latin typeface="Calibri" charset="0"/>
              </a:rPr>
              <a:pPr eaLnBrk="1" fontAlgn="base" hangingPunct="1">
                <a:spcBef>
                  <a:spcPct val="0"/>
                </a:spcBef>
                <a:spcAft>
                  <a:spcPct val="0"/>
                </a:spcAft>
              </a:pPr>
              <a:t>48</a:t>
            </a:fld>
            <a:endParaRPr lang="en-US" altLang="en-US" sz="900">
              <a:solidFill>
                <a:schemeClr val="bg1"/>
              </a:solidFill>
              <a:latin typeface="Calibri" charset="0"/>
            </a:endParaRPr>
          </a:p>
        </p:txBody>
      </p:sp>
    </p:spTree>
    <p:extLst>
      <p:ext uri="{BB962C8B-B14F-4D97-AF65-F5344CB8AC3E}">
        <p14:creationId xmlns:p14="http://schemas.microsoft.com/office/powerpoint/2010/main" val="31785455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954918A0-F186-49A8-AAAD-72FF81A13920}"/>
              </a:ext>
            </a:extLst>
          </p:cNvPr>
          <p:cNvSpPr>
            <a:spLocks noGrp="1" noChangeArrowheads="1"/>
          </p:cNvSpPr>
          <p:nvPr>
            <p:ph type="title"/>
          </p:nvPr>
        </p:nvSpPr>
        <p:spPr/>
        <p:txBody>
          <a:bodyPr/>
          <a:lstStyle/>
          <a:p>
            <a:r>
              <a:rPr lang="en-US" altLang="en-US"/>
              <a:t>Heteroscedasticity</a:t>
            </a:r>
          </a:p>
        </p:txBody>
      </p:sp>
      <p:sp>
        <p:nvSpPr>
          <p:cNvPr id="28675" name="Rectangle 3">
            <a:extLst>
              <a:ext uri="{FF2B5EF4-FFF2-40B4-BE49-F238E27FC236}">
                <a16:creationId xmlns:a16="http://schemas.microsoft.com/office/drawing/2014/main" id="{1510D53A-10B6-43C4-9D96-B1654AFD21F7}"/>
              </a:ext>
            </a:extLst>
          </p:cNvPr>
          <p:cNvSpPr>
            <a:spLocks noGrp="1" noChangeArrowheads="1"/>
          </p:cNvSpPr>
          <p:nvPr>
            <p:ph idx="1"/>
          </p:nvPr>
        </p:nvSpPr>
        <p:spPr>
          <a:xfrm>
            <a:off x="609598" y="1828800"/>
            <a:ext cx="7086601" cy="4495800"/>
          </a:xfrm>
        </p:spPr>
        <p:txBody>
          <a:bodyPr>
            <a:normAutofit lnSpcReduction="10000"/>
          </a:bodyPr>
          <a:lstStyle/>
          <a:p>
            <a:pPr algn="just"/>
            <a:r>
              <a:rPr lang="en-US" altLang="en-US" sz="2800" dirty="0">
                <a:latin typeface="Garamond" panose="02020404030301010803" pitchFamily="18" charset="0"/>
              </a:rPr>
              <a:t>If the width of the scatter plot of the residuals either increase or decrease then the variance of the error term is not constant.  This problem is called Heteroscedasticity.</a:t>
            </a:r>
          </a:p>
          <a:p>
            <a:pPr algn="just"/>
            <a:endParaRPr lang="en-US" altLang="en-US" sz="2800" dirty="0">
              <a:latin typeface="Garamond" panose="02020404030301010803" pitchFamily="18" charset="0"/>
            </a:endParaRPr>
          </a:p>
          <a:p>
            <a:pPr algn="just"/>
            <a:r>
              <a:rPr lang="en-US" altLang="en-US" sz="2800" dirty="0">
                <a:latin typeface="Garamond" panose="02020404030301010803" pitchFamily="18" charset="0"/>
              </a:rPr>
              <a:t>When heteroscedasticity exist, we cannot use the ordinary least-squares method for estimating the regression and should use a more complex method called </a:t>
            </a:r>
            <a:r>
              <a:rPr lang="en-US" altLang="en-US" sz="2800" i="1" dirty="0">
                <a:latin typeface="Garamond" panose="02020404030301010803" pitchFamily="18" charset="0"/>
              </a:rPr>
              <a:t>generalized least squares</a:t>
            </a:r>
            <a:r>
              <a:rPr lang="en-US" altLang="en-US" sz="2400" i="1" dirty="0">
                <a:latin typeface="Garamond" panose="02020404030301010803" pitchFamily="18" charset="0"/>
              </a:rPr>
              <a:t>.</a:t>
            </a:r>
          </a:p>
        </p:txBody>
      </p:sp>
    </p:spTree>
    <p:extLst>
      <p:ext uri="{BB962C8B-B14F-4D97-AF65-F5344CB8AC3E}">
        <p14:creationId xmlns:p14="http://schemas.microsoft.com/office/powerpoint/2010/main" val="14442514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49294-DA32-426A-8BF5-A9F8F79BECAB}"/>
              </a:ext>
            </a:extLst>
          </p:cNvPr>
          <p:cNvSpPr>
            <a:spLocks noGrp="1"/>
          </p:cNvSpPr>
          <p:nvPr>
            <p:ph type="title"/>
          </p:nvPr>
        </p:nvSpPr>
        <p:spPr>
          <a:xfrm>
            <a:off x="609599" y="609600"/>
            <a:ext cx="6347714" cy="1143000"/>
          </a:xfrm>
        </p:spPr>
        <p:txBody>
          <a:bodyPr/>
          <a:lstStyle/>
          <a:p>
            <a:r>
              <a:rPr lang="en-US" dirty="0"/>
              <a:t>No Pattern is Good Pattern</a:t>
            </a:r>
          </a:p>
        </p:txBody>
      </p:sp>
      <p:pic>
        <p:nvPicPr>
          <p:cNvPr id="3" name="Picture 2">
            <a:extLst>
              <a:ext uri="{FF2B5EF4-FFF2-40B4-BE49-F238E27FC236}">
                <a16:creationId xmlns:a16="http://schemas.microsoft.com/office/drawing/2014/main" id="{AE2527EC-4E23-4E14-930F-DCFEB351C2F0}"/>
              </a:ext>
            </a:extLst>
          </p:cNvPr>
          <p:cNvPicPr>
            <a:picLocks noChangeAspect="1"/>
          </p:cNvPicPr>
          <p:nvPr/>
        </p:nvPicPr>
        <p:blipFill>
          <a:blip r:embed="rId2"/>
          <a:stretch>
            <a:fillRect/>
          </a:stretch>
        </p:blipFill>
        <p:spPr>
          <a:xfrm>
            <a:off x="457200" y="1752600"/>
            <a:ext cx="6585547" cy="4778497"/>
          </a:xfrm>
          <a:prstGeom prst="rect">
            <a:avLst/>
          </a:prstGeom>
        </p:spPr>
      </p:pic>
    </p:spTree>
    <p:extLst>
      <p:ext uri="{BB962C8B-B14F-4D97-AF65-F5344CB8AC3E}">
        <p14:creationId xmlns:p14="http://schemas.microsoft.com/office/powerpoint/2010/main" val="41309736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6A45C-2A38-4E7D-9E6A-7C30F344B843}"/>
              </a:ext>
            </a:extLst>
          </p:cNvPr>
          <p:cNvSpPr>
            <a:spLocks noGrp="1"/>
          </p:cNvSpPr>
          <p:nvPr>
            <p:ph type="title"/>
          </p:nvPr>
        </p:nvSpPr>
        <p:spPr>
          <a:xfrm>
            <a:off x="609599" y="609600"/>
            <a:ext cx="6347714" cy="914400"/>
          </a:xfrm>
        </p:spPr>
        <p:txBody>
          <a:bodyPr/>
          <a:lstStyle/>
          <a:p>
            <a:r>
              <a:rPr lang="en-US" dirty="0"/>
              <a:t>Heteroscedasticity</a:t>
            </a:r>
          </a:p>
        </p:txBody>
      </p:sp>
      <p:pic>
        <p:nvPicPr>
          <p:cNvPr id="3" name="Picture 2">
            <a:extLst>
              <a:ext uri="{FF2B5EF4-FFF2-40B4-BE49-F238E27FC236}">
                <a16:creationId xmlns:a16="http://schemas.microsoft.com/office/drawing/2014/main" id="{6685BEC3-D2E4-4C3A-A80A-70639737B5F8}"/>
              </a:ext>
            </a:extLst>
          </p:cNvPr>
          <p:cNvPicPr>
            <a:picLocks noChangeAspect="1"/>
          </p:cNvPicPr>
          <p:nvPr/>
        </p:nvPicPr>
        <p:blipFill>
          <a:blip r:embed="rId2"/>
          <a:stretch>
            <a:fillRect/>
          </a:stretch>
        </p:blipFill>
        <p:spPr>
          <a:xfrm>
            <a:off x="381000" y="1637507"/>
            <a:ext cx="6705602" cy="4610893"/>
          </a:xfrm>
          <a:prstGeom prst="rect">
            <a:avLst/>
          </a:prstGeom>
        </p:spPr>
      </p:pic>
    </p:spTree>
    <p:extLst>
      <p:ext uri="{BB962C8B-B14F-4D97-AF65-F5344CB8AC3E}">
        <p14:creationId xmlns:p14="http://schemas.microsoft.com/office/powerpoint/2010/main" val="12294570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6A45C-2A38-4E7D-9E6A-7C30F344B843}"/>
              </a:ext>
            </a:extLst>
          </p:cNvPr>
          <p:cNvSpPr>
            <a:spLocks noGrp="1"/>
          </p:cNvSpPr>
          <p:nvPr>
            <p:ph type="title"/>
          </p:nvPr>
        </p:nvSpPr>
        <p:spPr>
          <a:xfrm>
            <a:off x="609599" y="609600"/>
            <a:ext cx="6347714" cy="914400"/>
          </a:xfrm>
        </p:spPr>
        <p:txBody>
          <a:bodyPr/>
          <a:lstStyle/>
          <a:p>
            <a:r>
              <a:rPr lang="en-US" dirty="0"/>
              <a:t>Heteroscedasticity</a:t>
            </a:r>
          </a:p>
        </p:txBody>
      </p:sp>
      <p:pic>
        <p:nvPicPr>
          <p:cNvPr id="4" name="Picture 3">
            <a:extLst>
              <a:ext uri="{FF2B5EF4-FFF2-40B4-BE49-F238E27FC236}">
                <a16:creationId xmlns:a16="http://schemas.microsoft.com/office/drawing/2014/main" id="{A001A2B6-4AA3-4919-B142-6CE305114474}"/>
              </a:ext>
            </a:extLst>
          </p:cNvPr>
          <p:cNvPicPr>
            <a:picLocks noChangeAspect="1"/>
          </p:cNvPicPr>
          <p:nvPr/>
        </p:nvPicPr>
        <p:blipFill>
          <a:blip r:embed="rId2"/>
          <a:stretch>
            <a:fillRect/>
          </a:stretch>
        </p:blipFill>
        <p:spPr>
          <a:xfrm>
            <a:off x="381000" y="1524000"/>
            <a:ext cx="7620000" cy="5016255"/>
          </a:xfrm>
          <a:prstGeom prst="rect">
            <a:avLst/>
          </a:prstGeom>
        </p:spPr>
      </p:pic>
    </p:spTree>
    <p:extLst>
      <p:ext uri="{BB962C8B-B14F-4D97-AF65-F5344CB8AC3E}">
        <p14:creationId xmlns:p14="http://schemas.microsoft.com/office/powerpoint/2010/main" val="28472814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4C303-2787-4264-8DE3-F27BD5732064}"/>
              </a:ext>
            </a:extLst>
          </p:cNvPr>
          <p:cNvSpPr>
            <a:spLocks noGrp="1"/>
          </p:cNvSpPr>
          <p:nvPr>
            <p:ph type="title"/>
          </p:nvPr>
        </p:nvSpPr>
        <p:spPr/>
        <p:txBody>
          <a:bodyPr/>
          <a:lstStyle/>
          <a:p>
            <a:r>
              <a:rPr lang="en-US" dirty="0"/>
              <a:t>Heteroskedasticity</a:t>
            </a:r>
          </a:p>
        </p:txBody>
      </p:sp>
      <p:pic>
        <p:nvPicPr>
          <p:cNvPr id="3" name="Picture 14">
            <a:extLst>
              <a:ext uri="{FF2B5EF4-FFF2-40B4-BE49-F238E27FC236}">
                <a16:creationId xmlns:a16="http://schemas.microsoft.com/office/drawing/2014/main" id="{AAC12E25-B134-48D1-837C-DFD331FC78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47800"/>
            <a:ext cx="4879975"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13">
            <a:extLst>
              <a:ext uri="{FF2B5EF4-FFF2-40B4-BE49-F238E27FC236}">
                <a16:creationId xmlns:a16="http://schemas.microsoft.com/office/drawing/2014/main" id="{894A6E54-8026-4A52-916C-D68577D90B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4038600"/>
            <a:ext cx="3576638"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926316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8" y="457200"/>
            <a:ext cx="6347713" cy="838200"/>
          </a:xfrm>
        </p:spPr>
        <p:txBody>
          <a:bodyPr/>
          <a:lstStyle/>
          <a:p>
            <a:r>
              <a:rPr lang="en-US" dirty="0"/>
              <a:t>Park’s Test</a:t>
            </a:r>
          </a:p>
        </p:txBody>
      </p:sp>
      <p:sp>
        <p:nvSpPr>
          <p:cNvPr id="3" name="Content Placeholder 2"/>
          <p:cNvSpPr>
            <a:spLocks noGrp="1"/>
          </p:cNvSpPr>
          <p:nvPr>
            <p:ph idx="1"/>
          </p:nvPr>
        </p:nvSpPr>
        <p:spPr>
          <a:xfrm>
            <a:off x="609598" y="1600200"/>
            <a:ext cx="7162802" cy="4876800"/>
          </a:xfrm>
        </p:spPr>
        <p:txBody>
          <a:bodyPr>
            <a:normAutofit fontScale="92500" lnSpcReduction="20000"/>
          </a:bodyPr>
          <a:lstStyle/>
          <a:p>
            <a:r>
              <a:rPr lang="en-US" sz="2800" dirty="0">
                <a:latin typeface="Arial" charset="0"/>
                <a:cs typeface="Arial" charset="0"/>
              </a:rPr>
              <a:t>Simple test is Park Test</a:t>
            </a:r>
          </a:p>
          <a:p>
            <a:pPr lvl="1"/>
            <a:r>
              <a:rPr lang="en-US" sz="2400" dirty="0">
                <a:latin typeface="Arial" charset="0"/>
                <a:cs typeface="Arial" charset="0"/>
              </a:rPr>
              <a:t>Fit a regression equation</a:t>
            </a:r>
          </a:p>
          <a:p>
            <a:pPr lvl="1"/>
            <a:r>
              <a:rPr lang="en-US" sz="2400" dirty="0">
                <a:latin typeface="Arial" charset="0"/>
                <a:cs typeface="Arial" charset="0"/>
              </a:rPr>
              <a:t>Ln e</a:t>
            </a:r>
            <a:r>
              <a:rPr lang="en-US" sz="2400" baseline="-25000" dirty="0">
                <a:latin typeface="Arial" charset="0"/>
                <a:cs typeface="Arial" charset="0"/>
              </a:rPr>
              <a:t>i</a:t>
            </a:r>
            <a:r>
              <a:rPr lang="en-US" sz="2400" baseline="30000" dirty="0">
                <a:latin typeface="Arial" charset="0"/>
                <a:cs typeface="Arial" charset="0"/>
              </a:rPr>
              <a:t>2 </a:t>
            </a:r>
            <a:r>
              <a:rPr lang="en-US" sz="2400" dirty="0">
                <a:latin typeface="Arial" charset="0"/>
                <a:cs typeface="Arial" charset="0"/>
              </a:rPr>
              <a:t>= a</a:t>
            </a:r>
            <a:r>
              <a:rPr lang="en-US" sz="2400" baseline="30000" dirty="0">
                <a:latin typeface="Arial" charset="0"/>
                <a:cs typeface="Arial" charset="0"/>
              </a:rPr>
              <a:t> </a:t>
            </a:r>
            <a:r>
              <a:rPr lang="en-US" sz="2400" dirty="0">
                <a:latin typeface="Arial" charset="0"/>
                <a:cs typeface="Arial" charset="0"/>
              </a:rPr>
              <a:t>+ b</a:t>
            </a:r>
            <a:r>
              <a:rPr lang="en-US" sz="2400" baseline="-25000" dirty="0">
                <a:latin typeface="Arial" charset="0"/>
                <a:cs typeface="Arial" charset="0"/>
              </a:rPr>
              <a:t>i</a:t>
            </a:r>
            <a:r>
              <a:rPr lang="en-US" sz="2400" dirty="0">
                <a:latin typeface="Arial" charset="0"/>
                <a:cs typeface="Arial" charset="0"/>
              </a:rPr>
              <a:t> ln X</a:t>
            </a:r>
            <a:r>
              <a:rPr lang="en-US" sz="2400" baseline="-25000" dirty="0">
                <a:latin typeface="Arial" charset="0"/>
                <a:cs typeface="Arial" charset="0"/>
              </a:rPr>
              <a:t>i</a:t>
            </a:r>
          </a:p>
          <a:p>
            <a:pPr lvl="1"/>
            <a:r>
              <a:rPr lang="en-US" sz="2400" dirty="0">
                <a:latin typeface="Arial" charset="0"/>
                <a:cs typeface="Arial" charset="0"/>
              </a:rPr>
              <a:t>If b is statistically significant, then there is a presence of Heteroscedasticity</a:t>
            </a:r>
          </a:p>
          <a:p>
            <a:pPr lvl="1"/>
            <a:endParaRPr lang="en-US" sz="2400" dirty="0">
              <a:latin typeface="Arial" charset="0"/>
              <a:cs typeface="Arial" charset="0"/>
            </a:endParaRPr>
          </a:p>
          <a:p>
            <a:pPr>
              <a:buFont typeface="Wingdings" pitchFamily="2" charset="2"/>
              <a:buChar char="Ø"/>
            </a:pPr>
            <a:r>
              <a:rPr lang="en-US" altLang="en-US" sz="3300" dirty="0">
                <a:latin typeface="Times New Roman" pitchFamily="18" charset="0"/>
                <a:cs typeface="Times New Roman" pitchFamily="18" charset="0"/>
              </a:rPr>
              <a:t>Other Tests</a:t>
            </a:r>
          </a:p>
          <a:p>
            <a:pPr lvl="1">
              <a:buFont typeface="Wingdings" pitchFamily="2" charset="2"/>
              <a:buChar char="Ø"/>
            </a:pPr>
            <a:r>
              <a:rPr lang="en-US" altLang="en-US" sz="2800" dirty="0">
                <a:latin typeface="Times New Roman" pitchFamily="18" charset="0"/>
                <a:cs typeface="Times New Roman" pitchFamily="18" charset="0"/>
              </a:rPr>
              <a:t>Breusch-Pagan (BP) Test</a:t>
            </a:r>
          </a:p>
          <a:p>
            <a:pPr lvl="1">
              <a:buFont typeface="Wingdings" pitchFamily="2" charset="2"/>
              <a:buChar char="Ø"/>
            </a:pPr>
            <a:r>
              <a:rPr lang="en-US" altLang="en-US" sz="2800" dirty="0">
                <a:latin typeface="Times New Roman" pitchFamily="18" charset="0"/>
                <a:cs typeface="Times New Roman" pitchFamily="18" charset="0"/>
              </a:rPr>
              <a:t>White’s Test of Heteroscedasticity</a:t>
            </a:r>
          </a:p>
          <a:p>
            <a:pPr lvl="1">
              <a:buFont typeface="Wingdings" pitchFamily="2" charset="2"/>
              <a:buChar char="Ø"/>
            </a:pPr>
            <a:r>
              <a:rPr lang="en-US" altLang="en-US" sz="2800" dirty="0">
                <a:latin typeface="Times New Roman" pitchFamily="18" charset="0"/>
                <a:cs typeface="Times New Roman" pitchFamily="18" charset="0"/>
              </a:rPr>
              <a:t>Other tests such as </a:t>
            </a:r>
            <a:r>
              <a:rPr lang="en-US" altLang="en-US" sz="2800" dirty="0" err="1">
                <a:latin typeface="Times New Roman" pitchFamily="18" charset="0"/>
                <a:cs typeface="Times New Roman" pitchFamily="18" charset="0"/>
              </a:rPr>
              <a:t>Glejser</a:t>
            </a:r>
            <a:r>
              <a:rPr lang="en-US" altLang="en-US" sz="2800" dirty="0">
                <a:latin typeface="Times New Roman" pitchFamily="18" charset="0"/>
                <a:cs typeface="Times New Roman" pitchFamily="18" charset="0"/>
              </a:rPr>
              <a:t>, Spearman’s rank correlation, and </a:t>
            </a:r>
            <a:r>
              <a:rPr lang="en-US" altLang="en-US" sz="2800" dirty="0" err="1">
                <a:latin typeface="Times New Roman" pitchFamily="18" charset="0"/>
                <a:cs typeface="Times New Roman" pitchFamily="18" charset="0"/>
              </a:rPr>
              <a:t>Goldfeld-Quandt</a:t>
            </a:r>
            <a:r>
              <a:rPr lang="en-US" altLang="en-US" sz="2800" dirty="0">
                <a:latin typeface="Times New Roman" pitchFamily="18" charset="0"/>
                <a:cs typeface="Times New Roman" pitchFamily="18" charset="0"/>
              </a:rPr>
              <a:t> tests of heteroscedasticity</a:t>
            </a:r>
          </a:p>
          <a:p>
            <a:endParaRPr lang="en-US" sz="2600" baseline="30000" dirty="0">
              <a:latin typeface="Arial" charset="0"/>
              <a:cs typeface="Arial" charset="0"/>
            </a:endParaRPr>
          </a:p>
          <a:p>
            <a:pPr>
              <a:buNone/>
            </a:pPr>
            <a:endParaRPr lang="en-US" dirty="0"/>
          </a:p>
        </p:txBody>
      </p:sp>
    </p:spTree>
    <p:extLst>
      <p:ext uri="{BB962C8B-B14F-4D97-AF65-F5344CB8AC3E}">
        <p14:creationId xmlns:p14="http://schemas.microsoft.com/office/powerpoint/2010/main" val="10588440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6">
            <a:extLst>
              <a:ext uri="{FF2B5EF4-FFF2-40B4-BE49-F238E27FC236}">
                <a16:creationId xmlns:a16="http://schemas.microsoft.com/office/drawing/2014/main" id="{46375506-52CA-4D6D-8CE7-105D5F74B54B}"/>
              </a:ext>
            </a:extLst>
          </p:cNvPr>
          <p:cNvGraphicFramePr>
            <a:graphicFrameLocks noGrp="1"/>
          </p:cNvGraphicFramePr>
          <p:nvPr>
            <p:extLst>
              <p:ext uri="{D42A27DB-BD31-4B8C-83A1-F6EECF244321}">
                <p14:modId xmlns:p14="http://schemas.microsoft.com/office/powerpoint/2010/main" val="2304759353"/>
              </p:ext>
            </p:extLst>
          </p:nvPr>
        </p:nvGraphicFramePr>
        <p:xfrm>
          <a:off x="620486" y="4267200"/>
          <a:ext cx="8033658" cy="2409190"/>
        </p:xfrm>
        <a:graphic>
          <a:graphicData uri="http://schemas.openxmlformats.org/drawingml/2006/table">
            <a:tbl>
              <a:tblPr firstRow="1" bandRow="1">
                <a:tableStyleId>{5C22544A-7EE6-4342-B048-85BDC9FD1C3A}</a:tableStyleId>
              </a:tblPr>
              <a:tblGrid>
                <a:gridCol w="1338943">
                  <a:extLst>
                    <a:ext uri="{9D8B030D-6E8A-4147-A177-3AD203B41FA5}">
                      <a16:colId xmlns:a16="http://schemas.microsoft.com/office/drawing/2014/main" val="4220360087"/>
                    </a:ext>
                  </a:extLst>
                </a:gridCol>
                <a:gridCol w="1338943">
                  <a:extLst>
                    <a:ext uri="{9D8B030D-6E8A-4147-A177-3AD203B41FA5}">
                      <a16:colId xmlns:a16="http://schemas.microsoft.com/office/drawing/2014/main" val="3507088188"/>
                    </a:ext>
                  </a:extLst>
                </a:gridCol>
                <a:gridCol w="1338943">
                  <a:extLst>
                    <a:ext uri="{9D8B030D-6E8A-4147-A177-3AD203B41FA5}">
                      <a16:colId xmlns:a16="http://schemas.microsoft.com/office/drawing/2014/main" val="2457488383"/>
                    </a:ext>
                  </a:extLst>
                </a:gridCol>
                <a:gridCol w="1338943">
                  <a:extLst>
                    <a:ext uri="{9D8B030D-6E8A-4147-A177-3AD203B41FA5}">
                      <a16:colId xmlns:a16="http://schemas.microsoft.com/office/drawing/2014/main" val="3122965762"/>
                    </a:ext>
                  </a:extLst>
                </a:gridCol>
                <a:gridCol w="1338943">
                  <a:extLst>
                    <a:ext uri="{9D8B030D-6E8A-4147-A177-3AD203B41FA5}">
                      <a16:colId xmlns:a16="http://schemas.microsoft.com/office/drawing/2014/main" val="1392758197"/>
                    </a:ext>
                  </a:extLst>
                </a:gridCol>
                <a:gridCol w="1338943">
                  <a:extLst>
                    <a:ext uri="{9D8B030D-6E8A-4147-A177-3AD203B41FA5}">
                      <a16:colId xmlns:a16="http://schemas.microsoft.com/office/drawing/2014/main" val="3404578156"/>
                    </a:ext>
                  </a:extLst>
                </a:gridCol>
              </a:tblGrid>
              <a:tr h="370840">
                <a:tc gridSpan="6">
                  <a:txBody>
                    <a:bodyPr/>
                    <a:lstStyle/>
                    <a:p>
                      <a:pPr algn="ctr" fontAlgn="ctr"/>
                      <a:r>
                        <a:rPr lang="en-IN" sz="1800" b="1" i="0" u="none" strike="noStrike" dirty="0" err="1">
                          <a:solidFill>
                            <a:srgbClr val="000000"/>
                          </a:solidFill>
                          <a:effectLst/>
                          <a:latin typeface="Arial Bold" panose="020B0704020202020204" pitchFamily="34" charset="0"/>
                        </a:rPr>
                        <a:t>ANOVA</a:t>
                      </a:r>
                      <a:r>
                        <a:rPr lang="en-IN" sz="1800" b="1" i="0" u="none" strike="noStrike" baseline="30000" dirty="0" err="1">
                          <a:solidFill>
                            <a:srgbClr val="000000"/>
                          </a:solidFill>
                          <a:effectLst/>
                          <a:latin typeface="Arial Bold" panose="020B0704020202020204" pitchFamily="34" charset="0"/>
                        </a:rPr>
                        <a:t>a</a:t>
                      </a:r>
                      <a:endParaRPr lang="en-IN" sz="1800" b="1" i="0" u="none" strike="noStrike" dirty="0">
                        <a:solidFill>
                          <a:srgbClr val="000000"/>
                        </a:solidFill>
                        <a:effectLst/>
                        <a:latin typeface="Arial Bold" panose="020B0704020202020204" pitchFamily="34" charset="0"/>
                      </a:endParaRPr>
                    </a:p>
                  </a:txBody>
                  <a:tcPr marL="6350" marR="6350" marT="6350" marB="0" anchor="ct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294183159"/>
                  </a:ext>
                </a:extLst>
              </a:tr>
              <a:tr h="370840">
                <a:tc>
                  <a:txBody>
                    <a:bodyPr/>
                    <a:lstStyle/>
                    <a:p>
                      <a:pPr algn="l" fontAlgn="b"/>
                      <a:r>
                        <a:rPr lang="en-IN" sz="1800" b="0" i="0" u="none" strike="noStrike">
                          <a:solidFill>
                            <a:srgbClr val="000000"/>
                          </a:solidFill>
                          <a:effectLst/>
                          <a:latin typeface="Arial" panose="020B0604020202020204" pitchFamily="34" charset="0"/>
                        </a:rPr>
                        <a:t> </a:t>
                      </a:r>
                    </a:p>
                  </a:txBody>
                  <a:tcPr marL="6350" marR="6350" marT="6350" marB="0" anchor="b"/>
                </a:tc>
                <a:tc>
                  <a:txBody>
                    <a:bodyPr/>
                    <a:lstStyle/>
                    <a:p>
                      <a:pPr algn="ctr" fontAlgn="b"/>
                      <a:r>
                        <a:rPr lang="en-IN" sz="1800" b="0" i="0" u="none" strike="noStrike" dirty="0">
                          <a:solidFill>
                            <a:srgbClr val="000000"/>
                          </a:solidFill>
                          <a:effectLst/>
                          <a:latin typeface="Arial" panose="020B0604020202020204" pitchFamily="34" charset="0"/>
                        </a:rPr>
                        <a:t>Sum of Squares</a:t>
                      </a:r>
                    </a:p>
                  </a:txBody>
                  <a:tcPr marL="6350" marR="6350" marT="6350" marB="0" anchor="b"/>
                </a:tc>
                <a:tc>
                  <a:txBody>
                    <a:bodyPr/>
                    <a:lstStyle/>
                    <a:p>
                      <a:pPr algn="ctr" fontAlgn="b"/>
                      <a:r>
                        <a:rPr lang="en-IN" sz="1800" b="0" i="0" u="none" strike="noStrike">
                          <a:solidFill>
                            <a:srgbClr val="000000"/>
                          </a:solidFill>
                          <a:effectLst/>
                          <a:latin typeface="Arial" panose="020B0604020202020204" pitchFamily="34" charset="0"/>
                        </a:rPr>
                        <a:t>df</a:t>
                      </a:r>
                    </a:p>
                  </a:txBody>
                  <a:tcPr marL="6350" marR="6350" marT="6350" marB="0" anchor="b"/>
                </a:tc>
                <a:tc>
                  <a:txBody>
                    <a:bodyPr/>
                    <a:lstStyle/>
                    <a:p>
                      <a:pPr algn="ctr" fontAlgn="b"/>
                      <a:r>
                        <a:rPr lang="en-IN" sz="1800" b="0" i="0" u="none" strike="noStrike" dirty="0">
                          <a:solidFill>
                            <a:srgbClr val="000000"/>
                          </a:solidFill>
                          <a:effectLst/>
                          <a:latin typeface="Arial" panose="020B0604020202020204" pitchFamily="34" charset="0"/>
                        </a:rPr>
                        <a:t>Mean Square</a:t>
                      </a:r>
                    </a:p>
                  </a:txBody>
                  <a:tcPr marL="6350" marR="6350" marT="6350" marB="0" anchor="b"/>
                </a:tc>
                <a:tc>
                  <a:txBody>
                    <a:bodyPr/>
                    <a:lstStyle/>
                    <a:p>
                      <a:pPr algn="ctr" fontAlgn="b"/>
                      <a:r>
                        <a:rPr lang="en-IN" sz="1800" b="0" i="0" u="none" strike="noStrike">
                          <a:solidFill>
                            <a:srgbClr val="000000"/>
                          </a:solidFill>
                          <a:effectLst/>
                          <a:latin typeface="Arial" panose="020B0604020202020204" pitchFamily="34" charset="0"/>
                        </a:rPr>
                        <a:t>F</a:t>
                      </a:r>
                    </a:p>
                  </a:txBody>
                  <a:tcPr marL="6350" marR="6350" marT="6350" marB="0" anchor="b"/>
                </a:tc>
                <a:tc>
                  <a:txBody>
                    <a:bodyPr/>
                    <a:lstStyle/>
                    <a:p>
                      <a:pPr algn="ctr" fontAlgn="b"/>
                      <a:r>
                        <a:rPr lang="en-IN" sz="1800" b="0" i="0" u="none" strike="noStrike">
                          <a:solidFill>
                            <a:srgbClr val="000000"/>
                          </a:solidFill>
                          <a:effectLst/>
                          <a:latin typeface="Arial" panose="020B0604020202020204" pitchFamily="34" charset="0"/>
                        </a:rPr>
                        <a:t>Sig.</a:t>
                      </a:r>
                    </a:p>
                  </a:txBody>
                  <a:tcPr marL="6350" marR="6350" marT="6350" marB="0" anchor="b"/>
                </a:tc>
                <a:extLst>
                  <a:ext uri="{0D108BD9-81ED-4DB2-BD59-A6C34878D82A}">
                    <a16:rowId xmlns:a16="http://schemas.microsoft.com/office/drawing/2014/main" val="2352101640"/>
                  </a:ext>
                </a:extLst>
              </a:tr>
              <a:tr h="370840">
                <a:tc>
                  <a:txBody>
                    <a:bodyPr/>
                    <a:lstStyle/>
                    <a:p>
                      <a:pPr algn="l" fontAlgn="t"/>
                      <a:r>
                        <a:rPr lang="en-IN" sz="1800" b="0" i="0" u="none" strike="noStrike">
                          <a:solidFill>
                            <a:srgbClr val="000000"/>
                          </a:solidFill>
                          <a:effectLst/>
                          <a:latin typeface="Arial" panose="020B0604020202020204" pitchFamily="34" charset="0"/>
                        </a:rPr>
                        <a:t>Regression</a:t>
                      </a:r>
                    </a:p>
                  </a:txBody>
                  <a:tcPr marL="6350" marR="6350" marT="6350" marB="0"/>
                </a:tc>
                <a:tc>
                  <a:txBody>
                    <a:bodyPr/>
                    <a:lstStyle/>
                    <a:p>
                      <a:pPr algn="ctr" fontAlgn="ctr"/>
                      <a:r>
                        <a:rPr lang="en-IN" sz="1800" b="0" i="0" u="none" strike="noStrike" dirty="0">
                          <a:solidFill>
                            <a:srgbClr val="000000"/>
                          </a:solidFill>
                          <a:effectLst/>
                          <a:latin typeface="Arial" panose="020B0604020202020204" pitchFamily="34" charset="0"/>
                        </a:rPr>
                        <a:t>13.100</a:t>
                      </a:r>
                    </a:p>
                  </a:txBody>
                  <a:tcPr marL="6350" marR="6350" marT="6350" marB="0" anchor="ctr"/>
                </a:tc>
                <a:tc>
                  <a:txBody>
                    <a:bodyPr/>
                    <a:lstStyle/>
                    <a:p>
                      <a:pPr algn="ctr" fontAlgn="ctr"/>
                      <a:r>
                        <a:rPr lang="en-IN" sz="1800" b="0" i="0" u="none" strike="noStrike" dirty="0">
                          <a:solidFill>
                            <a:srgbClr val="000000"/>
                          </a:solidFill>
                          <a:effectLst/>
                          <a:latin typeface="Arial" panose="020B0604020202020204" pitchFamily="34" charset="0"/>
                        </a:rPr>
                        <a:t>3</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4.367</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.757</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.534</a:t>
                      </a:r>
                      <a:r>
                        <a:rPr lang="en-IN" sz="1800" b="0" i="0" u="none" strike="noStrike" baseline="30000">
                          <a:solidFill>
                            <a:srgbClr val="000000"/>
                          </a:solidFill>
                          <a:effectLst/>
                          <a:latin typeface="Arial" panose="020B0604020202020204" pitchFamily="34" charset="0"/>
                        </a:rPr>
                        <a:t>b</a:t>
                      </a:r>
                      <a:endParaRPr lang="en-IN" sz="1800" b="0"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1647971892"/>
                  </a:ext>
                </a:extLst>
              </a:tr>
              <a:tr h="370840">
                <a:tc>
                  <a:txBody>
                    <a:bodyPr/>
                    <a:lstStyle/>
                    <a:p>
                      <a:pPr algn="l" fontAlgn="t"/>
                      <a:r>
                        <a:rPr lang="en-IN" sz="1800" b="0" i="0" u="none" strike="noStrike">
                          <a:solidFill>
                            <a:srgbClr val="000000"/>
                          </a:solidFill>
                          <a:effectLst/>
                          <a:latin typeface="Arial" panose="020B0604020202020204" pitchFamily="34" charset="0"/>
                        </a:rPr>
                        <a:t>Residual</a:t>
                      </a:r>
                    </a:p>
                  </a:txBody>
                  <a:tcPr marL="6350" marR="6350" marT="6350" marB="0"/>
                </a:tc>
                <a:tc>
                  <a:txBody>
                    <a:bodyPr/>
                    <a:lstStyle/>
                    <a:p>
                      <a:pPr algn="ctr" fontAlgn="ctr"/>
                      <a:r>
                        <a:rPr lang="en-IN" sz="1800" b="0" i="0" u="none" strike="noStrike" dirty="0">
                          <a:solidFill>
                            <a:srgbClr val="000000"/>
                          </a:solidFill>
                          <a:effectLst/>
                          <a:latin typeface="Arial" panose="020B0604020202020204" pitchFamily="34" charset="0"/>
                        </a:rPr>
                        <a:t>92.247</a:t>
                      </a:r>
                    </a:p>
                  </a:txBody>
                  <a:tcPr marL="6350" marR="6350" marT="6350" marB="0" anchor="ctr"/>
                </a:tc>
                <a:tc>
                  <a:txBody>
                    <a:bodyPr/>
                    <a:lstStyle/>
                    <a:p>
                      <a:pPr algn="ctr" fontAlgn="ctr"/>
                      <a:r>
                        <a:rPr lang="en-IN" sz="1800" b="0" i="0" u="none" strike="noStrike" dirty="0">
                          <a:solidFill>
                            <a:srgbClr val="000000"/>
                          </a:solidFill>
                          <a:effectLst/>
                          <a:latin typeface="Arial" panose="020B0604020202020204" pitchFamily="34" charset="0"/>
                        </a:rPr>
                        <a:t>16</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5.765</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 </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 </a:t>
                      </a:r>
                    </a:p>
                  </a:txBody>
                  <a:tcPr marL="6350" marR="6350" marT="6350" marB="0" anchor="ctr"/>
                </a:tc>
                <a:extLst>
                  <a:ext uri="{0D108BD9-81ED-4DB2-BD59-A6C34878D82A}">
                    <a16:rowId xmlns:a16="http://schemas.microsoft.com/office/drawing/2014/main" val="2799319521"/>
                  </a:ext>
                </a:extLst>
              </a:tr>
              <a:tr h="370840">
                <a:tc>
                  <a:txBody>
                    <a:bodyPr/>
                    <a:lstStyle/>
                    <a:p>
                      <a:pPr algn="l" fontAlgn="t"/>
                      <a:r>
                        <a:rPr lang="en-IN" sz="1800" b="0" i="0" u="none" strike="noStrike">
                          <a:solidFill>
                            <a:srgbClr val="000000"/>
                          </a:solidFill>
                          <a:effectLst/>
                          <a:latin typeface="Arial" panose="020B0604020202020204" pitchFamily="34" charset="0"/>
                        </a:rPr>
                        <a:t>Total</a:t>
                      </a:r>
                    </a:p>
                  </a:txBody>
                  <a:tcPr marL="6350" marR="6350" marT="6350" marB="0"/>
                </a:tc>
                <a:tc>
                  <a:txBody>
                    <a:bodyPr/>
                    <a:lstStyle/>
                    <a:p>
                      <a:pPr algn="ctr" fontAlgn="ctr"/>
                      <a:r>
                        <a:rPr lang="en-IN" sz="1800" b="0" i="0" u="none" strike="noStrike">
                          <a:solidFill>
                            <a:srgbClr val="000000"/>
                          </a:solidFill>
                          <a:effectLst/>
                          <a:latin typeface="Arial" panose="020B0604020202020204" pitchFamily="34" charset="0"/>
                        </a:rPr>
                        <a:t>105.346</a:t>
                      </a:r>
                    </a:p>
                  </a:txBody>
                  <a:tcPr marL="6350" marR="6350" marT="6350" marB="0" anchor="ctr"/>
                </a:tc>
                <a:tc>
                  <a:txBody>
                    <a:bodyPr/>
                    <a:lstStyle/>
                    <a:p>
                      <a:pPr algn="ctr" fontAlgn="ctr"/>
                      <a:r>
                        <a:rPr lang="en-IN" sz="1800" b="0" i="0" u="none" strike="noStrike" dirty="0">
                          <a:solidFill>
                            <a:srgbClr val="000000"/>
                          </a:solidFill>
                          <a:effectLst/>
                          <a:latin typeface="Arial" panose="020B0604020202020204" pitchFamily="34" charset="0"/>
                        </a:rPr>
                        <a:t>19</a:t>
                      </a:r>
                    </a:p>
                  </a:txBody>
                  <a:tcPr marL="6350" marR="6350" marT="6350" marB="0" anchor="ctr"/>
                </a:tc>
                <a:tc>
                  <a:txBody>
                    <a:bodyPr/>
                    <a:lstStyle/>
                    <a:p>
                      <a:pPr algn="ctr" fontAlgn="ctr"/>
                      <a:r>
                        <a:rPr lang="en-IN" sz="1800" b="0" i="0" u="none" strike="noStrike" dirty="0">
                          <a:solidFill>
                            <a:srgbClr val="000000"/>
                          </a:solidFill>
                          <a:effectLst/>
                          <a:latin typeface="Arial" panose="020B0604020202020204" pitchFamily="34" charset="0"/>
                        </a:rPr>
                        <a:t> </a:t>
                      </a:r>
                    </a:p>
                  </a:txBody>
                  <a:tcPr marL="6350" marR="6350" marT="6350" marB="0" anchor="ctr"/>
                </a:tc>
                <a:tc>
                  <a:txBody>
                    <a:bodyPr/>
                    <a:lstStyle/>
                    <a:p>
                      <a:pPr algn="ctr" fontAlgn="ctr"/>
                      <a:r>
                        <a:rPr lang="en-IN" sz="1800" b="0" i="0" u="none" strike="noStrike" dirty="0">
                          <a:solidFill>
                            <a:srgbClr val="000000"/>
                          </a:solidFill>
                          <a:effectLst/>
                          <a:latin typeface="Arial" panose="020B0604020202020204" pitchFamily="34" charset="0"/>
                        </a:rPr>
                        <a:t> </a:t>
                      </a:r>
                    </a:p>
                  </a:txBody>
                  <a:tcPr marL="6350" marR="6350" marT="6350" marB="0" anchor="ctr"/>
                </a:tc>
                <a:tc>
                  <a:txBody>
                    <a:bodyPr/>
                    <a:lstStyle/>
                    <a:p>
                      <a:pPr algn="ctr" fontAlgn="ctr"/>
                      <a:r>
                        <a:rPr lang="en-IN" sz="1800" b="0" i="0" u="none" strike="noStrike" dirty="0">
                          <a:solidFill>
                            <a:srgbClr val="000000"/>
                          </a:solidFill>
                          <a:effectLst/>
                          <a:latin typeface="Arial" panose="020B0604020202020204" pitchFamily="34" charset="0"/>
                        </a:rPr>
                        <a:t> </a:t>
                      </a:r>
                    </a:p>
                  </a:txBody>
                  <a:tcPr marL="6350" marR="6350" marT="6350" marB="0" anchor="ctr"/>
                </a:tc>
                <a:extLst>
                  <a:ext uri="{0D108BD9-81ED-4DB2-BD59-A6C34878D82A}">
                    <a16:rowId xmlns:a16="http://schemas.microsoft.com/office/drawing/2014/main" val="2492852752"/>
                  </a:ext>
                </a:extLst>
              </a:tr>
              <a:tr h="370840">
                <a:tc gridSpan="6">
                  <a:txBody>
                    <a:bodyPr/>
                    <a:lstStyle/>
                    <a:p>
                      <a:r>
                        <a:rPr lang="en-IN" sz="1800" dirty="0"/>
                        <a:t>Dependent: </a:t>
                      </a:r>
                      <a:r>
                        <a:rPr lang="en-IN" sz="1800" dirty="0" err="1"/>
                        <a:t>Ln_Res_Sqrd</a:t>
                      </a:r>
                      <a:r>
                        <a:rPr lang="en-IN" sz="1800" dirty="0"/>
                        <a:t>; </a:t>
                      </a:r>
                      <a:r>
                        <a:rPr lang="en-IN" sz="1800" dirty="0" err="1"/>
                        <a:t>Predictors:Constant</a:t>
                      </a:r>
                      <a:r>
                        <a:rPr lang="en-IN" sz="1800" dirty="0"/>
                        <a:t>, L_T2, L_MATERIAL, L_OTINC</a:t>
                      </a:r>
                    </a:p>
                  </a:txBody>
                  <a:tcPr>
                    <a:solidFill>
                      <a:schemeClr val="accent5">
                        <a:lumMod val="60000"/>
                        <a:lumOff val="40000"/>
                      </a:schemeClr>
                    </a:solidFill>
                  </a:tcPr>
                </a:tc>
                <a:tc hMerge="1">
                  <a:txBody>
                    <a:bodyPr/>
                    <a:lstStyle/>
                    <a:p>
                      <a:pPr algn="ctr"/>
                      <a:endParaRPr lang="en-IN" sz="1800" dirty="0"/>
                    </a:p>
                  </a:txBody>
                  <a:tcPr/>
                </a:tc>
                <a:tc hMerge="1">
                  <a:txBody>
                    <a:bodyPr/>
                    <a:lstStyle/>
                    <a:p>
                      <a:pPr algn="ctr"/>
                      <a:endParaRPr lang="en-IN" sz="1800" dirty="0"/>
                    </a:p>
                  </a:txBody>
                  <a:tcPr/>
                </a:tc>
                <a:tc hMerge="1">
                  <a:txBody>
                    <a:bodyPr/>
                    <a:lstStyle/>
                    <a:p>
                      <a:pPr algn="ctr"/>
                      <a:endParaRPr lang="en-IN" sz="1800" dirty="0"/>
                    </a:p>
                  </a:txBody>
                  <a:tcPr/>
                </a:tc>
                <a:tc hMerge="1">
                  <a:txBody>
                    <a:bodyPr/>
                    <a:lstStyle/>
                    <a:p>
                      <a:pPr algn="ctr"/>
                      <a:endParaRPr lang="en-IN" sz="1800" dirty="0"/>
                    </a:p>
                  </a:txBody>
                  <a:tcPr/>
                </a:tc>
                <a:tc hMerge="1">
                  <a:txBody>
                    <a:bodyPr/>
                    <a:lstStyle/>
                    <a:p>
                      <a:pPr algn="ctr"/>
                      <a:endParaRPr lang="en-IN" sz="1800" dirty="0"/>
                    </a:p>
                  </a:txBody>
                  <a:tcPr/>
                </a:tc>
                <a:extLst>
                  <a:ext uri="{0D108BD9-81ED-4DB2-BD59-A6C34878D82A}">
                    <a16:rowId xmlns:a16="http://schemas.microsoft.com/office/drawing/2014/main" val="3490623147"/>
                  </a:ext>
                </a:extLst>
              </a:tr>
            </a:tbl>
          </a:graphicData>
        </a:graphic>
      </p:graphicFrame>
      <p:sp>
        <p:nvSpPr>
          <p:cNvPr id="2" name="Title 1">
            <a:extLst>
              <a:ext uri="{FF2B5EF4-FFF2-40B4-BE49-F238E27FC236}">
                <a16:creationId xmlns:a16="http://schemas.microsoft.com/office/drawing/2014/main" id="{DFFB8205-22A6-49FE-8442-64647899D34A}"/>
              </a:ext>
            </a:extLst>
          </p:cNvPr>
          <p:cNvSpPr>
            <a:spLocks noGrp="1"/>
          </p:cNvSpPr>
          <p:nvPr>
            <p:ph type="title"/>
          </p:nvPr>
        </p:nvSpPr>
        <p:spPr>
          <a:xfrm>
            <a:off x="620486" y="228600"/>
            <a:ext cx="6347713" cy="685800"/>
          </a:xfrm>
        </p:spPr>
        <p:txBody>
          <a:bodyPr>
            <a:normAutofit/>
          </a:bodyPr>
          <a:lstStyle/>
          <a:p>
            <a:r>
              <a:rPr lang="en-US" dirty="0"/>
              <a:t>Park’s Test – UTI </a:t>
            </a:r>
            <a:endParaRPr lang="en-IN" dirty="0"/>
          </a:p>
        </p:txBody>
      </p:sp>
      <p:graphicFrame>
        <p:nvGraphicFramePr>
          <p:cNvPr id="4" name="Table 4">
            <a:extLst>
              <a:ext uri="{FF2B5EF4-FFF2-40B4-BE49-F238E27FC236}">
                <a16:creationId xmlns:a16="http://schemas.microsoft.com/office/drawing/2014/main" id="{3AA1A5D3-29EB-4A03-8B03-1BC6A84D0B8B}"/>
              </a:ext>
            </a:extLst>
          </p:cNvPr>
          <p:cNvGraphicFramePr>
            <a:graphicFrameLocks noGrp="1"/>
          </p:cNvGraphicFramePr>
          <p:nvPr>
            <p:ph idx="1"/>
            <p:extLst>
              <p:ext uri="{D42A27DB-BD31-4B8C-83A1-F6EECF244321}">
                <p14:modId xmlns:p14="http://schemas.microsoft.com/office/powerpoint/2010/main" val="3567652013"/>
              </p:ext>
            </p:extLst>
          </p:nvPr>
        </p:nvGraphicFramePr>
        <p:xfrm>
          <a:off x="620486" y="4267200"/>
          <a:ext cx="8033658" cy="2409190"/>
        </p:xfrm>
        <a:graphic>
          <a:graphicData uri="http://schemas.openxmlformats.org/drawingml/2006/table">
            <a:tbl>
              <a:tblPr firstRow="1" bandRow="1">
                <a:tableStyleId>{5C22544A-7EE6-4342-B048-85BDC9FD1C3A}</a:tableStyleId>
              </a:tblPr>
              <a:tblGrid>
                <a:gridCol w="1436914">
                  <a:extLst>
                    <a:ext uri="{9D8B030D-6E8A-4147-A177-3AD203B41FA5}">
                      <a16:colId xmlns:a16="http://schemas.microsoft.com/office/drawing/2014/main" val="2796230756"/>
                    </a:ext>
                  </a:extLst>
                </a:gridCol>
                <a:gridCol w="1240972">
                  <a:extLst>
                    <a:ext uri="{9D8B030D-6E8A-4147-A177-3AD203B41FA5}">
                      <a16:colId xmlns:a16="http://schemas.microsoft.com/office/drawing/2014/main" val="1577710878"/>
                    </a:ext>
                  </a:extLst>
                </a:gridCol>
                <a:gridCol w="1338943">
                  <a:extLst>
                    <a:ext uri="{9D8B030D-6E8A-4147-A177-3AD203B41FA5}">
                      <a16:colId xmlns:a16="http://schemas.microsoft.com/office/drawing/2014/main" val="3706367837"/>
                    </a:ext>
                  </a:extLst>
                </a:gridCol>
                <a:gridCol w="1578429">
                  <a:extLst>
                    <a:ext uri="{9D8B030D-6E8A-4147-A177-3AD203B41FA5}">
                      <a16:colId xmlns:a16="http://schemas.microsoft.com/office/drawing/2014/main" val="3162724707"/>
                    </a:ext>
                  </a:extLst>
                </a:gridCol>
                <a:gridCol w="1099457">
                  <a:extLst>
                    <a:ext uri="{9D8B030D-6E8A-4147-A177-3AD203B41FA5}">
                      <a16:colId xmlns:a16="http://schemas.microsoft.com/office/drawing/2014/main" val="2278814167"/>
                    </a:ext>
                  </a:extLst>
                </a:gridCol>
                <a:gridCol w="1338943">
                  <a:extLst>
                    <a:ext uri="{9D8B030D-6E8A-4147-A177-3AD203B41FA5}">
                      <a16:colId xmlns:a16="http://schemas.microsoft.com/office/drawing/2014/main" val="4247690790"/>
                    </a:ext>
                  </a:extLst>
                </a:gridCol>
              </a:tblGrid>
              <a:tr h="447040">
                <a:tc>
                  <a:txBody>
                    <a:bodyPr/>
                    <a:lstStyle/>
                    <a:p>
                      <a:pPr algn="l" fontAlgn="b"/>
                      <a:r>
                        <a:rPr lang="en-IN" sz="1800" b="0" i="0" u="none" strike="noStrike" dirty="0">
                          <a:solidFill>
                            <a:schemeClr val="bg1"/>
                          </a:solidFill>
                          <a:effectLst/>
                          <a:latin typeface="Arial" panose="020B0604020202020204" pitchFamily="34" charset="0"/>
                        </a:rPr>
                        <a:t> </a:t>
                      </a:r>
                    </a:p>
                  </a:txBody>
                  <a:tcPr marL="6350" marR="6350" marT="6350" marB="0" anchor="b"/>
                </a:tc>
                <a:tc gridSpan="2">
                  <a:txBody>
                    <a:bodyPr/>
                    <a:lstStyle/>
                    <a:p>
                      <a:pPr algn="ctr" fontAlgn="b"/>
                      <a:r>
                        <a:rPr lang="en-IN" sz="1800" b="0" i="0" u="none" strike="noStrike" dirty="0">
                          <a:solidFill>
                            <a:schemeClr val="bg1"/>
                          </a:solidFill>
                          <a:effectLst/>
                          <a:latin typeface="Arial" panose="020B0604020202020204" pitchFamily="34" charset="0"/>
                        </a:rPr>
                        <a:t>Unstandardized Coefficients</a:t>
                      </a:r>
                    </a:p>
                  </a:txBody>
                  <a:tcPr marL="6350" marR="6350" marT="6350" marB="0" anchor="b"/>
                </a:tc>
                <a:tc hMerge="1">
                  <a:txBody>
                    <a:bodyPr/>
                    <a:lstStyle/>
                    <a:p>
                      <a:endParaRPr lang="en-IN"/>
                    </a:p>
                  </a:txBody>
                  <a:tcPr/>
                </a:tc>
                <a:tc>
                  <a:txBody>
                    <a:bodyPr/>
                    <a:lstStyle/>
                    <a:p>
                      <a:pPr algn="ctr" fontAlgn="b"/>
                      <a:r>
                        <a:rPr lang="en-IN" sz="1800" b="0" i="0" u="none" strike="noStrike">
                          <a:solidFill>
                            <a:schemeClr val="bg1"/>
                          </a:solidFill>
                          <a:effectLst/>
                          <a:latin typeface="Arial" panose="020B0604020202020204" pitchFamily="34" charset="0"/>
                        </a:rPr>
                        <a:t>Standardized Coefficients</a:t>
                      </a:r>
                    </a:p>
                  </a:txBody>
                  <a:tcPr marL="6350" marR="6350" marT="6350" marB="0" anchor="b"/>
                </a:tc>
                <a:tc rowSpan="2">
                  <a:txBody>
                    <a:bodyPr/>
                    <a:lstStyle/>
                    <a:p>
                      <a:pPr algn="ctr" fontAlgn="b"/>
                      <a:r>
                        <a:rPr lang="en-IN" sz="1800" b="0" i="0" u="none" strike="noStrike">
                          <a:solidFill>
                            <a:schemeClr val="bg1"/>
                          </a:solidFill>
                          <a:effectLst/>
                          <a:latin typeface="Arial" panose="020B0604020202020204" pitchFamily="34" charset="0"/>
                        </a:rPr>
                        <a:t>t</a:t>
                      </a:r>
                    </a:p>
                  </a:txBody>
                  <a:tcPr marL="6350" marR="6350" marT="6350" marB="0" anchor="b"/>
                </a:tc>
                <a:tc rowSpan="2">
                  <a:txBody>
                    <a:bodyPr/>
                    <a:lstStyle/>
                    <a:p>
                      <a:pPr algn="ctr" fontAlgn="b"/>
                      <a:r>
                        <a:rPr lang="en-IN" sz="1800" b="0" i="0" u="none" strike="noStrike">
                          <a:solidFill>
                            <a:schemeClr val="bg1"/>
                          </a:solidFill>
                          <a:effectLst/>
                          <a:latin typeface="Arial" panose="020B0604020202020204" pitchFamily="34" charset="0"/>
                        </a:rPr>
                        <a:t>Sig.</a:t>
                      </a:r>
                    </a:p>
                  </a:txBody>
                  <a:tcPr marL="6350" marR="6350" marT="6350" marB="0" anchor="b"/>
                </a:tc>
                <a:extLst>
                  <a:ext uri="{0D108BD9-81ED-4DB2-BD59-A6C34878D82A}">
                    <a16:rowId xmlns:a16="http://schemas.microsoft.com/office/drawing/2014/main" val="3514420752"/>
                  </a:ext>
                </a:extLst>
              </a:tr>
              <a:tr h="370840">
                <a:tc>
                  <a:txBody>
                    <a:bodyPr/>
                    <a:lstStyle/>
                    <a:p>
                      <a:pPr algn="l" fontAlgn="b"/>
                      <a:r>
                        <a:rPr lang="en-IN" sz="1800" b="0" i="0" u="none" strike="noStrike">
                          <a:solidFill>
                            <a:schemeClr val="bg1"/>
                          </a:solidFill>
                          <a:effectLst/>
                          <a:latin typeface="Arial" panose="020B0604020202020204" pitchFamily="34" charset="0"/>
                        </a:rPr>
                        <a:t> </a:t>
                      </a:r>
                    </a:p>
                  </a:txBody>
                  <a:tcPr marL="6350" marR="6350" marT="6350" marB="0" anchor="b"/>
                </a:tc>
                <a:tc>
                  <a:txBody>
                    <a:bodyPr/>
                    <a:lstStyle/>
                    <a:p>
                      <a:pPr algn="ctr" fontAlgn="b"/>
                      <a:r>
                        <a:rPr lang="en-IN" sz="1800" b="0" i="0" u="none" strike="noStrike" dirty="0">
                          <a:solidFill>
                            <a:schemeClr val="bg1"/>
                          </a:solidFill>
                          <a:effectLst/>
                          <a:latin typeface="Arial" panose="020B0604020202020204" pitchFamily="34" charset="0"/>
                        </a:rPr>
                        <a:t>B</a:t>
                      </a:r>
                    </a:p>
                  </a:txBody>
                  <a:tcPr marL="6350" marR="6350" marT="6350" marB="0" anchor="b">
                    <a:solidFill>
                      <a:schemeClr val="tx2">
                        <a:lumMod val="60000"/>
                        <a:lumOff val="40000"/>
                      </a:schemeClr>
                    </a:solidFill>
                  </a:tcPr>
                </a:tc>
                <a:tc>
                  <a:txBody>
                    <a:bodyPr/>
                    <a:lstStyle/>
                    <a:p>
                      <a:pPr algn="ctr" fontAlgn="b"/>
                      <a:r>
                        <a:rPr lang="en-IN" sz="1800" b="0" i="0" u="none" strike="noStrike" dirty="0">
                          <a:solidFill>
                            <a:schemeClr val="bg1"/>
                          </a:solidFill>
                          <a:effectLst/>
                          <a:latin typeface="Arial" panose="020B0604020202020204" pitchFamily="34" charset="0"/>
                        </a:rPr>
                        <a:t>Std. Error</a:t>
                      </a:r>
                    </a:p>
                  </a:txBody>
                  <a:tcPr marL="6350" marR="6350" marT="6350" marB="0" anchor="b">
                    <a:solidFill>
                      <a:schemeClr val="tx2">
                        <a:lumMod val="60000"/>
                        <a:lumOff val="40000"/>
                      </a:schemeClr>
                    </a:solidFill>
                  </a:tcPr>
                </a:tc>
                <a:tc>
                  <a:txBody>
                    <a:bodyPr/>
                    <a:lstStyle/>
                    <a:p>
                      <a:pPr algn="ctr" fontAlgn="b"/>
                      <a:r>
                        <a:rPr lang="en-IN" sz="1800" b="0" i="0" u="none" strike="noStrike" dirty="0">
                          <a:solidFill>
                            <a:schemeClr val="bg1"/>
                          </a:solidFill>
                          <a:effectLst/>
                          <a:latin typeface="Arial" panose="020B0604020202020204" pitchFamily="34" charset="0"/>
                        </a:rPr>
                        <a:t>Beta</a:t>
                      </a:r>
                    </a:p>
                  </a:txBody>
                  <a:tcPr marL="6350" marR="6350" marT="6350" marB="0" anchor="b">
                    <a:solidFill>
                      <a:schemeClr val="tx2">
                        <a:lumMod val="60000"/>
                        <a:lumOff val="40000"/>
                      </a:schemeClr>
                    </a:solidFill>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4245272803"/>
                  </a:ext>
                </a:extLst>
              </a:tr>
              <a:tr h="370840">
                <a:tc>
                  <a:txBody>
                    <a:bodyPr/>
                    <a:lstStyle/>
                    <a:p>
                      <a:pPr algn="l" fontAlgn="t"/>
                      <a:r>
                        <a:rPr lang="en-IN" sz="1800" b="0" i="0" u="none" strike="noStrike">
                          <a:solidFill>
                            <a:srgbClr val="000000"/>
                          </a:solidFill>
                          <a:effectLst/>
                          <a:latin typeface="Arial" panose="020B0604020202020204" pitchFamily="34" charset="0"/>
                        </a:rPr>
                        <a:t>(Constant)</a:t>
                      </a:r>
                    </a:p>
                  </a:txBody>
                  <a:tcPr marL="6350" marR="6350" marT="6350" marB="0"/>
                </a:tc>
                <a:tc>
                  <a:txBody>
                    <a:bodyPr/>
                    <a:lstStyle/>
                    <a:p>
                      <a:pPr algn="ctr" fontAlgn="ctr"/>
                      <a:r>
                        <a:rPr lang="en-IN" sz="1800" b="0" i="0" u="none" strike="noStrike" dirty="0">
                          <a:solidFill>
                            <a:srgbClr val="000000"/>
                          </a:solidFill>
                          <a:effectLst/>
                          <a:latin typeface="Arial" panose="020B0604020202020204" pitchFamily="34" charset="0"/>
                        </a:rPr>
                        <a:t>16.795</a:t>
                      </a:r>
                    </a:p>
                  </a:txBody>
                  <a:tcPr marL="6350" marR="6350" marT="6350" marB="0" anchor="ctr"/>
                </a:tc>
                <a:tc>
                  <a:txBody>
                    <a:bodyPr/>
                    <a:lstStyle/>
                    <a:p>
                      <a:pPr algn="ctr" fontAlgn="ctr"/>
                      <a:r>
                        <a:rPr lang="en-IN" sz="1800" b="0" i="0" u="none" strike="noStrike" dirty="0">
                          <a:solidFill>
                            <a:srgbClr val="000000"/>
                          </a:solidFill>
                          <a:effectLst/>
                          <a:latin typeface="Arial" panose="020B0604020202020204" pitchFamily="34" charset="0"/>
                        </a:rPr>
                        <a:t>6.730</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 </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2.496</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.024</a:t>
                      </a:r>
                    </a:p>
                  </a:txBody>
                  <a:tcPr marL="6350" marR="6350" marT="6350" marB="0" anchor="ctr"/>
                </a:tc>
                <a:extLst>
                  <a:ext uri="{0D108BD9-81ED-4DB2-BD59-A6C34878D82A}">
                    <a16:rowId xmlns:a16="http://schemas.microsoft.com/office/drawing/2014/main" val="783316997"/>
                  </a:ext>
                </a:extLst>
              </a:tr>
              <a:tr h="370840">
                <a:tc>
                  <a:txBody>
                    <a:bodyPr/>
                    <a:lstStyle/>
                    <a:p>
                      <a:pPr algn="l" fontAlgn="t"/>
                      <a:r>
                        <a:rPr lang="en-IN" sz="1800" b="0" i="0" u="none" strike="noStrike">
                          <a:solidFill>
                            <a:srgbClr val="000000"/>
                          </a:solidFill>
                          <a:effectLst/>
                          <a:latin typeface="Arial" panose="020B0604020202020204" pitchFamily="34" charset="0"/>
                        </a:rPr>
                        <a:t>L_MATERIAL</a:t>
                      </a:r>
                    </a:p>
                  </a:txBody>
                  <a:tcPr marL="6350" marR="6350" marT="6350" marB="0"/>
                </a:tc>
                <a:tc>
                  <a:txBody>
                    <a:bodyPr/>
                    <a:lstStyle/>
                    <a:p>
                      <a:pPr algn="ctr" fontAlgn="ctr"/>
                      <a:r>
                        <a:rPr lang="en-IN" sz="1800" b="0" i="0" u="none" strike="noStrike">
                          <a:solidFill>
                            <a:srgbClr val="000000"/>
                          </a:solidFill>
                          <a:effectLst/>
                          <a:latin typeface="Arial" panose="020B0604020202020204" pitchFamily="34" charset="0"/>
                        </a:rPr>
                        <a:t>.216</a:t>
                      </a:r>
                    </a:p>
                  </a:txBody>
                  <a:tcPr marL="6350" marR="6350" marT="6350" marB="0" anchor="ctr"/>
                </a:tc>
                <a:tc>
                  <a:txBody>
                    <a:bodyPr/>
                    <a:lstStyle/>
                    <a:p>
                      <a:pPr algn="ctr" fontAlgn="ctr"/>
                      <a:r>
                        <a:rPr lang="en-IN" sz="1800" b="0" i="0" u="none" strike="noStrike" dirty="0">
                          <a:solidFill>
                            <a:srgbClr val="000000"/>
                          </a:solidFill>
                          <a:effectLst/>
                          <a:latin typeface="Arial" panose="020B0604020202020204" pitchFamily="34" charset="0"/>
                        </a:rPr>
                        <a:t>1.136</a:t>
                      </a:r>
                    </a:p>
                  </a:txBody>
                  <a:tcPr marL="6350" marR="6350" marT="6350" marB="0" anchor="ctr"/>
                </a:tc>
                <a:tc>
                  <a:txBody>
                    <a:bodyPr/>
                    <a:lstStyle/>
                    <a:p>
                      <a:pPr algn="ctr" fontAlgn="ctr"/>
                      <a:r>
                        <a:rPr lang="en-IN" sz="1800" b="0" i="0" u="none" strike="noStrike" dirty="0">
                          <a:solidFill>
                            <a:srgbClr val="000000"/>
                          </a:solidFill>
                          <a:effectLst/>
                          <a:latin typeface="Arial" panose="020B0604020202020204" pitchFamily="34" charset="0"/>
                        </a:rPr>
                        <a:t>.094</a:t>
                      </a:r>
                    </a:p>
                  </a:txBody>
                  <a:tcPr marL="6350" marR="6350" marT="6350" marB="0" anchor="ctr"/>
                </a:tc>
                <a:tc>
                  <a:txBody>
                    <a:bodyPr/>
                    <a:lstStyle/>
                    <a:p>
                      <a:pPr algn="ctr" fontAlgn="ctr"/>
                      <a:r>
                        <a:rPr lang="en-IN" sz="1800" b="0" i="0" u="none" strike="noStrike" dirty="0">
                          <a:solidFill>
                            <a:srgbClr val="000000"/>
                          </a:solidFill>
                          <a:effectLst/>
                          <a:latin typeface="Arial" panose="020B0604020202020204" pitchFamily="34" charset="0"/>
                        </a:rPr>
                        <a:t>.190</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.851</a:t>
                      </a:r>
                    </a:p>
                  </a:txBody>
                  <a:tcPr marL="6350" marR="6350" marT="6350" marB="0" anchor="ctr"/>
                </a:tc>
                <a:extLst>
                  <a:ext uri="{0D108BD9-81ED-4DB2-BD59-A6C34878D82A}">
                    <a16:rowId xmlns:a16="http://schemas.microsoft.com/office/drawing/2014/main" val="2543597271"/>
                  </a:ext>
                </a:extLst>
              </a:tr>
              <a:tr h="370840">
                <a:tc>
                  <a:txBody>
                    <a:bodyPr/>
                    <a:lstStyle/>
                    <a:p>
                      <a:pPr algn="l" fontAlgn="t"/>
                      <a:r>
                        <a:rPr lang="en-IN" sz="1800" b="0" i="0" u="none" strike="noStrike">
                          <a:solidFill>
                            <a:srgbClr val="000000"/>
                          </a:solidFill>
                          <a:effectLst/>
                          <a:latin typeface="Arial" panose="020B0604020202020204" pitchFamily="34" charset="0"/>
                        </a:rPr>
                        <a:t>L_OTINC</a:t>
                      </a:r>
                    </a:p>
                  </a:txBody>
                  <a:tcPr marL="6350" marR="6350" marT="6350" marB="0"/>
                </a:tc>
                <a:tc>
                  <a:txBody>
                    <a:bodyPr/>
                    <a:lstStyle/>
                    <a:p>
                      <a:pPr algn="ctr" fontAlgn="ctr"/>
                      <a:r>
                        <a:rPr lang="en-IN" sz="1800" b="0" i="0" u="none" strike="noStrike" dirty="0">
                          <a:solidFill>
                            <a:srgbClr val="000000"/>
                          </a:solidFill>
                          <a:effectLst/>
                          <a:latin typeface="Arial" panose="020B0604020202020204" pitchFamily="34" charset="0"/>
                        </a:rPr>
                        <a:t>-1.553</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1.127</a:t>
                      </a:r>
                    </a:p>
                  </a:txBody>
                  <a:tcPr marL="6350" marR="6350" marT="6350" marB="0" anchor="ctr"/>
                </a:tc>
                <a:tc>
                  <a:txBody>
                    <a:bodyPr/>
                    <a:lstStyle/>
                    <a:p>
                      <a:pPr algn="ctr" fontAlgn="ctr"/>
                      <a:r>
                        <a:rPr lang="en-IN" sz="1800" b="0" i="0" u="none" strike="noStrike" dirty="0">
                          <a:solidFill>
                            <a:srgbClr val="000000"/>
                          </a:solidFill>
                          <a:effectLst/>
                          <a:latin typeface="Arial" panose="020B0604020202020204" pitchFamily="34" charset="0"/>
                        </a:rPr>
                        <a:t>-.788</a:t>
                      </a:r>
                    </a:p>
                  </a:txBody>
                  <a:tcPr marL="6350" marR="6350" marT="6350" marB="0" anchor="ctr"/>
                </a:tc>
                <a:tc>
                  <a:txBody>
                    <a:bodyPr/>
                    <a:lstStyle/>
                    <a:p>
                      <a:pPr algn="ctr" fontAlgn="ctr"/>
                      <a:r>
                        <a:rPr lang="en-IN" sz="1800" b="0" i="0" u="none" strike="noStrike" dirty="0">
                          <a:solidFill>
                            <a:srgbClr val="000000"/>
                          </a:solidFill>
                          <a:effectLst/>
                          <a:latin typeface="Arial" panose="020B0604020202020204" pitchFamily="34" charset="0"/>
                        </a:rPr>
                        <a:t>-1.378</a:t>
                      </a:r>
                    </a:p>
                  </a:txBody>
                  <a:tcPr marL="6350" marR="6350" marT="6350" marB="0" anchor="ctr"/>
                </a:tc>
                <a:tc>
                  <a:txBody>
                    <a:bodyPr/>
                    <a:lstStyle/>
                    <a:p>
                      <a:pPr algn="ctr" fontAlgn="ctr"/>
                      <a:r>
                        <a:rPr lang="en-IN" sz="1800" b="0" i="0" u="none" strike="noStrike" dirty="0">
                          <a:solidFill>
                            <a:srgbClr val="000000"/>
                          </a:solidFill>
                          <a:effectLst/>
                          <a:latin typeface="Arial" panose="020B0604020202020204" pitchFamily="34" charset="0"/>
                        </a:rPr>
                        <a:t>.187</a:t>
                      </a:r>
                    </a:p>
                  </a:txBody>
                  <a:tcPr marL="6350" marR="6350" marT="6350" marB="0" anchor="ctr"/>
                </a:tc>
                <a:extLst>
                  <a:ext uri="{0D108BD9-81ED-4DB2-BD59-A6C34878D82A}">
                    <a16:rowId xmlns:a16="http://schemas.microsoft.com/office/drawing/2014/main" val="2391492539"/>
                  </a:ext>
                </a:extLst>
              </a:tr>
              <a:tr h="370840">
                <a:tc>
                  <a:txBody>
                    <a:bodyPr/>
                    <a:lstStyle/>
                    <a:p>
                      <a:pPr algn="l" fontAlgn="t"/>
                      <a:r>
                        <a:rPr lang="en-IN" sz="1800" b="0" i="0" u="none" strike="noStrike" dirty="0">
                          <a:solidFill>
                            <a:srgbClr val="000000"/>
                          </a:solidFill>
                          <a:effectLst/>
                          <a:latin typeface="Arial" panose="020B0604020202020204" pitchFamily="34" charset="0"/>
                        </a:rPr>
                        <a:t>L_T2</a:t>
                      </a:r>
                    </a:p>
                  </a:txBody>
                  <a:tcPr marL="6350" marR="6350" marT="6350" marB="0"/>
                </a:tc>
                <a:tc>
                  <a:txBody>
                    <a:bodyPr/>
                    <a:lstStyle/>
                    <a:p>
                      <a:pPr algn="ctr" fontAlgn="ctr"/>
                      <a:r>
                        <a:rPr lang="en-IN" sz="1800" b="0" i="0" u="none" strike="noStrike">
                          <a:solidFill>
                            <a:srgbClr val="000000"/>
                          </a:solidFill>
                          <a:effectLst/>
                          <a:latin typeface="Arial" panose="020B0604020202020204" pitchFamily="34" charset="0"/>
                        </a:rPr>
                        <a:t>.801</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.766</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.553</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1.046</a:t>
                      </a:r>
                    </a:p>
                  </a:txBody>
                  <a:tcPr marL="6350" marR="6350" marT="6350" marB="0" anchor="ctr"/>
                </a:tc>
                <a:tc>
                  <a:txBody>
                    <a:bodyPr/>
                    <a:lstStyle/>
                    <a:p>
                      <a:pPr algn="ctr" fontAlgn="ctr"/>
                      <a:r>
                        <a:rPr lang="en-IN" sz="1800" b="0" i="0" u="none" strike="noStrike" dirty="0">
                          <a:solidFill>
                            <a:srgbClr val="000000"/>
                          </a:solidFill>
                          <a:effectLst/>
                          <a:latin typeface="Arial" panose="020B0604020202020204" pitchFamily="34" charset="0"/>
                        </a:rPr>
                        <a:t>.311</a:t>
                      </a:r>
                    </a:p>
                  </a:txBody>
                  <a:tcPr marL="6350" marR="6350" marT="6350" marB="0" anchor="ctr"/>
                </a:tc>
                <a:extLst>
                  <a:ext uri="{0D108BD9-81ED-4DB2-BD59-A6C34878D82A}">
                    <a16:rowId xmlns:a16="http://schemas.microsoft.com/office/drawing/2014/main" val="3212517331"/>
                  </a:ext>
                </a:extLst>
              </a:tr>
            </a:tbl>
          </a:graphicData>
        </a:graphic>
      </p:graphicFrame>
      <p:graphicFrame>
        <p:nvGraphicFramePr>
          <p:cNvPr id="5" name="Table 5">
            <a:extLst>
              <a:ext uri="{FF2B5EF4-FFF2-40B4-BE49-F238E27FC236}">
                <a16:creationId xmlns:a16="http://schemas.microsoft.com/office/drawing/2014/main" id="{CDD91109-1CF5-41C0-8048-F12A57A9F8CA}"/>
              </a:ext>
            </a:extLst>
          </p:cNvPr>
          <p:cNvGraphicFramePr>
            <a:graphicFrameLocks noGrp="1"/>
          </p:cNvGraphicFramePr>
          <p:nvPr>
            <p:extLst>
              <p:ext uri="{D42A27DB-BD31-4B8C-83A1-F6EECF244321}">
                <p14:modId xmlns:p14="http://schemas.microsoft.com/office/powerpoint/2010/main" val="2894614397"/>
              </p:ext>
            </p:extLst>
          </p:nvPr>
        </p:nvGraphicFramePr>
        <p:xfrm>
          <a:off x="555171" y="1066800"/>
          <a:ext cx="8033658" cy="2561590"/>
        </p:xfrm>
        <a:graphic>
          <a:graphicData uri="http://schemas.openxmlformats.org/drawingml/2006/table">
            <a:tbl>
              <a:tblPr firstRow="1" bandRow="1">
                <a:tableStyleId>{5C22544A-7EE6-4342-B048-85BDC9FD1C3A}</a:tableStyleId>
              </a:tblPr>
              <a:tblGrid>
                <a:gridCol w="1338943">
                  <a:extLst>
                    <a:ext uri="{9D8B030D-6E8A-4147-A177-3AD203B41FA5}">
                      <a16:colId xmlns:a16="http://schemas.microsoft.com/office/drawing/2014/main" val="808317024"/>
                    </a:ext>
                  </a:extLst>
                </a:gridCol>
                <a:gridCol w="1338943">
                  <a:extLst>
                    <a:ext uri="{9D8B030D-6E8A-4147-A177-3AD203B41FA5}">
                      <a16:colId xmlns:a16="http://schemas.microsoft.com/office/drawing/2014/main" val="1825844337"/>
                    </a:ext>
                  </a:extLst>
                </a:gridCol>
                <a:gridCol w="1338943">
                  <a:extLst>
                    <a:ext uri="{9D8B030D-6E8A-4147-A177-3AD203B41FA5}">
                      <a16:colId xmlns:a16="http://schemas.microsoft.com/office/drawing/2014/main" val="2061519778"/>
                    </a:ext>
                  </a:extLst>
                </a:gridCol>
                <a:gridCol w="1547002">
                  <a:extLst>
                    <a:ext uri="{9D8B030D-6E8A-4147-A177-3AD203B41FA5}">
                      <a16:colId xmlns:a16="http://schemas.microsoft.com/office/drawing/2014/main" val="2428514084"/>
                    </a:ext>
                  </a:extLst>
                </a:gridCol>
                <a:gridCol w="1130884">
                  <a:extLst>
                    <a:ext uri="{9D8B030D-6E8A-4147-A177-3AD203B41FA5}">
                      <a16:colId xmlns:a16="http://schemas.microsoft.com/office/drawing/2014/main" val="2752439146"/>
                    </a:ext>
                  </a:extLst>
                </a:gridCol>
                <a:gridCol w="1338943">
                  <a:extLst>
                    <a:ext uri="{9D8B030D-6E8A-4147-A177-3AD203B41FA5}">
                      <a16:colId xmlns:a16="http://schemas.microsoft.com/office/drawing/2014/main" val="3394252413"/>
                    </a:ext>
                  </a:extLst>
                </a:gridCol>
              </a:tblGrid>
              <a:tr h="707390">
                <a:tc>
                  <a:txBody>
                    <a:bodyPr/>
                    <a:lstStyle/>
                    <a:p>
                      <a:pPr algn="l" fontAlgn="b"/>
                      <a:r>
                        <a:rPr lang="en-IN" sz="1800" b="0" i="0" u="none" strike="noStrike" dirty="0">
                          <a:solidFill>
                            <a:schemeClr val="bg1"/>
                          </a:solidFill>
                          <a:effectLst/>
                          <a:latin typeface="Arial" panose="020B0604020202020204" pitchFamily="34" charset="0"/>
                        </a:rPr>
                        <a:t> </a:t>
                      </a:r>
                    </a:p>
                  </a:txBody>
                  <a:tcPr marL="6350" marR="6350" marT="6350" marB="0" anchor="ctr"/>
                </a:tc>
                <a:tc gridSpan="2">
                  <a:txBody>
                    <a:bodyPr/>
                    <a:lstStyle/>
                    <a:p>
                      <a:pPr algn="ctr" fontAlgn="b"/>
                      <a:r>
                        <a:rPr lang="en-IN" sz="1800" b="0" i="0" u="none" strike="noStrike" dirty="0">
                          <a:solidFill>
                            <a:schemeClr val="bg1"/>
                          </a:solidFill>
                          <a:effectLst/>
                          <a:latin typeface="Arial" panose="020B0604020202020204" pitchFamily="34" charset="0"/>
                        </a:rPr>
                        <a:t>Unstandardized Coefficients</a:t>
                      </a:r>
                    </a:p>
                  </a:txBody>
                  <a:tcPr marL="6350" marR="6350" marT="6350" marB="0" anchor="ctr"/>
                </a:tc>
                <a:tc hMerge="1">
                  <a:txBody>
                    <a:bodyPr/>
                    <a:lstStyle/>
                    <a:p>
                      <a:endParaRPr lang="en-IN"/>
                    </a:p>
                  </a:txBody>
                  <a:tcPr/>
                </a:tc>
                <a:tc>
                  <a:txBody>
                    <a:bodyPr/>
                    <a:lstStyle/>
                    <a:p>
                      <a:pPr algn="ctr" fontAlgn="b"/>
                      <a:r>
                        <a:rPr lang="en-IN" sz="1800" b="0" i="0" u="none" strike="noStrike" dirty="0">
                          <a:solidFill>
                            <a:schemeClr val="bg1"/>
                          </a:solidFill>
                          <a:effectLst/>
                          <a:latin typeface="Arial" panose="020B0604020202020204" pitchFamily="34" charset="0"/>
                        </a:rPr>
                        <a:t>Standardized Coefficients</a:t>
                      </a:r>
                    </a:p>
                  </a:txBody>
                  <a:tcPr marL="6350" marR="6350" marT="6350" marB="0" anchor="ctr"/>
                </a:tc>
                <a:tc rowSpan="2">
                  <a:txBody>
                    <a:bodyPr/>
                    <a:lstStyle/>
                    <a:p>
                      <a:pPr algn="ctr" fontAlgn="b"/>
                      <a:r>
                        <a:rPr lang="en-IN" sz="1800" b="0" i="0" u="none" strike="noStrike" dirty="0">
                          <a:solidFill>
                            <a:schemeClr val="bg1"/>
                          </a:solidFill>
                          <a:effectLst/>
                          <a:latin typeface="Arial" panose="020B0604020202020204" pitchFamily="34" charset="0"/>
                        </a:rPr>
                        <a:t>t</a:t>
                      </a:r>
                    </a:p>
                  </a:txBody>
                  <a:tcPr marL="6350" marR="6350" marT="6350" marB="0" anchor="ctr"/>
                </a:tc>
                <a:tc rowSpan="2">
                  <a:txBody>
                    <a:bodyPr/>
                    <a:lstStyle/>
                    <a:p>
                      <a:pPr algn="ctr" fontAlgn="b"/>
                      <a:r>
                        <a:rPr lang="en-IN" sz="1800" b="0" i="0" u="none" strike="noStrike" dirty="0">
                          <a:solidFill>
                            <a:schemeClr val="bg1"/>
                          </a:solidFill>
                          <a:effectLst/>
                          <a:latin typeface="Arial" panose="020B0604020202020204" pitchFamily="34" charset="0"/>
                        </a:rPr>
                        <a:t>Sig.</a:t>
                      </a:r>
                    </a:p>
                  </a:txBody>
                  <a:tcPr marL="6350" marR="6350" marT="6350" marB="0" anchor="ctr"/>
                </a:tc>
                <a:extLst>
                  <a:ext uri="{0D108BD9-81ED-4DB2-BD59-A6C34878D82A}">
                    <a16:rowId xmlns:a16="http://schemas.microsoft.com/office/drawing/2014/main" val="1719168445"/>
                  </a:ext>
                </a:extLst>
              </a:tr>
              <a:tr h="370840">
                <a:tc>
                  <a:txBody>
                    <a:bodyPr/>
                    <a:lstStyle/>
                    <a:p>
                      <a:pPr algn="l" fontAlgn="b"/>
                      <a:r>
                        <a:rPr lang="en-IN" sz="1800" b="0" i="0" u="none" strike="noStrike">
                          <a:solidFill>
                            <a:srgbClr val="000000"/>
                          </a:solidFill>
                          <a:effectLst/>
                          <a:latin typeface="Arial" panose="020B0604020202020204" pitchFamily="34" charset="0"/>
                        </a:rPr>
                        <a:t> </a:t>
                      </a:r>
                    </a:p>
                  </a:txBody>
                  <a:tcPr marL="6350" marR="6350" marT="6350" marB="0" anchor="b"/>
                </a:tc>
                <a:tc>
                  <a:txBody>
                    <a:bodyPr/>
                    <a:lstStyle/>
                    <a:p>
                      <a:pPr algn="ctr" fontAlgn="b"/>
                      <a:r>
                        <a:rPr lang="en-IN" sz="1800" b="0" i="0" u="none" strike="noStrike" dirty="0">
                          <a:solidFill>
                            <a:schemeClr val="bg1"/>
                          </a:solidFill>
                          <a:effectLst/>
                          <a:latin typeface="Arial" panose="020B0604020202020204" pitchFamily="34" charset="0"/>
                        </a:rPr>
                        <a:t>B</a:t>
                      </a:r>
                    </a:p>
                  </a:txBody>
                  <a:tcPr marL="6350" marR="6350" marT="6350" marB="0" anchor="b">
                    <a:solidFill>
                      <a:schemeClr val="accent1"/>
                    </a:solidFill>
                  </a:tcPr>
                </a:tc>
                <a:tc>
                  <a:txBody>
                    <a:bodyPr/>
                    <a:lstStyle/>
                    <a:p>
                      <a:pPr algn="ctr" fontAlgn="b"/>
                      <a:r>
                        <a:rPr lang="en-IN" sz="1800" b="0" i="0" u="none" strike="noStrike" dirty="0">
                          <a:solidFill>
                            <a:schemeClr val="bg1"/>
                          </a:solidFill>
                          <a:effectLst/>
                          <a:latin typeface="Arial" panose="020B0604020202020204" pitchFamily="34" charset="0"/>
                        </a:rPr>
                        <a:t>Std. Error</a:t>
                      </a:r>
                    </a:p>
                  </a:txBody>
                  <a:tcPr marL="6350" marR="6350" marT="6350" marB="0" anchor="b">
                    <a:solidFill>
                      <a:schemeClr val="accent1"/>
                    </a:solidFill>
                  </a:tcPr>
                </a:tc>
                <a:tc>
                  <a:txBody>
                    <a:bodyPr/>
                    <a:lstStyle/>
                    <a:p>
                      <a:pPr algn="ctr" fontAlgn="b"/>
                      <a:r>
                        <a:rPr lang="en-IN" sz="1800" b="0" i="0" u="none" strike="noStrike" dirty="0">
                          <a:solidFill>
                            <a:schemeClr val="bg1"/>
                          </a:solidFill>
                          <a:effectLst/>
                          <a:latin typeface="Arial" panose="020B0604020202020204" pitchFamily="34" charset="0"/>
                        </a:rPr>
                        <a:t>Beta</a:t>
                      </a:r>
                    </a:p>
                  </a:txBody>
                  <a:tcPr marL="6350" marR="6350" marT="6350" marB="0" anchor="b">
                    <a:solidFill>
                      <a:schemeClr val="accent1"/>
                    </a:solidFill>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2906747544"/>
                  </a:ext>
                </a:extLst>
              </a:tr>
              <a:tr h="370840">
                <a:tc>
                  <a:txBody>
                    <a:bodyPr/>
                    <a:lstStyle/>
                    <a:p>
                      <a:pPr algn="l" fontAlgn="t"/>
                      <a:r>
                        <a:rPr lang="en-IN" sz="1800" b="0" i="0" u="none" strike="noStrike">
                          <a:solidFill>
                            <a:srgbClr val="000000"/>
                          </a:solidFill>
                          <a:effectLst/>
                          <a:latin typeface="Arial" panose="020B0604020202020204" pitchFamily="34" charset="0"/>
                        </a:rPr>
                        <a:t>(Constant)</a:t>
                      </a:r>
                    </a:p>
                  </a:txBody>
                  <a:tcPr marL="6350" marR="6350" marT="6350" marB="0"/>
                </a:tc>
                <a:tc>
                  <a:txBody>
                    <a:bodyPr/>
                    <a:lstStyle/>
                    <a:p>
                      <a:pPr algn="ctr" fontAlgn="ctr"/>
                      <a:r>
                        <a:rPr lang="en-IN" sz="1800" b="0" i="0" u="none" strike="noStrike" dirty="0">
                          <a:solidFill>
                            <a:srgbClr val="000000"/>
                          </a:solidFill>
                          <a:effectLst/>
                          <a:latin typeface="Arial" panose="020B0604020202020204" pitchFamily="34" charset="0"/>
                        </a:rPr>
                        <a:t>733.934</a:t>
                      </a:r>
                    </a:p>
                  </a:txBody>
                  <a:tcPr marL="6350" marR="6350" marT="6350" marB="0" anchor="ctr"/>
                </a:tc>
                <a:tc>
                  <a:txBody>
                    <a:bodyPr/>
                    <a:lstStyle/>
                    <a:p>
                      <a:pPr algn="ctr" fontAlgn="ctr"/>
                      <a:r>
                        <a:rPr lang="en-IN" sz="1800" b="0" i="0" u="none" strike="noStrike" dirty="0">
                          <a:solidFill>
                            <a:srgbClr val="000000"/>
                          </a:solidFill>
                          <a:effectLst/>
                          <a:latin typeface="Arial" panose="020B0604020202020204" pitchFamily="34" charset="0"/>
                        </a:rPr>
                        <a:t>495.701</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 </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1.481</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.158</a:t>
                      </a:r>
                    </a:p>
                  </a:txBody>
                  <a:tcPr marL="6350" marR="6350" marT="6350" marB="0" anchor="ctr"/>
                </a:tc>
                <a:extLst>
                  <a:ext uri="{0D108BD9-81ED-4DB2-BD59-A6C34878D82A}">
                    <a16:rowId xmlns:a16="http://schemas.microsoft.com/office/drawing/2014/main" val="2065235846"/>
                  </a:ext>
                </a:extLst>
              </a:tr>
              <a:tr h="370840">
                <a:tc>
                  <a:txBody>
                    <a:bodyPr/>
                    <a:lstStyle/>
                    <a:p>
                      <a:pPr algn="l" fontAlgn="t"/>
                      <a:r>
                        <a:rPr lang="en-IN" sz="1800" b="0" i="0" u="none" strike="noStrike">
                          <a:solidFill>
                            <a:srgbClr val="000000"/>
                          </a:solidFill>
                          <a:effectLst/>
                          <a:latin typeface="Arial" panose="020B0604020202020204" pitchFamily="34" charset="0"/>
                        </a:rPr>
                        <a:t>MATERIAL</a:t>
                      </a:r>
                    </a:p>
                  </a:txBody>
                  <a:tcPr marL="6350" marR="6350" marT="6350" marB="0"/>
                </a:tc>
                <a:tc>
                  <a:txBody>
                    <a:bodyPr/>
                    <a:lstStyle/>
                    <a:p>
                      <a:pPr algn="ctr" fontAlgn="ctr"/>
                      <a:r>
                        <a:rPr lang="en-IN" sz="1800" b="0" i="0" u="none" strike="noStrike" dirty="0">
                          <a:solidFill>
                            <a:srgbClr val="000000"/>
                          </a:solidFill>
                          <a:effectLst/>
                          <a:latin typeface="Arial" panose="020B0604020202020204" pitchFamily="34" charset="0"/>
                        </a:rPr>
                        <a:t>1.292</a:t>
                      </a:r>
                    </a:p>
                  </a:txBody>
                  <a:tcPr marL="6350" marR="6350" marT="6350" marB="0" anchor="ctr"/>
                </a:tc>
                <a:tc>
                  <a:txBody>
                    <a:bodyPr/>
                    <a:lstStyle/>
                    <a:p>
                      <a:pPr algn="ctr" fontAlgn="ctr"/>
                      <a:r>
                        <a:rPr lang="en-IN" sz="1800" b="0" i="0" u="none" strike="noStrike" dirty="0">
                          <a:solidFill>
                            <a:srgbClr val="000000"/>
                          </a:solidFill>
                          <a:effectLst/>
                          <a:latin typeface="Arial" panose="020B0604020202020204" pitchFamily="34" charset="0"/>
                        </a:rPr>
                        <a:t>.081</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.676</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15.917</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.000</a:t>
                      </a:r>
                    </a:p>
                  </a:txBody>
                  <a:tcPr marL="6350" marR="6350" marT="6350" marB="0" anchor="ctr"/>
                </a:tc>
                <a:extLst>
                  <a:ext uri="{0D108BD9-81ED-4DB2-BD59-A6C34878D82A}">
                    <a16:rowId xmlns:a16="http://schemas.microsoft.com/office/drawing/2014/main" val="1285345982"/>
                  </a:ext>
                </a:extLst>
              </a:tr>
              <a:tr h="370840">
                <a:tc>
                  <a:txBody>
                    <a:bodyPr/>
                    <a:lstStyle/>
                    <a:p>
                      <a:pPr algn="l" fontAlgn="t"/>
                      <a:r>
                        <a:rPr lang="en-IN" sz="1800" b="0" i="0" u="none" strike="noStrike">
                          <a:solidFill>
                            <a:srgbClr val="000000"/>
                          </a:solidFill>
                          <a:effectLst/>
                          <a:latin typeface="Arial" panose="020B0604020202020204" pitchFamily="34" charset="0"/>
                        </a:rPr>
                        <a:t>T2</a:t>
                      </a:r>
                    </a:p>
                  </a:txBody>
                  <a:tcPr marL="6350" marR="6350" marT="6350" marB="0"/>
                </a:tc>
                <a:tc>
                  <a:txBody>
                    <a:bodyPr/>
                    <a:lstStyle/>
                    <a:p>
                      <a:pPr algn="ctr" fontAlgn="ctr"/>
                      <a:r>
                        <a:rPr lang="en-IN" sz="1800" b="0" i="0" u="none" strike="noStrike">
                          <a:solidFill>
                            <a:srgbClr val="000000"/>
                          </a:solidFill>
                          <a:effectLst/>
                          <a:latin typeface="Arial" panose="020B0604020202020204" pitchFamily="34" charset="0"/>
                        </a:rPr>
                        <a:t>35.339</a:t>
                      </a:r>
                    </a:p>
                  </a:txBody>
                  <a:tcPr marL="6350" marR="6350" marT="6350" marB="0" anchor="ctr"/>
                </a:tc>
                <a:tc>
                  <a:txBody>
                    <a:bodyPr/>
                    <a:lstStyle/>
                    <a:p>
                      <a:pPr algn="ctr" fontAlgn="ctr"/>
                      <a:r>
                        <a:rPr lang="en-IN" sz="1800" b="0" i="0" u="none" strike="noStrike" dirty="0">
                          <a:solidFill>
                            <a:srgbClr val="000000"/>
                          </a:solidFill>
                          <a:effectLst/>
                          <a:latin typeface="Arial" panose="020B0604020202020204" pitchFamily="34" charset="0"/>
                        </a:rPr>
                        <a:t>7.663</a:t>
                      </a:r>
                    </a:p>
                  </a:txBody>
                  <a:tcPr marL="6350" marR="6350" marT="6350" marB="0" anchor="ctr"/>
                </a:tc>
                <a:tc>
                  <a:txBody>
                    <a:bodyPr/>
                    <a:lstStyle/>
                    <a:p>
                      <a:pPr algn="ctr" fontAlgn="ctr"/>
                      <a:r>
                        <a:rPr lang="en-IN" sz="1800" b="0" i="0" u="none" strike="noStrike" dirty="0">
                          <a:solidFill>
                            <a:srgbClr val="000000"/>
                          </a:solidFill>
                          <a:effectLst/>
                          <a:latin typeface="Arial" panose="020B0604020202020204" pitchFamily="34" charset="0"/>
                        </a:rPr>
                        <a:t>.194</a:t>
                      </a:r>
                    </a:p>
                  </a:txBody>
                  <a:tcPr marL="6350" marR="6350" marT="6350" marB="0" anchor="ctr"/>
                </a:tc>
                <a:tc>
                  <a:txBody>
                    <a:bodyPr/>
                    <a:lstStyle/>
                    <a:p>
                      <a:pPr algn="ctr" fontAlgn="ctr"/>
                      <a:r>
                        <a:rPr lang="en-IN" sz="1800" b="0" i="0" u="none" strike="noStrike" dirty="0">
                          <a:solidFill>
                            <a:srgbClr val="000000"/>
                          </a:solidFill>
                          <a:effectLst/>
                          <a:latin typeface="Arial" panose="020B0604020202020204" pitchFamily="34" charset="0"/>
                        </a:rPr>
                        <a:t>4.611</a:t>
                      </a:r>
                    </a:p>
                  </a:txBody>
                  <a:tcPr marL="6350" marR="6350" marT="6350" marB="0" anchor="ctr"/>
                </a:tc>
                <a:tc>
                  <a:txBody>
                    <a:bodyPr/>
                    <a:lstStyle/>
                    <a:p>
                      <a:pPr algn="ctr" fontAlgn="ctr"/>
                      <a:r>
                        <a:rPr lang="en-IN" sz="1800" b="0" i="0" u="none" strike="noStrike" dirty="0">
                          <a:solidFill>
                            <a:srgbClr val="000000"/>
                          </a:solidFill>
                          <a:effectLst/>
                          <a:latin typeface="Arial" panose="020B0604020202020204" pitchFamily="34" charset="0"/>
                        </a:rPr>
                        <a:t>.000</a:t>
                      </a:r>
                    </a:p>
                  </a:txBody>
                  <a:tcPr marL="6350" marR="6350" marT="6350" marB="0" anchor="ctr"/>
                </a:tc>
                <a:extLst>
                  <a:ext uri="{0D108BD9-81ED-4DB2-BD59-A6C34878D82A}">
                    <a16:rowId xmlns:a16="http://schemas.microsoft.com/office/drawing/2014/main" val="3801713365"/>
                  </a:ext>
                </a:extLst>
              </a:tr>
              <a:tr h="370840">
                <a:tc>
                  <a:txBody>
                    <a:bodyPr/>
                    <a:lstStyle/>
                    <a:p>
                      <a:pPr algn="l" fontAlgn="t"/>
                      <a:r>
                        <a:rPr lang="en-IN" sz="1800" b="0" i="0" u="none" strike="noStrike">
                          <a:solidFill>
                            <a:srgbClr val="000000"/>
                          </a:solidFill>
                          <a:effectLst/>
                          <a:latin typeface="Arial" panose="020B0604020202020204" pitchFamily="34" charset="0"/>
                        </a:rPr>
                        <a:t>OTINC</a:t>
                      </a:r>
                    </a:p>
                  </a:txBody>
                  <a:tcPr marL="6350" marR="6350" marT="6350" marB="0"/>
                </a:tc>
                <a:tc>
                  <a:txBody>
                    <a:bodyPr/>
                    <a:lstStyle/>
                    <a:p>
                      <a:pPr algn="ctr" fontAlgn="ctr"/>
                      <a:r>
                        <a:rPr lang="en-IN" sz="1800" b="0" i="0" u="none" strike="noStrike">
                          <a:solidFill>
                            <a:srgbClr val="000000"/>
                          </a:solidFill>
                          <a:effectLst/>
                          <a:latin typeface="Arial" panose="020B0604020202020204" pitchFamily="34" charset="0"/>
                        </a:rPr>
                        <a:t>3.195</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.468</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.163</a:t>
                      </a:r>
                    </a:p>
                  </a:txBody>
                  <a:tcPr marL="6350" marR="6350" marT="6350" marB="0" anchor="ctr"/>
                </a:tc>
                <a:tc>
                  <a:txBody>
                    <a:bodyPr/>
                    <a:lstStyle/>
                    <a:p>
                      <a:pPr algn="ctr" fontAlgn="ctr"/>
                      <a:r>
                        <a:rPr lang="en-IN" sz="1800" b="0" i="0" u="none" strike="noStrike" dirty="0">
                          <a:solidFill>
                            <a:srgbClr val="000000"/>
                          </a:solidFill>
                          <a:effectLst/>
                          <a:latin typeface="Arial" panose="020B0604020202020204" pitchFamily="34" charset="0"/>
                        </a:rPr>
                        <a:t>6.832</a:t>
                      </a:r>
                    </a:p>
                  </a:txBody>
                  <a:tcPr marL="6350" marR="6350" marT="6350" marB="0" anchor="ctr"/>
                </a:tc>
                <a:tc>
                  <a:txBody>
                    <a:bodyPr/>
                    <a:lstStyle/>
                    <a:p>
                      <a:pPr algn="ctr" fontAlgn="ctr"/>
                      <a:r>
                        <a:rPr lang="en-IN" sz="1800" b="0" i="0" u="none" strike="noStrike" dirty="0">
                          <a:solidFill>
                            <a:srgbClr val="000000"/>
                          </a:solidFill>
                          <a:effectLst/>
                          <a:latin typeface="Arial" panose="020B0604020202020204" pitchFamily="34" charset="0"/>
                        </a:rPr>
                        <a:t>.000</a:t>
                      </a:r>
                    </a:p>
                  </a:txBody>
                  <a:tcPr marL="6350" marR="6350" marT="6350" marB="0" anchor="ctr"/>
                </a:tc>
                <a:extLst>
                  <a:ext uri="{0D108BD9-81ED-4DB2-BD59-A6C34878D82A}">
                    <a16:rowId xmlns:a16="http://schemas.microsoft.com/office/drawing/2014/main" val="1183961055"/>
                  </a:ext>
                </a:extLst>
              </a:tr>
            </a:tbl>
          </a:graphicData>
        </a:graphic>
      </p:graphicFrame>
    </p:spTree>
    <p:extLst>
      <p:ext uri="{BB962C8B-B14F-4D97-AF65-F5344CB8AC3E}">
        <p14:creationId xmlns:p14="http://schemas.microsoft.com/office/powerpoint/2010/main" val="40523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73467-3437-458F-BF02-D4BD72FFBB81}"/>
              </a:ext>
            </a:extLst>
          </p:cNvPr>
          <p:cNvSpPr>
            <a:spLocks noGrp="1"/>
          </p:cNvSpPr>
          <p:nvPr>
            <p:ph type="title"/>
          </p:nvPr>
        </p:nvSpPr>
        <p:spPr/>
        <p:txBody>
          <a:bodyPr/>
          <a:lstStyle/>
          <a:p>
            <a:r>
              <a:rPr lang="en-US" dirty="0"/>
              <a:t>Normality </a:t>
            </a:r>
            <a:r>
              <a:rPr lang="en-US" dirty="0" err="1"/>
              <a:t>Asssumption</a:t>
            </a:r>
            <a:endParaRPr lang="en-IN" dirty="0"/>
          </a:p>
        </p:txBody>
      </p:sp>
      <p:sp>
        <p:nvSpPr>
          <p:cNvPr id="3" name="Content Placeholder 2">
            <a:extLst>
              <a:ext uri="{FF2B5EF4-FFF2-40B4-BE49-F238E27FC236}">
                <a16:creationId xmlns:a16="http://schemas.microsoft.com/office/drawing/2014/main" id="{30132801-B4DE-4EF3-BE75-45B67F28438D}"/>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4184779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D5FE4275-B896-4FB2-8711-45AD5702C6F8}"/>
              </a:ext>
            </a:extLst>
          </p:cNvPr>
          <p:cNvSpPr>
            <a:spLocks noGrp="1"/>
          </p:cNvSpPr>
          <p:nvPr>
            <p:ph type="title"/>
          </p:nvPr>
        </p:nvSpPr>
        <p:spPr>
          <a:xfrm>
            <a:off x="762000" y="645178"/>
            <a:ext cx="8839200" cy="838200"/>
          </a:xfrm>
        </p:spPr>
        <p:txBody>
          <a:bodyPr/>
          <a:lstStyle/>
          <a:p>
            <a:r>
              <a:rPr lang="en-US" altLang="en-US" dirty="0">
                <a:ea typeface="ＭＳ Ｐゴシック" panose="020B0600070205080204" pitchFamily="34" charset="-128"/>
              </a:rPr>
              <a:t>QQ-Plot</a:t>
            </a:r>
          </a:p>
        </p:txBody>
      </p:sp>
      <p:pic>
        <p:nvPicPr>
          <p:cNvPr id="17411" name="Picture 2">
            <a:extLst>
              <a:ext uri="{FF2B5EF4-FFF2-40B4-BE49-F238E27FC236}">
                <a16:creationId xmlns:a16="http://schemas.microsoft.com/office/drawing/2014/main" id="{80FA3C85-07E2-4C98-B9F2-EA016DAD39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676400"/>
            <a:ext cx="8382000" cy="457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255250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311427-BF1B-4733-BFCF-FAB3E9FF6BE3}"/>
              </a:ext>
            </a:extLst>
          </p:cNvPr>
          <p:cNvSpPr>
            <a:spLocks noGrp="1"/>
          </p:cNvSpPr>
          <p:nvPr>
            <p:ph type="title"/>
          </p:nvPr>
        </p:nvSpPr>
        <p:spPr>
          <a:xfrm>
            <a:off x="609600" y="304800"/>
            <a:ext cx="6347714" cy="1066800"/>
          </a:xfrm>
        </p:spPr>
        <p:txBody>
          <a:bodyPr>
            <a:normAutofit fontScale="90000"/>
          </a:bodyPr>
          <a:lstStyle/>
          <a:p>
            <a:r>
              <a:rPr lang="en-US" dirty="0"/>
              <a:t>United Technologies-Normal Distribution</a:t>
            </a:r>
          </a:p>
        </p:txBody>
      </p:sp>
      <p:pic>
        <p:nvPicPr>
          <p:cNvPr id="6" name="Picture 5">
            <a:extLst>
              <a:ext uri="{FF2B5EF4-FFF2-40B4-BE49-F238E27FC236}">
                <a16:creationId xmlns:a16="http://schemas.microsoft.com/office/drawing/2014/main" id="{AF50E59B-4047-44E8-9F0A-7BC67DF703FE}"/>
              </a:ext>
            </a:extLst>
          </p:cNvPr>
          <p:cNvPicPr>
            <a:picLocks noChangeAspect="1"/>
          </p:cNvPicPr>
          <p:nvPr/>
        </p:nvPicPr>
        <p:blipFill>
          <a:blip r:embed="rId2"/>
          <a:stretch>
            <a:fillRect/>
          </a:stretch>
        </p:blipFill>
        <p:spPr>
          <a:xfrm>
            <a:off x="609600" y="1600200"/>
            <a:ext cx="5867400" cy="4838700"/>
          </a:xfrm>
          <a:prstGeom prst="rect">
            <a:avLst/>
          </a:prstGeom>
        </p:spPr>
      </p:pic>
    </p:spTree>
    <p:extLst>
      <p:ext uri="{BB962C8B-B14F-4D97-AF65-F5344CB8AC3E}">
        <p14:creationId xmlns:p14="http://schemas.microsoft.com/office/powerpoint/2010/main" val="34218251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17F299-0DC8-4200-B9A6-DFC5AE383C19}"/>
              </a:ext>
            </a:extLst>
          </p:cNvPr>
          <p:cNvSpPr>
            <a:spLocks noGrp="1"/>
          </p:cNvSpPr>
          <p:nvPr>
            <p:ph type="title"/>
          </p:nvPr>
        </p:nvSpPr>
        <p:spPr>
          <a:xfrm>
            <a:off x="457901" y="228600"/>
            <a:ext cx="6347713" cy="762000"/>
          </a:xfrm>
        </p:spPr>
        <p:txBody>
          <a:bodyPr/>
          <a:lstStyle/>
          <a:p>
            <a:r>
              <a:rPr lang="en-US" dirty="0"/>
              <a:t>Goodness of Fit – KS Test</a:t>
            </a:r>
            <a:endParaRPr lang="en-IN" dirty="0"/>
          </a:p>
        </p:txBody>
      </p:sp>
      <p:graphicFrame>
        <p:nvGraphicFramePr>
          <p:cNvPr id="6" name="Content Placeholder 5">
            <a:extLst>
              <a:ext uri="{FF2B5EF4-FFF2-40B4-BE49-F238E27FC236}">
                <a16:creationId xmlns:a16="http://schemas.microsoft.com/office/drawing/2014/main" id="{5280E0B1-DD6B-4A29-B174-E2D0EBA9C057}"/>
              </a:ext>
            </a:extLst>
          </p:cNvPr>
          <p:cNvGraphicFramePr>
            <a:graphicFrameLocks noGrp="1"/>
          </p:cNvGraphicFramePr>
          <p:nvPr>
            <p:ph idx="1"/>
          </p:nvPr>
        </p:nvGraphicFramePr>
        <p:xfrm>
          <a:off x="457200" y="1255004"/>
          <a:ext cx="6934200" cy="5191760"/>
        </p:xfrm>
        <a:graphic>
          <a:graphicData uri="http://schemas.openxmlformats.org/drawingml/2006/table">
            <a:tbl>
              <a:tblPr firstRow="1" bandRow="1">
                <a:tableStyleId>{5C22544A-7EE6-4342-B048-85BDC9FD1C3A}</a:tableStyleId>
              </a:tblPr>
              <a:tblGrid>
                <a:gridCol w="2311400">
                  <a:extLst>
                    <a:ext uri="{9D8B030D-6E8A-4147-A177-3AD203B41FA5}">
                      <a16:colId xmlns:a16="http://schemas.microsoft.com/office/drawing/2014/main" val="145556105"/>
                    </a:ext>
                  </a:extLst>
                </a:gridCol>
                <a:gridCol w="1879600">
                  <a:extLst>
                    <a:ext uri="{9D8B030D-6E8A-4147-A177-3AD203B41FA5}">
                      <a16:colId xmlns:a16="http://schemas.microsoft.com/office/drawing/2014/main" val="1065068507"/>
                    </a:ext>
                  </a:extLst>
                </a:gridCol>
                <a:gridCol w="2743200">
                  <a:extLst>
                    <a:ext uri="{9D8B030D-6E8A-4147-A177-3AD203B41FA5}">
                      <a16:colId xmlns:a16="http://schemas.microsoft.com/office/drawing/2014/main" val="546210866"/>
                    </a:ext>
                  </a:extLst>
                </a:gridCol>
              </a:tblGrid>
              <a:tr h="370840">
                <a:tc gridSpan="3">
                  <a:txBody>
                    <a:bodyPr/>
                    <a:lstStyle/>
                    <a:p>
                      <a:pPr algn="ctr" fontAlgn="ctr"/>
                      <a:r>
                        <a:rPr lang="en-IN" sz="1800" b="1" i="0" u="none" strike="noStrike" dirty="0">
                          <a:solidFill>
                            <a:schemeClr val="bg1"/>
                          </a:solidFill>
                          <a:effectLst/>
                          <a:latin typeface="+mj-lt"/>
                        </a:rPr>
                        <a:t>One-Sample Kolmogorov-Smirnov Test</a:t>
                      </a:r>
                    </a:p>
                  </a:txBody>
                  <a:tcPr marL="9525" marR="9525" marT="9525" marB="0" anchor="ct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106968827"/>
                  </a:ext>
                </a:extLst>
              </a:tr>
              <a:tr h="370840">
                <a:tc gridSpan="2">
                  <a:txBody>
                    <a:bodyPr/>
                    <a:lstStyle/>
                    <a:p>
                      <a:pPr algn="l" fontAlgn="b"/>
                      <a:r>
                        <a:rPr lang="en-IN" sz="1800" b="0" i="0" u="none" strike="noStrike" dirty="0">
                          <a:solidFill>
                            <a:srgbClr val="000000"/>
                          </a:solidFill>
                          <a:effectLst/>
                          <a:latin typeface="+mj-lt"/>
                        </a:rPr>
                        <a:t> </a:t>
                      </a:r>
                    </a:p>
                  </a:txBody>
                  <a:tcPr marL="9525" marR="9525" marT="9525" marB="0" anchor="ctr"/>
                </a:tc>
                <a:tc hMerge="1">
                  <a:txBody>
                    <a:bodyPr/>
                    <a:lstStyle/>
                    <a:p>
                      <a:endParaRPr lang="en-IN"/>
                    </a:p>
                  </a:txBody>
                  <a:tcPr/>
                </a:tc>
                <a:tc>
                  <a:txBody>
                    <a:bodyPr/>
                    <a:lstStyle/>
                    <a:p>
                      <a:pPr algn="ctr" fontAlgn="b"/>
                      <a:r>
                        <a:rPr lang="en-IN" sz="1800" b="0" i="0" u="none" strike="noStrike" dirty="0">
                          <a:solidFill>
                            <a:srgbClr val="000000"/>
                          </a:solidFill>
                          <a:effectLst/>
                          <a:latin typeface="+mj-lt"/>
                        </a:rPr>
                        <a:t>Unstandardized Residuals</a:t>
                      </a:r>
                    </a:p>
                  </a:txBody>
                  <a:tcPr marL="9525" marR="9525" marT="9525" marB="0" anchor="ctr"/>
                </a:tc>
                <a:extLst>
                  <a:ext uri="{0D108BD9-81ED-4DB2-BD59-A6C34878D82A}">
                    <a16:rowId xmlns:a16="http://schemas.microsoft.com/office/drawing/2014/main" val="844565660"/>
                  </a:ext>
                </a:extLst>
              </a:tr>
              <a:tr h="370840">
                <a:tc gridSpan="2">
                  <a:txBody>
                    <a:bodyPr/>
                    <a:lstStyle/>
                    <a:p>
                      <a:pPr algn="l" fontAlgn="t"/>
                      <a:r>
                        <a:rPr lang="en-IN" sz="1800" b="0" i="0" u="none" strike="noStrike" dirty="0">
                          <a:solidFill>
                            <a:srgbClr val="000000"/>
                          </a:solidFill>
                          <a:effectLst/>
                          <a:latin typeface="+mj-lt"/>
                        </a:rPr>
                        <a:t>N</a:t>
                      </a:r>
                    </a:p>
                  </a:txBody>
                  <a:tcPr marL="9525" marR="9525" marT="9525" marB="0" anchor="ctr"/>
                </a:tc>
                <a:tc hMerge="1">
                  <a:txBody>
                    <a:bodyPr/>
                    <a:lstStyle/>
                    <a:p>
                      <a:endParaRPr lang="en-IN"/>
                    </a:p>
                  </a:txBody>
                  <a:tcPr/>
                </a:tc>
                <a:tc>
                  <a:txBody>
                    <a:bodyPr/>
                    <a:lstStyle/>
                    <a:p>
                      <a:pPr algn="ctr" fontAlgn="ctr"/>
                      <a:r>
                        <a:rPr lang="en-IN" sz="1800" b="0" i="0" u="none" strike="noStrike">
                          <a:solidFill>
                            <a:srgbClr val="000000"/>
                          </a:solidFill>
                          <a:effectLst/>
                          <a:latin typeface="+mj-lt"/>
                        </a:rPr>
                        <a:t>20</a:t>
                      </a:r>
                    </a:p>
                  </a:txBody>
                  <a:tcPr marL="9525" marR="9525" marT="9525" marB="0" anchor="ctr"/>
                </a:tc>
                <a:extLst>
                  <a:ext uri="{0D108BD9-81ED-4DB2-BD59-A6C34878D82A}">
                    <a16:rowId xmlns:a16="http://schemas.microsoft.com/office/drawing/2014/main" val="3809298721"/>
                  </a:ext>
                </a:extLst>
              </a:tr>
              <a:tr h="370840">
                <a:tc rowSpan="2">
                  <a:txBody>
                    <a:bodyPr/>
                    <a:lstStyle/>
                    <a:p>
                      <a:pPr algn="l" fontAlgn="t"/>
                      <a:r>
                        <a:rPr lang="en-IN" sz="1800" b="0" i="0" u="none" strike="noStrike" dirty="0">
                          <a:solidFill>
                            <a:srgbClr val="000000"/>
                          </a:solidFill>
                          <a:effectLst/>
                          <a:latin typeface="+mj-lt"/>
                        </a:rPr>
                        <a:t>Normal </a:t>
                      </a:r>
                      <a:r>
                        <a:rPr lang="en-IN" sz="1800" b="0" i="0" u="none" strike="noStrike" dirty="0" err="1">
                          <a:solidFill>
                            <a:srgbClr val="000000"/>
                          </a:solidFill>
                          <a:effectLst/>
                          <a:latin typeface="+mj-lt"/>
                        </a:rPr>
                        <a:t>Parameters</a:t>
                      </a:r>
                      <a:r>
                        <a:rPr lang="en-IN" sz="1800" b="0" i="0" u="none" strike="noStrike" baseline="30000" dirty="0" err="1">
                          <a:solidFill>
                            <a:srgbClr val="000000"/>
                          </a:solidFill>
                          <a:effectLst/>
                          <a:latin typeface="+mj-lt"/>
                        </a:rPr>
                        <a:t>a,b</a:t>
                      </a:r>
                      <a:endParaRPr lang="en-IN" sz="1800" b="0" i="0" u="none" strike="noStrike" dirty="0">
                        <a:solidFill>
                          <a:srgbClr val="000000"/>
                        </a:solidFill>
                        <a:effectLst/>
                        <a:latin typeface="+mj-lt"/>
                      </a:endParaRPr>
                    </a:p>
                  </a:txBody>
                  <a:tcPr marL="9525" marR="9525" marT="9525" marB="0" anchor="ctr"/>
                </a:tc>
                <a:tc>
                  <a:txBody>
                    <a:bodyPr/>
                    <a:lstStyle/>
                    <a:p>
                      <a:pPr algn="l" fontAlgn="t"/>
                      <a:r>
                        <a:rPr lang="en-IN" sz="1800" b="0" i="0" u="none" strike="noStrike" dirty="0">
                          <a:solidFill>
                            <a:srgbClr val="000000"/>
                          </a:solidFill>
                          <a:effectLst/>
                          <a:latin typeface="+mj-lt"/>
                        </a:rPr>
                        <a:t>Mean</a:t>
                      </a:r>
                    </a:p>
                  </a:txBody>
                  <a:tcPr marL="9525" marR="9525" marT="9525" marB="0" anchor="ctr"/>
                </a:tc>
                <a:tc>
                  <a:txBody>
                    <a:bodyPr/>
                    <a:lstStyle/>
                    <a:p>
                      <a:pPr algn="ctr" fontAlgn="ctr"/>
                      <a:r>
                        <a:rPr lang="en-IN" sz="1800" b="0" i="0" u="none" strike="noStrike" dirty="0">
                          <a:solidFill>
                            <a:srgbClr val="000000"/>
                          </a:solidFill>
                          <a:effectLst/>
                          <a:latin typeface="+mj-lt"/>
                        </a:rPr>
                        <a:t>0.0000</a:t>
                      </a:r>
                    </a:p>
                  </a:txBody>
                  <a:tcPr marL="9525" marR="9525" marT="9525" marB="0" anchor="ctr"/>
                </a:tc>
                <a:extLst>
                  <a:ext uri="{0D108BD9-81ED-4DB2-BD59-A6C34878D82A}">
                    <a16:rowId xmlns:a16="http://schemas.microsoft.com/office/drawing/2014/main" val="2251788208"/>
                  </a:ext>
                </a:extLst>
              </a:tr>
              <a:tr h="370840">
                <a:tc vMerge="1">
                  <a:txBody>
                    <a:bodyPr/>
                    <a:lstStyle/>
                    <a:p>
                      <a:endParaRPr lang="en-IN"/>
                    </a:p>
                  </a:txBody>
                  <a:tcPr/>
                </a:tc>
                <a:tc>
                  <a:txBody>
                    <a:bodyPr/>
                    <a:lstStyle/>
                    <a:p>
                      <a:pPr algn="l" fontAlgn="t"/>
                      <a:r>
                        <a:rPr lang="en-IN" sz="1800" b="0" i="0" u="none" strike="noStrike">
                          <a:solidFill>
                            <a:srgbClr val="000000"/>
                          </a:solidFill>
                          <a:effectLst/>
                          <a:latin typeface="+mj-lt"/>
                        </a:rPr>
                        <a:t>Std. Deviation</a:t>
                      </a:r>
                    </a:p>
                  </a:txBody>
                  <a:tcPr marL="9525" marR="9525" marT="9525" marB="0" anchor="ctr"/>
                </a:tc>
                <a:tc>
                  <a:txBody>
                    <a:bodyPr/>
                    <a:lstStyle/>
                    <a:p>
                      <a:pPr algn="ctr" fontAlgn="ctr"/>
                      <a:r>
                        <a:rPr lang="en-IN" sz="1800" b="0" i="0" u="none" strike="noStrike" dirty="0">
                          <a:solidFill>
                            <a:srgbClr val="000000"/>
                          </a:solidFill>
                          <a:effectLst/>
                          <a:latin typeface="+mj-lt"/>
                        </a:rPr>
                        <a:t>256.5246</a:t>
                      </a:r>
                    </a:p>
                  </a:txBody>
                  <a:tcPr marL="9525" marR="9525" marT="9525" marB="0" anchor="ctr"/>
                </a:tc>
                <a:extLst>
                  <a:ext uri="{0D108BD9-81ED-4DB2-BD59-A6C34878D82A}">
                    <a16:rowId xmlns:a16="http://schemas.microsoft.com/office/drawing/2014/main" val="2907299632"/>
                  </a:ext>
                </a:extLst>
              </a:tr>
              <a:tr h="370840">
                <a:tc rowSpan="3">
                  <a:txBody>
                    <a:bodyPr/>
                    <a:lstStyle/>
                    <a:p>
                      <a:pPr algn="l" fontAlgn="t"/>
                      <a:r>
                        <a:rPr lang="en-IN" sz="1800" b="0" i="0" u="none" strike="noStrike" dirty="0">
                          <a:solidFill>
                            <a:srgbClr val="000000"/>
                          </a:solidFill>
                          <a:effectLst/>
                          <a:latin typeface="+mj-lt"/>
                        </a:rPr>
                        <a:t>Most Extreme Differences</a:t>
                      </a:r>
                    </a:p>
                  </a:txBody>
                  <a:tcPr marL="9525" marR="9525" marT="9525" marB="0" anchor="ctr"/>
                </a:tc>
                <a:tc>
                  <a:txBody>
                    <a:bodyPr/>
                    <a:lstStyle/>
                    <a:p>
                      <a:pPr algn="l" fontAlgn="t"/>
                      <a:r>
                        <a:rPr lang="en-IN" sz="1800" b="0" i="0" u="none" strike="noStrike">
                          <a:solidFill>
                            <a:srgbClr val="000000"/>
                          </a:solidFill>
                          <a:effectLst/>
                          <a:latin typeface="+mj-lt"/>
                        </a:rPr>
                        <a:t>Absolute</a:t>
                      </a:r>
                    </a:p>
                  </a:txBody>
                  <a:tcPr marL="9525" marR="9525" marT="9525" marB="0" anchor="ctr"/>
                </a:tc>
                <a:tc>
                  <a:txBody>
                    <a:bodyPr/>
                    <a:lstStyle/>
                    <a:p>
                      <a:pPr algn="ctr" fontAlgn="ctr"/>
                      <a:r>
                        <a:rPr lang="en-IN" sz="1800" b="0" i="0" u="none" strike="noStrike" dirty="0">
                          <a:solidFill>
                            <a:srgbClr val="000000"/>
                          </a:solidFill>
                          <a:effectLst/>
                          <a:latin typeface="+mj-lt"/>
                        </a:rPr>
                        <a:t>.119</a:t>
                      </a:r>
                    </a:p>
                  </a:txBody>
                  <a:tcPr marL="9525" marR="9525" marT="9525" marB="0" anchor="ctr"/>
                </a:tc>
                <a:extLst>
                  <a:ext uri="{0D108BD9-81ED-4DB2-BD59-A6C34878D82A}">
                    <a16:rowId xmlns:a16="http://schemas.microsoft.com/office/drawing/2014/main" val="705736616"/>
                  </a:ext>
                </a:extLst>
              </a:tr>
              <a:tr h="370840">
                <a:tc vMerge="1">
                  <a:txBody>
                    <a:bodyPr/>
                    <a:lstStyle/>
                    <a:p>
                      <a:endParaRPr lang="en-IN"/>
                    </a:p>
                  </a:txBody>
                  <a:tcPr/>
                </a:tc>
                <a:tc>
                  <a:txBody>
                    <a:bodyPr/>
                    <a:lstStyle/>
                    <a:p>
                      <a:pPr algn="l" fontAlgn="t"/>
                      <a:r>
                        <a:rPr lang="en-IN" sz="1800" b="0" i="0" u="none" strike="noStrike">
                          <a:solidFill>
                            <a:srgbClr val="000000"/>
                          </a:solidFill>
                          <a:effectLst/>
                          <a:latin typeface="+mj-lt"/>
                        </a:rPr>
                        <a:t>Positive</a:t>
                      </a:r>
                    </a:p>
                  </a:txBody>
                  <a:tcPr marL="9525" marR="9525" marT="9525" marB="0" anchor="ctr"/>
                </a:tc>
                <a:tc>
                  <a:txBody>
                    <a:bodyPr/>
                    <a:lstStyle/>
                    <a:p>
                      <a:pPr algn="ctr" fontAlgn="ctr"/>
                      <a:r>
                        <a:rPr lang="en-IN" sz="1800" b="0" i="0" u="none" strike="noStrike" dirty="0">
                          <a:solidFill>
                            <a:srgbClr val="000000"/>
                          </a:solidFill>
                          <a:effectLst/>
                          <a:latin typeface="+mj-lt"/>
                        </a:rPr>
                        <a:t>.081</a:t>
                      </a:r>
                    </a:p>
                  </a:txBody>
                  <a:tcPr marL="9525" marR="9525" marT="9525" marB="0" anchor="ctr"/>
                </a:tc>
                <a:extLst>
                  <a:ext uri="{0D108BD9-81ED-4DB2-BD59-A6C34878D82A}">
                    <a16:rowId xmlns:a16="http://schemas.microsoft.com/office/drawing/2014/main" val="3576995213"/>
                  </a:ext>
                </a:extLst>
              </a:tr>
              <a:tr h="370840">
                <a:tc vMerge="1">
                  <a:txBody>
                    <a:bodyPr/>
                    <a:lstStyle/>
                    <a:p>
                      <a:endParaRPr lang="en-IN"/>
                    </a:p>
                  </a:txBody>
                  <a:tcPr/>
                </a:tc>
                <a:tc>
                  <a:txBody>
                    <a:bodyPr/>
                    <a:lstStyle/>
                    <a:p>
                      <a:pPr algn="l" fontAlgn="t"/>
                      <a:r>
                        <a:rPr lang="en-IN" sz="1800" b="0" i="0" u="none" strike="noStrike">
                          <a:solidFill>
                            <a:srgbClr val="000000"/>
                          </a:solidFill>
                          <a:effectLst/>
                          <a:latin typeface="+mj-lt"/>
                        </a:rPr>
                        <a:t>Negative</a:t>
                      </a:r>
                    </a:p>
                  </a:txBody>
                  <a:tcPr marL="9525" marR="9525" marT="9525" marB="0" anchor="ctr"/>
                </a:tc>
                <a:tc>
                  <a:txBody>
                    <a:bodyPr/>
                    <a:lstStyle/>
                    <a:p>
                      <a:pPr algn="ctr" fontAlgn="ctr"/>
                      <a:r>
                        <a:rPr lang="en-IN" sz="1800" b="0" i="0" u="none" strike="noStrike" dirty="0">
                          <a:solidFill>
                            <a:srgbClr val="000000"/>
                          </a:solidFill>
                          <a:effectLst/>
                          <a:latin typeface="+mj-lt"/>
                        </a:rPr>
                        <a:t>-.119</a:t>
                      </a:r>
                    </a:p>
                  </a:txBody>
                  <a:tcPr marL="9525" marR="9525" marT="9525" marB="0" anchor="ctr"/>
                </a:tc>
                <a:extLst>
                  <a:ext uri="{0D108BD9-81ED-4DB2-BD59-A6C34878D82A}">
                    <a16:rowId xmlns:a16="http://schemas.microsoft.com/office/drawing/2014/main" val="287796668"/>
                  </a:ext>
                </a:extLst>
              </a:tr>
              <a:tr h="370840">
                <a:tc gridSpan="2">
                  <a:txBody>
                    <a:bodyPr/>
                    <a:lstStyle/>
                    <a:p>
                      <a:pPr algn="l" fontAlgn="t"/>
                      <a:r>
                        <a:rPr lang="en-IN" sz="1800" b="0" i="0" u="none" strike="noStrike" dirty="0">
                          <a:solidFill>
                            <a:srgbClr val="000000"/>
                          </a:solidFill>
                          <a:effectLst/>
                          <a:latin typeface="+mj-lt"/>
                        </a:rPr>
                        <a:t>Test Statistic</a:t>
                      </a:r>
                    </a:p>
                  </a:txBody>
                  <a:tcPr marL="9525" marR="9525" marT="9525" marB="0" anchor="ctr"/>
                </a:tc>
                <a:tc hMerge="1">
                  <a:txBody>
                    <a:bodyPr/>
                    <a:lstStyle/>
                    <a:p>
                      <a:endParaRPr lang="en-IN"/>
                    </a:p>
                  </a:txBody>
                  <a:tcPr/>
                </a:tc>
                <a:tc>
                  <a:txBody>
                    <a:bodyPr/>
                    <a:lstStyle/>
                    <a:p>
                      <a:pPr algn="ctr" fontAlgn="ctr"/>
                      <a:r>
                        <a:rPr lang="en-IN" sz="1800" b="0" i="0" u="none" strike="noStrike" dirty="0">
                          <a:solidFill>
                            <a:srgbClr val="000000"/>
                          </a:solidFill>
                          <a:effectLst/>
                          <a:latin typeface="+mj-lt"/>
                        </a:rPr>
                        <a:t>.119</a:t>
                      </a:r>
                    </a:p>
                  </a:txBody>
                  <a:tcPr marL="9525" marR="9525" marT="9525" marB="0" anchor="ctr"/>
                </a:tc>
                <a:extLst>
                  <a:ext uri="{0D108BD9-81ED-4DB2-BD59-A6C34878D82A}">
                    <a16:rowId xmlns:a16="http://schemas.microsoft.com/office/drawing/2014/main" val="3113888287"/>
                  </a:ext>
                </a:extLst>
              </a:tr>
              <a:tr h="370840">
                <a:tc gridSpan="2">
                  <a:txBody>
                    <a:bodyPr/>
                    <a:lstStyle/>
                    <a:p>
                      <a:pPr algn="l" fontAlgn="t"/>
                      <a:r>
                        <a:rPr lang="en-IN" sz="1800" b="0" i="0" u="none" strike="noStrike" dirty="0" err="1">
                          <a:solidFill>
                            <a:srgbClr val="000000"/>
                          </a:solidFill>
                          <a:effectLst/>
                          <a:latin typeface="+mj-lt"/>
                        </a:rPr>
                        <a:t>Asymp</a:t>
                      </a:r>
                      <a:r>
                        <a:rPr lang="en-IN" sz="1800" b="0" i="0" u="none" strike="noStrike" dirty="0">
                          <a:solidFill>
                            <a:srgbClr val="000000"/>
                          </a:solidFill>
                          <a:effectLst/>
                          <a:latin typeface="+mj-lt"/>
                        </a:rPr>
                        <a:t>. Sig. (2-tailed)</a:t>
                      </a:r>
                    </a:p>
                  </a:txBody>
                  <a:tcPr marL="9525" marR="9525" marT="9525" marB="0" anchor="ctr"/>
                </a:tc>
                <a:tc hMerge="1">
                  <a:txBody>
                    <a:bodyPr/>
                    <a:lstStyle/>
                    <a:p>
                      <a:endParaRPr lang="en-IN"/>
                    </a:p>
                  </a:txBody>
                  <a:tcPr/>
                </a:tc>
                <a:tc>
                  <a:txBody>
                    <a:bodyPr/>
                    <a:lstStyle/>
                    <a:p>
                      <a:pPr algn="ctr" fontAlgn="ctr"/>
                      <a:r>
                        <a:rPr lang="en-IN" sz="1800" b="0" i="0" u="none" strike="noStrike" dirty="0">
                          <a:solidFill>
                            <a:srgbClr val="000000"/>
                          </a:solidFill>
                          <a:effectLst/>
                          <a:latin typeface="+mj-lt"/>
                        </a:rPr>
                        <a:t>.200</a:t>
                      </a:r>
                      <a:r>
                        <a:rPr lang="en-IN" sz="1800" b="0" i="0" u="none" strike="noStrike" baseline="30000" dirty="0">
                          <a:solidFill>
                            <a:srgbClr val="000000"/>
                          </a:solidFill>
                          <a:effectLst/>
                          <a:latin typeface="+mj-lt"/>
                        </a:rPr>
                        <a:t>c,d</a:t>
                      </a:r>
                      <a:endParaRPr lang="en-IN" sz="18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1751172716"/>
                  </a:ext>
                </a:extLst>
              </a:tr>
              <a:tr h="370840">
                <a:tc gridSpan="3">
                  <a:txBody>
                    <a:bodyPr/>
                    <a:lstStyle/>
                    <a:p>
                      <a:pPr algn="l" fontAlgn="t"/>
                      <a:r>
                        <a:rPr lang="en-US" sz="1800" b="0" i="0" u="none" strike="noStrike" dirty="0">
                          <a:solidFill>
                            <a:srgbClr val="000000"/>
                          </a:solidFill>
                          <a:effectLst/>
                          <a:latin typeface="+mj-lt"/>
                        </a:rPr>
                        <a:t>a. Test distribution is Normal.</a:t>
                      </a:r>
                    </a:p>
                  </a:txBody>
                  <a:tcPr marL="9525" marR="9525" marT="9525" marB="0" anchor="ct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985766375"/>
                  </a:ext>
                </a:extLst>
              </a:tr>
              <a:tr h="370840">
                <a:tc gridSpan="3">
                  <a:txBody>
                    <a:bodyPr/>
                    <a:lstStyle/>
                    <a:p>
                      <a:pPr algn="l" fontAlgn="t"/>
                      <a:r>
                        <a:rPr lang="en-IN" sz="1800" b="0" i="0" u="none" strike="noStrike" dirty="0">
                          <a:solidFill>
                            <a:srgbClr val="000000"/>
                          </a:solidFill>
                          <a:effectLst/>
                          <a:latin typeface="+mj-lt"/>
                        </a:rPr>
                        <a:t>b. Calculated from data.</a:t>
                      </a:r>
                    </a:p>
                  </a:txBody>
                  <a:tcPr marL="9525" marR="9525" marT="9525" marB="0" anchor="ct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824698516"/>
                  </a:ext>
                </a:extLst>
              </a:tr>
              <a:tr h="370840">
                <a:tc gridSpan="3">
                  <a:txBody>
                    <a:bodyPr/>
                    <a:lstStyle/>
                    <a:p>
                      <a:pPr algn="l" fontAlgn="t"/>
                      <a:r>
                        <a:rPr lang="en-IN" sz="1800" b="0" i="0" u="none" strike="noStrike" dirty="0">
                          <a:solidFill>
                            <a:srgbClr val="000000"/>
                          </a:solidFill>
                          <a:effectLst/>
                          <a:latin typeface="+mj-lt"/>
                        </a:rPr>
                        <a:t>c. Lilliefors Significance Correction.</a:t>
                      </a:r>
                    </a:p>
                  </a:txBody>
                  <a:tcPr marL="9525" marR="9525" marT="9525" marB="0" anchor="ct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13093387"/>
                  </a:ext>
                </a:extLst>
              </a:tr>
              <a:tr h="370840">
                <a:tc gridSpan="3">
                  <a:txBody>
                    <a:bodyPr/>
                    <a:lstStyle/>
                    <a:p>
                      <a:pPr algn="l" fontAlgn="t"/>
                      <a:r>
                        <a:rPr lang="en-US" sz="1800" b="0" i="0" u="none" strike="noStrike" dirty="0">
                          <a:solidFill>
                            <a:srgbClr val="000000"/>
                          </a:solidFill>
                          <a:effectLst/>
                          <a:latin typeface="+mj-lt"/>
                        </a:rPr>
                        <a:t>d. This is a lower bound of the true significance.</a:t>
                      </a:r>
                    </a:p>
                  </a:txBody>
                  <a:tcPr marL="9525" marR="9525" marT="9525" marB="0" anchor="ctr"/>
                </a:tc>
                <a:tc hMerge="1">
                  <a:txBody>
                    <a:bodyPr/>
                    <a:lstStyle/>
                    <a:p>
                      <a:endParaRPr lang="en-IN"/>
                    </a:p>
                  </a:txBody>
                  <a:tcPr/>
                </a:tc>
                <a:tc hMerge="1">
                  <a:txBody>
                    <a:bodyPr/>
                    <a:lstStyle/>
                    <a:p>
                      <a:endParaRPr lang="en-IN" dirty="0"/>
                    </a:p>
                  </a:txBody>
                  <a:tcPr/>
                </a:tc>
                <a:extLst>
                  <a:ext uri="{0D108BD9-81ED-4DB2-BD59-A6C34878D82A}">
                    <a16:rowId xmlns:a16="http://schemas.microsoft.com/office/drawing/2014/main" val="4109471580"/>
                  </a:ext>
                </a:extLst>
              </a:tr>
            </a:tbl>
          </a:graphicData>
        </a:graphic>
      </p:graphicFrame>
    </p:spTree>
    <p:extLst>
      <p:ext uri="{BB962C8B-B14F-4D97-AF65-F5344CB8AC3E}">
        <p14:creationId xmlns:p14="http://schemas.microsoft.com/office/powerpoint/2010/main" val="39381647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B1CE0-E7B8-434B-A0C4-1DFF2B5F7509}"/>
              </a:ext>
            </a:extLst>
          </p:cNvPr>
          <p:cNvSpPr>
            <a:spLocks noGrp="1"/>
          </p:cNvSpPr>
          <p:nvPr>
            <p:ph type="title"/>
          </p:nvPr>
        </p:nvSpPr>
        <p:spPr/>
        <p:txBody>
          <a:bodyPr/>
          <a:lstStyle/>
          <a:p>
            <a:r>
              <a:rPr lang="en-US" dirty="0"/>
              <a:t>Questions?</a:t>
            </a:r>
          </a:p>
        </p:txBody>
      </p:sp>
    </p:spTree>
    <p:extLst>
      <p:ext uri="{BB962C8B-B14F-4D97-AF65-F5344CB8AC3E}">
        <p14:creationId xmlns:p14="http://schemas.microsoft.com/office/powerpoint/2010/main" val="1940718991"/>
      </p:ext>
    </p:extLst>
  </p:cSld>
  <p:clrMapOvr>
    <a:masterClrMapping/>
  </p:clrMapOvr>
</p:sld>
</file>

<file path=ppt/theme/theme1.xml><?xml version="1.0" encoding="utf-8"?>
<a:theme xmlns:a="http://schemas.openxmlformats.org/drawingml/2006/main" name="Face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1398</TotalTime>
  <Words>4638</Words>
  <Application>Microsoft Office PowerPoint</Application>
  <PresentationFormat>On-screen Show (4:3)</PresentationFormat>
  <Paragraphs>1677</Paragraphs>
  <Slides>60</Slides>
  <Notes>13</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60</vt:i4>
      </vt:variant>
    </vt:vector>
  </HeadingPairs>
  <TitlesOfParts>
    <vt:vector size="72" baseType="lpstr">
      <vt:lpstr>Arial</vt:lpstr>
      <vt:lpstr>Arial Bold</vt:lpstr>
      <vt:lpstr>Calibri</vt:lpstr>
      <vt:lpstr>Cambria Math</vt:lpstr>
      <vt:lpstr>Garamond</vt:lpstr>
      <vt:lpstr>Times New Roman</vt:lpstr>
      <vt:lpstr>Trebuchet MS</vt:lpstr>
      <vt:lpstr>Wingdings</vt:lpstr>
      <vt:lpstr>Wingdings 3</vt:lpstr>
      <vt:lpstr>Facet</vt:lpstr>
      <vt:lpstr>Worksheet</vt:lpstr>
      <vt:lpstr>Equation</vt:lpstr>
      <vt:lpstr>Regression Diagnostics</vt:lpstr>
      <vt:lpstr>Preliminary Diagnostics</vt:lpstr>
      <vt:lpstr>Partial F Test</vt:lpstr>
      <vt:lpstr>Hypothesis Test</vt:lpstr>
      <vt:lpstr>Revisit - Gender Divide</vt:lpstr>
      <vt:lpstr>Revisit - Gender Divide</vt:lpstr>
      <vt:lpstr>The Coefficients</vt:lpstr>
      <vt:lpstr>Autocorrelation</vt:lpstr>
      <vt:lpstr>Autocorrelation</vt:lpstr>
      <vt:lpstr>Durbin Watson Test</vt:lpstr>
      <vt:lpstr>Durbin Watson Statistic</vt:lpstr>
      <vt:lpstr>Durbin Watson Statistic</vt:lpstr>
      <vt:lpstr>Durbin Watson Critical Values (α=0.01)</vt:lpstr>
      <vt:lpstr>Critical Regions of Durbin Watson test</vt:lpstr>
      <vt:lpstr>United Technologies</vt:lpstr>
      <vt:lpstr>Critical Regions of Durbin Watson test United Technologies</vt:lpstr>
      <vt:lpstr>Multiple Regression</vt:lpstr>
      <vt:lpstr>AIC</vt:lpstr>
      <vt:lpstr>AIC - Advantages</vt:lpstr>
      <vt:lpstr>BIC (Bayes Information Criterion)</vt:lpstr>
      <vt:lpstr>Visual Interpretation of Y ̂  and μ_Y ̂ </vt:lpstr>
      <vt:lpstr>Confidence Intervals</vt:lpstr>
      <vt:lpstr>Confidence Intervals</vt:lpstr>
      <vt:lpstr>Prediction and Prediction Intervals</vt:lpstr>
      <vt:lpstr>Prediction Interval - Example</vt:lpstr>
      <vt:lpstr>Bendrix</vt:lpstr>
      <vt:lpstr>Methods of Variable Selection</vt:lpstr>
      <vt:lpstr>Forward Selection</vt:lpstr>
      <vt:lpstr>Forward Selection</vt:lpstr>
      <vt:lpstr>Methods of Variable Selection</vt:lpstr>
      <vt:lpstr>Backward Selection</vt:lpstr>
      <vt:lpstr>Stepwise Selection</vt:lpstr>
      <vt:lpstr>Stepwise Selection</vt:lpstr>
      <vt:lpstr>Stepwise Selection</vt:lpstr>
      <vt:lpstr>Stepwise Selection</vt:lpstr>
      <vt:lpstr>Stepwise Selection</vt:lpstr>
      <vt:lpstr>Stepwise Selection</vt:lpstr>
      <vt:lpstr>Overfitting</vt:lpstr>
      <vt:lpstr>Multicollinearity</vt:lpstr>
      <vt:lpstr>Multicollinearity in practice</vt:lpstr>
      <vt:lpstr>Other indicators/signs of multicollinearity</vt:lpstr>
      <vt:lpstr>Agricultural Production Data</vt:lpstr>
      <vt:lpstr>Production Data</vt:lpstr>
      <vt:lpstr>Correlation Matrix</vt:lpstr>
      <vt:lpstr>Collinearity Statistics</vt:lpstr>
      <vt:lpstr>Revisit United Technologies</vt:lpstr>
      <vt:lpstr>Log Transformations</vt:lpstr>
      <vt:lpstr>Correcting for Multicollinearity</vt:lpstr>
      <vt:lpstr>Heteroscedasticity</vt:lpstr>
      <vt:lpstr>No Pattern is Good Pattern</vt:lpstr>
      <vt:lpstr>Heteroscedasticity</vt:lpstr>
      <vt:lpstr>Heteroscedasticity</vt:lpstr>
      <vt:lpstr>Heteroskedasticity</vt:lpstr>
      <vt:lpstr>Park’s Test</vt:lpstr>
      <vt:lpstr>Park’s Test – UTI </vt:lpstr>
      <vt:lpstr>Normality Asssumption</vt:lpstr>
      <vt:lpstr>QQ-Plot</vt:lpstr>
      <vt:lpstr>United Technologies-Normal Distribution</vt:lpstr>
      <vt:lpstr>Goodness of Fit – KS Test</vt:lpstr>
      <vt:lpstr>Questions?</vt:lpstr>
    </vt:vector>
  </TitlesOfParts>
  <Company>I I M Bangalore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Multicollinearity</dc:title>
  <dc:creator>nagadevra</dc:creator>
  <cp:lastModifiedBy>Vishnuprasad Nagadevara</cp:lastModifiedBy>
  <cp:revision>110</cp:revision>
  <dcterms:created xsi:type="dcterms:W3CDTF">2008-10-11T14:13:17Z</dcterms:created>
  <dcterms:modified xsi:type="dcterms:W3CDTF">2021-07-10T08:27:53Z</dcterms:modified>
</cp:coreProperties>
</file>