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7" r:id="rId2"/>
    <p:sldId id="279" r:id="rId3"/>
    <p:sldId id="280" r:id="rId4"/>
    <p:sldId id="281" r:id="rId5"/>
    <p:sldId id="282" r:id="rId6"/>
    <p:sldId id="258" r:id="rId7"/>
    <p:sldId id="283" r:id="rId8"/>
    <p:sldId id="259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4" r:id="rId17"/>
    <p:sldId id="263" r:id="rId18"/>
    <p:sldId id="277" r:id="rId19"/>
    <p:sldId id="273" r:id="rId20"/>
    <p:sldId id="274" r:id="rId21"/>
    <p:sldId id="261" r:id="rId22"/>
    <p:sldId id="284" r:id="rId23"/>
    <p:sldId id="285" r:id="rId24"/>
    <p:sldId id="262" r:id="rId25"/>
    <p:sldId id="265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7052280311457173"/>
          <c:y val="1.9639934533551555E-2"/>
        </c:manualLayout>
      </c:layout>
      <c:overlay val="0"/>
      <c:spPr>
        <a:noFill/>
        <a:ln w="25400">
          <a:noFill/>
        </a:ln>
      </c:spPr>
      <c:txPr>
        <a:bodyPr/>
        <a:lstStyle/>
        <a:p>
          <a:pPr>
            <a:defRPr sz="1200" b="1" i="0" u="none" strike="noStrike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790878754171301"/>
          <c:y val="0.1260229132569558"/>
          <c:w val="0.85984427141268072"/>
          <c:h val="0.74468085106382975"/>
        </c:manualLayout>
      </c:layout>
      <c:scatterChart>
        <c:scatterStyle val="lineMarker"/>
        <c:varyColors val="0"/>
        <c:ser>
          <c:idx val="0"/>
          <c:order val="0"/>
          <c:tx>
            <c:strRef>
              <c:f>uti!$B$1</c:f>
              <c:strCache>
                <c:ptCount val="1"/>
                <c:pt idx="0">
                  <c:v>SALES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uti!$A$2:$A$21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uti!$B$2:$B$21</c:f>
              <c:numCache>
                <c:formatCode>#.0</c:formatCode>
                <c:ptCount val="20"/>
                <c:pt idx="0">
                  <c:v>3973</c:v>
                </c:pt>
                <c:pt idx="1">
                  <c:v>4871</c:v>
                </c:pt>
                <c:pt idx="2">
                  <c:v>4315</c:v>
                </c:pt>
                <c:pt idx="3">
                  <c:v>5567</c:v>
                </c:pt>
                <c:pt idx="4">
                  <c:v>6537</c:v>
                </c:pt>
                <c:pt idx="5">
                  <c:v>7460</c:v>
                </c:pt>
                <c:pt idx="6">
                  <c:v>7638</c:v>
                </c:pt>
                <c:pt idx="7">
                  <c:v>8295</c:v>
                </c:pt>
                <c:pt idx="8">
                  <c:v>6891</c:v>
                </c:pt>
                <c:pt idx="9">
                  <c:v>12844</c:v>
                </c:pt>
                <c:pt idx="10">
                  <c:v>14428</c:v>
                </c:pt>
                <c:pt idx="11">
                  <c:v>15493</c:v>
                </c:pt>
                <c:pt idx="12">
                  <c:v>18653</c:v>
                </c:pt>
                <c:pt idx="13">
                  <c:v>21978</c:v>
                </c:pt>
                <c:pt idx="14">
                  <c:v>29562</c:v>
                </c:pt>
                <c:pt idx="15">
                  <c:v>37821</c:v>
                </c:pt>
                <c:pt idx="16">
                  <c:v>49826</c:v>
                </c:pt>
                <c:pt idx="17">
                  <c:v>64521</c:v>
                </c:pt>
                <c:pt idx="18">
                  <c:v>72392</c:v>
                </c:pt>
                <c:pt idx="19">
                  <c:v>71678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01-4AEB-B1D6-0B251FD1C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53573696"/>
        <c:axId val="-53573152"/>
      </c:scatterChart>
      <c:valAx>
        <c:axId val="-535736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IN"/>
                  <a:t>Year</a:t>
                </a:r>
              </a:p>
            </c:rich>
          </c:tx>
          <c:layout>
            <c:manualLayout>
              <c:xMode val="edge"/>
              <c:yMode val="edge"/>
              <c:x val="0.52725250278086766"/>
              <c:y val="0.9345335515548282"/>
            </c:manualLayout>
          </c:layout>
          <c:overlay val="0"/>
          <c:spPr>
            <a:noFill/>
            <a:ln w="25400">
              <a:noFill/>
            </a:ln>
          </c:spPr>
        </c:title>
        <c:numFmt formatCode="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-53573152"/>
        <c:crosses val="autoZero"/>
        <c:crossBetween val="midCat"/>
      </c:valAx>
      <c:valAx>
        <c:axId val="-53573152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numFmt formatCode="#.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-53573696"/>
        <c:crosses val="autoZero"/>
        <c:crossBetween val="midCat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4938820912124583"/>
          <c:y val="1.9639934533551555E-2"/>
        </c:manualLayout>
      </c:layout>
      <c:overlay val="0"/>
      <c:spPr>
        <a:noFill/>
        <a:ln w="25400">
          <a:noFill/>
        </a:ln>
      </c:spPr>
      <c:txPr>
        <a:bodyPr/>
        <a:lstStyle/>
        <a:p>
          <a:pPr>
            <a:defRPr sz="1200" b="1" i="0" u="none" strike="noStrike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790878754171301"/>
          <c:y val="0.1260229132569558"/>
          <c:w val="0.85984427141268072"/>
          <c:h val="0.74468085106382975"/>
        </c:manualLayout>
      </c:layout>
      <c:scatterChart>
        <c:scatterStyle val="lineMarker"/>
        <c:varyColors val="0"/>
        <c:ser>
          <c:idx val="0"/>
          <c:order val="0"/>
          <c:tx>
            <c:strRef>
              <c:f>uti!$C$1</c:f>
              <c:strCache>
                <c:ptCount val="1"/>
                <c:pt idx="0">
                  <c:v>MATERIAL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uti!$A$2:$A$21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uti!$C$2:$C$21</c:f>
              <c:numCache>
                <c:formatCode>#.0</c:formatCode>
                <c:ptCount val="20"/>
                <c:pt idx="0">
                  <c:v>1742</c:v>
                </c:pt>
                <c:pt idx="1">
                  <c:v>2296</c:v>
                </c:pt>
                <c:pt idx="2">
                  <c:v>2356</c:v>
                </c:pt>
                <c:pt idx="3">
                  <c:v>2673</c:v>
                </c:pt>
                <c:pt idx="4">
                  <c:v>2796</c:v>
                </c:pt>
                <c:pt idx="5">
                  <c:v>3172</c:v>
                </c:pt>
                <c:pt idx="6">
                  <c:v>3503</c:v>
                </c:pt>
                <c:pt idx="7">
                  <c:v>3824</c:v>
                </c:pt>
                <c:pt idx="8">
                  <c:v>3407</c:v>
                </c:pt>
                <c:pt idx="9">
                  <c:v>5123</c:v>
                </c:pt>
                <c:pt idx="10">
                  <c:v>5733</c:v>
                </c:pt>
                <c:pt idx="11">
                  <c:v>6100</c:v>
                </c:pt>
                <c:pt idx="12">
                  <c:v>6600</c:v>
                </c:pt>
                <c:pt idx="13">
                  <c:v>9030</c:v>
                </c:pt>
                <c:pt idx="14">
                  <c:v>15518</c:v>
                </c:pt>
                <c:pt idx="15">
                  <c:v>21380</c:v>
                </c:pt>
                <c:pt idx="16">
                  <c:v>27510</c:v>
                </c:pt>
                <c:pt idx="17">
                  <c:v>36479</c:v>
                </c:pt>
                <c:pt idx="18">
                  <c:v>35131</c:v>
                </c:pt>
                <c:pt idx="19">
                  <c:v>33108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BDC-46F4-A870-0660858913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57930096"/>
        <c:axId val="-57932816"/>
      </c:scatterChart>
      <c:valAx>
        <c:axId val="-579300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IN"/>
                  <a:t>Year</a:t>
                </a:r>
              </a:p>
            </c:rich>
          </c:tx>
          <c:layout>
            <c:manualLayout>
              <c:xMode val="edge"/>
              <c:yMode val="edge"/>
              <c:x val="0.52725250278086766"/>
              <c:y val="0.9345335515548282"/>
            </c:manualLayout>
          </c:layout>
          <c:overlay val="0"/>
          <c:spPr>
            <a:noFill/>
            <a:ln w="25400">
              <a:noFill/>
            </a:ln>
          </c:spPr>
        </c:title>
        <c:numFmt formatCode="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-57932816"/>
        <c:crosses val="autoZero"/>
        <c:crossBetween val="midCat"/>
      </c:valAx>
      <c:valAx>
        <c:axId val="-57932816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numFmt formatCode="#.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-57930096"/>
        <c:crosses val="autoZero"/>
        <c:crossBetween val="midCat"/>
      </c:valAx>
      <c:spPr>
        <a:solidFill>
          <a:srgbClr val="FFFFFF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8053392658509453"/>
          <c:y val="1.9639934533551555E-2"/>
        </c:manualLayout>
      </c:layout>
      <c:overlay val="0"/>
      <c:spPr>
        <a:noFill/>
        <a:ln w="25400">
          <a:noFill/>
        </a:ln>
      </c:spPr>
      <c:txPr>
        <a:bodyPr/>
        <a:lstStyle/>
        <a:p>
          <a:pPr>
            <a:defRPr sz="1200" b="1" i="0" u="none" strike="noStrike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01001112347053"/>
          <c:y val="0.1260229132569558"/>
          <c:w val="0.86874304783092327"/>
          <c:h val="0.74468085106382975"/>
        </c:manualLayout>
      </c:layout>
      <c:scatterChart>
        <c:scatterStyle val="lineMarker"/>
        <c:varyColors val="0"/>
        <c:ser>
          <c:idx val="0"/>
          <c:order val="0"/>
          <c:tx>
            <c:strRef>
              <c:f>uti!$I$1</c:f>
              <c:strCache>
                <c:ptCount val="1"/>
                <c:pt idx="0">
                  <c:v>PBT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uti!$A$2:$A$21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uti!$I$2:$I$21</c:f>
              <c:numCache>
                <c:formatCode>#.0</c:formatCode>
                <c:ptCount val="20"/>
                <c:pt idx="0">
                  <c:v>662</c:v>
                </c:pt>
                <c:pt idx="1">
                  <c:v>746</c:v>
                </c:pt>
                <c:pt idx="2">
                  <c:v>482</c:v>
                </c:pt>
                <c:pt idx="3">
                  <c:v>503</c:v>
                </c:pt>
                <c:pt idx="4">
                  <c:v>690</c:v>
                </c:pt>
                <c:pt idx="5">
                  <c:v>898</c:v>
                </c:pt>
                <c:pt idx="6">
                  <c:v>1220</c:v>
                </c:pt>
                <c:pt idx="7">
                  <c:v>851</c:v>
                </c:pt>
                <c:pt idx="8">
                  <c:v>893</c:v>
                </c:pt>
                <c:pt idx="9">
                  <c:v>2013</c:v>
                </c:pt>
                <c:pt idx="10">
                  <c:v>2346</c:v>
                </c:pt>
                <c:pt idx="11">
                  <c:v>2694</c:v>
                </c:pt>
                <c:pt idx="12">
                  <c:v>2877</c:v>
                </c:pt>
                <c:pt idx="13">
                  <c:v>2545</c:v>
                </c:pt>
                <c:pt idx="14">
                  <c:v>3032</c:v>
                </c:pt>
                <c:pt idx="15">
                  <c:v>2969</c:v>
                </c:pt>
                <c:pt idx="16">
                  <c:v>2971</c:v>
                </c:pt>
                <c:pt idx="17">
                  <c:v>4139</c:v>
                </c:pt>
                <c:pt idx="18">
                  <c:v>5397</c:v>
                </c:pt>
                <c:pt idx="19">
                  <c:v>6750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3C2-4CCA-9C87-8D25EF242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50305152"/>
        <c:axId val="-2050304608"/>
      </c:scatterChart>
      <c:valAx>
        <c:axId val="-20503051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IN"/>
                  <a:t>Year</a:t>
                </a:r>
              </a:p>
            </c:rich>
          </c:tx>
          <c:layout>
            <c:manualLayout>
              <c:xMode val="edge"/>
              <c:yMode val="edge"/>
              <c:x val="0.52280311457174633"/>
              <c:y val="0.9345335515548282"/>
            </c:manualLayout>
          </c:layout>
          <c:overlay val="0"/>
          <c:spPr>
            <a:noFill/>
            <a:ln w="25400">
              <a:noFill/>
            </a:ln>
          </c:spPr>
        </c:title>
        <c:numFmt formatCode="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-2050304608"/>
        <c:crosses val="autoZero"/>
        <c:crossBetween val="midCat"/>
      </c:valAx>
      <c:valAx>
        <c:axId val="-2050304608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numFmt formatCode="#.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-2050305152"/>
        <c:crosses val="autoZero"/>
        <c:crossBetween val="midCat"/>
      </c:valAx>
      <c:spPr>
        <a:solidFill>
          <a:srgbClr val="FFFFFF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 b="1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IN"/>
              <a:t>EMPLOYEES</a:t>
            </a:r>
          </a:p>
        </c:rich>
      </c:tx>
      <c:layout>
        <c:manualLayout>
          <c:xMode val="edge"/>
          <c:yMode val="edge"/>
          <c:x val="0.42269187986651835"/>
          <c:y val="1.9639934533551555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1790878754171301"/>
          <c:y val="0.13911620294599017"/>
          <c:w val="0.85984427141268072"/>
          <c:h val="0.73158756137479541"/>
        </c:manualLayout>
      </c:layout>
      <c:scatterChart>
        <c:scatterStyle val="lineMarker"/>
        <c:varyColors val="0"/>
        <c:ser>
          <c:idx val="0"/>
          <c:order val="0"/>
          <c:tx>
            <c:strRef>
              <c:f>uti!$F$1</c:f>
              <c:strCache>
                <c:ptCount val="1"/>
                <c:pt idx="0">
                  <c:v>EMPL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uti!$A$2:$A$21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uti!$F$2:$F$21</c:f>
              <c:numCache>
                <c:formatCode>#.0</c:formatCode>
                <c:ptCount val="20"/>
                <c:pt idx="0">
                  <c:v>13148</c:v>
                </c:pt>
                <c:pt idx="1">
                  <c:v>14871</c:v>
                </c:pt>
                <c:pt idx="2">
                  <c:v>15340</c:v>
                </c:pt>
                <c:pt idx="3">
                  <c:v>15642</c:v>
                </c:pt>
                <c:pt idx="4">
                  <c:v>15780</c:v>
                </c:pt>
                <c:pt idx="5">
                  <c:v>16298</c:v>
                </c:pt>
                <c:pt idx="6">
                  <c:v>16644</c:v>
                </c:pt>
                <c:pt idx="7">
                  <c:v>17229</c:v>
                </c:pt>
                <c:pt idx="8">
                  <c:v>17351</c:v>
                </c:pt>
                <c:pt idx="9">
                  <c:v>17306</c:v>
                </c:pt>
                <c:pt idx="10">
                  <c:v>17952</c:v>
                </c:pt>
                <c:pt idx="11">
                  <c:v>18207</c:v>
                </c:pt>
                <c:pt idx="12">
                  <c:v>18453</c:v>
                </c:pt>
                <c:pt idx="13">
                  <c:v>18903</c:v>
                </c:pt>
                <c:pt idx="14">
                  <c:v>18797</c:v>
                </c:pt>
                <c:pt idx="15">
                  <c:v>19129</c:v>
                </c:pt>
                <c:pt idx="16">
                  <c:v>19280</c:v>
                </c:pt>
                <c:pt idx="17">
                  <c:v>19394</c:v>
                </c:pt>
                <c:pt idx="18">
                  <c:v>19357</c:v>
                </c:pt>
                <c:pt idx="19">
                  <c:v>19080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27E-4E28-BAD6-38173D2AE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50308960"/>
        <c:axId val="-2050310048"/>
      </c:scatterChart>
      <c:valAx>
        <c:axId val="-20503089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IN"/>
                  <a:t>Year</a:t>
                </a:r>
              </a:p>
            </c:rich>
          </c:tx>
          <c:layout>
            <c:manualLayout>
              <c:xMode val="edge"/>
              <c:yMode val="edge"/>
              <c:x val="0.52725250278086766"/>
              <c:y val="0.9345335515548282"/>
            </c:manualLayout>
          </c:layout>
          <c:overlay val="0"/>
          <c:spPr>
            <a:noFill/>
            <a:ln w="25400">
              <a:noFill/>
            </a:ln>
          </c:spPr>
        </c:title>
        <c:numFmt formatCode="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-2050310048"/>
        <c:crosses val="autoZero"/>
        <c:crossBetween val="midCat"/>
      </c:valAx>
      <c:valAx>
        <c:axId val="-2050310048"/>
        <c:scaling>
          <c:orientation val="minMax"/>
          <c:min val="12000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numFmt formatCode="#.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-2050308960"/>
        <c:crosses val="autoZero"/>
        <c:crossBetween val="midCat"/>
      </c:valAx>
      <c:spPr>
        <a:solidFill>
          <a:srgbClr val="FFFFFF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0FB64-46DE-4A0E-8D39-2A458EA102D6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B9ED9-BCAE-4815-99AA-73A5E86BA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7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charset="-128"/>
              </a:rPr>
              <a:t>Emphasize the interpretation of partial coefficient.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A0DAA8F-9E5D-5D42-85BC-54B38F10D683}" type="slidenum">
              <a:rPr lang="en-US" altLang="en-US" sz="1300">
                <a:latin typeface="Calibri" charset="0"/>
              </a:rPr>
              <a:pPr eaLnBrk="1" hangingPunct="1"/>
              <a:t>8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42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1: I am clear about the interpretation of R2; I am clear about the interpretation of ANOVA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B9ED9-BCAE-4815-99AA-73A5E86BA5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82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ea typeface="ＭＳ Ｐゴシック" charset="-128"/>
              </a:rPr>
              <a:t>Poll 2: I am clear about interpretation of t-test and the associated p-value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2E0D81F-EF27-E548-BCE3-B8F1A61C9C15}" type="slidenum">
              <a:rPr lang="en-US" altLang="en-US" sz="1300">
                <a:latin typeface="Calibri" charset="0"/>
              </a:rPr>
              <a:pPr eaLnBrk="1" hangingPunct="1"/>
              <a:t>17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983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3D44174D-199E-2640-A893-F3487BB78ABC}" type="slidenum">
              <a:rPr lang="en-US" altLang="en-US" sz="1300">
                <a:latin typeface="Calibri" charset="0"/>
              </a:rPr>
              <a:pPr eaLnBrk="1" hangingPunct="1"/>
              <a:t>21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920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38125" indent="-238125"/>
            <a:endParaRPr lang="en-US" altLang="en-US">
              <a:ea typeface="ＭＳ Ｐゴシック" charset="-128"/>
            </a:endParaRP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6F91ACF-285F-A349-B56D-13E1921043A1}" type="slidenum">
              <a:rPr lang="en-US" altLang="en-US" sz="1300">
                <a:latin typeface="Calibri" charset="0"/>
              </a:rPr>
              <a:pPr eaLnBrk="1" hangingPunct="1"/>
              <a:t>24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211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1ACE9C0-7ABB-9D45-8B73-ABEE7D59B122}" type="slidenum">
              <a:rPr lang="en-US" altLang="en-US" sz="1300">
                <a:latin typeface="Calibri" charset="0"/>
              </a:rPr>
              <a:pPr eaLnBrk="1" hangingPunct="1"/>
              <a:t>25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635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547219"/>
            <a:ext cx="8915399" cy="2262781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Statistical Analysis – 3</a:t>
            </a:r>
            <a:br>
              <a:rPr lang="en-US" altLang="en-US" dirty="0">
                <a:ea typeface="ＭＳ Ｐゴシック" charset="-128"/>
              </a:rPr>
            </a:br>
            <a:r>
              <a:rPr lang="en-US" altLang="en-US" dirty="0">
                <a:ea typeface="ＭＳ Ｐゴシック" charset="-128"/>
              </a:rPr>
              <a:t>Session 1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52687" y="4467225"/>
            <a:ext cx="8305800" cy="9906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Multiple Regression</a:t>
            </a:r>
          </a:p>
        </p:txBody>
      </p:sp>
    </p:spTree>
    <p:extLst>
      <p:ext uri="{BB962C8B-B14F-4D97-AF65-F5344CB8AC3E}">
        <p14:creationId xmlns:p14="http://schemas.microsoft.com/office/powerpoint/2010/main" val="175397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A4FA-96E9-4F67-A6AD-5912E0B64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582" y="305329"/>
            <a:ext cx="8911687" cy="625850"/>
          </a:xfrm>
        </p:spPr>
        <p:txBody>
          <a:bodyPr>
            <a:normAutofit fontScale="90000"/>
          </a:bodyPr>
          <a:lstStyle/>
          <a:p>
            <a:r>
              <a:rPr lang="en-US" dirty="0"/>
              <a:t>Course Outline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CC7E76A-9AA6-4338-A1EC-CE1A4DEED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898677"/>
              </p:ext>
            </p:extLst>
          </p:nvPr>
        </p:nvGraphicFramePr>
        <p:xfrm>
          <a:off x="1391920" y="1259839"/>
          <a:ext cx="10180319" cy="5314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128">
                  <a:extLst>
                    <a:ext uri="{9D8B030D-6E8A-4147-A177-3AD203B41FA5}">
                      <a16:colId xmlns:a16="http://schemas.microsoft.com/office/drawing/2014/main" val="784643681"/>
                    </a:ext>
                  </a:extLst>
                </a:gridCol>
                <a:gridCol w="5547751">
                  <a:extLst>
                    <a:ext uri="{9D8B030D-6E8A-4147-A177-3AD203B41FA5}">
                      <a16:colId xmlns:a16="http://schemas.microsoft.com/office/drawing/2014/main" val="1528476647"/>
                    </a:ext>
                  </a:extLst>
                </a:gridCol>
                <a:gridCol w="3393440">
                  <a:extLst>
                    <a:ext uri="{9D8B030D-6E8A-4147-A177-3AD203B41FA5}">
                      <a16:colId xmlns:a16="http://schemas.microsoft.com/office/drawing/2014/main" val="57654781"/>
                    </a:ext>
                  </a:extLst>
                </a:gridCol>
              </a:tblGrid>
              <a:tr h="677392">
                <a:tc>
                  <a:txBody>
                    <a:bodyPr/>
                    <a:lstStyle/>
                    <a:p>
                      <a:pPr marL="68580">
                        <a:spcBef>
                          <a:spcPts val="5"/>
                        </a:spcBef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Session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Topic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38200" marR="8337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Materials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2963309"/>
                  </a:ext>
                </a:extLst>
              </a:tr>
              <a:tr h="706938">
                <a:tc>
                  <a:txBody>
                    <a:bodyPr/>
                    <a:lstStyle/>
                    <a:p>
                      <a:pPr marL="68580" algn="ctr">
                        <a:lnSpc>
                          <a:spcPts val="146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</a:t>
                      </a:r>
                      <a:r>
                        <a:rPr lang="en-US" sz="2400" spc="-1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en-US" sz="2400" spc="-2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Multiple</a:t>
                      </a:r>
                      <a:r>
                        <a:rPr lang="en-US" sz="2400" spc="-2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Linear</a:t>
                      </a:r>
                      <a:r>
                        <a:rPr lang="en-US" sz="2400" spc="-1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Regression, Omnibus test, Adjusted R</a:t>
                      </a:r>
                      <a:r>
                        <a:rPr lang="en-US" sz="2400" baseline="30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Case: United Technologies of India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23102650"/>
                  </a:ext>
                </a:extLst>
              </a:tr>
              <a:tr h="812945">
                <a:tc>
                  <a:txBody>
                    <a:bodyPr/>
                    <a:lstStyle/>
                    <a:p>
                      <a:pPr marL="68580" algn="ctr">
                        <a:lnSpc>
                          <a:spcPts val="146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Dummy</a:t>
                      </a:r>
                      <a:r>
                        <a:rPr lang="en-US" sz="2400" spc="-2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  <a:r>
                        <a:rPr lang="en-US" sz="2400" spc="-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Regression and Interaction Effects</a:t>
                      </a:r>
                      <a:r>
                        <a:rPr lang="en-US" sz="2400" spc="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Omitted</a:t>
                      </a:r>
                      <a:r>
                        <a:rPr lang="en-US" sz="2400" spc="-1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  <a:r>
                        <a:rPr lang="en-US" sz="2400" spc="-3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Bias 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65"/>
                        </a:lnSpc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Case: The Gender Divide 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2276092"/>
                  </a:ext>
                </a:extLst>
              </a:tr>
              <a:tr h="1305872">
                <a:tc>
                  <a:txBody>
                    <a:bodyPr/>
                    <a:lstStyle/>
                    <a:p>
                      <a:pPr marL="68580" algn="ctr">
                        <a:lnSpc>
                          <a:spcPts val="146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Issues in Multiple Regression Analysis and Testing</a:t>
                      </a:r>
                      <a:r>
                        <a:rPr lang="en-US" sz="2400" spc="-2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assumptions: Multicollinearity, VIF,</a:t>
                      </a:r>
                      <a:r>
                        <a:rPr lang="en-US" sz="2400" spc="-26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Remedies</a:t>
                      </a:r>
                      <a:r>
                        <a:rPr lang="en-US" sz="2400" spc="-1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</a:t>
                      </a:r>
                      <a:r>
                        <a:rPr lang="en-US" sz="2400" spc="-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Multicollinearity etc.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/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Case: United Technologies of India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0322323"/>
                  </a:ext>
                </a:extLst>
              </a:tr>
              <a:tr h="903310">
                <a:tc>
                  <a:txBody>
                    <a:bodyPr/>
                    <a:lstStyle/>
                    <a:p>
                      <a:pPr marL="68580" algn="ctr">
                        <a:lnSpc>
                          <a:spcPts val="146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 Selection and other issues in multiple regression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234315"/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Practical Regression: Regression</a:t>
                      </a:r>
                      <a:r>
                        <a:rPr lang="en-US" sz="2400" spc="-26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Basics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1201523"/>
                  </a:ext>
                </a:extLst>
              </a:tr>
              <a:tr h="883672">
                <a:tc>
                  <a:txBody>
                    <a:bodyPr/>
                    <a:lstStyle/>
                    <a:p>
                      <a:pPr marL="68580" algn="ctr">
                        <a:lnSpc>
                          <a:spcPts val="146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</a:t>
                      </a:r>
                      <a:r>
                        <a:rPr lang="en-US" sz="2400" spc="-1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en-US" sz="2400" spc="-2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Panel</a:t>
                      </a:r>
                      <a:r>
                        <a:rPr lang="en-US" sz="2400" spc="-1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en-US" sz="2400" spc="-1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Regression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Experiments</a:t>
                      </a:r>
                      <a:r>
                        <a:rPr lang="en-US" sz="2400" spc="-3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with</a:t>
                      </a:r>
                      <a:r>
                        <a:rPr lang="en-US" sz="2400" spc="-1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Regression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/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Case: Guest First Hotel (B) 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"/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(Homework)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720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48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88D5-6A01-4868-B023-9DA7274B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805" y="126270"/>
            <a:ext cx="8911687" cy="930370"/>
          </a:xfrm>
        </p:spPr>
        <p:txBody>
          <a:bodyPr/>
          <a:lstStyle/>
          <a:p>
            <a:r>
              <a:rPr lang="en-US" dirty="0"/>
              <a:t>Evaluation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8BBD00-06E2-4C5B-81EA-DC6607AECA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797410"/>
              </p:ext>
            </p:extLst>
          </p:nvPr>
        </p:nvGraphicFramePr>
        <p:xfrm>
          <a:off x="1759805" y="1905000"/>
          <a:ext cx="9990772" cy="33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693">
                  <a:extLst>
                    <a:ext uri="{9D8B030D-6E8A-4147-A177-3AD203B41FA5}">
                      <a16:colId xmlns:a16="http://schemas.microsoft.com/office/drawing/2014/main" val="2394388807"/>
                    </a:ext>
                  </a:extLst>
                </a:gridCol>
                <a:gridCol w="3311702">
                  <a:extLst>
                    <a:ext uri="{9D8B030D-6E8A-4147-A177-3AD203B41FA5}">
                      <a16:colId xmlns:a16="http://schemas.microsoft.com/office/drawing/2014/main" val="1195794234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771650310"/>
                    </a:ext>
                  </a:extLst>
                </a:gridCol>
                <a:gridCol w="2271297">
                  <a:extLst>
                    <a:ext uri="{9D8B030D-6E8A-4147-A177-3AD203B41FA5}">
                      <a16:colId xmlns:a16="http://schemas.microsoft.com/office/drawing/2014/main" val="1312841523"/>
                    </a:ext>
                  </a:extLst>
                </a:gridCol>
              </a:tblGrid>
              <a:tr h="101131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Basis of Evaluation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Coding Scheme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34679981"/>
                  </a:ext>
                </a:extLst>
              </a:tr>
              <a:tr h="77176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Homework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0N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9361430"/>
                  </a:ext>
                </a:extLst>
              </a:tr>
              <a:tr h="1011318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Group Assignment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Group (3 to 4 students)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1N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4401509"/>
                  </a:ext>
                </a:extLst>
              </a:tr>
              <a:tr h="51268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Final Exam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3N-b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8379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63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6D41-C7D7-4699-B358-9694A9F06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205" y="258350"/>
            <a:ext cx="8911687" cy="869410"/>
          </a:xfrm>
        </p:spPr>
        <p:txBody>
          <a:bodyPr/>
          <a:lstStyle/>
          <a:p>
            <a:r>
              <a:rPr lang="en-US" dirty="0"/>
              <a:t>SLR - Review</a:t>
            </a:r>
            <a:endParaRPr lang="en-IN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1764D948-CC40-4D34-AACE-AD27D3289FF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847852"/>
              </p:ext>
            </p:extLst>
          </p:nvPr>
        </p:nvGraphicFramePr>
        <p:xfrm>
          <a:off x="2180431" y="1341429"/>
          <a:ext cx="3915570" cy="83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" r:id="rId2" imgW="2276280" imgH="484560" progId="">
                  <p:embed/>
                </p:oleObj>
              </mc:Choice>
              <mc:Fallback>
                <p:oleObj name="Microsoft Equation" r:id="rId2" imgW="2276280" imgH="484560" progId="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7FD4CA4D-AADF-4F5B-99C1-0E7B22101A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431" y="1341429"/>
                        <a:ext cx="3915570" cy="8328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2ACAF55B-A3DC-48EC-ABAC-0BF7BBA276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628512"/>
              </p:ext>
            </p:extLst>
          </p:nvPr>
        </p:nvGraphicFramePr>
        <p:xfrm>
          <a:off x="2180431" y="2828885"/>
          <a:ext cx="4465818" cy="757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4" imgW="2832100" imgH="495300" progId="">
                  <p:embed/>
                </p:oleObj>
              </mc:Choice>
              <mc:Fallback>
                <p:oleObj name="Microsoft Equation 3.0" r:id="rId4" imgW="2832100" imgH="495300" progId="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30F6225C-0898-4D7A-BDA4-279A37EB5C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431" y="2828885"/>
                        <a:ext cx="4465818" cy="7579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D6BDAF-3944-4711-8EA9-10C370AF041A}"/>
                  </a:ext>
                </a:extLst>
              </p:cNvPr>
              <p:cNvSpPr txBox="1"/>
              <p:nvPr/>
            </p:nvSpPr>
            <p:spPr>
              <a:xfrm>
                <a:off x="2062480" y="4281457"/>
                <a:ext cx="5679440" cy="1403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𝒃</m:t>
                          </m:r>
                        </m:e>
                        <m:sub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𝟏</m:t>
                          </m:r>
                        </m:sub>
                      </m:sSub>
                      <m:r>
                        <a:rPr lang="en-IN" altLang="en-US" sz="2000" b="1" i="1" smtClean="0">
                          <a:latin typeface="Cambria Math" panose="02040503050406030204" pitchFamily="18" charset="0"/>
                          <a:ea typeface="ＭＳ Ｐゴシック" charset="-128"/>
                        </a:rPr>
                        <m:t>=</m:t>
                      </m:r>
                      <m:f>
                        <m:fPr>
                          <m:ctrlP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𝒊</m:t>
                              </m:r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=</m:t>
                              </m:r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𝒏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IN" altLang="en-US" sz="2000" b="1" i="1" smtClean="0"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IN" altLang="en-US" sz="2000" b="1" i="1" smtClean="0"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  <m:t>𝒀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IN" altLang="en-US" sz="2000" b="1" i="1" smtClean="0"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IN" altLang="en-US" sz="2000" b="1" i="1" smtClean="0"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  <m:t>𝑿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𝒊</m:t>
                              </m:r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=</m:t>
                              </m:r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altLang="en-US" sz="2000" b="1" i="1" smtClean="0"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altLang="en-US" sz="2000" b="1" i="1" smtClean="0">
                                              <a:latin typeface="Cambria Math" panose="02040503050406030204" pitchFamily="18" charset="0"/>
                                              <a:ea typeface="ＭＳ Ｐゴシック" charset="-128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altLang="en-US" sz="2000" b="1" i="1" smtClean="0">
                                              <a:latin typeface="Cambria Math" panose="02040503050406030204" pitchFamily="18" charset="0"/>
                                              <a:ea typeface="ＭＳ Ｐゴシック" charset="-128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IN" altLang="en-US" sz="2000" b="1" i="1" smtClean="0">
                                              <a:latin typeface="Cambria Math" panose="02040503050406030204" pitchFamily="18" charset="0"/>
                                              <a:ea typeface="ＭＳ Ｐゴシック" charset="-128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IN" altLang="en-US" sz="2000" b="1" i="1" smtClean="0">
                                          <a:latin typeface="Cambria Math" panose="02040503050406030204" pitchFamily="18" charset="0"/>
                                          <a:ea typeface="ＭＳ Ｐゴシック" charset="-128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altLang="en-US" sz="2000" b="1" i="1" smtClean="0">
                                              <a:latin typeface="Cambria Math" panose="02040503050406030204" pitchFamily="18" charset="0"/>
                                              <a:ea typeface="ＭＳ Ｐゴシック" charset="-128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altLang="en-US" sz="2000" b="1" i="1" smtClean="0">
                                              <a:latin typeface="Cambria Math" panose="02040503050406030204" pitchFamily="18" charset="0"/>
                                              <a:ea typeface="ＭＳ Ｐゴシック" charset="-128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altLang="en-US" sz="2000" b="1" i="1" smtClean="0"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IN" altLang="en-US" sz="2000" b="1" i="1" smtClean="0">
                          <a:latin typeface="Cambria Math" panose="02040503050406030204" pitchFamily="18" charset="0"/>
                          <a:ea typeface="ＭＳ Ｐゴシック" charset="-128"/>
                        </a:rPr>
                        <m:t>=</m:t>
                      </m:r>
                      <m:f>
                        <m:fPr>
                          <m:ctrlP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fPr>
                        <m:num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𝑪𝑶𝑽</m:t>
                          </m:r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(</m:t>
                          </m:r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𝑿</m:t>
                          </m:r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,</m:t>
                          </m:r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𝒀</m:t>
                          </m:r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)</m:t>
                          </m:r>
                        </m:num>
                        <m:den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𝑽𝑨𝑹</m:t>
                          </m:r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(</m:t>
                          </m:r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𝑿</m:t>
                          </m:r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)</m:t>
                          </m:r>
                        </m:den>
                      </m:f>
                      <m:r>
                        <a:rPr lang="en-IN" altLang="en-US" sz="2000" b="1" i="1" smtClean="0">
                          <a:latin typeface="Cambria Math" panose="02040503050406030204" pitchFamily="18" charset="0"/>
                          <a:ea typeface="ＭＳ Ｐゴシック" charset="-128"/>
                        </a:rPr>
                        <m:t>=</m:t>
                      </m:r>
                      <m:sSub>
                        <m:sSubPr>
                          <m:ctrlP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𝒓</m:t>
                          </m:r>
                        </m:e>
                        <m:sub>
                          <m: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𝒙𝒚</m:t>
                          </m:r>
                        </m:sub>
                      </m:sSub>
                      <m:f>
                        <m:fPr>
                          <m:ctrlPr>
                            <a:rPr lang="en-IN" altLang="en-US" sz="2000" b="1" i="1" smtClean="0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</m:ctrlPr>
                            </m:sSubPr>
                            <m:e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</m:ctrlPr>
                            </m:sSubPr>
                            <m:e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altLang="en-US" sz="2000" b="1" i="1" smtClean="0"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en-US" sz="2000" b="1" i="1" dirty="0">
                  <a:ea typeface="ＭＳ Ｐゴシック" charset="-128"/>
                </a:endParaRPr>
              </a:p>
              <a:p>
                <a:pPr eaLnBrk="1" hangingPunct="1"/>
                <a:endParaRPr lang="en-US" altLang="en-US" sz="2000" b="1" i="1" dirty="0">
                  <a:ea typeface="ＭＳ Ｐゴシック" charset="-128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𝒃</m:t>
                          </m:r>
                        </m:e>
                        <m:sub>
                          <m: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𝟎</m:t>
                          </m:r>
                        </m:sub>
                      </m:sSub>
                      <m:r>
                        <a:rPr lang="en-IN" altLang="en-US" sz="2000" b="1" i="1">
                          <a:latin typeface="Cambria Math" panose="02040503050406030204" pitchFamily="18" charset="0"/>
                          <a:ea typeface="ＭＳ Ｐゴシック" charset="-128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accPr>
                        <m:e>
                          <m: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𝒀</m:t>
                          </m:r>
                        </m:e>
                      </m:acc>
                      <m:r>
                        <a:rPr lang="en-IN" altLang="en-US" sz="2000" b="1" i="1">
                          <a:latin typeface="Cambria Math" panose="02040503050406030204" pitchFamily="18" charset="0"/>
                          <a:ea typeface="ＭＳ Ｐゴシック" charset="-128"/>
                        </a:rPr>
                        <m:t>−</m:t>
                      </m:r>
                      <m:sSub>
                        <m:sSubPr>
                          <m:ctrlP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𝒃</m:t>
                          </m:r>
                        </m:e>
                        <m:sub>
                          <m: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𝟏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accPr>
                        <m:e>
                          <m:r>
                            <a:rPr lang="en-IN" altLang="en-US" sz="2000" b="1" i="1"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𝑿</m:t>
                          </m:r>
                        </m:e>
                      </m:acc>
                    </m:oMath>
                  </m:oMathPara>
                </a14:m>
                <a:endParaRPr lang="en-US" altLang="en-US" sz="2000" dirty="0">
                  <a:solidFill>
                    <a:srgbClr val="0000FF"/>
                  </a:solidFill>
                  <a:ea typeface="ＭＳ Ｐゴシック" charset="-12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D6BDAF-3944-4711-8EA9-10C370AF0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480" y="4281457"/>
                <a:ext cx="5679440" cy="1403269"/>
              </a:xfrm>
              <a:prstGeom prst="rect">
                <a:avLst/>
              </a:prstGeom>
              <a:blipFill>
                <a:blip r:embed="rId6"/>
                <a:stretch>
                  <a:fillRect b="-4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3959304-549C-469C-B8CC-A40FE8E30491}"/>
              </a:ext>
            </a:extLst>
          </p:cNvPr>
          <p:cNvSpPr txBox="1"/>
          <p:nvPr/>
        </p:nvSpPr>
        <p:spPr>
          <a:xfrm>
            <a:off x="7660640" y="5684726"/>
            <a:ext cx="41656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What happens if X and Y are standardized values?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90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AFA5-7094-4B63-9060-AAF30D51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525" y="306333"/>
            <a:ext cx="8911687" cy="1174124"/>
          </a:xfrm>
        </p:spPr>
        <p:txBody>
          <a:bodyPr/>
          <a:lstStyle/>
          <a:p>
            <a:r>
              <a:rPr lang="en-US" dirty="0"/>
              <a:t>SLR Assumptions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30DD7E-7F24-44A1-93ED-4FA817D2F2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36812" y="2079171"/>
                <a:ext cx="8915400" cy="3167743"/>
              </a:xfrm>
            </p:spPr>
            <p:txBody>
              <a:bodyPr>
                <a:normAutofit/>
              </a:bodyPr>
              <a:lstStyle/>
              <a:p>
                <a:pPr>
                  <a:buFont typeface="Arial" pitchFamily="34" charset="0"/>
                  <a:buChar char="•"/>
                  <a:defRPr/>
                </a:pPr>
                <a:r>
                  <a:rPr lang="en-US" sz="2800" dirty="0">
                    <a:ea typeface="ＭＳ Ｐゴシック" pitchFamily="34" charset="-128"/>
                  </a:rPr>
                  <a:t>Main assumptions</a:t>
                </a: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sz="2400" dirty="0">
                    <a:ea typeface="ＭＳ Ｐゴシック" pitchFamily="34" charset="-128"/>
                  </a:rPr>
                  <a:t>Linear Assumption is correct</a:t>
                </a: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sz="2400" dirty="0">
                    <a:ea typeface="ＭＳ Ｐゴシック" pitchFamily="34" charset="-128"/>
                  </a:rPr>
                  <a:t>E[</a:t>
                </a:r>
                <a:r>
                  <a:rPr lang="el-GR" altLang="en-US" sz="2400" dirty="0">
                    <a:solidFill>
                      <a:srgbClr val="000000"/>
                    </a:solidFill>
                    <a:ea typeface="ＭＳ Ｐゴシック" charset="-128"/>
                  </a:rPr>
                  <a:t>ε</a:t>
                </a:r>
                <a:r>
                  <a:rPr lang="en-US" sz="2400" dirty="0">
                    <a:ea typeface="ＭＳ Ｐゴシック" pitchFamily="34" charset="-128"/>
                    <a:sym typeface="Symbol" pitchFamily="18" charset="2"/>
                  </a:rPr>
                  <a:t>|X</a:t>
                </a:r>
                <a:r>
                  <a:rPr lang="en-US" sz="2400" dirty="0">
                    <a:ea typeface="ＭＳ Ｐゴシック" pitchFamily="34" charset="-128"/>
                  </a:rPr>
                  <a:t>] = 0</a:t>
                </a:r>
                <a:endParaRPr lang="en-US" sz="2400" i="1" dirty="0">
                  <a:ea typeface="ＭＳ Ｐゴシック" pitchFamily="34" charset="-128"/>
                </a:endParaRP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sz="2400" dirty="0">
                    <a:ea typeface="ＭＳ Ｐゴシック" pitchFamily="34" charset="-128"/>
                  </a:rPr>
                  <a:t>Homoskedasticity: </a:t>
                </a:r>
                <a:r>
                  <a:rPr lang="en-US" altLang="en-US" sz="24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Var[</a:t>
                </a:r>
                <a:r>
                  <a:rPr lang="el-GR" altLang="en-US" sz="2400" dirty="0">
                    <a:solidFill>
                      <a:srgbClr val="000000"/>
                    </a:solidFill>
                    <a:ea typeface="ＭＳ Ｐゴシック" charset="-128"/>
                  </a:rPr>
                  <a:t>ε</a:t>
                </a:r>
                <a:r>
                  <a:rPr lang="en-US" altLang="en-US" sz="2400" dirty="0">
                    <a:solidFill>
                      <a:srgbClr val="000000"/>
                    </a:solidFill>
                    <a:ea typeface="ＭＳ Ｐゴシック" charset="-128"/>
                  </a:rPr>
                  <a:t>|X]</a:t>
                </a:r>
                <a:r>
                  <a:rPr lang="en-US" altLang="en-US" sz="24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= </a:t>
                </a:r>
                <a:r>
                  <a:rPr lang="el-GR" altLang="en-US" sz="24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σ</a:t>
                </a:r>
                <a:r>
                  <a:rPr lang="el-GR" altLang="en-US" sz="2400" baseline="-25000" dirty="0">
                    <a:solidFill>
                      <a:srgbClr val="000000"/>
                    </a:solidFill>
                    <a:ea typeface="ＭＳ Ｐゴシック" charset="-128"/>
                  </a:rPr>
                  <a:t>ε</a:t>
                </a:r>
                <a:r>
                  <a:rPr lang="en-US" altLang="en-US" sz="2400" baseline="300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2</a:t>
                </a:r>
                <a:endParaRPr lang="en-US" sz="2400" i="1" dirty="0">
                  <a:ea typeface="ＭＳ Ｐゴシック" pitchFamily="34" charset="-128"/>
                </a:endParaRP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sz="2400" dirty="0">
                    <a:ea typeface="ＭＳ Ｐゴシック" pitchFamily="34" charset="-128"/>
                  </a:rPr>
                  <a:t>[</a:t>
                </a:r>
                <a:r>
                  <a:rPr lang="en-US" altLang="en-US" sz="2400" dirty="0" err="1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Corr</a:t>
                </a:r>
                <a:r>
                  <a:rPr lang="en-US" altLang="en-US" sz="24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[</a:t>
                </a:r>
                <a:r>
                  <a:rPr lang="el-GR" altLang="en-US" sz="2400" dirty="0">
                    <a:solidFill>
                      <a:srgbClr val="000000"/>
                    </a:solidFill>
                    <a:ea typeface="ＭＳ Ｐゴシック" charset="-128"/>
                  </a:rPr>
                  <a:t>ε</a:t>
                </a:r>
                <a:r>
                  <a:rPr lang="en-US" altLang="en-US" sz="2400" baseline="-250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i</a:t>
                </a:r>
                <a:r>
                  <a:rPr lang="en-US" altLang="en-US" sz="24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,</a:t>
                </a:r>
                <a:r>
                  <a:rPr lang="el-GR" altLang="en-US" sz="2400" dirty="0">
                    <a:solidFill>
                      <a:srgbClr val="000000"/>
                    </a:solidFill>
                    <a:ea typeface="ＭＳ Ｐゴシック" charset="-128"/>
                  </a:rPr>
                  <a:t> ε</a:t>
                </a:r>
                <a:r>
                  <a:rPr lang="en-US" altLang="en-US" sz="2400" baseline="-250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j</a:t>
                </a:r>
                <a:r>
                  <a:rPr lang="en-US" altLang="en-US" sz="24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] = 0 </a:t>
                </a:r>
                <a:r>
                  <a:rPr lang="en-US" sz="2400" dirty="0">
                    <a:ea typeface="ＭＳ Ｐゴシック" pitchFamily="34" charset="-128"/>
                  </a:rPr>
                  <a:t>for all i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>
                    <a:ea typeface="ＭＳ Ｐゴシック" pitchFamily="34" charset="-128"/>
                  </a:rPr>
                  <a:t>j</a:t>
                </a: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lang="en-US" sz="2400" dirty="0">
                    <a:ea typeface="ＭＳ Ｐゴシック" pitchFamily="34" charset="-128"/>
                  </a:rPr>
                  <a:t>Normality of errors: </a:t>
                </a:r>
                <a:r>
                  <a:rPr lang="el-GR" altLang="en-US" sz="2400" dirty="0">
                    <a:solidFill>
                      <a:srgbClr val="000000"/>
                    </a:solidFill>
                    <a:ea typeface="ＭＳ Ｐゴシック" charset="-128"/>
                  </a:rPr>
                  <a:t>ε</a:t>
                </a:r>
                <a:r>
                  <a:rPr lang="en-US" sz="2400" dirty="0">
                    <a:ea typeface="ＭＳ Ｐゴシック" pitchFamily="34" charset="-128"/>
                    <a:sym typeface="Symbol" pitchFamily="18" charset="2"/>
                  </a:rPr>
                  <a:t>|X</a:t>
                </a:r>
                <a:r>
                  <a:rPr lang="en-US" sz="2400" dirty="0">
                    <a:ea typeface="ＭＳ Ｐゴシック" pitchFamily="34" charset="-128"/>
                  </a:rPr>
                  <a:t> ~ N(0, </a:t>
                </a:r>
                <a:r>
                  <a:rPr lang="el-GR" altLang="en-US" sz="24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σ</a:t>
                </a:r>
                <a:r>
                  <a:rPr lang="el-GR" altLang="en-US" sz="2400" baseline="-25000" dirty="0">
                    <a:solidFill>
                      <a:srgbClr val="000000"/>
                    </a:solidFill>
                    <a:ea typeface="ＭＳ Ｐゴシック" charset="-128"/>
                  </a:rPr>
                  <a:t>ε</a:t>
                </a:r>
                <a:r>
                  <a:rPr lang="en-US" altLang="en-US" sz="2400" baseline="30000" dirty="0">
                    <a:solidFill>
                      <a:srgbClr val="000000"/>
                    </a:solidFill>
                    <a:ea typeface="ＭＳ Ｐゴシック" charset="-128"/>
                    <a:sym typeface="Symbol" charset="2"/>
                  </a:rPr>
                  <a:t>2</a:t>
                </a:r>
                <a:r>
                  <a:rPr lang="en-US" sz="2400" dirty="0">
                    <a:ea typeface="ＭＳ Ｐゴシック" pitchFamily="34" charset="-128"/>
                  </a:rPr>
                  <a:t>)</a:t>
                </a:r>
              </a:p>
              <a:p>
                <a:pPr>
                  <a:buFont typeface="Arial" pitchFamily="34" charset="0"/>
                  <a:buChar char="•"/>
                  <a:defRPr/>
                </a:pPr>
                <a:endParaRPr lang="en-US" sz="2400" dirty="0">
                  <a:ea typeface="ＭＳ Ｐゴシック" pitchFamily="34" charset="-128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30DD7E-7F24-44A1-93ED-4FA817D2F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6812" y="2079171"/>
                <a:ext cx="8915400" cy="3167743"/>
              </a:xfrm>
              <a:blipFill>
                <a:blip r:embed="rId2"/>
                <a:stretch>
                  <a:fillRect l="-1231" t="-1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48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1762125" y="300038"/>
            <a:ext cx="8839200" cy="8382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Learning Objectives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1762125" y="1826418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ea typeface="ＭＳ Ｐゴシック" charset="-128"/>
              </a:rPr>
              <a:t>What is the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interpretation of coefficients</a:t>
            </a:r>
            <a:r>
              <a:rPr lang="en-US" altLang="en-US" sz="2000" dirty="0">
                <a:ea typeface="ＭＳ Ｐゴシック" charset="-128"/>
              </a:rPr>
              <a:t> in multiple regression?</a:t>
            </a:r>
          </a:p>
          <a:p>
            <a:endParaRPr lang="en-US" altLang="en-US" sz="2000" dirty="0">
              <a:ea typeface="ＭＳ Ｐゴシック" charset="-128"/>
            </a:endParaRPr>
          </a:p>
          <a:p>
            <a:r>
              <a:rPr lang="en-US" altLang="en-US" sz="2000" dirty="0">
                <a:ea typeface="ＭＳ Ｐゴシック" charset="-128"/>
              </a:rPr>
              <a:t>How to assess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goodness of fit</a:t>
            </a:r>
            <a:r>
              <a:rPr lang="en-US" altLang="en-US" sz="2000" dirty="0">
                <a:ea typeface="ＭＳ Ｐゴシック" charset="-128"/>
              </a:rPr>
              <a:t> in multiple regression?</a:t>
            </a:r>
          </a:p>
          <a:p>
            <a:endParaRPr lang="en-US" altLang="en-US" sz="2000" dirty="0">
              <a:ea typeface="ＭＳ Ｐゴシック" charset="-128"/>
            </a:endParaRPr>
          </a:p>
          <a:p>
            <a:r>
              <a:rPr lang="en-US" altLang="en-US" sz="2000" dirty="0">
                <a:ea typeface="ＭＳ Ｐゴシック" charset="-128"/>
              </a:rPr>
              <a:t>What are the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key assumptions </a:t>
            </a:r>
            <a:r>
              <a:rPr lang="en-US" altLang="en-US" sz="2000" dirty="0">
                <a:ea typeface="ＭＳ Ｐゴシック" charset="-128"/>
              </a:rPr>
              <a:t>underlying multiple regression?</a:t>
            </a:r>
          </a:p>
          <a:p>
            <a:endParaRPr lang="en-US" altLang="en-US" sz="2000" dirty="0">
              <a:ea typeface="ＭＳ Ｐゴシック" charset="-128"/>
            </a:endParaRPr>
          </a:p>
          <a:p>
            <a:r>
              <a:rPr lang="en-US" altLang="en-US" sz="2000" dirty="0">
                <a:ea typeface="ＭＳ Ｐゴシック" charset="-128"/>
              </a:rPr>
              <a:t>How to make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statistical inference </a:t>
            </a:r>
            <a:r>
              <a:rPr lang="en-US" altLang="en-US" sz="2000" dirty="0">
                <a:ea typeface="ＭＳ Ｐゴシック" charset="-128"/>
              </a:rPr>
              <a:t>about individual variables and the full model?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93221F2-F56A-0D46-A89B-F64FDDC634B8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3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1688-F31F-44E8-B474-815B1B35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84272"/>
            <a:ext cx="8911687" cy="996346"/>
          </a:xfrm>
        </p:spPr>
        <p:txBody>
          <a:bodyPr/>
          <a:lstStyle/>
          <a:p>
            <a:r>
              <a:rPr lang="en-US" dirty="0"/>
              <a:t>How are you on Matrix Algebra?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2CFC2-6872-4B62-BF8C-C2BD93638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a matrix?</a:t>
            </a:r>
          </a:p>
          <a:p>
            <a:r>
              <a:rPr lang="en-US" sz="2400" dirty="0"/>
              <a:t>Matrix Addition</a:t>
            </a:r>
          </a:p>
          <a:p>
            <a:r>
              <a:rPr lang="en-US" sz="2400" dirty="0"/>
              <a:t>Matrix Multiplication</a:t>
            </a:r>
          </a:p>
          <a:p>
            <a:r>
              <a:rPr lang="en-US" sz="2400" dirty="0"/>
              <a:t>Matrix Inverse</a:t>
            </a:r>
          </a:p>
          <a:p>
            <a:r>
              <a:rPr lang="en-US" sz="2400" dirty="0"/>
              <a:t>Do it in Excel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1707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1633537" y="228600"/>
            <a:ext cx="8839200" cy="8382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charset="-128"/>
              </a:rPr>
              <a:t>Multiple Regression Model and Equation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2589212" y="1500188"/>
            <a:ext cx="8915400" cy="4411034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>
                <a:ea typeface="ＭＳ Ｐゴシック" charset="-128"/>
              </a:rPr>
              <a:t>The response variable is a linear function of more than one predictor variable in the population (say </a:t>
            </a:r>
            <a:r>
              <a:rPr lang="en-US" altLang="en-US" i="1" dirty="0">
                <a:ea typeface="ＭＳ Ｐゴシック" charset="-128"/>
              </a:rPr>
              <a:t>k</a:t>
            </a:r>
            <a:r>
              <a:rPr lang="en-US" altLang="en-US" dirty="0">
                <a:ea typeface="ＭＳ Ｐゴシック" charset="-128"/>
              </a:rPr>
              <a:t>)</a:t>
            </a: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The multiple regression equation is therefore</a:t>
            </a: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β</a:t>
            </a:r>
            <a:r>
              <a:rPr lang="en-US" altLang="en-US" baseline="-25000" dirty="0">
                <a:ea typeface="ＭＳ Ｐゴシック" charset="-128"/>
              </a:rPr>
              <a:t>j</a:t>
            </a:r>
            <a:r>
              <a:rPr lang="en-US" altLang="en-US" dirty="0">
                <a:ea typeface="ＭＳ Ｐゴシック" charset="-128"/>
                <a:sym typeface="Symbol" charset="2"/>
              </a:rPr>
              <a:t> (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partial coefficient</a:t>
            </a:r>
            <a:r>
              <a:rPr lang="en-US" altLang="en-US" dirty="0">
                <a:ea typeface="ＭＳ Ｐゴシック" charset="-128"/>
                <a:sym typeface="Symbol" charset="2"/>
              </a:rPr>
              <a:t>) denotes </a:t>
            </a:r>
            <a:r>
              <a:rPr lang="en-US" altLang="en-US" dirty="0">
                <a:ea typeface="ＭＳ Ｐゴシック" charset="-128"/>
              </a:rPr>
              <a:t>the</a:t>
            </a:r>
            <a:r>
              <a:rPr lang="en-US" altLang="en-US" i="1" dirty="0">
                <a:ea typeface="ＭＳ Ｐゴシック" charset="-128"/>
              </a:rPr>
              <a:t>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expected (or average) </a:t>
            </a:r>
            <a:r>
              <a:rPr lang="en-US" altLang="en-US" dirty="0">
                <a:ea typeface="ＭＳ Ｐゴシック" charset="-128"/>
              </a:rPr>
              <a:t>change in </a:t>
            </a:r>
            <a:r>
              <a:rPr lang="en-US" altLang="en-US" i="1" dirty="0">
                <a:ea typeface="ＭＳ Ｐゴシック" charset="-128"/>
              </a:rPr>
              <a:t>Y</a:t>
            </a:r>
            <a:r>
              <a:rPr lang="en-US" altLang="en-US" dirty="0">
                <a:ea typeface="ＭＳ Ｐゴシック" charset="-128"/>
              </a:rPr>
              <a:t> when </a:t>
            </a:r>
            <a:r>
              <a:rPr lang="en-US" altLang="en-US" i="1" dirty="0" err="1">
                <a:ea typeface="ＭＳ Ｐゴシック" charset="-128"/>
              </a:rPr>
              <a:t>X</a:t>
            </a:r>
            <a:r>
              <a:rPr lang="en-US" altLang="en-US" i="1" baseline="-25000" dirty="0" err="1">
                <a:ea typeface="ＭＳ Ｐゴシック" charset="-128"/>
              </a:rPr>
              <a:t>j</a:t>
            </a:r>
            <a:r>
              <a:rPr lang="en-US" altLang="en-US" dirty="0">
                <a:ea typeface="ＭＳ Ｐゴシック" charset="-128"/>
              </a:rPr>
              <a:t> changes by one unit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holding everything else fixed</a:t>
            </a:r>
            <a:r>
              <a:rPr lang="en-US" altLang="en-US" dirty="0">
                <a:ea typeface="ＭＳ Ｐゴシック" charset="-128"/>
              </a:rPr>
              <a:t> (controlling for all other variables)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657022"/>
              </p:ext>
            </p:extLst>
          </p:nvPr>
        </p:nvGraphicFramePr>
        <p:xfrm>
          <a:off x="2956721" y="2295526"/>
          <a:ext cx="394493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040" imgH="228240" progId="Equation.3">
                  <p:embed/>
                </p:oleObj>
              </mc:Choice>
              <mc:Fallback>
                <p:oleObj name="Equation" r:id="rId3" imgW="2057040" imgH="228240" progId="Equation.3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721" y="2295526"/>
                        <a:ext cx="3944937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836038"/>
              </p:ext>
            </p:extLst>
          </p:nvPr>
        </p:nvGraphicFramePr>
        <p:xfrm>
          <a:off x="2956721" y="3873979"/>
          <a:ext cx="42100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94200" imgH="228240" progId="Equation.3">
                  <p:embed/>
                </p:oleObj>
              </mc:Choice>
              <mc:Fallback>
                <p:oleObj name="Equation" r:id="rId5" imgW="2194200" imgH="228240" progId="Equation.3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721" y="3873979"/>
                        <a:ext cx="42100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08ECA0F-B624-5B49-8422-890DC820CE48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80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1763B6-2489-44EC-A2F9-2707C69D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574" y="266922"/>
            <a:ext cx="8911687" cy="933228"/>
          </a:xfrm>
        </p:spPr>
        <p:txBody>
          <a:bodyPr/>
          <a:lstStyle/>
          <a:p>
            <a:r>
              <a:rPr lang="en-US" dirty="0"/>
              <a:t>United Technologies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509077"/>
              </p:ext>
            </p:extLst>
          </p:nvPr>
        </p:nvGraphicFramePr>
        <p:xfrm>
          <a:off x="1373979" y="1200149"/>
          <a:ext cx="4555333" cy="2550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183997"/>
              </p:ext>
            </p:extLst>
          </p:nvPr>
        </p:nvGraphicFramePr>
        <p:xfrm>
          <a:off x="1373979" y="3750468"/>
          <a:ext cx="4433890" cy="3021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763446"/>
              </p:ext>
            </p:extLst>
          </p:nvPr>
        </p:nvGraphicFramePr>
        <p:xfrm>
          <a:off x="6958011" y="1200149"/>
          <a:ext cx="4336257" cy="2550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600-000002000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30808"/>
              </p:ext>
            </p:extLst>
          </p:nvPr>
        </p:nvGraphicFramePr>
        <p:xfrm>
          <a:off x="6958011" y="3750468"/>
          <a:ext cx="4336257" cy="3021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7357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  <p:bldGraphic spid="7" grpId="0">
        <p:bldAsOne/>
      </p:bldGraphic>
      <p:bldGraphic spid="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56FD-6FC5-4728-A94B-18A79E34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049" y="395510"/>
            <a:ext cx="8911687" cy="1280890"/>
          </a:xfrm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7954A5-ECB4-41E2-8959-32C815E26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33950"/>
              </p:ext>
            </p:extLst>
          </p:nvPr>
        </p:nvGraphicFramePr>
        <p:xfrm>
          <a:off x="2343150" y="2268220"/>
          <a:ext cx="7386639" cy="40754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2759">
                  <a:extLst>
                    <a:ext uri="{9D8B030D-6E8A-4147-A177-3AD203B41FA5}">
                      <a16:colId xmlns:a16="http://schemas.microsoft.com/office/drawing/2014/main" val="3778261107"/>
                    </a:ext>
                  </a:extLst>
                </a:gridCol>
                <a:gridCol w="792985">
                  <a:extLst>
                    <a:ext uri="{9D8B030D-6E8A-4147-A177-3AD203B41FA5}">
                      <a16:colId xmlns:a16="http://schemas.microsoft.com/office/drawing/2014/main" val="676354641"/>
                    </a:ext>
                  </a:extLst>
                </a:gridCol>
                <a:gridCol w="864594">
                  <a:extLst>
                    <a:ext uri="{9D8B030D-6E8A-4147-A177-3AD203B41FA5}">
                      <a16:colId xmlns:a16="http://schemas.microsoft.com/office/drawing/2014/main" val="2261680982"/>
                    </a:ext>
                  </a:extLst>
                </a:gridCol>
                <a:gridCol w="721376">
                  <a:extLst>
                    <a:ext uri="{9D8B030D-6E8A-4147-A177-3AD203B41FA5}">
                      <a16:colId xmlns:a16="http://schemas.microsoft.com/office/drawing/2014/main" val="2087253571"/>
                    </a:ext>
                  </a:extLst>
                </a:gridCol>
                <a:gridCol w="792985">
                  <a:extLst>
                    <a:ext uri="{9D8B030D-6E8A-4147-A177-3AD203B41FA5}">
                      <a16:colId xmlns:a16="http://schemas.microsoft.com/office/drawing/2014/main" val="355682181"/>
                    </a:ext>
                  </a:extLst>
                </a:gridCol>
                <a:gridCol w="792985">
                  <a:extLst>
                    <a:ext uri="{9D8B030D-6E8A-4147-A177-3AD203B41FA5}">
                      <a16:colId xmlns:a16="http://schemas.microsoft.com/office/drawing/2014/main" val="684425375"/>
                    </a:ext>
                  </a:extLst>
                </a:gridCol>
                <a:gridCol w="792985">
                  <a:extLst>
                    <a:ext uri="{9D8B030D-6E8A-4147-A177-3AD203B41FA5}">
                      <a16:colId xmlns:a16="http://schemas.microsoft.com/office/drawing/2014/main" val="1035817678"/>
                    </a:ext>
                  </a:extLst>
                </a:gridCol>
                <a:gridCol w="792985">
                  <a:extLst>
                    <a:ext uri="{9D8B030D-6E8A-4147-A177-3AD203B41FA5}">
                      <a16:colId xmlns:a16="http://schemas.microsoft.com/office/drawing/2014/main" val="1500996496"/>
                    </a:ext>
                  </a:extLst>
                </a:gridCol>
                <a:gridCol w="792985">
                  <a:extLst>
                    <a:ext uri="{9D8B030D-6E8A-4147-A177-3AD203B41FA5}">
                      <a16:colId xmlns:a16="http://schemas.microsoft.com/office/drawing/2014/main" val="503093837"/>
                    </a:ext>
                  </a:extLst>
                </a:gridCol>
              </a:tblGrid>
              <a:tr h="4508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SALES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MATERIAL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T2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OTINC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EMPL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INT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T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PBT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02625059"/>
                  </a:ext>
                </a:extLst>
              </a:tr>
              <a:tr h="4508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SALES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1.0000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47930651"/>
                  </a:ext>
                </a:extLst>
              </a:tr>
              <a:tr h="4508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MATERIAL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0.9904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1.0000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61924485"/>
                  </a:ext>
                </a:extLst>
              </a:tr>
              <a:tr h="4508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T2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0.9619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0.9424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1.0000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36832968"/>
                  </a:ext>
                </a:extLst>
              </a:tr>
              <a:tr h="4508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OTINC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0.8653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0.8085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0.8039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1.0000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03000349"/>
                  </a:ext>
                </a:extLst>
              </a:tr>
              <a:tr h="4508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EMPL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0.7449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0.7291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0.8717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0.5492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1.0000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5594591"/>
                  </a:ext>
                </a:extLst>
              </a:tr>
              <a:tr h="4508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INT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0.9757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0.9570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0.9486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0.8756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0.7110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1.0000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4029917"/>
                  </a:ext>
                </a:extLst>
              </a:tr>
              <a:tr h="4508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T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0.8841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0.8627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0.9713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0.7092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0.9576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0.8618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1.0000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23936048"/>
                  </a:ext>
                </a:extLst>
              </a:tr>
              <a:tr h="468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PBT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0.9307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0.8807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0.9546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0.8854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0.7785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0.9337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0.9081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1.0000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6843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42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C136-628C-4962-9003-8283664A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Vs. Material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99A5B6-CB31-4097-A895-2F20CFEBA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799164"/>
              </p:ext>
            </p:extLst>
          </p:nvPr>
        </p:nvGraphicFramePr>
        <p:xfrm>
          <a:off x="1900237" y="1554958"/>
          <a:ext cx="8651081" cy="49272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1651">
                  <a:extLst>
                    <a:ext uri="{9D8B030D-6E8A-4147-A177-3AD203B41FA5}">
                      <a16:colId xmlns:a16="http://schemas.microsoft.com/office/drawing/2014/main" val="2902936984"/>
                    </a:ext>
                  </a:extLst>
                </a:gridCol>
                <a:gridCol w="1072375">
                  <a:extLst>
                    <a:ext uri="{9D8B030D-6E8A-4147-A177-3AD203B41FA5}">
                      <a16:colId xmlns:a16="http://schemas.microsoft.com/office/drawing/2014/main" val="2287422718"/>
                    </a:ext>
                  </a:extLst>
                </a:gridCol>
                <a:gridCol w="1161411">
                  <a:extLst>
                    <a:ext uri="{9D8B030D-6E8A-4147-A177-3AD203B41FA5}">
                      <a16:colId xmlns:a16="http://schemas.microsoft.com/office/drawing/2014/main" val="1075704280"/>
                    </a:ext>
                  </a:extLst>
                </a:gridCol>
                <a:gridCol w="1161411">
                  <a:extLst>
                    <a:ext uri="{9D8B030D-6E8A-4147-A177-3AD203B41FA5}">
                      <a16:colId xmlns:a16="http://schemas.microsoft.com/office/drawing/2014/main" val="2860215828"/>
                    </a:ext>
                  </a:extLst>
                </a:gridCol>
                <a:gridCol w="1161411">
                  <a:extLst>
                    <a:ext uri="{9D8B030D-6E8A-4147-A177-3AD203B41FA5}">
                      <a16:colId xmlns:a16="http://schemas.microsoft.com/office/drawing/2014/main" val="1359160764"/>
                    </a:ext>
                  </a:extLst>
                </a:gridCol>
                <a:gridCol w="1161411">
                  <a:extLst>
                    <a:ext uri="{9D8B030D-6E8A-4147-A177-3AD203B41FA5}">
                      <a16:colId xmlns:a16="http://schemas.microsoft.com/office/drawing/2014/main" val="4218572784"/>
                    </a:ext>
                  </a:extLst>
                </a:gridCol>
                <a:gridCol w="1161411">
                  <a:extLst>
                    <a:ext uri="{9D8B030D-6E8A-4147-A177-3AD203B41FA5}">
                      <a16:colId xmlns:a16="http://schemas.microsoft.com/office/drawing/2014/main" val="3791039773"/>
                    </a:ext>
                  </a:extLst>
                </a:gridCol>
              </a:tblGrid>
              <a:tr h="29057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Regression Statistics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593903170"/>
                  </a:ext>
                </a:extLst>
              </a:tr>
              <a:tr h="29057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Multiple R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0.9904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077335711"/>
                  </a:ext>
                </a:extLst>
              </a:tr>
              <a:tr h="2641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R Square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0.9809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985345837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Adjusted R Square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0.9799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805629984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Standard Error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3310.53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1797674568"/>
                  </a:ext>
                </a:extLst>
              </a:tr>
              <a:tr h="4321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Observations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20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1718150563"/>
                  </a:ext>
                </a:extLst>
              </a:tr>
              <a:tr h="14897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1803446280"/>
                  </a:ext>
                </a:extLst>
              </a:tr>
              <a:tr h="279149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ANOVA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4013101869"/>
                  </a:ext>
                </a:extLst>
              </a:tr>
              <a:tr h="29057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 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df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SS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MS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F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Significance F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486095896"/>
                  </a:ext>
                </a:extLst>
              </a:tr>
              <a:tr h="29057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Regression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1.01E+10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1.01E+10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925.0298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6.29E-17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269209282"/>
                  </a:ext>
                </a:extLst>
              </a:tr>
              <a:tr h="29057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Residual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18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1.97E+08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10959608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440741157"/>
                  </a:ext>
                </a:extLst>
              </a:tr>
              <a:tr h="15487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Total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19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1.03E+10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093682526"/>
                  </a:ext>
                </a:extLst>
              </a:tr>
              <a:tr h="154877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160396110"/>
                  </a:ext>
                </a:extLst>
              </a:tr>
              <a:tr h="4321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Coefficients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Standard Error</a:t>
                      </a:r>
                      <a:endParaRPr lang="en-US" sz="1400" b="0" i="1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t Stat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P-value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Lower 95%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Upper 95%</a:t>
                      </a:r>
                      <a:endParaRPr lang="en-US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515779754"/>
                  </a:ext>
                </a:extLst>
              </a:tr>
              <a:tr h="29057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Intercept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1698.74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1024.44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1.66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0.11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-453.53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3851.02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795388461"/>
                  </a:ext>
                </a:extLst>
              </a:tr>
              <a:tr h="29057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MATERIAL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1.89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0.06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+mj-lt"/>
                        </a:rPr>
                        <a:t>30.41</a:t>
                      </a:r>
                      <a:endParaRPr lang="en-US" sz="1400" b="0" i="0" u="none" strike="noStrike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0.00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1.76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+mj-lt"/>
                        </a:rPr>
                        <a:t>2.02</a:t>
                      </a:r>
                      <a:endParaRPr lang="en-US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1229548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7B6094-3D58-4EF7-817F-4CCA9C569851}"/>
              </a:ext>
            </a:extLst>
          </p:cNvPr>
          <p:cNvSpPr txBox="1"/>
          <p:nvPr/>
        </p:nvSpPr>
        <p:spPr>
          <a:xfrm>
            <a:off x="9710057" y="424543"/>
            <a:ext cx="179455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Launch Poll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03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830E-A612-4BFB-8556-33A033C9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711" y="266922"/>
            <a:ext cx="8911687" cy="1280890"/>
          </a:xfrm>
        </p:spPr>
        <p:txBody>
          <a:bodyPr/>
          <a:lstStyle/>
          <a:p>
            <a:r>
              <a:rPr lang="en-US" dirty="0"/>
              <a:t>Sales Vs. Other Income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9909E3-91B8-422E-816F-0F75A7076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887847"/>
              </p:ext>
            </p:extLst>
          </p:nvPr>
        </p:nvGraphicFramePr>
        <p:xfrm>
          <a:off x="2171701" y="1385998"/>
          <a:ext cx="7858122" cy="49810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954">
                  <a:extLst>
                    <a:ext uri="{9D8B030D-6E8A-4147-A177-3AD203B41FA5}">
                      <a16:colId xmlns:a16="http://schemas.microsoft.com/office/drawing/2014/main" val="447605244"/>
                    </a:ext>
                  </a:extLst>
                </a:gridCol>
                <a:gridCol w="915341">
                  <a:extLst>
                    <a:ext uri="{9D8B030D-6E8A-4147-A177-3AD203B41FA5}">
                      <a16:colId xmlns:a16="http://schemas.microsoft.com/office/drawing/2014/main" val="1401002586"/>
                    </a:ext>
                  </a:extLst>
                </a:gridCol>
                <a:gridCol w="859263">
                  <a:extLst>
                    <a:ext uri="{9D8B030D-6E8A-4147-A177-3AD203B41FA5}">
                      <a16:colId xmlns:a16="http://schemas.microsoft.com/office/drawing/2014/main" val="3530379773"/>
                    </a:ext>
                  </a:extLst>
                </a:gridCol>
                <a:gridCol w="1242391">
                  <a:extLst>
                    <a:ext uri="{9D8B030D-6E8A-4147-A177-3AD203B41FA5}">
                      <a16:colId xmlns:a16="http://schemas.microsoft.com/office/drawing/2014/main" val="14071145"/>
                    </a:ext>
                  </a:extLst>
                </a:gridCol>
                <a:gridCol w="1242391">
                  <a:extLst>
                    <a:ext uri="{9D8B030D-6E8A-4147-A177-3AD203B41FA5}">
                      <a16:colId xmlns:a16="http://schemas.microsoft.com/office/drawing/2014/main" val="2187833159"/>
                    </a:ext>
                  </a:extLst>
                </a:gridCol>
                <a:gridCol w="1242391">
                  <a:extLst>
                    <a:ext uri="{9D8B030D-6E8A-4147-A177-3AD203B41FA5}">
                      <a16:colId xmlns:a16="http://schemas.microsoft.com/office/drawing/2014/main" val="916102845"/>
                    </a:ext>
                  </a:extLst>
                </a:gridCol>
                <a:gridCol w="1242391">
                  <a:extLst>
                    <a:ext uri="{9D8B030D-6E8A-4147-A177-3AD203B41FA5}">
                      <a16:colId xmlns:a16="http://schemas.microsoft.com/office/drawing/2014/main" val="434406789"/>
                    </a:ext>
                  </a:extLst>
                </a:gridCol>
              </a:tblGrid>
              <a:tr h="28319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Regression Statistics</a:t>
                      </a:r>
                      <a:endParaRPr lang="en-US" sz="1200" b="0" i="1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532355683"/>
                  </a:ext>
                </a:extLst>
              </a:tr>
              <a:tr h="28319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Multiple R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0.865346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386093920"/>
                  </a:ext>
                </a:extLst>
              </a:tr>
              <a:tr h="4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 Square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0.748824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361613855"/>
                  </a:ext>
                </a:extLst>
              </a:tr>
              <a:tr h="55920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Adjusted R Square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0.73487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515452826"/>
                  </a:ext>
                </a:extLst>
              </a:tr>
              <a:tr h="4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Standard Error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12009.17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186396367"/>
                  </a:ext>
                </a:extLst>
              </a:tr>
              <a:tr h="4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Observations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20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583822244"/>
                  </a:ext>
                </a:extLst>
              </a:tr>
              <a:tr h="145193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1800400820"/>
                  </a:ext>
                </a:extLst>
              </a:tr>
              <a:tr h="15094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ANOVA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082057654"/>
                  </a:ext>
                </a:extLst>
              </a:tr>
              <a:tr h="28319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1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df</a:t>
                      </a:r>
                      <a:endParaRPr lang="en-US" sz="1200" b="0" i="1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SS</a:t>
                      </a:r>
                      <a:endParaRPr lang="en-US" sz="1200" b="0" i="1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MS</a:t>
                      </a:r>
                      <a:endParaRPr lang="en-US" sz="1200" b="0" i="1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</a:t>
                      </a:r>
                      <a:endParaRPr lang="en-US" sz="1200" b="0" i="1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Significance F</a:t>
                      </a:r>
                      <a:endParaRPr lang="en-US" sz="1200" b="0" i="1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463538152"/>
                  </a:ext>
                </a:extLst>
              </a:tr>
              <a:tr h="28319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Regression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7.74E+09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7.74E+09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53.66289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8.39E-07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637125459"/>
                  </a:ext>
                </a:extLst>
              </a:tr>
              <a:tr h="28319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Residual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18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2.6E+09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1.44E+08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4045488019"/>
                  </a:ext>
                </a:extLst>
              </a:tr>
              <a:tr h="15094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Total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19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1.03E+10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139378452"/>
                  </a:ext>
                </a:extLst>
              </a:tr>
              <a:tr h="15094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391271287"/>
                  </a:ext>
                </a:extLst>
              </a:tr>
              <a:tr h="4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1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Coefficients</a:t>
                      </a:r>
                      <a:endParaRPr lang="en-US" sz="1200" b="0" i="1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Standard Error</a:t>
                      </a:r>
                      <a:endParaRPr lang="en-US" sz="1200" b="0" i="1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 Stat</a:t>
                      </a:r>
                      <a:endParaRPr lang="en-US" sz="1200" b="0" i="1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P-value</a:t>
                      </a:r>
                      <a:endParaRPr lang="en-US" sz="1200" b="0" i="1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Lower 95%</a:t>
                      </a:r>
                      <a:endParaRPr lang="en-US" sz="1200" b="0" i="1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Upper 95%</a:t>
                      </a:r>
                      <a:endParaRPr lang="en-US" sz="1200" b="0" i="1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146428258"/>
                  </a:ext>
                </a:extLst>
              </a:tr>
              <a:tr h="28319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Intercept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8736.226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3336.089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2.618703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0.017401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1727.363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15745.09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2481831185"/>
                  </a:ext>
                </a:extLst>
              </a:tr>
              <a:tr h="28319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OTINC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16.95023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2.313868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7.325496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8.39E-07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12.08898</a:t>
                      </a:r>
                      <a:endParaRPr lang="en-US" sz="1200" b="0" i="0" u="none" strike="noStrike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21.81149</a:t>
                      </a:r>
                      <a:endParaRPr lang="en-US" sz="1200" b="0" i="0" u="none" strike="noStrike" dirty="0">
                        <a:effectLst/>
                        <a:latin typeface="Courier"/>
                      </a:endParaRPr>
                    </a:p>
                  </a:txBody>
                  <a:tcPr marL="5790" marR="5790" marT="5790" marB="0" anchor="b"/>
                </a:tc>
                <a:extLst>
                  <a:ext uri="{0D108BD9-81ED-4DB2-BD59-A6C34878D82A}">
                    <a16:rowId xmlns:a16="http://schemas.microsoft.com/office/drawing/2014/main" val="975418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255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F66A-8466-4F4E-8BF8-966A7216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455" y="352648"/>
            <a:ext cx="8911687" cy="1280890"/>
          </a:xfrm>
        </p:spPr>
        <p:txBody>
          <a:bodyPr/>
          <a:lstStyle/>
          <a:p>
            <a:r>
              <a:rPr lang="en-US" dirty="0"/>
              <a:t>Sales Vs. Material and Other Income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4AAC84-B020-408A-97E3-F01EFB87E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056481"/>
              </p:ext>
            </p:extLst>
          </p:nvPr>
        </p:nvGraphicFramePr>
        <p:xfrm>
          <a:off x="1564221" y="1528762"/>
          <a:ext cx="9437153" cy="4785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3440">
                  <a:extLst>
                    <a:ext uri="{9D8B030D-6E8A-4147-A177-3AD203B41FA5}">
                      <a16:colId xmlns:a16="http://schemas.microsoft.com/office/drawing/2014/main" val="3714680483"/>
                    </a:ext>
                  </a:extLst>
                </a:gridCol>
                <a:gridCol w="1297190">
                  <a:extLst>
                    <a:ext uri="{9D8B030D-6E8A-4147-A177-3AD203B41FA5}">
                      <a16:colId xmlns:a16="http://schemas.microsoft.com/office/drawing/2014/main" val="3217266971"/>
                    </a:ext>
                  </a:extLst>
                </a:gridCol>
                <a:gridCol w="939423">
                  <a:extLst>
                    <a:ext uri="{9D8B030D-6E8A-4147-A177-3AD203B41FA5}">
                      <a16:colId xmlns:a16="http://schemas.microsoft.com/office/drawing/2014/main" val="3696433759"/>
                    </a:ext>
                  </a:extLst>
                </a:gridCol>
                <a:gridCol w="843664">
                  <a:extLst>
                    <a:ext uri="{9D8B030D-6E8A-4147-A177-3AD203B41FA5}">
                      <a16:colId xmlns:a16="http://schemas.microsoft.com/office/drawing/2014/main" val="529391265"/>
                    </a:ext>
                  </a:extLst>
                </a:gridCol>
                <a:gridCol w="763961">
                  <a:extLst>
                    <a:ext uri="{9D8B030D-6E8A-4147-A177-3AD203B41FA5}">
                      <a16:colId xmlns:a16="http://schemas.microsoft.com/office/drawing/2014/main" val="1165145808"/>
                    </a:ext>
                  </a:extLst>
                </a:gridCol>
                <a:gridCol w="1191114">
                  <a:extLst>
                    <a:ext uri="{9D8B030D-6E8A-4147-A177-3AD203B41FA5}">
                      <a16:colId xmlns:a16="http://schemas.microsoft.com/office/drawing/2014/main" val="3528924588"/>
                    </a:ext>
                  </a:extLst>
                </a:gridCol>
                <a:gridCol w="748623">
                  <a:extLst>
                    <a:ext uri="{9D8B030D-6E8A-4147-A177-3AD203B41FA5}">
                      <a16:colId xmlns:a16="http://schemas.microsoft.com/office/drawing/2014/main" val="3519111698"/>
                    </a:ext>
                  </a:extLst>
                </a:gridCol>
                <a:gridCol w="969869">
                  <a:extLst>
                    <a:ext uri="{9D8B030D-6E8A-4147-A177-3AD203B41FA5}">
                      <a16:colId xmlns:a16="http://schemas.microsoft.com/office/drawing/2014/main" val="1962776327"/>
                    </a:ext>
                  </a:extLst>
                </a:gridCol>
                <a:gridCol w="969869">
                  <a:extLst>
                    <a:ext uri="{9D8B030D-6E8A-4147-A177-3AD203B41FA5}">
                      <a16:colId xmlns:a16="http://schemas.microsoft.com/office/drawing/2014/main" val="3650967507"/>
                    </a:ext>
                  </a:extLst>
                </a:gridCol>
              </a:tblGrid>
              <a:tr h="29620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Regression Statistics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3670233302"/>
                  </a:ext>
                </a:extLst>
              </a:tr>
              <a:tr h="2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Multiple R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0.9965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2039602693"/>
                  </a:ext>
                </a:extLst>
              </a:tr>
              <a:tr h="3289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R Square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0.9930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3994161038"/>
                  </a:ext>
                </a:extLst>
              </a:tr>
              <a:tr h="436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Adjusted R Square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0.9922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212214648"/>
                  </a:ext>
                </a:extLst>
              </a:tr>
              <a:tr h="3289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Standard Error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2066.304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754905157"/>
                  </a:ext>
                </a:extLst>
              </a:tr>
              <a:tr h="3289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Observations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4025444475"/>
                  </a:ext>
                </a:extLst>
              </a:tr>
              <a:tr h="11340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125009542"/>
                  </a:ext>
                </a:extLst>
              </a:tr>
              <a:tr h="1179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ANOVA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3493102183"/>
                  </a:ext>
                </a:extLst>
              </a:tr>
              <a:tr h="2212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df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SS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MS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F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Significance F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1203762800"/>
                  </a:ext>
                </a:extLst>
              </a:tr>
              <a:tr h="2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Regression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1.03E+10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5.13E+09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1201.825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4.96E-19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3811215252"/>
                  </a:ext>
                </a:extLst>
              </a:tr>
              <a:tr h="2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Residual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17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72583439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4269614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1148698145"/>
                  </a:ext>
                </a:extLst>
              </a:tr>
              <a:tr h="1179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1.03E+10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4166275832"/>
                  </a:ext>
                </a:extLst>
              </a:tr>
              <a:tr h="11790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3922904971"/>
                  </a:ext>
                </a:extLst>
              </a:tr>
              <a:tr h="3289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Coefficients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Standard Error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 Stat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P-value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Lower 95%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Upper 95%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Lower 95.0%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Upper 95.0%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3973161230"/>
                  </a:ext>
                </a:extLst>
              </a:tr>
              <a:tr h="2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Intercept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1852.52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640.05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2.89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0.01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502.13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3202.91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502.13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3202.91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1436459241"/>
                  </a:ext>
                </a:extLst>
              </a:tr>
              <a:tr h="221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MATERIAL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1.6052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0.07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24.31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0.00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1.47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1.74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1.47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1.74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822218266"/>
                  </a:ext>
                </a:extLst>
              </a:tr>
              <a:tr h="1179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OTINC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3.6555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0.68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5.40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2.23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5.08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2.23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5.08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5614" marR="5614" marT="5614" marB="0" anchor="b"/>
                </a:tc>
                <a:extLst>
                  <a:ext uri="{0D108BD9-81ED-4DB2-BD59-A6C34878D82A}">
                    <a16:rowId xmlns:a16="http://schemas.microsoft.com/office/drawing/2014/main" val="3844204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290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02CC-3190-495A-A66E-7C75AE22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706" y="288354"/>
            <a:ext cx="8911687" cy="890365"/>
          </a:xfrm>
        </p:spPr>
        <p:txBody>
          <a:bodyPr/>
          <a:lstStyle/>
          <a:p>
            <a:r>
              <a:rPr lang="en-US" dirty="0"/>
              <a:t>Material Vs. Other Income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2AD969-D243-4A38-92D2-EB8F24202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664640"/>
              </p:ext>
            </p:extLst>
          </p:nvPr>
        </p:nvGraphicFramePr>
        <p:xfrm>
          <a:off x="1850231" y="1350169"/>
          <a:ext cx="9047161" cy="5183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6117">
                  <a:extLst>
                    <a:ext uri="{9D8B030D-6E8A-4147-A177-3AD203B41FA5}">
                      <a16:colId xmlns:a16="http://schemas.microsoft.com/office/drawing/2014/main" val="465478975"/>
                    </a:ext>
                  </a:extLst>
                </a:gridCol>
                <a:gridCol w="1190864">
                  <a:extLst>
                    <a:ext uri="{9D8B030D-6E8A-4147-A177-3AD203B41FA5}">
                      <a16:colId xmlns:a16="http://schemas.microsoft.com/office/drawing/2014/main" val="1141786305"/>
                    </a:ext>
                  </a:extLst>
                </a:gridCol>
                <a:gridCol w="1148036">
                  <a:extLst>
                    <a:ext uri="{9D8B030D-6E8A-4147-A177-3AD203B41FA5}">
                      <a16:colId xmlns:a16="http://schemas.microsoft.com/office/drawing/2014/main" val="1959125866"/>
                    </a:ext>
                  </a:extLst>
                </a:gridCol>
                <a:gridCol w="1148036">
                  <a:extLst>
                    <a:ext uri="{9D8B030D-6E8A-4147-A177-3AD203B41FA5}">
                      <a16:colId xmlns:a16="http://schemas.microsoft.com/office/drawing/2014/main" val="2434634346"/>
                    </a:ext>
                  </a:extLst>
                </a:gridCol>
                <a:gridCol w="1148036">
                  <a:extLst>
                    <a:ext uri="{9D8B030D-6E8A-4147-A177-3AD203B41FA5}">
                      <a16:colId xmlns:a16="http://schemas.microsoft.com/office/drawing/2014/main" val="1571020287"/>
                    </a:ext>
                  </a:extLst>
                </a:gridCol>
                <a:gridCol w="1148036">
                  <a:extLst>
                    <a:ext uri="{9D8B030D-6E8A-4147-A177-3AD203B41FA5}">
                      <a16:colId xmlns:a16="http://schemas.microsoft.com/office/drawing/2014/main" val="2613566724"/>
                    </a:ext>
                  </a:extLst>
                </a:gridCol>
                <a:gridCol w="1148036">
                  <a:extLst>
                    <a:ext uri="{9D8B030D-6E8A-4147-A177-3AD203B41FA5}">
                      <a16:colId xmlns:a16="http://schemas.microsoft.com/office/drawing/2014/main" val="3788113636"/>
                    </a:ext>
                  </a:extLst>
                </a:gridCol>
              </a:tblGrid>
              <a:tr h="31238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Regression Statistics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865029582"/>
                  </a:ext>
                </a:extLst>
              </a:tr>
              <a:tr h="3123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Multiple R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0.8085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2579323151"/>
                  </a:ext>
                </a:extLst>
              </a:tr>
              <a:tr h="3501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R Square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0.6536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34373311"/>
                  </a:ext>
                </a:extLst>
              </a:tr>
              <a:tr h="36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Adjusted R Square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0.6344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3865934070"/>
                  </a:ext>
                </a:extLst>
              </a:tr>
              <a:tr h="46461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Standard Error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7376.2021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2310334598"/>
                  </a:ext>
                </a:extLst>
              </a:tr>
              <a:tr h="46461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Observations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1261825061"/>
                  </a:ext>
                </a:extLst>
              </a:tr>
              <a:tr h="165532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633884415"/>
                  </a:ext>
                </a:extLst>
              </a:tr>
              <a:tr h="16650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ANOVA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808766915"/>
                  </a:ext>
                </a:extLst>
              </a:tr>
              <a:tr h="3231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df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SS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MS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F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Significance F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1236234797"/>
                  </a:ext>
                </a:extLst>
              </a:tr>
              <a:tr h="3123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Regression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1.85E+09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1.85E+09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33.96229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1.61E-05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1030363776"/>
                  </a:ext>
                </a:extLst>
              </a:tr>
              <a:tr h="3123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Residual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18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9.79E+08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54408357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4049148221"/>
                  </a:ext>
                </a:extLst>
              </a:tr>
              <a:tr h="16650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2.83E+09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4102276346"/>
                  </a:ext>
                </a:extLst>
              </a:tr>
              <a:tr h="166501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4135773551"/>
                  </a:ext>
                </a:extLst>
              </a:tr>
              <a:tr h="3231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Coefficients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Standard Error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 Stat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P-value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Lower 95%</a:t>
                      </a:r>
                      <a:endParaRPr lang="en-US" sz="1400" b="0" i="1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Upper 95%</a:t>
                      </a:r>
                      <a:endParaRPr lang="en-US" sz="1400" b="0" i="1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2654808605"/>
                  </a:ext>
                </a:extLst>
              </a:tr>
              <a:tr h="323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Intercept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4288.4461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2049.07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2.09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0.05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-16.50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8593.39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2677448254"/>
                  </a:ext>
                </a:extLst>
              </a:tr>
              <a:tr h="16650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OTINC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8.2824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1.42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5.83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5.30</a:t>
                      </a:r>
                      <a:endParaRPr lang="en-US" sz="1400" b="0" i="0" u="none" strike="noStrike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11.27</a:t>
                      </a:r>
                      <a:endParaRPr lang="en-US" sz="1400" b="0" i="0" u="none" strike="noStrike" dirty="0">
                        <a:effectLst/>
                        <a:latin typeface="Courier"/>
                      </a:endParaRPr>
                    </a:p>
                  </a:txBody>
                  <a:tcPr marL="6134" marR="6134" marT="6134" marB="0" anchor="b"/>
                </a:tc>
                <a:extLst>
                  <a:ext uri="{0D108BD9-81ED-4DB2-BD59-A6C34878D82A}">
                    <a16:rowId xmlns:a16="http://schemas.microsoft.com/office/drawing/2014/main" val="3066963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370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AF19F-A1A6-4F72-9B32-57C7B4B4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0365"/>
          </a:xfrm>
        </p:spPr>
        <p:txBody>
          <a:bodyPr/>
          <a:lstStyle/>
          <a:p>
            <a:r>
              <a:rPr lang="en-US" dirty="0"/>
              <a:t>Simple Vs. Multiple Regression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65165-3ABB-4AA6-B654-29F06EC63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= 1852.52 + 1.6052 Mat + 3.6555 OI</a:t>
            </a:r>
          </a:p>
          <a:p>
            <a:r>
              <a:rPr lang="en-US" dirty="0"/>
              <a:t>Mat = 4288.4461 + 8.2824 OI</a:t>
            </a:r>
          </a:p>
          <a:p>
            <a:r>
              <a:rPr lang="en-US" dirty="0"/>
              <a:t>Substituting</a:t>
            </a:r>
          </a:p>
          <a:p>
            <a:r>
              <a:rPr lang="en-US" dirty="0"/>
              <a:t>Sales = 1852.52 + 1.6052 (4288.4461 + 8.2824 OI) + 3.6555 OI</a:t>
            </a:r>
          </a:p>
          <a:p>
            <a:r>
              <a:rPr lang="en-US" dirty="0"/>
              <a:t>Sales = 1852.52 + (6883.8137 + 13.2949 OI) + 3.6555 OI</a:t>
            </a:r>
          </a:p>
          <a:p>
            <a:r>
              <a:rPr lang="en-US" dirty="0"/>
              <a:t>Sales = 8736.33 + 16.95 OI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Earlier Regression of Sales Vs. Other Income</a:t>
            </a:r>
          </a:p>
          <a:p>
            <a:r>
              <a:rPr lang="en-US" dirty="0">
                <a:solidFill>
                  <a:srgbClr val="FF0000"/>
                </a:solidFill>
              </a:rPr>
              <a:t>Sales = 8736. 23 + 16.95 OI</a:t>
            </a:r>
          </a:p>
        </p:txBody>
      </p:sp>
    </p:spTree>
    <p:extLst>
      <p:ext uri="{BB962C8B-B14F-4D97-AF65-F5344CB8AC3E}">
        <p14:creationId xmlns:p14="http://schemas.microsoft.com/office/powerpoint/2010/main" val="258442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1612107" y="188417"/>
            <a:ext cx="8839200" cy="8382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Inference: Overall Significance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1446212" y="2723211"/>
            <a:ext cx="8915400" cy="3777622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A joint test of all explanatory variables together (Omnibus Test):</a:t>
            </a:r>
          </a:p>
          <a:p>
            <a:r>
              <a:rPr lang="en-US" altLang="en-US" sz="2000" dirty="0">
                <a:ea typeface="ＭＳ Ｐゴシック" charset="-128"/>
              </a:rPr>
              <a:t>We can test this using the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F-statistic (or F ratio)</a:t>
            </a:r>
            <a:r>
              <a:rPr lang="en-US" altLang="en-US" sz="2000" dirty="0">
                <a:ea typeface="ＭＳ Ｐゴシック" charset="-128"/>
              </a:rPr>
              <a:t> calculated from the Analysis of Variance table</a:t>
            </a:r>
          </a:p>
          <a:p>
            <a:pPr>
              <a:buClr>
                <a:schemeClr val="tx1"/>
              </a:buClr>
            </a:pPr>
            <a:r>
              <a:rPr lang="en-US" altLang="en-US" sz="2000" dirty="0">
                <a:ea typeface="ＭＳ Ｐゴシック" charset="-128"/>
              </a:rPr>
              <a:t>If p-value associated with F ratio is less than ⍺-value, we can conclude that the model explains significant variation in the response variable (model is significant)</a:t>
            </a:r>
          </a:p>
          <a:p>
            <a:pPr>
              <a:buClr>
                <a:schemeClr val="tx1"/>
              </a:buClr>
            </a:pPr>
            <a:r>
              <a:rPr lang="en-US" altLang="en-US" sz="2000" dirty="0">
                <a:ea typeface="ＭＳ Ｐゴシック" charset="-128"/>
              </a:rPr>
              <a:t>Inferences about individual estimates are meaningful only if the overall model is significant</a:t>
            </a:r>
          </a:p>
          <a:p>
            <a:pPr>
              <a:buClr>
                <a:schemeClr val="tx1"/>
              </a:buClr>
            </a:pPr>
            <a:r>
              <a:rPr lang="en-US" altLang="en-US" sz="2000" dirty="0">
                <a:ea typeface="ＭＳ Ｐゴシック" charset="-128"/>
              </a:rPr>
              <a:t>For simple regression, F-test provides the same result as the t-test</a:t>
            </a:r>
          </a:p>
        </p:txBody>
      </p:sp>
      <p:graphicFrame>
        <p:nvGraphicFramePr>
          <p:cNvPr id="307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827825"/>
              </p:ext>
            </p:extLst>
          </p:nvPr>
        </p:nvGraphicFramePr>
        <p:xfrm>
          <a:off x="1612107" y="1369219"/>
          <a:ext cx="5040026" cy="1002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1600" imgH="493560" progId="Equation.3">
                  <p:embed/>
                </p:oleObj>
              </mc:Choice>
              <mc:Fallback>
                <p:oleObj name="Equation" r:id="rId2" imgW="2541600" imgH="493560" progId="Equation.3">
                  <p:embed/>
                  <p:pic>
                    <p:nvPicPr>
                      <p:cNvPr id="307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107" y="1369219"/>
                        <a:ext cx="5040026" cy="1002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8CF43C2-5C74-C449-9504-17BF4D9C92B8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  <p:pic>
        <p:nvPicPr>
          <p:cNvPr id="4103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9" r="2409" b="20648"/>
          <a:stretch>
            <a:fillRect/>
          </a:stretch>
        </p:blipFill>
        <p:spPr bwMode="auto">
          <a:xfrm>
            <a:off x="7337532" y="942332"/>
            <a:ext cx="4608538" cy="150083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119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83820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Inference in Multiple Regression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1676400" y="990599"/>
            <a:ext cx="4495800" cy="5388429"/>
          </a:xfrm>
        </p:spPr>
        <p:txBody>
          <a:bodyPr>
            <a:noAutofit/>
          </a:bodyPr>
          <a:lstStyle/>
          <a:p>
            <a:r>
              <a:rPr lang="en-US" altLang="en-US" sz="2000" dirty="0">
                <a:ea typeface="ＭＳ Ｐゴシック" charset="-128"/>
              </a:rPr>
              <a:t>Tests for significance of individual coefficients are very similar</a:t>
            </a:r>
          </a:p>
          <a:p>
            <a:endParaRPr lang="en-US" altLang="en-US" sz="2000" dirty="0">
              <a:ea typeface="ＭＳ Ｐゴシック" charset="-128"/>
            </a:endParaRPr>
          </a:p>
          <a:p>
            <a:endParaRPr lang="en-US" altLang="en-US" sz="2000" dirty="0">
              <a:ea typeface="ＭＳ Ｐゴシック" charset="-128"/>
            </a:endParaRPr>
          </a:p>
          <a:p>
            <a:r>
              <a:rPr lang="en-US" altLang="en-US" sz="2000" dirty="0">
                <a:ea typeface="ＭＳ Ｐゴシック" charset="-128"/>
              </a:rPr>
              <a:t>Using t-statistics with degrees of freedom equal to 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n-k-1 (instead of n-2)</a:t>
            </a:r>
            <a:r>
              <a:rPr lang="en-US" altLang="en-US" sz="2000" dirty="0">
                <a:ea typeface="ＭＳ Ｐゴシック" charset="-128"/>
              </a:rPr>
              <a:t> where </a:t>
            </a:r>
            <a:r>
              <a:rPr lang="en-US" altLang="en-US" sz="2000" i="1" dirty="0">
                <a:ea typeface="ＭＳ Ｐゴシック" charset="-128"/>
              </a:rPr>
              <a:t>k</a:t>
            </a:r>
            <a:r>
              <a:rPr lang="en-US" altLang="en-US" sz="2000" dirty="0">
                <a:ea typeface="ＭＳ Ｐゴシック" charset="-128"/>
              </a:rPr>
              <a:t> is the number of predictor variables</a:t>
            </a:r>
          </a:p>
          <a:p>
            <a:endParaRPr lang="en-US" altLang="en-US" sz="2000" dirty="0">
              <a:ea typeface="ＭＳ Ｐゴシック" charset="-128"/>
            </a:endParaRPr>
          </a:p>
          <a:p>
            <a:endParaRPr lang="en-US" altLang="en-US" sz="2000" dirty="0">
              <a:ea typeface="ＭＳ Ｐゴシック" charset="-128"/>
            </a:endParaRPr>
          </a:p>
          <a:p>
            <a:r>
              <a:rPr lang="en-US" altLang="en-US" sz="2000" dirty="0">
                <a:ea typeface="ＭＳ Ｐゴシック" charset="-128"/>
              </a:rPr>
              <a:t>Software automatically test coefficients for a hypothesized parameter value of zero</a:t>
            </a:r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609320"/>
              </p:ext>
            </p:extLst>
          </p:nvPr>
        </p:nvGraphicFramePr>
        <p:xfrm>
          <a:off x="2408239" y="2093119"/>
          <a:ext cx="1019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58520" imgH="511920" progId="Equation.3">
                  <p:embed/>
                </p:oleObj>
              </mc:Choice>
              <mc:Fallback>
                <p:oleObj name="Equation" r:id="rId3" imgW="758520" imgH="511920" progId="Equation.3">
                  <p:embed/>
                  <p:pic>
                    <p:nvPicPr>
                      <p:cNvPr id="2867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9" y="2093119"/>
                        <a:ext cx="10191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934421"/>
              </p:ext>
            </p:extLst>
          </p:nvPr>
        </p:nvGraphicFramePr>
        <p:xfrm>
          <a:off x="2408239" y="4356894"/>
          <a:ext cx="16779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700" imgH="457200" progId="Equation.3">
                  <p:embed/>
                </p:oleObj>
              </mc:Choice>
              <mc:Fallback>
                <p:oleObj name="Equation" r:id="rId5" imgW="1155700" imgH="457200" progId="Equation.3">
                  <p:embed/>
                  <p:pic>
                    <p:nvPicPr>
                      <p:cNvPr id="2867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9" y="4356894"/>
                        <a:ext cx="167798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2E9224D-E7C5-AD48-AD10-52F5E536BF17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  <p:pic>
        <p:nvPicPr>
          <p:cNvPr id="3079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1" r="2271" b="9804"/>
          <a:stretch>
            <a:fillRect/>
          </a:stretch>
        </p:blipFill>
        <p:spPr bwMode="auto">
          <a:xfrm>
            <a:off x="6172200" y="963614"/>
            <a:ext cx="5826167" cy="132238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2796FE-BF21-416B-B55F-5C9EA61A8B82}"/>
              </a:ext>
            </a:extLst>
          </p:cNvPr>
          <p:cNvSpPr txBox="1"/>
          <p:nvPr/>
        </p:nvSpPr>
        <p:spPr>
          <a:xfrm>
            <a:off x="8599715" y="4356894"/>
            <a:ext cx="176189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Launch Poll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45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90EF-76CB-4F04-ACD3-37AF3A1F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and Semi-partial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9031B-2983-4100-A4CB-332B777F1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27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ACC9-1A8B-4281-AC6E-37E09603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89C02-8DBF-4C44-B3C8-DE17607A9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35981" y="1464469"/>
                <a:ext cx="9275762" cy="489680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increase in R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 when a new variable is added is equal to the semi-partial correlation coefficient.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Partial correlation is the correlation coefficient between Y and X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when the influence of X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is removed from both Y and X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89C02-8DBF-4C44-B3C8-DE17607A9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5981" y="1464469"/>
                <a:ext cx="9275762" cy="4896809"/>
              </a:xfrm>
              <a:blipFill>
                <a:blip r:embed="rId2"/>
                <a:stretch>
                  <a:fillRect l="-920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4E92D6D-AF0C-427D-AAA1-E46265C8EAE1}"/>
              </a:ext>
            </a:extLst>
          </p:cNvPr>
          <p:cNvSpPr txBox="1"/>
          <p:nvPr/>
        </p:nvSpPr>
        <p:spPr>
          <a:xfrm>
            <a:off x="1157032" y="4757737"/>
            <a:ext cx="143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Partial </a:t>
            </a:r>
            <a:r>
              <a:rPr lang="en-US" dirty="0" err="1"/>
              <a:t>Corr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CABE9-31F4-4AB3-97E1-980F3A3661A5}"/>
              </a:ext>
            </a:extLst>
          </p:cNvPr>
          <p:cNvSpPr txBox="1"/>
          <p:nvPr/>
        </p:nvSpPr>
        <p:spPr>
          <a:xfrm>
            <a:off x="3571874" y="4843462"/>
            <a:ext cx="1321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Corr</a:t>
            </a:r>
            <a:r>
              <a:rPr lang="en-US" dirty="0"/>
              <a:t>(Y,X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71BF0-975D-41D4-988B-EB7173384FDE}"/>
              </a:ext>
            </a:extLst>
          </p:cNvPr>
          <p:cNvSpPr txBox="1"/>
          <p:nvPr/>
        </p:nvSpPr>
        <p:spPr>
          <a:xfrm>
            <a:off x="4986104" y="4573071"/>
            <a:ext cx="1321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Corr</a:t>
            </a:r>
            <a:r>
              <a:rPr lang="en-US" dirty="0"/>
              <a:t>(Y,X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BA3C4-BBF8-4029-8ED0-E0ED25C1C5A6}"/>
              </a:ext>
            </a:extLst>
          </p:cNvPr>
          <p:cNvSpPr txBox="1"/>
          <p:nvPr/>
        </p:nvSpPr>
        <p:spPr>
          <a:xfrm>
            <a:off x="6869116" y="4523601"/>
            <a:ext cx="143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Corr</a:t>
            </a: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,X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190E87-CB07-4345-B54E-222CBA24A9F5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1874979" y="5127069"/>
            <a:ext cx="1018242" cy="52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6B2FC3-8C8F-419B-8B12-4D820808F412}"/>
              </a:ext>
            </a:extLst>
          </p:cNvPr>
          <p:cNvCxnSpPr>
            <a:cxnSpLocks/>
          </p:cNvCxnSpPr>
          <p:nvPr/>
        </p:nvCxnSpPr>
        <p:spPr>
          <a:xfrm flipH="1" flipV="1">
            <a:off x="3932635" y="5184219"/>
            <a:ext cx="300036" cy="317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152FD8-AD10-46A6-84FF-8592D1BE0257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4954463" y="4942403"/>
            <a:ext cx="692439" cy="558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B96AFC-AB12-4676-B59A-57FDDDA58694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727173" y="4892933"/>
            <a:ext cx="1861412" cy="608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21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62FB-8CC6-4C22-9F75-263F5E650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258" y="312553"/>
            <a:ext cx="8911687" cy="1280890"/>
          </a:xfrm>
        </p:spPr>
        <p:txBody>
          <a:bodyPr/>
          <a:lstStyle/>
          <a:p>
            <a:r>
              <a:rPr lang="en-US" dirty="0"/>
              <a:t>Partial Correlation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331E08-F868-4203-B9D5-480C2158546C}"/>
              </a:ext>
            </a:extLst>
          </p:cNvPr>
          <p:cNvSpPr/>
          <p:nvPr/>
        </p:nvSpPr>
        <p:spPr>
          <a:xfrm>
            <a:off x="5585397" y="3423200"/>
            <a:ext cx="2820801" cy="2743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579D6A-FD76-49AE-A872-59E267712931}"/>
              </a:ext>
            </a:extLst>
          </p:cNvPr>
          <p:cNvSpPr/>
          <p:nvPr/>
        </p:nvSpPr>
        <p:spPr>
          <a:xfrm>
            <a:off x="4780068" y="1841820"/>
            <a:ext cx="2820801" cy="2743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EC037C-65F7-4918-A01D-019EF88B16A1}"/>
              </a:ext>
            </a:extLst>
          </p:cNvPr>
          <p:cNvSpPr/>
          <p:nvPr/>
        </p:nvSpPr>
        <p:spPr>
          <a:xfrm>
            <a:off x="3895670" y="3423200"/>
            <a:ext cx="2820801" cy="2743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BAA42-0579-4099-9B0A-DAC9F4B47603}"/>
              </a:ext>
            </a:extLst>
          </p:cNvPr>
          <p:cNvSpPr txBox="1"/>
          <p:nvPr/>
        </p:nvSpPr>
        <p:spPr>
          <a:xfrm>
            <a:off x="7279740" y="4825767"/>
            <a:ext cx="42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9B9B7-B75A-48DB-BA9A-B866CD4BB569}"/>
              </a:ext>
            </a:extLst>
          </p:cNvPr>
          <p:cNvSpPr txBox="1"/>
          <p:nvPr/>
        </p:nvSpPr>
        <p:spPr>
          <a:xfrm>
            <a:off x="5258518" y="3758488"/>
            <a:ext cx="42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55A1E-18F4-43A4-B0D7-7CDA3EECE35F}"/>
              </a:ext>
            </a:extLst>
          </p:cNvPr>
          <p:cNvSpPr txBox="1"/>
          <p:nvPr/>
        </p:nvSpPr>
        <p:spPr>
          <a:xfrm>
            <a:off x="6015364" y="4924416"/>
            <a:ext cx="42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30B51-2DE7-4694-BA96-0F16007A7F68}"/>
              </a:ext>
            </a:extLst>
          </p:cNvPr>
          <p:cNvSpPr txBox="1"/>
          <p:nvPr/>
        </p:nvSpPr>
        <p:spPr>
          <a:xfrm>
            <a:off x="4494507" y="4801952"/>
            <a:ext cx="42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0C081-4E94-43BD-8997-036342625760}"/>
              </a:ext>
            </a:extLst>
          </p:cNvPr>
          <p:cNvSpPr txBox="1"/>
          <p:nvPr/>
        </p:nvSpPr>
        <p:spPr>
          <a:xfrm>
            <a:off x="6015365" y="2345140"/>
            <a:ext cx="42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37FC63-2347-4AF7-B3CE-8C276CA64D51}"/>
              </a:ext>
            </a:extLst>
          </p:cNvPr>
          <p:cNvSpPr txBox="1"/>
          <p:nvPr/>
        </p:nvSpPr>
        <p:spPr>
          <a:xfrm>
            <a:off x="6015365" y="3977677"/>
            <a:ext cx="42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E43932-0C61-46F5-8A6F-7E19FBAEE0C2}"/>
              </a:ext>
            </a:extLst>
          </p:cNvPr>
          <p:cNvSpPr txBox="1"/>
          <p:nvPr/>
        </p:nvSpPr>
        <p:spPr>
          <a:xfrm>
            <a:off x="6737000" y="3644686"/>
            <a:ext cx="42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8108D-3FBA-4347-82E3-50312B5ECA6C}"/>
              </a:ext>
            </a:extLst>
          </p:cNvPr>
          <p:cNvSpPr txBox="1"/>
          <p:nvPr/>
        </p:nvSpPr>
        <p:spPr>
          <a:xfrm>
            <a:off x="8160439" y="5603189"/>
            <a:ext cx="491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385B52-FFF9-4057-855E-3EBBA98F3231}"/>
              </a:ext>
            </a:extLst>
          </p:cNvPr>
          <p:cNvSpPr txBox="1"/>
          <p:nvPr/>
        </p:nvSpPr>
        <p:spPr>
          <a:xfrm>
            <a:off x="3748447" y="5641075"/>
            <a:ext cx="500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FFEC72-C240-4557-A87B-967628EB6657}"/>
              </a:ext>
            </a:extLst>
          </p:cNvPr>
          <p:cNvSpPr txBox="1"/>
          <p:nvPr/>
        </p:nvSpPr>
        <p:spPr>
          <a:xfrm>
            <a:off x="4780066" y="2058752"/>
            <a:ext cx="42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696DD0-9728-4FEF-861B-E8F93BD24649}"/>
              </a:ext>
            </a:extLst>
          </p:cNvPr>
          <p:cNvSpPr txBox="1"/>
          <p:nvPr/>
        </p:nvSpPr>
        <p:spPr>
          <a:xfrm>
            <a:off x="8319247" y="1524000"/>
            <a:ext cx="31853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the influence of X</a:t>
            </a:r>
            <a:r>
              <a:rPr lang="en-US" baseline="-25000" dirty="0"/>
              <a:t>2</a:t>
            </a:r>
            <a:r>
              <a:rPr lang="en-US" dirty="0"/>
              <a:t> from Y and X</a:t>
            </a:r>
            <a:r>
              <a:rPr lang="en-US" baseline="-25000" dirty="0"/>
              <a:t>1</a:t>
            </a:r>
            <a:r>
              <a:rPr lang="en-US" dirty="0"/>
              <a:t>.</a:t>
            </a:r>
          </a:p>
          <a:p>
            <a:r>
              <a:rPr lang="en-US" dirty="0" err="1"/>
              <a:t>i</a:t>
            </a:r>
            <a:r>
              <a:rPr lang="en-US" dirty="0"/>
              <a:t>,.e., remove B, C and 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781C79E-997E-4BDF-AB38-6160C88486A1}"/>
                  </a:ext>
                </a:extLst>
              </p:cNvPr>
              <p:cNvSpPr txBox="1"/>
              <p:nvPr/>
            </p:nvSpPr>
            <p:spPr>
              <a:xfrm>
                <a:off x="8741704" y="2693486"/>
                <a:ext cx="3198738" cy="1567993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Partial Correlation is analogous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781C79E-997E-4BDF-AB38-6160C8848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704" y="2693486"/>
                <a:ext cx="3198738" cy="1567993"/>
              </a:xfrm>
              <a:prstGeom prst="rect">
                <a:avLst/>
              </a:prstGeom>
              <a:blipFill>
                <a:blip r:embed="rId2"/>
                <a:stretch>
                  <a:fillRect l="-3605" t="-3861" b="-3089"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63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1676400" y="180975"/>
            <a:ext cx="8839200" cy="8382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Goodness of fit</a:t>
            </a:r>
          </a:p>
        </p:txBody>
      </p:sp>
      <p:sp>
        <p:nvSpPr>
          <p:cNvPr id="24578" name="Content Placeholder 4"/>
          <p:cNvSpPr>
            <a:spLocks noGrp="1"/>
          </p:cNvSpPr>
          <p:nvPr>
            <p:ph idx="1"/>
          </p:nvPr>
        </p:nvSpPr>
        <p:spPr>
          <a:xfrm>
            <a:off x="1676400" y="1383787"/>
            <a:ext cx="8839200" cy="2743200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ea typeface="ＭＳ Ｐゴシック" charset="-128"/>
              </a:rPr>
              <a:t>Adding more explanatory variables increases the </a:t>
            </a:r>
            <a:r>
              <a:rPr lang="ja-JP" altLang="en-US" sz="2000" dirty="0">
                <a:ea typeface="ＭＳ Ｐゴシック" charset="-128"/>
              </a:rPr>
              <a:t>“</a:t>
            </a:r>
            <a:r>
              <a:rPr lang="en-US" altLang="ja-JP" sz="2000" dirty="0">
                <a:ea typeface="ＭＳ Ｐゴシック" charset="-128"/>
              </a:rPr>
              <a:t>explanatory power</a:t>
            </a:r>
            <a:r>
              <a:rPr lang="ja-JP" altLang="en-US" sz="2000" dirty="0">
                <a:ea typeface="ＭＳ Ｐゴシック" charset="-128"/>
              </a:rPr>
              <a:t>”</a:t>
            </a:r>
            <a:r>
              <a:rPr lang="en-US" altLang="ja-JP" sz="2000" dirty="0">
                <a:ea typeface="ＭＳ Ｐゴシック" charset="-128"/>
              </a:rPr>
              <a:t> of the model, i.e., it always increases </a:t>
            </a:r>
            <a:r>
              <a:rPr lang="en-US" altLang="ja-JP" sz="2000" i="1" dirty="0">
                <a:ea typeface="ＭＳ Ｐゴシック" charset="-128"/>
              </a:rPr>
              <a:t>R</a:t>
            </a:r>
            <a:r>
              <a:rPr lang="en-US" altLang="ja-JP" sz="2000" i="1" baseline="30000" dirty="0">
                <a:ea typeface="ＭＳ Ｐゴシック" charset="-128"/>
              </a:rPr>
              <a:t>2</a:t>
            </a:r>
            <a:r>
              <a:rPr lang="en-US" altLang="ja-JP" sz="2000" i="1" dirty="0">
                <a:ea typeface="ＭＳ Ｐゴシック" charset="-128"/>
              </a:rPr>
              <a:t>,</a:t>
            </a:r>
            <a:r>
              <a:rPr lang="en-US" altLang="ja-JP" sz="2000" i="1" baseline="30000" dirty="0">
                <a:ea typeface="ＭＳ Ｐゴシック" charset="-128"/>
              </a:rPr>
              <a:t> </a:t>
            </a:r>
            <a:r>
              <a:rPr lang="en-US" altLang="ja-JP" sz="2000" dirty="0">
                <a:ea typeface="ＭＳ Ｐゴシック" charset="-128"/>
              </a:rPr>
              <a:t>even if by a small amount</a:t>
            </a:r>
            <a:endParaRPr lang="en-US" altLang="ja-JP" sz="2000" baseline="30000" dirty="0">
              <a:ea typeface="ＭＳ Ｐゴシック" charset="-128"/>
            </a:endParaRPr>
          </a:p>
          <a:p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Adjusted-R</a:t>
            </a:r>
            <a:r>
              <a:rPr lang="en-US" altLang="en-US" sz="2000" baseline="30000" dirty="0">
                <a:solidFill>
                  <a:srgbClr val="0000FF"/>
                </a:solidFill>
                <a:ea typeface="ＭＳ Ｐゴシック" charset="-128"/>
              </a:rPr>
              <a:t>2</a:t>
            </a:r>
            <a:r>
              <a:rPr lang="en-US" altLang="en-US" sz="2000" dirty="0">
                <a:ea typeface="ＭＳ Ｐゴシック" charset="-128"/>
              </a:rPr>
              <a:t> accounts for the degrees of freedom, and penalizes more complicated models, where additional variables might not be adding a lot more explanation</a:t>
            </a:r>
          </a:p>
        </p:txBody>
      </p:sp>
      <p:graphicFrame>
        <p:nvGraphicFramePr>
          <p:cNvPr id="2457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703129"/>
              </p:ext>
            </p:extLst>
          </p:nvPr>
        </p:nvGraphicFramePr>
        <p:xfrm>
          <a:off x="4190999" y="3449124"/>
          <a:ext cx="25908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800" imgH="444500" progId="Equation.3">
                  <p:embed/>
                </p:oleObj>
              </mc:Choice>
              <mc:Fallback>
                <p:oleObj name="Equation" r:id="rId3" imgW="1701800" imgH="444500" progId="Equation.3">
                  <p:embed/>
                  <p:pic>
                    <p:nvPicPr>
                      <p:cNvPr id="2457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999" y="3449124"/>
                        <a:ext cx="25908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AF6FCAD-7C73-834B-93D5-0ACEB6F8F39A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  <p:pic>
        <p:nvPicPr>
          <p:cNvPr id="205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0" r="3200" b="10085"/>
          <a:stretch>
            <a:fillRect/>
          </a:stretch>
        </p:blipFill>
        <p:spPr bwMode="auto">
          <a:xfrm>
            <a:off x="3706812" y="4680510"/>
            <a:ext cx="3962295" cy="182032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1696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C60B-17A3-4CFE-9AD2-C786AD74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011" y="190683"/>
            <a:ext cx="8911687" cy="734603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with all Independent Variables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A356E4-7367-476B-89DE-300902839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456403"/>
              </p:ext>
            </p:extLst>
          </p:nvPr>
        </p:nvGraphicFramePr>
        <p:xfrm>
          <a:off x="1741714" y="1070354"/>
          <a:ext cx="10221686" cy="5722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6029">
                  <a:extLst>
                    <a:ext uri="{9D8B030D-6E8A-4147-A177-3AD203B41FA5}">
                      <a16:colId xmlns:a16="http://schemas.microsoft.com/office/drawing/2014/main" val="4166142086"/>
                    </a:ext>
                  </a:extLst>
                </a:gridCol>
                <a:gridCol w="1295399">
                  <a:extLst>
                    <a:ext uri="{9D8B030D-6E8A-4147-A177-3AD203B41FA5}">
                      <a16:colId xmlns:a16="http://schemas.microsoft.com/office/drawing/2014/main" val="1426992907"/>
                    </a:ext>
                  </a:extLst>
                </a:gridCol>
                <a:gridCol w="1547294">
                  <a:extLst>
                    <a:ext uri="{9D8B030D-6E8A-4147-A177-3AD203B41FA5}">
                      <a16:colId xmlns:a16="http://schemas.microsoft.com/office/drawing/2014/main" val="1159966581"/>
                    </a:ext>
                  </a:extLst>
                </a:gridCol>
                <a:gridCol w="1741207">
                  <a:extLst>
                    <a:ext uri="{9D8B030D-6E8A-4147-A177-3AD203B41FA5}">
                      <a16:colId xmlns:a16="http://schemas.microsoft.com/office/drawing/2014/main" val="3261615866"/>
                    </a:ext>
                  </a:extLst>
                </a:gridCol>
                <a:gridCol w="1254694">
                  <a:extLst>
                    <a:ext uri="{9D8B030D-6E8A-4147-A177-3AD203B41FA5}">
                      <a16:colId xmlns:a16="http://schemas.microsoft.com/office/drawing/2014/main" val="363321565"/>
                    </a:ext>
                  </a:extLst>
                </a:gridCol>
                <a:gridCol w="1607234">
                  <a:extLst>
                    <a:ext uri="{9D8B030D-6E8A-4147-A177-3AD203B41FA5}">
                      <a16:colId xmlns:a16="http://schemas.microsoft.com/office/drawing/2014/main" val="3218705575"/>
                    </a:ext>
                  </a:extLst>
                </a:gridCol>
                <a:gridCol w="1349829">
                  <a:extLst>
                    <a:ext uri="{9D8B030D-6E8A-4147-A177-3AD203B41FA5}">
                      <a16:colId xmlns:a16="http://schemas.microsoft.com/office/drawing/2014/main" val="2101060280"/>
                    </a:ext>
                  </a:extLst>
                </a:gridCol>
              </a:tblGrid>
              <a:tr h="33196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  <a:latin typeface="+mj-lt"/>
                        </a:rPr>
                        <a:t>Regression Statistics</a:t>
                      </a:r>
                      <a:endParaRPr lang="en-IN" sz="1400" b="0" i="1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2634130739"/>
                  </a:ext>
                </a:extLst>
              </a:tr>
              <a:tr h="3285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Multiple R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0.9987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2999388900"/>
                  </a:ext>
                </a:extLst>
              </a:tr>
              <a:tr h="17014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R Square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0.9973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3529307142"/>
                  </a:ext>
                </a:extLst>
              </a:tr>
              <a:tr h="33196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Adjusted R Square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0.9961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1715694505"/>
                  </a:ext>
                </a:extLst>
              </a:tr>
              <a:tr h="33196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Standard Error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1454.3876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907778062"/>
                  </a:ext>
                </a:extLst>
              </a:tr>
              <a:tr h="33196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Observations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20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2372742384"/>
                  </a:ext>
                </a:extLst>
              </a:tr>
              <a:tr h="1750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ANOVA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661799406"/>
                  </a:ext>
                </a:extLst>
              </a:tr>
              <a:tr h="3319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en-IN" sz="1600" b="0" i="1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df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SS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MS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F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Significance F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4046372129"/>
                  </a:ext>
                </a:extLst>
              </a:tr>
              <a:tr h="33196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Regression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6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10,30,77,39,449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1,71,79,56,575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812.1792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0.0000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75570279"/>
                  </a:ext>
                </a:extLst>
              </a:tr>
              <a:tr h="17014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Residual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2,74,98,163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21,15,243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3294194834"/>
                  </a:ext>
                </a:extLst>
              </a:tr>
              <a:tr h="1750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Total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10,33,52,37,613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 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 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 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1248149652"/>
                  </a:ext>
                </a:extLst>
              </a:tr>
              <a:tr h="3319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en-IN" sz="1600" b="0" i="1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Coefficients</a:t>
                      </a:r>
                      <a:endParaRPr lang="en-IN" sz="1600" b="0" i="1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Standard Error</a:t>
                      </a:r>
                      <a:endParaRPr lang="en-IN" sz="1600" b="0" i="1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t Stat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P-value</a:t>
                      </a:r>
                      <a:endParaRPr lang="en-IN" sz="1600" b="0" i="1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Lower 95%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Upper 95%</a:t>
                      </a:r>
                      <a:endParaRPr lang="en-IN" sz="1600" b="0" i="1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1291577673"/>
                  </a:ext>
                </a:extLst>
              </a:tr>
              <a:tr h="3285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Intercept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4845.82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17422.50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0.28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0.79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-32793.21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42484.85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2803620"/>
                  </a:ext>
                </a:extLst>
              </a:tr>
              <a:tr h="17014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MATERIAL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1.20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0.12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10.26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0.00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0.95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1.46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1990301656"/>
                  </a:ext>
                </a:extLst>
              </a:tr>
              <a:tr h="17014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T2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63.66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40.91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1.56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0.14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-24.73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152.04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1689014389"/>
                  </a:ext>
                </a:extLst>
              </a:tr>
              <a:tr h="17014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OTINC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2.85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0.61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4.69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0.00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1.53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4.16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95216378"/>
                  </a:ext>
                </a:extLst>
              </a:tr>
              <a:tr h="17014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EMPL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-0.18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1.32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-0.14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0.89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-3.03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2.67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3216518611"/>
                  </a:ext>
                </a:extLst>
              </a:tr>
              <a:tr h="17014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INT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0.03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1.51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0.02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0.99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-3.24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3.29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1621585518"/>
                  </a:ext>
                </a:extLst>
              </a:tr>
              <a:tr h="3285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T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-350.67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935.03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-0.38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0.71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-2370.69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1669.35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282" marR="6282" marT="6282" marB="0" anchor="ctr"/>
                </a:tc>
                <a:extLst>
                  <a:ext uri="{0D108BD9-81ED-4DB2-BD59-A6C34878D82A}">
                    <a16:rowId xmlns:a16="http://schemas.microsoft.com/office/drawing/2014/main" val="2404157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674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D373-BE59-4298-BFF4-71ABB8592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87" y="123367"/>
            <a:ext cx="9371012" cy="834576"/>
          </a:xfrm>
        </p:spPr>
        <p:txBody>
          <a:bodyPr>
            <a:normAutofit/>
          </a:bodyPr>
          <a:lstStyle/>
          <a:p>
            <a:r>
              <a:rPr lang="en-US" dirty="0"/>
              <a:t>Regression with only Significant Variables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3BB9F7-C95F-4427-84AC-F30FB734C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540375"/>
              </p:ext>
            </p:extLst>
          </p:nvPr>
        </p:nvGraphicFramePr>
        <p:xfrm>
          <a:off x="1534886" y="1424667"/>
          <a:ext cx="10265230" cy="5101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508">
                  <a:extLst>
                    <a:ext uri="{9D8B030D-6E8A-4147-A177-3AD203B41FA5}">
                      <a16:colId xmlns:a16="http://schemas.microsoft.com/office/drawing/2014/main" val="3618609581"/>
                    </a:ext>
                  </a:extLst>
                </a:gridCol>
                <a:gridCol w="1415760">
                  <a:extLst>
                    <a:ext uri="{9D8B030D-6E8A-4147-A177-3AD203B41FA5}">
                      <a16:colId xmlns:a16="http://schemas.microsoft.com/office/drawing/2014/main" val="222923378"/>
                    </a:ext>
                  </a:extLst>
                </a:gridCol>
                <a:gridCol w="1530813">
                  <a:extLst>
                    <a:ext uri="{9D8B030D-6E8A-4147-A177-3AD203B41FA5}">
                      <a16:colId xmlns:a16="http://schemas.microsoft.com/office/drawing/2014/main" val="283229055"/>
                    </a:ext>
                  </a:extLst>
                </a:gridCol>
                <a:gridCol w="1605604">
                  <a:extLst>
                    <a:ext uri="{9D8B030D-6E8A-4147-A177-3AD203B41FA5}">
                      <a16:colId xmlns:a16="http://schemas.microsoft.com/office/drawing/2014/main" val="1992269004"/>
                    </a:ext>
                  </a:extLst>
                </a:gridCol>
                <a:gridCol w="1099458">
                  <a:extLst>
                    <a:ext uri="{9D8B030D-6E8A-4147-A177-3AD203B41FA5}">
                      <a16:colId xmlns:a16="http://schemas.microsoft.com/office/drawing/2014/main" val="3266790688"/>
                    </a:ext>
                  </a:extLst>
                </a:gridCol>
                <a:gridCol w="1426028">
                  <a:extLst>
                    <a:ext uri="{9D8B030D-6E8A-4147-A177-3AD203B41FA5}">
                      <a16:colId xmlns:a16="http://schemas.microsoft.com/office/drawing/2014/main" val="2879600097"/>
                    </a:ext>
                  </a:extLst>
                </a:gridCol>
                <a:gridCol w="1328059">
                  <a:extLst>
                    <a:ext uri="{9D8B030D-6E8A-4147-A177-3AD203B41FA5}">
                      <a16:colId xmlns:a16="http://schemas.microsoft.com/office/drawing/2014/main" val="2522557427"/>
                    </a:ext>
                  </a:extLst>
                </a:gridCol>
              </a:tblGrid>
              <a:tr h="32793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Regression Statistics</a:t>
                      </a:r>
                      <a:endParaRPr lang="en-IN" sz="1600" b="0" i="1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76148"/>
                  </a:ext>
                </a:extLst>
              </a:tr>
              <a:tr h="21327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Multiple R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0.9985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54469473"/>
                  </a:ext>
                </a:extLst>
              </a:tr>
              <a:tr h="21327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R Square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0.9970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72040005"/>
                  </a:ext>
                </a:extLst>
              </a:tr>
              <a:tr h="31507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Adjusted R Square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0.9964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2523229"/>
                  </a:ext>
                </a:extLst>
              </a:tr>
              <a:tr h="30577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Standard Error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1395.6099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12605057"/>
                  </a:ext>
                </a:extLst>
              </a:tr>
              <a:tr h="27078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Observations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20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82614455"/>
                  </a:ext>
                </a:extLst>
              </a:tr>
              <a:tr h="213278"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36408570"/>
                  </a:ext>
                </a:extLst>
              </a:tr>
              <a:tr h="2217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ANOVA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73746510"/>
                  </a:ext>
                </a:extLst>
              </a:tr>
              <a:tr h="41599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 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df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SS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MS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F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Significance F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154488"/>
                  </a:ext>
                </a:extLst>
              </a:tr>
              <a:tr h="298143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Regression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10,30,40,73,980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3,43,46,91,327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1763.4357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2.278E-20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19820730"/>
                  </a:ext>
                </a:extLst>
              </a:tr>
              <a:tr h="21327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Residual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16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3,11,63,633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19,47,727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47552345"/>
                  </a:ext>
                </a:extLst>
              </a:tr>
              <a:tr h="2217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Total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10,33,52,37,613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 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 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72451876"/>
                  </a:ext>
                </a:extLst>
              </a:tr>
              <a:tr h="221724"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6785877"/>
                  </a:ext>
                </a:extLst>
              </a:tr>
              <a:tr h="41599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 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Coefficients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Standard Error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t Stat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P-value</a:t>
                      </a:r>
                      <a:endParaRPr lang="en-IN" sz="1600" b="0" i="1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Lower 95%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Upper 95%</a:t>
                      </a:r>
                      <a:endParaRPr lang="en-IN" sz="1600" b="0" i="1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6821188"/>
                  </a:ext>
                </a:extLst>
              </a:tr>
              <a:tr h="21327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Intercept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733.93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495.70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1.48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0.1581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-316.91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1784.77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55967290"/>
                  </a:ext>
                </a:extLst>
              </a:tr>
              <a:tr h="21327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MATERIAL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1.29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0.08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15.92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0.0000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1.12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1.46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79543580"/>
                  </a:ext>
                </a:extLst>
              </a:tr>
              <a:tr h="21327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T2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35.34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7.66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4.61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0.0003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19.09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51.58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34747088"/>
                  </a:ext>
                </a:extLst>
              </a:tr>
              <a:tr h="2217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OTINC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3.19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0.47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  <a:latin typeface="+mj-lt"/>
                        </a:rPr>
                        <a:t>6.83</a:t>
                      </a:r>
                      <a:endParaRPr lang="en-IN" sz="1600" b="0" i="0" u="none" strike="noStrike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0.0000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2.20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  <a:latin typeface="+mj-lt"/>
                        </a:rPr>
                        <a:t>4.19</a:t>
                      </a:r>
                      <a:endParaRPr lang="en-IN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97689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134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83820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Assumptions of Multiple Regression</a:t>
            </a:r>
          </a:p>
        </p:txBody>
      </p:sp>
      <p:sp>
        <p:nvSpPr>
          <p:cNvPr id="26626" name="Content Placeholder 3"/>
          <p:cNvSpPr>
            <a:spLocks noGrp="1"/>
          </p:cNvSpPr>
          <p:nvPr>
            <p:ph idx="1"/>
          </p:nvPr>
        </p:nvSpPr>
        <p:spPr>
          <a:xfrm>
            <a:off x="1403458" y="1378743"/>
            <a:ext cx="10104437" cy="534354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ea typeface="ＭＳ Ｐゴシック" charset="-128"/>
              </a:rPr>
              <a:t>All the assumptions of the SLR model are required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Linear specification is correct: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Y =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0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 +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1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X +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ε</a:t>
            </a:r>
            <a:endParaRPr lang="en-US" altLang="en-US" sz="2000" dirty="0">
              <a:ea typeface="ＭＳ Ｐゴシック" charset="-128"/>
            </a:endParaRP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Errors are uncorrelated with explanatory variables: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E[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ε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|X] = 0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Constant variance of errors: </a:t>
            </a:r>
            <a:r>
              <a:rPr lang="en-US" altLang="en-US" sz="2000" dirty="0" err="1">
                <a:solidFill>
                  <a:srgbClr val="0000FF"/>
                </a:solidFill>
                <a:ea typeface="ＭＳ Ｐゴシック" charset="-128"/>
              </a:rPr>
              <a:t>Var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[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ε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]=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σ</a:t>
            </a:r>
            <a:r>
              <a:rPr lang="el-GR" altLang="en-US" sz="2000" baseline="-25000" dirty="0">
                <a:solidFill>
                  <a:srgbClr val="0000FF"/>
                </a:solidFill>
                <a:ea typeface="ＭＳ Ｐゴシック" charset="-128"/>
              </a:rPr>
              <a:t>ε</a:t>
            </a:r>
            <a:r>
              <a:rPr lang="en-US" altLang="en-US" sz="2000" baseline="30000" dirty="0">
                <a:solidFill>
                  <a:srgbClr val="0000FF"/>
                </a:solidFill>
                <a:ea typeface="ＭＳ Ｐゴシック" charset="-128"/>
              </a:rPr>
              <a:t>2</a:t>
            </a:r>
            <a:endParaRPr lang="en-US" altLang="en-US" sz="2000" dirty="0">
              <a:solidFill>
                <a:srgbClr val="0000FF"/>
              </a:solidFill>
              <a:ea typeface="ＭＳ Ｐゴシック" charset="-128"/>
            </a:endParaRP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Errors are independent of each other: </a:t>
            </a:r>
            <a:r>
              <a:rPr lang="en-US" altLang="en-US" sz="2000" dirty="0" err="1">
                <a:solidFill>
                  <a:srgbClr val="0000FF"/>
                </a:solidFill>
                <a:ea typeface="ＭＳ Ｐゴシック" charset="-128"/>
              </a:rPr>
              <a:t>Corr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[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ε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,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 ε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j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] = 0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Error term is normally distributed: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ε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i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 ~ N (0,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σ</a:t>
            </a:r>
            <a:r>
              <a:rPr lang="el-GR" altLang="en-US" sz="2000" baseline="-25000" dirty="0">
                <a:solidFill>
                  <a:srgbClr val="0000FF"/>
                </a:solidFill>
                <a:ea typeface="ＭＳ Ｐゴシック" charset="-128"/>
              </a:rPr>
              <a:t>ε</a:t>
            </a:r>
            <a:r>
              <a:rPr lang="en-US" altLang="en-US" sz="2000" baseline="30000" dirty="0">
                <a:solidFill>
                  <a:srgbClr val="0000FF"/>
                </a:solidFill>
                <a:ea typeface="ＭＳ Ｐゴシック" charset="-128"/>
              </a:rPr>
              <a:t>2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)</a:t>
            </a:r>
          </a:p>
          <a:p>
            <a:endParaRPr lang="en-US" altLang="en-US" sz="2000" dirty="0">
              <a:ea typeface="ＭＳ Ｐゴシック" charset="-128"/>
            </a:endParaRPr>
          </a:p>
          <a:p>
            <a:r>
              <a:rPr lang="en-US" altLang="en-US" sz="2400" dirty="0">
                <a:ea typeface="ＭＳ Ｐゴシック" charset="-128"/>
              </a:rPr>
              <a:t>In addition, no predictor variable should be a linear combination of other predictor variables – 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no </a:t>
            </a:r>
            <a:r>
              <a:rPr lang="en-US" altLang="en-US" sz="2400" dirty="0" err="1">
                <a:solidFill>
                  <a:srgbClr val="0000FF"/>
                </a:solidFill>
                <a:ea typeface="ＭＳ Ｐゴシック" charset="-128"/>
              </a:rPr>
              <a:t>multicollinearity</a:t>
            </a:r>
            <a:endParaRPr lang="en-US" altLang="en-US" sz="2400" dirty="0">
              <a:solidFill>
                <a:srgbClr val="0000FF"/>
              </a:solidFill>
              <a:ea typeface="ＭＳ Ｐゴシック" charset="-128"/>
            </a:endParaRP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e.g. We do not want the situation like: X</a:t>
            </a:r>
            <a:r>
              <a:rPr lang="en-US" altLang="en-US" sz="2000" baseline="-25000" dirty="0">
                <a:ea typeface="ＭＳ Ｐゴシック" charset="-128"/>
              </a:rPr>
              <a:t>2</a:t>
            </a:r>
            <a:r>
              <a:rPr lang="en-US" altLang="en-US" sz="2000" dirty="0">
                <a:ea typeface="ＭＳ Ｐゴシック" charset="-128"/>
              </a:rPr>
              <a:t> = 3X</a:t>
            </a:r>
            <a:r>
              <a:rPr lang="en-US" altLang="en-US" sz="2000" baseline="-25000" dirty="0">
                <a:ea typeface="ＭＳ Ｐゴシック" charset="-128"/>
              </a:rPr>
              <a:t>1</a:t>
            </a:r>
            <a:r>
              <a:rPr lang="en-US" altLang="en-US" sz="2000" dirty="0">
                <a:ea typeface="ＭＳ Ｐゴシック" charset="-128"/>
              </a:rPr>
              <a:t> + 7.2X</a:t>
            </a:r>
            <a:r>
              <a:rPr lang="en-US" altLang="en-US" sz="2000" baseline="-25000" dirty="0">
                <a:ea typeface="ＭＳ Ｐゴシック" charset="-128"/>
              </a:rPr>
              <a:t>3</a:t>
            </a:r>
            <a:r>
              <a:rPr lang="en-US" altLang="en-US" sz="2000" dirty="0">
                <a:ea typeface="ＭＳ Ｐゴシック" charset="-128"/>
              </a:rPr>
              <a:t> – 0.54X</a:t>
            </a:r>
            <a:r>
              <a:rPr lang="en-US" altLang="en-US" sz="2000" baseline="-25000" dirty="0">
                <a:ea typeface="ＭＳ Ｐゴシック" charset="-128"/>
              </a:rPr>
              <a:t>4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Here, if we regress X</a:t>
            </a:r>
            <a:r>
              <a:rPr lang="en-US" altLang="en-US" sz="2000" baseline="-25000" dirty="0">
                <a:ea typeface="ＭＳ Ｐゴシック" charset="-128"/>
              </a:rPr>
              <a:t>2</a:t>
            </a:r>
            <a:r>
              <a:rPr lang="en-US" altLang="en-US" sz="2000" dirty="0">
                <a:ea typeface="ＭＳ Ｐゴシック" charset="-128"/>
              </a:rPr>
              <a:t> against X</a:t>
            </a:r>
            <a:r>
              <a:rPr lang="en-US" altLang="en-US" sz="2000" baseline="-25000" dirty="0">
                <a:ea typeface="ＭＳ Ｐゴシック" charset="-128"/>
              </a:rPr>
              <a:t>1</a:t>
            </a:r>
            <a:r>
              <a:rPr lang="en-US" altLang="en-US" sz="2000" dirty="0">
                <a:ea typeface="ＭＳ Ｐゴシック" charset="-128"/>
              </a:rPr>
              <a:t>, X</a:t>
            </a:r>
            <a:r>
              <a:rPr lang="en-US" altLang="en-US" sz="2000" baseline="-25000" dirty="0">
                <a:ea typeface="ＭＳ Ｐゴシック" charset="-128"/>
              </a:rPr>
              <a:t>3</a:t>
            </a:r>
            <a:r>
              <a:rPr lang="en-US" altLang="en-US" sz="2000" dirty="0">
                <a:ea typeface="ＭＳ Ｐゴシック" charset="-128"/>
              </a:rPr>
              <a:t>, X</a:t>
            </a:r>
            <a:r>
              <a:rPr lang="en-US" altLang="en-US" sz="2000" baseline="-25000" dirty="0">
                <a:ea typeface="ＭＳ Ｐゴシック" charset="-128"/>
              </a:rPr>
              <a:t>4</a:t>
            </a:r>
            <a:r>
              <a:rPr lang="en-US" altLang="en-US" sz="2000" dirty="0">
                <a:ea typeface="ＭＳ Ｐゴシック" charset="-128"/>
              </a:rPr>
              <a:t> we will get R</a:t>
            </a:r>
            <a:r>
              <a:rPr lang="en-US" altLang="en-US" sz="2000" baseline="30000" dirty="0">
                <a:ea typeface="ＭＳ Ｐゴシック" charset="-128"/>
              </a:rPr>
              <a:t>2</a:t>
            </a:r>
            <a:r>
              <a:rPr lang="en-US" altLang="en-US" sz="2000" dirty="0">
                <a:ea typeface="ＭＳ Ｐゴシック" charset="-128"/>
              </a:rPr>
              <a:t> = 1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All variation in X</a:t>
            </a:r>
            <a:r>
              <a:rPr lang="en-US" altLang="en-US" sz="2000" baseline="-25000" dirty="0">
                <a:ea typeface="ＭＳ Ｐゴシック" charset="-128"/>
              </a:rPr>
              <a:t>2</a:t>
            </a:r>
            <a:r>
              <a:rPr lang="en-US" altLang="en-US" sz="2000" dirty="0">
                <a:ea typeface="ＭＳ Ｐゴシック" charset="-128"/>
              </a:rPr>
              <a:t> is explained by other variables</a:t>
            </a:r>
          </a:p>
          <a:p>
            <a:pPr lvl="1"/>
            <a:endParaRPr lang="en-US" altLang="en-US" dirty="0">
              <a:ea typeface="ＭＳ Ｐゴシック" charset="-128"/>
            </a:endParaRP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CEC96BC-A8E7-8A4E-A8AC-A6DCE3D5DA54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975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1490663" y="192638"/>
            <a:ext cx="10515600" cy="8382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charset="-128"/>
              </a:rPr>
              <a:t>Checking Assumptions (Similar to Simple Regression)</a:t>
            </a:r>
          </a:p>
        </p:txBody>
      </p:sp>
      <p:grpSp>
        <p:nvGrpSpPr>
          <p:cNvPr id="17411" name="Group 4"/>
          <p:cNvGrpSpPr>
            <a:grpSpLocks/>
          </p:cNvGrpSpPr>
          <p:nvPr/>
        </p:nvGrpSpPr>
        <p:grpSpPr bwMode="auto">
          <a:xfrm>
            <a:off x="1676400" y="1912154"/>
            <a:ext cx="4038600" cy="3733800"/>
            <a:chOff x="2527635" y="2141763"/>
            <a:chExt cx="4694180" cy="4345788"/>
          </a:xfrm>
          <a:solidFill>
            <a:srgbClr val="FFFFFF"/>
          </a:solidFill>
        </p:grpSpPr>
        <p:pic>
          <p:nvPicPr>
            <p:cNvPr id="1741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3" t="4897" r="4742" b="5244"/>
            <a:stretch>
              <a:fillRect/>
            </a:stretch>
          </p:blipFill>
          <p:spPr bwMode="auto">
            <a:xfrm>
              <a:off x="2527635" y="2141763"/>
              <a:ext cx="4694180" cy="4345788"/>
            </a:xfrm>
            <a:prstGeom prst="rect">
              <a:avLst/>
            </a:prstGeom>
            <a:grpFill/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7418" name="Straight Connector 8"/>
            <p:cNvCxnSpPr>
              <a:cxnSpLocks noChangeShapeType="1"/>
            </p:cNvCxnSpPr>
            <p:nvPr/>
          </p:nvCxnSpPr>
          <p:spPr bwMode="auto">
            <a:xfrm flipV="1">
              <a:off x="3147621" y="2319142"/>
              <a:ext cx="3808486" cy="3581400"/>
            </a:xfrm>
            <a:prstGeom prst="line">
              <a:avLst/>
            </a:prstGeom>
            <a:grpFill/>
            <a:ln w="19050">
              <a:solidFill>
                <a:srgbClr val="FF0000"/>
              </a:solidFill>
              <a:round/>
              <a:headEnd/>
              <a:tailEnd/>
            </a:ln>
          </p:spPr>
        </p:cxnSp>
      </p:grpSp>
      <p:sp>
        <p:nvSpPr>
          <p:cNvPr id="31747" name="Rectangle 6"/>
          <p:cNvSpPr>
            <a:spLocks noChangeArrowheads="1"/>
          </p:cNvSpPr>
          <p:nvPr/>
        </p:nvSpPr>
        <p:spPr bwMode="auto">
          <a:xfrm>
            <a:off x="2582864" y="1497816"/>
            <a:ext cx="222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 dirty="0">
                <a:solidFill>
                  <a:srgbClr val="000000"/>
                </a:solidFill>
                <a:latin typeface="Calibri" charset="0"/>
              </a:rPr>
              <a:t>Actual Vs. </a:t>
            </a:r>
            <a:r>
              <a:rPr lang="en-US" altLang="en-US" sz="1800" dirty="0">
                <a:solidFill>
                  <a:srgbClr val="0000FF"/>
                </a:solidFill>
                <a:latin typeface="Calibri" charset="0"/>
              </a:rPr>
              <a:t>Predicted Y</a:t>
            </a:r>
          </a:p>
        </p:txBody>
      </p:sp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2" t="6325" r="5595" b="6883"/>
          <a:stretch>
            <a:fillRect/>
          </a:stretch>
        </p:blipFill>
        <p:spPr bwMode="auto">
          <a:xfrm>
            <a:off x="5943600" y="1912154"/>
            <a:ext cx="4572000" cy="375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9"/>
          <p:cNvSpPr>
            <a:spLocks noChangeArrowheads="1"/>
          </p:cNvSpPr>
          <p:nvPr/>
        </p:nvSpPr>
        <p:spPr bwMode="auto">
          <a:xfrm>
            <a:off x="6934201" y="1497816"/>
            <a:ext cx="2544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charset="0"/>
              </a:rPr>
              <a:t>Residuals Vs. </a:t>
            </a:r>
            <a:r>
              <a:rPr lang="en-US" altLang="en-US" sz="1800">
                <a:solidFill>
                  <a:srgbClr val="0000FF"/>
                </a:solidFill>
                <a:latin typeface="Calibri" charset="0"/>
              </a:rPr>
              <a:t>Predicted Y</a:t>
            </a:r>
          </a:p>
        </p:txBody>
      </p:sp>
      <p:sp>
        <p:nvSpPr>
          <p:cNvPr id="31750" name="Rectangle 11"/>
          <p:cNvSpPr>
            <a:spLocks noChangeArrowheads="1"/>
          </p:cNvSpPr>
          <p:nvPr/>
        </p:nvSpPr>
        <p:spPr bwMode="auto">
          <a:xfrm>
            <a:off x="1676400" y="5854720"/>
            <a:ext cx="88376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 dirty="0">
                <a:latin typeface="Calibri" charset="0"/>
              </a:rPr>
              <a:t>We can use residual plots to detect the following:</a:t>
            </a:r>
          </a:p>
          <a:p>
            <a:pPr algn="ctr" eaLnBrk="1" hangingPunct="1"/>
            <a:r>
              <a:rPr lang="en-US" altLang="en-US" sz="1800" dirty="0">
                <a:solidFill>
                  <a:srgbClr val="0000FF"/>
                </a:solidFill>
                <a:latin typeface="Calibri" charset="0"/>
              </a:rPr>
              <a:t>Nonlinearities, heteroskedasticity, dependence/autocorrelation, non-normality</a:t>
            </a:r>
          </a:p>
        </p:txBody>
      </p:sp>
      <p:sp>
        <p:nvSpPr>
          <p:cNvPr id="31751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5FD9BEA-94BD-A540-8628-A70B5845B938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 sz="1200" dirty="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673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7789-FDD3-44AE-A885-A5CEB686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EB89F-D5F9-44CB-AD0E-D47CCB01A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18279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642</TotalTime>
  <Words>1609</Words>
  <Application>Microsoft Office PowerPoint</Application>
  <PresentationFormat>Widescreen</PresentationFormat>
  <Paragraphs>630</Paragraphs>
  <Slides>26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Cambria Math</vt:lpstr>
      <vt:lpstr>Century Gothic</vt:lpstr>
      <vt:lpstr>Courier</vt:lpstr>
      <vt:lpstr>Times New Roman</vt:lpstr>
      <vt:lpstr>Wingdings 3</vt:lpstr>
      <vt:lpstr>Wisp</vt:lpstr>
      <vt:lpstr>Microsoft Equation</vt:lpstr>
      <vt:lpstr>Microsoft Equation 3.0</vt:lpstr>
      <vt:lpstr>Equation</vt:lpstr>
      <vt:lpstr>Statistical Analysis – 3 Session 1</vt:lpstr>
      <vt:lpstr>Course Outline</vt:lpstr>
      <vt:lpstr>Evaluation</vt:lpstr>
      <vt:lpstr>SLR - Review</vt:lpstr>
      <vt:lpstr>SLR Assumptions</vt:lpstr>
      <vt:lpstr>Learning Objectives</vt:lpstr>
      <vt:lpstr>How are you on Matrix Algebra?</vt:lpstr>
      <vt:lpstr>Multiple Regression Model and Equation</vt:lpstr>
      <vt:lpstr>United Technologies</vt:lpstr>
      <vt:lpstr>Correlation Matrix</vt:lpstr>
      <vt:lpstr>Sales Vs. Material</vt:lpstr>
      <vt:lpstr>Sales Vs. Other Income</vt:lpstr>
      <vt:lpstr>Sales Vs. Material and Other Income</vt:lpstr>
      <vt:lpstr>Material Vs. Other Income</vt:lpstr>
      <vt:lpstr>Simple Vs. Multiple Regression</vt:lpstr>
      <vt:lpstr>Inference: Overall Significance</vt:lpstr>
      <vt:lpstr>Inference in Multiple Regression</vt:lpstr>
      <vt:lpstr>Partial and Semi-partial Correlation</vt:lpstr>
      <vt:lpstr>Partial Correlation</vt:lpstr>
      <vt:lpstr>Partial Correlation</vt:lpstr>
      <vt:lpstr>Goodness of fit</vt:lpstr>
      <vt:lpstr>Regression with all Independent Variables</vt:lpstr>
      <vt:lpstr>Regression with only Significant Variables</vt:lpstr>
      <vt:lpstr>Assumptions of Multiple Regression</vt:lpstr>
      <vt:lpstr>Checking Assumptions (Similar to Simple Regression)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</dc:title>
  <dc:creator>Vishnu</dc:creator>
  <cp:lastModifiedBy>Vishnuprasad Nagadevara</cp:lastModifiedBy>
  <cp:revision>25</cp:revision>
  <dcterms:created xsi:type="dcterms:W3CDTF">2018-05-09T02:42:24Z</dcterms:created>
  <dcterms:modified xsi:type="dcterms:W3CDTF">2021-07-03T07:31:18Z</dcterms:modified>
</cp:coreProperties>
</file>