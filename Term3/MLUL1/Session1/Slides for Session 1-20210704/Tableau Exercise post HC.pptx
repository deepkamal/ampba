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4" r:id="rId2"/>
    <p:sldId id="272" r:id="rId3"/>
    <p:sldId id="267" r:id="rId4"/>
    <p:sldId id="280" r:id="rId5"/>
    <p:sldId id="283" r:id="rId6"/>
    <p:sldId id="271" r:id="rId7"/>
    <p:sldId id="281" r:id="rId8"/>
    <p:sldId id="269" r:id="rId9"/>
    <p:sldId id="282" r:id="rId10"/>
    <p:sldId id="285" r:id="rId11"/>
    <p:sldId id="286" r:id="rId12"/>
    <p:sldId id="287" r:id="rId1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36" autoAdjust="0"/>
  </p:normalViewPr>
  <p:slideViewPr>
    <p:cSldViewPr>
      <p:cViewPr varScale="1">
        <p:scale>
          <a:sx n="60" d="100"/>
          <a:sy n="60" d="100"/>
        </p:scale>
        <p:origin x="-1668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4B2FE9D-B2E3-4333-8508-A2C69A202024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A2EB88F-E75B-4BB5-B094-8FE6962512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4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r>
              <a:rPr lang="en-US" dirty="0" smtClean="0"/>
              <a:t>Show</a:t>
            </a:r>
            <a:r>
              <a:rPr lang="en-US" baseline="0" dirty="0" smtClean="0"/>
              <a:t> this on Sheet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EB88F-E75B-4BB5-B094-8FE69625123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66612"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Click on Box plots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EB88F-E75B-4BB5-B094-8FE69625123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EB88F-E75B-4BB5-B094-8FE69625123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Bookman Old Style" pitchFamily="18" charset="0"/>
              </a:rPr>
              <a:t>Examine the clusters in Tableau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i="1" dirty="0" smtClean="0">
                <a:latin typeface="Bookman Old Style" pitchFamily="18" charset="0"/>
              </a:rPr>
              <a:t>Launch Tableau</a:t>
            </a:r>
          </a:p>
          <a:p>
            <a:r>
              <a:rPr lang="en-US" sz="3000" i="1" dirty="0" smtClean="0">
                <a:latin typeface="Bookman Old Style" pitchFamily="18" charset="0"/>
              </a:rPr>
              <a:t>Connect (to a file) &gt; Text file &gt;  “UniversitiesWithClusterMembership.csv”</a:t>
            </a:r>
          </a:p>
        </p:txBody>
      </p:sp>
    </p:spTree>
    <p:extLst>
      <p:ext uri="{BB962C8B-B14F-4D97-AF65-F5344CB8AC3E}">
        <p14:creationId xmlns:p14="http://schemas.microsoft.com/office/powerpoint/2010/main" val="92786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2"/>
                </a:solidFill>
                <a:latin typeface="Bookman Old Style" pitchFamily="18" charset="0"/>
              </a:rPr>
              <a:t>http://kb.tableausoftware.com/articles/knowledgebase/measure-names-and-measure-values-explained</a:t>
            </a:r>
            <a:endParaRPr lang="en-US" sz="2400" dirty="0">
              <a:solidFill>
                <a:schemeClr val="tx2"/>
              </a:solidFill>
              <a:latin typeface="Bookman Old Style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689" y="1638300"/>
            <a:ext cx="6957511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075709"/>
            <a:ext cx="4401600" cy="3629891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2620962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latin typeface="Bookman Old Style" pitchFamily="18" charset="0"/>
              </a:rPr>
              <a:t>1.   What are the average acceptance rate, tuition fees, etc., across clusters?</a:t>
            </a:r>
            <a:br>
              <a:rPr lang="en-US" sz="3200" dirty="0" smtClean="0">
                <a:latin typeface="Bookman Old Style" pitchFamily="18" charset="0"/>
              </a:rPr>
            </a:br>
            <a:r>
              <a:rPr lang="en-US" sz="3200" dirty="0" smtClean="0">
                <a:latin typeface="Bookman Old Style" pitchFamily="18" charset="0"/>
              </a:rPr>
              <a:t>2.   What universities are there in those clusters?</a:t>
            </a:r>
            <a:endParaRPr lang="en-US" sz="2100" i="1" dirty="0">
              <a:latin typeface="Bookman Old Style" pitchFamily="18" charset="0"/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3200400"/>
            <a:ext cx="4196815" cy="2257425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4953000" y="5715000"/>
            <a:ext cx="3886200" cy="762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Bookman Old Style" pitchFamily="18" charset="0"/>
              </a:rPr>
              <a:t>Can you name/label those clusters?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1676400" y="5638800"/>
            <a:ext cx="28956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  <a:latin typeface="Bookman Old Style" pitchFamily="18" charset="0"/>
              </a:rPr>
              <a:t>Tableau instructions in the next page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ookman Old Style" pitchFamily="18" charset="0"/>
              </a:rPr>
              <a:t>Tableau Instructions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Bookman Old Style" pitchFamily="18" charset="0"/>
              </a:rPr>
              <a:t>Click on </a:t>
            </a:r>
            <a:r>
              <a:rPr lang="en-US" b="1" i="1" dirty="0">
                <a:latin typeface="Bookman Old Style" pitchFamily="18" charset="0"/>
              </a:rPr>
              <a:t>text </a:t>
            </a:r>
            <a:r>
              <a:rPr lang="en-US" b="1" i="1" dirty="0" smtClean="0">
                <a:latin typeface="Bookman Old Style" pitchFamily="18" charset="0"/>
              </a:rPr>
              <a:t>tables </a:t>
            </a:r>
            <a:r>
              <a:rPr lang="en-US" i="1" dirty="0">
                <a:latin typeface="Bookman Old Style" pitchFamily="18" charset="0"/>
                <a:cs typeface="Times New Roman" pitchFamily="18" charset="0"/>
              </a:rPr>
              <a:t>from the right 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panel</a:t>
            </a:r>
            <a:endParaRPr lang="en-US" b="1" i="1" dirty="0">
              <a:latin typeface="Bookman Old Style" pitchFamily="18" charset="0"/>
            </a:endParaRPr>
          </a:p>
          <a:p>
            <a:r>
              <a:rPr lang="en-US" i="1" dirty="0" smtClean="0">
                <a:latin typeface="Bookman Old Style" pitchFamily="18" charset="0"/>
              </a:rPr>
              <a:t>Move Cluster ID to Rows area</a:t>
            </a:r>
          </a:p>
          <a:p>
            <a:r>
              <a:rPr lang="en-US" i="1" dirty="0" smtClean="0">
                <a:latin typeface="Bookman Old Style" pitchFamily="18" charset="0"/>
              </a:rPr>
              <a:t>Move Measure Names to Columns area</a:t>
            </a:r>
          </a:p>
          <a:p>
            <a:r>
              <a:rPr lang="en-US" i="1" dirty="0" smtClean="0">
                <a:latin typeface="Bookman Old Style" pitchFamily="18" charset="0"/>
              </a:rPr>
              <a:t>Move Measure Values to Detail area</a:t>
            </a:r>
          </a:p>
          <a:p>
            <a:r>
              <a:rPr lang="en-US" i="1" dirty="0" smtClean="0">
                <a:latin typeface="Bookman Old Style" pitchFamily="18" charset="0"/>
              </a:rPr>
              <a:t>Change the SUM to AVG for all measures, except for the Number of Records</a:t>
            </a:r>
          </a:p>
          <a:p>
            <a:endParaRPr lang="en-US" dirty="0"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ookman Old Style" pitchFamily="18" charset="0"/>
              </a:rPr>
              <a:t>Tableau Instructions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>
                <a:latin typeface="Bookman Old Style" pitchFamily="18" charset="0"/>
              </a:rPr>
              <a:t>Duplicate the current worksheet (right-click &gt; Duplicate Sheet)</a:t>
            </a:r>
          </a:p>
          <a:p>
            <a:r>
              <a:rPr lang="en-US" i="1" dirty="0" smtClean="0">
                <a:latin typeface="Bookman Old Style" pitchFamily="18" charset="0"/>
              </a:rPr>
              <a:t>Move </a:t>
            </a:r>
            <a:r>
              <a:rPr lang="en-US" i="1" dirty="0" err="1" smtClean="0">
                <a:latin typeface="Bookman Old Style" pitchFamily="18" charset="0"/>
              </a:rPr>
              <a:t>Univ</a:t>
            </a:r>
            <a:r>
              <a:rPr lang="en-US" i="1" dirty="0" smtClean="0">
                <a:latin typeface="Bookman Old Style" pitchFamily="18" charset="0"/>
              </a:rPr>
              <a:t> to Rows area</a:t>
            </a:r>
          </a:p>
          <a:p>
            <a:endParaRPr lang="en-US" i="1" dirty="0" smtClean="0">
              <a:latin typeface="Bookman Old Style" pitchFamily="18" charset="0"/>
            </a:endParaRPr>
          </a:p>
          <a:p>
            <a:r>
              <a:rPr lang="en-US" i="1" dirty="0" smtClean="0">
                <a:latin typeface="Bookman Old Style" pitchFamily="18" charset="0"/>
              </a:rPr>
              <a:t>You may filter on Cluster ID</a:t>
            </a:r>
          </a:p>
          <a:p>
            <a:endParaRPr lang="en-US" i="1" dirty="0"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81188" y="214313"/>
            <a:ext cx="5381625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52400" y="1905000"/>
            <a:ext cx="1600200" cy="22098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Bookman Old Style" pitchFamily="18" charset="0"/>
              </a:rPr>
              <a:t>Insights in terms of distribution, outliers?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2286000"/>
            <a:ext cx="28956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  <a:latin typeface="Bookman Old Style" pitchFamily="18" charset="0"/>
              </a:rPr>
              <a:t>Tableau instructions in the next page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ookman Old Style" pitchFamily="18" charset="0"/>
              </a:rPr>
              <a:t>Tableau Instructions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228600">
              <a:spcBef>
                <a:spcPts val="0"/>
              </a:spcBef>
              <a:defRPr/>
            </a:pPr>
            <a:r>
              <a:rPr lang="en-US" i="1" dirty="0">
                <a:latin typeface="Bookman Old Style" pitchFamily="18" charset="0"/>
                <a:cs typeface="Times New Roman" pitchFamily="18" charset="0"/>
              </a:rPr>
              <a:t>Create a new worksheet</a:t>
            </a:r>
          </a:p>
          <a:p>
            <a:pPr marL="0" indent="228600">
              <a:spcBef>
                <a:spcPts val="0"/>
              </a:spcBef>
              <a:defRPr/>
            </a:pP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Move Cluster ID to the Columns area</a:t>
            </a:r>
          </a:p>
          <a:p>
            <a:pPr marL="0" indent="228600">
              <a:spcBef>
                <a:spcPts val="0"/>
              </a:spcBef>
              <a:defRPr/>
            </a:pP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Move Measure </a:t>
            </a:r>
            <a:r>
              <a:rPr lang="en-US" i="1" dirty="0">
                <a:latin typeface="Bookman Old Style" pitchFamily="18" charset="0"/>
                <a:cs typeface="Times New Roman" pitchFamily="18" charset="0"/>
              </a:rPr>
              <a:t>V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alues to the Rows area</a:t>
            </a:r>
          </a:p>
          <a:p>
            <a:pPr marL="0" indent="228600">
              <a:spcBef>
                <a:spcPts val="0"/>
              </a:spcBef>
              <a:defRPr/>
            </a:pP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Move Measure Values to the Filter  area &gt; select Expense and </a:t>
            </a:r>
            <a:r>
              <a:rPr lang="en-US" i="1" dirty="0" err="1" smtClean="0">
                <a:latin typeface="Bookman Old Style" pitchFamily="18" charset="0"/>
                <a:cs typeface="Times New Roman" pitchFamily="18" charset="0"/>
              </a:rPr>
              <a:t>SFRatio</a:t>
            </a:r>
            <a:endParaRPr lang="en-US" i="1" dirty="0" smtClean="0">
              <a:latin typeface="Bookman Old Style" pitchFamily="18" charset="0"/>
              <a:cs typeface="Times New Roman" pitchFamily="18" charset="0"/>
            </a:endParaRPr>
          </a:p>
          <a:p>
            <a:pPr marL="0" indent="228600">
              <a:spcBef>
                <a:spcPts val="0"/>
              </a:spcBef>
              <a:defRPr/>
            </a:pP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Change the SUMs to AVGs.</a:t>
            </a:r>
          </a:p>
          <a:p>
            <a:pPr marL="0" indent="228600">
              <a:spcBef>
                <a:spcPts val="0"/>
              </a:spcBef>
              <a:defRPr/>
            </a:pP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Universities in the Details area</a:t>
            </a:r>
          </a:p>
          <a:p>
            <a:pPr marL="0" indent="228600">
              <a:spcBef>
                <a:spcPts val="0"/>
              </a:spcBef>
              <a:defRPr/>
            </a:pPr>
            <a:r>
              <a:rPr lang="en-US" i="1" dirty="0">
                <a:latin typeface="Bookman Old Style" pitchFamily="18" charset="0"/>
                <a:cs typeface="Times New Roman" pitchFamily="18" charset="0"/>
              </a:rPr>
              <a:t>Click on </a:t>
            </a:r>
            <a:r>
              <a:rPr lang="en-US" b="1" i="1" dirty="0">
                <a:latin typeface="Bookman Old Style" pitchFamily="18" charset="0"/>
                <a:cs typeface="Times New Roman" pitchFamily="18" charset="0"/>
              </a:rPr>
              <a:t>box-and-whisker</a:t>
            </a:r>
            <a:r>
              <a:rPr lang="en-US" i="1" dirty="0">
                <a:latin typeface="Bookman Old Style" pitchFamily="18" charset="0"/>
                <a:cs typeface="Times New Roman" pitchFamily="18" charset="0"/>
              </a:rPr>
              <a:t> plot from the right panel</a:t>
            </a:r>
          </a:p>
          <a:p>
            <a:pPr marL="0" indent="228600">
              <a:spcBef>
                <a:spcPts val="0"/>
              </a:spcBef>
              <a:defRPr/>
            </a:pPr>
            <a:endParaRPr lang="en-US" i="1" dirty="0" smtClean="0">
              <a:latin typeface="Bookman Old Style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endParaRPr lang="en-US" i="1" dirty="0" smtClean="0">
              <a:latin typeface="Bookman Old Style" pitchFamily="18" charset="0"/>
              <a:cs typeface="Times New Roman" pitchFamily="18" charset="0"/>
            </a:endParaRPr>
          </a:p>
          <a:p>
            <a:pPr marL="0" indent="228600"/>
            <a:r>
              <a:rPr lang="en-US" i="1" dirty="0">
                <a:latin typeface="Bookman Old Style" pitchFamily="18" charset="0"/>
              </a:rPr>
              <a:t>Interquartile range (IQR) = Q3-Q1; </a:t>
            </a:r>
            <a:endParaRPr lang="en-US" i="1" dirty="0" smtClean="0">
              <a:latin typeface="Bookman Old Style" pitchFamily="18" charset="0"/>
            </a:endParaRPr>
          </a:p>
          <a:p>
            <a:pPr marL="0" indent="228600"/>
            <a:endParaRPr lang="en-US" i="1" dirty="0">
              <a:latin typeface="Bookman Old Style" pitchFamily="18" charset="0"/>
            </a:endParaRPr>
          </a:p>
          <a:p>
            <a:pPr marL="0" indent="228600"/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Lower Whisker/</a:t>
            </a:r>
            <a:r>
              <a:rPr lang="en-US" i="1" dirty="0">
                <a:latin typeface="Bookman Old Style" pitchFamily="18" charset="0"/>
              </a:rPr>
              <a:t> lower adjacent value (LAV)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 = </a:t>
            </a:r>
            <a:r>
              <a:rPr lang="en-US" i="1" dirty="0">
                <a:latin typeface="Bookman Old Style" pitchFamily="18" charset="0"/>
              </a:rPr>
              <a:t>smallest observation that is greater than </a:t>
            </a:r>
            <a:r>
              <a:rPr lang="en-US" i="1" dirty="0" smtClean="0">
                <a:latin typeface="Bookman Old Style" pitchFamily="18" charset="0"/>
              </a:rPr>
              <a:t>or equal to </a:t>
            </a:r>
            <a:r>
              <a:rPr lang="en-US" i="1" dirty="0">
                <a:latin typeface="Bookman Old Style" pitchFamily="18" charset="0"/>
              </a:rPr>
              <a:t>lower inner fence (</a:t>
            </a:r>
            <a:r>
              <a:rPr lang="en-US" i="1" dirty="0" smtClean="0">
                <a:latin typeface="Bookman Old Style" pitchFamily="18" charset="0"/>
              </a:rPr>
              <a:t>LIF=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Q</a:t>
            </a:r>
            <a:r>
              <a:rPr lang="en-US" i="1" baseline="-25000" dirty="0" smtClean="0">
                <a:latin typeface="Bookman Old Style" pitchFamily="18" charset="0"/>
                <a:cs typeface="Times New Roman" pitchFamily="18" charset="0"/>
              </a:rPr>
              <a:t>1 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- 1.5 * IQR)</a:t>
            </a:r>
          </a:p>
          <a:p>
            <a:pPr marL="0" indent="228600"/>
            <a:endParaRPr lang="en-US" i="1" dirty="0" smtClean="0">
              <a:latin typeface="Bookman Old Style" pitchFamily="18" charset="0"/>
              <a:cs typeface="Times New Roman" pitchFamily="18" charset="0"/>
            </a:endParaRPr>
          </a:p>
          <a:p>
            <a:pPr marL="0" indent="228600"/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Upper Whisker/</a:t>
            </a:r>
            <a:r>
              <a:rPr lang="en-US" i="1" dirty="0">
                <a:latin typeface="Bookman Old Style" pitchFamily="18" charset="0"/>
              </a:rPr>
              <a:t> upper adjacent value (UAV</a:t>
            </a:r>
            <a:r>
              <a:rPr lang="en-US" i="1" dirty="0" smtClean="0">
                <a:latin typeface="Bookman Old Style" pitchFamily="18" charset="0"/>
              </a:rPr>
              <a:t>) 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= </a:t>
            </a:r>
            <a:r>
              <a:rPr lang="en-US" i="1" dirty="0">
                <a:latin typeface="Bookman Old Style" pitchFamily="18" charset="0"/>
              </a:rPr>
              <a:t>largest observation that is less than or equal to the upper inner fence (</a:t>
            </a:r>
            <a:r>
              <a:rPr lang="en-US" i="1" dirty="0" smtClean="0">
                <a:latin typeface="Bookman Old Style" pitchFamily="18" charset="0"/>
              </a:rPr>
              <a:t>UIF=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Q</a:t>
            </a:r>
            <a:r>
              <a:rPr lang="en-US" i="1" baseline="-25000" dirty="0" smtClean="0">
                <a:latin typeface="Bookman Old Style" pitchFamily="18" charset="0"/>
                <a:cs typeface="Times New Roman" pitchFamily="18" charset="0"/>
              </a:rPr>
              <a:t>3 </a:t>
            </a:r>
            <a:r>
              <a:rPr lang="en-US" i="1" dirty="0" smtClean="0">
                <a:latin typeface="Bookman Old Style" pitchFamily="18" charset="0"/>
                <a:cs typeface="Times New Roman" pitchFamily="18" charset="0"/>
              </a:rPr>
              <a:t>+ 1.5 * IQR)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"/>
            <a:ext cx="7232650" cy="580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1000" y="5486400"/>
            <a:ext cx="28956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  <a:latin typeface="Bookman Old Style" pitchFamily="18" charset="0"/>
              </a:rPr>
              <a:t>Tableau instructions in the next page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ookman Old Style" pitchFamily="18" charset="0"/>
              </a:rPr>
              <a:t>Tableau Instructions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latin typeface="Bookman Old Style" pitchFamily="18" charset="0"/>
              </a:rPr>
              <a:t>Create a new worksheet</a:t>
            </a:r>
          </a:p>
          <a:p>
            <a:r>
              <a:rPr lang="en-US" i="1" dirty="0" smtClean="0">
                <a:latin typeface="Bookman Old Style" pitchFamily="18" charset="0"/>
              </a:rPr>
              <a:t>Drag Cluster ID on color</a:t>
            </a:r>
          </a:p>
          <a:p>
            <a:r>
              <a:rPr lang="en-US" i="1" dirty="0" smtClean="0">
                <a:latin typeface="Bookman Old Style" pitchFamily="18" charset="0"/>
              </a:rPr>
              <a:t>Drag </a:t>
            </a:r>
            <a:r>
              <a:rPr lang="en-US" i="1" dirty="0" err="1" smtClean="0">
                <a:latin typeface="Bookman Old Style" pitchFamily="18" charset="0"/>
              </a:rPr>
              <a:t>Avg</a:t>
            </a:r>
            <a:r>
              <a:rPr lang="en-US" i="1" dirty="0" smtClean="0">
                <a:latin typeface="Bookman Old Style" pitchFamily="18" charset="0"/>
              </a:rPr>
              <a:t>(Expense) on Size</a:t>
            </a:r>
          </a:p>
          <a:p>
            <a:r>
              <a:rPr lang="en-US" i="1" dirty="0" smtClean="0">
                <a:latin typeface="Bookman Old Style" pitchFamily="18" charset="0"/>
              </a:rPr>
              <a:t>Drag </a:t>
            </a:r>
            <a:r>
              <a:rPr lang="en-US" i="1" dirty="0" err="1" smtClean="0">
                <a:latin typeface="Bookman Old Style" pitchFamily="18" charset="0"/>
              </a:rPr>
              <a:t>Univ</a:t>
            </a:r>
            <a:r>
              <a:rPr lang="en-US" i="1" dirty="0" smtClean="0">
                <a:latin typeface="Bookman Old Style" pitchFamily="18" charset="0"/>
              </a:rPr>
              <a:t> on Label</a:t>
            </a:r>
          </a:p>
          <a:p>
            <a:r>
              <a:rPr lang="en-US" i="1" dirty="0" smtClean="0">
                <a:latin typeface="Bookman Old Style" pitchFamily="18" charset="0"/>
              </a:rPr>
              <a:t>Drag </a:t>
            </a:r>
            <a:r>
              <a:rPr lang="en-US" i="1" dirty="0" err="1" smtClean="0">
                <a:latin typeface="Bookman Old Style" pitchFamily="18" charset="0"/>
              </a:rPr>
              <a:t>Avg</a:t>
            </a:r>
            <a:r>
              <a:rPr lang="en-US" i="1" dirty="0" smtClean="0">
                <a:latin typeface="Bookman Old Style" pitchFamily="18" charset="0"/>
              </a:rPr>
              <a:t>(</a:t>
            </a:r>
            <a:r>
              <a:rPr lang="en-US" i="1" dirty="0" err="1" smtClean="0">
                <a:latin typeface="Bookman Old Style" pitchFamily="18" charset="0"/>
              </a:rPr>
              <a:t>SFRatio</a:t>
            </a:r>
            <a:r>
              <a:rPr lang="en-US" i="1" dirty="0" smtClean="0">
                <a:latin typeface="Bookman Old Style" pitchFamily="18" charset="0"/>
              </a:rPr>
              <a:t>) on Label</a:t>
            </a:r>
          </a:p>
          <a:p>
            <a:r>
              <a:rPr lang="en-US" i="1" dirty="0" smtClean="0">
                <a:latin typeface="Bookman Old Style" pitchFamily="18" charset="0"/>
              </a:rPr>
              <a:t>Click on Bubbles chart</a:t>
            </a:r>
          </a:p>
          <a:p>
            <a:endParaRPr lang="en-US" i="1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2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Bookman Old Style" pitchFamily="18" charset="0"/>
              </a:rPr>
              <a:t>Examine the clusters in Tableau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i="1" dirty="0" smtClean="0">
                <a:latin typeface="Bookman Old Style" pitchFamily="18" charset="0"/>
              </a:rPr>
              <a:t>Copy-Paste the </a:t>
            </a:r>
            <a:r>
              <a:rPr lang="en-US" b="1" i="1" dirty="0" smtClean="0">
                <a:latin typeface="Bookman Old Style" pitchFamily="18" charset="0"/>
              </a:rPr>
              <a:t>cluster ID </a:t>
            </a:r>
            <a:r>
              <a:rPr lang="en-US" i="1" dirty="0" smtClean="0">
                <a:latin typeface="Bookman Old Style" pitchFamily="18" charset="0"/>
              </a:rPr>
              <a:t>column in HC_Clusters2  to Universities worksheet</a:t>
            </a:r>
          </a:p>
          <a:p>
            <a:r>
              <a:rPr lang="en-US" i="1" dirty="0" smtClean="0">
                <a:latin typeface="Bookman Old Style" pitchFamily="18" charset="0"/>
              </a:rPr>
              <a:t>Save the file as “</a:t>
            </a:r>
            <a:r>
              <a:rPr lang="en-US" i="1" dirty="0" err="1" smtClean="0">
                <a:latin typeface="Bookman Old Style" pitchFamily="18" charset="0"/>
              </a:rPr>
              <a:t>Universities_Clustering</a:t>
            </a:r>
            <a:r>
              <a:rPr lang="en-US" i="1" dirty="0" smtClean="0">
                <a:latin typeface="Bookman Old Style" pitchFamily="18" charset="0"/>
              </a:rPr>
              <a:t> – with solution.xlsx”</a:t>
            </a:r>
          </a:p>
          <a:p>
            <a:r>
              <a:rPr lang="en-US" i="1" dirty="0" smtClean="0">
                <a:latin typeface="Bookman Old Style" pitchFamily="18" charset="0"/>
              </a:rPr>
              <a:t>Open Tableau</a:t>
            </a:r>
          </a:p>
          <a:p>
            <a:pPr lvl="1"/>
            <a:r>
              <a:rPr lang="en-US" i="1" dirty="0" smtClean="0">
                <a:latin typeface="Bookman Old Style" pitchFamily="18" charset="0"/>
              </a:rPr>
              <a:t>Connect to data &gt; Microsoft Excel &gt; choose file “</a:t>
            </a:r>
            <a:r>
              <a:rPr lang="en-US" i="1" dirty="0" err="1" smtClean="0">
                <a:latin typeface="Bookman Old Style" pitchFamily="18" charset="0"/>
              </a:rPr>
              <a:t>Universities_Clustering</a:t>
            </a:r>
            <a:r>
              <a:rPr lang="en-US" i="1" dirty="0" smtClean="0">
                <a:latin typeface="Bookman Old Style" pitchFamily="18" charset="0"/>
              </a:rPr>
              <a:t> – with solution.xlsx” &gt; choose worksheet “Universities” &gt; Import all data</a:t>
            </a:r>
          </a:p>
          <a:p>
            <a:pPr lvl="1"/>
            <a:endParaRPr lang="en-US" i="1" dirty="0" smtClean="0">
              <a:latin typeface="Bookman Old Style" pitchFamily="18" charset="0"/>
            </a:endParaRPr>
          </a:p>
          <a:p>
            <a:pPr lvl="1"/>
            <a:endParaRPr lang="en-US" dirty="0" smtClean="0">
              <a:latin typeface="Bookman Old Style" pitchFamily="18" charset="0"/>
            </a:endParaRPr>
          </a:p>
          <a:p>
            <a:pPr>
              <a:buNone/>
            </a:pPr>
            <a:endParaRPr lang="en-US" dirty="0" smtClean="0"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45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Bookman Old Style" pitchFamily="18" charset="0"/>
              </a:rPr>
              <a:t>You may also use Excel Data </a:t>
            </a:r>
            <a:r>
              <a:rPr lang="en-US" sz="2800" dirty="0" smtClean="0">
                <a:solidFill>
                  <a:srgbClr val="FF0000"/>
                </a:solidFill>
                <a:latin typeface="Bookman Old Style" pitchFamily="18" charset="0"/>
              </a:rPr>
              <a:t>Filter</a:t>
            </a:r>
            <a:r>
              <a:rPr lang="en-US" sz="2800" dirty="0" smtClean="0">
                <a:latin typeface="Bookman Old Style" pitchFamily="18" charset="0"/>
              </a:rPr>
              <a:t> combined with </a:t>
            </a:r>
            <a:r>
              <a:rPr lang="en-US" sz="2800" dirty="0" smtClean="0">
                <a:solidFill>
                  <a:srgbClr val="FF0000"/>
                </a:solidFill>
                <a:latin typeface="Bookman Old Style" pitchFamily="18" charset="0"/>
              </a:rPr>
              <a:t>SUBTOTAL</a:t>
            </a:r>
            <a:r>
              <a:rPr lang="en-US" sz="2800" dirty="0" smtClean="0">
                <a:latin typeface="Bookman Old Style" pitchFamily="18" charset="0"/>
              </a:rPr>
              <a:t> function in Excel</a:t>
            </a:r>
            <a:endParaRPr lang="en-US" sz="2800" dirty="0">
              <a:latin typeface="Bookman Old Style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352800"/>
            <a:ext cx="68008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2052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362</Words>
  <Application>Microsoft Office PowerPoint</Application>
  <PresentationFormat>On-screen Show (4:3)</PresentationFormat>
  <Paragraphs>56</Paragraphs>
  <Slides>12</Slides>
  <Notes>3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Examine the clusters in Tableau</vt:lpstr>
      <vt:lpstr>http://kb.tableausoftware.com/articles/knowledgebase/measure-names-and-measure-values-explained</vt:lpstr>
      <vt:lpstr>1.   What are the average acceptance rate, tuition fees, etc., across clusters? 2.   What universities are there in those clusters?</vt:lpstr>
      <vt:lpstr>Tableau Instructions</vt:lpstr>
      <vt:lpstr>Tableau Instructions</vt:lpstr>
      <vt:lpstr>PowerPoint Presentation</vt:lpstr>
      <vt:lpstr>Tableau Instructions</vt:lpstr>
      <vt:lpstr>PowerPoint Presentation</vt:lpstr>
      <vt:lpstr>Tableau Instructions</vt:lpstr>
      <vt:lpstr>PowerPoint Presentation</vt:lpstr>
      <vt:lpstr>Examine the clusters in Tableau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Clustering: The Dendogram</dc:title>
  <dc:creator>Rajib Saha</dc:creator>
  <cp:lastModifiedBy>Rajib Saha</cp:lastModifiedBy>
  <cp:revision>120</cp:revision>
  <cp:lastPrinted>2016-01-10T13:07:36Z</cp:lastPrinted>
  <dcterms:created xsi:type="dcterms:W3CDTF">2006-08-16T00:00:00Z</dcterms:created>
  <dcterms:modified xsi:type="dcterms:W3CDTF">2017-06-09T11:38:54Z</dcterms:modified>
</cp:coreProperties>
</file>